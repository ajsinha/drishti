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8"/>
    <p:sldId id="257" r:id="rId9"/>
    <p:sldId id="258" r:id="rId7"/>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deck for Drishti on AWS, whichever table format a bank chooses. It replaces the two earlier AWS decks (the Delta lake deck and the Iceberg deck): everything identical is said once; where Delta and Iceberg differ the slide shows both side by side; the format choice is a chapter of its own. It describes Drishti as built today; the release history is in RELEASE_NOTES.md and CHANGELOG.md.</a:t>
            </a:r>
          </a:p>
          <a:p/>
          <a:p>
            <a:r>
              <a:t>Sources: docs/architecture/AWS_DELTA_LAKE.md, AWS_DEPLOYMENT.md (section 22: Iceberg on AWS and official results to S3), SCALE_STRATEGY.md, SUPER_SCALE.md, DRISHTI_ICEBERG.md, VAR_SHARDING.md, PARALLEL_LOADER.md; docs/connectors/DELTA_CONNECTOR.md, ICEBERG_CONNECTOR.md (sections 18-19), ICEBERG_EXTERNAL_CONNECTOR.md; docs/admin/LAKE_MAINTENANCE.md, NET.md; docs/guides/DATA_FORMATS.md, VAR_GUIDE.md, EXPOSURE_GUIDE.md; the CHANGELOG; deploy/aws/ (develop, 30 October 2026).</a:t>
            </a:r>
          </a:p>
          <a:p/>
          <a:p>
            <a:r>
              <a:t>Status labels: nothing built is labelled (VaR sharding across servers and the parallel Java lake loader included). Only what is not built carries a status: DESIGNED = the super-scale scale-out of the whole lake (SUPER_SCALE.md), not built; PLANNED = in the implementation plan, not built (10-day and stressed VaR, ES backtests, the 200K-position benchmark, Delta in-place schema evolution, Delta-Iceberg conversion, Unity Catalog and plain tables); NOT RUN = code written, never run against AWS (the Glue and S3 Tables live runs); PROPOSED = a recommendation of this deck, not yet in the docs. MEASURED and ESTIMATED mark how a number was obtained; ASSUMPTION marks a figure that depends on a setting. Nothing in this deck is 'in progress'.</a:t>
            </a:r>
          </a:p>
          <a:p/>
          <a:p>
            <a:r>
              <a:t>No customer or bank is named; example account names (acme-…) are the docs' placeholders.</a:t>
            </a:r>
          </a:p>
          <a:p/>
          <a:p>
            <a:r>
              <a:t>The logo is the official Drishti lockup (docs/requirements/drishti-logo.png); the headline 'See what your data hasn't told you yet.' and the tagline 'Any data. Any domain. One grammar.' are the console landing page's.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page for a platform lead. Each row is told in full on the slides named. The figures: S3 against EFS at 200 TB (AWS_DELTA_LAKE.md section 2, list prices, one Region, estimates); the mixed-storage equality test (18 answers the same) and VarFormatEqualityTest / ExposureFormatEqualityTest (equal to the cent); the bank-scale arithmetic (2,300,000 x 509 x 8 B x 0.75 a date, x 252 x 7); the status of the AWS runs (AWS_DEPLOYMENT.md section 22).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chapters in the order of every Drishti deck: why, how it works, the format choice, the risk lake, the evidence, operating it, what comes next; then an appendix of reference material and the related documents. The two earlier AWS decks (Delta lake, Iceberg) are merged here: what was identical is told once, what differs is shown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rule (the lake lives in S3, whatever the table format) and why S3 and not EFS, compared at 200 TB</a:t>
            </a:r>
          </a:p>
          <a:p/>
          <a:p>
            <a:r>
              <a:t>Chapter 1 answers why: AWS_DELTA_LAKE.md sections 1 and 2; DRISHTI_ICEBERG.md; ICEBERG_CONNECTOR.md section 14.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 (AWS_DELTA_LAKE.md section 1; AWS_DEPLOYMENT.md section 8.1). What is new is what lives in the lake: the risk domains risk/ and risk-results/ (VAR_GUIDE.md 15.1, EXPOSURE_GUIDE.md 15.1), the public-data domains (us-equities, gleif, funds) and, JSON Lines copies of the official results beside the Delta tables (DATA_FORMATS.md section 4).</a:t>
            </a:r>
          </a:p>
          <a:p/>
          <a:p>
            <a:r>
              <a:t>Why S3: the product owner's requirement is super scalability and high performance. S3 gives request-rate scaling per prefix, tiered cost at 200 TB+, eleven-nines durability and Athena/Spark interop; EFS would cost 10–40x more and share one throughput budget (section 2).</a:t>
            </a:r>
          </a:p>
          <a:p/>
          <a:p>
            <a:r>
              <a:t>The official results (risk-results) are written straight to an s3:// root by the server that captures them, in Delta (the default) or Iceberg, each Delta commit an exclusive create (VAR_GUIDE.md section 19; AWS_DEPLOYMENT.md section 22). The one writer that still needs a local or EFS root is the Kafka intraday stream's (LakeAppends; chapter 4 shows how its windows reach S3).</a:t>
            </a:r>
          </a:p>
          <a:p/>
          <a:p>
            <a:r>
              <a:t>The format: Drishti is table-format-agnostic above the storage plugins (DRISHTI_ICEBERG.md section 2, 'Same connector, same settings'; ICEBERG_CONNECTOR.md section 17). Packs, data contracts (JSON Lines in), connector names, searches, BI, the VaR and exposure engines and the UI do not know the format. AWS_DEPLOYMENT.md 8.1: the lake bucket holds Delta tables, Iceberg and files.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2, unchanged. List prices, one Region, estimates. At 200 TB+ EFS costs 10–40x more and shares one throughput budget. Drishti's reads are built for object storage: one day's files, one row group of one file, by byte ranges (DELTA_CONNECTOR.md section 2: never load a day). Cost, request rate, latency, durability and tiers are format-independent: both formats store Parquet data files in S3 and read them by byte ranges (drishti-lakeio S3Storage: ranged GETs with s3.read-block-kb read-ahead). The risk lake's reads are whole columns of one date, streamed (VAR_GUIDE.md 29.3).</a:t>
            </a:r>
          </a:p>
          <a:p/>
          <a:p>
            <a:r>
              <a:t>The Iceberg-specific reason: Iceberg's metadata names every file by its full path (ICEBERG_CONNECTOR.md section 14: a moved table is DEGRADED until read with relocate). An S3 URI is the same from every task and Region-stable; an EFS path depends on the mount and access 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sources' JSON Lines to a trader's screen: the picture, JSON Lines in, prefixes, partitions, keys, files, one commit a day, safe commits on S3, the content store and the caches</a:t>
            </a:r>
          </a:p>
          <a:p/>
          <a:p>
            <a:r>
              <a:t>Chapter 2: AWS_DELTA_LAKE.md sections 1, 5 to 8 and 10; ICEBERG_CONNECTOR.md sections 3, 6, 7 and 15; DATA_FORMATS.md; CONTENT_STORE.md. Where Delta and Iceberg differ, the slide shows both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1. Sources send JSON Lines (DATA_FORMATS.md: JSON Lines is the data standard; CSV input is deprecated). The loader task runs load-day.sh per table under the table's EFS lock: sync the dumps to EFS scratch, lake build into a scratch Delta table, sync the data files to S3, lake publish one commit with an S3 conditional PUT, then CloudWatch metrics (Drishti/Lake).</a:t>
            </a:r>
          </a:p>
          <a:p/>
          <a:p>
            <a:r>
              <a:t>The servers read the lake with the native Delta engine (drishti-deltalake on drishti-lakeio: ranged GETs, footers cached) from DRISHTI_DELTA_ROOT=s3://…/lake; the VaR and exposure engines read the risk domain the same way (VAR_GUIDE.md 15.1). Drishti*net joins the servers: gossip on its own port and peer data over HTTP/2 (NET.md sections 4 and 7). EFS holds per-node state and caches, the loader's scratch and the table locks; never lake data.</a:t>
            </a:r>
          </a:p>
          <a:p/>
          <a:p>
            <a:r>
              <a:t>The risk lake's own flow (morning run, intraday batches, Kafka, official results) is drawn on slide 48.</a:t>
            </a:r>
          </a:p>
          <a:p/>
          <a:p>
            <a:r>
              <a:t>Iceberg: the same flow with one step fewer: Drishti's Iceberg loader writes data files, manifests and the conditional-PUT commit straight to s3:// (NativeOnS3Test: 'the loader writes them through the AWS SDK (no Hadoop, no S3A)'); deploy/aws/iceberg/load-day.sh and maintain.sh run in the ECS loader and maintenance tasks (dry-run tested). An optional REST catalog (Glue's Iceberg endpoint, Polaris) can hold the table pointer; path-based tables need none.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1 table, updated: the sources' dumps are JSON Lines (DATA_FORMATS.md); the servers also run the VaR engine (VAR_GUIDE.md section 24) and the exposure engine (EXPOSURE_GUIDE.md section 25) over the risk domain; Drishti*net has a gossip port and HTTP/2 (NET.md). The maintenance task applies the 7-year floor of the risk domains automatically (LAKE_MAINTENANCE.md: retention-floor).</a:t>
            </a:r>
          </a:p>
          <a:p/>
          <a:p>
            <a:r>
              <a:t>Iceberg: ICEBERG_CONNECTOR.md sections 6 and 9; DRISHTI_ICEBERG.md section 8; AWS_DEPLOYMENT.md section 22; deploy/aws/iceberg/. The ECS loader and maintenance tasks for Iceberg run deploy/aws/iceberg/load-day.sh (lake build --format iceberg; the loader commits: no publish step) and maintain.sh (lake maintain over lake-maintenance.s3.yaml, format: iceberg), dry-run tested. Root setting: DRISHTI_ICEBERG_ROOT (connector root: ${DRISHTI_ICEBERG_ROOT:${drishti.data.dir:./data}/iceberg}). No box carries a status label: the code each box runs is built and tested (not that it has run in AWS); only the catalog's AWS run is labelled.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DATA_FORMATS.md sections 1 and 2. One JSON object per line, UTF-8,.jsonl or.jsonl.gz; no array, no commas, a blank line skipped; a document may be as deep as it likes on its line. Generating and loading are separate steps: make_trades.py writes trades-&lt;date&gt;.jsonl.gz, then lake build loads them. make_data.py --lake, samplegen/lake.py and the pack generators write dated lake rows (&lt;name&gt;-history.jsonl and the restatement &lt;name&gt;-restated.jsonl) and load_rows.py loads them; the lake is byte-for-byte the same data as before (every table's rows and Delta versions compared, CHANGELOG). bulk_trades.py writes one JSONL file a day in id order and loads each with lake build.</a:t>
            </a:r>
          </a:p>
          <a:p/>
          <a:p>
            <a:r>
              <a:t>On AWS this is exactly the landing bucket's contract: the sources write &lt;date&gt;/&lt;source&gt;/*.jsonl.gz and load-day.sh loads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DATA_FORMATS.md sections 3 to 5. Readers keep what they accept: lake build, build_demo_lakes.py, data ingest and the Java loaders read JSON Lines and JSON arrays (gzipped or not). CSV input is deprecated and will be removed in a later release; today only the file connector reads CSV feed files, logging one warning per file and naming them in Admin → Health. drishti.py convert FILE [--out X.jsonl] [--rows-document] turns CSV, a JSON array (streamed), one object, gzip or a folder of &lt;id&gt;.json into JSON Lines.</a:t>
            </a:r>
          </a:p>
          <a:p/>
          <a:p>
            <a:r>
              <a:t>Out: every export offers JSON Lines beside CSV, Excel, PDF and PNG (server API, console, CLI); media type application/jsonl. A console panel has one download button (↓) with a small menu, CSV or JSON Lines, instead of two icons (CHANGELOG, USER_GUIDE). The guard: tools/test_generators_write_jsonl.py and tools/test_exports_offer_jsonl.py run in the drill. Storage internals stay as they are: Delta and Iceberg Parquet, the BI store, the hot files, Arrow between server and Python.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5.2 for the documents' tables; VAR_GUIDE.md 15.1 and EXPOSURE_GUIDE.md 15.1 for the risk lake (one table per kind under domain risk, partitioned by business_date; exposure-path also by run_id in the guide's tree, RUN_ID a column as built); DATA_FORMATS.md section 4 for risk-results/jsonl. adds risk/var-limit (the limits of a hierarchy configured by columns, such as the limit letters: HIERARCHY, NODE_ID, LIMIT_VAR in USD; VAR_GUIDE.md 15.15). Tables by year (S2) are DESIGNED (SUPER_SCALE.md, the scale-out design).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Tree from ICEBERG_CONNECTOR.md section 3 placed under the Delta deck's bucket and a sibling iceberg/ prefix (ICEBERG_PREFIX, default iceberg, in deploy/aws/env; the connector's root is any folder or s3:// URI; DRISHTI_ICEBERG_ROOT). Data file names: &lt;date&gt;-&lt;n&gt;-&lt;uuid&gt;.parquet. A REST catalog's namespace is the connector's domain (or namespace).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5.3. Risk lake (VAR_GUIDE.md 15.1 as built): business_date only, rows sorted by id per batch of at most 50,000 (--batch-rows); the design's partition by scenario set and sort by hierarchy are planned (VAR_GUIDE.md 29.2; PROPOSED in this deck). Exposure paths: business_date only as built, RUN_ID a column; partition by run and sort by netting set PROPOSED in EXPOSURE_GUIDE.md 15.3.</a:t>
            </a:r>
          </a:p>
          <a:p/>
          <a:p>
            <a:r>
              <a:t>Iceberg loader: the partition is business_date only (ICEBERG_CONNECTOR.md section 3); it sorts each day with an external sort (no batch limit) and cuts files of 250,000 rows. A day's files share one business_date= prefix; S3 scales a busy prefix by itself. Iceberg's object-storage layout (hashed file paths, write.object-storage.enabled) is not used by Drishti's writer: PROPOSED to evaluate only if 503 Slow Down appears.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6 table, updated: history queries (DELTA_CONNECTOR.md section 8: days() lists the snapshot's business_date partitions whose id map holds the entity; only those days are read, eight at once); type-ahead names (DELTA_CONNECTOR.md section 4); vector streaming (VAR_GUIDE.md 29.3: SourcePlugin.vectors streams a date's vectors one buffer per read, reused for every row). Iceberg: ICEBERG_CONNECTOR.md section 7 ('as for Delta Lake'): manifest bounds per file, footer statistics per row group; metrics full on id and promoted columns, none on doc.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AWS_DELTA_LAKE.md 7.1. Risk domains: lake build creates their tables with delta.logRetentionDuration and delta.deletedFileRetentionDuration of 2,557 days (7 years), and lake maintain never vacuums them below that (LAKE_MAINTENANCE.md; VAR_GUIDE.md 15.1).</a:t>
            </a:r>
          </a:p>
          <a:p/>
          <a:p>
            <a:r>
              <a:t>Iceberg: ICEBERG_CONNECTOR.md sections 3 and 15 (loader options --file-rows 250000, --row-group-mb 1, --buffer-mb 1024, --threads half the cores at most 8). 'Measured: 476 trades a group at 10,000 trades a day.' Estimated 175 MB per 250,000-row file. Files per day at a million trades: four (estimate).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AWS_DELTA_LAKE.md 7.2. lake build sorts each partition (date x product type) that fits one batch (--batch-rows, LAKE_BATCH_ROWS, 250,000); a larger one is written in the dumps' order and load-day.sh warns. Memory: about rows x average document size x 3; 250,000 trades of 10 KB need about 8 GB; the loader task has 30 GB. bulk_trades.py writes each day's JSONL in id order (DELTA_CONNECTOR.md section 5), remedy 1 for the demo's scale tests. S1 is DESIGNED (SUPER_SCALE.md).</a:t>
            </a:r>
          </a:p>
          <a:p/>
          <a:p>
            <a:r>
              <a:t>Iceberg: ICEBERG_CONNECTOR.md section 6 'How the loader works': SortedRuns per business day and kind; at most --buffer-mb held; the largest day's buffer sorted and spilled on a background thread (two at most); merged back in id order; the row read last wins on a duplicate id. Estimates: one writer thread wrote a day of 1,000,000 trades in about 40 s (4 files, 0.70-0.75 GB); the load of three such days was bound by the generator, not the writer. Peak memory about three times the buffer. Measured: the samples into 46 tables, 17,910 rows in 8 s; 30,000 trade-days in 5 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AWS_DELTA_LAKE.md 7.3. One commit per table per day means about 1,500 commits a year per table including maintenance (AWS_DELTA_LAKE.md 12.1). lake build and lake demo with the deltalake writer make one commit per business date (every partition of the date in it; one per partition only with overwrite-partitions) and a checkpoint every ten commits; sixty days of trade_endur (five product types) were 300 commits replaying the whole log (98 s on Linux), now 60 commits.</a:t>
            </a:r>
          </a:p>
          <a:p/>
          <a:p>
            <a:r>
              <a:t>Iceberg: ICEBERG_CONNECTOR.md section 6: commits are OverwriteFiles with business_date = d (one day of at least 100,000 rows as soon as it is written; smaller days of a table together); 'Loading a day again replaces it: the load is idempotent'.</a:t>
            </a:r>
          </a:p>
          <a:p/>
          <a:p>
            <a:r>
              <a:t>Intraday risk batches are the exception on both formats: one appended commit per batch (slide 48).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AWS_DELTA_LAKE.md 8.2. lake publish and lake maintain use Python deltalake 1.x: a conditional PUT of the commit file (If-None-Match: *); the second writer gets 412, re-reads the log and retries (--commit-retries, 20). AWS_S3_ALLOW_UNSAFE_RENAME=true is refused. Drishti's Java writer commits on local disk and EFS by a hard link of a finished commit file (lake build, the Kafka stream's windows); the official-results publisher (DeltaSink) also commits on s3:// through drishti-lakeio, each commit file an exclusive create (If-None-Match: *), so two servers publishing at once both land, the second on the next version (OfficialS3Test on S3Mock; not yet run against a real bucket). With --storage-option AWS_ENDPOINT_URL=… lake publish checks the files on that endpoint, as the commit does. moto: three publishes at once, one winner per version (TOOLS.md 4.12).</a:t>
            </a:r>
          </a:p>
          <a:p/>
          <a:p>
            <a:r>
              <a:t>Iceberg: PathTableOps.write: probe(s) once per table (S3Storage.exclusiveCreates: two creates of a probe key, the second must be refused), then createIfAbsent(vN.metadata.json) (local: a hard link of a finished file; S3: putObject with ifNoneMatch('*')), CommitConflict if the version exists; then put version-hint.text; then, when write.metadata.delete-after-commit.enabled, delete metadata files older than the metadata log. A store that ignores conditional writes logs 'the table is single-writer'. Retries: commit.retry.num-retries (10 in Drishti's layout). Re-applied commits re-validate: an append always applies again; a rewrite of a day fails if that day changed (NativeCommitTest.aRewriteOfADayThatChangedMeanwhileIsRefused). Files written by a commit that finally failed are deleted at once.</a:t>
            </a:r>
          </a:p>
          <a:p/>
          <a:p>
            <a:r>
              <a:t>Doc inconsistency to know: ICEBERG_CONNECTOR.md section 4 still says path-based tables in S3 'need a single writer' (true of the library engine's rename); sections 13 and 17 and the code say the native engine commits with conditional PUTs.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CONTENT_STORE.md: one small interface (get, compare-and-set put, list, delete, changes) with four backends chosen in config/store/store.yaml: filesystem (default, data/fstore; a shared mount on a cluster), sqlite and postgres (table drishti_content, in the two complete schema files) and s3 (objects &lt;prefix&gt;/items/&lt;key&gt;; the version is the ETag; create with If-None-Match: *, update with If-Match: &lt;etag&gt;; 412 or 409 answers DRS-5057; a delete compares the ETag and writes a tombstone; changes lists by LastModified). Works with AWS S3 and stores that honour the headers, such as MinIO.</a:t>
            </a:r>
          </a:p>
          <a:p/>
          <a:p>
            <a:r>
              <a:t>What lives there: Build workbench Designs, BI workspaces, items, versions and BI runs (a dead node's unfinished run adopted by exactly one node through a compare-and-set lease), data-load overrides, connector edits, collaboration, the VaR and exposure captures and official records (VAR_GUIDE.md section 19). On ECS: s3 or postgres need no shared disk; filesystem needs EFS mounted at the same path on every node.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10 and DELTA_CONNECTOR.md 9 (one memory budget: id maps 20 %, column sets 20 %, documents 5 %, whole small tables 5 % of the heap, shared by every Delta connector that does not set its own); DELTA_CONNECTOR.md 6.2-6.3 (id maps on disk, memory-mapped, 3 ms instead of 729 ms per table date after a restart; RocksDB document cache, 17 % less CPU). History cache: drishti.history.cache-mb, default 256 MB (counted in real heap). VaR: drishti.var.tier.dir (DRISHTI_VAR_HOT_DIR), hot-dates 2, disk-dates 60, keep-on-shutdown false (VAR_GUIDE.md 12, 26). Exposure: hot-folder (DRISHTI_EXPOSURE_HOT_DIR), EXPOSURE_GUIDE.md 12 and 26.2. The disk caches default to &lt;data dir&gt;/cache/&lt;connector&gt;/…, on ECS /opt/drishti/data/cache/… on EFS.</a:t>
            </a:r>
          </a:p>
          <a:p/>
          <a:p>
            <a:r>
              <a:t>Iceberg: ICEBERG_CONNECTOR.md sections 7.1 (layout per snapshot, 64; per-day fingerprints), 11 (memory), 17 (footer, manifest and delete caches), 18 (IcebergDiskCacheTest: the same two disk caches, id-map-disk.enabled, doc-disk-cache.*, on by default, under &lt;data&gt;/cache/&lt;connector&gt;/, keyed by the date's files, so after a restart a date read before needs no data file).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10. Recommendation there: start on EFS (warm after any restart, no host affinity); move the document cache to NVMe if Admin → Caches shows cold reads dominate and EFS latency shows in p99Ms. NVMe breaks the identical-path rule; allowed only for rebuildable caches, by the product owner's decision.</a:t>
            </a:r>
          </a:p>
          <a:p/>
          <a:p>
            <a:r>
              <a:t>New: VAR_GUIDE.md section 12 says to put drishti.var.tier.dir on fast local disk and EXPOSURE_GUIDE.md section 26.2 the same for the exposure hot files: they are memory-mapped, one file a date (≈ 5.5 GB at 2.3 million positions, estimated), rebuilt from the lake. They are the clearest case for the NVMe exception (decision 1 on slide 92).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two formats plug in, what is identical and what differs, inside each format, side by side, Drishti's Iceberg as built, the decision guide for a bank, the recommendation, converting and running both</a:t>
            </a:r>
          </a:p>
          <a:p/>
          <a:p>
            <a:r>
              <a:t>Chapter 3 is the format choice. Format facts are from the public specifications; ecosystem facts are as of 2026 and must be re-checked before a commitment; Drishti facts are from the code (DRISHTI_ICEBERG.md, ICEBERG_CONNECTOR.md, ICEBERG_EXTERNAL_CONNECTOR.md, DELTA_CONNECTOR.md). The guide and the recommendation are PROPOSED: Delta stays Drishti's default lake format (the product owner's decision); Iceberg is a full alternative chosen by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Layers from the code: the console and UI (drishti-console), the server (drishti-server: BI, VaR, exposure, Drishti*net), the engine (drishti-engine: SourceRouter, which routes a kind to its connectors), the plugin interface (drishti-api SourcePlugin), the plugins (plugins/drishti-plugin-delta, -iceberg, -iceberg-external) and their engines (drishti-deltalake native or Hadoop; drishti-iceberg native or Apache Iceberg Java 'library'), and drishti-lakeio, which both native engines share (Storage, LocalStorage, S3Storage, RangeReader, codecs, the footer cache, the exclusive create and the conditional PUT). Sources: DRISHTI_ICEBERG.md section 4; CHANGELOG ('the native Delta engine's file access is a module of its own, drishti-lakeio'); module list of develop.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are from the code and docs: connector settings (ICEBERG_CONNECTOR.md section 15 vs DELTA_CONNECTOR.md section 14), the layout (IcebergLayout: id, doc, business_date, promoted columns; DELTA_CONNECTOR section 3), the read paths (ICEBERG_CONNECTOR section 7 'as for Delta Lake'), commits (DRISHTI_ICEBERG section 8; AWS_DELTA_LAKE 8.2), caches (ICEBERG_CONNECTOR 7.1 per-day fingerprints vs Delta's table version; Delta's disk caches in DELTA_CONNECTOR 6.2-6.3), maintenance (LAKE_MAINTENANCE.md section 8: lake maintain runs IcebergMaintenance for an Iceberg table).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CHANGELOG.md 'Iceberg' (Delta stays the default lake format everywhere; Iceberg is chosen only by configuration: a connector file, lake build --format iceberg, build_demo_lakes.py --store …=iceberg, deploy/aws/iceberg/). ICEBERG_CONNECTOR.md section 18 (parity: vector columns, a date's documents, identity, inventory, disk caches; VaR and exposure on an Iceberg risk lake; intraday batches as Iceberg appends; official results in Iceberg), section 19 (Glue, S3 Tables, IAM); AWS_DEPLOYMENT.md section 22 (deploy/aws/iceberg/ scripts, dry-run tested; official results to S3 in either format); VAR_GUIDE.md section 19 (a table keeps the format it was created in; BI's var-results and exposure-results follow the format by themselves, OfficialReaders); LAKE_MAINTENANCE.md section 8; IcebergDiskCacheTest. Choose per connector: nothing above the storage changes. Delta stays the default everywhere; Iceberg is chosen by configuration only. DeltaSourcePlugin against IcebergSourcePlugin methods: the seam slide.</a:t>
            </a:r>
          </a:p>
          <a:p/>
          <a:p>
            <a:r>
              <a:t>Not built (IMPLEMENTATION_PLAN.md, carried items): Delta in-place schema evolution (a nullable column added), Delta-Iceberg conversion. Not run: the Glue and S3 Tables live runs (deploy/aws/iceberg/check-glue.sh written, never run; they need the product owner's AWS account). The evidence that the two formats answer the same, to the cent, is on slide 59.</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public methods of DeltaSourcePlugin, IcebergSourcePlugin and IcebergExternalPlugin compared with the defaults of drishti-api SourcePlugin. A default returns 'cannot say' or false, and the caller falls back (for example documents() false: derived pages read entity by entity). (ICEBERG_CONNECTOR.md section 18, IcebergParityTest, IcebergVectorsTest) gave the iceberg plugin vectorColumns() and vectors() (list&lt;double&gt;, read in bulk by both engines, bit for bit), documents() (a date in one pass), tableIdentity() (iceberg:&lt;table-uuid&gt; from the metadata, stable after a copy read through relocate), inventory(), holdsNone() and refreshVersions() (a data-load signal re-reads each table's snapshot at once).</a:t>
            </a:r>
          </a:p>
          <a:p/>
          <a:p>
            <a:r>
              <a:t>tableIdentity: DRISHTI_NET.md section 10: two nodes naming the same table identity are replicas (a search asks one); different identities are shards (a search asks all). iceberg-external (anyone's tables, read-only) did not gain these methods: it serves pages and searches, not VaR inputs.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built (CHANGELOG 'Mixed Delta and Iceberg storage'; ICEBERG_CONNECTOR.md section 6 'The demo lakes'; tools/lake/stores.py; tools/build_demo_lakes.py; DEMO_DATA.md). The product owner's decision of 2026-10-20: each source system's trades can be stored in Delta Lake or Apache Iceberg, chosen per system, so one installation proves that the connectors, history, search, the grouped pages and BI answer the same whatever the storage. The system is built as Delta first (so documents and promoted columns are exactly a Delta build's), streamed into IcebergLoader with engine native from the server's exec jar (no Maven; runs on Windows), and its Delta table removed; the connector file trade-&lt;system&gt;.yaml is rewritten to plugin: iceberg, engine: native, table: {trade: trade_&lt;system&gt;}. One connector serves each system, never both. tools/lake/stores_equality.py (five days of 1,000 trades a system) compares all-Delta with ENDUR Delta + CALYPSO and MUREX Iceberg: six trade pages, a 10-day history for each, two counterparty-trades pages, three searches and a BI model query: 18 answers the same. The equality test ran one server on each lake in turn.</a:t>
            </a:r>
          </a:p>
          <a:p/>
          <a:p>
            <a:r>
              <a:t>Union read: the trading pack routes kind trade to three connectors (one per source system); each may be a different plugin. Drishti*net shards and replicas work per table. A kind can also be served by two stores in order (Aerospike or PostgreSQL first for recent days, a lake behind: ICEBERG_CONNECTOR.md section 10), so a fall-through from one format to the other for older days is the same mechanism.</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_delta_log/ holds one JSON commit per version (add and remove actions with file statistics), a Parquet checkpoint every 10 commits in Drishti's tables (delta.checkpointInterval), and _last_checkpoint; a reader replays the last checkpoint plus later commits (DELTA_CONNECTOR.md 6.1: 7,200 files list in 84 ms). Iceberg: a catalog pointer (version-hint.text, or the REST catalog's metadata location) names vN.metadata.json (schemas, specs, snapshots, properties); each snapshot names a manifest list; manifests list data and delete files with partition values and column bounds (DRISHTI_ICEBERG.md section 4, ICEBERG_CONNECTOR.md section 3). Both put data in Parquet files that never change.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Format facts are from the Delta and Iceberg specifications; Drishti facts from the code (sections 4 and 8). Delta column mapping and deletion vectors are Delta table features; Drishti's Delta reader honours deletion vectors (DELTA_CONNECTOR.md section 12) and Drishti's writers do not use column mapping (Drishti adds columns by name).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Drishti facts: partitioning (section 7), deletes (section 4 snapshots slide), maintenance (IcebergMaintenance; LAKE_MAINTENANCE.md for Delta), catalogs (section 4). Liquid clustering and Z-order are Databricks Delta features mentioned only as options in DELTA_CONNECTOR.md; Drishti does not write them.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Ecosystem rows are general product knowledge as of 2026 (not Drishti features) and must be re-checked against each vendor's current documentation and the bank's versions before a decision; they are stated at the level of 'reads/writes', without version claims. Cost rows: storage is the same Parquet (AWS_DELTA_LAKE.md section 12); the differences are metadata requests, a catalog service and maintenance compute.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it exists (DRISHTI_ICEBERG.md section 1): Apache Iceberg's Java library reaches path-based tables through Hadoop's file systems, which on Windows need winutils.exe and HADOOP_HOME. Delta had the same problem and solved it with a native engine; drishti-iceberg does the same. Packages from the source tree: catalog (PathCatalog, StaticCatalog, RestCatalog, RestClient, SigV4), meta (TableMetadata, SchemaJson, PartitionSpec, SortOrder, Snapshot, Transform, NameMapping), manifest (ManifestReader), scan (Planner, Pruning), read (ParquetRowReader, Deletes), write (ParquetDataWriter, ManifestWriter, Commit, Operations). A class-loader test (IcebergNativeNoHadoopTest) runs the connector, loader and maintenance with Hadoop's file systems, Shell and Configuration refused. Windows: tools/windows/load-iceberg.ps1, start-server.ps1 -Iceberg. The Windows laptop run of step I5 is still listed as to do in DRISHTI_ICEBERG.md's status line.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ICEBERG_CONNECTOR.md section 17. Measured 2026-10-20 on a 24-core workstation, heap 6 GB, 10,000 trades a day over three days (bulk_trades.py, documents of about 18 KB), each engine's loader into its own lake, read by the connector on that engine in one JVM (IcebergEnginesBenchTest). Both engines answered the same. These are small-book measurements, not bank scale.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DRISHTI_ICEBERG.md section 15 and ICEBERG_EXTERNAL_CONNECTOR.md section 1. iceberg-external never writes; its engine setting accepts native or auto (library is refused). Make a pack: StarterSchemas + drishti.py pack make (a button in Admin → Connectors is planned). Tested by IcebergExternalPluginTest on pyiceberg-written fixtures (tools/iceberg/fixtures.py): a Spark-style table (day(ts) partition, unsorted, merge-on-read position delete), a Snowflake-style table (identifier fields, nested struct, map, decimals, timestamptz, an equality delete), a current-only table, a renamed and evolved table.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drishti-iceberg catalog/Catalogs.open accepts catalog: hadoop (or path) and rest; metadata-location.&lt;kind&gt; without a root gives a StaticCatalog. RestCatalog/RestClient implement /v1/config, OAuth2 client credentials or a token, loadTable with ETag, vended credentials (X-Iceberg-Access-Delegation), commits with requirements; SigV4.java signs with the AWS SDK signer, signing-name glue for Glue (default execute-api). SigV4Test checks the Authorization header only.</a:t>
            </a:r>
          </a:p>
          <a:p/>
          <a:p>
            <a:r>
              <a:t>(ICEBERG_CONNECTOR.md section 19, AWS_DEPLOYMENT.md section 22): Glue's Iceberg REST endpoint (https://glue.&lt;region&gt;.amazonaws.com/iceberg, warehouse the account id, signing name glue) and S3 Tables' (https://s3tables.&lt;region&gt;.amazonaws.com/iceberg, signing name s3tables, warehouse a table bucket ARN) through the same REST client; GlueLiveTest creates a Glue database and a table of P&amp;L vectors with the loader, reads them back (vectors() bit for bit) and drops them; check-glue.sh --s3-tables ARN runs the S3 Tables case. Neither has run: no AWS account; the product owner's run is planned. Not in code: a Glue Data Catalog API client (glue:GetTable/UpdateTable as Iceberg's GlueCatalog does; Glue's REST endpoint is used instead); Hive metastore; JDBC. A catalog-written path table (pyiceberg, a JDBC or Glue catalog: 00003-&lt;uuid&gt;.metadata.json and no hint) is found by the highest sequence number (CHANGELOG QA2-09).</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Drishti supports today (section 4, catalogs): path-based tables in S3 (built, the simplest: no catalog service, commits by conditional PUT); Glue's Iceberg REST endpoint and S3 Tables' (built, labelled NOT RUN: ICEBERG_CATALOG=glue in the AWS scripts, GlueLiveTest and check-glue.sh written; neither run on AWS yet, the product owner's run needs an AWS account). ICEBERG_CONNECTOR.md section 16 checklist: 'a REST catalog when other engines also write the tables; path-based tables when only Drishti's loader writes them'. Ecosystem notes (Athena reading Iceberg through Glue; Glue table optimizers; S3 Tables' managed compaction) are AWS product facts, not Drishti features; check current AWS documentation before deciding.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by field id (DRISHTI_ICEBERG.md section 7 step 3; ICEBERG_EXTERNAL_CONNECTOR.md section 3: a column the owner renames keeps its values; each snapshot read with the schema it had). Writing: NativeLayout creates id, doc, business_date and promoted columns typed DOUBLE when every value is a number else STRING; new promoted paths are added as columns (ICEBERG_CONNECTOR.md section 6 'Types'); IcebergMaintenance --columns kind:path adds columns and rewrites every day to fill them. Drishti's own writer always writes identity(business_date); it never changes a partition spec. Hidden partitioning (day(ts), bucket(id)) is read for any transform, which is what iceberg-external relies on for other engines' tables. Comparison: Delta's publish refuses a day whose columns differ (AWS_DELTA_LAKE.md runbook 13.4: new folder trade_endur_v2 and backfill); an in-place nullable column add for Delta is planned, not built.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ICEBERG_CONNECTOR.md section 8 (delete files applied by every read; time travel by X-Drishti-Known-At from the snapshot log; a time before the oldest snapshot kept reads nothing; measured: a trade loaded after the instant answers 404, a sample trade known then answers from the earlier snapshot in 17 ms). Section 9: --expire-hours (168) bounds how far known at reaches. Delta comparison: DELTA_CONNECTOR.md section 12 (deletion vectors switch columns off for a table; searches read documents) vs Iceberg 'here they stay on'. Drishti's own Iceberg writer writes no delete files: a restatement replaces the day's partition (copy-on-write at day grain).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tools/lake/stores.py (docstring): a system stored in Iceberg is built as Delta first (lake demo or lake build), then copied into &lt;iceberg root&gt;/trading/trade_&lt;system&gt; by IcebergLoader (engine native) started from the server's exec jar (DRISHTI_ICEBERG_CLASSPATH in development); the connector file switched; 'one connector serves each system, never both'. Spill: &lt;data&gt;/tmp/iceberg. The Iceberg root: DRISHTI_ICEBERG_ROOT, else beside the Delta lake (data/delta → data/iceberg). stores.py handles the trading domain's trade tables only. tools/load-iceberg.sh / load-iceberg.ps1 load the banking samples (1,791 documents × 10 days) and a generated book directly into Iceberg. lake build --format iceberg stages as for Delta and streams the rows to the Iceberg loader (vector columns kept; overwrite-dates only); --lake s3://… or a REST catalog through --iceberg-set; build_demo_lakes.py --store risk=iceberg moves every table of the risk domain and switches risk-store.yaml and exposure-store.yaml together (test_vectors.py, test_stores.py, test_build_demo_lakes.py). On the demo data: 14 risk tables, 955,124 rows, in Iceberg in 579 s (MEASURED, demo).</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'because' cites the Drishti support behind it. From VaR, intraday, exposure and official results run on either format with the same answers to the cent (VarFormatEqualityTest, ExposureFormatEqualityTest); both formats have AWS scripts (deploy/aws/delta-lake, deploy/aws/iceberg); iceberg-external serves others' tables (ICEBERG_EXTERNAL_CONNECTOR.md); REST, Glue and S3 Tables catalogs are built in the client (the AWS runs not yet done); schema evolution by id is built for Iceberg, Delta's in-place add is planned, not built. Nothing here is measured at bank scale on AWS (the 200K benchmark on both formats is planned).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by this deck. Mixed storage is built and proven equal (stores_equality.py: 18 answers the same), and the risk domain is too (VarFormatEqualityTest, ExposureFormatEqualityTest; on the demo data VAR BANK USD 112,041,646 on both), so a bank need not choose one format for every table. The six gaps an earlier edition of this deck listed are closed; what remains is on the right: the AWS runs, conversion, Delta's in-place add and the benchmark (not built). VaR sharding and the parallel Java loader are built on either format.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 Iceberg (built for trade tables): stores.py streams a Delta table's rows (id, document, every promoted column) into IcebergLoader, each business day one overwrite of its partition, then removes the Delta table. It reads Delta with the deltalake package and is scoped to the trading domain. build_demo_lakes.py --store risk=iceberg rebuilds the whole risk domain into Iceberg from its JSON Lines and switches risk-store.yaml and exposure-store.yaml (risk=delta puts it back). Iceberg → Delta today: the documents can be exported as JSON Lines and built with lake build; a conversion tool for any table in either direction is planned, not built. In-place metadata conversion (Delta UniForm writing Iceberg metadata; Iceberg's snapshot/migrate procedures in Spark) keeps the Parquet files and writes the other format's metadata: not used by Drishti; note Drishti's Iceberg reader reads Parquet by field id, and files without ids need schema.name-mapping.default (supported). History: a conversion copies the current days; the source's time travel does not move with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connector file's name is the connector's name (CONNECTOR_FILES.md; ICEBERG_CONNECTOR.md 'As a connector file'). A file is applied to the running server within seconds without a restart (Admin → Connectors, the YAML tab, or drishti.py connector apply). The Iceberg file must repeat the promoted layout the pack declared (a file replaces the pack's template wholesale). connector upgrades: a generated file carries its template's fingerprint; at an upgrade a file nobody edited follows the pack's new template in full, and an edited one (such as a switched trade-calypso.yaml) keeps its values and gains every new key, conflicts listed in Admin → Connectors → Template updates with 'Use the pack's value' (ConnectorUpgradeTest). The official results' readers follow drishti.var.official.format by themselves (OfficialReaders). The data-load signal: build_demo_lakes.py --server tells the server once (trade, the newest date). Rolling back is the same edit in reverse while the Delta table is kept.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Inputs as vectors in Delta or Iceberg, computed for any scope when asked; official results append-only with JSON Lines beside them; morning runs, intraday batches and Kafka micro-batches</a:t>
            </a:r>
          </a:p>
          <a:p/>
          <a:p>
            <a:r>
              <a:t>Chapter 4. Sources: VAR_GUIDE.md sections 5.2, 8.4, 15, 19, 26, 29; EXPOSURE_GUIDE.md sections 15, 20, 27; LAKE_MAINTENANCE.md (7-year floor); DATA_FORMATS.md section 4; ICEBERG_CONNECTOR.md section 18; the VaR engine deck (Drishti-VaR-Engine.pptx), whose status words and sizing this chapter follows.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VAR_GUIDE.md 15.1 (the market-risk pack's connector risk-store, plugin delta, root ${DRISHTI_DELTA_ROOT:…}, domain risk; one table per kind; promoted columns: pnl-vector 23, scenario-pv 24; vector columns PNL and SCENARIO_PV; fx-scenario keeps RATES in the document); 15.9 (scenario-pv and fx-scenario); EXPOSURE_GUIDE.md 15.1 to 15.3 (simulation-run, exposure-path with the vector column MTM, served by exposure-store); section 19 and EXPOSURE_GUIDE.md 20 (the published tables, read only by the BI connectors var-results and exposure-results as the computed kinds var-official VOFF and exposure-official-cpty XOFC).</a:t>
            </a:r>
          </a:p>
          <a:p/>
          <a:p>
            <a:r>
              <a:t>Positions are not a table: Drishti derives them when it loads a date (VAR_GUIDE.md 15.6). The guard test tools/test_contracts.py fails the build when anything but a read-only connector of computed kinds points at risk-results (an Iceberg reader is allowed as the Delta one).</a:t>
            </a:r>
          </a:p>
          <a:p/>
          <a:p>
            <a:r>
              <a:t>P&amp;L-vector ids are PNL-&lt;trade or position&gt;-&lt;set&gt; (earlier PV- ids still read); every P&amp;L-vector, scenario-PV and exposure-path row carries LIMIT_LETTER, the column of the limit-letter hierarchy LL (LIMIT_LETTER &gt; DESK) configured by columns; the new dated kind var-limit (VLIM, key LIMIT_ID VL-&lt;NODE_ID&gt;; HIERARCHY, NODE_ID, LIMIT_VAR in USD) holds the limits of such a hierarchy (VAR_GUIDE.md 5.2, 15.14, 15.15). A source written before the column skips that hierarchy alone with a DRS-5211 warning; MGMT, LEGAL and exposure answer as before.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VAR_GUIDE.md 29.1 to 29.3. The design compared four layouts for 2 million rows × 509: long (a row per position × scenario, about 9–11 GB a date, a group-by over hundreds of millions of rows), wide (509 columns, schema coupled to the scenario count, footer bloat), vector (list&lt;double&gt;, chosen) and blob (opaque bytes, unreadable by other tools). As built: lake build --vector and both writers write list&lt;double&gt; (pyarrow pa.list_(pa.float64()); type vector in the Java LakeWriter), the document keeps {"$vector": "PNL"}; the Delta plugin streams a date's vectors (SourcePlugin.vectors, VectorSink) one buffer per read, reused for every row, through Delta Kernel's list reader; Snappy and default encodings. Earlier the arrays were in the doc JSON: about 5 KB of text per vector, 10 GB of JSON a date at bank scale. Test: DeltaVectorColumnTest and tools/lake/test_vectors.py (JSON Lines → Delta → double[] → document equal to the bit). Exposure: list&lt;float&gt; read too, widened exactly; vector32 written. The Iceberg plugin implements vectors() too (both engines, bit for bit: IcebergVectorsTest, IcebergParityTest), so VaR and exposure read an Iceberg risk lake equal to Delta to the cent (VarFormatEqualityTest, ExposureFormatEqualityTest). The bank-scale layout (VAR_GUIDE.md 29.2: sorted by legal entity and desk, BYTE_STREAM_SPLIT + ZSTD) is what the parallel Java loader writes (PARALLEL_LOADER.md sections 5 and 7); lake build's Python path keeps Snappy by id.</a:t>
            </a:r>
          </a:p>
          <a:p/>
          <a:p>
            <a:r>
              <a:t>What each input needs from the format (VAR_GUIDE.md 15.1, 29.2, 29.3): pnl-vector (PNL list&lt;double&gt;, 509 scenarios, one row per trade per date), scenario-pv (one row per trade or position per date), exposure-path (MTM paths, about 4,000 times VaR's vectors), risk-hierarchy, var-limit, scenario-set, portfolio (no vector, small tables): all on Delta and Iceberg. On Iceberg the engine reads and writes list types; IcebergLoader writes layout.&lt;kind&gt;.vectors as list&lt;double&gt;; vectorColumns() and vectors() stream a date file by file with one reused buffer, bit for bit; LIMIT_LETTER is on every vector row, and a source without the column skips that hierarchy alone with a warning (DRS-5211). Why the format barely matters for the arithmetic: the engine reads a date once into its memory-mapped hot file and answers from there; the lake is read at load (9.37 GB of float64 a date at 2.3M positions, ESTIMATED), either format the same Parquet column. Where it does matter: commits, history and metadata (slide 61).</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VAR_GUIDE.md 15.8 (cadence and the load signal), 8.4 'Intraday updates, as built' and 'Intraday updates from Kafka, as built'. Morning: RUN_KIND FULL, every live trade, one BATCH_ID; lake build replaces the date; the signal reloads the date and the official capture follows. Intraday files: only changed trades, RUN_KIND INTRADAY, own BATCH_ID, a later COMPUTED_AT, appended (lake build --mode append; drishti.py var intraday --load FILE); the row id is the morning id with the batch. Kafka: the market-risk pack's connector pv-updates (plugin var-pv-stream, off by default, DRISHTI_VAR_PV_STREAM=true) reads the PV topic; each message is JSONL text; everything received in drishti.var.intraday.kafka.window (5m) keeps the latest COMPUTED_AT per trade and is appended to the lake as ONE intraday batch (BATCH_ID K-&lt;date&gt;-&lt;time&gt;-&lt;n&gt;) by Drishti's lake writer, then applied after one data-load signal; earlier at max-trades (500) or an administrator's Apply now. A window goes to the lake in its own format: one Delta commit, or one Iceberg append when the table is Iceberg (LakeAppends). The lake is the record: a restart rebuilds the intraday layer from the lake; replaying the topic writes nothing twice. Measured: VarIntradayApiTest, 200 batches of 3 trades: equal to the same data loaded as one run, to the cent, on every node; batch time does not grow; the lake's 1-second refresh dominates. Sizing from the guide: a record is 4–8 KB, so 10,000 updates a day are 40–80 MB on the topic.</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Facts: lake build and Drishti's Java writer write local disk or EFS; lake publish commits a built table into S3 with --mode overwrite-dates (default), overwrite-partitions or append, creating a new table with --log-retention-days (30) and --deleted-file-retention-days (7) unless told otherwise (TOOLS.md 4.11).</a:t>
            </a:r>
          </a:p>
          <a:p/>
          <a:p>
            <a:r>
              <a:t>Official results (VAR_GUIDE.md section 19, EXPOSURE_GUIDE.md section 20, AWS_DEPLOYMENT.md section 22): drishti.var.official.root and drishti.ccr.exposure.official.root may be s3://; ….official.format delta (the default) or iceberg; ….official.storage the s3.* settings (no keys: the task role). The tables stay append-only (delta.appendOnly; Iceberg append commits only) with 7 years of history, the JSON Lines beside them on the same storage. Each Delta commit file is an exclusive create (a conditional PUT through drishti-lakeio), so two servers publishing at once both land. A failed publish names the format and the table; a format changed with the root not is refused in words. BI's var-results and exposure-results follow the format by themselves (OfficialReaders). Tested on S3Mock (OfficialS3Test); not yet run against a real bucket. The task role needs s3:GetObject, s3:PutObject, s3:ListBucket on that prefix, no delete.</a:t>
            </a:r>
          </a:p>
          <a:p/>
          <a:p>
            <a:r>
              <a:t>The Kafka stream's windows are appended to its lake path (Delta or Iceberg, LakeAppends), not to s3://: the box on the right is this deck's proposal, using only built tools (lake publish --mode append with its retention options).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VAR_GUIDE.md section 19: official captures of every node of every configured hierarchy (MGMT, LEGAL and the limit letters LL, 131 nodes on the test data, 88 + 43) after the data-load signal of an input kind, at start for the newest date without a record, or by an administrator; one capture at a time; unchanged inputs not captured again; a restatement gets the next result version, the earlier kept. Published by VarPublisher, one Delta commit per run, created delta.appendOnly with 7 years of log and removed files (interval 2557 days). Columns: business_date (partition), id, doc, HIERARCHY, NODE_ID, NODE_NAME, PARENT_ID, LEVEL, CAPTURE_ID, RESULT_VERSION, INPUT_VERSIONS, COMPUTED_AT, CONTRACT_VERSION, VAR, ES, CONFIDENCE, ES_CONFIDENCE, SCENARIO_SET_ID, STANDALONE_SUM, DIVERSIFICATION, HYPO_PNL, LIMIT, LIMIT_USE, TRADE_COUNT, POSITION_COUNT, EXCEPTIONS_250, TRAFFIC_LIGHT. No vectors and no trade or position rows are published. Exposure (EXPOSURE_GUIDE.md 20): exposure-official (hierarchy nodes) and exposure-official-cpty (netting sets, counterparties, groups) with CE, EPE, EEPE, PEAK_EE, PEAK_PFE_95/99, EAD_IMM and the profile as JSON text. BI: var-official (VOFF) and exposure-official-cpty (XOFC), the reports Market risk: VaR and Counterparty risk; no measure sums VaR. the tables in Delta (default) or Iceberg, in a folder or on s3://; Iceberg keeps 7 years by history.expire.max-snapshot-age-ms with every metadata file kept.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DATA_FORMATS.md section 4: VaR and exposure publish to Delta (risk-results/var-official, exposure-official, exposure-official-cpty) and also write each published date as JSON Lines beside the tables: &lt;root&gt;/risk-results/jsonl/&lt;table&gt;/&lt;date&gt;/&lt;table&gt;-v&lt;table version&gt;.jsonl, one row a line, one file per commit (a restatement is a new file). Settings drishti.var.official.jsonl and drishti.ccr.exposure.official.jsonl, on by default. In the content store the row lists are JSONL too (var/official/&lt;date&gt;-membership-v&lt;n&gt;.jsonl, exposure/official/&lt;date&gt;-trades-v&lt;n&gt;.jsonl); records written as.json before JSONL keep their.json and are read as they are (append-only).</a:t>
            </a:r>
          </a:p>
          <a:p/>
          <a:p>
            <a:r>
              <a:t>VAR_GUIDE.md section 19 and EXPOSURE_GUIDE.md section 20: drishti.var.official.format and drishti.ccr.exposure.official.format (delta, the default, or iceberg) with ….official.storage (the s3.* settings). The official tables stay append-only (Delta: delta.appendOnly; Iceberg: append commits only, drishti.append-only=true), keep seven years of history (Delta log retention; Iceberg history.expire.max-snapshot-age-ms, metadata files kept), and the JSON Lines beside them on the same storage. On S3 each Delta commit file is an exclusive create (conditional PUT through drishti-lakeio), so two servers publishing at once both land; an s3:// root no longer ends in publishError. A table keeps the format it was created in. BI's var-results and exposure-results follow the format by themselves (OfficialReaders). Official records cover every configured hierarchy (131 VaR nodes on the test data: 88 MGMT and LEGAL + 43 limit letters). Tests: OfficialSinkTest (both formats, a restatement, six writers at once), OfficialS3Test (S3Mock), OfficialReadersTest. Not yet run against a real bucket (slide 49: who writes the risk lake on AWS).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EXPOSURE_GUIDE.md 27.2 (sizes) and 27.3 (seven-year retention: the product owner decided 7 years for VaR's input vectors; for exposure paths that is about 3.5 PB at a large bank; the tiers proposed were accepted on 2026-10-26 and built as the settings drishti.ccr.exposure.retention: trade-paths-days 20, trade-paths-month-end-years 1, set-matrices-years 1, set-matrices-month-end-years 7, statistics-years 7, trade-contributions-years 7). Under the tiers the standing storage is about 150 TB in the guide (the sum of the kept tiers is about 132 TB: 64 + 50 + 17 + 0.85; this deck says about 130 TB) instead of 3.5 PB; at P = 2,000 and G = 50 every number is a fifth. The trade paths are the lake owner's: GET /api/v1/exposure/retention lists each date held and whether its paths are beyond their window. Partition by run and sort by netting set, 512 MB files, BYTE_STREAM_SPLIT + ZSTD: proposed in EXPOSURE_GUIDE.md 15.3.</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exists and how it was tested; the S3 simulators; Delta = Iceberg to the cent; bank scale at 2.3 million positions and 15,000 portfolios; the loader and sharding; the demo lake, public data and DATAMAP</a:t>
            </a:r>
          </a:p>
          <a:p/>
          <a:p>
            <a:r>
              <a:t>Chapter 5. Bank scale set by the product owner: 2.3 million positions and 15,000 portfolios. ESTIMATED means scaled linearly from the measured 100,000-trade figures (x 23 for 2.3 million) or computed from the formula shown; nothing here is measured at 2.3 million. Sources on each slide.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status words are those of the VaR engine deck (Drishti-VaR-Engine.pptx) so the two decks agree. The product owner's rule: built things carry no label; only what is not built does. Built: VaR sharding across servers (VAR_SHARDING.md), the parallel Java loader (PARALLEL_LOADER.md), Iceberg as a full alternative. DESIGNED is the super-scale architecture across many nodes (SUPER_SCALE.md), not built. PLANNED marks what IMPLEMENTATION_PLAN.md lists and is not built: 10-day and stressed VaR, ES backtests, the 200K-position benchmark (2.3M extrapolated), Delta in-place schema evolution, Delta-Iceberg conversion, Unity Catalog and plain tables. NOT RUN: the AWS Glue and S3 Tables live runs (deploy/aws/iceberg/check-glue.sh written, never run: they need the product owner's AWS account).</a:t>
            </a:r>
          </a:p>
          <a:p/>
          <a:p>
            <a:r>
              <a:t>Testing: tools/test_deploy_aws.py runs every deploy/aws script with --help and --dry-run against a fake settings file and an aws command that fails the test if called, renders all JSON templates, checks the lifecycle rules and that deploy/aws/env is git-ignored; tools/lake/test_publish.py; tools/lake/test_s3_simulators.py runs Delta on S3 and lake publish on moto 5.2.3 (new table, a day restated, a missing file refused, three publishes at once); the content store and the Iceberg engine on S3Mock and MinIO (TOOLS.md 4.12, CONTENT_STORE.md section 7); official results to S3 on S3Mock (OfficialS3Test: both formats, two writers in sequence, the exclusive create), Delta = Iceberg for VaR and exposure (VarFormatEqualityTest, ExposureFormatEqualityTest), the deploy/aws/iceberg scripts with --help and --dry-run (test_deploy_aws.py), the connector upgrade from an earlier release's files (ConnectorUpgradeTest); VaR sharding equal to one server to the cent on three members, Delta and Iceberg (VarShardClusterTest); the Java loader equal to the Python path (PythonPathEqualityTest). The first run in a real AWS account is still to do (AWS_DELTA_LAKE.md section 15).</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3 'built' rows, all still true, plus the fix to lake maintain (CHANGELOG: 'lake maintain lays out the per-source trade tables': it now finds the layout of the connector whose table it is, and relayout keeps business_date and PRODUCT_TYPE partitions; test_maintain.py). AWS_DELTA_LAKE.md 9.3 still describes the lookup before that fix; see slide 76. The scripts are built and dry-run tested; the first run in a real AWS account is still to do.</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in the CHANGELOG and is built. Sources per row: HISTORY_QUERIES.md and DELTA_CONNECTOR.md section 8; DEMO_DATA.md mixed storage; NET.md sections 4 and 7; CONTENT_STORE.md section 7 and TOOLS.md 4.12; VAR_GUIDE.md 15.1, 19, 29.3 and 8.4; EXPOSURE_GUIDE.md 15 and 20; DATA_FORMATS.md; USER_GUIDE.md 'The data map'. CHANGELOG.md: official results to Delta or Iceberg in a folder or on s3:// (OfficialSinkTest, OfficialS3Test); Iceberg a full alternative (VarFormatEqualityTest, ExposureFormatEqualityTest, deploy/aws/iceberg/); airtight connector upgrades (ConnectorUpgradeTest, CONNECTOR_FILES.md 'Upgrades'); hierarchies by columns and the var-limit kind (VAR_GUIDE.md 5.2, 15.15). VaR sharding: VAR_SHARDING.md (VarShardClusterTest). The parallel Java loader: PARALLEL_LOADER.md (PythonPathEqualityTest).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was checked in the code on develop (CHANGELOG 'Iceberg'). Tests named are in the repository: NativeCommitTest, NativeOnS3Test (Testcontainers: S3Mock image, MinIO image when present), NativeOnS3SimulatorTest (Adobe S3Mock 4.12.4 in the test JVM, the MinIO binary on Linux), PyicebergReadsNativeTest and NativeReadInteropTest (pyiceberg interop), IcebergNativeNoHadoopTest, SigV4Test, IcebergExternalPluginTest, tools/lake/test_stores.py, tools/lake/stores_equality.py, tools/test_deploy_aws.py; IcebergParityTest, IcebergVectorsTest, IcebergDiskCacheTest, IcebergOrphanFilesTest, VarFormatEqualityTest, ExposureFormatEqualityTest, LakeAppendsTest, OfficialSinkTest, OfficialS3Test, OfficialReadersTest, test_maintain_iceberg.py. 'Built' never means 'run in AWS'.</a:t>
            </a:r>
          </a:p>
          <a:p/>
          <a:p>
            <a:r>
              <a:t>Not done: nothing has run against real AWS S3 or a real Glue catalog. GlueLiveTest (Glue) and the S3 Tables case are written and run only with DRISHTI_GLUE_LIVE=1 through deploy/aws/iceberg/check-glue.sh: not run (no AWS account), the product owner runs them (AWS_DEPLOYMENT.md section 22).</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TOOLS.md 4.12 and CONTENT_STORE.md section 7; CHANGELOG ('Tests: S3 on three simulators, no Docker'). Each suite first probes its simulator (com.ash.drishti.testkit.s3.ConditionalWrites: a second If-None-Match create, a stale If-Match put, a stale If-Match delete, then eight racing creates five times) and prints one line, then skips what it does not honour. Results so far: S3Mock honours create-only, update-if-match and delete-if-match but lets two racing creates both win (so writers at once are tested on MinIO only); moto honours all three and its racing creates have one winner. MinIO no longer serves its community binaries (dl.min.io answers 410 Gone), so the MinIO tests skip saying so unless DRISHTI_MINIO_BIN points at a binary. Iceberg is not tested on moto (moto covers the Python Delta tools). The drill runs all three (Java in verify, Python with uv).</a:t>
            </a:r>
          </a:p>
          <a:p/>
          <a:p>
            <a:r>
              <a:t>Fixed: lake publish --storage-option AWS_ENDPOINT_URL=… (MinIO, another S3-compatible store) checks the files on that endpoint, as the commit does; it used to ask AWS S3 and fail (ACCESS_DENIED).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CHANGELOG 'VaR and exposure on an Iceberg risk lake, equal to Delta to the cent'; ICEBERG_CONNECTOR.md section 18. VarFormatEqualityTest and ExposureFormatEqualityTest write the same day from the very same lines to a Delta lake and to an Iceberg lake (IcebergMirror, the lake fixtures) and read both through one connector switched from plugin: delta to plugin: iceberg. VarFormatEqualityTest: every scope including the limit letters, USD and EUR, VaR, ES, component and incremental VaR, worst scenarios, limits, intraday file batches applied live from Iceberg, official records published to Iceberg. ExposureFormatEqualityTest: EE, PFE, EPE, profiles, contributions, official records. LakeAppendsTest: the Kafka PV stream's windows as one Iceberg append each.</a:t>
            </a:r>
          </a:p>
          <a:p/>
          <a:p>
            <a:r>
              <a:t>Demo figures: build_demo_lakes.py --store risk=iceberg moved 14 risk tables (955,124 rows) into Iceberg in 579 s; a server on that lake answered VAR BANK, the limit letter LL:LL-0003 and XPO BANK from Iceberg and published its official records. On the data's own date (2026-09-30) VAR BANK is USD 112,041,646 on Delta and on Iceberg (VAR_GUIDE.md section 5). These are demo figures (MEASURED, demo), not bank scale; the 200K benchmark on both formats is planned.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Arithmetic (all decimal units). Vectors: 2,300,000 × 509 × 8 bytes = 9,365,600,000 B = 9.37 GB per date per currency in float64; float32 halves it: 4.68 GB. Parquet about 0.75 × raw (the design's estimate, VAR_GUIDE.md 27.4: 'about 70–80% of raw'): 9.37 × 0.75 = 7.02 GB a date; × 252 business dates = 1,770 GB ≈ 1.77 TB a year; × 7 years ≈ 12.4 TB kept (the 7-year floor). Partitions: business_date only as built, so one partition of about 7 GB per date per table. Files: as built the writers' defaults (the parallel Java loader: file-size-mb); at the design's ~512 MB files (VAR_GUIDE.md 29.2; PROPOSED here) 7.02 GB / 0.512 GB ≈ 14 files a date. Reads: a whole date is one streamed pass over one vector column; if the risk tables are loaded by load-day.sh with its 1 MB row groups (LAKE_ROW_GROUP_KB=1024), a cold pass is about 7.02 GB / 1 MB ≈ 7,000 ranged GETs (arithmetic on that assumption). A system sending scenario PVs instead sends one 509-vector per row as well (plus the base PV), so the size order is the same; one system sends one form and grain per date (DRS-5210). Portfolios: 15,000 definitions are 15,000 small rows a date in risk/portfolio, well under the 100,000-row read limit of VAR_GUIDE.md section 20; storing every portfolio's vector would be 15,000 × 509 × 8 B = 61,080,000 B ≈ 61 MB a date a currency (≈ 305 MB for five currencies; half in float32) — PROPOSED in the VaR deck; today only captures keep a vector. Intraday: a 5-minute Kafka window is at most 12 appended commits an hour on a risk table; a record is 4–8 KB, so 10,000 updates a day are 40–80 MB (VAR_GUIDE.md 8.4). Official results: one row per hierarchy node per date and version. The documents' lake past 200 TB is AWS_DELTA_LAKE.md 12.1 (slide 84).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VAR_GUIDE 15.1 and LAKE_MAINTENANCE.md (risk and risk-results keep 7 years: delta.logRetentionDuration and deletedFileRetentionDuration of 2,557 days; lake maintain raises lower settings, retention-floor). Each commit is a small JSON; checkpoints keep replay short. Iceberg: every snapshot kept stays listed in the metadata JSON rewritten by each commit (ICEBERG_CONNECTOR.md section 9); measured 1,800 daily commits is workable (93 ms a commit); named tags would let old snapshots be referenced selectively but reading branches and tags is 'later' in DRISHTI_ICEBERG.md. Intraday commits multiply the snapshot count. IcebergMaintenance --floor-days 2557 for risk and risk-results (no date dropped, no snapshot expired inside 7 years); the official Iceberg tables keep history.expire.max-snapshot-age-ms of 7 years and every metadata file. The official numbers of record are in the content store either way (VAR_GUIDE section 19). Figures at 2.3 million positions: 2,300,000 × 509 × 8 B × 0.75 ≈ 7.02 GB of Parquet a date; 252 × 7 = 1,764 dates ≈ 12.4 TB; 1,764 full-run versions (plus intraday batches).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DELTA_CONNECTOR.md section 11: measured by hand on 2026-10-01 on a developer workstation (24 cores, server heap limit 15.6 GB), the trading pack's lake with 1,000,000 trades a day over three business days, over HTTP from the same machine. The search figures were measured in 2.2 with camel-case fields; today's equivalents use UPPER_SNAKE fields; not re-measured for 2.3. Section 8: a table of 1,800 business days and 7,200 files: start-up 729 ms; a trade on 2019-12-05 22 ms; on 2022-06-15 13 ms; the file list re-read 84 ms; an old day's columns 13 ms.</a:t>
            </a:r>
          </a:p>
          <a:p/>
          <a:p>
            <a:r>
              <a:t>Why it matters at 2.3 million positions: the trades behind the positions are read with the same paths; the measured million-a-day figures are the closest real points. Above that the SUPER_SCALE scale-out design (DESIGNED) takes over.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 of the VaR deck slide 12; bases VAR_GUIDE.md 27.3, 27.4, 26 and 12. Measured (VarTierBenchmark, 100,000 trades × 5 dates, one workstation: 24 threads, 61 GB, JDK 25, NVMe): first load 0.8–1.2 s per date after the lake read; reopening a date from its hot file 23 ms; a node 0.48 ms; the whole bank from float32 rows 3.4 ms (≈ 60 GB/s); hot file 237.7 MB per 100,000; heap ≈ 80 MB per open date. Scaled × 23 for 2.3 million: hot file 237.7 MB × 23 = 5,467 MB ≈ 5.5 GB a date; heap 80 MB × 23 ≈ 1.84 GB per open date (≈ 3.7 GB with hot-dates 2); first load (0.8–1.2 s) × 23 ≈ 18–28 s; reopen 23 ms × 23 ≈ 0.53 s; whole bank resident 4.68 GB of float32 at ≈ 60 GB/s ≈ 78 ms; cold from NVMe at about 3 GB/s ≈ 1.6 s; USD hot files for disk-dates 60: 5.5 GB × 60 ≈ 328 GB of local disk (lower disk-dates to need less). The cold lake read: the VaR deck takes the guide's 10–40 s for a whole-bank pass over about 4 GB of Parquet on one server (decoding at roughly 0.5–1 GB/s per core); scaled to ≈ 7.0 GB that is ≈ 18–70 s. A node stays ≈ 0.5 ms at any size (its float64 aggregate). drishti.var.tier.dir: 'put it on fast local disk' (VAR_GUIDE.md section 12); exposure's hot-folder likewise. The full 1 M × 50 benchmark has not been run (a million-trade run once took the workstation down); the plan measures 200K positions locally (single server against a three-node sharded cluster) and keeps 2.3M extrapolated; not yet run. Measured (ColumnHierarchyBenchmark, 10,000 trades): 700 limit letters build in the same time as none (65-99 ms against 53-197 ms) and the VaR of all 1,412 nodes takes about 30 ms.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PARALLEL_LOADER.md (status: built; module drishti-lakeload, main class com.ash.drishti.lakeload.LakeLoad, in the server's exec jar); TOOLS.md section 4.13 (every key); CHANGELOG 'The parallel lake loader'. The pipeline: readers (a plain file in byte ranges, ranged GETs on S3; a.gz or.zst decompressed as a stream by one reader), parsers (streaming Jackson, the document re-written byte for byte as lake build keeps it, vectors straight to double[]), sorted runs spilled to memory.spill-dir, writers merging key ranges into Parquet files of file-size-mb, one commit per business date (a Delta version replacing the date through Kernel; an Iceberg replacePartitions). Memory bounded by memory.budget-mb; the spill removed however the load ends. Layout: each date sorted by LEGAL_ENTITY, DESK, id by default; files cut where a desk changes (shard-aligned); a load manifest lists each file's first and last keys for the VaR shards; the vector column BYTE_STREAM_SPLIT + ZSTD. Credentials only from the AWS chain.</a:t>
            </a:r>
          </a:p>
          <a:p/>
          <a:p>
            <a:r>
              <a:t>Measured (section 11, 2026-10-28, 24 cores, ThroughputTest): 10,000 positions x 510 scenarios, 53.7 MB of JSON Lines in eight gzip files, into Delta on local disk: warm 0.19 to 0.29 s, 34,000 to 52,000 rows/s, 180 to 280 MB/s of JSON; Iceberg warm 0.25 to 0.27 s. A 24 MB budget spilled 37 MB and wrote the identical table. The 2.3M estimate (not measured): about 92 to 150 us of CPU a position; 1 to 2 minutes on a 32 vCPU, 64 GB server with NVMe spill; about 2 minutes on Fargate 16 vCPU, 120 GB; 4 to 5 minutes on 16 vCPU, 32 GB with gp3 spill. Equality: PythonPathEqualityTest runs lake build both ways on Delta and Iceberg and compares every row, document, column and vector. The Python path stays the default: --engine java, or --engine auto with --java-above-mb 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VAR_SHARDING.md (status: built; off by default) and VAR_GUIDE.md section 28. The market-risk pack's sharding: block (enabled, key [LEGAL_ENTITY, DESK], kinds [scenario-pv, pnl-vector], target-shard-mb 2048, replicas 2) or drishti.var.sharding.*. Each date is cut into a shard map of legal-entity and desk ranges near the target size (a desk never split, the same on every member); owners by rendezvous hashing (no consensus protocol), a second replica in another zone with zone-tag; each owner reads only its key ranges from the lake (the Delta and Iceberg connectors skip files by the key column's statistics, every row checked) into its own hot file. Every member puts the date together from its shards and the others' skeletons (about 0.8 KB a trade): every node's aggregate to the bit, so VAR BANK and the desks stay instant; any other scope is summed shard by shard by one ready owner (POST /api/v1/var/partial, signed, one hop) and added in shard order. No live owner: 503 DRS-5215, never a partial VaR; another data version: 409 DRS-5216; data that does not cut along the key: 422 DRS-5217.</a:t>
            </a:r>
          </a:p>
          <a:p/>
          <a:p>
            <a:r>
              <a:t>Section 11, Fargate scale-in and drain: before a task stops (a scale-in, a deploy), drain it: drishti.py var shards --drain (or POST /api/v1/var/shards/drain from the task's stop hook), then wait until GET /api/v1/var/shards says safeToStop true. Give the task's stopTimeout at least the time to build its largest shard plus grace-seconds (30). A member started with drain: true takes no shard; coordinator-only: true owns none. Evidence (section 12): VarShardClusterTest, three real members and a reference server, 13 scopes in USD and EUR, equal to the cent on Delta and on Iceberg, intraday applied live, the official record; while the third member joins, no request fails or differs.</a:t>
            </a:r>
          </a:p>
          <a:p/>
          <a:p>
            <a:r>
              <a:t>The target in IMPLEMENTATION_PLAN.md: many small ECS Fargate tasks each owning a shard of books, all reading the same lake on S3; any task coordinates; a hot file per shard on its own disk. The sharded benchmark (200K positions, three nodes) is planned, not run.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DEMO_DATA.md: drishti.py lake demo (or tools/build_demo_lakes.py) builds sixty business days ending today from the committed test data (about 138 MB of.jsonl.gz): measured 943 s (about 15 minutes), 85 tables, about 3.4 GB (du, 2026-10-28). Domains (the Windows QA guide): trading, reference, legal, collateral, credit, risk, market, macro, news, civic, us-equities, gleif and funds. Trades: one table per source system, partitioned by business date and PRODUCT_TYPE; 15,000 trades on the last day. build_demo_lakes.py --store risk=iceberg moves the whole risk domain into Iceberg and switches risk-store.yaml and exposure-store.yaml with it; Delta stays the default. The data pattern (product owner): data/testdata/&lt;domain&gt;/&lt;kind&gt;/*.jsonl.gz → build_demo_lakes → Delta → the pack's Delta connector, tested with the demo connector off (PacksServedWithoutDemoTest). The demo lake has exposure for 23 of 24 counterparties (74 netting sets with paths of 76, 8,022 live trades, 200 paths: EXPOSURE_GUIDE.md). config/demo/names.yaml renames the demo's bank and legal entities as they load.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PUBLIC_DATA.md and the CHANGELOG: us-equities (479 companies of the Dow 30, Nasdaq-100 and S&amp;P 500 with SEC filings; kinds us-company, filing, financial-fact, index-membership, sic-sector; prices internal only and off), gleif (about 9,500 legal entities in 540 ownership groups across 132 countries), funds (the 200 largest US mutual funds and ETFs with their holdings from SEC N-PORT, N-CEN and prospectus data). Each kind is one committed snapshot, data/testdata/&lt;pack&gt;/&lt;kind&gt;/snapshot-&lt;date&gt;.jsonl.gz, built into &lt;pack&gt;/&lt;kind&gt; on every demo day and served by the pack's Delta connector. One refresh script per pack in tools/publicdata/ (status, refresh, --dry-run, --offline, --internal-ok) with.sh and.ps1 wrappers; a polite, cached, checksummed download; data marked internal-only (IMF, Yahoo, news) never goes into a committed folder without --internal-ok. Sources' licences: SEC EDGAR public domain, GLEIF and Wikidata CC0. The type-ahead on names (USEQ Ford finds F) is layout.&lt;kind&gt;.type-ahead.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USER_GUIDE.md 'The data map' and CHANGELOG. Views → Data map (/datamap, DATAMAP &lt;GO&gt;, DATAMAP trade): every kind the user's packs hold, how much on the business date and how the kinds join. Inferred, never drawn by hand: kinds from the enabled packs and their contracts (computed kinds dashed), joins from the contracts' links, fields' link: and graph.fields, each checked against the lake (15,000 of 15,000 ids match; under 95 % a finding); counts read at request time and kept per business date (drishti.datamap.ttl, 15 minutes). On the default demo lake (10 packs): 96 kinds, 226 joins, 176 checked in about 1.5 s, 11 findings to fix in the contracts or the data. API GET /api/v1/datamap (only kinds the caller may open). Counts and join checks read the day's column sets (id and promoted columns), never documents. The screenshot: DATAMAP trade retaken 2026-10-30 on a scratch console with the QUICKSTART packs (7 packs), the Map view as it is since 2026-10-29 (the selection a strip across the top, the map at full width under it).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at a glance, the daily load, the signal, backfill and restatement, maintenance, tiers, staying fast past 200 TB, the numbers to watch, sizing, cost and disaster recovery</a:t>
            </a:r>
          </a:p>
          <a:p/>
          <a:p>
            <a:r>
              <a:t>Chapter 6: AWS_DELTA_LAKE.md sections 4, 8, 9, 11 to 13; AWS_DEPLOYMENT.md section 22 (deploy/aws/iceberg/); LAKE_MAINTENANCE.md; ICEBERG_CONNECTOR.md sections 9 and 14. The step-by-step setup and the runbooks are in the appendix.</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AWS_DEPLOYMENT.md section 22 (deploy/aws/iceberg/). Every script is bash with the AWS CLI v2, reads deploy/aws/env (git-ignored; env.example has placeholders only), has --help and --dry-run, and is safe to run again. Steps 0 to 11 in order; steps 6 to 9 are the ECS part (AWS_DEPLOYMENT.md). No step carries a status label: each script exists and was dry-run tested (tools/test_deploy_aws.py: --help, --dry-run, the Glue path, the lifecycle; shellcheck where installed); none has yet run against a real AWS account. Iceberg settings: ICEBERG_PREFIX, ICEBERG_CATALOG (hadoop or glue), GLUE_CATALOG_ID, ICEBERG_TABLES_FILE, ICEBERG_KEEP_BUSINESS_DAYS, ICEBERG_EXPIRE_HOURS, ICEBERG_ORPHAN_HOURS. Step 9: the node task sets DRISHTI_ICEBERG_ROOT (and the catalog settings for REST) through its connector files. deploy/aws/ holds lib/common.sh, delta-lake/, iceberg/ (the same set plus check-glue.sh and iam/*.json) and ecs/ (EFS, Cloud Map, register).</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(built, AWS_DELTA_LAKE.md 8.1): sync landing → EFS scratch; lake build → scratch Delta table; aws s3 sync data files; lake publish one commit (Python deltalake, conditional PUT). Iceberg (deploy/aws/iceberg/load-day.sh, built): per table under its EFS lock, the day's dumps, then lake build --format iceberg --lake s3://LAKE_BUCKET/ICEBERG_PREFIX; the loader writes to s3:// itself (no publish step); the commit is the native engine's conditional PUT. Loader exit codes and messages: a failed load ends with one line and status 1 (ICEBERG_CONNECTOR.md section 6). The data-load signal (POST /api/v1/packs/{pack}/loads) is sent by lake publish for Delta; for Iceberg a script would send it (build_demo_lakes.py --server does so locally), else servers see the new snapshot at the next refresh (10 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8.1; DATA_LOADS.md. With DRISHTI_SIGNAL_URL (a node's Cloud Map name) and DRISHTI_TOKEN_SECRET_ID (an API token with loads:write in Secrets Manager, read into a 0600 file for the run), lake publish sends POST /api/v1/packs/{pack}/loads per date. The signal of a risk input kind (pnl-vector, scenario-set, risk-hierarchy, portfolio, scenario-pv, or trade) also drops the date from the VaR engine and captures it officially; an exposure-path signal reloads the exposure engine (VAR_GUIDE.md 15.8, EXPOSURE_GUIDE.md 15.4). An intraday batch's signal is applied on top of the loaded date (VAR_GUIDE.md 8.4). A storm of signals no longer drives the server out of memory (QA3A-01) and reads queue at most max-queued-reads (4096).</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AWS_DELTA_LAKE.md 8.3 and 8.4. Restatement: readers switch to the restated day at the commit; known at before the commit still shows the day as it was, for LAKE_VACUUM_HOURS (7 years for risk). Data files of an old restated day move to its tier at the next lifecycle run (rules are by date). DATA_FORMATS.md: a restatement is a second file of lake rows (&lt;name&gt;-restated.jsonl) whose rows replace the rows of the same id on their date, as a second commit, so known at shows the correction. Risk: a restated VaR date gets the next RESULT_VERSION in the official results, the earlier kept (VAR_GUIDE.md section 19).</a:t>
            </a:r>
          </a:p>
          <a:p/>
          <a:p>
            <a:r>
              <a:t>Iceberg: ICEBERG_CONNECTOR.md section 6: 'Loading a day again replaces it: the load is idempotent'; --keep-days with --as-of and --max-drop-share (0.5) and --force-drop; dates guarded (rows dated after tomorrow are not loaded). A restated day is a new snapshot: known at before it still shows the old day until --expire-hours. Delta's --mode overwrite-partitions (one product type) has no Iceberg counterpart: Iceberg replaces a whole day (its only partition); deploy/aws/iceberg/backfill.sh runs load-day.sh oldest first and stops at the first failure. The step-by-step runbook is in the appendix (slide 112).</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AWS_DELTA_LAKE.md 9.1 and deploy/aws/delta-lake/lake-maintenance.s3.yaml. --force-foreign: lake maintain maintains only tables lake build built in that location and treats every s3:// table as foreign; the S3 tables are Drishti's (lake publish wrote them from lake build's output), so the script overrides the rule, prints its warning and marks the runs forced. The 7-year floor (LAKE_MAINTENANCE.md): tables of the domains risk and risk-results keep 7 years of business dates and time travel whatever their settings say: a lower vacuum-hours or keep-business-days is raised to 61,368 hours and 1,827 business days and reported as retention-floor; retain-years per domain changes it. LAKE_KEEP_BUSINESS_DAYS defaults to 1,800, so on the risk domains the floor (1,827) applies.</a:t>
            </a:r>
          </a:p>
          <a:p/>
          <a:p>
            <a:r>
              <a:t>Iceberg: ICEBERG_CONNECTOR.md section 9 ('Expire snapshots regularly: every snapshot stays in the metadata JSON that each commit rewrites'); deploy/aws/iceberg/maintain.sh writes lake-maintenance.s3.yaml and runs lake maintain nightly (retention with the 7-year floor, relayout, expiry ICEBERG_EXPIRE_HOURS, orphans older than ICEBERG_ORPHAN_HOURS, 72 at least), then setup-lifecycle.sh. Managed alternatives: AWS Glue table optimizers (compaction, snapshot retention, orphan file removal), Athena OPTIMIZE … REWRITE DATA and VACUUM, Snowflake's automatic maintenance of managed Iceberg tables, Spark procedures (rewrite_data_files with sort_order =&gt; 'id', rewrite_manifests, expire_snapshots, remove_orphan_files), Trino optimize and expire_snapshots. Caution (PROPOSED rule): a managed compaction that ignores the id sort makes single-entity reads touch many row groups; use a sorted rewrite. Measured on the 10,000-trade table: drift check 0.7 s; keep 5 + rewrite 5 + manifests + expiry 2.9 s; 1,800 daily commits: 93 ms per commit to write; start 160 ms, after --rewrite-manifests and expiry 33 ms. Every option: appendix slide 110.</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9.2 and 9.4; DELTA_CONNECTOR.md section 10. setup-lifecycle.sh writes one rule per table per business month on the prefix lake/&lt;domain&gt;/&lt;table&gt;/business_date=YYYY-MM, with ObjectSizeGreaterThan 131072, transitions to STANDARD_IA at 90 days after the month and GLACIER_IR at two years; _delta_log/ never matches. Never Glacier Flexible Retrieval or Deep Archive: their objects need a restore of hours before a read; never an S3 expiry of current lake objects. Only lake maintain removes table files; S3 then keeps the noncurrent versions 14 days. The risk domains' floor keeps 7 years of dates and of removed files (VAR_GUIDE.md 15.1). Costs: Standard-IA keeps an object at least 30 days, Glacier IR 90 days; a restatement of a tiered day pays the rest of that minimum on the files it replaces. Reads from Standard-IA about USD 0.01/GB, from Glacier IR about USD 0.03/GB.</a:t>
            </a:r>
          </a:p>
          <a:p/>
          <a:p>
            <a:r>
              <a:t>Iceberg: data files are under &lt;table&gt;/data/business_date=YYYY-MM-DD/ (ICEBERG_CONNECTOR.md section 3) and metadata/ must stay in Standard. Iceberg names files by absolute path, and S3 transitions keep the key, so tiering does not break a table; expiry would (a manifest still names every data file of an old day). deploy/aws/iceberg/setup-lifecycle.sh tiers data/ by business date beside the Delta rules in the bucket's one lifecycle configuration (each script keeps the other's rules), never metadata/, never an expiry of a current object. The rule count limit (1,000 per bucket) is the same.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9.3 says compact is off because lake maintain found no layout for the per-source tables (trade_endur) and would run a plain compaction out of id order. CHANGELOG 'Fixed: lake maintain lays out the per-source trade tables': it now finds the layout of the connector whose table it is, and relayout keeps a table's own partitions (business_date and PRODUCT_TYPE) and checks each of them (test_maintain.py). AWS_DELTA_LAKE.md 9.3 and lake-maintenance.s3.yaml (compact: false) were not updated after the fix: a documentation follow-up.</a:t>
            </a:r>
          </a:p>
          <a:p/>
          <a:p>
            <a:r>
              <a:t>This replaces the first edition's 'open finding' (decision 3 of its last slide), which is done. Re-enabling compaction on S3 after a relayout test there is this deck's proposal.</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LAKE_MAINTENANCE.md: one engine, tools/lake/maintain.py; Admin → Data loads → Lakes (/admin/lakes) runs it in the console and drishti.py lake maintain from a terminal, cron or a container; both read and write &lt;data&gt;/lakes/lake-maintenance.yaml and keep the same history (maintenance-history.jsonl, the last 2,000 runs). The ownership rule: Drishti maintains only the tables its own lake build built (&lt;lake&gt;/_drishti-lake/tables-built.json); a foreign table is listed read-only and refused unless --force-foreign (the page never offers it). One run at a time per lake; each run takes the lake tool's lock exclusively. After a run each changed table built for a pack sends the data-load signal. Schedules: at a time (cron in the schedule zone) or after every build of the table; a missed run runs once at the next start.</a:t>
            </a:r>
          </a:p>
          <a:p/>
          <a:p>
            <a:r>
              <a:t>On AWS the EventBridge schedule runs maintain.sh; run schedules in one place only (DRISHTI_LAKE_MAINTENANCE_SCHEDULES=false on the console when the daemon or EventBridge runs them).</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11.1, plus: history (DELTA_CONNECTOR.md 8: days() from the snapshot's partitions and the id maps; one read per day held, eight at once); a VaR date (VAR_GUIDE.md 25, 26: one streamed read of the date's vectors, then memory); vacuum lists the table's prefix (≈ 1,000 objects per LIST). Questions over all of history are not interactive: Athena, Trino or Spark on the same tables.</a:t>
            </a:r>
          </a:p>
          <a:p/>
          <a:p>
            <a:r>
              <a:t>Iceberg: ICEBERG_CONNECTOR.md sections 7 and 10 ('Nothing in the read paths grows with history: a read concerns one day's files; planning reads the current snapshot's manifests (a few dozen after monthly regrouping)'). History queries: the planned manifest-bounds scan without an id map is not implemented (section 7 'History queries').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HISTORY_QUERIES.md and DELTA_CONNECTOR.md section 8. GET /api/v1/history/{kind}/{id}?days=30 | range=3M | from=&amp;to= answers the entity over the business days it has data: one row per day with its top-level fields, the fields that changed, list counts, versions; diff=true adds each day's changes; knownAt reads as the store stood then (time travel). Every day is masked for the caller first. The Delta fast path (H5): days() lists the snapshot's business_date partitions whose id map holds the entity; only those days are read. Across Drishti*net (H4): a node with the pack but not the data reads the history from the peer that holds it in one call (GET /api/v1/net/history/{kind}/~), masked there and again here. drishti.py history KIND ID and the Python client's history(); the history cache (256 MB). Not yet built: reading only promoted columns when every field asked is promoted; the number of versions of a day. The soak asks histories under node kills: only complete answers or partial ones naming the dead node.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11.2; DRISHTI_NET.md section 10; NET.md section 7. Nodes whose connectors read different tables of a kind are shards: a search asks every one; a read goes to the node that holds the table. Nodes that read the same table are replicas: a search asks one; a forwarded read goes to the same node for the same entity (stable hash of its id). Every node can read every table from S3: a failed node costs speed, never answers. Peer data over HTTP/2 (one connection per peer) and gossip on its own port; history across the cluster. VaR: without sharding each server that reads the risk lake loads whole dates and answers on its own; with sharding on (VAR_SHARDING.md, off by default) each owner reads only its legal-entity and desk ranges and partial vectors are added in shard order. S5, S6 (slice ownership of the documents' tables) are DESIGNED (SUPER_SCALE.md).</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11.3. Illustrative numbers for a lake of about 200 TB. report.sh is scheduled daily (REPORT_SCHEDULE), prints these and sends them to CloudWatch. The risk tables appear in the same report when listed in the tables file; their behind and file counts grow with intraday commits (a Kafka window is at most 12 commits an hour), which checkpoints every 10 commits keep short.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11.3 table; NET.md section 12 for the gossip line (Admin → Health gossipPort; 0 means gossip shares the server port); DELTA_CONNECTOR.md 14 for max-queued-reads.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payload and symptom table: ICEBERG_CONNECTOR.md section 14 (cache: tables, snapshots, idMaps, columnSets, documents, partitions, daysWithDeletes, ids; DEGRADED messages for moved tables). The report and alarms of the Delta deck (report.sh, setup-alarms.sh: behind, files, log-long) are Delta-shaped; added deploy/aws/iceberg/setup-alarms.sh (load failed, not loaded for three days, load slow, more than ALARM_ICEBERG_SNAPSHOTS = 500 snapshots) and report.sh (version, snapshots, records, data files, business dates; IcebergSnapshots and NewestBusinessDate metrics).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12.1: estimates, to be replaced by the measurements of SUPER_SCALE step S8 (DESIGNED). The risk lake adds about 12.4 TB of VaR vectors over 7 years at 2.3 million positions (slide 60) and the exposure paths under their decided tiers (slide 52).</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12.2. The VaR server's sizing at bank scale is in the VaR deck (slide 12): heap ≈ 1.8 GB per open date at 2.3M (estimated, 80 MB × 23), 2 dates open; hot files ≈ 5.5 GB a date on local disk (estimated, 237.7 MB × 23).</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12.3, unchanged. List prices, one Region, estimates. For comparison: the same 200 TB on EFS: USD 60,000 a month in Standard; about USD 3,200 in Infrequent Access plus USD 0.03 per GB read.</a:t>
            </a:r>
          </a:p>
          <a:p/>
          <a:p>
            <a:r>
              <a:t>Iceberg deltas are qualitative: zstd (Iceberg's layout) compresses documents more than Snappy (the Delta AWS layout); the docs measure about 0.7 KB per 6.5 KB trade for Iceberg/zstd but no Snappy figure on the same data, so the saving is not quantified. Glue Data Catalog and S3 Tables have their own request and storage charges; check current list prices. No new prices are invented: catalog charges are named, not quantified.</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AWS_DELTA_LAKE.md 13.5. Versioning on, with a short noncurrent window: Delta keeps its own history (time travel back to the vacuum window; 7 years for the risk domains), so versions are a safety net, not history; a file deleted by mistake (a wrong vacuum, a script against the wrong prefix) stays recoverable for NONCURRENT_KEEP_DAYS (14), then the lifecycle expires it. The content store's s3 backend (if chosen) is replicated with the lake bucket's settings or its own; a filesystem content store on EFS is covered by AWS Backup and EFS replication.</a:t>
            </a:r>
          </a:p>
          <a:p/>
          <a:p>
            <a:r>
              <a:t>Iceberg: metadata names absolute paths, so a replica bucket's table names the source bucket; the native engine's relocate setting reads it ('s3://prod/wh -&gt; s3://dr/wh'; RelocationTest covers s3 pairs mapped to local folders; an s3 → s3 pair in the recovery Region is PROPOSED to test; tableIdentity() stays the table's UUID after a copy read through relocate). Replication copies objects one by one: a metadata file can arrive before a data file it names, as with Delta. A path-based table's version-hint.text could also arrive before the metadata file it names: that read fails (NoSuchTable) until the file arrives; a hint that lags behind newer metadata files is caught up (PathTableOps.currentVersion).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designed, what this deck proposes, the limits with their sources, and the decisions to take</a:t>
            </a:r>
          </a:p>
          <a:p/>
          <a:p>
            <a:r>
              <a:t>Chapter 7: SUPER_SCALE.md, IMPLEMENTATION_PLAN.md, AWS_DELTA_LAKE.md section 15, ICEBERG_CONNECTOR.md section 13.</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the super-scale scale-out of the whole lake is DESIGNED (not built). SUPER_SCALE.md is the scale-out architecture across many nodes ('one code path that scales down and up'); it opens with 'Status: design' and 'Release not decided (product owner, 2026-10-20)'; its steps S1–S8 are section 22. VaR sharding (VAR_SHARDING.md) is built: it is no longer a design, so it has left this table (a line below the table says so). The bank-scale vector layout (VAR_GUIDE.md 29.2: sort by hierarchy, ZSTD, byte-stream split) is written by the parallel Java loader (PARALLEL_LOADER.md sections 5 and 7); the Python path still writes by id with Snappy.</a:t>
            </a:r>
          </a:p>
          <a:p/>
          <a:p>
            <a:r>
              <a:t>AWS_DELTA_LAKE.md relies on S1, S2 and S5–S6 as 'planned'; this deck labels them DESIGNED to match SUPER_SCALE.md.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this deck's recommendation, derived from facts in the docs:</a:t>
            </a:r>
          </a:p>
          <a:p>
            <a:r>
              <a:t>1. NET.md section 4 'The firewall': with gossip-port auto the port changes at each start; between machines behind a firewall set a number and open it. AWS_DEPLOYMENT.md's security groups open only 18480 between nodes, so on ECS gossip falls back to the server port and loses the isolation the gossip port gives.</a:t>
            </a:r>
          </a:p>
          <a:p>
            <a:r>
              <a:t>2. VAR_GUIDE.md 8.4 and LakeAppends: the Kafka PV stream appends its windows to a lake path (Delta or Iceberg), not to s3://. Keeping that lake on EFS and copying each window with lake publish --mode append keeps S3 the single lake. (The official results need no such copy: the server writes them to s3:// itself.)</a:t>
            </a:r>
          </a:p>
          <a:p>
            <a:r>
              <a:t>3. The relayout fix makes compaction safe for the per-source tables; AWS_DELTA_LAKE.md 9.3 and lake-maintenance.s3.yaml still say compact: false.</a:t>
            </a:r>
          </a:p>
          <a:p>
            <a:r>
              <a:t>4. EXPOSURE_GUIDE.md 15.3 calls its sort and partition 'proposed'; the VaR deck proposed the node and portfolio vector table, the change data feed and Z-order or liquid clustering by book and portfolio.</a:t>
            </a:r>
          </a:p>
          <a:p>
            <a:r>
              <a:t>7. VAR_GUIDE.md 29.2 designed the bank-scale vector layout; the parallel Java loader writes it (PARALLEL_LOADER.md sections 5 and 7), while lake build's default Python path writes by id with Snappy.</a:t>
            </a:r>
          </a:p>
          <a:p>
            <a:r>
              <a:t>9. DRISHTI_ICEBERG.md section 5 ('later'): format v3 reading and named branches and tags; ICEBERG_EXTERNAL_CONNECTOR.md section 9: the Make a pack button.</a:t>
            </a:r>
          </a:p>
          <a:p>
            <a:r>
              <a:t>Other PROPOSED items stay on their own slides: the Iceberg catalog path (path-based first), the hashed object-storage layout only on 503s, the s3 → s3 relocate test, in-place conversion (UniForm, snapshot/migrate) to evaluate, the Iceberg risk lake's seven-year snapshot policy.</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AWS_DELTA_LAKE.md 15 (not yet run in AWS; a bucket without conditional writes; sorting only within a batch; one table for every year until S2); VAR_GUIDE.md 8.4 (the Kafka stream's lake path), 20 (only the first 100,000 hierarchy nodes or portfolios read from a connector that cannot list a date whole), 27.3 (the 1 M x 50 benchmark not run); IMPLEMENTATION_PLAN.md (the 200K benchmark, Delta in-place schema evolution, Delta-Iceberg conversion, Unity Catalog: planned, not built); AWS_DEPLOYMENT.md 22 and ICEBERG_CONNECTOR.md 19 (Glue and S3 Tables: code written, live runs not done: they need the product owner's AWS account); ICEBERG_CONNECTOR.md section 13, ICEBERG_EXTERNAL_CONNECTOR.md section 11, DRISHTI_ICEBERG.md sections 5 and 14. No longer limits: official results to s3://, VaR and exposure inputs on Iceberg, the Iceberg AWS scripts, orphan files, Admin → Lakes, the 7-year floor, table identity, disk caches, one VaR date larger than one server (VaR sharding, built, on either format; ECS Fargate scale-in drains a task first: slide 65), the bank-scale vector layout (the parallel Java loader). The earlier open finding on lake maintain's layout lookup is fixed.</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Decisions 1 and 2 carried over from the first Delta edition, with the hot files added to 1; the Iceberg checks added to 2. Decisions 3 to 5 follow from this deck's proposals (slide 90); official results go to s3:// themselves (VAR_GUIDE.md 19), so only the Kafka windows still need the copy. Decision 6: SUPER_SCALE S1, S2, S5, S6 remain DESIGNED. Decisions 7 to 10 come from the format chapter; the recommendations are PROPOSED.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steps 0 to 11, IAM for Iceberg, the columns of every table, the Iceberg specification covered, the maintenance options, the runbooks, the files and conventions of the scripts, a glossary</a:t>
            </a:r>
          </a:p>
          <a:p/>
          <a:p>
            <a:r>
              <a:t>The appendix holds the reference material: what an operator looks up, not what a reader needs to follow the argument.</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0; AWS_DEPLOYMENT.md section 11.3 for the four secrets. The platform team builds these with its own CloudFormation or Terraform; the Drishti scripts take their ids from deploy/aws/env. New: if the content store's s3 backend is chosen (CONTENT_STORE.md, config/store/store.yaml), its bucket or prefix needs the same conditional-write guarantee as the lake (step 4).</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1. deploy/aws/env is git-ignored and holds account ids and names, never a secret; a script run with a placeholder left names it and stops. The tables file has seven fields per line. The risk tables (risk/pnl-vector, risk/scenario-pv, …) come from the bank's risk batch (VAR_GUIDE.md 15.8) and can be listed the same way when the batch drops JSON Lines in the landing bucket.</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2 and section 5.1. Idempotent: run again, it says the bucket exists, keeps it and applies the same settings. --dry-run prints each changing call as '+ aws …' and each read as '? aws …', none made.</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3; deploy/aws/delta-lake/iam/. Trust policies: iam/ecs-tasks-trust.json (task roles), iam/scheduler-trust.json (the scheduler role). A policy that exists gets a new default version.</a:t>
            </a:r>
          </a:p>
          <a:p/>
          <a:p>
            <a:r>
              <a:t>The risk lake: the server can write the official results straight to s3:// (AWS_DEPLOYMENT.md section 22): its task role then needs s3:GetObject, s3:PutObject and s3:ListBucket on that prefix, no delete (the tables are append-only). The shipped deploy/aws/delta-lake/iam/server-policy.json grants read only (ListBucket, GetObject, kms:Decrypt), so add a statement for the official prefix; with SSE-KMS a PutObject also needs kms:GenerateDataKey on the lake key (AWS's rule). The Kafka intraday windows still go to a local or EFS lake (slide 49).</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4 and section 8.2. A Delta commit is the creation of _delta_log/&lt;version&gt;.json; two writers must never both create the same version. deltalake 1.x writes commits with a conditional PUT and has no DynamoDB lock store.</a:t>
            </a:r>
          </a:p>
          <a:p/>
          <a:p>
            <a:r>
              <a:t>New: the same guarantee is used by drishti-lakeio's S3 conditional PUT (with a start-up probe) for the native Iceberg engine, and by the content store's s3 backend (If-None-Match for a create, If-Match on the ETag for an update; 412 or 409 becomes DRS-5057). The simulators that test this are on slide 58.</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5 and 9.4. The 129 rules: three tables from 2019, one rule per table per month still moving, one per table per year already in Glacier IR, three base rules. S3 allows 1,000 rules and the script refuses more (about 30 tables over seven years).</a:t>
            </a:r>
          </a:p>
          <a:p/>
          <a:p>
            <a:r>
              <a:t>Risk lake (this deck): the risk tables keep 7 years of dates and time travel (LAKE_MAINTENANCE.md), so their old months are in Glacier Instant Retrieval: millisecond reads, so an old official number can still be recomputed. The lifecycle rules are generated from the tables file, so risk tables added there get rules like any other table.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6; AWS_DEPLOYMENT.md's identical-path rule: every path a container writes maps to the identical path on EFS. Every access point runs as uid/gid 10001 (the image's user); 3 × 3 + 3 + 1 + 1 = 14. Idempotent: the access point's name is its client token, so running again returns the same ids.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7 (Cloud Map), NET.md sections 2, 4 and 7.</a:t>
            </a:r>
          </a:p>
          <a:p/>
          <a:p>
            <a:r>
              <a:t>Address rule: advertise-url and seed urls that are localhost, 127.x,::1, 0.0.0.0 or:: are refused; without advertise-url a node advertises the machine's primary IPv4 (on ECS the task's own address).</a:t>
            </a:r>
          </a:p>
          <a:p/>
          <a:p>
            <a:r>
              <a:t>Gossip port: node.yaml gossip-port auto (default), a number, or off; a second Tomcat connector with its own acceptor and eight platform threads serving only gossip, probes and digests. NetGossipBusyTest: with every node's request threads saturated for 12 s, no suspicion (with gossip-port off every node suspected both peers); a node that died was suspect after 3.0 s and dead after 7.0 s. A gossip port that cannot be reached falls back to the server port for 5 minutes with one warning.</a:t>
            </a:r>
          </a:p>
          <a:p/>
          <a:p>
            <a:r>
              <a:t>HTTP/2: routing.yaml peer-protocol http2 (default) multiplexes forwarded views, peer documents, scatter-gather, peer history, state sync and the live relay over one connection per peer (h2c on plain HTTP, ALPN on TLS). NetPeerProtocolBench (64 users, forwarded views, warm): 1 connection instead of 227, p99 117 ms instead of 370 ms.</a:t>
            </a:r>
          </a:p>
          <a:p/>
          <a:p>
            <a:r>
              <a:t>The proposal (fixed gossip port and a security-group rule) is this deck's: AWS_DEPLOYMENT.md's drishti-node group opens only 18480 between nodes.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8 (its example tags name a release; this deck writes &lt;version&gt;, the release you deploy). Java 25: --build-arg BASE_IMAGE=eclipse-temurin:25-jre (AWS_DEPLOYMENT.md). Loader tasks read the same settings (DRISHTI_AWS_ENV=/opt/drishti/app/deploy/aws/env); rebuild the loader image when the settings change. The build context is the repository root.</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9. Every shipped Delta connector's root is ${DRISHTI_DELTA_ROOT:…}; that includes the market-risk pack's risk-store (VAR_GUIDE.md 15.1), the counterparty-risk pack's exposure-store (EXPOSURE_GUIDE.md 15.3) and the BI connectors over risk-results (var-results, exposure-results). So the node task's DRISHTI_DELTA_ROOT=s3://&lt;lake bucket&gt;/lake points every reader at the lake in S3 with no edit. The publishers' root (drishti.var.official.root, the exposure equivalent) defaults to the same root; an s3:// root is written (Delta by default, or Iceberg with ….official.format), and BI's var-results and exposure-results follow the format by themselves (slide 49).</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10 and 8.1. The dumps are JSON Lines (one object a line, UTF-8,.jsonl or.jsonl.gz; DATA_FORMATS.md); lake build still reads JSON arrays, and a CSV export is converted first with drishti.py convert. The same runs on ECS as the loader task.</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11, sections 11.3 and 11.4. 17 alarms for three tables: four per table, two for the bucket and EFS, one per node. All notify ALARM_SNS_TOPIC_ARN. report.sh is scheduled daily and sends its numbers to CloudWatch. The AWS_DEPLOYMENT.md alarms (heap, Drishti*net member dead, backup failed) come with the platform's Prometheus or CloudWatch agent; drishti_net_gossip_exchange_seconds is a Prometheus metric for gossip latency.</a:t>
            </a:r>
          </a:p>
          <a:p/>
          <a:p>
            <a:r>
              <a:t>Iceberg: deploy/aws/iceberg/setup-alarms.sh (load failed, not loaded for three days, load slow, more than ALARM_ICEBERG_SNAPSHOTS = 500 snapshots) and report.sh (version, snapshots, records, data files, business dates; IcebergSnapshots and NewestBusinessDate metrics). The Delta report's behind, files and log-long are Delta-shaped.</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Delta's policies (deploy/aws/delta-lake/iam/*.json) read: server = GET/LIST on the lake prefix + kms:Decrypt; loader = PutObject on the lake prefix with an explicit Deny of DeleteObject; maintenance = the only role that deletes. Iceberg differences from the code: (1) the commit overwrites version-hint.text (a PutObject, allowed); (2) with write.metadata.delete-after-commit.enabled the committer deletes old vN.metadata.json, best effort; (3) IcebergLoader --keep-days and --expire-hours delete files, so under the deny run retention in maintenance, not the loader. deploy/aws/iceberg/setup-iam.sh writes three policies from iam/*.json (iceberg-read, -load, -maintain): S3 on ICEBERG_PREFIX, KMS, Glue GetDatabase/GetTable(s)/CreateDatabase/CreateTable/UpdateTable, lakeformation:GetDataAccess (ICEBERG_CONNECTOR.md section 19); dry-run tested, not yet applied in a real account. Encryption: drishti-lakeio sends no SSE header, so the bucket's default SSE-KMS applies; Iceberg table encryption (key_metadata) is refused by the native engine.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6; VAR_GUIDE.md 15.1 'The physical table' (tools/lake/writers.py): id STRING, doc STRING, business_date DATE, the promoted columns (DOUBLE when every value is a number, else STRING) and the vector columns of layout.&lt;kind&gt;.vectors (list&lt;double&gt;; the document keeps the marker {"$vector": "PNL"} in their place). The lake writer also writes float32 vector columns (vector32) and the Delta reader reads list&lt;float&gt;, widened exactly (EXPOSURE_GUIDE.md 15.3). layout.&lt;kind&gt;.type-ahead (DELTA_CONNECTOR.md section 4): promoted paths the type-ahead also matches. A promoted column added to a Delta table: today a new table and a backfill (slide 113); Delta in-place schema evolution (a nullable column added) is planned, not built (IMPLEMENTATION_PLAN.md); Iceberg evolves in place by field id.</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ICEBERG_CONNECTOR.md section 3: the column table (field ids 1-3 for id, doc, business_date) and the property table. Promoted columns are DOUBLE when every value is a number, else STRING (NativeLayout); a nested path LEGS.CURRENCY becomes LEGS__CURRENCY as in Delta. Compared with Delta on AWS: Snappy and 1 MB row groups by LAKE_ROW_GROUP_KB; delta.dataSkippingStatsColumns = id, business_date, promoted columns (never doc).</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DRISHTI_ICEBERG.md section 5 and ICEBERG_CONNECTOR.md section 17 ('What the native engine is' and 'What it refuses'). Branches and tags: only main is read (ICEBERG_EXTERNAL_CONNECTOR.md section 11). Deletion vectors of format v3 are planned 'later, reusing the Delta engine's roaring bitmap reader'. Hive metastore and JDBC catalogs are reachable only through a REST catalog in front of them.</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ICEBERG_CONNECTOR.md section 9 and IcebergMaintenance.java option parsing (--domain, --kinds, --catalog/--uri/--warehouse/--credential/--token/--engine, --set, --keep-days, --expire-hours, --buffer-mb, --spill-dir, --columns, --relayout, --force, --rewrite-manifests; --as-of, --max-drop-share, --force-drop in the doc). Measured on the 10,000-trade table: drift check 0.7 s; keep 5 + rewrite 5 + manifests + expiry 2.9 s. 1,800 daily commits: 93 ms per commit to write; start 160 ms, a 2020 trade 22 ms, an old day's columns 13 ms; after --rewrite-manifests and expiry 33, 5, 3 ms. (LAKE_MAINTENANCE.md section 8, IcebergOrphanFilesTest, test_maintain_iceberg.py, test_admin_lake_maintain.py): --remove-orphans --older-than-hours (72 at least, with a dry run); --floor-days 2557 for risk and risk-results (no date dropped and no snapshot expired inside 7 years); Admin → Lakes and lake maintain dispatch an Iceberg table (format: iceberg, or auto under a local root) to IcebergMaintenance, with the ownership rule, locks, schedules and history; the tables list has a Format column.</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8.1 and 13.1. The date defaults to today in LOAD_SCHEDULE_ZONE: an evening load in New York is already the next day in UTC. Exit codes: 0 every table published; 2 published with rejected documents (the summary says which); 1 a table failed, its S3 table unchanged; 3 a table was locked. The Iceberg load (iceberg/load-day.sh) keeps the same rules: one table per lock, --dry-run, exit codes, metrics to Drishti/Lake (LoadSucceeded, LoadSeconds); a failed Iceberg load ends with one line and status 1 (ICEBERG_CONNECTOR.md section 6).</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13.2 and 13.3; DATA_FORMATS.md (a restatement is a second JSONL file).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13.4; DELTA_CONNECTOR.md 12. warm-dates (3) warms the newest days at start. A promoted column added changes the table's columns, so publish refuses the next day: write the new layout into a new folder (trade_endur_v2) with backfill.sh, then switch the connector's table.trade. Delta in-place schema evolution (a nullable column added to the table) is planned; Iceberg evolves in place by field id today.</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VAR_GUIDE.md 15.8 (restatement: rewrite the whole date, RESTATEMENT + 1, a new BATCH_ID; the signal reloads the date, a new hot file is built, its name the digest of the new inputs, and the official capture is taken again with the next result version, the earlier kept), 8.4 (a full run of the date drops the intraday layer), 19 (append-only publication, to a folder or s3://; a failed publish is publishError naming the format and the table), 20 (DRS-5203: mixed runs or scenario sets answer the date before with a warning). EXPOSURE_GUIDE.md 15.4 (a new RUN_ID, or the same rewritten whole).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CONNECTOR_FILES.md 'Upgrades'; OPERATIONS.md; CHANGELOG 'Connector upgrades are airtight' (after a drill met a var-whatif file without ccy). Every file Drishti writes from a pack template carries a stamp in its own text (# drishti-template: pack=… template=… text=…), so it survives the content-store overlay, the history and a copy to another server. At start and at every template check: a file whose text still has its hash was never edited and is replaced in full by the new template (changed values included); the file before is kept as &lt;name&gt;.yaml.before-upgrade-&lt;time&gt;.bak and in the history; one log line; audited as connector-template-upgrade. An edited file gets every key the template has at any depth (settings, kinds, layout lists such as LIMIT_LETTER in layout.&lt;kind&gt;.columns, description, a reactive connector's params, result, reads, engine, triggers, coalesce, cache, limits, history); its values are never overwritten; lists keep their order and gain the missing items. Conflicts are listed in Admin → Connectors → Template updates with Use the pack's value per key (POST /api/v1/admin/connectors/template-updates/&lt;name&gt;/use-template-value). Reset to pack default and Regenerate write a stamped file again.</a:t>
            </a:r>
          </a:p>
          <a:p/>
          <a:p>
            <a:r>
              <a:t>The upgrade drill: ConnectorUpgradeTest starts a server on the connector files an earlier release's server generated (tools/connector_upgrade_fixture.py), with an edited risk-store and an edited older var-whatif: every unedited file equals the current template, the edits stay, var-result, var-whatif with ccy and exposure-result answer. HierarchyUpgradeWithoutLettersTest: data written before the letters skips the LL hierarchy alone with a DRS-5211 warning.</a:t>
            </a:r>
          </a:p>
          <a:p/>
          <a:p>
            <a:r>
              <a:t>On ECS the connector files live on EFS (config) or in the content store: a new image is all the upgrade needs.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ICEBERG_CONNECTOR.md section 14 symptom table; loader failure lines (section 6); single-writer warning (PathTableOps.probe log text); relocate messages (QA3B-03/04 fixes in the CHANGELOG).</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14; TOOLS.md sections 4.9 to 4.13 and 7. In tools/lake: stores.py and stores_equality.py (mixed Delta and Iceberg), s3sim.py and test_s3_simulators.py, test_vectors.py, test_retention.py (the 7-year floor), test_names.py, javaload.py (lake build --engine java: the parallel Java loader, module drishti-lakeload in the server's exec jar); tools/samplegen/load_rows.py and tools/convertcmd.py. deploy/aws/iceberg/ (load-day, backfill, maintain, setup-lifecycle, setup-alarms, report, setup-iam with iam/*.json, tables.example, check-conditional-writes, check-glue; AWS_DEPLOYMENT.md section 22), the Iceberg settings in env.example, and the Delta setup-lifecycle.sh keeping the Iceberg rules in the bucket's one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14 conventions; tools/test_deploy_aws.py (7 tests); both test files run in the drill.</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longer derivations behind the footnotes of the slides named; the constants are those of the generator's calc.py, so a figure and its derivation cannot disagree. Prices are list prices for one Region as quoted in AWS_DELTA_LAKE.md (develop, last changed 2026-10-28) unless the line says otherwise.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longer derivations behind the footnotes of the slides named; the constants are those of the generator's calc.py, so a figure and its derivation cannot disagree. Prices are list prices for one Region as quoted in AWS_DELTA_LAKE.md (develop, last changed 2026-10-28) unless the line says otherwise.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longer derivations behind the footnotes of the slides named; the constants are those of the generator's calc.py, so a figure and its derivation cannot disagree. Prices are list prices for one Region as quoted in AWS_DELTA_LAKE.md (develop, last changed 2026-10-28) unless the line says otherwise.</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terms as this deck uses them; the guides named on each slide define them in full.</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documents read from develop on 30 October 2026 (CHANGELOG.md, AWS_DEPLOYMENT.md section 22, CONNECTOR_FILES.md, ICEBERG_CONNECTOR.md sections 18 and 19, VAR_GUIDE.md section 19, VAR_SHARDING.md, PARALLEL_LOADER.md, IMPLEMENTATION_PLAN.md). The companion decks: Drishti-VaR-Engine.pptx (the VaR engine, whose sizing and status words chapters 4 and 5 follow) and Drishti-Design-and-Evidence.pptx (the whole product).</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a:t>
            </a:r>
          </a:p>
          <a:p/>
          <a:p>
            <a:r>
              <a:t>Where to read more: docs/architecture/AWS_DELTA_LAKE.md, AWS_DEPLOYMENT.md, DRISHTI_ICEBERG.md, docs/connectors/ICEBERG_CONNECTOR.md, and the related documents on the previous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8.xml"/><Relationship Id="rId4" Type="http://schemas.openxmlformats.org/officeDocument/2006/relationships/image" Target="../media/image4.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Cover rule"/>
          <p:cNvSpPr/>
          <p:nvPr/>
        </p:nvSpPr>
        <p:spPr>
          <a:xfrm>
            <a:off x="0" y="4754880"/>
            <a:ext cx="12191695" cy="73152"/>
          </a:xfrm>
          <a:prstGeom prst="rect">
            <a:avLst/>
          </a:prstGeom>
          <a:solidFill>
            <a:srgbClr val="E39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extBox 3"/>
          <p:cNvSpPr txBox="1"/>
          <p:nvPr/>
        </p:nvSpPr>
        <p:spPr>
          <a:xfrm>
            <a:off x="731520" y="1051560"/>
            <a:ext cx="10789920" cy="1463040"/>
          </a:xfrm>
          <a:prstGeom prst="rect">
            <a:avLst/>
          </a:prstGeom>
          <a:noFill/>
        </p:spPr>
        <p:txBody>
          <a:bodyPr wrap="square" lIns="0" rIns="0" tIns="0" bIns="0" anchor="b">
            <a:spAutoFit/>
          </a:bodyPr>
          <a:lstStyle/>
          <a:p>
            <a:pPr algn="l">
              <a:spcAft>
                <a:spcPts val="600"/>
              </a:spcAft>
              <a:buNone/>
            </a:pPr>
            <a:r>
              <a:rPr sz="4400" b="1" i="0">
                <a:solidFill>
                  <a:srgbClr val="FFFFFF"/>
                </a:solidFill>
                <a:latin typeface="Calibri"/>
              </a:rPr>
              <a:t>Drishti on AWS: the lake, Delta or Iceberg</a:t>
            </a:r>
          </a:p>
        </p:txBody>
      </p:sp>
      <p:sp>
        <p:nvSpPr>
          <p:cNvPr id="5" name="TextBox 4"/>
          <p:cNvSpPr txBox="1"/>
          <p:nvPr/>
        </p:nvSpPr>
        <p:spPr>
          <a:xfrm>
            <a:off x="731520" y="2606040"/>
            <a:ext cx="10789920" cy="822960"/>
          </a:xfrm>
          <a:prstGeom prst="rect">
            <a:avLst/>
          </a:prstGeom>
          <a:noFill/>
        </p:spPr>
        <p:txBody>
          <a:bodyPr wrap="square" lIns="0" rIns="0" tIns="0" bIns="0" anchor="t">
            <a:spAutoFit/>
          </a:bodyPr>
          <a:lstStyle/>
          <a:p>
            <a:pPr algn="l">
              <a:spcAft>
                <a:spcPts val="600"/>
              </a:spcAft>
              <a:buNone/>
            </a:pPr>
            <a:r>
              <a:rPr sz="2000" b="0" i="0">
                <a:solidFill>
                  <a:srgbClr val="C9D3E3"/>
                </a:solidFill>
                <a:latin typeface="Calibri"/>
              </a:rPr>
              <a:t>For platform and infrastructure teams: the lake in S3, the table format chosen per connector, the risk lake, bank scale, the scripts, the keys, the partitions and every optimisation</a:t>
            </a:r>
          </a:p>
        </p:txBody>
      </p:sp>
      <p:sp>
        <p:nvSpPr>
          <p:cNvPr id="6" name="TextBox 5"/>
          <p:cNvSpPr txBox="1"/>
          <p:nvPr/>
        </p:nvSpPr>
        <p:spPr>
          <a:xfrm>
            <a:off x="731520" y="3611880"/>
            <a:ext cx="10789920" cy="1097280"/>
          </a:xfrm>
          <a:prstGeom prst="rect">
            <a:avLst/>
          </a:prstGeom>
          <a:noFill/>
        </p:spPr>
        <p:txBody>
          <a:bodyPr wrap="square" lIns="0" rIns="0" tIns="0" bIns="0" anchor="t">
            <a:spAutoFit/>
          </a:bodyPr>
          <a:lstStyle/>
          <a:p>
            <a:pPr algn="l">
              <a:spcAft>
                <a:spcPts val="400"/>
              </a:spcAft>
              <a:buNone/>
            </a:pPr>
            <a:r>
              <a:rPr sz="1300" b="0" i="0">
                <a:solidFill>
                  <a:srgbClr val="A9B6CB"/>
                </a:solidFill>
                <a:latin typeface="Calibri"/>
              </a:rPr>
              <a:t>Delta is the default, Iceberg a full alternative: VaR, intraday and exposure read from either; official results to Delta or Iceberg, on disk or S3 · VaR sharded across servers and the parallel Java loader are built, on either format · only the super-scale scale-out of the whole lake is designed</a:t>
            </a:r>
          </a:p>
          <a:p>
            <a:pPr algn="l">
              <a:spcAft>
                <a:spcPts val="400"/>
              </a:spcAft>
              <a:buNone/>
            </a:pPr>
            <a:r>
              <a:rPr sz="1300" b="0" i="0">
                <a:solidFill>
                  <a:srgbClr val="A9B6CB"/>
                </a:solidFill>
                <a:latin typeface="Calibri"/>
              </a:rPr>
              <a:t>AWS scripts for both formats tested with --help and --dry-run; Delta on S3, lake publish, the Iceberg engine and official results tested on S3 simulators; the first run in a real AWS account, and the Glue and S3 Tables runs, are still to do</a:t>
            </a:r>
          </a:p>
        </p:txBody>
      </p:sp>
      <p:pic>
        <p:nvPicPr>
          <p:cNvPr id="7" name="Drishti logo" descr="Drishti logo: an eye between curly brackets"/>
          <p:cNvPicPr>
            <a:picLocks noChangeAspect="1"/>
          </p:cNvPicPr>
          <p:nvPr/>
        </p:nvPicPr>
        <p:blipFill>
          <a:blip r:embed="rId2"/>
          <a:stretch>
            <a:fillRect/>
          </a:stretch>
        </p:blipFill>
        <p:spPr>
          <a:xfrm>
            <a:off x="8826703" y="548640"/>
            <a:ext cx="2633472" cy="457200"/>
          </a:xfrm>
          <a:prstGeom prst="rect">
            <a:avLst/>
          </a:prstGeom>
        </p:spPr>
      </p:pic>
      <p:sp>
        <p:nvSpPr>
          <p:cNvPr id="8" name="Slogan"/>
          <p:cNvSpPr txBox="1"/>
          <p:nvPr/>
        </p:nvSpPr>
        <p:spPr>
          <a:xfrm>
            <a:off x="731520" y="5029200"/>
            <a:ext cx="10789920" cy="457200"/>
          </a:xfrm>
          <a:prstGeom prst="rect">
            <a:avLst/>
          </a:prstGeom>
          <a:noFill/>
        </p:spPr>
        <p:txBody>
          <a:bodyPr wrap="square" lIns="0" rIns="0" tIns="0" bIns="0" anchor="ctr">
            <a:spAutoFit/>
          </a:bodyPr>
          <a:lstStyle/>
          <a:p>
            <a:pPr algn="l">
              <a:spcAft>
                <a:spcPts val="0"/>
              </a:spcAft>
              <a:buNone/>
            </a:pPr>
            <a:r>
              <a:rPr sz="2400" b="0" i="1">
                <a:solidFill>
                  <a:srgbClr val="FFFFFF"/>
                </a:solidFill>
                <a:latin typeface="Calibri"/>
              </a:rPr>
              <a:t>See what your data </a:t>
            </a:r>
            <a:r>
              <a:rPr sz="2400" b="0" i="1">
                <a:solidFill>
                  <a:srgbClr val="E39B2D"/>
                </a:solidFill>
                <a:latin typeface="Calibri"/>
              </a:rPr>
              <a:t>hasn't told you yet.</a:t>
            </a:r>
          </a:p>
        </p:txBody>
      </p:sp>
      <p:sp>
        <p:nvSpPr>
          <p:cNvPr id="9" name="Tagline"/>
          <p:cNvSpPr txBox="1"/>
          <p:nvPr/>
        </p:nvSpPr>
        <p:spPr>
          <a:xfrm>
            <a:off x="731520" y="5532120"/>
            <a:ext cx="10789920" cy="274320"/>
          </a:xfrm>
          <a:prstGeom prst="rect">
            <a:avLst/>
          </a:prstGeom>
          <a:noFill/>
        </p:spPr>
        <p:txBody>
          <a:bodyPr wrap="square" lIns="0" rIns="0" tIns="0" bIns="0" anchor="ctr">
            <a:spAutoFit/>
          </a:bodyPr>
          <a:lstStyle/>
          <a:p>
            <a:pPr algn="l">
              <a:spcAft>
                <a:spcPts val="0"/>
              </a:spcAft>
              <a:buNone/>
            </a:pPr>
            <a:r>
              <a:rPr sz="1100" b="1" i="0" spc="300">
                <a:solidFill>
                  <a:srgbClr val="E39B2D"/>
                </a:solidFill>
                <a:latin typeface="Calibri"/>
              </a:rPr>
              <a:t>ANY DATA. ANY DOMAIN. ONE GRAMMAR.</a:t>
            </a:r>
          </a:p>
        </p:txBody>
      </p:sp>
      <p:sp>
        <p:nvSpPr>
          <p:cNvPr id="10" name="TextBox 9"/>
          <p:cNvSpPr txBox="1"/>
          <p:nvPr/>
        </p:nvSpPr>
        <p:spPr>
          <a:xfrm>
            <a:off x="731520" y="5897880"/>
            <a:ext cx="10789920" cy="320040"/>
          </a:xfrm>
          <a:prstGeom prst="rect">
            <a:avLst/>
          </a:prstGeom>
          <a:noFill/>
        </p:spPr>
        <p:txBody>
          <a:bodyPr wrap="square" lIns="0" rIns="0" tIns="0" bIns="0" anchor="ctr">
            <a:spAutoFit/>
          </a:bodyPr>
          <a:lstStyle/>
          <a:p>
            <a:pPr algn="l">
              <a:spcAft>
                <a:spcPts val="600"/>
              </a:spcAft>
              <a:buNone/>
            </a:pPr>
            <a:r>
              <a:rPr sz="1200" b="0" i="0">
                <a:solidFill>
                  <a:srgbClr val="A9B6CB"/>
                </a:solidFill>
                <a:latin typeface="Calibri"/>
              </a:rPr>
              <a:t>Ashutosh Sinha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Executive summary</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one page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a:t>
            </a:r>
          </a:p>
        </p:txBody>
      </p:sp>
      <p:graphicFrame>
        <p:nvGraphicFramePr>
          <p:cNvPr id="10" name="Table"/>
          <p:cNvGraphicFramePr>
            <a:graphicFrameLocks noGrp="1"/>
          </p:cNvGraphicFramePr>
          <p:nvPr/>
        </p:nvGraphicFramePr>
        <p:xfrm>
          <a:off x="411480" y="1143000"/>
          <a:ext cx="11365992" cy="4535424"/>
        </p:xfrm>
        <a:graphic>
          <a:graphicData uri="http://schemas.openxmlformats.org/drawingml/2006/table">
            <a:tbl>
              <a:tblPr firstRow="0" bandRow="0">
                <a:tableStyleId>{5940675A-B579-460E-94D1-54222C63F5DA}</a:tableStyleId>
              </a:tblPr>
              <a:tblGrid>
                <a:gridCol w="2377440"/>
                <a:gridCol w="7863840"/>
                <a:gridCol w="1124712"/>
              </a:tblGrid>
              <a:tr h="566928">
                <a:tc>
                  <a:txBody>
                    <a:bodyPr wrap="square"/>
                    <a:lstStyle/>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50" b="1" i="0">
                          <a:solidFill>
                            <a:srgbClr val="FFFFFF"/>
                          </a:solidFill>
                          <a:latin typeface="Calibri"/>
                        </a:rPr>
                        <a:t>In one line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50" b="1" i="0">
                          <a:solidFill>
                            <a:srgbClr val="FFFFFF"/>
                          </a:solidFill>
                          <a:latin typeface="Calibri"/>
                        </a:rPr>
                        <a:t>Slides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66928">
                <a:tc>
                  <a:txBody>
                    <a:bodyPr wrap="square"/>
                    <a:lstStyle/>
                    <a:p>
                      <a:r>
                        <a:rPr sz="1250" b="1" i="0">
                          <a:solidFill>
                            <a:srgbClr val="1C2433"/>
                          </a:solidFill>
                          <a:latin typeface="Calibri"/>
                        </a:rPr>
                        <a:t>The lake lives in 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50" b="0" i="0">
                          <a:solidFill>
                            <a:srgbClr val="1C2433"/>
                          </a:solidFill>
                          <a:latin typeface="Calibri"/>
                        </a:rPr>
                        <a:t>Every table's Parquet data and its log or metadata are in S3; EFS keeps only state, caches, the loader's scratch and locks. 200 TB costs about USD 1,400 a month</a:t>
                      </a:r>
                      <a:r>
                        <a:rPr sz="1250" b="1" i="0">
                          <a:solidFill>
                            <a:srgbClr val="E87A1E"/>
                          </a:solidFill>
                          <a:latin typeface="Calibri"/>
                        </a:rPr>
                        <a:t>¹</a:t>
                      </a:r>
                      <a:r>
                        <a:rPr sz="1250" b="0" i="0">
                          <a:solidFill>
                            <a:srgbClr val="1C2433"/>
                          </a:solidFill>
                          <a:latin typeface="Calibri"/>
                        </a:rPr>
                        <a:t> tiered in S3, USD 60,000 in EFS Standard.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50" b="0" i="0">
                          <a:solidFill>
                            <a:srgbClr val="1C2433"/>
                          </a:solidFill>
                          <a:latin typeface="Calibri"/>
                        </a:rPr>
                        <a:t>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250" b="1" i="0">
                          <a:solidFill>
                            <a:srgbClr val="1C2433"/>
                          </a:solidFill>
                          <a:latin typeface="Calibri"/>
                        </a:rPr>
                        <a:t>Delta or Iceberg, per connector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50" b="0" i="0">
                          <a:solidFill>
                            <a:srgbClr val="1C2433"/>
                          </a:solidFill>
                          <a:latin typeface="Calibri"/>
                        </a:rPr>
                        <a:t>Nothing above the storage plugin knows the format: pages, searches, history and BI give the same 18 answers; VaR and exposure are equal to the cent. Delta is the default; Iceberg is chosen by configuration.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50" b="0" i="0">
                          <a:solidFill>
                            <a:srgbClr val="1C2433"/>
                          </a:solidFill>
                          <a:latin typeface="Calibri"/>
                        </a:rPr>
                        <a:t>23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250" b="1" i="0">
                          <a:solidFill>
                            <a:srgbClr val="1C2433"/>
                          </a:solidFill>
                          <a:latin typeface="Calibri"/>
                        </a:rPr>
                        <a:t>One load, one commit a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50" b="0" i="0">
                          <a:solidFill>
                            <a:srgbClr val="1C2433"/>
                          </a:solidFill>
                          <a:latin typeface="Calibri"/>
                        </a:rPr>
                        <a:t>JSON Lines land in S3. Delta builds, syncs and publishes one conditional-PUT commit; Iceberg's loader writes S3 and commits itself. A reader sees the old day or the new, never a mixture.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50" b="0" i="0">
                          <a:solidFill>
                            <a:srgbClr val="1C2433"/>
                          </a:solidFill>
                          <a:latin typeface="Calibri"/>
                        </a:rPr>
                        <a:t>8</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250" b="1" i="0">
                          <a:solidFill>
                            <a:srgbClr val="1C2433"/>
                          </a:solidFill>
                          <a:latin typeface="Calibri"/>
                        </a:rPr>
                        <a:t>The risk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50" b="0" i="0">
                          <a:solidFill>
                            <a:srgbClr val="1C2433"/>
                          </a:solidFill>
                          <a:latin typeface="Calibri"/>
                        </a:rPr>
                        <a:t>VaR and exposure inputs as </a:t>
                      </a:r>
                      <a:r>
                        <a:rPr sz="1150" b="0" i="0">
                          <a:solidFill>
                            <a:srgbClr val="0E7C86"/>
                          </a:solidFill>
                          <a:latin typeface="Consolas"/>
                        </a:rPr>
                        <a:t>list&lt;double&gt;</a:t>
                      </a:r>
                      <a:r>
                        <a:rPr sz="1250" b="0" i="0">
                          <a:solidFill>
                            <a:srgbClr val="1C2433"/>
                          </a:solidFill>
                          <a:latin typeface="Calibri"/>
                        </a:rPr>
                        <a:t> vectors, computed for any scope; official results append-only for 7 years, to Delta or Iceberg on </a:t>
                      </a:r>
                      <a:r>
                        <a:rPr sz="1150" b="0" i="0">
                          <a:solidFill>
                            <a:srgbClr val="0E7C86"/>
                          </a:solidFill>
                          <a:latin typeface="Consolas"/>
                        </a:rPr>
                        <a:t>s3://</a:t>
                      </a:r>
                      <a:r>
                        <a:rPr sz="1250" b="0" i="0">
                          <a:solidFill>
                            <a:srgbClr val="1C2433"/>
                          </a:solidFill>
                          <a:latin typeface="Calibri"/>
                        </a:rPr>
                        <a:t>, JSON Lines beside.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50" b="0" i="0">
                          <a:solidFill>
                            <a:srgbClr val="1C2433"/>
                          </a:solidFill>
                          <a:latin typeface="Calibri"/>
                        </a:rPr>
                        <a:t>45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250" b="1" i="0">
                          <a:solidFill>
                            <a:srgbClr val="1C2433"/>
                          </a:solidFill>
                          <a:latin typeface="Calibri"/>
                        </a:rPr>
                        <a:t>Bank scale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50" b="0" i="0">
                          <a:solidFill>
                            <a:srgbClr val="1C2433"/>
                          </a:solidFill>
                          <a:latin typeface="Calibri"/>
                        </a:rPr>
                        <a:t>2.3M positions: about 7 GB of vectors a date</a:t>
                      </a:r>
                      <a:r>
                        <a:rPr sz="1250" b="1" i="0">
                          <a:solidFill>
                            <a:srgbClr val="E87A1E"/>
                          </a:solidFill>
                          <a:latin typeface="Calibri"/>
                        </a:rPr>
                        <a:t>²</a:t>
                      </a:r>
                      <a:r>
                        <a:rPr sz="1250" b="0" i="0">
                          <a:solidFill>
                            <a:srgbClr val="1C2433"/>
                          </a:solidFill>
                          <a:latin typeface="Calibri"/>
                        </a:rPr>
                        <a:t>, 12.4 TB over 7 years (ESTIMATED). VaR sharding and the parallel Java loader are built; the 200K benchmark is PLANNED.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50" b="0" i="0">
                          <a:solidFill>
                            <a:srgbClr val="1C2433"/>
                          </a:solidFill>
                          <a:latin typeface="Calibri"/>
                        </a:rPr>
                        <a:t>60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250" b="1" i="0">
                          <a:solidFill>
                            <a:srgbClr val="1C2433"/>
                          </a:solidFill>
                          <a:latin typeface="Calibri"/>
                        </a:rPr>
                        <a:t>Status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50" b="0" i="0">
                          <a:solidFill>
                            <a:srgbClr val="1C2433"/>
                          </a:solidFill>
                          <a:latin typeface="Calibri"/>
                        </a:rPr>
                        <a:t>Every AWS script dry-run tested; S3 behaviour proven on three simulators; not yet run in a real AWS account; the Glue and S3 Tables runs NOT RUN.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50" b="0" i="0">
                          <a:solidFill>
                            <a:srgbClr val="1C2433"/>
                          </a:solidFill>
                          <a:latin typeface="Calibri"/>
                        </a:rPr>
                        <a:t>54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250" b="1" i="0">
                          <a:solidFill>
                            <a:srgbClr val="1C2433"/>
                          </a:solidFill>
                          <a:latin typeface="Calibri"/>
                        </a:rPr>
                        <a:t>To decide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50" b="0" i="0">
                          <a:solidFill>
                            <a:srgbClr val="1C2433"/>
                          </a:solidFill>
                          <a:latin typeface="Calibri"/>
                        </a:rPr>
                        <a:t>Hot files on NVMe; the first run in a development account; the format per domain; the Iceberg catalog; the fixed gossip port; compaction on 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50" b="0" i="0">
                          <a:solidFill>
                            <a:srgbClr val="1C2433"/>
                          </a:solidFill>
                          <a:latin typeface="Calibri"/>
                        </a:rPr>
                        <a:t>92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1" name="Footnotes"/>
          <p:cNvSpPr txBox="1"/>
          <p:nvPr/>
        </p:nvSpPr>
        <p:spPr>
          <a:xfrm>
            <a:off x="411480" y="6377940"/>
            <a:ext cx="11365992" cy="169164"/>
          </a:xfrm>
          <a:prstGeom prst="rect">
            <a:avLst/>
          </a:prstGeom>
          <a:noFill/>
        </p:spPr>
        <p:txBody>
          <a:bodyPr wrap="square" lIns="0" rIns="0" tIns="0" bIns="0" anchor="t">
            <a:spAutoFit/>
          </a:bodyPr>
          <a:lstStyle/>
          <a:p>
            <a:pPr algn="l">
              <a:lnSpc>
                <a:spcPct val="100000"/>
              </a:lnSpc>
              <a:spcAft>
                <a:spcPts val="0"/>
              </a:spcAft>
              <a:buNone/>
            </a:pPr>
            <a:r>
              <a:rPr sz="900" b="0" i="0">
                <a:solidFill>
                  <a:srgbClr val="5B677A"/>
                </a:solidFill>
                <a:latin typeface="Calibri"/>
              </a:rPr>
              <a:t>¹ tier split × S3 list prices = USD 1,381; EFS: 200,000 GB × USD 0.30   ² 2.3M × 509 × 8 B × 0.75 Parquet ratio; × 1,764 dates  Full derivations: slides 119–121.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What this deck covers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contents</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3</a:t>
            </a:r>
          </a:p>
        </p:txBody>
      </p:sp>
      <p:graphicFrame>
        <p:nvGraphicFramePr>
          <p:cNvPr id="10" name="Table"/>
          <p:cNvGraphicFramePr>
            <a:graphicFrameLocks noGrp="1"/>
          </p:cNvGraphicFramePr>
          <p:nvPr/>
        </p:nvGraphicFramePr>
        <p:xfrm>
          <a:off x="411480" y="1188720"/>
          <a:ext cx="11365991" cy="5029200"/>
        </p:xfrm>
        <a:graphic>
          <a:graphicData uri="http://schemas.openxmlformats.org/drawingml/2006/table">
            <a:tbl>
              <a:tblPr firstRow="0" bandRow="0">
                <a:tableStyleId>{5940675A-B579-460E-94D1-54222C63F5DA}</a:tableStyleId>
              </a:tblPr>
              <a:tblGrid>
                <a:gridCol w="548640"/>
                <a:gridCol w="3566160"/>
                <a:gridCol w="6309359"/>
                <a:gridCol w="941832"/>
              </a:tblGrid>
              <a:tr h="502920">
                <a:tc>
                  <a:txBody>
                    <a:bodyPr wrap="square"/>
                    <a:lstStyle/>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Chapter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What it holds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Slides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02920">
                <a:tc>
                  <a:txBody>
                    <a:bodyPr wrap="square"/>
                    <a:lstStyle/>
                    <a:p>
                      <a:r>
                        <a:rPr sz="1200" b="1" i="0">
                          <a:solidFill>
                            <a:srgbClr val="1C2433"/>
                          </a:solidFill>
                          <a:latin typeface="Calibri"/>
                        </a:rPr>
                        <a:t>01</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Why 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one rule: the lake lives in S3, whatever the format; S3 against EFS at 200 TB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02920">
                <a:tc>
                  <a:txBody>
                    <a:bodyPr wrap="square"/>
                    <a:lstStyle/>
                    <a:p>
                      <a:r>
                        <a:rPr sz="1200" b="1" i="0">
                          <a:solidFill>
                            <a:srgbClr val="1C2433"/>
                          </a:solidFill>
                          <a:latin typeface="Calibri"/>
                        </a:rPr>
                        <a:t>02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How it works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flow, JSON Lines in, prefixes, partitions, files, one commit a day, safe commits, caches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02920">
                <a:tc>
                  <a:txBody>
                    <a:bodyPr wrap="square"/>
                    <a:lstStyle/>
                    <a:p>
                      <a:r>
                        <a:rPr sz="1200" b="1" i="0">
                          <a:solidFill>
                            <a:srgbClr val="1C2433"/>
                          </a:solidFill>
                          <a:latin typeface="Calibri"/>
                        </a:rPr>
                        <a:t>03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Delta or 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where each plugs in, side by side, Iceberg as built, the decision guide, converting, running both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23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02920">
                <a:tc>
                  <a:txBody>
                    <a:bodyPr wrap="square"/>
                    <a:lstStyle/>
                    <a:p>
                      <a:r>
                        <a:rPr sz="1200" b="1" i="0">
                          <a:solidFill>
                            <a:srgbClr val="1C2433"/>
                          </a:solidFill>
                          <a:latin typeface="Calibri"/>
                        </a:rPr>
                        <a:t>04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risk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vectors, intraday and Kafka batches, official results to Delta or Iceberg, exposure paths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45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02920">
                <a:tc>
                  <a:txBody>
                    <a:bodyPr wrap="square"/>
                    <a:lstStyle/>
                    <a:p>
                      <a:r>
                        <a:rPr sz="1200" b="1" i="0">
                          <a:solidFill>
                            <a:srgbClr val="1C2433"/>
                          </a:solidFill>
                          <a:latin typeface="Calibri"/>
                        </a:rPr>
                        <a:t>05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Evidence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status and tests, S3 simulators, Delta = Iceberg, bank scale, the loader, sharding, the demo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53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02920">
                <a:tc>
                  <a:txBody>
                    <a:bodyPr wrap="square"/>
                    <a:lstStyle/>
                    <a:p>
                      <a:r>
                        <a:rPr sz="1200" b="1" i="0">
                          <a:solidFill>
                            <a:srgbClr val="1C2433"/>
                          </a:solidFill>
                          <a:latin typeface="Calibri"/>
                        </a:rPr>
                        <a:t>06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Operating 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setup at a glance, the daily load, maintenance, tiers, staying fast, sizing, cost, DR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69</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02920">
                <a:tc>
                  <a:txBody>
                    <a:bodyPr wrap="square"/>
                    <a:lstStyle/>
                    <a:p>
                      <a:r>
                        <a:rPr sz="1200" b="1" i="0">
                          <a:solidFill>
                            <a:srgbClr val="1C2433"/>
                          </a:solidFill>
                          <a:latin typeface="Calibri"/>
                        </a:rPr>
                        <a:t>07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What comes next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designed, proposed, limits, decisions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88</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02920">
                <a:tc>
                  <a:txBody>
                    <a:bodyPr wrap="square"/>
                    <a:lstStyle/>
                    <a:p>
                      <a:r>
                        <a:rPr sz="1200" b="1" i="0">
                          <a:solidFill>
                            <a:srgbClr val="1C2433"/>
                          </a:solidFill>
                          <a:latin typeface="Calibri"/>
                        </a:rPr>
                        <a: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Appendix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setup steps 0–11, IAM, columns, the Iceberg spec, runbooks, scripts, derivations, glossary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93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02920">
                <a:tc>
                  <a:txBody>
                    <a:bodyPr wrap="square"/>
                    <a:lstStyle/>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Related documents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docs behind every slide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123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01</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Why S3</a:t>
            </a:r>
          </a:p>
        </p:txBody>
      </p:sp>
      <p:pic>
        <p:nvPicPr>
          <p:cNvPr id="5" name="Drishti mark" descr="Drishti logo: an eye between curly brackets"/>
          <p:cNvPicPr>
            <a:picLocks noChangeAspect="1"/>
          </p:cNvPicPr>
          <p:nvPr/>
        </p:nvPicPr>
        <p:blipFill>
          <a:blip r:embed="rId2"/>
          <a:stretch>
            <a:fillRect/>
          </a:stretch>
        </p:blipFill>
        <p:spPr>
          <a:xfrm>
            <a:off x="822960" y="6236208"/>
            <a:ext cx="430911" cy="23774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one rule: the lake lives in Amazon S3</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read this first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5</a:t>
            </a:r>
          </a:p>
        </p:txBody>
      </p:sp>
      <p:sp>
        <p:nvSpPr>
          <p:cNvPr id="10" name="Callout"/>
          <p:cNvSpPr/>
          <p:nvPr/>
        </p:nvSpPr>
        <p:spPr>
          <a:xfrm>
            <a:off x="411480" y="1188720"/>
            <a:ext cx="11365992" cy="114300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allout edge"/>
          <p:cNvSpPr/>
          <p:nvPr/>
        </p:nvSpPr>
        <p:spPr>
          <a:xfrm>
            <a:off x="411480" y="1207008"/>
            <a:ext cx="82296" cy="110642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080" y="1261872"/>
            <a:ext cx="11000232" cy="996696"/>
          </a:xfrm>
          <a:prstGeom prst="rect">
            <a:avLst/>
          </a:prstGeom>
          <a:noFill/>
        </p:spPr>
        <p:txBody>
          <a:bodyPr wrap="square" lIns="0" rIns="0" tIns="0" bIns="0" anchor="ctr">
            <a:spAutoFit/>
          </a:bodyPr>
          <a:lstStyle/>
          <a:p>
            <a:pPr algn="l">
              <a:spcAft>
                <a:spcPts val="600"/>
              </a:spcAft>
              <a:buNone/>
            </a:pPr>
            <a:r>
              <a:rPr sz="1500" b="1" i="0">
                <a:solidFill>
                  <a:srgbClr val="1C2433"/>
                </a:solidFill>
                <a:latin typeface="Calibri"/>
              </a:rPr>
              <a:t>Every table's Parquet data files AND its log (Delta </a:t>
            </a:r>
            <a:r>
              <a:rPr sz="1400" b="1" i="0">
                <a:solidFill>
                  <a:srgbClr val="0E7C86"/>
                </a:solidFill>
                <a:latin typeface="Consolas"/>
              </a:rPr>
              <a:t>_delta_log/</a:t>
            </a:r>
            <a:r>
              <a:rPr sz="1500" b="1" i="0">
                <a:solidFill>
                  <a:srgbClr val="1C2433"/>
                </a:solidFill>
                <a:latin typeface="Calibri"/>
              </a:rPr>
              <a:t>) or metadata (Iceberg </a:t>
            </a:r>
            <a:r>
              <a:rPr sz="1400" b="1" i="0">
                <a:solidFill>
                  <a:srgbClr val="0E7C86"/>
                </a:solidFill>
                <a:latin typeface="Consolas"/>
              </a:rPr>
              <a:t>metadata/</a:t>
            </a:r>
            <a:r>
              <a:rPr sz="1500" b="1" i="0">
                <a:solidFill>
                  <a:srgbClr val="1C2433"/>
                </a:solidFill>
                <a:latin typeface="Calibri"/>
              </a:rPr>
              <a:t>) are in S3. Nothing of the lake is on EFS. Delta or Iceberg is chosen per connector.</a:t>
            </a:r>
          </a:p>
          <a:p>
            <a:pPr algn="l">
              <a:spcAft>
                <a:spcPts val="600"/>
              </a:spcAft>
              <a:buNone/>
            </a:pPr>
            <a:r>
              <a:rPr sz="1400" b="0" i="0">
                <a:solidFill>
                  <a:srgbClr val="1C2433"/>
                </a:solidFill>
                <a:latin typeface="Calibri"/>
              </a:rPr>
              <a:t>EFS holds only what a node must find again after a restart: configuration, users and tokens, Drishti*net state, the content store's filesystem backend if chosen, and the caches that should be warm after a restart.</a:t>
            </a:r>
          </a:p>
        </p:txBody>
      </p:sp>
      <p:sp>
        <p:nvSpPr>
          <p:cNvPr id="13" name="TextBox 12"/>
          <p:cNvSpPr txBox="1"/>
          <p:nvPr/>
        </p:nvSpPr>
        <p:spPr>
          <a:xfrm>
            <a:off x="411480" y="2560320"/>
            <a:ext cx="11365992" cy="3749039"/>
          </a:xfrm>
          <a:prstGeom prst="rect">
            <a:avLst/>
          </a:prstGeom>
          <a:noFill/>
        </p:spPr>
        <p:txBody>
          <a:bodyPr wrap="square" lIns="0" rIns="0" tIns="0" bIns="0" anchor="t">
            <a:spAutoFit/>
          </a:bodyPr>
          <a:lstStyle/>
          <a:p>
            <a:pPr algn="l" marL="201168" indent="-201168">
              <a:spcAft>
                <a:spcPts val="600"/>
              </a:spcAft>
              <a:buClr>
                <a:srgbClr val="E87A1E"/>
              </a:buClr>
              <a:buSzPct val="100000"/>
              <a:buFont typeface="Arial"/>
              <a:buChar char="•"/>
            </a:pPr>
            <a:r>
              <a:rPr sz="1300" b="1" i="0">
                <a:solidFill>
                  <a:srgbClr val="1C2433"/>
                </a:solidFill>
                <a:latin typeface="Calibri"/>
              </a:rPr>
              <a:t>S3 (the lake):</a:t>
            </a:r>
            <a:r>
              <a:rPr sz="1300" b="0" i="0">
                <a:solidFill>
                  <a:srgbClr val="1C2433"/>
                </a:solidFill>
                <a:latin typeface="Calibri"/>
              </a:rPr>
              <a:t> Delta: </a:t>
            </a:r>
            <a:r>
              <a:rPr sz="1200" b="0" i="0">
                <a:solidFill>
                  <a:srgbClr val="0E7C86"/>
                </a:solidFill>
                <a:latin typeface="Consolas"/>
              </a:rPr>
              <a:t>s3://&lt;org&gt;-drishti-&lt;env&gt;-lake/lake/&lt;domain&gt;/&lt;table&gt;/</a:t>
            </a:r>
            <a:r>
              <a:rPr sz="1300" b="0" i="0">
                <a:solidFill>
                  <a:srgbClr val="1C2433"/>
                </a:solidFill>
                <a:latin typeface="Calibri"/>
              </a:rPr>
              <a:t> with </a:t>
            </a:r>
            <a:r>
              <a:rPr sz="1200" b="0" i="0">
                <a:solidFill>
                  <a:srgbClr val="0E7C86"/>
                </a:solidFill>
                <a:latin typeface="Consolas"/>
              </a:rPr>
              <a:t>business_date=…/PRODUCT_TYPE=…/part-….snappy.parquet</a:t>
            </a:r>
            <a:r>
              <a:rPr sz="1300" b="0" i="0">
                <a:solidFill>
                  <a:srgbClr val="1C2433"/>
                </a:solidFill>
                <a:latin typeface="Calibri"/>
              </a:rPr>
              <a:t> and </a:t>
            </a:r>
            <a:r>
              <a:rPr sz="1200" b="0" i="0">
                <a:solidFill>
                  <a:srgbClr val="0E7C86"/>
                </a:solidFill>
                <a:latin typeface="Consolas"/>
              </a:rPr>
              <a:t>_delta_log/</a:t>
            </a:r>
            <a:r>
              <a:rPr sz="1300" b="0" i="0">
                <a:solidFill>
                  <a:srgbClr val="1C2433"/>
                </a:solidFill>
                <a:latin typeface="Calibri"/>
              </a:rPr>
              <a:t>; Iceberg: </a:t>
            </a:r>
            <a:r>
              <a:rPr sz="1200" b="0" i="0">
                <a:solidFill>
                  <a:srgbClr val="0E7C86"/>
                </a:solidFill>
                <a:latin typeface="Consolas"/>
              </a:rPr>
              <a:t>…-lake/iceberg/&lt;domain&gt;/&lt;table&gt;/</a:t>
            </a:r>
            <a:r>
              <a:rPr sz="1300" b="0" i="0">
                <a:solidFill>
                  <a:srgbClr val="1C2433"/>
                </a:solidFill>
                <a:latin typeface="Calibri"/>
              </a:rPr>
              <a:t> with </a:t>
            </a:r>
            <a:r>
              <a:rPr sz="1200" b="0" i="0">
                <a:solidFill>
                  <a:srgbClr val="0E7C86"/>
                </a:solidFill>
                <a:latin typeface="Consolas"/>
              </a:rPr>
              <a:t>metadata/</a:t>
            </a:r>
            <a:r>
              <a:rPr sz="1300" b="0" i="0">
                <a:solidFill>
                  <a:srgbClr val="1C2433"/>
                </a:solidFill>
                <a:latin typeface="Calibri"/>
              </a:rPr>
              <a:t> and </a:t>
            </a:r>
            <a:r>
              <a:rPr sz="1200" b="0" i="0">
                <a:solidFill>
                  <a:srgbClr val="0E7C86"/>
                </a:solidFill>
                <a:latin typeface="Consolas"/>
              </a:rPr>
              <a:t>data/business_date=…/</a:t>
            </a:r>
          </a:p>
          <a:p>
            <a:pPr algn="l" marL="201168" indent="-201168">
              <a:spcAft>
                <a:spcPts val="600"/>
              </a:spcAft>
              <a:buClr>
                <a:srgbClr val="E87A1E"/>
              </a:buClr>
              <a:buSzPct val="100000"/>
              <a:buFont typeface="Arial"/>
              <a:buChar char="•"/>
            </a:pPr>
            <a:r>
              <a:rPr sz="1300" b="1" i="0">
                <a:solidFill>
                  <a:srgbClr val="1C2433"/>
                </a:solidFill>
                <a:latin typeface="Calibri"/>
              </a:rPr>
              <a:t>Domains:</a:t>
            </a:r>
            <a:r>
              <a:rPr sz="1300" b="0" i="0">
                <a:solidFill>
                  <a:srgbClr val="1C2433"/>
                </a:solidFill>
                <a:latin typeface="Calibri"/>
              </a:rPr>
              <a:t> trading, reference, legal, collateral, credit, market, macro, news, civic, </a:t>
            </a:r>
            <a:r>
              <a:rPr sz="1300" b="1" i="0">
                <a:solidFill>
                  <a:srgbClr val="1C2433"/>
                </a:solidFill>
                <a:latin typeface="Calibri"/>
              </a:rPr>
              <a:t>risk</a:t>
            </a:r>
            <a:r>
              <a:rPr sz="1300" b="0" i="0">
                <a:solidFill>
                  <a:srgbClr val="1C2433"/>
                </a:solidFill>
                <a:latin typeface="Calibri"/>
              </a:rPr>
              <a:t> (VaR and exposure inputs), </a:t>
            </a:r>
            <a:r>
              <a:rPr sz="1300" b="1" i="0">
                <a:solidFill>
                  <a:srgbClr val="1C2433"/>
                </a:solidFill>
                <a:latin typeface="Calibri"/>
              </a:rPr>
              <a:t>risk-results</a:t>
            </a:r>
            <a:r>
              <a:rPr sz="1300" b="0" i="0">
                <a:solidFill>
                  <a:srgbClr val="1C2433"/>
                </a:solidFill>
                <a:latin typeface="Calibri"/>
              </a:rPr>
              <a:t> (official results, append-only), us-equities, gleif, funds</a:t>
            </a:r>
          </a:p>
          <a:p>
            <a:pPr algn="l" marL="201168" indent="-201168">
              <a:spcAft>
                <a:spcPts val="600"/>
              </a:spcAft>
              <a:buClr>
                <a:srgbClr val="E87A1E"/>
              </a:buClr>
              <a:buSzPct val="100000"/>
              <a:buFont typeface="Arial"/>
              <a:buChar char="•"/>
            </a:pPr>
            <a:r>
              <a:rPr sz="1300" b="1" i="0">
                <a:solidFill>
                  <a:srgbClr val="1C2433"/>
                </a:solidFill>
                <a:latin typeface="Calibri"/>
              </a:rPr>
              <a:t>S3 (landing):</a:t>
            </a:r>
            <a:r>
              <a:rPr sz="1300" b="0" i="0">
                <a:solidFill>
                  <a:srgbClr val="1C2433"/>
                </a:solidFill>
                <a:latin typeface="Calibri"/>
              </a:rPr>
              <a:t> the sources' dumps as JSON Lines, </a:t>
            </a:r>
            <a:r>
              <a:rPr sz="1200" b="0" i="0">
                <a:solidFill>
                  <a:srgbClr val="0E7C86"/>
                </a:solidFill>
                <a:latin typeface="Consolas"/>
              </a:rPr>
              <a:t>&lt;date&gt;/&lt;source&gt;/*.jsonl.gz</a:t>
            </a:r>
            <a:r>
              <a:rPr sz="1300" b="0" i="0">
                <a:solidFill>
                  <a:srgbClr val="1C2433"/>
                </a:solidFill>
                <a:latin typeface="Calibri"/>
              </a:rPr>
              <a:t>, kept 30 days (</a:t>
            </a:r>
            <a:r>
              <a:rPr sz="1200" b="0" i="0">
                <a:solidFill>
                  <a:srgbClr val="0E7C86"/>
                </a:solidFill>
                <a:latin typeface="Consolas"/>
              </a:rPr>
              <a:t>LANDING_KEEP_DAYS</a:t>
            </a:r>
            <a:r>
              <a:rPr sz="1300" b="0" i="0">
                <a:solidFill>
                  <a:srgbClr val="1C2433"/>
                </a:solidFill>
                <a:latin typeface="Calibri"/>
              </a:rPr>
              <a:t>)</a:t>
            </a:r>
          </a:p>
          <a:p>
            <a:pPr algn="l" marL="201168" indent="-201168">
              <a:spcAft>
                <a:spcPts val="600"/>
              </a:spcAft>
              <a:buClr>
                <a:srgbClr val="E87A1E"/>
              </a:buClr>
              <a:buSzPct val="100000"/>
              <a:buFont typeface="Arial"/>
              <a:buChar char="•"/>
            </a:pPr>
            <a:r>
              <a:rPr sz="1300" b="1" i="0">
                <a:solidFill>
                  <a:srgbClr val="1C2433"/>
                </a:solidFill>
                <a:latin typeface="Calibri"/>
              </a:rPr>
              <a:t>S3 (logs):</a:t>
            </a:r>
            <a:r>
              <a:rPr sz="1300" b="0" i="0">
                <a:solidFill>
                  <a:srgbClr val="1C2433"/>
                </a:solidFill>
                <a:latin typeface="Calibri"/>
              </a:rPr>
              <a:t> access logs, SSE-S3, expire after 400 days</a:t>
            </a:r>
          </a:p>
          <a:p>
            <a:pPr algn="l" marL="201168" indent="-201168">
              <a:spcAft>
                <a:spcPts val="600"/>
              </a:spcAft>
              <a:buClr>
                <a:srgbClr val="E87A1E"/>
              </a:buClr>
              <a:buSzPct val="100000"/>
              <a:buFont typeface="Arial"/>
              <a:buChar char="•"/>
            </a:pPr>
            <a:r>
              <a:rPr sz="1300" b="1" i="0">
                <a:solidFill>
                  <a:srgbClr val="1C2433"/>
                </a:solidFill>
                <a:latin typeface="Calibri"/>
              </a:rPr>
              <a:t>EFS (state):</a:t>
            </a:r>
            <a:r>
              <a:rPr sz="1300" b="0" i="0">
                <a:solidFill>
                  <a:srgbClr val="1C2433"/>
                </a:solidFill>
                <a:latin typeface="Calibri"/>
              </a:rPr>
              <a:t> </a:t>
            </a:r>
            <a:r>
              <a:rPr sz="1200" b="0" i="0">
                <a:solidFill>
                  <a:srgbClr val="0E7C86"/>
                </a:solidFill>
                <a:latin typeface="Consolas"/>
              </a:rPr>
              <a:t>/drishti/&lt;env&gt;/&lt;node&gt;/opt/drishti/{data,config,sutras}</a:t>
            </a:r>
            <a:r>
              <a:rPr sz="1300" b="0" i="0">
                <a:solidFill>
                  <a:srgbClr val="1C2433"/>
                </a:solidFill>
                <a:latin typeface="Calibri"/>
              </a:rPr>
              <a:t>, one access point per node per path, identical path inside the container</a:t>
            </a:r>
          </a:p>
          <a:p>
            <a:pPr algn="l" marL="201168" indent="-201168">
              <a:spcAft>
                <a:spcPts val="600"/>
              </a:spcAft>
              <a:buClr>
                <a:srgbClr val="E87A1E"/>
              </a:buClr>
              <a:buSzPct val="100000"/>
              <a:buFont typeface="Arial"/>
              <a:buChar char="•"/>
            </a:pPr>
            <a:r>
              <a:rPr sz="1300" b="1" i="0">
                <a:solidFill>
                  <a:srgbClr val="1C2433"/>
                </a:solidFill>
                <a:latin typeface="Calibri"/>
              </a:rPr>
              <a:t>EFS (loader scratch):</a:t>
            </a:r>
            <a:r>
              <a:rPr sz="1300" b="0" i="0">
                <a:solidFill>
                  <a:srgbClr val="1C2433"/>
                </a:solidFill>
                <a:latin typeface="Calibri"/>
              </a:rPr>
              <a:t> one day of one table for the minutes of a load, then removed; the per-table lock files</a:t>
            </a:r>
          </a:p>
          <a:p>
            <a:pPr algn="l" marL="201168" indent="-201168">
              <a:spcAft>
                <a:spcPts val="600"/>
              </a:spcAft>
              <a:buClr>
                <a:srgbClr val="E87A1E"/>
              </a:buClr>
              <a:buSzPct val="100000"/>
              <a:buFont typeface="Arial"/>
              <a:buChar char="•"/>
            </a:pPr>
            <a:r>
              <a:rPr sz="1300" b="1" i="0">
                <a:solidFill>
                  <a:srgbClr val="1C2433"/>
                </a:solidFill>
                <a:latin typeface="Calibri"/>
              </a:rPr>
              <a:t>Never on EFS:</a:t>
            </a:r>
            <a:r>
              <a:rPr sz="1300" b="0" i="0">
                <a:solidFill>
                  <a:srgbClr val="1C2433"/>
                </a:solidFill>
                <a:latin typeface="Calibri"/>
              </a:rPr>
              <a:t> lake data, </a:t>
            </a:r>
            <a:r>
              <a:rPr sz="1200" b="0" i="0">
                <a:solidFill>
                  <a:srgbClr val="0E7C86"/>
                </a:solidFill>
                <a:latin typeface="Consolas"/>
              </a:rPr>
              <a:t>_delta_log/</a:t>
            </a:r>
            <a:r>
              <a:rPr sz="1300" b="0" i="0">
                <a:solidFill>
                  <a:srgbClr val="1C2433"/>
                </a:solidFill>
                <a:latin typeface="Calibri"/>
              </a:rPr>
              <a:t>, </a:t>
            </a:r>
            <a:r>
              <a:rPr sz="1200" b="0" i="0">
                <a:solidFill>
                  <a:srgbClr val="0E7C86"/>
                </a:solidFill>
                <a:latin typeface="Consolas"/>
              </a:rPr>
              <a:t>metadata/</a:t>
            </a:r>
            <a:r>
              <a:rPr sz="1300" b="0" i="0">
                <a:solidFill>
                  <a:srgbClr val="1C2433"/>
                </a:solidFill>
                <a:latin typeface="Calibri"/>
              </a:rPr>
              <a:t> (EFS is a staging place only: the loader's scratch, the Kafka stream's windows)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Why S3 and not EFS: the comparison</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1 · why</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6</a:t>
            </a:r>
          </a:p>
        </p:txBody>
      </p:sp>
      <p:graphicFrame>
        <p:nvGraphicFramePr>
          <p:cNvPr id="10" name="Table"/>
          <p:cNvGraphicFramePr>
            <a:graphicFrameLocks noGrp="1"/>
          </p:cNvGraphicFramePr>
          <p:nvPr/>
        </p:nvGraphicFramePr>
        <p:xfrm>
          <a:off x="411480" y="1143000"/>
          <a:ext cx="11365992" cy="3785616"/>
        </p:xfrm>
        <a:graphic>
          <a:graphicData uri="http://schemas.openxmlformats.org/drawingml/2006/table">
            <a:tbl>
              <a:tblPr firstRow="0" bandRow="0">
                <a:tableStyleId>{5940675A-B579-460E-94D1-54222C63F5DA}</a:tableStyleId>
              </a:tblPr>
              <a:tblGrid>
                <a:gridCol w="2377440"/>
                <a:gridCol w="4572000"/>
                <a:gridCol w="4416552"/>
              </a:tblGrid>
              <a:tr h="420624">
                <a:tc>
                  <a:txBody>
                    <a:bodyPr wrap="square"/>
                    <a:lstStyle/>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Amazon 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Amazon EFS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20624">
                <a:tc>
                  <a:txBody>
                    <a:bodyPr wrap="square"/>
                    <a:lstStyle/>
                    <a:p>
                      <a:r>
                        <a:rPr sz="1100" b="1" i="0">
                          <a:solidFill>
                            <a:srgbClr val="1C2433"/>
                          </a:solidFill>
                          <a:latin typeface="Calibri"/>
                        </a:rPr>
                        <a:t>Cost of 200 TB (list prices, one Region)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about </a:t>
                      </a:r>
                      <a:r>
                        <a:rPr sz="1100" b="1" i="0">
                          <a:solidFill>
                            <a:srgbClr val="1C2433"/>
                          </a:solidFill>
                          <a:latin typeface="Calibri"/>
                        </a:rPr>
                        <a:t>USD 1,400 a month</a:t>
                      </a:r>
                      <a:r>
                        <a:rPr sz="1100" b="1" i="0">
                          <a:solidFill>
                            <a:srgbClr val="E87A1E"/>
                          </a:solidFill>
                          <a:latin typeface="Calibri"/>
                        </a:rPr>
                        <a:t>¹</a:t>
                      </a:r>
                      <a:r>
                        <a:rPr sz="1100" b="0" i="0">
                          <a:solidFill>
                            <a:srgbClr val="1C2433"/>
                          </a:solidFill>
                          <a:latin typeface="Calibri"/>
                        </a:rPr>
                        <a:t> tiered by business date; USD 4,600 all in Standard</a:t>
                      </a:r>
                      <a:r>
                        <a:rPr sz="1100" b="1" i="0">
                          <a:solidFill>
                            <a:srgbClr val="E87A1E"/>
                          </a:solidFill>
                          <a:latin typeface="Calibri"/>
                        </a:rPr>
                        <a:t>²</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1" i="0">
                          <a:solidFill>
                            <a:srgbClr val="1C2433"/>
                          </a:solidFill>
                          <a:latin typeface="Calibri"/>
                        </a:rPr>
                        <a:t>USD 60,000 a month</a:t>
                      </a:r>
                      <a:r>
                        <a:rPr sz="1100" b="1" i="0">
                          <a:solidFill>
                            <a:srgbClr val="E87A1E"/>
                          </a:solidFill>
                          <a:latin typeface="Calibri"/>
                        </a:rPr>
                        <a:t>³</a:t>
                      </a:r>
                      <a:r>
                        <a:rPr sz="1100" b="0" i="0">
                          <a:solidFill>
                            <a:srgbClr val="1C2433"/>
                          </a:solidFill>
                          <a:latin typeface="Calibri"/>
                        </a:rPr>
                        <a:t> in EFS Standard; USD 3,200 in Infrequent Access</a:t>
                      </a:r>
                      <a:r>
                        <a:rPr sz="1100" b="1" i="0">
                          <a:solidFill>
                            <a:srgbClr val="E87A1E"/>
                          </a:solidFill>
                          <a:latin typeface="Calibri"/>
                        </a:rPr>
                        <a:t>⁴</a:t>
                      </a:r>
                      <a:r>
                        <a:rPr sz="1100" b="0" i="0">
                          <a:solidFill>
                            <a:srgbClr val="1C2433"/>
                          </a:solidFill>
                          <a:latin typeface="Calibri"/>
                        </a:rPr>
                        <a:t> plus a charge on every byte read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0624">
                <a:tc>
                  <a:txBody>
                    <a:bodyPr wrap="square"/>
                    <a:lstStyle/>
                    <a:p>
                      <a:r>
                        <a:rPr sz="1100" b="1" i="0">
                          <a:solidFill>
                            <a:srgbClr val="1C2433"/>
                          </a:solidFill>
                          <a:latin typeface="Calibri"/>
                        </a:rPr>
                        <a:t>Request rate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at least 3,500 writes and 5,500 reads a second per prefix; every </a:t>
                      </a:r>
                      <a:r>
                        <a:rPr sz="1100" b="0" i="0">
                          <a:solidFill>
                            <a:srgbClr val="0E7C86"/>
                          </a:solidFill>
                          <a:latin typeface="Consolas"/>
                        </a:rPr>
                        <a:t>business_date=…/</a:t>
                      </a:r>
                      <a:r>
                        <a:rPr sz="1100" b="0" i="0">
                          <a:solidFill>
                            <a:srgbClr val="1C2433"/>
                          </a:solidFill>
                          <a:latin typeface="Calibri"/>
                        </a:rPr>
                        <a:t> folder is a prefix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one file system's limits, shared by every node, loader and maintenance job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0624">
                <a:tc>
                  <a:txBody>
                    <a:bodyPr wrap="square"/>
                    <a:lstStyle/>
                    <a:p>
                      <a:r>
                        <a:rPr sz="1100" b="1" i="0">
                          <a:solidFill>
                            <a:srgbClr val="1C2433"/>
                          </a:solidFill>
                          <a:latin typeface="Calibri"/>
                        </a:rPr>
                        <a:t>Latency of a single read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10–30 ms to the first byte in-Region; Drishti reads one row group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about 1 ms for hot data in Standard; tens of ms in IA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0624">
                <a:tc>
                  <a:txBody>
                    <a:bodyPr wrap="square"/>
                    <a:lstStyle/>
                    <a:p>
                      <a:r>
                        <a:rPr sz="1100" b="1" i="0">
                          <a:solidFill>
                            <a:srgbClr val="1C2433"/>
                          </a:solidFill>
                          <a:latin typeface="Calibri"/>
                        </a:rPr>
                        <a:t>Durability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eleven nines, ≥ 3 AZs, versioning, Cross-Region Replication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Regional (three zones); backup by AWS Backup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0624">
                <a:tc>
                  <a:txBody>
                    <a:bodyPr wrap="square"/>
                    <a:lstStyle/>
                    <a:p>
                      <a:r>
                        <a:rPr sz="1100" b="1" i="0">
                          <a:solidFill>
                            <a:srgbClr val="1C2433"/>
                          </a:solidFill>
                          <a:latin typeface="Calibri"/>
                        </a:rPr>
                        <a:t>Tiers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Standard → Standard-IA → Glacier Instant Retrieval (still ms), by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Standard → IA → Archive by last access only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0624">
                <a:tc>
                  <a:txBody>
                    <a:bodyPr wrap="square"/>
                    <a:lstStyle/>
                    <a:p>
                      <a:r>
                        <a:rPr sz="1100" b="1" i="0">
                          <a:solidFill>
                            <a:srgbClr val="1C2433"/>
                          </a:solidFill>
                          <a:latin typeface="Calibri"/>
                        </a:rPr>
                        <a:t>Other readers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Athena, Trino, Spark, EMR, Glue read the same Delta tables; Snowflake too for Iceberg (through a catalog)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only something that mounts the file system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0624">
                <a:tc>
                  <a:txBody>
                    <a:bodyPr wrap="square"/>
                    <a:lstStyle/>
                    <a:p>
                      <a:r>
                        <a:rPr sz="1100" b="1" i="0">
                          <a:solidFill>
                            <a:srgbClr val="1C2433"/>
                          </a:solidFill>
                          <a:latin typeface="Calibri"/>
                        </a:rPr>
                        <a:t>Writers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conditional writes make concurrent commits safe (the native Iceberg engine probes for them)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 hard link on a POSIX file system (what Drishti uses on local disk)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0624">
                <a:tc>
                  <a:txBody>
                    <a:bodyPr wrap="square"/>
                    <a:lstStyle/>
                    <a:p>
                      <a:r>
                        <a:rPr sz="1100" b="1" i="0">
                          <a:solidFill>
                            <a:srgbClr val="1C2433"/>
                          </a:solidFill>
                          <a:latin typeface="Calibri"/>
                        </a:rPr>
                        <a:t>Iceberg only: file paths in metadata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s3://bucket/…</a:t>
                      </a:r>
                      <a:r>
                        <a:rPr sz="1100" b="0" i="0">
                          <a:solidFill>
                            <a:srgbClr val="1C2433"/>
                          </a:solidFill>
                          <a:latin typeface="Calibri"/>
                        </a:rPr>
                        <a:t> is the same for every task; Cross-Region copies read with </a:t>
                      </a:r>
                      <a:r>
                        <a:rPr sz="1100" b="0" i="0">
                          <a:solidFill>
                            <a:srgbClr val="0E7C86"/>
                          </a:solidFill>
                          <a:latin typeface="Consolas"/>
                        </a:rPr>
                        <a:t>relocate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path depends on the mount; a moved folder is a moved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1" name="Callout"/>
          <p:cNvSpPr/>
          <p:nvPr/>
        </p:nvSpPr>
        <p:spPr>
          <a:xfrm>
            <a:off x="411480" y="5257800"/>
            <a:ext cx="11365992" cy="77724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allout edge"/>
          <p:cNvSpPr/>
          <p:nvPr/>
        </p:nvSpPr>
        <p:spPr>
          <a:xfrm>
            <a:off x="411480" y="5276088"/>
            <a:ext cx="82296" cy="74066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0080" y="5330952"/>
            <a:ext cx="11000232" cy="630936"/>
          </a:xfrm>
          <a:prstGeom prst="rect">
            <a:avLst/>
          </a:prstGeom>
          <a:noFill/>
        </p:spPr>
        <p:txBody>
          <a:bodyPr wrap="square" lIns="0" rIns="0" tIns="0" bIns="0" anchor="ctr">
            <a:spAutoFit/>
          </a:bodyPr>
          <a:lstStyle/>
          <a:p>
            <a:pPr algn="l">
              <a:spcAft>
                <a:spcPts val="600"/>
              </a:spcAft>
              <a:buNone/>
            </a:pPr>
            <a:r>
              <a:rPr sz="1250" b="0" i="0">
                <a:solidFill>
                  <a:srgbClr val="1C2433"/>
                </a:solidFill>
                <a:latin typeface="Calibri"/>
              </a:rPr>
              <a:t>At 200 TB+ EFS costs 10–40×</a:t>
            </a:r>
            <a:r>
              <a:rPr sz="1250" b="1" i="0">
                <a:solidFill>
                  <a:srgbClr val="E87A1E"/>
                </a:solidFill>
                <a:latin typeface="Calibri"/>
              </a:rPr>
              <a:t>⁵</a:t>
            </a:r>
            <a:r>
              <a:rPr sz="1250" b="0" i="0">
                <a:solidFill>
                  <a:srgbClr val="1C2433"/>
                </a:solidFill>
                <a:latin typeface="Calibri"/>
              </a:rPr>
              <a:t> more and shares one throughput budget, whatever the table format. Drishti reads one day's files, one row group of one file, by byte ranges. </a:t>
            </a:r>
            <a:r>
              <a:rPr sz="1250" b="1" i="0">
                <a:solidFill>
                  <a:srgbClr val="1C2433"/>
                </a:solidFill>
                <a:latin typeface="Calibri"/>
              </a:rPr>
              <a:t>The lake is in S3; EFS keeps the small, hot, per-node state.</a:t>
            </a:r>
          </a:p>
        </p:txBody>
      </p:sp>
      <p:sp>
        <p:nvSpPr>
          <p:cNvPr id="14" name="Footnotes"/>
          <p:cNvSpPr txBox="1"/>
          <p:nvPr/>
        </p:nvSpPr>
        <p:spPr>
          <a:xfrm>
            <a:off x="411480" y="6236208"/>
            <a:ext cx="11365992" cy="310896"/>
          </a:xfrm>
          <a:prstGeom prst="rect">
            <a:avLst/>
          </a:prstGeom>
          <a:noFill/>
        </p:spPr>
        <p:txBody>
          <a:bodyPr wrap="square" lIns="0" rIns="0" tIns="0" bIns="0" anchor="t">
            <a:spAutoFit/>
          </a:bodyPr>
          <a:lstStyle/>
          <a:p>
            <a:pPr algn="l">
              <a:lnSpc>
                <a:spcPct val="100000"/>
              </a:lnSpc>
              <a:spcAft>
                <a:spcPts val="0"/>
              </a:spcAft>
              <a:buNone/>
            </a:pPr>
            <a:r>
              <a:rPr sz="900" b="0" i="0">
                <a:solidFill>
                  <a:srgbClr val="5B677A"/>
                </a:solidFill>
                <a:latin typeface="Calibri"/>
              </a:rPr>
              <a:t>¹ tier split × S3 list prices = USD 1,381   ² 200 TB × USD 23 a TB-month   ³ 200,000 GB × USD 0.30 a GB-month (EFS Standard)   ⁴ the doc's figure (implies USD 0.016 a GB-month; to be confirmed)   ⁵ 60,000 ÷ 1,381 ≈ 43×; 60,000 ÷ 4,600 ≈ 13×  Full derivations: slides 119–121.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02</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How it works</a:t>
            </a:r>
          </a:p>
        </p:txBody>
      </p:sp>
      <p:pic>
        <p:nvPicPr>
          <p:cNvPr id="5" name="Drishti mark" descr="Drishti logo: an eye between curly brackets"/>
          <p:cNvPicPr>
            <a:picLocks noChangeAspect="1"/>
          </p:cNvPicPr>
          <p:nvPr/>
        </p:nvPicPr>
        <p:blipFill>
          <a:blip r:embed="rId2"/>
          <a:stretch>
            <a:fillRect/>
          </a:stretch>
        </p:blipFill>
        <p:spPr>
          <a:xfrm>
            <a:off x="822960" y="6236208"/>
            <a:ext cx="430911" cy="23774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picture: the whole flow on one page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2 · how it works</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8</a:t>
            </a:r>
          </a:p>
        </p:txBody>
      </p:sp>
      <p:sp>
        <p:nvSpPr>
          <p:cNvPr id="10" name="Rounded Rectangle 9"/>
          <p:cNvSpPr/>
          <p:nvPr/>
        </p:nvSpPr>
        <p:spPr>
          <a:xfrm>
            <a:off x="411480" y="1097280"/>
            <a:ext cx="2514600" cy="1188720"/>
          </a:xfrm>
          <a:prstGeom prst="roundRect">
            <a:avLst>
              <a:gd name="adj" fmla="val 6000"/>
            </a:avLst>
          </a:prstGeom>
          <a:solidFill>
            <a:srgbClr val="EEE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02920" y="1143000"/>
            <a:ext cx="233172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Sources</a:t>
            </a:r>
          </a:p>
        </p:txBody>
      </p:sp>
      <p:sp>
        <p:nvSpPr>
          <p:cNvPr id="12" name="TextBox 11"/>
          <p:cNvSpPr txBox="1"/>
          <p:nvPr/>
        </p:nvSpPr>
        <p:spPr>
          <a:xfrm>
            <a:off x="502920" y="1463040"/>
            <a:ext cx="2331720"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ENDUR, CALYPSO, MUREX, reference, risk batch</a:t>
            </a:r>
          </a:p>
          <a:p>
            <a:pPr algn="l" marL="201168" indent="-201168">
              <a:spcAft>
                <a:spcPts val="200"/>
              </a:spcAft>
              <a:buClr>
                <a:srgbClr val="E87A1E"/>
              </a:buClr>
              <a:buSzPct val="100000"/>
              <a:buFont typeface="Arial"/>
              <a:buChar char="•"/>
            </a:pPr>
            <a:r>
              <a:rPr sz="1200" b="0" i="0">
                <a:solidFill>
                  <a:srgbClr val="1C2433"/>
                </a:solidFill>
                <a:latin typeface="Calibri"/>
              </a:rPr>
              <a:t>JSON Lines </a:t>
            </a:r>
            <a:r>
              <a:rPr sz="1100" b="0" i="0">
                <a:solidFill>
                  <a:srgbClr val="0E7C86"/>
                </a:solidFill>
                <a:latin typeface="Consolas"/>
              </a:rPr>
              <a:t>.jsonl(.gz)</a:t>
            </a:r>
            <a:r>
              <a:rPr sz="1200" b="0" i="0">
                <a:solidFill>
                  <a:srgbClr val="1C2433"/>
                </a:solidFill>
                <a:latin typeface="Calibri"/>
              </a:rPr>
              <a:t>; CSV deprecated</a:t>
            </a:r>
          </a:p>
        </p:txBody>
      </p:sp>
      <p:sp>
        <p:nvSpPr>
          <p:cNvPr id="13" name="Rounded Rectangle 12"/>
          <p:cNvSpPr/>
          <p:nvPr/>
        </p:nvSpPr>
        <p:spPr>
          <a:xfrm>
            <a:off x="3200400" y="1097280"/>
            <a:ext cx="4069080" cy="118872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3291840" y="1143000"/>
            <a:ext cx="38862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S3 · &lt;org&gt;-drishti-&lt;env&gt;-landing</a:t>
            </a:r>
          </a:p>
        </p:txBody>
      </p:sp>
      <p:sp>
        <p:nvSpPr>
          <p:cNvPr id="15" name="TextBox 14"/>
          <p:cNvSpPr txBox="1"/>
          <p:nvPr/>
        </p:nvSpPr>
        <p:spPr>
          <a:xfrm>
            <a:off x="3291840" y="1463040"/>
            <a:ext cx="3886200"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2026-10-20/endur/*.jsonl.gz</a:t>
            </a:r>
            <a:r>
              <a:rPr sz="1200" b="0" i="0">
                <a:solidFill>
                  <a:srgbClr val="1C2433"/>
                </a:solidFill>
                <a:latin typeface="Calibri"/>
              </a:rPr>
              <a:t>, …/calypso/, …/murex/</a:t>
            </a:r>
          </a:p>
          <a:p>
            <a:pPr algn="l" marL="201168" indent="-201168">
              <a:spcAft>
                <a:spcPts val="200"/>
              </a:spcAft>
              <a:buClr>
                <a:srgbClr val="E87A1E"/>
              </a:buClr>
              <a:buSzPct val="100000"/>
              <a:buFont typeface="Arial"/>
              <a:buChar char="•"/>
            </a:pPr>
            <a:r>
              <a:rPr sz="1200" b="0" i="0">
                <a:solidFill>
                  <a:srgbClr val="1C2433"/>
                </a:solidFill>
                <a:latin typeface="Calibri"/>
              </a:rPr>
              <a:t>kept </a:t>
            </a:r>
            <a:r>
              <a:rPr sz="1100" b="0" i="0">
                <a:solidFill>
                  <a:srgbClr val="0E7C86"/>
                </a:solidFill>
                <a:latin typeface="Consolas"/>
              </a:rPr>
              <a:t>LANDING_KEEP_DAYS</a:t>
            </a:r>
            <a:r>
              <a:rPr sz="1200" b="0" i="0">
                <a:solidFill>
                  <a:srgbClr val="1C2433"/>
                </a:solidFill>
                <a:latin typeface="Calibri"/>
              </a:rPr>
              <a:t> (30), then expired</a:t>
            </a:r>
          </a:p>
        </p:txBody>
      </p:sp>
      <p:sp>
        <p:nvSpPr>
          <p:cNvPr id="16" name="Rounded Rectangle 15"/>
          <p:cNvSpPr/>
          <p:nvPr/>
        </p:nvSpPr>
        <p:spPr>
          <a:xfrm>
            <a:off x="7543800" y="1097280"/>
            <a:ext cx="4233672" cy="118872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7635240" y="1143000"/>
            <a:ext cx="405079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EventBridge Scheduler</a:t>
            </a:r>
          </a:p>
        </p:txBody>
      </p:sp>
      <p:sp>
        <p:nvSpPr>
          <p:cNvPr id="18" name="TextBox 17"/>
          <p:cNvSpPr txBox="1"/>
          <p:nvPr/>
        </p:nvSpPr>
        <p:spPr>
          <a:xfrm>
            <a:off x="7635240" y="1463040"/>
            <a:ext cx="4050791"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22:30 New York, Monday to Friday</a:t>
            </a:r>
          </a:p>
          <a:p>
            <a:pPr algn="l" marL="201168" indent="-201168">
              <a:spcAft>
                <a:spcPts val="200"/>
              </a:spcAft>
              <a:buClr>
                <a:srgbClr val="E87A1E"/>
              </a:buClr>
              <a:buSzPct val="100000"/>
              <a:buFont typeface="Arial"/>
              <a:buChar char="•"/>
            </a:pPr>
            <a:r>
              <a:rPr sz="1200" b="0" i="0">
                <a:solidFill>
                  <a:srgbClr val="1C2433"/>
                </a:solidFill>
                <a:latin typeface="Calibri"/>
              </a:rPr>
              <a:t>runs the loader task; nightly maintain, daily report</a:t>
            </a:r>
          </a:p>
        </p:txBody>
      </p:sp>
      <p:cxnSp>
        <p:nvCxnSpPr>
          <p:cNvPr id="19" name="Connector 18"/>
          <p:cNvCxnSpPr/>
          <p:nvPr/>
        </p:nvCxnSpPr>
        <p:spPr>
          <a:xfrm>
            <a:off x="2926080" y="1691640"/>
            <a:ext cx="274320" cy="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7269480" y="1691640"/>
            <a:ext cx="274320" cy="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11480" y="2514600"/>
            <a:ext cx="11365992" cy="11430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502920" y="2560320"/>
            <a:ext cx="11183112"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ECS task · loader · load-day.sh, per table, under the table's lock (EFS)</a:t>
            </a:r>
          </a:p>
        </p:txBody>
      </p:sp>
      <p:sp>
        <p:nvSpPr>
          <p:cNvPr id="23" name="TextBox 22"/>
          <p:cNvSpPr txBox="1"/>
          <p:nvPr/>
        </p:nvSpPr>
        <p:spPr>
          <a:xfrm>
            <a:off x="502920" y="2880360"/>
            <a:ext cx="11183112" cy="7315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1" i="0">
                <a:solidFill>
                  <a:srgbClr val="1C2433"/>
                </a:solidFill>
                <a:latin typeface="Calibri"/>
              </a:rPr>
              <a:t>Delta:</a:t>
            </a:r>
            <a:r>
              <a:rPr sz="1200" b="0" i="0">
                <a:solidFill>
                  <a:srgbClr val="1C2433"/>
                </a:solidFill>
                <a:latin typeface="Calibri"/>
              </a:rPr>
              <a:t> 1 sync landing → EFS scratch  2 </a:t>
            </a:r>
            <a:r>
              <a:rPr sz="1100" b="0" i="0">
                <a:solidFill>
                  <a:srgbClr val="0E7C86"/>
                </a:solidFill>
                <a:latin typeface="Consolas"/>
              </a:rPr>
              <a:t>lake build</a:t>
            </a:r>
            <a:r>
              <a:rPr sz="1200" b="0" i="0">
                <a:solidFill>
                  <a:srgbClr val="1C2433"/>
                </a:solidFill>
                <a:latin typeface="Calibri"/>
              </a:rPr>
              <a:t> → scratch table (sorted by id, 1 MB row groups)  3 sync data files → S3  4 </a:t>
            </a:r>
            <a:r>
              <a:rPr sz="1100" b="0" i="0">
                <a:solidFill>
                  <a:srgbClr val="0E7C86"/>
                </a:solidFill>
                <a:latin typeface="Consolas"/>
              </a:rPr>
              <a:t>lake publish</a:t>
            </a:r>
            <a:r>
              <a:rPr sz="1200" b="0" i="0">
                <a:solidFill>
                  <a:srgbClr val="1C2433"/>
                </a:solidFill>
                <a:latin typeface="Calibri"/>
              </a:rPr>
              <a:t> ONE commit</a:t>
            </a:r>
          </a:p>
          <a:p>
            <a:pPr algn="l" marL="201168" indent="-201168">
              <a:spcAft>
                <a:spcPts val="200"/>
              </a:spcAft>
              <a:buClr>
                <a:srgbClr val="E87A1E"/>
              </a:buClr>
              <a:buSzPct val="100000"/>
              <a:buFont typeface="Arial"/>
              <a:buChar char="•"/>
            </a:pPr>
            <a:r>
              <a:rPr sz="1200" b="1" i="0">
                <a:solidFill>
                  <a:srgbClr val="1C2433"/>
                </a:solidFill>
                <a:latin typeface="Calibri"/>
              </a:rPr>
              <a:t>Iceberg:</a:t>
            </a:r>
            <a:r>
              <a:rPr sz="1200" b="0" i="0">
                <a:solidFill>
                  <a:srgbClr val="1C2433"/>
                </a:solidFill>
                <a:latin typeface="Calibri"/>
              </a:rPr>
              <a:t> </a:t>
            </a:r>
            <a:r>
              <a:rPr sz="1100" b="0" i="0">
                <a:solidFill>
                  <a:srgbClr val="0E7C86"/>
                </a:solidFill>
                <a:latin typeface="Consolas"/>
              </a:rPr>
              <a:t>IcebergLoader</a:t>
            </a:r>
            <a:r>
              <a:rPr sz="1200" b="0" i="0">
                <a:solidFill>
                  <a:srgbClr val="1C2433"/>
                </a:solidFill>
                <a:latin typeface="Calibri"/>
              </a:rPr>
              <a:t> reads the dumps, sorts each day by id, writes Parquet + manifests to S3, commits </a:t>
            </a:r>
            <a:r>
              <a:rPr sz="1100" b="0" i="0">
                <a:solidFill>
                  <a:srgbClr val="0E7C86"/>
                </a:solidFill>
                <a:latin typeface="Consolas"/>
              </a:rPr>
              <a:t>vN+1.metadata.json</a:t>
            </a:r>
            <a:r>
              <a:rPr sz="1200" b="0" i="0">
                <a:solidFill>
                  <a:srgbClr val="1C2433"/>
                </a:solidFill>
                <a:latin typeface="Calibri"/>
              </a:rPr>
              <a:t> (conditional PUT)</a:t>
            </a:r>
          </a:p>
        </p:txBody>
      </p:sp>
      <p:cxnSp>
        <p:nvCxnSpPr>
          <p:cNvPr id="24" name="Connector 23"/>
          <p:cNvCxnSpPr/>
          <p:nvPr/>
        </p:nvCxnSpPr>
        <p:spPr>
          <a:xfrm>
            <a:off x="5212080" y="2286000"/>
            <a:ext cx="0" cy="22860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601200" y="2286000"/>
            <a:ext cx="0" cy="22860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11480" y="3886200"/>
            <a:ext cx="5989320" cy="141732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502920" y="3931920"/>
            <a:ext cx="580644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S3 · &lt;org&gt;-drishti-&lt;env&gt;-lake (THE LAKE)</a:t>
            </a:r>
          </a:p>
        </p:txBody>
      </p:sp>
      <p:sp>
        <p:nvSpPr>
          <p:cNvPr id="28" name="TextBox 27"/>
          <p:cNvSpPr txBox="1"/>
          <p:nvPr/>
        </p:nvSpPr>
        <p:spPr>
          <a:xfrm>
            <a:off x="502920" y="4251960"/>
            <a:ext cx="5806440" cy="10058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lake/…/_delta_log/</a:t>
            </a:r>
            <a:r>
              <a:rPr sz="1200" b="0" i="0">
                <a:solidFill>
                  <a:srgbClr val="1C2433"/>
                </a:solidFill>
                <a:latin typeface="Calibri"/>
              </a:rPr>
              <a:t> · </a:t>
            </a:r>
            <a:r>
              <a:rPr sz="1100" b="0" i="0">
                <a:solidFill>
                  <a:srgbClr val="0E7C86"/>
                </a:solidFill>
                <a:latin typeface="Consolas"/>
              </a:rPr>
              <a:t>iceberg/…/metadata/</a:t>
            </a:r>
            <a:r>
              <a:rPr sz="1200" b="0" i="0">
                <a:solidFill>
                  <a:srgbClr val="1C2433"/>
                </a:solidFill>
                <a:latin typeface="Calibri"/>
              </a:rPr>
              <a:t> + </a:t>
            </a:r>
            <a:r>
              <a:rPr sz="1100" b="0" i="0">
                <a:solidFill>
                  <a:srgbClr val="0E7C86"/>
                </a:solidFill>
                <a:latin typeface="Consolas"/>
              </a:rPr>
              <a:t>business_date=…</a:t>
            </a:r>
            <a:r>
              <a:rPr sz="1200" b="0" i="0">
                <a:solidFill>
                  <a:srgbClr val="1C2433"/>
                </a:solidFill>
                <a:latin typeface="Calibri"/>
              </a:rPr>
              <a:t> Parquet</a:t>
            </a:r>
          </a:p>
          <a:p>
            <a:pPr algn="l" marL="201168" indent="-201168">
              <a:spcAft>
                <a:spcPts val="200"/>
              </a:spcAft>
              <a:buClr>
                <a:srgbClr val="E87A1E"/>
              </a:buClr>
              <a:buSzPct val="100000"/>
              <a:buFont typeface="Arial"/>
              <a:buChar char="•"/>
            </a:pPr>
            <a:r>
              <a:rPr sz="1200" b="0" i="0">
                <a:solidFill>
                  <a:srgbClr val="1C2433"/>
                </a:solidFill>
                <a:latin typeface="Calibri"/>
              </a:rPr>
              <a:t>domains: trading … market, </a:t>
            </a:r>
            <a:r>
              <a:rPr sz="1200" b="1" i="0">
                <a:solidFill>
                  <a:srgbClr val="1C2433"/>
                </a:solidFill>
                <a:latin typeface="Calibri"/>
              </a:rPr>
              <a:t>risk</a:t>
            </a:r>
            <a:r>
              <a:rPr sz="1200" b="0" i="0">
                <a:solidFill>
                  <a:srgbClr val="1C2433"/>
                </a:solidFill>
                <a:latin typeface="Calibri"/>
              </a:rPr>
              <a:t>, </a:t>
            </a:r>
            <a:r>
              <a:rPr sz="1200" b="1" i="0">
                <a:solidFill>
                  <a:srgbClr val="1C2433"/>
                </a:solidFill>
                <a:latin typeface="Calibri"/>
              </a:rPr>
              <a:t>risk-results</a:t>
            </a:r>
            <a:r>
              <a:rPr sz="1200" b="0" i="0">
                <a:solidFill>
                  <a:srgbClr val="1C2433"/>
                </a:solidFill>
                <a:latin typeface="Calibri"/>
              </a:rPr>
              <a:t>, public data</a:t>
            </a:r>
          </a:p>
          <a:p>
            <a:pPr algn="l" marL="201168" indent="-201168">
              <a:spcAft>
                <a:spcPts val="200"/>
              </a:spcAft>
              <a:buClr>
                <a:srgbClr val="E87A1E"/>
              </a:buClr>
              <a:buSzPct val="100000"/>
              <a:buFont typeface="Arial"/>
              <a:buChar char="•"/>
            </a:pPr>
            <a:r>
              <a:rPr sz="1200" b="0" i="0">
                <a:solidFill>
                  <a:srgbClr val="1C2433"/>
                </a:solidFill>
                <a:latin typeface="Calibri"/>
              </a:rPr>
              <a:t>versioning · SSE-KMS · VPC endpoint only · tiers by business date</a:t>
            </a:r>
          </a:p>
        </p:txBody>
      </p:sp>
      <p:cxnSp>
        <p:nvCxnSpPr>
          <p:cNvPr id="29" name="Connector 28"/>
          <p:cNvCxnSpPr/>
          <p:nvPr/>
        </p:nvCxnSpPr>
        <p:spPr>
          <a:xfrm>
            <a:off x="3200400" y="3657600"/>
            <a:ext cx="0" cy="22860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720840" y="3886200"/>
            <a:ext cx="5056632" cy="141732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6812279" y="3931920"/>
            <a:ext cx="4873752"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ECS services drishti-a, -b, -c (server + console)</a:t>
            </a:r>
          </a:p>
        </p:txBody>
      </p:sp>
      <p:sp>
        <p:nvSpPr>
          <p:cNvPr id="32" name="TextBox 31"/>
          <p:cNvSpPr txBox="1"/>
          <p:nvPr/>
        </p:nvSpPr>
        <p:spPr>
          <a:xfrm>
            <a:off x="6812279" y="4251960"/>
            <a:ext cx="4873752" cy="10058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delta</a:t>
            </a:r>
            <a:r>
              <a:rPr sz="1200" b="0" i="0">
                <a:solidFill>
                  <a:srgbClr val="1C2433"/>
                </a:solidFill>
                <a:latin typeface="Calibri"/>
              </a:rPr>
              <a:t> and </a:t>
            </a:r>
            <a:r>
              <a:rPr sz="1100" b="0" i="0">
                <a:solidFill>
                  <a:srgbClr val="0E7C86"/>
                </a:solidFill>
                <a:latin typeface="Consolas"/>
              </a:rPr>
              <a:t>iceberg</a:t>
            </a:r>
            <a:r>
              <a:rPr sz="1200" b="0" i="0">
                <a:solidFill>
                  <a:srgbClr val="1C2433"/>
                </a:solidFill>
                <a:latin typeface="Calibri"/>
              </a:rPr>
              <a:t> connectors, native engines, ranged GETs</a:t>
            </a:r>
          </a:p>
          <a:p>
            <a:pPr algn="l" marL="201168" indent="-201168">
              <a:spcAft>
                <a:spcPts val="200"/>
              </a:spcAft>
              <a:buClr>
                <a:srgbClr val="E87A1E"/>
              </a:buClr>
              <a:buSzPct val="100000"/>
              <a:buFont typeface="Arial"/>
              <a:buChar char="•"/>
            </a:pPr>
            <a:r>
              <a:rPr sz="1200" b="0" i="0">
                <a:solidFill>
                  <a:srgbClr val="1C2433"/>
                </a:solidFill>
                <a:latin typeface="Calibri"/>
              </a:rPr>
              <a:t>VaR and exposure engines read </a:t>
            </a:r>
            <a:r>
              <a:rPr sz="1100" b="0" i="0">
                <a:solidFill>
                  <a:srgbClr val="0E7C86"/>
                </a:solidFill>
                <a:latin typeface="Consolas"/>
              </a:rPr>
              <a:t>risk/</a:t>
            </a:r>
            <a:r>
              <a:rPr sz="1200" b="0" i="0">
                <a:solidFill>
                  <a:srgbClr val="1C2433"/>
                </a:solidFill>
                <a:latin typeface="Calibri"/>
              </a:rPr>
              <a:t>; caches in heap and on disk</a:t>
            </a:r>
          </a:p>
          <a:p>
            <a:pPr algn="l" marL="201168" indent="-201168">
              <a:spcAft>
                <a:spcPts val="200"/>
              </a:spcAft>
              <a:buClr>
                <a:srgbClr val="E87A1E"/>
              </a:buClr>
              <a:buSzPct val="100000"/>
              <a:buFont typeface="Arial"/>
              <a:buChar char="•"/>
            </a:pPr>
            <a:r>
              <a:rPr sz="1200" b="0" i="0">
                <a:solidFill>
                  <a:srgbClr val="1C2433"/>
                </a:solidFill>
                <a:latin typeface="Calibri"/>
              </a:rPr>
              <a:t>Drishti*net: gossip port + HTTP/2 between task IPs</a:t>
            </a:r>
          </a:p>
        </p:txBody>
      </p:sp>
      <p:cxnSp>
        <p:nvCxnSpPr>
          <p:cNvPr id="33" name="Connector 32"/>
          <p:cNvCxnSpPr/>
          <p:nvPr/>
        </p:nvCxnSpPr>
        <p:spPr>
          <a:xfrm>
            <a:off x="6400800" y="4572000"/>
            <a:ext cx="320040" cy="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411480" y="5486400"/>
            <a:ext cx="5989320" cy="86868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xtBox 34"/>
          <p:cNvSpPr txBox="1"/>
          <p:nvPr/>
        </p:nvSpPr>
        <p:spPr>
          <a:xfrm>
            <a:off x="502920" y="5532120"/>
            <a:ext cx="580644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ECS task · maintenance (nightly)</a:t>
            </a:r>
          </a:p>
        </p:txBody>
      </p:sp>
      <p:sp>
        <p:nvSpPr>
          <p:cNvPr id="36" name="TextBox 35"/>
          <p:cNvSpPr txBox="1"/>
          <p:nvPr/>
        </p:nvSpPr>
        <p:spPr>
          <a:xfrm>
            <a:off x="502920" y="5852160"/>
            <a:ext cx="5806440" cy="457199"/>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Delta: checkpoint, vacuum · Iceberg: expiry, orphans · retention, 7-year floor</a:t>
            </a:r>
          </a:p>
        </p:txBody>
      </p:sp>
      <p:sp>
        <p:nvSpPr>
          <p:cNvPr id="37" name="Rounded Rectangle 36"/>
          <p:cNvSpPr/>
          <p:nvPr/>
        </p:nvSpPr>
        <p:spPr>
          <a:xfrm>
            <a:off x="6720840" y="5486400"/>
            <a:ext cx="5056632" cy="868680"/>
          </a:xfrm>
          <a:prstGeom prst="roundRect">
            <a:avLst>
              <a:gd name="adj" fmla="val 6000"/>
            </a:avLst>
          </a:prstGeom>
          <a:solidFill>
            <a:srgbClr val="FCE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xtBox 37"/>
          <p:cNvSpPr txBox="1"/>
          <p:nvPr/>
        </p:nvSpPr>
        <p:spPr>
          <a:xfrm>
            <a:off x="6812279" y="5532120"/>
            <a:ext cx="4873752"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EFS (Regional, encrypted, Elastic)</a:t>
            </a:r>
          </a:p>
        </p:txBody>
      </p:sp>
      <p:sp>
        <p:nvSpPr>
          <p:cNvPr id="39" name="TextBox 38"/>
          <p:cNvSpPr txBox="1"/>
          <p:nvPr/>
        </p:nvSpPr>
        <p:spPr>
          <a:xfrm>
            <a:off x="6812279" y="5852160"/>
            <a:ext cx="4873752" cy="457199"/>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state, caches, loader scratch, locks; NO lake data</a:t>
            </a:r>
          </a:p>
        </p:txBody>
      </p:sp>
      <p:cxnSp>
        <p:nvCxnSpPr>
          <p:cNvPr id="40" name="Connector 39"/>
          <p:cNvCxnSpPr/>
          <p:nvPr/>
        </p:nvCxnSpPr>
        <p:spPr>
          <a:xfrm>
            <a:off x="3200400" y="5303520"/>
            <a:ext cx="0" cy="18288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235440" y="5303520"/>
            <a:ext cx="0" cy="18288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picture, in words: each box</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2 · how it works</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9</a:t>
            </a:r>
          </a:p>
        </p:txBody>
      </p:sp>
      <p:graphicFrame>
        <p:nvGraphicFramePr>
          <p:cNvPr id="10" name="Table"/>
          <p:cNvGraphicFramePr>
            <a:graphicFrameLocks noGrp="1"/>
          </p:cNvGraphicFramePr>
          <p:nvPr/>
        </p:nvGraphicFramePr>
        <p:xfrm>
          <a:off x="411480" y="1143000"/>
          <a:ext cx="11365992" cy="5120640"/>
        </p:xfrm>
        <a:graphic>
          <a:graphicData uri="http://schemas.openxmlformats.org/drawingml/2006/table">
            <a:tbl>
              <a:tblPr firstRow="0" bandRow="0">
                <a:tableStyleId>{5940675A-B579-460E-94D1-54222C63F5DA}</a:tableStyleId>
              </a:tblPr>
              <a:tblGrid>
                <a:gridCol w="1828800"/>
                <a:gridCol w="3017520"/>
                <a:gridCol w="6519672"/>
              </a:tblGrid>
              <a:tr h="512064">
                <a:tc>
                  <a:txBody>
                    <a:bodyPr wrap="square"/>
                    <a:lstStyle/>
                    <a:p>
                      <a:r>
                        <a:rPr sz="1100" b="1" i="0">
                          <a:solidFill>
                            <a:srgbClr val="FFFFFF"/>
                          </a:solidFill>
                          <a:latin typeface="Calibri"/>
                        </a:rPr>
                        <a:t>Box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What it is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Key facts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12064">
                <a:tc>
                  <a:txBody>
                    <a:bodyPr wrap="square"/>
                    <a:lstStyle/>
                    <a:p>
                      <a:r>
                        <a:rPr sz="1100" b="1" i="0">
                          <a:solidFill>
                            <a:srgbClr val="1C2433"/>
                          </a:solidFill>
                          <a:latin typeface="Calibri"/>
                        </a:rPr>
                        <a:t>Sources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ENDUR, CALYPSO, MUREX, reference systems, the risk batch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JSON Lines, gzipped or not; one folder per date and source; JSON arrays still read; CSV input deprecated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12064">
                <a:tc>
                  <a:txBody>
                    <a:bodyPr wrap="square"/>
                    <a:lstStyle/>
                    <a:p>
                      <a:r>
                        <a:rPr sz="1100" b="1" i="0">
                          <a:solidFill>
                            <a:srgbClr val="1C2433"/>
                          </a:solidFill>
                          <a:latin typeface="Calibri"/>
                        </a:rPr>
                        <a:t>Landing bucket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&lt;org&gt;-drishti-&lt;env&gt;-landing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&lt;date&gt;/&lt;source&gt;/…</a:t>
                      </a:r>
                      <a:r>
                        <a:rPr sz="1100" b="0" i="0">
                          <a:solidFill>
                            <a:srgbClr val="1C2433"/>
                          </a:solidFill>
                          <a:latin typeface="Calibri"/>
                        </a:rPr>
                        <a:t>; dumps expire after 30 days (</a:t>
                      </a:r>
                      <a:r>
                        <a:rPr sz="1100" b="0" i="0">
                          <a:solidFill>
                            <a:srgbClr val="0E7C86"/>
                          </a:solidFill>
                          <a:latin typeface="Consolas"/>
                        </a:rPr>
                        <a:t>LANDING_KEEP_DAYS</a:t>
                      </a:r>
                      <a:r>
                        <a:rPr sz="1100" b="0" i="0">
                          <a:solidFill>
                            <a:srgbClr val="1C2433"/>
                          </a:solidFill>
                          <a:latin typeface="Calibri"/>
                        </a:rPr>
                        <a:t>); same protections as the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12064">
                <a:tc>
                  <a:txBody>
                    <a:bodyPr wrap="square"/>
                    <a:lstStyle/>
                    <a:p>
                      <a:r>
                        <a:rPr sz="1100" b="1" i="0">
                          <a:solidFill>
                            <a:srgbClr val="1C2433"/>
                          </a:solidFill>
                          <a:latin typeface="Calibri"/>
                        </a:rPr>
                        <a:t>Scheduler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EventBridge Scheduler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LOAD_SCHEDULE</a:t>
                      </a:r>
                      <a:r>
                        <a:rPr sz="1100" b="0" i="0">
                          <a:solidFill>
                            <a:srgbClr val="1C2433"/>
                          </a:solidFill>
                          <a:latin typeface="Calibri"/>
                        </a:rPr>
                        <a:t> 22:30 in </a:t>
                      </a:r>
                      <a:r>
                        <a:rPr sz="1100" b="0" i="0">
                          <a:solidFill>
                            <a:srgbClr val="0E7C86"/>
                          </a:solidFill>
                          <a:latin typeface="Consolas"/>
                        </a:rPr>
                        <a:t>LOAD_SCHEDULE_ZONE</a:t>
                      </a:r>
                      <a:r>
                        <a:rPr sz="1100" b="0" i="0">
                          <a:solidFill>
                            <a:srgbClr val="1C2433"/>
                          </a:solidFill>
                          <a:latin typeface="Calibri"/>
                        </a:rPr>
                        <a:t> (New York), Mon–Fri; also -maintain and -report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12064">
                <a:tc>
                  <a:txBody>
                    <a:bodyPr wrap="square"/>
                    <a:lstStyle/>
                    <a:p>
                      <a:r>
                        <a:rPr sz="1100" b="1" i="0">
                          <a:solidFill>
                            <a:srgbClr val="1C2433"/>
                          </a:solidFill>
                          <a:latin typeface="Calibri"/>
                        </a:rPr>
                        <a:t>Loader task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ECS task </a:t>
                      </a:r>
                      <a:r>
                        <a:rPr sz="1100" b="0" i="0">
                          <a:solidFill>
                            <a:srgbClr val="0E7C86"/>
                          </a:solidFill>
                          <a:latin typeface="Consolas"/>
                        </a:rPr>
                        <a:t>drishti-&lt;env&gt;-loader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1" i="0">
                          <a:solidFill>
                            <a:srgbClr val="1C2433"/>
                          </a:solidFill>
                          <a:latin typeface="Calibri"/>
                        </a:rPr>
                        <a:t>Delta:</a:t>
                      </a:r>
                      <a:r>
                        <a:rPr sz="1100" b="0" i="0">
                          <a:solidFill>
                            <a:srgbClr val="1C2433"/>
                          </a:solidFill>
                          <a:latin typeface="Calibri"/>
                        </a:rPr>
                        <a:t> sync → build → sync → publish → metrics, per table under its EFS lock; scratch always removed. </a:t>
                      </a:r>
                      <a:r>
                        <a:rPr sz="1100" b="1" i="0">
                          <a:solidFill>
                            <a:srgbClr val="1C2433"/>
                          </a:solidFill>
                          <a:latin typeface="Calibri"/>
                        </a:rPr>
                        <a:t>Iceberg:</a:t>
                      </a:r>
                      <a:r>
                        <a:rPr sz="1100" b="0" i="0">
                          <a:solidFill>
                            <a:srgbClr val="1C2433"/>
                          </a:solidFill>
                          <a:latin typeface="Calibri"/>
                        </a:rPr>
                        <a:t> </a:t>
                      </a:r>
                      <a:r>
                        <a:rPr sz="1100" b="0" i="0">
                          <a:solidFill>
                            <a:srgbClr val="0E7C86"/>
                          </a:solidFill>
                          <a:latin typeface="Consolas"/>
                        </a:rPr>
                        <a:t>IcebergLoader</a:t>
                      </a:r>
                      <a:r>
                        <a:rPr sz="1100" b="0" i="0">
                          <a:solidFill>
                            <a:srgbClr val="1C2433"/>
                          </a:solidFill>
                          <a:latin typeface="Calibri"/>
                        </a:rPr>
                        <a:t> (the server's exec jar): sorts each day by id, files of 250,000 rows, one overwrite of the day's partition, no publish step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12064">
                <a:tc>
                  <a:txBody>
                    <a:bodyPr wrap="square"/>
                    <a:lstStyle/>
                    <a:p>
                      <a:r>
                        <a:rPr sz="1100" b="1" i="0">
                          <a:solidFill>
                            <a:srgbClr val="1C2433"/>
                          </a:solidFill>
                          <a:latin typeface="Calibri"/>
                        </a:rPr>
                        <a:t>The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&lt;org&gt;-drishti-&lt;env&gt;-lake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Delta: Parquet + </a:t>
                      </a:r>
                      <a:r>
                        <a:rPr sz="1100" b="0" i="0">
                          <a:solidFill>
                            <a:srgbClr val="0E7C86"/>
                          </a:solidFill>
                          <a:latin typeface="Consolas"/>
                        </a:rPr>
                        <a:t>_delta_log</a:t>
                      </a:r>
                      <a:r>
                        <a:rPr sz="1100" b="0" i="0">
                          <a:solidFill>
                            <a:srgbClr val="1C2433"/>
                          </a:solidFill>
                          <a:latin typeface="Calibri"/>
                        </a:rPr>
                        <a:t> under </a:t>
                      </a:r>
                      <a:r>
                        <a:rPr sz="1100" b="0" i="0">
                          <a:solidFill>
                            <a:srgbClr val="0E7C86"/>
                          </a:solidFill>
                          <a:latin typeface="Consolas"/>
                        </a:rPr>
                        <a:t>lake/</a:t>
                      </a:r>
                      <a:r>
                        <a:rPr sz="1100" b="0" i="0">
                          <a:solidFill>
                            <a:srgbClr val="1C2433"/>
                          </a:solidFill>
                          <a:latin typeface="Calibri"/>
                        </a:rPr>
                        <a:t>; Iceberg: </a:t>
                      </a:r>
                      <a:r>
                        <a:rPr sz="1100" b="0" i="0">
                          <a:solidFill>
                            <a:srgbClr val="0E7C86"/>
                          </a:solidFill>
                          <a:latin typeface="Consolas"/>
                        </a:rPr>
                        <a:t>metadata/</a:t>
                      </a:r>
                      <a:r>
                        <a:rPr sz="1100" b="0" i="0">
                          <a:solidFill>
                            <a:srgbClr val="1C2433"/>
                          </a:solidFill>
                          <a:latin typeface="Calibri"/>
                        </a:rPr>
                        <a:t> + </a:t>
                      </a:r>
                      <a:r>
                        <a:rPr sz="1100" b="0" i="0">
                          <a:solidFill>
                            <a:srgbClr val="0E7C86"/>
                          </a:solidFill>
                          <a:latin typeface="Consolas"/>
                        </a:rPr>
                        <a:t>data/business_date=…/</a:t>
                      </a:r>
                      <a:r>
                        <a:rPr sz="1100" b="0" i="0">
                          <a:solidFill>
                            <a:srgbClr val="1C2433"/>
                          </a:solidFill>
                          <a:latin typeface="Calibri"/>
                        </a:rPr>
                        <a:t> under </a:t>
                      </a:r>
                      <a:r>
                        <a:rPr sz="1100" b="0" i="0">
                          <a:solidFill>
                            <a:srgbClr val="0E7C86"/>
                          </a:solidFill>
                          <a:latin typeface="Consolas"/>
                        </a:rPr>
                        <a:t>iceberg/</a:t>
                      </a:r>
                      <a:r>
                        <a:rPr sz="1100" b="0" i="0">
                          <a:solidFill>
                            <a:srgbClr val="1C2433"/>
                          </a:solidFill>
                          <a:latin typeface="Calibri"/>
                        </a:rPr>
                        <a:t>, files named by absolute paths; versioning, SSE-KMS, VPC endpoint only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12064">
                <a:tc>
                  <a:txBody>
                    <a:bodyPr wrap="square"/>
                    <a:lstStyle/>
                    <a:p>
                      <a:r>
                        <a:rPr sz="1100" b="1" i="0">
                          <a:solidFill>
                            <a:srgbClr val="1C2433"/>
                          </a:solidFill>
                          <a:latin typeface="Calibri"/>
                        </a:rPr>
                        <a:t>Server nodes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ECS services </a:t>
                      </a:r>
                      <a:r>
                        <a:rPr sz="1100" b="0" i="0">
                          <a:solidFill>
                            <a:srgbClr val="0E7C86"/>
                          </a:solidFill>
                          <a:latin typeface="Consolas"/>
                        </a:rPr>
                        <a:t>drishti-a/-b/-c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server + console per task; </a:t>
                      </a:r>
                      <a:r>
                        <a:rPr sz="1100" b="0" i="0">
                          <a:solidFill>
                            <a:srgbClr val="0E7C86"/>
                          </a:solidFill>
                          <a:latin typeface="Consolas"/>
                        </a:rPr>
                        <a:t>delta</a:t>
                      </a:r>
                      <a:r>
                        <a:rPr sz="1100" b="0" i="0">
                          <a:solidFill>
                            <a:srgbClr val="1C2433"/>
                          </a:solidFill>
                          <a:latin typeface="Calibri"/>
                        </a:rPr>
                        <a:t> and </a:t>
                      </a:r>
                      <a:r>
                        <a:rPr sz="1100" b="0" i="0">
                          <a:solidFill>
                            <a:srgbClr val="0E7C86"/>
                          </a:solidFill>
                          <a:latin typeface="Consolas"/>
                        </a:rPr>
                        <a:t>iceberg</a:t>
                      </a:r>
                      <a:r>
                        <a:rPr sz="1100" b="0" i="0">
                          <a:solidFill>
                            <a:srgbClr val="1C2433"/>
                          </a:solidFill>
                          <a:latin typeface="Calibri"/>
                        </a:rPr>
                        <a:t> connectors, native engines, one row group per entity; Iceberg refreshes every 10 s; VaR and exposure engines; Drishti*net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12064">
                <a:tc>
                  <a:txBody>
                    <a:bodyPr wrap="square"/>
                    <a:lstStyle/>
                    <a:p>
                      <a:r>
                        <a:rPr sz="1100" b="1" i="0">
                          <a:solidFill>
                            <a:srgbClr val="1C2433"/>
                          </a:solidFill>
                          <a:latin typeface="Calibri"/>
                        </a:rPr>
                        <a:t>Maintenance task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ECS task, nightly (</a:t>
                      </a:r>
                      <a:r>
                        <a:rPr sz="1100" b="0" i="0">
                          <a:solidFill>
                            <a:srgbClr val="0E7C86"/>
                          </a:solidFill>
                          <a:latin typeface="Consolas"/>
                        </a:rPr>
                        <a:t>MAINTAIN_SCHEDULE</a:t>
                      </a:r>
                      <a:r>
                        <a:rPr sz="11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lake maintain</a:t>
                      </a:r>
                      <a:r>
                        <a:rPr sz="1100" b="0" i="0">
                          <a:solidFill>
                            <a:srgbClr val="1C2433"/>
                          </a:solidFill>
                          <a:latin typeface="Calibri"/>
                        </a:rPr>
                        <a:t> per table under its lock (Iceberg: </a:t>
                      </a:r>
                      <a:r>
                        <a:rPr sz="1100" b="0" i="0">
                          <a:solidFill>
                            <a:srgbClr val="0E7C86"/>
                          </a:solidFill>
                          <a:latin typeface="Consolas"/>
                        </a:rPr>
                        <a:t>IcebergMaintenance</a:t>
                      </a:r>
                      <a:r>
                        <a:rPr sz="1100" b="0" i="0">
                          <a:solidFill>
                            <a:srgbClr val="1C2433"/>
                          </a:solidFill>
                          <a:latin typeface="Calibri"/>
                        </a:rPr>
                        <a:t>, expiry, orphan files ≥ 72 h); risk domains never below 7 years; then setup-lifecycle.sh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12064">
                <a:tc>
                  <a:txBody>
                    <a:bodyPr wrap="square"/>
                    <a:lstStyle/>
                    <a:p>
                      <a:r>
                        <a:rPr sz="1100" b="1" i="0">
                          <a:solidFill>
                            <a:srgbClr val="1C2433"/>
                          </a:solidFill>
                          <a:latin typeface="Calibri"/>
                        </a:rPr>
                        <a:t>Catalog (Iceberg, optional)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 REST catalog: Glue's Iceberg endpoint, Polaris, Snowflake Open Catalog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commits by the catalog's requirements (409 retried); vended credentials; path-based tables need none. On AWS: NOT RUN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12064">
                <a:tc>
                  <a:txBody>
                    <a:bodyPr wrap="square"/>
                    <a:lstStyle/>
                    <a:p>
                      <a:r>
                        <a:rPr sz="1100" b="1" i="0">
                          <a:solidFill>
                            <a:srgbClr val="1C2433"/>
                          </a:solidFill>
                          <a:latin typeface="Calibri"/>
                        </a:rPr>
                        <a:t>EFS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Regional, encrypted, Elastic throughput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/drishti/&lt;env&gt;/&lt;node&gt;/opt/drishti/{data,config,sutras}</a:t>
                      </a:r>
                      <a:r>
                        <a:rPr sz="1100" b="0" i="0">
                          <a:solidFill>
                            <a:srgbClr val="1C2433"/>
                          </a:solidFill>
                          <a:latin typeface="Calibri"/>
                        </a:rPr>
                        <a:t>; loader scratch, spill and locks; never lake data, </a:t>
                      </a:r>
                      <a:r>
                        <a:rPr sz="1100" b="0" i="0">
                          <a:solidFill>
                            <a:srgbClr val="0E7C86"/>
                          </a:solidFill>
                          <a:latin typeface="Consolas"/>
                        </a:rPr>
                        <a:t>_delta_log</a:t>
                      </a:r>
                      <a:r>
                        <a:rPr sz="1100" b="0" i="0">
                          <a:solidFill>
                            <a:srgbClr val="1C2433"/>
                          </a:solidFill>
                          <a:latin typeface="Calibri"/>
                        </a:rPr>
                        <a:t> or </a:t>
                      </a:r>
                      <a:r>
                        <a:rPr sz="1100" b="0" i="0">
                          <a:solidFill>
                            <a:srgbClr val="0E7C86"/>
                          </a:solidFill>
                          <a:latin typeface="Consolas"/>
                        </a:rPr>
                        <a:t>metadata/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Generate JSON Lines, then load it into Delta</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2 · how it works</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10</a:t>
            </a:r>
          </a:p>
        </p:txBody>
      </p:sp>
      <p:sp>
        <p:nvSpPr>
          <p:cNvPr id="10" name="Rounded Rectangle 9"/>
          <p:cNvSpPr/>
          <p:nvPr/>
        </p:nvSpPr>
        <p:spPr>
          <a:xfrm>
            <a:off x="411480" y="1188720"/>
            <a:ext cx="2606040" cy="1188720"/>
          </a:xfrm>
          <a:prstGeom prst="roundRect">
            <a:avLst>
              <a:gd name="adj" fmla="val 6000"/>
            </a:avLst>
          </a:prstGeom>
          <a:solidFill>
            <a:srgbClr val="EEE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02920" y="123444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Source or generator</a:t>
            </a:r>
          </a:p>
        </p:txBody>
      </p:sp>
      <p:sp>
        <p:nvSpPr>
          <p:cNvPr id="12" name="TextBox 11"/>
          <p:cNvSpPr txBox="1"/>
          <p:nvPr/>
        </p:nvSpPr>
        <p:spPr>
          <a:xfrm>
            <a:off x="502920" y="1554480"/>
            <a:ext cx="2423160"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writes JSON Lines</a:t>
            </a:r>
          </a:p>
          <a:p>
            <a:pPr algn="l" marL="201168" indent="-201168">
              <a:spcAft>
                <a:spcPts val="200"/>
              </a:spcAft>
              <a:buClr>
                <a:srgbClr val="E87A1E"/>
              </a:buClr>
              <a:buSzPct val="100000"/>
              <a:buFont typeface="Arial"/>
              <a:buChar char="•"/>
            </a:pPr>
            <a:r>
              <a:rPr sz="1100" b="0" i="0">
                <a:solidFill>
                  <a:srgbClr val="0E7C86"/>
                </a:solidFill>
                <a:latin typeface="Consolas"/>
              </a:rPr>
              <a:t>trades-&lt;date&gt;.jsonl.gz</a:t>
            </a:r>
          </a:p>
        </p:txBody>
      </p:sp>
      <p:cxnSp>
        <p:nvCxnSpPr>
          <p:cNvPr id="13" name="Connector 12"/>
          <p:cNvCxnSpPr/>
          <p:nvPr/>
        </p:nvCxnSpPr>
        <p:spPr>
          <a:xfrm>
            <a:off x="3017520" y="1783080"/>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28416" y="1188720"/>
            <a:ext cx="2606040" cy="118872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3419856" y="123444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Landing / build folder</a:t>
            </a:r>
          </a:p>
        </p:txBody>
      </p:sp>
      <p:sp>
        <p:nvSpPr>
          <p:cNvPr id="16" name="TextBox 15"/>
          <p:cNvSpPr txBox="1"/>
          <p:nvPr/>
        </p:nvSpPr>
        <p:spPr>
          <a:xfrm>
            <a:off x="3419856" y="1554480"/>
            <a:ext cx="2423160"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&lt;date&gt;/&lt;source&gt;/*.jsonl.gz</a:t>
            </a:r>
          </a:p>
          <a:p>
            <a:pPr algn="l" marL="201168" indent="-201168">
              <a:spcAft>
                <a:spcPts val="200"/>
              </a:spcAft>
              <a:buClr>
                <a:srgbClr val="E87A1E"/>
              </a:buClr>
              <a:buSzPct val="100000"/>
              <a:buFont typeface="Arial"/>
              <a:buChar char="•"/>
            </a:pPr>
            <a:r>
              <a:rPr sz="1200" b="0" i="0">
                <a:solidFill>
                  <a:srgbClr val="1C2433"/>
                </a:solidFill>
                <a:latin typeface="Calibri"/>
              </a:rPr>
              <a:t>a restatement: a second file</a:t>
            </a:r>
          </a:p>
        </p:txBody>
      </p:sp>
      <p:cxnSp>
        <p:nvCxnSpPr>
          <p:cNvPr id="17" name="Connector 16"/>
          <p:cNvCxnSpPr/>
          <p:nvPr/>
        </p:nvCxnSpPr>
        <p:spPr>
          <a:xfrm>
            <a:off x="5934456" y="1783080"/>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45352" y="1188720"/>
            <a:ext cx="2606040" cy="118872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6336792" y="123444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lake build · load_rows.py</a:t>
            </a:r>
          </a:p>
        </p:txBody>
      </p:sp>
      <p:sp>
        <p:nvSpPr>
          <p:cNvPr id="20" name="TextBox 19"/>
          <p:cNvSpPr txBox="1"/>
          <p:nvPr/>
        </p:nvSpPr>
        <p:spPr>
          <a:xfrm>
            <a:off x="6336792" y="1554480"/>
            <a:ext cx="2423160"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promoted and vector columns</a:t>
            </a:r>
          </a:p>
          <a:p>
            <a:pPr algn="l" marL="201168" indent="-201168">
              <a:spcAft>
                <a:spcPts val="200"/>
              </a:spcAft>
              <a:buClr>
                <a:srgbClr val="E87A1E"/>
              </a:buClr>
              <a:buSzPct val="100000"/>
              <a:buFont typeface="Arial"/>
              <a:buChar char="•"/>
            </a:pPr>
            <a:r>
              <a:rPr sz="1200" b="0" i="0">
                <a:solidFill>
                  <a:srgbClr val="1C2433"/>
                </a:solidFill>
                <a:latin typeface="Calibri"/>
              </a:rPr>
              <a:t>sorted by id; one commit a date</a:t>
            </a:r>
          </a:p>
        </p:txBody>
      </p:sp>
      <p:cxnSp>
        <p:nvCxnSpPr>
          <p:cNvPr id="21" name="Connector 20"/>
          <p:cNvCxnSpPr/>
          <p:nvPr/>
        </p:nvCxnSpPr>
        <p:spPr>
          <a:xfrm>
            <a:off x="8851392" y="1783080"/>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162288" y="1188720"/>
            <a:ext cx="2606040" cy="118872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9253728" y="123444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Delta table</a:t>
            </a:r>
          </a:p>
        </p:txBody>
      </p:sp>
      <p:sp>
        <p:nvSpPr>
          <p:cNvPr id="24" name="TextBox 23"/>
          <p:cNvSpPr txBox="1"/>
          <p:nvPr/>
        </p:nvSpPr>
        <p:spPr>
          <a:xfrm>
            <a:off x="9253728" y="1554480"/>
            <a:ext cx="2423160"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lake/&lt;domain&gt;/&lt;table&gt;/</a:t>
            </a:r>
          </a:p>
          <a:p>
            <a:pPr algn="l" marL="201168" indent="-201168">
              <a:spcAft>
                <a:spcPts val="200"/>
              </a:spcAft>
              <a:buClr>
                <a:srgbClr val="E87A1E"/>
              </a:buClr>
              <a:buSzPct val="100000"/>
              <a:buFont typeface="Arial"/>
              <a:buChar char="•"/>
            </a:pPr>
            <a:r>
              <a:rPr sz="1200" b="0" i="0">
                <a:solidFill>
                  <a:srgbClr val="1C2433"/>
                </a:solidFill>
                <a:latin typeface="Calibri"/>
              </a:rPr>
              <a:t>read by the Delta connector</a:t>
            </a:r>
          </a:p>
        </p:txBody>
      </p:sp>
      <p:graphicFrame>
        <p:nvGraphicFramePr>
          <p:cNvPr id="25" name="Table"/>
          <p:cNvGraphicFramePr>
            <a:graphicFrameLocks noGrp="1"/>
          </p:cNvGraphicFramePr>
          <p:nvPr/>
        </p:nvGraphicFramePr>
        <p:xfrm>
          <a:off x="411480" y="2834640"/>
          <a:ext cx="11365990" cy="2377440"/>
        </p:xfrm>
        <a:graphic>
          <a:graphicData uri="http://schemas.openxmlformats.org/drawingml/2006/table">
            <a:tbl>
              <a:tblPr firstRow="0" bandRow="0">
                <a:tableStyleId>{5940675A-B579-460E-94D1-54222C63F5DA}</a:tableStyleId>
              </a:tblPr>
              <a:tblGrid>
                <a:gridCol w="1558240"/>
                <a:gridCol w="5133028"/>
                <a:gridCol w="4674722"/>
              </a:tblGrid>
              <a:tr h="475488">
                <a:tc>
                  <a:txBody>
                    <a:bodyPr wrap="square"/>
                    <a:lstStyle/>
                    <a:p>
                      <a:r>
                        <a:rPr sz="1200" b="1" i="0">
                          <a:solidFill>
                            <a:srgbClr val="FFFFFF"/>
                          </a:solidFill>
                          <a:latin typeface="Calibri"/>
                        </a:rPr>
                        <a:t>Form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One line is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Written by → read by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75488">
                <a:tc>
                  <a:txBody>
                    <a:bodyPr wrap="square"/>
                    <a:lstStyle/>
                    <a:p>
                      <a:r>
                        <a:rPr sz="1200" b="1" i="0">
                          <a:solidFill>
                            <a:srgbClr val="1C2433"/>
                          </a:solidFill>
                          <a:latin typeface="Calibri"/>
                        </a:rPr>
                        <a:t>Document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one entity as its source holds it: </a:t>
                      </a:r>
                      <a:r>
                        <a:rPr sz="1100" b="0" i="0">
                          <a:solidFill>
                            <a:srgbClr val="0E7C86"/>
                          </a:solidFill>
                          <a:latin typeface="Consolas"/>
                        </a:rPr>
                        <a:t>{"TRADE_ID": "1000015", "LEGS": [...]}</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make_trades, bulk_trades, pack samples → </a:t>
                      </a:r>
                      <a:r>
                        <a:rPr sz="1100" b="0" i="0">
                          <a:solidFill>
                            <a:srgbClr val="0E7C86"/>
                          </a:solidFill>
                          <a:latin typeface="Consolas"/>
                        </a:rPr>
                        <a:t>lake build</a:t>
                      </a:r>
                      <a:r>
                        <a:rPr sz="1200" b="0" i="0">
                          <a:solidFill>
                            <a:srgbClr val="1C2433"/>
                          </a:solidFill>
                          <a:latin typeface="Calibri"/>
                        </a:rPr>
                        <a:t>, the file connector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200" b="1" i="0">
                          <a:solidFill>
                            <a:srgbClr val="1C2433"/>
                          </a:solidFill>
                          <a:latin typeface="Calibri"/>
                        </a:rPr>
                        <a:t>Loader row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{"domain", "kind", "id", "date", "doc", "columns"}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make_data.py --jsonl</a:t>
                      </a:r>
                      <a:r>
                        <a:rPr sz="1200" b="0" i="0">
                          <a:solidFill>
                            <a:srgbClr val="1C2433"/>
                          </a:solidFill>
                          <a:latin typeface="Calibri"/>
                        </a:rPr>
                        <a:t> → PostgreSQL, Cassandra, Iceberg … loaders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75488">
                <a:tc>
                  <a:txBody>
                    <a:bodyPr wrap="square"/>
                    <a:lstStyle/>
                    <a:p>
                      <a:r>
                        <a:rPr sz="1200" b="1" i="0">
                          <a:solidFill>
                            <a:srgbClr val="1C2433"/>
                          </a:solidFill>
                          <a:latin typeface="Calibri"/>
                        </a:rPr>
                        <a:t>Lake row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{"domain", "kind", "table", "id", "date", "doc"}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make_data.py --lake</a:t>
                      </a:r>
                      <a:r>
                        <a:rPr sz="1200" b="0" i="0">
                          <a:solidFill>
                            <a:srgbClr val="1C2433"/>
                          </a:solidFill>
                          <a:latin typeface="Calibri"/>
                        </a:rPr>
                        <a:t>, generators → </a:t>
                      </a:r>
                      <a:r>
                        <a:rPr sz="1100" b="0" i="0">
                          <a:solidFill>
                            <a:srgbClr val="0E7C86"/>
                          </a:solidFill>
                          <a:latin typeface="Consolas"/>
                        </a:rPr>
                        <a:t>load_rows.py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200" b="1" i="0">
                          <a:solidFill>
                            <a:srgbClr val="1C2433"/>
                          </a:solidFill>
                          <a:latin typeface="Calibri"/>
                        </a:rPr>
                        <a:t>Staged lake row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{"id", "doc", "columns"}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lake build's staging, official-results publishers → Java </a:t>
                      </a:r>
                      <a:r>
                        <a:rPr sz="1100" b="0" i="0">
                          <a:solidFill>
                            <a:srgbClr val="0E7C86"/>
                          </a:solidFill>
                          <a:latin typeface="Consolas"/>
                        </a:rPr>
                        <a:t>LakeWriter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26" name="Callout"/>
          <p:cNvSpPr/>
          <p:nvPr/>
        </p:nvSpPr>
        <p:spPr>
          <a:xfrm>
            <a:off x="411480" y="5440680"/>
            <a:ext cx="11365992" cy="86868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Callout edge"/>
          <p:cNvSpPr/>
          <p:nvPr/>
        </p:nvSpPr>
        <p:spPr>
          <a:xfrm>
            <a:off x="411480" y="5458968"/>
            <a:ext cx="82296" cy="832103"/>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640080" y="5513832"/>
            <a:ext cx="11000232" cy="722375"/>
          </a:xfrm>
          <a:prstGeom prst="rect">
            <a:avLst/>
          </a:prstGeom>
          <a:noFill/>
        </p:spPr>
        <p:txBody>
          <a:bodyPr wrap="square" lIns="0" rIns="0" tIns="0" bIns="0" anchor="ctr">
            <a:spAutoFit/>
          </a:bodyPr>
          <a:lstStyle/>
          <a:p>
            <a:pPr algn="l">
              <a:spcAft>
                <a:spcPts val="600"/>
              </a:spcAft>
              <a:buNone/>
            </a:pPr>
            <a:r>
              <a:rPr sz="1300" b="1" i="0">
                <a:solidFill>
                  <a:srgbClr val="1C2433"/>
                </a:solidFill>
                <a:latin typeface="Calibri"/>
              </a:rPr>
              <a:t>The rule:</a:t>
            </a:r>
            <a:r>
              <a:rPr sz="1300" b="0" i="0">
                <a:solidFill>
                  <a:srgbClr val="1C2433"/>
                </a:solidFill>
                <a:latin typeface="Calibri"/>
              </a:rPr>
              <a:t> one JSON object per line, UTF-8, </a:t>
            </a:r>
            <a:r>
              <a:rPr sz="1200" b="0" i="0">
                <a:solidFill>
                  <a:srgbClr val="0E7C86"/>
                </a:solidFill>
                <a:latin typeface="Consolas"/>
              </a:rPr>
              <a:t>.jsonl</a:t>
            </a:r>
            <a:r>
              <a:rPr sz="1300" b="0" i="0">
                <a:solidFill>
                  <a:srgbClr val="1C2433"/>
                </a:solidFill>
                <a:latin typeface="Calibri"/>
              </a:rPr>
              <a:t> or </a:t>
            </a:r>
            <a:r>
              <a:rPr sz="1200" b="0" i="0">
                <a:solidFill>
                  <a:srgbClr val="0E7C86"/>
                </a:solidFill>
                <a:latin typeface="Consolas"/>
              </a:rPr>
              <a:t>.jsonl.gz</a:t>
            </a:r>
            <a:r>
              <a:rPr sz="1300" b="0" i="0">
                <a:solidFill>
                  <a:srgbClr val="1C2433"/>
                </a:solidFill>
                <a:latin typeface="Calibri"/>
              </a:rPr>
              <a:t>. Generating and loading are separate steps; a loader never rewrites a pack's samples. The lake built from JSONL is byte-for-byte the lake built before.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CSV in is deprecated; JSON Lines out beside every format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2 · how it works</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11</a:t>
            </a:r>
          </a:p>
        </p:txBody>
      </p:sp>
      <p:sp>
        <p:nvSpPr>
          <p:cNvPr id="10" name="Rounded Rectangle 9"/>
          <p:cNvSpPr/>
          <p:nvPr/>
        </p:nvSpPr>
        <p:spPr>
          <a:xfrm>
            <a:off x="411480" y="1188720"/>
            <a:ext cx="5532120" cy="2057400"/>
          </a:xfrm>
          <a:prstGeom prst="roundRect">
            <a:avLst>
              <a:gd name="adj" fmla="val 6000"/>
            </a:avLst>
          </a:prstGeom>
          <a:solidFill>
            <a:srgbClr val="EEE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02920" y="1234440"/>
            <a:ext cx="534924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Coming in</a:t>
            </a:r>
          </a:p>
        </p:txBody>
      </p:sp>
      <p:sp>
        <p:nvSpPr>
          <p:cNvPr id="12" name="TextBox 11"/>
          <p:cNvSpPr txBox="1"/>
          <p:nvPr/>
        </p:nvSpPr>
        <p:spPr>
          <a:xfrm>
            <a:off x="502920" y="1554480"/>
            <a:ext cx="5349240" cy="16459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300" b="1" i="0">
                <a:solidFill>
                  <a:srgbClr val="1C2433"/>
                </a:solidFill>
                <a:latin typeface="Calibri"/>
              </a:rPr>
              <a:t>JSON Lines first</a:t>
            </a:r>
            <a:r>
              <a:rPr sz="1300" b="0" i="0">
                <a:solidFill>
                  <a:srgbClr val="1C2433"/>
                </a:solidFill>
                <a:latin typeface="Calibri"/>
              </a:rPr>
              <a:t>; JSON arrays and per-entity </a:t>
            </a:r>
            <a:r>
              <a:rPr sz="1200" b="0" i="0">
                <a:solidFill>
                  <a:srgbClr val="0E7C86"/>
                </a:solidFill>
                <a:latin typeface="Consolas"/>
              </a:rPr>
              <a:t>.json</a:t>
            </a:r>
            <a:r>
              <a:rPr sz="1300" b="0" i="0">
                <a:solidFill>
                  <a:srgbClr val="1C2433"/>
                </a:solidFill>
                <a:latin typeface="Calibri"/>
              </a:rPr>
              <a:t> still read</a:t>
            </a:r>
          </a:p>
          <a:p>
            <a:pPr algn="l" marL="201168" indent="-201168">
              <a:spcAft>
                <a:spcPts val="200"/>
              </a:spcAft>
              <a:buClr>
                <a:srgbClr val="E87A1E"/>
              </a:buClr>
              <a:buSzPct val="100000"/>
              <a:buFont typeface="Arial"/>
              <a:buChar char="•"/>
            </a:pPr>
            <a:r>
              <a:rPr sz="1300" b="1" i="0">
                <a:solidFill>
                  <a:srgbClr val="1C2433"/>
                </a:solidFill>
                <a:latin typeface="Calibri"/>
              </a:rPr>
              <a:t>CSV input deprecated</a:t>
            </a:r>
            <a:r>
              <a:rPr sz="1300" b="0" i="0">
                <a:solidFill>
                  <a:srgbClr val="1C2433"/>
                </a:solidFill>
                <a:latin typeface="Calibri"/>
              </a:rPr>
              <a:t>: the file connector still serves feed files, warns once per file, names them in Admin → Health</a:t>
            </a:r>
          </a:p>
          <a:p>
            <a:pPr algn="l" marL="201168" indent="-201168">
              <a:spcAft>
                <a:spcPts val="200"/>
              </a:spcAft>
              <a:buClr>
                <a:srgbClr val="E87A1E"/>
              </a:buClr>
              <a:buSzPct val="100000"/>
              <a:buFont typeface="Arial"/>
              <a:buChar char="•"/>
            </a:pPr>
            <a:r>
              <a:rPr sz="1200" b="0" i="0">
                <a:solidFill>
                  <a:srgbClr val="0E7C86"/>
                </a:solidFill>
                <a:latin typeface="Consolas"/>
              </a:rPr>
              <a:t>drishti.py convert trades.csv</a:t>
            </a:r>
            <a:r>
              <a:rPr sz="1300" b="0" i="0">
                <a:solidFill>
                  <a:srgbClr val="1C2433"/>
                </a:solidFill>
                <a:latin typeface="Calibri"/>
              </a:rPr>
              <a:t> → </a:t>
            </a:r>
            <a:r>
              <a:rPr sz="1200" b="0" i="0">
                <a:solidFill>
                  <a:srgbClr val="0E7C86"/>
                </a:solidFill>
                <a:latin typeface="Consolas"/>
              </a:rPr>
              <a:t>trades.jsonl</a:t>
            </a:r>
            <a:r>
              <a:rPr sz="1300" b="0" i="0">
                <a:solidFill>
                  <a:srgbClr val="1C2433"/>
                </a:solidFill>
                <a:latin typeface="Calibri"/>
              </a:rPr>
              <a:t> (also JSON arrays, gzip, folders)</a:t>
            </a:r>
          </a:p>
        </p:txBody>
      </p:sp>
      <p:sp>
        <p:nvSpPr>
          <p:cNvPr id="13" name="Rounded Rectangle 12"/>
          <p:cNvSpPr/>
          <p:nvPr/>
        </p:nvSpPr>
        <p:spPr>
          <a:xfrm>
            <a:off x="6245352" y="1188720"/>
            <a:ext cx="5532120" cy="205740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6336792" y="1234440"/>
            <a:ext cx="534924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Going out</a:t>
            </a:r>
          </a:p>
        </p:txBody>
      </p:sp>
      <p:sp>
        <p:nvSpPr>
          <p:cNvPr id="15" name="TextBox 14"/>
          <p:cNvSpPr txBox="1"/>
          <p:nvPr/>
        </p:nvSpPr>
        <p:spPr>
          <a:xfrm>
            <a:off x="6336792" y="1554480"/>
            <a:ext cx="5349240" cy="16459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300" b="0" i="0">
                <a:solidFill>
                  <a:srgbClr val="1C2433"/>
                </a:solidFill>
                <a:latin typeface="Calibri"/>
              </a:rPr>
              <a:t>every export and download offers JSONL </a:t>
            </a:r>
            <a:r>
              <a:rPr sz="1300" b="1" i="0">
                <a:solidFill>
                  <a:srgbClr val="1C2433"/>
                </a:solidFill>
                <a:latin typeface="Calibri"/>
              </a:rPr>
              <a:t>beside</a:t>
            </a:r>
            <a:r>
              <a:rPr sz="1300" b="0" i="0">
                <a:solidFill>
                  <a:srgbClr val="1C2433"/>
                </a:solidFill>
                <a:latin typeface="Calibri"/>
              </a:rPr>
              <a:t> CSV, Excel, PDF, PNG</a:t>
            </a:r>
          </a:p>
          <a:p>
            <a:pPr algn="l" marL="201168" indent="-201168">
              <a:spcAft>
                <a:spcPts val="200"/>
              </a:spcAft>
              <a:buClr>
                <a:srgbClr val="E87A1E"/>
              </a:buClr>
              <a:buSzPct val="100000"/>
              <a:buFont typeface="Arial"/>
              <a:buChar char="•"/>
            </a:pPr>
            <a:r>
              <a:rPr sz="1300" b="0" i="0">
                <a:solidFill>
                  <a:srgbClr val="1C2433"/>
                </a:solidFill>
                <a:latin typeface="Calibri"/>
              </a:rPr>
              <a:t>server: </a:t>
            </a:r>
            <a:r>
              <a:rPr sz="1200" b="0" i="0">
                <a:solidFill>
                  <a:srgbClr val="0E7C86"/>
                </a:solidFill>
                <a:latin typeface="Consolas"/>
              </a:rPr>
              <a:t>search/jsonl</a:t>
            </a:r>
            <a:r>
              <a:rPr sz="1300" b="0" i="0">
                <a:solidFill>
                  <a:srgbClr val="1C2433"/>
                </a:solidFill>
                <a:latin typeface="Calibri"/>
              </a:rPr>
              <a:t>, SQL </a:t>
            </a:r>
            <a:r>
              <a:rPr sz="1200" b="0" i="0">
                <a:solidFill>
                  <a:srgbClr val="0E7C86"/>
                </a:solidFill>
                <a:latin typeface="Consolas"/>
              </a:rPr>
              <a:t>format=jsonl</a:t>
            </a:r>
            <a:r>
              <a:rPr sz="1300" b="0" i="0">
                <a:solidFill>
                  <a:srgbClr val="1C2433"/>
                </a:solidFill>
                <a:latin typeface="Calibri"/>
              </a:rPr>
              <a:t>, BI runs, statements, VaR and exposure captures</a:t>
            </a:r>
          </a:p>
          <a:p>
            <a:pPr algn="l" marL="201168" indent="-201168">
              <a:spcAft>
                <a:spcPts val="200"/>
              </a:spcAft>
              <a:buClr>
                <a:srgbClr val="E87A1E"/>
              </a:buClr>
              <a:buSzPct val="100000"/>
              <a:buFont typeface="Arial"/>
              <a:buChar char="•"/>
            </a:pPr>
            <a:r>
              <a:rPr sz="1300" b="0" i="0">
                <a:solidFill>
                  <a:srgbClr val="1C2433"/>
                </a:solidFill>
                <a:latin typeface="Calibri"/>
              </a:rPr>
              <a:t>console: one ↓ per panel, CSV or JSON Lines; CLI </a:t>
            </a:r>
            <a:r>
              <a:rPr sz="1200" b="0" i="0">
                <a:solidFill>
                  <a:srgbClr val="0E7C86"/>
                </a:solidFill>
                <a:latin typeface="Consolas"/>
              </a:rPr>
              <a:t>--jsonl</a:t>
            </a:r>
          </a:p>
        </p:txBody>
      </p:sp>
      <p:sp>
        <p:nvSpPr>
          <p:cNvPr id="16" name="Code block"/>
          <p:cNvSpPr/>
          <p:nvPr/>
        </p:nvSpPr>
        <p:spPr>
          <a:xfrm>
            <a:off x="411480" y="3474720"/>
            <a:ext cx="11365992" cy="91440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Code"/>
          <p:cNvSpPr txBox="1"/>
          <p:nvPr/>
        </p:nvSpPr>
        <p:spPr>
          <a:xfrm>
            <a:off x="521208" y="3538727"/>
            <a:ext cx="11146536" cy="78638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drishti.py convert trades.csv                                    </a:t>
            </a:r>
            <a:r>
              <a:rPr sz="1100" b="0" i="0">
                <a:solidFill>
                  <a:srgbClr val="8B9BB4"/>
                </a:solidFill>
                <a:latin typeface="Consolas"/>
              </a:rPr>
              <a:t>  # trades.jsonl, a line per row</a:t>
            </a:r>
          </a:p>
          <a:p>
            <a:pPr>
              <a:spcAft>
                <a:spcPts val="0"/>
              </a:spcAft>
              <a:buNone/>
            </a:pPr>
            <a:r>
              <a:rPr sz="1100" b="0" i="0">
                <a:solidFill>
                  <a:srgbClr val="E6EDF3"/>
                </a:solidFill>
                <a:latin typeface="Consolas"/>
              </a:rPr>
              <a:t>drishti.py convert data/feeds/fixing/SOFR-HISTORY.csv --rows-document --out data/feeds/fixing.jsonl</a:t>
            </a:r>
          </a:p>
          <a:p>
            <a:pPr>
              <a:spcAft>
                <a:spcPts val="0"/>
              </a:spcAft>
              <a:buNone/>
            </a:pPr>
            <a:r>
              <a:rPr sz="1100" b="0" i="0">
                <a:solidFill>
                  <a:srgbClr val="E6EDF3"/>
                </a:solidFill>
                <a:latin typeface="Consolas"/>
              </a:rPr>
              <a:t>drishti.py convert data/feeds/settlement                         </a:t>
            </a:r>
            <a:r>
              <a:rPr sz="1100" b="0" i="0">
                <a:solidFill>
                  <a:srgbClr val="8B9BB4"/>
                </a:solidFill>
                <a:latin typeface="Consolas"/>
              </a:rPr>
              <a:t>  # settlement.jsonl, the file name as "id"</a:t>
            </a:r>
          </a:p>
        </p:txBody>
      </p:sp>
      <p:sp>
        <p:nvSpPr>
          <p:cNvPr id="18" name="Callout"/>
          <p:cNvSpPr/>
          <p:nvPr/>
        </p:nvSpPr>
        <p:spPr>
          <a:xfrm>
            <a:off x="411480" y="4617720"/>
            <a:ext cx="11365992" cy="123444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Callout edge"/>
          <p:cNvSpPr/>
          <p:nvPr/>
        </p:nvSpPr>
        <p:spPr>
          <a:xfrm>
            <a:off x="411480" y="4636007"/>
            <a:ext cx="82296" cy="1197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640080" y="4690872"/>
            <a:ext cx="11000232" cy="1088136"/>
          </a:xfrm>
          <a:prstGeom prst="rect">
            <a:avLst/>
          </a:prstGeom>
          <a:noFill/>
        </p:spPr>
        <p:txBody>
          <a:bodyPr wrap="square" lIns="0" rIns="0" tIns="0" bIns="0" anchor="ctr">
            <a:spAutoFit/>
          </a:bodyPr>
          <a:lstStyle/>
          <a:p>
            <a:pPr algn="l">
              <a:spcAft>
                <a:spcPts val="600"/>
              </a:spcAft>
              <a:buNone/>
            </a:pPr>
            <a:r>
              <a:rPr sz="1300" b="1" i="0">
                <a:solidFill>
                  <a:srgbClr val="1C2433"/>
                </a:solidFill>
                <a:latin typeface="Calibri"/>
              </a:rPr>
              <a:t>Not data, so not JSONL:</a:t>
            </a:r>
            <a:r>
              <a:rPr sz="1300" b="0" i="0">
                <a:solidFill>
                  <a:srgbClr val="1C2433"/>
                </a:solidFill>
                <a:latin typeface="Calibri"/>
              </a:rPr>
              <a:t> Delta and Iceberg Parquet, the BI store, the VaR and exposure hot files, Arrow between the server and Python, manifests. </a:t>
            </a:r>
            <a:r>
              <a:rPr sz="1300" b="1" i="0">
                <a:solidFill>
                  <a:srgbClr val="1C2433"/>
                </a:solidFill>
                <a:latin typeface="Calibri"/>
              </a:rPr>
              <a:t>The guard:</a:t>
            </a:r>
            <a:r>
              <a:rPr sz="1300" b="0" i="0">
                <a:solidFill>
                  <a:srgbClr val="1C2433"/>
                </a:solidFill>
                <a:latin typeface="Calibri"/>
              </a:rPr>
              <a:t> two drill tests check that every generator writes JSON Lines and every export entry point offers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Prefixes and tables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2 · how it works</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12</a:t>
            </a:r>
          </a:p>
        </p:txBody>
      </p:sp>
      <p:graphicFrame>
        <p:nvGraphicFramePr>
          <p:cNvPr id="10" name="Table"/>
          <p:cNvGraphicFramePr>
            <a:graphicFrameLocks noGrp="1"/>
          </p:cNvGraphicFramePr>
          <p:nvPr/>
        </p:nvGraphicFramePr>
        <p:xfrm>
          <a:off x="411480" y="1188720"/>
          <a:ext cx="5120639" cy="4343400"/>
        </p:xfrm>
        <a:graphic>
          <a:graphicData uri="http://schemas.openxmlformats.org/drawingml/2006/table">
            <a:tbl>
              <a:tblPr firstRow="0" bandRow="0">
                <a:tableStyleId>{5940675A-B579-460E-94D1-54222C63F5DA}</a:tableStyleId>
              </a:tblPr>
              <a:tblGrid>
                <a:gridCol w="2926079"/>
                <a:gridCol w="2194560"/>
              </a:tblGrid>
              <a:tr h="868680">
                <a:tc>
                  <a:txBody>
                    <a:bodyPr wrap="square"/>
                    <a:lstStyle/>
                    <a:p>
                      <a:r>
                        <a:rPr sz="1100" b="1" i="0">
                          <a:solidFill>
                            <a:srgbClr val="FFFFFF"/>
                          </a:solidFill>
                          <a:latin typeface="Calibri"/>
                        </a:rPr>
                        <a:t>Choice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Why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868680">
                <a:tc>
                  <a:txBody>
                    <a:bodyPr wrap="square"/>
                    <a:lstStyle/>
                    <a:p>
                      <a:r>
                        <a:rPr sz="1100" b="1" i="0">
                          <a:solidFill>
                            <a:srgbClr val="1C2433"/>
                          </a:solidFill>
                          <a:latin typeface="Calibri"/>
                        </a:rPr>
                        <a:t>One table per source system and kind (</a:t>
                      </a:r>
                      <a:r>
                        <a:rPr sz="1100" b="1" i="0">
                          <a:solidFill>
                            <a:srgbClr val="0E7C86"/>
                          </a:solidFill>
                          <a:latin typeface="Consolas"/>
                        </a:rPr>
                        <a:t>trade_endur</a:t>
                      </a:r>
                      <a:r>
                        <a:rPr sz="1100" b="1" i="0">
                          <a:solidFill>
                            <a:srgbClr val="1C2433"/>
                          </a:solidFill>
                          <a:latin typeface="Calibri"/>
                        </a:rPr>
                        <a:t>, </a:t>
                      </a:r>
                      <a:r>
                        <a:rPr sz="1100" b="1" i="0">
                          <a:solidFill>
                            <a:srgbClr val="0E7C86"/>
                          </a:solidFill>
                          <a:latin typeface="Consolas"/>
                        </a:rPr>
                        <a:t>_calypso</a:t>
                      </a:r>
                      <a:r>
                        <a:rPr sz="1100" b="1" i="0">
                          <a:solidFill>
                            <a:srgbClr val="1C2433"/>
                          </a:solidFill>
                          <a:latin typeface="Calibri"/>
                        </a:rPr>
                        <a:t>, </a:t>
                      </a:r>
                      <a:r>
                        <a:rPr sz="1100" b="1" i="0">
                          <a:solidFill>
                            <a:srgbClr val="0E7C86"/>
                          </a:solidFill>
                          <a:latin typeface="Consolas"/>
                        </a:rPr>
                        <a:t>_murex</a:t>
                      </a:r>
                      <a:r>
                        <a:rPr sz="1100" b="1" i="0">
                          <a:solidFill>
                            <a:srgbClr val="1C2433"/>
                          </a:solidFill>
                          <a:latin typeface="Calibri"/>
                        </a:rPr>
                        <a:t>, read as a union)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each source loads, restates and fails on its own; each log a third the size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868680">
                <a:tc>
                  <a:txBody>
                    <a:bodyPr wrap="square"/>
                    <a:lstStyle/>
                    <a:p>
                      <a:r>
                        <a:rPr sz="1100" b="1" i="0">
                          <a:solidFill>
                            <a:srgbClr val="1C2433"/>
                          </a:solidFill>
                          <a:latin typeface="Calibri"/>
                        </a:rPr>
                        <a:t>Domain as the first folder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matches the connector's domain; IAM and lifecycle rules can name a domain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868680">
                <a:tc>
                  <a:txBody>
                    <a:bodyPr wrap="square"/>
                    <a:lstStyle/>
                    <a:p>
                      <a:r>
                        <a:rPr sz="1100" b="1" i="0">
                          <a:solidFill>
                            <a:srgbClr val="0E7C86"/>
                          </a:solidFill>
                          <a:latin typeface="Consolas"/>
                        </a:rPr>
                        <a:t>risk/</a:t>
                      </a:r>
                      <a:r>
                        <a:rPr sz="1100" b="1" i="0">
                          <a:solidFill>
                            <a:srgbClr val="1C2433"/>
                          </a:solidFill>
                          <a:latin typeface="Calibri"/>
                        </a:rPr>
                        <a:t> one table per input kind; </a:t>
                      </a:r>
                      <a:r>
                        <a:rPr sz="1100" b="1" i="0">
                          <a:solidFill>
                            <a:srgbClr val="0E7C86"/>
                          </a:solidFill>
                          <a:latin typeface="Consolas"/>
                        </a:rPr>
                        <a:t>risk-results/</a:t>
                      </a:r>
                      <a:r>
                        <a:rPr sz="1100" b="1" i="0">
                          <a:solidFill>
                            <a:srgbClr val="1C2433"/>
                          </a:solidFill>
                          <a:latin typeface="Calibri"/>
                        </a:rPr>
                        <a:t> written only by the publishers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engines read </a:t>
                      </a:r>
                      <a:r>
                        <a:rPr sz="1100" b="0" i="0">
                          <a:solidFill>
                            <a:srgbClr val="0E7C86"/>
                          </a:solidFill>
                          <a:latin typeface="Consolas"/>
                        </a:rPr>
                        <a:t>risk/</a:t>
                      </a:r>
                      <a:r>
                        <a:rPr sz="1100" b="0" i="0">
                          <a:solidFill>
                            <a:srgbClr val="1C2433"/>
                          </a:solidFill>
                          <a:latin typeface="Calibri"/>
                        </a:rPr>
                        <a:t>; no engine reads </a:t>
                      </a:r>
                      <a:r>
                        <a:rPr sz="1100" b="0" i="0">
                          <a:solidFill>
                            <a:srgbClr val="0E7C86"/>
                          </a:solidFill>
                          <a:latin typeface="Consolas"/>
                        </a:rPr>
                        <a:t>risk-results/</a:t>
                      </a:r>
                      <a:r>
                        <a:rPr sz="1100" b="0" i="0">
                          <a:solidFill>
                            <a:srgbClr val="1C2433"/>
                          </a:solidFill>
                          <a:latin typeface="Calibri"/>
                        </a:rPr>
                        <a:t> (a guard test)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868680">
                <a:tc>
                  <a:txBody>
                    <a:bodyPr wrap="square"/>
                    <a:lstStyle/>
                    <a:p>
                      <a:r>
                        <a:rPr sz="1100" b="1" i="0">
                          <a:solidFill>
                            <a:srgbClr val="1C2433"/>
                          </a:solidFill>
                          <a:latin typeface="Calibri"/>
                        </a:rPr>
                        <a:t>Tables by year (</a:t>
                      </a:r>
                      <a:r>
                        <a:rPr sz="1100" b="1" i="0">
                          <a:solidFill>
                            <a:srgbClr val="0E7C86"/>
                          </a:solidFill>
                          <a:latin typeface="Consolas"/>
                        </a:rPr>
                        <a:t>trade_endur/2026/</a:t>
                      </a:r>
                      <a:r>
                        <a:rPr sz="1100" b="1"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DESIGNED (S2): until then one table holds every year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1" name="Code block"/>
          <p:cNvSpPr/>
          <p:nvPr/>
        </p:nvSpPr>
        <p:spPr>
          <a:xfrm>
            <a:off x="5760720" y="1188720"/>
            <a:ext cx="6016752" cy="365760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
          <p:cNvSpPr txBox="1"/>
          <p:nvPr/>
        </p:nvSpPr>
        <p:spPr>
          <a:xfrm>
            <a:off x="5870448" y="1252728"/>
            <a:ext cx="5797296" cy="3529584"/>
          </a:xfrm>
          <a:prstGeom prst="rect">
            <a:avLst/>
          </a:prstGeom>
          <a:noFill/>
        </p:spPr>
        <p:txBody>
          <a:bodyPr wrap="square" lIns="0" rIns="0" tIns="0" bIns="0" anchor="ctr">
            <a:spAutoFit/>
          </a:bodyPr>
          <a:lstStyle/>
          <a:p>
            <a:pPr>
              <a:spcAft>
                <a:spcPts val="0"/>
              </a:spcAft>
              <a:buNone/>
            </a:pPr>
            <a:r>
              <a:rPr sz="1200" b="0" i="0">
                <a:solidFill>
                  <a:srgbClr val="E6EDF3"/>
                </a:solidFill>
                <a:latin typeface="Consolas"/>
              </a:rPr>
              <a:t>s3://acme-drishti-prod-lake/</a:t>
            </a:r>
          </a:p>
          <a:p>
            <a:pPr>
              <a:spcAft>
                <a:spcPts val="0"/>
              </a:spcAft>
              <a:buNone/>
            </a:pPr>
            <a:r>
              <a:rPr sz="1200" b="0" i="0">
                <a:solidFill>
                  <a:srgbClr val="E6EDF3"/>
                </a:solidFill>
                <a:latin typeface="Consolas"/>
              </a:rPr>
              <a:t>└── lake/                  DRISHTI_DELTA_ROOT</a:t>
            </a:r>
          </a:p>
          <a:p>
            <a:pPr>
              <a:spcAft>
                <a:spcPts val="0"/>
              </a:spcAft>
              <a:buNone/>
            </a:pPr>
            <a:r>
              <a:rPr sz="1200" b="0" i="0">
                <a:solidFill>
                  <a:srgbClr val="E6EDF3"/>
                </a:solidFill>
                <a:latin typeface="Consolas"/>
              </a:rPr>
              <a:t>    ├── trading/</a:t>
            </a:r>
          </a:p>
          <a:p>
            <a:pPr>
              <a:spcAft>
                <a:spcPts val="0"/>
              </a:spcAft>
              <a:buNone/>
            </a:pPr>
            <a:r>
              <a:rPr sz="1200" b="0" i="0">
                <a:solidFill>
                  <a:srgbClr val="E6EDF3"/>
                </a:solidFill>
                <a:latin typeface="Consolas"/>
              </a:rPr>
              <a:t>    │   ├── trade_endur/   _delta_log/</a:t>
            </a:r>
          </a:p>
          <a:p>
            <a:pPr>
              <a:spcAft>
                <a:spcPts val="0"/>
              </a:spcAft>
              <a:buNone/>
            </a:pPr>
            <a:r>
              <a:rPr sz="1200" b="0" i="0">
                <a:solidFill>
                  <a:srgbClr val="E6EDF3"/>
                </a:solidFill>
                <a:latin typeface="Consolas"/>
              </a:rPr>
              <a:t>    │   │   └── business_date=2026-10-20/</a:t>
            </a:r>
          </a:p>
          <a:p>
            <a:pPr>
              <a:spcAft>
                <a:spcPts val="0"/>
              </a:spcAft>
              <a:buNone/>
            </a:pPr>
            <a:r>
              <a:rPr sz="1200" b="0" i="0">
                <a:solidFill>
                  <a:srgbClr val="E6EDF3"/>
                </a:solidFill>
                <a:latin typeface="Consolas"/>
              </a:rPr>
              <a:t>    │   │       └── PRODUCT_TYPE=IRS_FIXFLOAT/part-….parquet</a:t>
            </a:r>
          </a:p>
          <a:p>
            <a:pPr>
              <a:spcAft>
                <a:spcPts val="0"/>
              </a:spcAft>
              <a:buNone/>
            </a:pPr>
            <a:r>
              <a:rPr sz="1200" b="0" i="0">
                <a:solidFill>
                  <a:srgbClr val="E6EDF3"/>
                </a:solidFill>
                <a:latin typeface="Consolas"/>
              </a:rPr>
              <a:t>    │   ├── trade_calypso/ …</a:t>
            </a:r>
          </a:p>
          <a:p>
            <a:pPr>
              <a:spcAft>
                <a:spcPts val="0"/>
              </a:spcAft>
              <a:buNone/>
            </a:pPr>
            <a:r>
              <a:rPr sz="1200" b="0" i="0">
                <a:solidFill>
                  <a:srgbClr val="E6EDF3"/>
                </a:solidFill>
                <a:latin typeface="Consolas"/>
              </a:rPr>
              <a:t>    │   └── trade_murex/ …</a:t>
            </a:r>
          </a:p>
          <a:p>
            <a:pPr>
              <a:spcAft>
                <a:spcPts val="0"/>
              </a:spcAft>
              <a:buNone/>
            </a:pPr>
            <a:r>
              <a:rPr sz="1200" b="0" i="0">
                <a:solidFill>
                  <a:srgbClr val="E6EDF3"/>
                </a:solidFill>
                <a:latin typeface="Consolas"/>
              </a:rPr>
              <a:t>    ├── reference/ counterparty/ market/ …</a:t>
            </a:r>
          </a:p>
          <a:p>
            <a:pPr>
              <a:spcAft>
                <a:spcPts val="0"/>
              </a:spcAft>
              <a:buNone/>
            </a:pPr>
            <a:r>
              <a:rPr sz="1200" b="0" i="0">
                <a:solidFill>
                  <a:srgbClr val="E6EDF3"/>
                </a:solidFill>
                <a:latin typeface="Consolas"/>
              </a:rPr>
              <a:t>    ├── risk/              the engines' inputs</a:t>
            </a:r>
          </a:p>
          <a:p>
            <a:pPr>
              <a:spcAft>
                <a:spcPts val="0"/>
              </a:spcAft>
              <a:buNone/>
            </a:pPr>
            <a:r>
              <a:rPr sz="1200" b="0" i="0">
                <a:solidFill>
                  <a:srgbClr val="E6EDF3"/>
                </a:solidFill>
                <a:latin typeface="Consolas"/>
              </a:rPr>
              <a:t>    │   ├── pnl-vector/  scenario-pv/  fx-scenario/</a:t>
            </a:r>
          </a:p>
          <a:p>
            <a:pPr>
              <a:spcAft>
                <a:spcPts val="0"/>
              </a:spcAft>
              <a:buNone/>
            </a:pPr>
            <a:r>
              <a:rPr sz="1200" b="0" i="0">
                <a:solidFill>
                  <a:srgbClr val="E6EDF3"/>
                </a:solidFill>
                <a:latin typeface="Consolas"/>
              </a:rPr>
              <a:t>    │   ├── scenario-set/  risk-hierarchy/  var-limit/</a:t>
            </a:r>
          </a:p>
          <a:p>
            <a:pPr>
              <a:spcAft>
                <a:spcPts val="0"/>
              </a:spcAft>
              <a:buNone/>
            </a:pPr>
            <a:r>
              <a:rPr sz="1200" b="0" i="0">
                <a:solidFill>
                  <a:srgbClr val="E6EDF3"/>
                </a:solidFill>
                <a:latin typeface="Consolas"/>
              </a:rPr>
              <a:t>    │   └── portfolio/  simulation-run/  exposure-path/</a:t>
            </a:r>
          </a:p>
          <a:p>
            <a:pPr>
              <a:spcAft>
                <a:spcPts val="0"/>
              </a:spcAft>
              <a:buNone/>
            </a:pPr>
            <a:r>
              <a:rPr sz="1200" b="0" i="0">
                <a:solidFill>
                  <a:srgbClr val="E6EDF3"/>
                </a:solidFill>
                <a:latin typeface="Consolas"/>
              </a:rPr>
              <a:t>    ├── risk-results/      append-only, never read back</a:t>
            </a:r>
          </a:p>
          <a:p>
            <a:pPr>
              <a:spcAft>
                <a:spcPts val="0"/>
              </a:spcAft>
              <a:buNone/>
            </a:pPr>
            <a:r>
              <a:rPr sz="1200" b="0" i="0">
                <a:solidFill>
                  <a:srgbClr val="E6EDF3"/>
                </a:solidFill>
                <a:latin typeface="Consolas"/>
              </a:rPr>
              <a:t>    │   ├── var-official/  exposure-official/ …</a:t>
            </a:r>
          </a:p>
          <a:p>
            <a:pPr>
              <a:spcAft>
                <a:spcPts val="0"/>
              </a:spcAft>
              <a:buNone/>
            </a:pPr>
            <a:r>
              <a:rPr sz="1200" b="0" i="0">
                <a:solidFill>
                  <a:srgbClr val="E6EDF3"/>
                </a:solidFill>
                <a:latin typeface="Consolas"/>
              </a:rPr>
              <a:t>    │   └── jsonl/&lt;table&gt;/&lt;date&gt;/</a:t>
            </a:r>
          </a:p>
          <a:p>
            <a:pPr>
              <a:spcAft>
                <a:spcPts val="0"/>
              </a:spcAft>
              <a:buNone/>
            </a:pPr>
            <a:r>
              <a:rPr sz="1200" b="0" i="0">
                <a:solidFill>
                  <a:srgbClr val="E6EDF3"/>
                </a:solidFill>
                <a:latin typeface="Consolas"/>
              </a:rPr>
              <a:t>    └── us-equities/ gleif/ funds/   public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An Iceberg table in S3: metadata/ beside data/</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2 · how it works</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13</a:t>
            </a:r>
          </a:p>
        </p:txBody>
      </p:sp>
      <p:sp>
        <p:nvSpPr>
          <p:cNvPr id="10" name="Rounded Rectangle 9"/>
          <p:cNvSpPr/>
          <p:nvPr/>
        </p:nvSpPr>
        <p:spPr>
          <a:xfrm>
            <a:off x="411480" y="1143000"/>
            <a:ext cx="7040880" cy="5166360"/>
          </a:xfrm>
          <a:prstGeom prst="roundRect">
            <a:avLst>
              <a:gd name="adj" fmla="val 3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21208" y="1216152"/>
            <a:ext cx="6821424" cy="5020056"/>
          </a:xfrm>
          <a:prstGeom prst="rect">
            <a:avLst/>
          </a:prstGeom>
          <a:noFill/>
        </p:spPr>
        <p:txBody>
          <a:bodyPr wrap="square" lIns="45720" rIns="45720" tIns="27432" bIns="27432" anchor="t">
            <a:spAutoFit/>
          </a:bodyPr>
          <a:lstStyle/>
          <a:p>
            <a:pPr algn="l">
              <a:lnSpc>
                <a:spcPct val="100000"/>
              </a:lnSpc>
            </a:pPr>
            <a:r>
              <a:rPr sz="1250" b="0" i="0">
                <a:solidFill>
                  <a:srgbClr val="E6EDF3"/>
                </a:solidFill>
                <a:latin typeface="Consolas"/>
              </a:rPr>
              <a:t>s3://acme-drishti-prod-lake/</a:t>
            </a:r>
          </a:p>
          <a:p>
            <a:pPr algn="l">
              <a:lnSpc>
                <a:spcPct val="100000"/>
              </a:lnSpc>
            </a:pPr>
            <a:r>
              <a:rPr sz="1250" b="0" i="0">
                <a:solidFill>
                  <a:srgbClr val="E6EDF3"/>
                </a:solidFill>
                <a:latin typeface="Consolas"/>
              </a:rPr>
              <a:t>├── lake/                     Delta tables (DRISHTI_DELTA_ROOT)</a:t>
            </a:r>
          </a:p>
          <a:p>
            <a:pPr algn="l">
              <a:lnSpc>
                <a:spcPct val="100000"/>
              </a:lnSpc>
            </a:pPr>
            <a:r>
              <a:rPr sz="1250" b="0" i="0">
                <a:solidFill>
                  <a:srgbClr val="E6EDF3"/>
                </a:solidFill>
                <a:latin typeface="Consolas"/>
              </a:rPr>
              <a:t>└── iceberg/                  DRISHTI_ICEBERG_ROOT = s3://…/iceberg</a:t>
            </a:r>
          </a:p>
          <a:p>
            <a:pPr algn="l">
              <a:lnSpc>
                <a:spcPct val="100000"/>
              </a:lnSpc>
            </a:pPr>
            <a:r>
              <a:rPr sz="1250" b="0" i="0">
                <a:solidFill>
                  <a:srgbClr val="E6EDF3"/>
                </a:solidFill>
                <a:latin typeface="Consolas"/>
              </a:rPr>
              <a:t>    └── trading/              the domain (a REST catalog's namespace)</a:t>
            </a:r>
          </a:p>
          <a:p>
            <a:pPr algn="l">
              <a:lnSpc>
                <a:spcPct val="100000"/>
              </a:lnSpc>
            </a:pPr>
            <a:r>
              <a:rPr sz="1250" b="0" i="0">
                <a:solidFill>
                  <a:srgbClr val="E6EDF3"/>
                </a:solidFill>
                <a:latin typeface="Consolas"/>
              </a:rPr>
              <a:t>        ├── trade_calypso/    one table per source system and kind</a:t>
            </a:r>
          </a:p>
          <a:p>
            <a:pPr algn="l">
              <a:lnSpc>
                <a:spcPct val="100000"/>
              </a:lnSpc>
            </a:pPr>
            <a:r>
              <a:rPr sz="1250" b="0" i="0">
                <a:solidFill>
                  <a:srgbClr val="E6EDF3"/>
                </a:solidFill>
                <a:latin typeface="Consolas"/>
              </a:rPr>
              <a:t>        │   ├── metadata/</a:t>
            </a:r>
          </a:p>
          <a:p>
            <a:pPr algn="l">
              <a:lnSpc>
                <a:spcPct val="100000"/>
              </a:lnSpc>
            </a:pPr>
            <a:r>
              <a:rPr sz="1250" b="0" i="0">
                <a:solidFill>
                  <a:srgbClr val="E6EDF3"/>
                </a:solidFill>
                <a:latin typeface="Consolas"/>
              </a:rPr>
              <a:t>        │   │   ├── v12.metadata.json   schema, spec, sort order,</a:t>
            </a:r>
          </a:p>
          <a:p>
            <a:pPr algn="l">
              <a:lnSpc>
                <a:spcPct val="100000"/>
              </a:lnSpc>
            </a:pPr>
            <a:r>
              <a:rPr sz="1250" b="0" i="0">
                <a:solidFill>
                  <a:srgbClr val="E6EDF3"/>
                </a:solidFill>
                <a:latin typeface="Consolas"/>
              </a:rPr>
              <a:t>        │   │   │                       properties, snapshots</a:t>
            </a:r>
          </a:p>
          <a:p>
            <a:pPr algn="l">
              <a:lnSpc>
                <a:spcPct val="100000"/>
              </a:lnSpc>
            </a:pPr>
            <a:r>
              <a:rPr sz="1250" b="0" i="0">
                <a:solidFill>
                  <a:srgbClr val="E6EDF3"/>
                </a:solidFill>
                <a:latin typeface="Consolas"/>
              </a:rPr>
              <a:t>        │   │   ├── version-hint.text   path-based tables only</a:t>
            </a:r>
          </a:p>
          <a:p>
            <a:pPr algn="l">
              <a:lnSpc>
                <a:spcPct val="100000"/>
              </a:lnSpc>
            </a:pPr>
            <a:r>
              <a:rPr sz="1250" b="0" i="0">
                <a:solidFill>
                  <a:srgbClr val="E6EDF3"/>
                </a:solidFill>
                <a:latin typeface="Consolas"/>
              </a:rPr>
              <a:t>        │   │   ├── snap-…-….avro       a manifest list per snapshot</a:t>
            </a:r>
          </a:p>
          <a:p>
            <a:pPr algn="l">
              <a:lnSpc>
                <a:spcPct val="100000"/>
              </a:lnSpc>
            </a:pPr>
            <a:r>
              <a:rPr sz="1250" b="0" i="0">
                <a:solidFill>
                  <a:srgbClr val="E6EDF3"/>
                </a:solidFill>
                <a:latin typeface="Consolas"/>
              </a:rPr>
              <a:t>        │   │   └── …-m0.avro           manifests: files, partitions,</a:t>
            </a:r>
          </a:p>
          <a:p>
            <a:pPr algn="l">
              <a:lnSpc>
                <a:spcPct val="100000"/>
              </a:lnSpc>
            </a:pPr>
            <a:r>
              <a:rPr sz="1250" b="0" i="0">
                <a:solidFill>
                  <a:srgbClr val="E6EDF3"/>
                </a:solidFill>
                <a:latin typeface="Consolas"/>
              </a:rPr>
              <a:t>        │   │                           column bounds</a:t>
            </a:r>
          </a:p>
          <a:p>
            <a:pPr algn="l">
              <a:lnSpc>
                <a:spcPct val="100000"/>
              </a:lnSpc>
            </a:pPr>
            <a:r>
              <a:rPr sz="1250" b="0" i="0">
                <a:solidFill>
                  <a:srgbClr val="E6EDF3"/>
                </a:solidFill>
                <a:latin typeface="Consolas"/>
              </a:rPr>
              <a:t>        │   └── data/</a:t>
            </a:r>
          </a:p>
          <a:p>
            <a:pPr algn="l">
              <a:lnSpc>
                <a:spcPct val="100000"/>
              </a:lnSpc>
            </a:pPr>
            <a:r>
              <a:rPr sz="1250" b="0" i="0">
                <a:solidFill>
                  <a:srgbClr val="E6EDF3"/>
                </a:solidFill>
                <a:latin typeface="Consolas"/>
              </a:rPr>
              <a:t>        │       ├── business_date=2026-10-19/</a:t>
            </a:r>
          </a:p>
          <a:p>
            <a:pPr algn="l">
              <a:lnSpc>
                <a:spcPct val="100000"/>
              </a:lnSpc>
            </a:pPr>
            <a:r>
              <a:rPr sz="1250" b="0" i="0">
                <a:solidFill>
                  <a:srgbClr val="E6EDF3"/>
                </a:solidFill>
                <a:latin typeface="Consolas"/>
              </a:rPr>
              <a:t>        │       └── business_date=2026-10-20/</a:t>
            </a:r>
          </a:p>
          <a:p>
            <a:pPr algn="l">
              <a:lnSpc>
                <a:spcPct val="100000"/>
              </a:lnSpc>
            </a:pPr>
            <a:r>
              <a:rPr sz="1250" b="0" i="0">
                <a:solidFill>
                  <a:srgbClr val="E6EDF3"/>
                </a:solidFill>
                <a:latin typeface="Consolas"/>
              </a:rPr>
              <a:t>        │           ├── 2026-10-20-00000-&lt;uuid&gt;.parquet  ids A… – C…</a:t>
            </a:r>
          </a:p>
          <a:p>
            <a:pPr algn="l">
              <a:lnSpc>
                <a:spcPct val="100000"/>
              </a:lnSpc>
            </a:pPr>
            <a:r>
              <a:rPr sz="1250" b="0" i="0">
                <a:solidFill>
                  <a:srgbClr val="E6EDF3"/>
                </a:solidFill>
                <a:latin typeface="Consolas"/>
              </a:rPr>
              <a:t>        │           └── 2026-10-20-00001-&lt;uuid&gt;.parquet  ids C… – Z…</a:t>
            </a:r>
          </a:p>
          <a:p>
            <a:pPr algn="l">
              <a:lnSpc>
                <a:spcPct val="100000"/>
              </a:lnSpc>
            </a:pPr>
            <a:r>
              <a:rPr sz="1250" b="0" i="0">
                <a:solidFill>
                  <a:srgbClr val="E6EDF3"/>
                </a:solidFill>
                <a:latin typeface="Consolas"/>
              </a:rPr>
              <a:t>        └── trade_murex/ …</a:t>
            </a:r>
          </a:p>
        </p:txBody>
      </p:sp>
      <p:graphicFrame>
        <p:nvGraphicFramePr>
          <p:cNvPr id="12" name="Table 11"/>
          <p:cNvGraphicFramePr>
            <a:graphicFrameLocks noGrp="1"/>
          </p:cNvGraphicFramePr>
          <p:nvPr/>
        </p:nvGraphicFramePr>
        <p:xfrm>
          <a:off x="7635240" y="1143000"/>
          <a:ext cx="4142232" cy="3441850"/>
        </p:xfrm>
        <a:graphic>
          <a:graphicData uri="http://schemas.openxmlformats.org/drawingml/2006/table">
            <a:tbl>
              <a:tblPr firstRow="1" bandRow="1">
                <a:tableStyleId>{5940675A-B579-460E-94D1-54222C63F5DA}</a:tableStyleId>
              </a:tblPr>
              <a:tblGrid>
                <a:gridCol w="1737360"/>
                <a:gridCol w="2404872"/>
              </a:tblGrid>
              <a:tr h="435254">
                <a:tc>
                  <a:txBody>
                    <a:bodyPr wrap="square"/>
                    <a:lstStyle/>
                    <a:p>
                      <a:pPr algn="l">
                        <a:lnSpc>
                          <a:spcPct val="100000"/>
                        </a:lnSpc>
                      </a:pPr>
                      <a:r>
                        <a:rPr sz="1150" b="1" i="0">
                          <a:solidFill>
                            <a:srgbClr val="FFFFFF"/>
                          </a:solidFill>
                          <a:latin typeface="Calibri"/>
                        </a:rPr>
                        <a:t>Choice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Why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876376">
                <a:tc>
                  <a:txBody>
                    <a:bodyPr wrap="square"/>
                    <a:lstStyle/>
                    <a:p>
                      <a:pPr algn="l">
                        <a:lnSpc>
                          <a:spcPct val="100000"/>
                        </a:lnSpc>
                      </a:pPr>
                      <a:r>
                        <a:rPr sz="1150" b="1" i="0">
                          <a:solidFill>
                            <a:srgbClr val="1C2433"/>
                          </a:solidFill>
                          <a:latin typeface="Calibri"/>
                        </a:rPr>
                        <a:t>One table per source system and kind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each source loads, restates and fails on its own (</a:t>
                      </a:r>
                      <a:r>
                        <a:rPr sz="1050" b="0" i="0">
                          <a:solidFill>
                            <a:srgbClr val="0E7C86"/>
                          </a:solidFill>
                          <a:latin typeface="Consolas"/>
                        </a:rPr>
                        <a:t>table.trade: trade_calypso</a:t>
                      </a:r>
                      <a:r>
                        <a:rPr sz="115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26922">
                <a:tc>
                  <a:txBody>
                    <a:bodyPr wrap="square"/>
                    <a:lstStyle/>
                    <a:p>
                      <a:pPr algn="l">
                        <a:lnSpc>
                          <a:spcPct val="100000"/>
                        </a:lnSpc>
                      </a:pPr>
                      <a:r>
                        <a:rPr sz="1150" b="1" i="0">
                          <a:solidFill>
                            <a:srgbClr val="1C2433"/>
                          </a:solidFill>
                          <a:latin typeface="Calibri"/>
                        </a:rPr>
                        <a:t>Domain as the first folder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the connector's </a:t>
                      </a:r>
                      <a:r>
                        <a:rPr sz="1050" b="0" i="0">
                          <a:solidFill>
                            <a:srgbClr val="0E7C86"/>
                          </a:solidFill>
                          <a:latin typeface="Consolas"/>
                        </a:rPr>
                        <a:t>domain</a:t>
                      </a:r>
                      <a:r>
                        <a:rPr sz="1150" b="0" i="0">
                          <a:solidFill>
                            <a:srgbClr val="1C2433"/>
                          </a:solidFill>
                          <a:latin typeface="Calibri"/>
                        </a:rPr>
                        <a:t>; IAM and lifecycle can name 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876376">
                <a:tc>
                  <a:txBody>
                    <a:bodyPr wrap="square"/>
                    <a:lstStyle/>
                    <a:p>
                      <a:pPr algn="l">
                        <a:lnSpc>
                          <a:spcPct val="100000"/>
                        </a:lnSpc>
                      </a:pPr>
                      <a:r>
                        <a:rPr sz="1050" b="1" i="0">
                          <a:solidFill>
                            <a:srgbClr val="0E7C86"/>
                          </a:solidFill>
                          <a:latin typeface="Consolas"/>
                        </a:rPr>
                        <a:t>metadata/</a:t>
                      </a:r>
                      <a:r>
                        <a:rPr sz="1150" b="1" i="0">
                          <a:solidFill>
                            <a:srgbClr val="1C2433"/>
                          </a:solidFill>
                          <a:latin typeface="Calibri"/>
                        </a:rPr>
                        <a:t> beside </a:t>
                      </a:r>
                      <a:r>
                        <a:rPr sz="1050" b="1" i="0">
                          <a:solidFill>
                            <a:srgbClr val="0E7C86"/>
                          </a:solidFill>
                          <a:latin typeface="Consolas"/>
                        </a:rPr>
                        <a:t>data/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the whole table under one prefix: copy, replicate, grant as a unit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26922">
                <a:tc>
                  <a:txBody>
                    <a:bodyPr wrap="square"/>
                    <a:lstStyle/>
                    <a:p>
                      <a:pPr algn="l">
                        <a:lnSpc>
                          <a:spcPct val="100000"/>
                        </a:lnSpc>
                      </a:pPr>
                      <a:r>
                        <a:rPr sz="1150" b="1" i="0">
                          <a:solidFill>
                            <a:srgbClr val="1C2433"/>
                          </a:solidFill>
                          <a:latin typeface="Calibri"/>
                        </a:rPr>
                        <a:t>Absolute paths in metadata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 moved table needs </a:t>
                      </a:r>
                      <a:r>
                        <a:rPr sz="1050" b="0" i="0">
                          <a:solidFill>
                            <a:srgbClr val="0E7C86"/>
                          </a:solidFill>
                          <a:latin typeface="Consolas"/>
                        </a:rPr>
                        <a:t>relocate</a:t>
                      </a:r>
                      <a:r>
                        <a:rPr sz="1150" b="0" i="0">
                          <a:solidFill>
                            <a:srgbClr val="1C2433"/>
                          </a:solidFill>
                          <a:latin typeface="Calibri"/>
                        </a:rPr>
                        <a:t> (native engine)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Partition keys and request-rate-friendly prefixes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2 · how it works</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14</a:t>
            </a:r>
          </a:p>
        </p:txBody>
      </p:sp>
      <p:graphicFrame>
        <p:nvGraphicFramePr>
          <p:cNvPr id="10" name="Table"/>
          <p:cNvGraphicFramePr>
            <a:graphicFrameLocks noGrp="1"/>
          </p:cNvGraphicFramePr>
          <p:nvPr/>
        </p:nvGraphicFramePr>
        <p:xfrm>
          <a:off x="411480" y="1143000"/>
          <a:ext cx="11365992" cy="3401568"/>
        </p:xfrm>
        <a:graphic>
          <a:graphicData uri="http://schemas.openxmlformats.org/drawingml/2006/table">
            <a:tbl>
              <a:tblPr firstRow="0" bandRow="0">
                <a:tableStyleId>{5940675A-B579-460E-94D1-54222C63F5DA}</a:tableStyleId>
              </a:tblPr>
              <a:tblGrid>
                <a:gridCol w="1920240"/>
                <a:gridCol w="2286000"/>
                <a:gridCol w="2377440"/>
                <a:gridCol w="4782312"/>
              </a:tblGrid>
              <a:tr h="566928">
                <a:tc>
                  <a:txBody>
                    <a:bodyPr wrap="square"/>
                    <a:lstStyle/>
                    <a:p>
                      <a:r>
                        <a:rPr sz="1150" b="1" i="0">
                          <a:solidFill>
                            <a:srgbClr val="FFFFFF"/>
                          </a:solidFill>
                          <a:latin typeface="Calibri"/>
                        </a:rPr>
                        <a:t>Key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50" b="1" i="0">
                          <a:solidFill>
                            <a:srgbClr val="FFFFFF"/>
                          </a:solidFill>
                          <a:latin typeface="Calibri"/>
                        </a:rPr>
                        <a:t>Delta on AWS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50" b="1" i="0">
                          <a:solidFill>
                            <a:srgbClr val="FFFFFF"/>
                          </a:solidFill>
                          <a:latin typeface="Calibri"/>
                        </a:rPr>
                        <a:t>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50" b="1" i="0">
                          <a:solidFill>
                            <a:srgbClr val="FFFFFF"/>
                          </a:solidFill>
                          <a:latin typeface="Calibri"/>
                        </a:rPr>
                        <a:t>Why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66928">
                <a:tc>
                  <a:txBody>
                    <a:bodyPr wrap="square"/>
                    <a:lstStyle/>
                    <a:p>
                      <a:r>
                        <a:rPr sz="1050" b="1" i="0">
                          <a:solidFill>
                            <a:srgbClr val="0E7C86"/>
                          </a:solidFill>
                          <a:latin typeface="Consolas"/>
                        </a:rPr>
                        <a:t>business_date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always the first key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the only partition (identity)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every interactive read names a date; a load and a restatement replace one day; retention removes whole days; tiers by the folder's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050" b="1" i="0">
                          <a:solidFill>
                            <a:srgbClr val="0E7C86"/>
                          </a:solidFill>
                          <a:latin typeface="Consolas"/>
                        </a:rPr>
                        <a:t>PRODUCT_TYPE</a:t>
                      </a:r>
                      <a:r>
                        <a:rPr sz="1150" b="1" i="0">
                          <a:solidFill>
                            <a:srgbClr val="1C2433"/>
                          </a:solidFill>
                          <a:latin typeface="Calibri"/>
                        </a:rPr>
                        <a:t> (trades)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second key (</a:t>
                      </a:r>
                      <a:r>
                        <a:rPr sz="1050" b="0" i="0">
                          <a:solidFill>
                            <a:srgbClr val="0E7C86"/>
                          </a:solidFill>
                          <a:latin typeface="Consolas"/>
                        </a:rPr>
                        <a:t>--partition-by</a:t>
                      </a:r>
                      <a:r>
                        <a:rPr sz="115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not a partition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spreads a Delta day over several prefixes, keeps each partition sortable in one batch, lets a source restate one product type; Iceberg sorts a whole day externally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150" b="1" i="0">
                          <a:solidFill>
                            <a:srgbClr val="1C2433"/>
                          </a:solidFill>
                          <a:latin typeface="Calibri"/>
                        </a:rPr>
                        <a:t>nothing finer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two keys for trades, one for the rest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050" b="0" i="0">
                          <a:solidFill>
                            <a:srgbClr val="0E7C86"/>
                          </a:solidFill>
                          <a:latin typeface="Consolas"/>
                        </a:rPr>
                        <a:t>business_date</a:t>
                      </a:r>
                      <a:r>
                        <a:rPr sz="1150" b="0" i="0">
                          <a:solidFill>
                            <a:srgbClr val="1C2433"/>
                          </a:solidFill>
                          <a:latin typeface="Calibri"/>
                        </a:rPr>
                        <a:t> only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each partition column multiplies the folders and small files of a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150" b="1" i="0">
                          <a:solidFill>
                            <a:srgbClr val="1C2433"/>
                          </a:solidFill>
                          <a:latin typeface="Calibri"/>
                        </a:rPr>
                        <a:t>risk tables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050" b="0" i="0">
                          <a:solidFill>
                            <a:srgbClr val="0E7C86"/>
                          </a:solidFill>
                          <a:latin typeface="Consolas"/>
                        </a:rPr>
                        <a:t>business_date</a:t>
                      </a:r>
                      <a:r>
                        <a:rPr sz="1150" b="0" i="0">
                          <a:solidFill>
                            <a:srgbClr val="1C2433"/>
                          </a:solidFill>
                          <a:latin typeface="Calibri"/>
                        </a:rPr>
                        <a:t> only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050" b="0" i="0">
                          <a:solidFill>
                            <a:srgbClr val="0E7C86"/>
                          </a:solidFill>
                          <a:latin typeface="Consolas"/>
                        </a:rPr>
                        <a:t>business_date</a:t>
                      </a:r>
                      <a:r>
                        <a:rPr sz="1150" b="0" i="0">
                          <a:solidFill>
                            <a:srgbClr val="1C2433"/>
                          </a:solidFill>
                          <a:latin typeface="Calibri"/>
                        </a:rPr>
                        <a:t> only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the engine reads a whole date's vectors in one streamed pass; it sorts into hierarchy order in memory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150" b="1" i="0">
                          <a:solidFill>
                            <a:srgbClr val="1C2433"/>
                          </a:solidFill>
                          <a:latin typeface="Calibri"/>
                        </a:rPr>
                        <a:t>hidden transforms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read for any table (</a:t>
                      </a:r>
                      <a:r>
                        <a:rPr sz="1050" b="0" i="0">
                          <a:solidFill>
                            <a:srgbClr val="0E7C86"/>
                          </a:solidFill>
                          <a:latin typeface="Consolas"/>
                        </a:rPr>
                        <a:t>day(ts)</a:t>
                      </a:r>
                      <a:r>
                        <a:rPr sz="1150" b="0" i="0">
                          <a:solidFill>
                            <a:srgbClr val="1C2433"/>
                          </a:solidFill>
                          <a:latin typeface="Calibri"/>
                        </a:rPr>
                        <a:t>, </a:t>
                      </a:r>
                      <a:r>
                        <a:rPr sz="1050" b="0" i="0">
                          <a:solidFill>
                            <a:srgbClr val="0E7C86"/>
                          </a:solidFill>
                          <a:latin typeface="Consolas"/>
                        </a:rPr>
                        <a:t>bucket(id)</a:t>
                      </a:r>
                      <a:r>
                        <a:rPr sz="115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other engines' tables, served by </a:t>
                      </a:r>
                      <a:r>
                        <a:rPr sz="1050" b="0" i="0">
                          <a:solidFill>
                            <a:srgbClr val="0E7C86"/>
                          </a:solidFill>
                          <a:latin typeface="Consolas"/>
                        </a:rPr>
                        <a:t>iceberg-external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1" name="TextBox 10"/>
          <p:cNvSpPr txBox="1"/>
          <p:nvPr/>
        </p:nvSpPr>
        <p:spPr>
          <a:xfrm>
            <a:off x="411480" y="4846320"/>
            <a:ext cx="11365992" cy="1463040"/>
          </a:xfrm>
          <a:prstGeom prst="rect">
            <a:avLst/>
          </a:prstGeom>
          <a:noFill/>
        </p:spPr>
        <p:txBody>
          <a:bodyPr wrap="square" lIns="0" rIns="0" tIns="0" bIns="0" anchor="t">
            <a:spAutoFit/>
          </a:bodyPr>
          <a:lstStyle/>
          <a:p>
            <a:pPr algn="l" marL="201168" indent="-201168">
              <a:spcAft>
                <a:spcPts val="400"/>
              </a:spcAft>
              <a:buClr>
                <a:srgbClr val="E87A1E"/>
              </a:buClr>
              <a:buSzPct val="100000"/>
              <a:buFont typeface="Arial"/>
              <a:buChar char="•"/>
            </a:pPr>
            <a:r>
              <a:rPr sz="1200" b="0" i="0">
                <a:solidFill>
                  <a:srgbClr val="1C2433"/>
                </a:solidFill>
                <a:latin typeface="Calibri"/>
              </a:rPr>
              <a:t>S3 scales each prefix to ≥ 3,500 writes and 5,500 reads a second and splits busy prefixes by itself; a day's reads spread over its product-type folders, and over three tables for trades</a:t>
            </a:r>
          </a:p>
          <a:p>
            <a:pPr algn="l" marL="201168" indent="-201168">
              <a:spcAft>
                <a:spcPts val="400"/>
              </a:spcAft>
              <a:buClr>
                <a:srgbClr val="E87A1E"/>
              </a:buClr>
              <a:buSzPct val="100000"/>
              <a:buFont typeface="Arial"/>
              <a:buChar char="•"/>
            </a:pPr>
            <a:r>
              <a:rPr sz="1200" b="0" i="0">
                <a:solidFill>
                  <a:srgbClr val="1C2433"/>
                </a:solidFill>
                <a:latin typeface="Calibri"/>
              </a:rPr>
              <a:t>Drishti's writers name the folders, so the spread comes from the partition keys; Iceberg's hashed object-storage layout is not used (evaluate only if 503 Slow Down appears: PROPOSED)</a:t>
            </a:r>
          </a:p>
          <a:p>
            <a:pPr algn="l" marL="201168" indent="-201168">
              <a:spcAft>
                <a:spcPts val="400"/>
              </a:spcAft>
              <a:buClr>
                <a:srgbClr val="E87A1E"/>
              </a:buClr>
              <a:buSzPct val="100000"/>
              <a:buFont typeface="Arial"/>
              <a:buChar char="•"/>
            </a:pPr>
            <a:r>
              <a:rPr sz="1200" b="0" i="0">
                <a:solidFill>
                  <a:srgbClr val="1C2433"/>
                </a:solidFill>
                <a:latin typeface="Calibri"/>
              </a:rPr>
              <a:t>A 503 Slow Down is retried with back-off and counted in Health; alarm </a:t>
            </a:r>
            <a:r>
              <a:rPr sz="1100" b="0" i="0">
                <a:solidFill>
                  <a:srgbClr val="0E7C86"/>
                </a:solidFill>
                <a:latin typeface="Consolas"/>
              </a:rPr>
              <a:t>drishti-&lt;env&gt;-lake-s3-5xx</a:t>
            </a:r>
            <a:r>
              <a:rPr sz="1200" b="0" i="0">
                <a:solidFill>
                  <a:srgbClr val="1C2433"/>
                </a:solidFill>
                <a:latin typeface="Calibri"/>
              </a:rPr>
              <a:t> fires on a sustained rate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What each read needs from the table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2 · how it works</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15</a:t>
            </a:r>
          </a:p>
        </p:txBody>
      </p:sp>
      <p:graphicFrame>
        <p:nvGraphicFramePr>
          <p:cNvPr id="10" name="Table"/>
          <p:cNvGraphicFramePr>
            <a:graphicFrameLocks noGrp="1"/>
          </p:cNvGraphicFramePr>
          <p:nvPr/>
        </p:nvGraphicFramePr>
        <p:xfrm>
          <a:off x="411480" y="1188720"/>
          <a:ext cx="11365991" cy="4608576"/>
        </p:xfrm>
        <a:graphic>
          <a:graphicData uri="http://schemas.openxmlformats.org/drawingml/2006/table">
            <a:tbl>
              <a:tblPr firstRow="0" bandRow="0">
                <a:tableStyleId>{5940675A-B579-460E-94D1-54222C63F5DA}</a:tableStyleId>
              </a:tblPr>
              <a:tblGrid>
                <a:gridCol w="2834640"/>
                <a:gridCol w="4480560"/>
                <a:gridCol w="4050791"/>
              </a:tblGrid>
              <a:tr h="658368">
                <a:tc>
                  <a:txBody>
                    <a:bodyPr wrap="square"/>
                    <a:lstStyle/>
                    <a:p>
                      <a:r>
                        <a:rPr sz="1200" b="1" i="0">
                          <a:solidFill>
                            <a:srgbClr val="FFFFFF"/>
                          </a:solidFill>
                          <a:latin typeface="Calibri"/>
                        </a:rPr>
                        <a:t>Need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What it reads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So the table needs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658368">
                <a:tc>
                  <a:txBody>
                    <a:bodyPr wrap="square"/>
                    <a:lstStyle/>
                    <a:p>
                      <a:r>
                        <a:rPr sz="1200" b="1" i="0">
                          <a:solidFill>
                            <a:srgbClr val="1C2433"/>
                          </a:solidFill>
                          <a:latin typeface="Calibri"/>
                        </a:rPr>
                        <a:t>One entity (</a:t>
                      </a:r>
                      <a:r>
                        <a:rPr sz="1100" b="1" i="0">
                          <a:solidFill>
                            <a:srgbClr val="0E7C86"/>
                          </a:solidFill>
                          <a:latin typeface="Consolas"/>
                        </a:rPr>
                        <a:t>TRD MX-20000017</a:t>
                      </a:r>
                      <a:r>
                        <a:rPr sz="1200" b="1"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day's id map, then one row group of one file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rows sorted by id per file; small row groups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58368">
                <a:tc>
                  <a:txBody>
                    <a:bodyPr wrap="square"/>
                    <a:lstStyle/>
                    <a:p>
                      <a:r>
                        <a:rPr sz="1200" b="1" i="0">
                          <a:solidFill>
                            <a:srgbClr val="1C2433"/>
                          </a:solidFill>
                          <a:latin typeface="Calibri"/>
                        </a:rPr>
                        <a:t>History (</a:t>
                      </a:r>
                      <a:r>
                        <a:rPr sz="1100" b="1" i="0">
                          <a:solidFill>
                            <a:srgbClr val="0E7C86"/>
                          </a:solidFill>
                          <a:latin typeface="Consolas"/>
                        </a:rPr>
                        <a:t>TRD MX-20000017 30</a:t>
                      </a:r>
                      <a:r>
                        <a:rPr sz="1200" b="1"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days whose id map holds it, one read per day, eight at once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business_date</a:t>
                      </a:r>
                      <a:r>
                        <a:rPr sz="1200" b="0" i="0">
                          <a:solidFill>
                            <a:srgbClr val="1C2433"/>
                          </a:solidFill>
                          <a:latin typeface="Calibri"/>
                        </a:rPr>
                        <a:t> as the partition; nothing else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58368">
                <a:tc>
                  <a:txBody>
                    <a:bodyPr wrap="square"/>
                    <a:lstStyle/>
                    <a:p>
                      <a:r>
                        <a:rPr sz="1200" b="1" i="0">
                          <a:solidFill>
                            <a:srgbClr val="1C2433"/>
                          </a:solidFill>
                          <a:latin typeface="Calibri"/>
                        </a:rPr>
                        <a:t>Type-ahead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newest day's ids (and </a:t>
                      </a:r>
                      <a:r>
                        <a:rPr sz="1100" b="0" i="0">
                          <a:solidFill>
                            <a:srgbClr val="0E7C86"/>
                          </a:solidFill>
                          <a:latin typeface="Consolas"/>
                        </a:rPr>
                        <a:t>index.days</a:t>
                      </a:r>
                      <a:r>
                        <a:rPr sz="1200" b="0" i="0">
                          <a:solidFill>
                            <a:srgbClr val="1C2433"/>
                          </a:solidFill>
                          <a:latin typeface="Calibri"/>
                        </a:rPr>
                        <a:t>), plus promoted name columns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id</a:t>
                      </a:r>
                      <a:r>
                        <a:rPr sz="1200" b="0" i="0">
                          <a:solidFill>
                            <a:srgbClr val="1C2433"/>
                          </a:solidFill>
                          <a:latin typeface="Calibri"/>
                        </a:rPr>
                        <a:t>; </a:t>
                      </a:r>
                      <a:r>
                        <a:rPr sz="1100" b="0" i="0">
                          <a:solidFill>
                            <a:srgbClr val="0E7C86"/>
                          </a:solidFill>
                          <a:latin typeface="Consolas"/>
                        </a:rPr>
                        <a:t>layout.&lt;kind&gt;.type-ahead</a:t>
                      </a:r>
                      <a:r>
                        <a:rPr sz="1200" b="0" i="0">
                          <a:solidFill>
                            <a:srgbClr val="1C2433"/>
                          </a:solidFill>
                          <a:latin typeface="Calibri"/>
                        </a:rPr>
                        <a:t> for names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58368">
                <a:tc>
                  <a:txBody>
                    <a:bodyPr wrap="square"/>
                    <a:lstStyle/>
                    <a:p>
                      <a:r>
                        <a:rPr sz="1200" b="1" i="0">
                          <a:solidFill>
                            <a:srgbClr val="1C2433"/>
                          </a:solidFill>
                          <a:latin typeface="Calibri"/>
                        </a:rPr>
                        <a:t>Search, pick lists, derived kinds, impact, links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day's column set: id and every promoted column, never </a:t>
                      </a:r>
                      <a:r>
                        <a:rPr sz="1100" b="0" i="0">
                          <a:solidFill>
                            <a:srgbClr val="0E7C86"/>
                          </a:solidFill>
                          <a:latin typeface="Consolas"/>
                        </a:rPr>
                        <a:t>doc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every field a search filters, sorts or shows promoted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58368">
                <a:tc>
                  <a:txBody>
                    <a:bodyPr wrap="square"/>
                    <a:lstStyle/>
                    <a:p>
                      <a:r>
                        <a:rPr sz="1200" b="1" i="0">
                          <a:solidFill>
                            <a:srgbClr val="1C2433"/>
                          </a:solidFill>
                          <a:latin typeface="Calibri"/>
                        </a:rPr>
                        <a:t>A date's vectors (VaR, exposure)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one vector column and a few text columns, streamed file by file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layout.&lt;kind&gt;.vectors</a:t>
                      </a:r>
                      <a:r>
                        <a:rPr sz="1200" b="0" i="0">
                          <a:solidFill>
                            <a:srgbClr val="1C2433"/>
                          </a:solidFill>
                          <a:latin typeface="Calibri"/>
                        </a:rPr>
                        <a:t>; whole dates, no deletion vectors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58368">
                <a:tc>
                  <a:txBody>
                    <a:bodyPr wrap="square"/>
                    <a:lstStyle/>
                    <a:p>
                      <a:r>
                        <a:rPr sz="1200" b="1" i="0">
                          <a:solidFill>
                            <a:srgbClr val="1C2433"/>
                          </a:solidFill>
                          <a:latin typeface="Calibri"/>
                        </a:rPr>
                        <a:t>File and row-group skipping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Delta: per-file min/max in the log; Iceberg: manifest bounds per file; both: footer statistics per row group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Delta: </a:t>
                      </a:r>
                      <a:r>
                        <a:rPr sz="1100" b="0" i="0">
                          <a:solidFill>
                            <a:srgbClr val="0E7C86"/>
                          </a:solidFill>
                          <a:latin typeface="Consolas"/>
                        </a:rPr>
                        <a:t>delta.dataSkippingStatsColumns</a:t>
                      </a:r>
                      <a:r>
                        <a:rPr sz="1200" b="0" i="0">
                          <a:solidFill>
                            <a:srgbClr val="1C2433"/>
                          </a:solidFill>
                          <a:latin typeface="Calibri"/>
                        </a:rPr>
                        <a:t> = id, business_date, promoted; Iceberg: metrics full on </a:t>
                      </a:r>
                      <a:r>
                        <a:rPr sz="1100" b="0" i="0">
                          <a:solidFill>
                            <a:srgbClr val="0E7C86"/>
                          </a:solidFill>
                          <a:latin typeface="Consolas"/>
                        </a:rPr>
                        <a:t>id</a:t>
                      </a:r>
                      <a:r>
                        <a:rPr sz="1200" b="0" i="0">
                          <a:solidFill>
                            <a:srgbClr val="1C2433"/>
                          </a:solidFill>
                          <a:latin typeface="Calibri"/>
                        </a:rPr>
                        <a:t>, on promoted, none on </a:t>
                      </a:r>
                      <a:r>
                        <a:rPr sz="1100" b="0" i="0">
                          <a:solidFill>
                            <a:srgbClr val="0E7C86"/>
                          </a:solidFill>
                          <a:latin typeface="Consolas"/>
                        </a:rPr>
                        <a:t>doc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numbers: Delta and Iceberg</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2 · how it works</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16</a:t>
            </a:r>
          </a:p>
        </p:txBody>
      </p:sp>
      <p:graphicFrame>
        <p:nvGraphicFramePr>
          <p:cNvPr id="10" name="Table"/>
          <p:cNvGraphicFramePr>
            <a:graphicFrameLocks noGrp="1"/>
          </p:cNvGraphicFramePr>
          <p:nvPr/>
        </p:nvGraphicFramePr>
        <p:xfrm>
          <a:off x="411480" y="1143000"/>
          <a:ext cx="11365992" cy="4937760"/>
        </p:xfrm>
        <a:graphic>
          <a:graphicData uri="http://schemas.openxmlformats.org/drawingml/2006/table">
            <a:tbl>
              <a:tblPr firstRow="0" bandRow="0">
                <a:tableStyleId>{5940675A-B579-460E-94D1-54222C63F5DA}</a:tableStyleId>
              </a:tblPr>
              <a:tblGrid>
                <a:gridCol w="1737360"/>
                <a:gridCol w="3429000"/>
                <a:gridCol w="3063240"/>
                <a:gridCol w="3136392"/>
              </a:tblGrid>
              <a:tr h="548640">
                <a:tc>
                  <a:txBody>
                    <a:bodyPr wrap="square"/>
                    <a:lstStyle/>
                    <a:p>
                      <a:r>
                        <a:rPr sz="1100" b="1" i="0">
                          <a:solidFill>
                            <a:srgbClr val="FFFFFF"/>
                          </a:solidFill>
                          <a:latin typeface="Calibri"/>
                        </a:rPr>
                        <a:t>Setting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Delta on AWS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Why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48640">
                <a:tc>
                  <a:txBody>
                    <a:bodyPr wrap="square"/>
                    <a:lstStyle/>
                    <a:p>
                      <a:r>
                        <a:rPr sz="1100" b="1" i="0">
                          <a:solidFill>
                            <a:srgbClr val="1C2433"/>
                          </a:solidFill>
                          <a:latin typeface="Calibri"/>
                        </a:rPr>
                        <a:t>Rows per file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layout.&lt;kind&gt;.file-rows</a:t>
                      </a:r>
                      <a:r>
                        <a:rPr sz="1100" b="0" i="0">
                          <a:solidFill>
                            <a:srgbClr val="1C2433"/>
                          </a:solidFill>
                          <a:latin typeface="Calibri"/>
                        </a:rPr>
                        <a:t> (250,000)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--file-rows</a:t>
                      </a:r>
                      <a:r>
                        <a:rPr sz="1100" b="0" i="0">
                          <a:solidFill>
                            <a:srgbClr val="1C2433"/>
                          </a:solidFill>
                          <a:latin typeface="Calibri"/>
                        </a:rPr>
                        <a:t> 250,000 (≈ 175 MB, estimate</a:t>
                      </a:r>
                      <a:r>
                        <a:rPr sz="1100" b="1" i="0">
                          <a:solidFill>
                            <a:srgbClr val="E87A1E"/>
                          </a:solidFill>
                          <a:latin typeface="Calibri"/>
                        </a:rPr>
                        <a:t>¹</a:t>
                      </a:r>
                      <a:r>
                        <a:rPr sz="11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few files per day, each large enough for 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100" b="1" i="0">
                          <a:solidFill>
                            <a:srgbClr val="1C2433"/>
                          </a:solidFill>
                          <a:latin typeface="Calibri"/>
                        </a:rPr>
                        <a:t>Row group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1 MB (</a:t>
                      </a:r>
                      <a:r>
                        <a:rPr sz="1100" b="0" i="0">
                          <a:solidFill>
                            <a:srgbClr val="0E7C86"/>
                          </a:solidFill>
                          <a:latin typeface="Consolas"/>
                        </a:rPr>
                        <a:t>LAKE_ROW_GROUP_KB=1024</a:t>
                      </a:r>
                      <a:r>
                        <a:rPr sz="1100" b="0" i="0">
                          <a:solidFill>
                            <a:srgbClr val="1C2433"/>
                          </a:solidFill>
                          <a:latin typeface="Calibri"/>
                        </a:rPr>
                        <a:t>; writer default 256 KB)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1 MB </a:t>
                      </a:r>
                      <a:r>
                        <a:rPr sz="1100" b="1" i="0">
                          <a:solidFill>
                            <a:srgbClr val="1C2433"/>
                          </a:solidFill>
                          <a:latin typeface="Calibri"/>
                        </a:rPr>
                        <a:t>compressed</a:t>
                      </a:r>
                      <a:r>
                        <a:rPr sz="1100" b="0" i="0">
                          <a:solidFill>
                            <a:srgbClr val="1C2433"/>
                          </a:solidFill>
                          <a:latin typeface="Calibri"/>
                        </a:rPr>
                        <a:t> (</a:t>
                      </a:r>
                      <a:r>
                        <a:rPr sz="1100" b="0" i="0">
                          <a:solidFill>
                            <a:srgbClr val="0E7C86"/>
                          </a:solidFill>
                          <a:latin typeface="Consolas"/>
                        </a:rPr>
                        <a:t>--row-group-mb</a:t>
                      </a:r>
                      <a:r>
                        <a:rPr sz="1100" b="0" i="0">
                          <a:solidFill>
                            <a:srgbClr val="1C2433"/>
                          </a:solidFill>
                          <a:latin typeface="Calibri"/>
                        </a:rPr>
                        <a:t>): 300–700 trades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 single read fetches one row group: 1 MB balances bytes against 10–30 ms GETs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100" b="1" i="0">
                          <a:solidFill>
                            <a:srgbClr val="1C2433"/>
                          </a:solidFill>
                          <a:latin typeface="Calibri"/>
                        </a:rPr>
                        <a:t>Compression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Snappy (the native engine also reads ZSTD, GZIP, LZ4_RAW)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zstd (about 9× on documents)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writers' choices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100" b="1" i="0">
                          <a:solidFill>
                            <a:srgbClr val="1C2433"/>
                          </a:solidFill>
                          <a:latin typeface="Calibri"/>
                        </a:rPr>
                        <a:t>Statistics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log: id, business_date, promoted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manifests: </a:t>
                      </a:r>
                      <a:r>
                        <a:rPr sz="1100" b="0" i="0">
                          <a:solidFill>
                            <a:srgbClr val="0E7C86"/>
                          </a:solidFill>
                          <a:latin typeface="Consolas"/>
                        </a:rPr>
                        <a:t>id</a:t>
                      </a:r>
                      <a:r>
                        <a:rPr sz="1100" b="0" i="0">
                          <a:solidFill>
                            <a:srgbClr val="1C2433"/>
                          </a:solidFill>
                          <a:latin typeface="Calibri"/>
                        </a:rPr>
                        <a:t> full, promoted, none on </a:t>
                      </a:r>
                      <a:r>
                        <a:rPr sz="1100" b="0" i="0">
                          <a:solidFill>
                            <a:srgbClr val="0E7C86"/>
                          </a:solidFill>
                          <a:latin typeface="Consolas"/>
                        </a:rPr>
                        <a:t>doc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file and row-group skipping without documents in the metadata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100" b="1" i="0">
                          <a:solidFill>
                            <a:srgbClr val="1C2433"/>
                          </a:solidFill>
                          <a:latin typeface="Calibri"/>
                        </a:rPr>
                        <a:t>Sort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by id within a batch (</a:t>
                      </a:r>
                      <a:r>
                        <a:rPr sz="1100" b="0" i="0">
                          <a:solidFill>
                            <a:srgbClr val="0E7C86"/>
                          </a:solidFill>
                          <a:latin typeface="Consolas"/>
                        </a:rPr>
                        <a:t>LAKE_BATCH_ROWS</a:t>
                      </a:r>
                      <a:r>
                        <a:rPr sz="1100" b="0" i="0">
                          <a:solidFill>
                            <a:srgbClr val="1C2433"/>
                          </a:solidFill>
                          <a:latin typeface="Calibri"/>
                        </a:rPr>
                        <a:t> 250,000)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by id over the whole day (external sort, spill)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no partition-size limit on 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100" b="1" i="0">
                          <a:solidFill>
                            <a:srgbClr val="1C2433"/>
                          </a:solidFill>
                          <a:latin typeface="Calibri"/>
                        </a:rPr>
                        <a:t>Commit unit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one per table per day (</a:t>
                      </a:r>
                      <a:r>
                        <a:rPr sz="1100" b="0" i="0">
                          <a:solidFill>
                            <a:srgbClr val="0E7C86"/>
                          </a:solidFill>
                          <a:latin typeface="Consolas"/>
                        </a:rPr>
                        <a:t>lake publish</a:t>
                      </a:r>
                      <a:r>
                        <a:rPr sz="11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one per day of ≥ 100,000 rows; small days together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fewer commits for small tables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100" b="1" i="0">
                          <a:solidFill>
                            <a:srgbClr val="1C2433"/>
                          </a:solidFill>
                          <a:latin typeface="Calibri"/>
                        </a:rPr>
                        <a:t>Checkpoint, metadata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 checkpoint every 10 commits and after every maintenance run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50 metadata versions kept, older deleted after a commit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 reader replays a short log, or reads one small pointer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100" b="1" i="0">
                          <a:solidFill>
                            <a:srgbClr val="1C2433"/>
                          </a:solidFill>
                          <a:latin typeface="Calibri"/>
                        </a:rPr>
                        <a:t>History kept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log 30 days (</a:t>
                      </a:r>
                      <a:r>
                        <a:rPr sz="1100" b="0" i="0">
                          <a:solidFill>
                            <a:srgbClr val="0E7C86"/>
                          </a:solidFill>
                          <a:latin typeface="Consolas"/>
                        </a:rPr>
                        <a:t>delta.logRetentionDuration</a:t>
                      </a:r>
                      <a:r>
                        <a:rPr sz="1100" b="0" i="0">
                          <a:solidFill>
                            <a:srgbClr val="1C2433"/>
                          </a:solidFill>
                          <a:latin typeface="Calibri"/>
                        </a:rPr>
                        <a:t>); removed files 7 days (</a:t>
                      </a:r>
                      <a:r>
                        <a:rPr sz="1100" b="0" i="0">
                          <a:solidFill>
                            <a:srgbClr val="0E7C86"/>
                          </a:solidFill>
                          <a:latin typeface="Consolas"/>
                        </a:rPr>
                        <a:t>LAKE_VACUUM_HOURS</a:t>
                      </a:r>
                      <a:r>
                        <a:rPr sz="1100" b="0" i="0">
                          <a:solidFill>
                            <a:srgbClr val="1C2433"/>
                          </a:solidFill>
                          <a:latin typeface="Calibri"/>
                        </a:rPr>
                        <a:t> 168)</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snapshots 168 h (</a:t>
                      </a:r>
                      <a:r>
                        <a:rPr sz="1100" b="0" i="0">
                          <a:solidFill>
                            <a:srgbClr val="0E7C86"/>
                          </a:solidFill>
                          <a:latin typeface="Consolas"/>
                        </a:rPr>
                        <a:t>--expire-hours</a:t>
                      </a:r>
                      <a:r>
                        <a:rPr sz="11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readers in flight and </a:t>
                      </a:r>
                      <a:r>
                        <a:rPr sz="1100" b="0" i="1">
                          <a:solidFill>
                            <a:srgbClr val="1C2433"/>
                          </a:solidFill>
                          <a:latin typeface="Calibri"/>
                        </a:rPr>
                        <a:t>known at</a:t>
                      </a:r>
                      <a:r>
                        <a:rPr sz="1100" b="0" i="0">
                          <a:solidFill>
                            <a:srgbClr val="1C2433"/>
                          </a:solidFill>
                          <a:latin typeface="Calibri"/>
                        </a:rPr>
                        <a:t> reach back a week; </a:t>
                      </a:r>
                      <a:r>
                        <a:rPr sz="1100" b="1" i="0">
                          <a:solidFill>
                            <a:srgbClr val="1C2433"/>
                          </a:solidFill>
                          <a:latin typeface="Calibri"/>
                        </a:rPr>
                        <a:t>7 years for risk</a:t>
                      </a:r>
                      <a:r>
                        <a:rPr sz="1100" b="0" i="0">
                          <a:solidFill>
                            <a:srgbClr val="1C2433"/>
                          </a:solidFill>
                          <a:latin typeface="Calibri"/>
                        </a:rPr>
                        <a:t> on both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1" name="Footnotes"/>
          <p:cNvSpPr txBox="1"/>
          <p:nvPr/>
        </p:nvSpPr>
        <p:spPr>
          <a:xfrm>
            <a:off x="411480" y="6377940"/>
            <a:ext cx="11365992" cy="169164"/>
          </a:xfrm>
          <a:prstGeom prst="rect">
            <a:avLst/>
          </a:prstGeom>
          <a:noFill/>
        </p:spPr>
        <p:txBody>
          <a:bodyPr wrap="square" lIns="0" rIns="0" tIns="0" bIns="0" anchor="t">
            <a:spAutoFit/>
          </a:bodyPr>
          <a:lstStyle/>
          <a:p>
            <a:pPr algn="l">
              <a:lnSpc>
                <a:spcPct val="100000"/>
              </a:lnSpc>
              <a:spcAft>
                <a:spcPts val="0"/>
              </a:spcAft>
              <a:buNone/>
            </a:pPr>
            <a:r>
              <a:rPr sz="900" b="0" i="0">
                <a:solidFill>
                  <a:srgbClr val="5B677A"/>
                </a:solidFill>
                <a:latin typeface="Calibri"/>
              </a:rPr>
              <a:t>¹ 250,000 rows × 0.7 KB a trade (zstd, measured, ICEBERG_CONNECTOR.md §3) = 175 MB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Sorted by id: Delta in batches, Iceberg by the day</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2 · how it works</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17</a:t>
            </a:r>
          </a:p>
        </p:txBody>
      </p:sp>
      <p:sp>
        <p:nvSpPr>
          <p:cNvPr id="10" name="TextBox 9"/>
          <p:cNvSpPr txBox="1"/>
          <p:nvPr/>
        </p:nvSpPr>
        <p:spPr>
          <a:xfrm>
            <a:off x="411480" y="1143000"/>
            <a:ext cx="11365992" cy="914400"/>
          </a:xfrm>
          <a:prstGeom prst="rect">
            <a:avLst/>
          </a:prstGeom>
          <a:noFill/>
        </p:spPr>
        <p:txBody>
          <a:bodyPr wrap="square" lIns="0" rIns="0" tIns="0" bIns="0" anchor="t">
            <a:spAutoFit/>
          </a:bodyPr>
          <a:lstStyle/>
          <a:p>
            <a:pPr algn="l" marL="201168" indent="-201168">
              <a:spcAft>
                <a:spcPts val="400"/>
              </a:spcAft>
              <a:buClr>
                <a:srgbClr val="E87A1E"/>
              </a:buClr>
              <a:buSzPct val="100000"/>
              <a:buFont typeface="Arial"/>
              <a:buChar char="•"/>
            </a:pPr>
            <a:r>
              <a:rPr sz="1300" b="0" i="0">
                <a:solidFill>
                  <a:srgbClr val="1C2433"/>
                </a:solidFill>
                <a:latin typeface="Calibri"/>
              </a:rPr>
              <a:t>A file holds a contiguous id range and each row group a smaller one: a read of one id skips every other row group by its statistics (Iceberg's manifests keep each file's min and max </a:t>
            </a:r>
            <a:r>
              <a:rPr sz="1200" b="0" i="0">
                <a:solidFill>
                  <a:srgbClr val="0E7C86"/>
                </a:solidFill>
                <a:latin typeface="Consolas"/>
              </a:rPr>
              <a:t>id</a:t>
            </a:r>
            <a:r>
              <a:rPr sz="1300" b="0" i="0">
                <a:solidFill>
                  <a:srgbClr val="1C2433"/>
                </a:solidFill>
                <a:latin typeface="Calibri"/>
              </a:rPr>
              <a:t>)</a:t>
            </a:r>
          </a:p>
          <a:p>
            <a:pPr algn="l" marL="201168" indent="-201168">
              <a:spcAft>
                <a:spcPts val="400"/>
              </a:spcAft>
              <a:buClr>
                <a:srgbClr val="E87A1E"/>
              </a:buClr>
              <a:buSzPct val="100000"/>
              <a:buFont typeface="Arial"/>
              <a:buChar char="•"/>
            </a:pPr>
            <a:r>
              <a:rPr sz="1300" b="0" i="0">
                <a:solidFill>
                  <a:srgbClr val="1C2433"/>
                </a:solidFill>
                <a:latin typeface="Calibri"/>
              </a:rPr>
              <a:t>A table written elsewhere (Spark): </a:t>
            </a:r>
            <a:r>
              <a:rPr sz="1200" b="0" i="0">
                <a:solidFill>
                  <a:srgbClr val="0E7C86"/>
                </a:solidFill>
                <a:latin typeface="Consolas"/>
              </a:rPr>
              <a:t>repartitionByRange(…, "id").sortWithinPartitions("id")</a:t>
            </a:r>
            <a:r>
              <a:rPr sz="1300" b="0" i="0">
                <a:solidFill>
                  <a:srgbClr val="1C2433"/>
                </a:solidFill>
                <a:latin typeface="Calibri"/>
              </a:rPr>
              <a:t>; for Iceberg also </a:t>
            </a:r>
            <a:r>
              <a:rPr sz="1200" b="0" i="0">
                <a:solidFill>
                  <a:srgbClr val="0E7C86"/>
                </a:solidFill>
                <a:latin typeface="Consolas"/>
              </a:rPr>
              <a:t>WRITE ORDERED BY id</a:t>
            </a:r>
          </a:p>
        </p:txBody>
      </p:sp>
      <p:sp>
        <p:nvSpPr>
          <p:cNvPr id="11" name="Rounded Rectangle 10"/>
          <p:cNvSpPr/>
          <p:nvPr/>
        </p:nvSpPr>
        <p:spPr>
          <a:xfrm>
            <a:off x="411480" y="2103120"/>
            <a:ext cx="5577840" cy="288036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502920" y="2148839"/>
            <a:ext cx="539495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Delta: </a:t>
            </a:r>
            <a:r>
              <a:rPr sz="1200" b="1" i="0">
                <a:solidFill>
                  <a:srgbClr val="0E7C86"/>
                </a:solidFill>
                <a:latin typeface="Consolas"/>
              </a:rPr>
              <a:t>lake build</a:t>
            </a:r>
            <a:r>
              <a:rPr sz="1300" b="1" i="0">
                <a:solidFill>
                  <a:srgbClr val="0B1E3B"/>
                </a:solidFill>
                <a:latin typeface="Calibri"/>
              </a:rPr>
              <a:t> sorts a partition in one batch</a:t>
            </a:r>
          </a:p>
        </p:txBody>
      </p:sp>
      <p:sp>
        <p:nvSpPr>
          <p:cNvPr id="13" name="TextBox 12"/>
          <p:cNvSpPr txBox="1"/>
          <p:nvPr/>
        </p:nvSpPr>
        <p:spPr>
          <a:xfrm>
            <a:off x="502920" y="2468879"/>
            <a:ext cx="5394959" cy="2468879"/>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each partition (date × product type) that fits one batch (</a:t>
            </a:r>
            <a:r>
              <a:rPr sz="1100" b="0" i="0">
                <a:solidFill>
                  <a:srgbClr val="0E7C86"/>
                </a:solidFill>
                <a:latin typeface="Consolas"/>
              </a:rPr>
              <a:t>LAKE_BATCH_ROWS</a:t>
            </a:r>
            <a:r>
              <a:rPr sz="1200" b="0" i="0">
                <a:solidFill>
                  <a:srgbClr val="1C2433"/>
                </a:solidFill>
                <a:latin typeface="Calibri"/>
              </a:rPr>
              <a:t>, 250,000) is sorted; a larger one is written in the dumps' order and load-day.sh warns</a:t>
            </a:r>
          </a:p>
          <a:p>
            <a:pPr algn="l" marL="201168" indent="-201168">
              <a:spcAft>
                <a:spcPts val="200"/>
              </a:spcAft>
              <a:buClr>
                <a:srgbClr val="E87A1E"/>
              </a:buClr>
              <a:buSzPct val="100000"/>
              <a:buFont typeface="Arial"/>
              <a:buChar char="•"/>
            </a:pPr>
            <a:r>
              <a:rPr sz="1200" b="1" i="0">
                <a:solidFill>
                  <a:srgbClr val="1C2433"/>
                </a:solidFill>
                <a:latin typeface="Calibri"/>
              </a:rPr>
              <a:t>remedy 1:</a:t>
            </a:r>
            <a:r>
              <a:rPr sz="1200" b="0" i="0">
                <a:solidFill>
                  <a:srgbClr val="1C2433"/>
                </a:solidFill>
                <a:latin typeface="Calibri"/>
              </a:rPr>
              <a:t> ask the source to export sorted by id: the JSON Lines order becomes the file's order, no memory cost (</a:t>
            </a:r>
            <a:r>
              <a:rPr sz="1100" b="0" i="0">
                <a:solidFill>
                  <a:srgbClr val="0E7C86"/>
                </a:solidFill>
                <a:latin typeface="Consolas"/>
              </a:rPr>
              <a:t>bulk_trades.py</a:t>
            </a:r>
            <a:r>
              <a:rPr sz="1200" b="0" i="0">
                <a:solidFill>
                  <a:srgbClr val="1C2433"/>
                </a:solidFill>
                <a:latin typeface="Calibri"/>
              </a:rPr>
              <a:t> does so)</a:t>
            </a:r>
          </a:p>
          <a:p>
            <a:pPr algn="l" marL="201168" indent="-201168">
              <a:spcAft>
                <a:spcPts val="200"/>
              </a:spcAft>
              <a:buClr>
                <a:srgbClr val="E87A1E"/>
              </a:buClr>
              <a:buSzPct val="100000"/>
              <a:buFont typeface="Arial"/>
              <a:buChar char="•"/>
            </a:pPr>
            <a:r>
              <a:rPr sz="1200" b="1" i="0">
                <a:solidFill>
                  <a:srgbClr val="1C2433"/>
                </a:solidFill>
                <a:latin typeface="Calibri"/>
              </a:rPr>
              <a:t>remedy 2:</a:t>
            </a:r>
            <a:r>
              <a:rPr sz="1200" b="0" i="0">
                <a:solidFill>
                  <a:srgbClr val="1C2433"/>
                </a:solidFill>
                <a:latin typeface="Calibri"/>
              </a:rPr>
              <a:t> partition finer (</a:t>
            </a:r>
            <a:r>
              <a:rPr sz="1100" b="0" i="0">
                <a:solidFill>
                  <a:srgbClr val="0E7C86"/>
                </a:solidFill>
                <a:latin typeface="Consolas"/>
              </a:rPr>
              <a:t>PRODUCT_TYPE</a:t>
            </a:r>
            <a:r>
              <a:rPr sz="1200" b="0" i="0">
                <a:solidFill>
                  <a:srgbClr val="1C2433"/>
                </a:solidFill>
                <a:latin typeface="Calibri"/>
              </a:rPr>
              <a:t>, or a book or desk column)</a:t>
            </a:r>
          </a:p>
          <a:p>
            <a:pPr algn="l" marL="201168" indent="-201168">
              <a:spcAft>
                <a:spcPts val="200"/>
              </a:spcAft>
              <a:buClr>
                <a:srgbClr val="E87A1E"/>
              </a:buClr>
              <a:buSzPct val="100000"/>
              <a:buFont typeface="Arial"/>
              <a:buChar char="•"/>
            </a:pPr>
            <a:r>
              <a:rPr sz="1200" b="1" i="0">
                <a:solidFill>
                  <a:srgbClr val="1C2433"/>
                </a:solidFill>
                <a:latin typeface="Calibri"/>
              </a:rPr>
              <a:t>remedy 3:</a:t>
            </a:r>
            <a:r>
              <a:rPr sz="1200" b="0" i="0">
                <a:solidFill>
                  <a:srgbClr val="1C2433"/>
                </a:solidFill>
                <a:latin typeface="Calibri"/>
              </a:rPr>
              <a:t> raise </a:t>
            </a:r>
            <a:r>
              <a:rPr sz="1100" b="0" i="0">
                <a:solidFill>
                  <a:srgbClr val="0E7C86"/>
                </a:solidFill>
                <a:latin typeface="Consolas"/>
              </a:rPr>
              <a:t>LAKE_BATCH_ROWS</a:t>
            </a:r>
            <a:r>
              <a:rPr sz="1200" b="0" i="0">
                <a:solidFill>
                  <a:srgbClr val="1C2433"/>
                </a:solidFill>
                <a:latin typeface="Calibri"/>
              </a:rPr>
              <a:t> with the loader's memory: rows × document size × 3; 250,000 trades of 10 KB ≈ 8 GB</a:t>
            </a:r>
            <a:r>
              <a:rPr sz="1200" b="1" i="0">
                <a:solidFill>
                  <a:srgbClr val="E87A1E"/>
                </a:solidFill>
                <a:latin typeface="Calibri"/>
              </a:rPr>
              <a:t>¹</a:t>
            </a:r>
            <a:r>
              <a:rPr sz="1200" b="0" i="0">
                <a:solidFill>
                  <a:srgbClr val="1C2433"/>
                </a:solidFill>
                <a:latin typeface="Calibri"/>
              </a:rPr>
              <a:t>; the loader has 30 GB</a:t>
            </a:r>
          </a:p>
        </p:txBody>
      </p:sp>
      <p:sp>
        <p:nvSpPr>
          <p:cNvPr id="14" name="Rounded Rectangle 13"/>
          <p:cNvSpPr/>
          <p:nvPr/>
        </p:nvSpPr>
        <p:spPr>
          <a:xfrm>
            <a:off x="6199632" y="2103120"/>
            <a:ext cx="5577840" cy="288036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6291072" y="2148839"/>
            <a:ext cx="539495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Iceberg: the loader sorts the whole day</a:t>
            </a:r>
          </a:p>
        </p:txBody>
      </p:sp>
      <p:sp>
        <p:nvSpPr>
          <p:cNvPr id="16" name="TextBox 15"/>
          <p:cNvSpPr txBox="1"/>
          <p:nvPr/>
        </p:nvSpPr>
        <p:spPr>
          <a:xfrm>
            <a:off x="6291072" y="2468879"/>
            <a:ext cx="5394959" cy="2468879"/>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read JSON Lines from a file or stdin; dates after tomorrow refused</a:t>
            </a:r>
          </a:p>
          <a:p>
            <a:pPr algn="l" marL="201168" indent="-201168">
              <a:spcAft>
                <a:spcPts val="200"/>
              </a:spcAft>
              <a:buClr>
                <a:srgbClr val="E87A1E"/>
              </a:buClr>
              <a:buSzPct val="100000"/>
              <a:buFont typeface="Arial"/>
              <a:buChar char="•"/>
            </a:pPr>
            <a:r>
              <a:rPr sz="1200" b="0" i="0">
                <a:solidFill>
                  <a:srgbClr val="1C2433"/>
                </a:solidFill>
                <a:latin typeface="Calibri"/>
              </a:rPr>
              <a:t>sort per day in memory up to </a:t>
            </a:r>
            <a:r>
              <a:rPr sz="1100" b="0" i="0">
                <a:solidFill>
                  <a:srgbClr val="0E7C86"/>
                </a:solidFill>
                <a:latin typeface="Consolas"/>
              </a:rPr>
              <a:t>--buffer-mb</a:t>
            </a:r>
            <a:r>
              <a:rPr sz="1200" b="0" i="0">
                <a:solidFill>
                  <a:srgbClr val="1C2433"/>
                </a:solidFill>
                <a:latin typeface="Calibri"/>
              </a:rPr>
              <a:t>, spilled runs beyond: the spill directory needs about the JSON's size; </a:t>
            </a:r>
            <a:r>
              <a:rPr sz="1200" b="1" i="0">
                <a:solidFill>
                  <a:srgbClr val="1C2433"/>
                </a:solidFill>
                <a:latin typeface="Calibri"/>
              </a:rPr>
              <a:t>no batch limit</a:t>
            </a:r>
          </a:p>
          <a:p>
            <a:pPr algn="l" marL="201168" indent="-201168">
              <a:spcAft>
                <a:spcPts val="200"/>
              </a:spcAft>
              <a:buClr>
                <a:srgbClr val="E87A1E"/>
              </a:buClr>
              <a:buSzPct val="100000"/>
              <a:buFont typeface="Arial"/>
              <a:buChar char="•"/>
            </a:pPr>
            <a:r>
              <a:rPr sz="1200" b="0" i="0">
                <a:solidFill>
                  <a:srgbClr val="1C2433"/>
                </a:solidFill>
                <a:latin typeface="Calibri"/>
              </a:rPr>
              <a:t>merge the runs in id order into files of 250,000 rows</a:t>
            </a:r>
          </a:p>
          <a:p>
            <a:pPr algn="l" marL="201168" indent="-201168">
              <a:spcAft>
                <a:spcPts val="200"/>
              </a:spcAft>
              <a:buClr>
                <a:srgbClr val="E87A1E"/>
              </a:buClr>
              <a:buSzPct val="100000"/>
              <a:buFont typeface="Arial"/>
              <a:buChar char="•"/>
            </a:pPr>
            <a:r>
              <a:rPr sz="1200" b="0" i="0">
                <a:solidFill>
                  <a:srgbClr val="1C2433"/>
                </a:solidFill>
                <a:latin typeface="Calibri"/>
              </a:rPr>
              <a:t>≈ 40 s for a day of 1,000,000 trades</a:t>
            </a:r>
            <a:r>
              <a:rPr sz="1200" b="1" i="0">
                <a:solidFill>
                  <a:srgbClr val="E87A1E"/>
                </a:solidFill>
                <a:latin typeface="Calibri"/>
              </a:rPr>
              <a:t>²</a:t>
            </a:r>
            <a:r>
              <a:rPr sz="1200" b="0" i="0">
                <a:solidFill>
                  <a:srgbClr val="1C2433"/>
                </a:solidFill>
                <a:latin typeface="Calibri"/>
              </a:rPr>
              <a:t> on one thread, 4 files, 0.70–0.75 GB (ESTIMATED from a trial); 17,910 sample rows into 46 tables in 8 s, 30,000 trade-days in 5 s (MEASURED)</a:t>
            </a:r>
          </a:p>
        </p:txBody>
      </p:sp>
      <p:sp>
        <p:nvSpPr>
          <p:cNvPr id="17" name="Callout"/>
          <p:cNvSpPr/>
          <p:nvPr/>
        </p:nvSpPr>
        <p:spPr>
          <a:xfrm>
            <a:off x="411480" y="5120640"/>
            <a:ext cx="11365992" cy="64008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Callout edge"/>
          <p:cNvSpPr/>
          <p:nvPr/>
        </p:nvSpPr>
        <p:spPr>
          <a:xfrm>
            <a:off x="411480" y="5138927"/>
            <a:ext cx="82296" cy="603503"/>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640080" y="5193792"/>
            <a:ext cx="11000232" cy="493775"/>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DESIGNED (SUPER_SCALE S1): range maps from the log's per-file id ranges instead of id maps, and Parquet Bloom filters on id.</a:t>
            </a:r>
          </a:p>
        </p:txBody>
      </p:sp>
      <p:sp>
        <p:nvSpPr>
          <p:cNvPr id="20" name="Footnotes"/>
          <p:cNvSpPr txBox="1"/>
          <p:nvPr/>
        </p:nvSpPr>
        <p:spPr>
          <a:xfrm>
            <a:off x="411480" y="6236208"/>
            <a:ext cx="11365992" cy="310896"/>
          </a:xfrm>
          <a:prstGeom prst="rect">
            <a:avLst/>
          </a:prstGeom>
          <a:noFill/>
        </p:spPr>
        <p:txBody>
          <a:bodyPr wrap="square" lIns="0" rIns="0" tIns="0" bIns="0" anchor="t">
            <a:spAutoFit/>
          </a:bodyPr>
          <a:lstStyle/>
          <a:p>
            <a:pPr algn="l">
              <a:lnSpc>
                <a:spcPct val="100000"/>
              </a:lnSpc>
              <a:spcAft>
                <a:spcPts val="0"/>
              </a:spcAft>
              <a:buNone/>
            </a:pPr>
            <a:r>
              <a:rPr sz="900" b="0" i="0">
                <a:solidFill>
                  <a:srgbClr val="5B677A"/>
                </a:solidFill>
                <a:latin typeface="Calibri"/>
              </a:rPr>
              <a:t>¹ 250,000 rows × 10 KB a document × 3 (the doc's memory rule, AWS_DELTA_LAKE.md 7.2) = 7.5 GB ≈ 8 GB   ² one writer thread on a trial of 1,000,000 trades (ICEBERG_CONNECTOR.md §6); files 1,000,000 × 0.7 KB ≈ 0.70 GB in 4 files of 250,000 rows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One commit per day per table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2 · how it works</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18</a:t>
            </a:r>
          </a:p>
        </p:txBody>
      </p:sp>
      <p:sp>
        <p:nvSpPr>
          <p:cNvPr id="10" name="TextBox 9"/>
          <p:cNvSpPr txBox="1"/>
          <p:nvPr/>
        </p:nvSpPr>
        <p:spPr>
          <a:xfrm>
            <a:off x="411480" y="1097280"/>
            <a:ext cx="2743200" cy="365760"/>
          </a:xfrm>
          <a:prstGeom prst="rect">
            <a:avLst/>
          </a:prstGeom>
          <a:noFill/>
        </p:spPr>
        <p:txBody>
          <a:bodyPr wrap="square" lIns="0" rIns="0" tIns="0" bIns="0" anchor="t">
            <a:spAutoFit/>
          </a:bodyPr>
          <a:lstStyle/>
          <a:p>
            <a:pPr algn="l">
              <a:spcAft>
                <a:spcPts val="600"/>
              </a:spcAft>
              <a:buNone/>
            </a:pPr>
            <a:r>
              <a:rPr sz="1400" b="1" i="0">
                <a:solidFill>
                  <a:srgbClr val="0B1E3B"/>
                </a:solidFill>
                <a:latin typeface="Calibri"/>
              </a:rPr>
              <a:t>Delta (</a:t>
            </a:r>
            <a:r>
              <a:rPr sz="1300" b="1" i="0">
                <a:solidFill>
                  <a:srgbClr val="0E7C86"/>
                </a:solidFill>
                <a:latin typeface="Consolas"/>
              </a:rPr>
              <a:t>load-day.sh</a:t>
            </a:r>
            <a:r>
              <a:rPr sz="1400" b="1" i="0">
                <a:solidFill>
                  <a:srgbClr val="0B1E3B"/>
                </a:solidFill>
                <a:latin typeface="Calibri"/>
              </a:rPr>
              <a:t>)</a:t>
            </a:r>
          </a:p>
        </p:txBody>
      </p:sp>
      <p:sp>
        <p:nvSpPr>
          <p:cNvPr id="11" name="Rounded Rectangle 10"/>
          <p:cNvSpPr/>
          <p:nvPr/>
        </p:nvSpPr>
        <p:spPr>
          <a:xfrm>
            <a:off x="411480" y="1463040"/>
            <a:ext cx="3520440" cy="100584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502920" y="1508760"/>
            <a:ext cx="33375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lake build</a:t>
            </a:r>
          </a:p>
        </p:txBody>
      </p:sp>
      <p:sp>
        <p:nvSpPr>
          <p:cNvPr id="13" name="TextBox 12"/>
          <p:cNvSpPr txBox="1"/>
          <p:nvPr/>
        </p:nvSpPr>
        <p:spPr>
          <a:xfrm>
            <a:off x="502920" y="1828800"/>
            <a:ext cx="3337560" cy="59436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writes the day into a FRESH scratch table on EFS: every file there is live</a:t>
            </a:r>
          </a:p>
        </p:txBody>
      </p:sp>
      <p:cxnSp>
        <p:nvCxnSpPr>
          <p:cNvPr id="14" name="Connector 13"/>
          <p:cNvCxnSpPr/>
          <p:nvPr/>
        </p:nvCxnSpPr>
        <p:spPr>
          <a:xfrm>
            <a:off x="3931920" y="1965960"/>
            <a:ext cx="402336"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34256" y="1463040"/>
            <a:ext cx="3520440" cy="100584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4425696" y="1508760"/>
            <a:ext cx="33375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aws s3 sync</a:t>
            </a:r>
          </a:p>
        </p:txBody>
      </p:sp>
      <p:sp>
        <p:nvSpPr>
          <p:cNvPr id="17" name="TextBox 16"/>
          <p:cNvSpPr txBox="1"/>
          <p:nvPr/>
        </p:nvSpPr>
        <p:spPr>
          <a:xfrm>
            <a:off x="4425696" y="1828800"/>
            <a:ext cx="3337560" cy="59436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copies the data files to S3: new UUID names, nothing in S3 is overwritten</a:t>
            </a:r>
          </a:p>
        </p:txBody>
      </p:sp>
      <p:cxnSp>
        <p:nvCxnSpPr>
          <p:cNvPr id="18" name="Connector 17"/>
          <p:cNvCxnSpPr/>
          <p:nvPr/>
        </p:nvCxnSpPr>
        <p:spPr>
          <a:xfrm>
            <a:off x="7854696" y="1965960"/>
            <a:ext cx="402336"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257032" y="1463040"/>
            <a:ext cx="3520440" cy="100584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8348472" y="1508760"/>
            <a:ext cx="33375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lake publish</a:t>
            </a:r>
          </a:p>
        </p:txBody>
      </p:sp>
      <p:sp>
        <p:nvSpPr>
          <p:cNvPr id="21" name="TextBox 20"/>
          <p:cNvSpPr txBox="1"/>
          <p:nvPr/>
        </p:nvSpPr>
        <p:spPr>
          <a:xfrm>
            <a:off x="8348472" y="1828800"/>
            <a:ext cx="3337560" cy="59436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ONE commit that adds the new files and removes the day's previous files</a:t>
            </a:r>
          </a:p>
        </p:txBody>
      </p:sp>
      <p:sp>
        <p:nvSpPr>
          <p:cNvPr id="22" name="TextBox 21"/>
          <p:cNvSpPr txBox="1"/>
          <p:nvPr/>
        </p:nvSpPr>
        <p:spPr>
          <a:xfrm>
            <a:off x="411480" y="2560320"/>
            <a:ext cx="3657600" cy="365760"/>
          </a:xfrm>
          <a:prstGeom prst="rect">
            <a:avLst/>
          </a:prstGeom>
          <a:noFill/>
        </p:spPr>
        <p:txBody>
          <a:bodyPr wrap="square" lIns="0" rIns="0" tIns="0" bIns="0" anchor="t">
            <a:spAutoFit/>
          </a:bodyPr>
          <a:lstStyle/>
          <a:p>
            <a:pPr algn="l">
              <a:spcAft>
                <a:spcPts val="600"/>
              </a:spcAft>
              <a:buNone/>
            </a:pPr>
            <a:r>
              <a:rPr sz="1400" b="1" i="0">
                <a:solidFill>
                  <a:srgbClr val="0B1E3B"/>
                </a:solidFill>
                <a:latin typeface="Calibri"/>
              </a:rPr>
              <a:t>Iceberg (</a:t>
            </a:r>
            <a:r>
              <a:rPr sz="1300" b="1" i="0">
                <a:solidFill>
                  <a:srgbClr val="0E7C86"/>
                </a:solidFill>
                <a:latin typeface="Consolas"/>
              </a:rPr>
              <a:t>IcebergLoader</a:t>
            </a:r>
            <a:r>
              <a:rPr sz="1400" b="1" i="0">
                <a:solidFill>
                  <a:srgbClr val="0B1E3B"/>
                </a:solidFill>
                <a:latin typeface="Calibri"/>
              </a:rPr>
              <a:t>)</a:t>
            </a:r>
          </a:p>
        </p:txBody>
      </p:sp>
      <p:sp>
        <p:nvSpPr>
          <p:cNvPr id="23" name="Rounded Rectangle 22"/>
          <p:cNvSpPr/>
          <p:nvPr/>
        </p:nvSpPr>
        <p:spPr>
          <a:xfrm>
            <a:off x="411480" y="2926080"/>
            <a:ext cx="2651760" cy="91440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xtBox 23"/>
          <p:cNvSpPr txBox="1"/>
          <p:nvPr/>
        </p:nvSpPr>
        <p:spPr>
          <a:xfrm>
            <a:off x="502920" y="2971800"/>
            <a:ext cx="246887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read</a:t>
            </a:r>
          </a:p>
        </p:txBody>
      </p:sp>
      <p:sp>
        <p:nvSpPr>
          <p:cNvPr id="25" name="TextBox 24"/>
          <p:cNvSpPr txBox="1"/>
          <p:nvPr/>
        </p:nvSpPr>
        <p:spPr>
          <a:xfrm>
            <a:off x="502920" y="3291840"/>
            <a:ext cx="2468879" cy="5029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the day's JSON Lines</a:t>
            </a:r>
          </a:p>
        </p:txBody>
      </p:sp>
      <p:cxnSp>
        <p:nvCxnSpPr>
          <p:cNvPr id="26" name="Connector 25"/>
          <p:cNvCxnSpPr/>
          <p:nvPr/>
        </p:nvCxnSpPr>
        <p:spPr>
          <a:xfrm>
            <a:off x="3063240" y="3383280"/>
            <a:ext cx="25603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319272" y="2926080"/>
            <a:ext cx="2651760" cy="91440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3410712" y="2971800"/>
            <a:ext cx="246887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sort</a:t>
            </a:r>
          </a:p>
        </p:txBody>
      </p:sp>
      <p:sp>
        <p:nvSpPr>
          <p:cNvPr id="29" name="TextBox 28"/>
          <p:cNvSpPr txBox="1"/>
          <p:nvPr/>
        </p:nvSpPr>
        <p:spPr>
          <a:xfrm>
            <a:off x="3410712" y="3291840"/>
            <a:ext cx="2468879" cy="5029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per day, spilled runs beyond </a:t>
            </a:r>
            <a:r>
              <a:rPr sz="1100" b="0" i="0">
                <a:solidFill>
                  <a:srgbClr val="0E7C86"/>
                </a:solidFill>
                <a:latin typeface="Consolas"/>
              </a:rPr>
              <a:t>--buffer-mb</a:t>
            </a:r>
          </a:p>
        </p:txBody>
      </p:sp>
      <p:cxnSp>
        <p:nvCxnSpPr>
          <p:cNvPr id="30" name="Connector 29"/>
          <p:cNvCxnSpPr/>
          <p:nvPr/>
        </p:nvCxnSpPr>
        <p:spPr>
          <a:xfrm>
            <a:off x="5971032" y="3383280"/>
            <a:ext cx="25603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227064" y="2926080"/>
            <a:ext cx="2651760" cy="91440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6318504" y="2971800"/>
            <a:ext cx="246887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merge</a:t>
            </a:r>
          </a:p>
        </p:txBody>
      </p:sp>
      <p:sp>
        <p:nvSpPr>
          <p:cNvPr id="33" name="TextBox 32"/>
          <p:cNvSpPr txBox="1"/>
          <p:nvPr/>
        </p:nvSpPr>
        <p:spPr>
          <a:xfrm>
            <a:off x="6318504" y="3291840"/>
            <a:ext cx="2468879" cy="5029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runs in id order; files of 250,000 rows</a:t>
            </a:r>
          </a:p>
        </p:txBody>
      </p:sp>
      <p:cxnSp>
        <p:nvCxnSpPr>
          <p:cNvPr id="34" name="Connector 33"/>
          <p:cNvCxnSpPr/>
          <p:nvPr/>
        </p:nvCxnSpPr>
        <p:spPr>
          <a:xfrm>
            <a:off x="8878824" y="3383280"/>
            <a:ext cx="25603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134856" y="2926080"/>
            <a:ext cx="2651760" cy="91440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9226296" y="2971800"/>
            <a:ext cx="246887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commit</a:t>
            </a:r>
          </a:p>
        </p:txBody>
      </p:sp>
      <p:sp>
        <p:nvSpPr>
          <p:cNvPr id="37" name="TextBox 36"/>
          <p:cNvSpPr txBox="1"/>
          <p:nvPr/>
        </p:nvSpPr>
        <p:spPr>
          <a:xfrm>
            <a:off x="9226296" y="3291840"/>
            <a:ext cx="2468879" cy="5029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ONE overwrite of the day's partition</a:t>
            </a:r>
          </a:p>
        </p:txBody>
      </p:sp>
      <p:sp>
        <p:nvSpPr>
          <p:cNvPr id="38" name="TextBox 37"/>
          <p:cNvSpPr txBox="1"/>
          <p:nvPr/>
        </p:nvSpPr>
        <p:spPr>
          <a:xfrm>
            <a:off x="411480" y="3977639"/>
            <a:ext cx="11365992" cy="1371600"/>
          </a:xfrm>
          <a:prstGeom prst="rect">
            <a:avLst/>
          </a:prstGeom>
          <a:noFill/>
        </p:spPr>
        <p:txBody>
          <a:bodyPr wrap="square" lIns="0" rIns="0" tIns="0" bIns="0" anchor="t">
            <a:spAutoFit/>
          </a:bodyPr>
          <a:lstStyle/>
          <a:p>
            <a:pPr algn="l" marL="201168" indent="-201168">
              <a:spcAft>
                <a:spcPts val="400"/>
              </a:spcAft>
              <a:buClr>
                <a:srgbClr val="E87A1E"/>
              </a:buClr>
              <a:buSzPct val="100000"/>
              <a:buFont typeface="Arial"/>
              <a:buChar char="•"/>
            </a:pPr>
            <a:r>
              <a:rPr sz="1250" b="0" i="0">
                <a:solidFill>
                  <a:srgbClr val="1C2433"/>
                </a:solidFill>
                <a:latin typeface="Calibri"/>
              </a:rPr>
              <a:t>A reader sees </a:t>
            </a:r>
            <a:r>
              <a:rPr sz="1250" b="1" i="0">
                <a:solidFill>
                  <a:srgbClr val="1C2433"/>
                </a:solidFill>
                <a:latin typeface="Calibri"/>
              </a:rPr>
              <a:t>the old day or the new day, never a mixture</a:t>
            </a:r>
            <a:r>
              <a:rPr sz="1250" b="0" i="0">
                <a:solidFill>
                  <a:srgbClr val="1C2433"/>
                </a:solidFill>
                <a:latin typeface="Calibri"/>
              </a:rPr>
              <a:t>; the previous version stays readable (</a:t>
            </a:r>
            <a:r>
              <a:rPr sz="1250" b="0" i="1">
                <a:solidFill>
                  <a:srgbClr val="1C2433"/>
                </a:solidFill>
                <a:latin typeface="Calibri"/>
              </a:rPr>
              <a:t>known at</a:t>
            </a:r>
            <a:r>
              <a:rPr sz="1250" b="0" i="0">
                <a:solidFill>
                  <a:srgbClr val="1C2433"/>
                </a:solidFill>
                <a:latin typeface="Calibri"/>
              </a:rPr>
              <a:t>) until vacuum (</a:t>
            </a:r>
            <a:r>
              <a:rPr sz="1150" b="0" i="0">
                <a:solidFill>
                  <a:srgbClr val="0E7C86"/>
                </a:solidFill>
                <a:latin typeface="Consolas"/>
              </a:rPr>
              <a:t>LAKE_VACUUM_HOURS</a:t>
            </a:r>
            <a:r>
              <a:rPr sz="1250" b="0" i="0">
                <a:solidFill>
                  <a:srgbClr val="1C2433"/>
                </a:solidFill>
                <a:latin typeface="Calibri"/>
              </a:rPr>
              <a:t>, 168 h) or snapshot expiry (</a:t>
            </a:r>
            <a:r>
              <a:rPr sz="1150" b="0" i="0">
                <a:solidFill>
                  <a:srgbClr val="0E7C86"/>
                </a:solidFill>
                <a:latin typeface="Consolas"/>
              </a:rPr>
              <a:t>--expire-hours</a:t>
            </a:r>
            <a:r>
              <a:rPr sz="1250" b="0" i="0">
                <a:solidFill>
                  <a:srgbClr val="1C2433"/>
                </a:solidFill>
                <a:latin typeface="Calibri"/>
              </a:rPr>
              <a:t>, 168); 7 years for risk</a:t>
            </a:r>
          </a:p>
          <a:p>
            <a:pPr algn="l" marL="201168" indent="-201168">
              <a:spcAft>
                <a:spcPts val="400"/>
              </a:spcAft>
              <a:buClr>
                <a:srgbClr val="E87A1E"/>
              </a:buClr>
              <a:buSzPct val="100000"/>
              <a:buFont typeface="Arial"/>
              <a:buChar char="•"/>
            </a:pPr>
            <a:r>
              <a:rPr sz="1250" b="0" i="0">
                <a:solidFill>
                  <a:srgbClr val="1C2433"/>
                </a:solidFill>
                <a:latin typeface="Calibri"/>
              </a:rPr>
              <a:t>Delta: about </a:t>
            </a:r>
            <a:r>
              <a:rPr sz="1250" b="1" i="0">
                <a:solidFill>
                  <a:srgbClr val="1C2433"/>
                </a:solidFill>
                <a:latin typeface="Calibri"/>
              </a:rPr>
              <a:t>1,500 commits a year per table</a:t>
            </a:r>
            <a:r>
              <a:rPr sz="1250" b="1" i="0">
                <a:solidFill>
                  <a:srgbClr val="E87A1E"/>
                </a:solidFill>
                <a:latin typeface="Calibri"/>
              </a:rPr>
              <a:t>¹</a:t>
            </a:r>
            <a:r>
              <a:rPr sz="1250" b="0" i="0">
                <a:solidFill>
                  <a:srgbClr val="1C2433"/>
                </a:solidFill>
                <a:latin typeface="Calibri"/>
              </a:rPr>
              <a:t> including maintenance; </a:t>
            </a:r>
            <a:r>
              <a:rPr sz="1150" b="0" i="0">
                <a:solidFill>
                  <a:srgbClr val="0E7C86"/>
                </a:solidFill>
                <a:latin typeface="Consolas"/>
              </a:rPr>
              <a:t>lake publish</a:t>
            </a:r>
            <a:r>
              <a:rPr sz="1250" b="0" i="0">
                <a:solidFill>
                  <a:srgbClr val="1C2433"/>
                </a:solidFill>
                <a:latin typeface="Calibri"/>
              </a:rPr>
              <a:t> checks every file is in S3 (on the store it commits to) and refuses a change of columns</a:t>
            </a:r>
          </a:p>
          <a:p>
            <a:pPr algn="l" marL="201168" indent="-201168">
              <a:spcAft>
                <a:spcPts val="400"/>
              </a:spcAft>
              <a:buClr>
                <a:srgbClr val="E87A1E"/>
              </a:buClr>
              <a:buSzPct val="100000"/>
              <a:buFont typeface="Arial"/>
              <a:buChar char="•"/>
            </a:pPr>
            <a:r>
              <a:rPr sz="1250" b="0" i="0">
                <a:solidFill>
                  <a:srgbClr val="1C2433"/>
                </a:solidFill>
                <a:latin typeface="Calibri"/>
              </a:rPr>
              <a:t>Iceberg: a day of ≥ 100,000 rows is committed as soon as written, smaller days together; loading a day again replaces it</a:t>
            </a:r>
          </a:p>
        </p:txBody>
      </p:sp>
      <p:sp>
        <p:nvSpPr>
          <p:cNvPr id="39" name="Callout"/>
          <p:cNvSpPr/>
          <p:nvPr/>
        </p:nvSpPr>
        <p:spPr>
          <a:xfrm>
            <a:off x="411480" y="5440680"/>
            <a:ext cx="11365992" cy="91440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Callout edge"/>
          <p:cNvSpPr/>
          <p:nvPr/>
        </p:nvSpPr>
        <p:spPr>
          <a:xfrm>
            <a:off x="411480" y="5458968"/>
            <a:ext cx="82296" cy="87782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xtBox 40"/>
          <p:cNvSpPr txBox="1"/>
          <p:nvPr/>
        </p:nvSpPr>
        <p:spPr>
          <a:xfrm>
            <a:off x="640080" y="5513832"/>
            <a:ext cx="11000232" cy="768096"/>
          </a:xfrm>
          <a:prstGeom prst="rect">
            <a:avLst/>
          </a:prstGeom>
          <a:noFill/>
        </p:spPr>
        <p:txBody>
          <a:bodyPr wrap="square" lIns="0" rIns="0" tIns="0" bIns="0" anchor="ctr">
            <a:spAutoFit/>
          </a:bodyPr>
          <a:lstStyle/>
          <a:p>
            <a:pPr algn="l">
              <a:spcAft>
                <a:spcPts val="600"/>
              </a:spcAft>
              <a:buNone/>
            </a:pPr>
            <a:r>
              <a:rPr sz="1150" b="0" i="0">
                <a:solidFill>
                  <a:srgbClr val="0E7C86"/>
                </a:solidFill>
                <a:latin typeface="Consolas"/>
              </a:rPr>
              <a:t>lake build</a:t>
            </a:r>
            <a:r>
              <a:rPr sz="1250" b="0" i="0">
                <a:solidFill>
                  <a:srgbClr val="1C2433"/>
                </a:solidFill>
                <a:latin typeface="Calibri"/>
              </a:rPr>
              <a:t> and </a:t>
            </a:r>
            <a:r>
              <a:rPr sz="1150" b="0" i="0">
                <a:solidFill>
                  <a:srgbClr val="0E7C86"/>
                </a:solidFill>
                <a:latin typeface="Consolas"/>
              </a:rPr>
              <a:t>lake demo</a:t>
            </a:r>
            <a:r>
              <a:rPr sz="1250" b="0" i="0">
                <a:solidFill>
                  <a:srgbClr val="1C2433"/>
                </a:solidFill>
                <a:latin typeface="Calibri"/>
              </a:rPr>
              <a:t> make one commit per business date (not per partition): sixty days of </a:t>
            </a:r>
            <a:r>
              <a:rPr sz="1150" b="0" i="0">
                <a:solidFill>
                  <a:srgbClr val="0E7C86"/>
                </a:solidFill>
                <a:latin typeface="Consolas"/>
              </a:rPr>
              <a:t>trade_endur</a:t>
            </a:r>
            <a:r>
              <a:rPr sz="1250" b="0" i="0">
                <a:solidFill>
                  <a:srgbClr val="1C2433"/>
                </a:solidFill>
                <a:latin typeface="Calibri"/>
              </a:rPr>
              <a:t> went from 300 commits replaying the whole log (98 s) to 60. Intraday risk batches are the one exception: an appended commit per batch (slide 48).</a:t>
            </a:r>
          </a:p>
        </p:txBody>
      </p:sp>
      <p:sp>
        <p:nvSpPr>
          <p:cNvPr id="42" name="Footnotes"/>
          <p:cNvSpPr txBox="1"/>
          <p:nvPr/>
        </p:nvSpPr>
        <p:spPr>
          <a:xfrm>
            <a:off x="411480" y="6377940"/>
            <a:ext cx="11365992" cy="169164"/>
          </a:xfrm>
          <a:prstGeom prst="rect">
            <a:avLst/>
          </a:prstGeom>
          <a:noFill/>
        </p:spPr>
        <p:txBody>
          <a:bodyPr wrap="square" lIns="0" rIns="0" tIns="0" bIns="0" anchor="t">
            <a:spAutoFit/>
          </a:bodyPr>
          <a:lstStyle/>
          <a:p>
            <a:pPr algn="l">
              <a:lnSpc>
                <a:spcPct val="100000"/>
              </a:lnSpc>
              <a:spcAft>
                <a:spcPts val="0"/>
              </a:spcAft>
              <a:buNone/>
            </a:pPr>
            <a:r>
              <a:rPr sz="900" b="0" i="0">
                <a:solidFill>
                  <a:srgbClr val="5B677A"/>
                </a:solidFill>
                <a:latin typeface="Calibri"/>
              </a:rPr>
              <a:t>¹ AWS_DELTA_LAKE.md 12.1's estimate: 252 load commits plus the nightly maintenance commits (retention, checkpoint, vacuum; Tue–Sat); not broken down in the doc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Why concurrent commits on S3 are safe, in both formats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2 · how it works</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19</a:t>
            </a:r>
          </a:p>
        </p:txBody>
      </p:sp>
      <p:graphicFrame>
        <p:nvGraphicFramePr>
          <p:cNvPr id="10" name="Table"/>
          <p:cNvGraphicFramePr>
            <a:graphicFrameLocks noGrp="1"/>
          </p:cNvGraphicFramePr>
          <p:nvPr/>
        </p:nvGraphicFramePr>
        <p:xfrm>
          <a:off x="411480" y="1097280"/>
          <a:ext cx="11365992" cy="3364992"/>
        </p:xfrm>
        <a:graphic>
          <a:graphicData uri="http://schemas.openxmlformats.org/drawingml/2006/table">
            <a:tbl>
              <a:tblPr firstRow="0" bandRow="0">
                <a:tableStyleId>{5940675A-B579-460E-94D1-54222C63F5DA}</a:tableStyleId>
              </a:tblPr>
              <a:tblGrid>
                <a:gridCol w="3657600"/>
                <a:gridCol w="7708392"/>
              </a:tblGrid>
              <a:tr h="420624">
                <a:tc>
                  <a:txBody>
                    <a:bodyPr wrap="square"/>
                    <a:lstStyle/>
                    <a:p>
                      <a:r>
                        <a:rPr sz="1100" b="1" i="0">
                          <a:solidFill>
                            <a:srgbClr val="FFFFFF"/>
                          </a:solidFill>
                          <a:latin typeface="Calibri"/>
                        </a:rPr>
                        <a:t>Writer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How it commits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20624">
                <a:tc>
                  <a:txBody>
                    <a:bodyPr wrap="square"/>
                    <a:lstStyle/>
                    <a:p>
                      <a:r>
                        <a:rPr sz="1100" b="1" i="0">
                          <a:solidFill>
                            <a:srgbClr val="0E7C86"/>
                          </a:solidFill>
                          <a:latin typeface="Consolas"/>
                        </a:rPr>
                        <a:t>lake publish</a:t>
                      </a:r>
                      <a:r>
                        <a:rPr sz="1100" b="1" i="0">
                          <a:solidFill>
                            <a:srgbClr val="1C2433"/>
                          </a:solidFill>
                          <a:latin typeface="Calibri"/>
                        </a:rPr>
                        <a:t>, </a:t>
                      </a:r>
                      <a:r>
                        <a:rPr sz="1100" b="1" i="0">
                          <a:solidFill>
                            <a:srgbClr val="0E7C86"/>
                          </a:solidFill>
                          <a:latin typeface="Consolas"/>
                        </a:rPr>
                        <a:t>lake maintain</a:t>
                      </a:r>
                      <a:r>
                        <a:rPr sz="1100" b="1" i="0">
                          <a:solidFill>
                            <a:srgbClr val="1C2433"/>
                          </a:solidFill>
                          <a:latin typeface="Calibri"/>
                        </a:rPr>
                        <a:t> (Python deltalake 1.x)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conditional PUT of the commit file (</a:t>
                      </a:r>
                      <a:r>
                        <a:rPr sz="1100" b="0" i="0">
                          <a:solidFill>
                            <a:srgbClr val="0E7C86"/>
                          </a:solidFill>
                          <a:latin typeface="Consolas"/>
                        </a:rPr>
                        <a:t>If-None-Match: *</a:t>
                      </a:r>
                      <a:r>
                        <a:rPr sz="1100" b="0" i="0">
                          <a:solidFill>
                            <a:srgbClr val="1C2433"/>
                          </a:solidFill>
                          <a:latin typeface="Calibri"/>
                        </a:rPr>
                        <a:t>): the second writer gets 412, re-reads the log and retries (20); no DynamoDB lock; unsafe rename refused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0624">
                <a:tc>
                  <a:txBody>
                    <a:bodyPr wrap="square"/>
                    <a:lstStyle/>
                    <a:p>
                      <a:r>
                        <a:rPr sz="1100" b="1" i="0">
                          <a:solidFill>
                            <a:srgbClr val="1C2433"/>
                          </a:solidFill>
                          <a:latin typeface="Calibri"/>
                        </a:rPr>
                        <a:t>Drishti's Java Delta writer (</a:t>
                      </a:r>
                      <a:r>
                        <a:rPr sz="1100" b="1" i="0">
                          <a:solidFill>
                            <a:srgbClr val="0E7C86"/>
                          </a:solidFill>
                          <a:latin typeface="Consolas"/>
                        </a:rPr>
                        <a:t>lake build</a:t>
                      </a:r>
                      <a:r>
                        <a:rPr sz="1100" b="1" i="0">
                          <a:solidFill>
                            <a:srgbClr val="1C2433"/>
                          </a:solidFill>
                          <a:latin typeface="Calibri"/>
                        </a:rPr>
                        <a:t>, Kafka windows)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local disk and EFS: a hard link of a finished commit file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0624">
                <a:tc>
                  <a:txBody>
                    <a:bodyPr wrap="square"/>
                    <a:lstStyle/>
                    <a:p>
                      <a:r>
                        <a:rPr sz="1100" b="1" i="0">
                          <a:solidFill>
                            <a:srgbClr val="1C2433"/>
                          </a:solidFill>
                          <a:latin typeface="Calibri"/>
                        </a:rPr>
                        <a:t>The official-results publisher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on </a:t>
                      </a:r>
                      <a:r>
                        <a:rPr sz="1100" b="0" i="0">
                          <a:solidFill>
                            <a:srgbClr val="0E7C86"/>
                          </a:solidFill>
                          <a:latin typeface="Consolas"/>
                        </a:rPr>
                        <a:t>s3://</a:t>
                      </a:r>
                      <a:r>
                        <a:rPr sz="1100" b="0" i="0">
                          <a:solidFill>
                            <a:srgbClr val="1C2433"/>
                          </a:solidFill>
                          <a:latin typeface="Calibri"/>
                        </a:rPr>
                        <a:t> each Delta commit file is an exclusive create (</a:t>
                      </a:r>
                      <a:r>
                        <a:rPr sz="1100" b="0" i="0">
                          <a:solidFill>
                            <a:srgbClr val="0E7C86"/>
                          </a:solidFill>
                          <a:latin typeface="Consolas"/>
                        </a:rPr>
                        <a:t>If-None-Match: *</a:t>
                      </a:r>
                      <a:r>
                        <a:rPr sz="1100" b="0" i="0">
                          <a:solidFill>
                            <a:srgbClr val="1C2433"/>
                          </a:solidFill>
                          <a:latin typeface="Calibri"/>
                        </a:rPr>
                        <a:t>): two servers both land, the second on the next version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0624">
                <a:tc>
                  <a:txBody>
                    <a:bodyPr wrap="square"/>
                    <a:lstStyle/>
                    <a:p>
                      <a:r>
                        <a:rPr sz="1100" b="1" i="0">
                          <a:solidFill>
                            <a:srgbClr val="1C2433"/>
                          </a:solidFill>
                          <a:latin typeface="Calibri"/>
                        </a:rPr>
                        <a:t>Drishti's Iceberg writer, S3 path-based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conditional PUT of </a:t>
                      </a:r>
                      <a:r>
                        <a:rPr sz="1100" b="0" i="0">
                          <a:solidFill>
                            <a:srgbClr val="0E7C86"/>
                          </a:solidFill>
                          <a:latin typeface="Consolas"/>
                        </a:rPr>
                        <a:t>vN+1.metadata.json</a:t>
                      </a:r>
                      <a:r>
                        <a:rPr sz="1100" b="0" i="0">
                          <a:solidFill>
                            <a:srgbClr val="1C2433"/>
                          </a:solidFill>
                          <a:latin typeface="Calibri"/>
                        </a:rPr>
                        <a:t>, probed at the first commit; a store that ignores it makes the table </a:t>
                      </a:r>
                      <a:r>
                        <a:rPr sz="1100" b="1" i="0">
                          <a:solidFill>
                            <a:srgbClr val="1C2433"/>
                          </a:solidFill>
                          <a:latin typeface="Calibri"/>
                        </a:rPr>
                        <a:t>single-writer</a:t>
                      </a:r>
                      <a:r>
                        <a:rPr sz="1100" b="0" i="0">
                          <a:solidFill>
                            <a:srgbClr val="1C2433"/>
                          </a:solidFill>
                          <a:latin typeface="Calibri"/>
                        </a:rPr>
                        <a:t>; then </a:t>
                      </a:r>
                      <a:r>
                        <a:rPr sz="1100" b="0" i="0">
                          <a:solidFill>
                            <a:srgbClr val="0E7C86"/>
                          </a:solidFill>
                          <a:latin typeface="Consolas"/>
                        </a:rPr>
                        <a:t>version-hint.text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0624">
                <a:tc>
                  <a:txBody>
                    <a:bodyPr wrap="square"/>
                    <a:lstStyle/>
                    <a:p>
                      <a:r>
                        <a:rPr sz="1100" b="1" i="0">
                          <a:solidFill>
                            <a:srgbClr val="1C2433"/>
                          </a:solidFill>
                          <a:latin typeface="Calibri"/>
                        </a:rPr>
                        <a:t>Drishti's Iceberg writer, local disk or EFS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finished </a:t>
                      </a:r>
                      <a:r>
                        <a:rPr sz="1100" b="0" i="0">
                          <a:solidFill>
                            <a:srgbClr val="0E7C86"/>
                          </a:solidFill>
                          <a:latin typeface="Consolas"/>
                        </a:rPr>
                        <a:t>vN+1.metadata.json</a:t>
                      </a:r>
                      <a:r>
                        <a:rPr sz="1100" b="0" i="0">
                          <a:solidFill>
                            <a:srgbClr val="1C2433"/>
                          </a:solidFill>
                          <a:latin typeface="Calibri"/>
                        </a:rPr>
                        <a:t> created under its final name by a hard link (fails if taken): 4 writers at once lose nothing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0624">
                <a:tc>
                  <a:txBody>
                    <a:bodyPr wrap="square"/>
                    <a:lstStyle/>
                    <a:p>
                      <a:r>
                        <a:rPr sz="1100" b="1" i="0">
                          <a:solidFill>
                            <a:srgbClr val="1C2433"/>
                          </a:solidFill>
                          <a:latin typeface="Calibri"/>
                        </a:rPr>
                        <a:t>Iceberg behind a REST catalog (Glue, Polaris)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catalog's commit with requirements (</a:t>
                      </a:r>
                      <a:r>
                        <a:rPr sz="1100" b="0" i="0">
                          <a:solidFill>
                            <a:srgbClr val="0E7C86"/>
                          </a:solidFill>
                          <a:latin typeface="Consolas"/>
                        </a:rPr>
                        <a:t>assert-table-uuid</a:t>
                      </a:r>
                      <a:r>
                        <a:rPr sz="1100" b="0" i="0">
                          <a:solidFill>
                            <a:srgbClr val="1C2433"/>
                          </a:solidFill>
                          <a:latin typeface="Calibri"/>
                        </a:rPr>
                        <a:t>, </a:t>
                      </a:r>
                      <a:r>
                        <a:rPr sz="1100" b="0" i="0">
                          <a:solidFill>
                            <a:srgbClr val="0E7C86"/>
                          </a:solidFill>
                          <a:latin typeface="Consolas"/>
                        </a:rPr>
                        <a:t>assert-ref-snapshot-id</a:t>
                      </a:r>
                      <a:r>
                        <a:rPr sz="1100" b="0" i="0">
                          <a:solidFill>
                            <a:srgbClr val="1C2433"/>
                          </a:solidFill>
                          <a:latin typeface="Calibri"/>
                        </a:rPr>
                        <a:t>, …); a </a:t>
                      </a:r>
                      <a:r>
                        <a:rPr sz="1100" b="1" i="0">
                          <a:solidFill>
                            <a:srgbClr val="1C2433"/>
                          </a:solidFill>
                          <a:latin typeface="Calibri"/>
                        </a:rPr>
                        <a:t>409</a:t>
                      </a:r>
                      <a:r>
                        <a:rPr sz="1100" b="0" i="0">
                          <a:solidFill>
                            <a:srgbClr val="1C2433"/>
                          </a:solidFill>
                          <a:latin typeface="Calibri"/>
                        </a:rPr>
                        <a:t> is re-read, re-applied, retried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0624">
                <a:tc>
                  <a:txBody>
                    <a:bodyPr wrap="square"/>
                    <a:lstStyle/>
                    <a:p>
                      <a:r>
                        <a:rPr sz="1100" b="1" i="0">
                          <a:solidFill>
                            <a:srgbClr val="1C2433"/>
                          </a:solidFill>
                          <a:latin typeface="Calibri"/>
                        </a:rPr>
                        <a:t>The content store's s3 backend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If-None-Match: *</a:t>
                      </a:r>
                      <a:r>
                        <a:rPr sz="1100" b="0" i="0">
                          <a:solidFill>
                            <a:srgbClr val="1C2433"/>
                          </a:solidFill>
                          <a:latin typeface="Calibri"/>
                        </a:rPr>
                        <a:t> to create, </a:t>
                      </a:r>
                      <a:r>
                        <a:rPr sz="1100" b="0" i="0">
                          <a:solidFill>
                            <a:srgbClr val="0E7C86"/>
                          </a:solidFill>
                          <a:latin typeface="Consolas"/>
                        </a:rPr>
                        <a:t>If-Match: &lt;ETag&gt;</a:t>
                      </a:r>
                      <a:r>
                        <a:rPr sz="1100" b="0" i="0">
                          <a:solidFill>
                            <a:srgbClr val="1C2433"/>
                          </a:solidFill>
                          <a:latin typeface="Calibri"/>
                        </a:rPr>
                        <a:t> to update; the loser gets </a:t>
                      </a:r>
                      <a:r>
                        <a:rPr sz="1100" b="0" i="0">
                          <a:solidFill>
                            <a:srgbClr val="0E7C86"/>
                          </a:solidFill>
                          <a:latin typeface="Consolas"/>
                        </a:rPr>
                        <a:t>409 DRS-5057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1" name="TextBox 10"/>
          <p:cNvSpPr txBox="1"/>
          <p:nvPr/>
        </p:nvSpPr>
        <p:spPr>
          <a:xfrm>
            <a:off x="411480" y="5029200"/>
            <a:ext cx="11365992" cy="502920"/>
          </a:xfrm>
          <a:prstGeom prst="rect">
            <a:avLst/>
          </a:prstGeom>
          <a:noFill/>
        </p:spPr>
        <p:txBody>
          <a:bodyPr wrap="square" lIns="0" rIns="0" tIns="0" bIns="0" anchor="t">
            <a:spAutoFit/>
          </a:bodyPr>
          <a:lstStyle/>
          <a:p>
            <a:pPr algn="l">
              <a:spcAft>
                <a:spcPts val="600"/>
              </a:spcAft>
              <a:buNone/>
            </a:pPr>
            <a:r>
              <a:rPr sz="1200" b="1" i="0">
                <a:solidFill>
                  <a:srgbClr val="1C2433"/>
                </a:solidFill>
                <a:latin typeface="Calibri"/>
              </a:rPr>
              <a:t>Two Iceberg writers on one table:</a:t>
            </a:r>
            <a:r>
              <a:rPr sz="1200" b="0" i="0">
                <a:solidFill>
                  <a:srgbClr val="1C2433"/>
                </a:solidFill>
                <a:latin typeface="Calibri"/>
              </a:rPr>
              <a:t> one wins each version; the other re-applies its change and retries (10). A re-applied rewrite of a day that changed meanwhile is refused; an append always re-applies; files of a commit that finally failed are deleted at once.</a:t>
            </a:r>
          </a:p>
        </p:txBody>
      </p:sp>
      <p:sp>
        <p:nvSpPr>
          <p:cNvPr id="12" name="Callout"/>
          <p:cNvSpPr/>
          <p:nvPr/>
        </p:nvSpPr>
        <p:spPr>
          <a:xfrm>
            <a:off x="411480" y="5577840"/>
            <a:ext cx="11365992" cy="804672"/>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allout edge"/>
          <p:cNvSpPr/>
          <p:nvPr/>
        </p:nvSpPr>
        <p:spPr>
          <a:xfrm>
            <a:off x="411480" y="5596127"/>
            <a:ext cx="82296" cy="768096"/>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640080" y="5650992"/>
            <a:ext cx="11000232" cy="658368"/>
          </a:xfrm>
          <a:prstGeom prst="rect">
            <a:avLst/>
          </a:prstGeom>
          <a:noFill/>
        </p:spPr>
        <p:txBody>
          <a:bodyPr wrap="square" lIns="0" rIns="0" tIns="0" bIns="0" anchor="ctr">
            <a:spAutoFit/>
          </a:bodyPr>
          <a:lstStyle/>
          <a:p>
            <a:pPr algn="l">
              <a:spcAft>
                <a:spcPts val="600"/>
              </a:spcAft>
              <a:buNone/>
            </a:pPr>
            <a:r>
              <a:rPr sz="1200" b="1" i="0">
                <a:solidFill>
                  <a:srgbClr val="1C2433"/>
                </a:solidFill>
                <a:latin typeface="Calibri"/>
              </a:rPr>
              <a:t>Two layers of safety.</a:t>
            </a:r>
            <a:r>
              <a:rPr sz="1200" b="0" i="0">
                <a:solidFill>
                  <a:srgbClr val="1C2433"/>
                </a:solidFill>
                <a:latin typeface="Calibri"/>
              </a:rPr>
              <a:t> </a:t>
            </a:r>
            <a:r>
              <a:rPr sz="1100" b="0" i="0">
                <a:solidFill>
                  <a:srgbClr val="0E7C86"/>
                </a:solidFill>
                <a:latin typeface="Consolas"/>
              </a:rPr>
              <a:t>check-conditional-writes.sh</a:t>
            </a:r>
            <a:r>
              <a:rPr sz="1200" b="0" i="0">
                <a:solidFill>
                  <a:srgbClr val="1C2433"/>
                </a:solidFill>
                <a:latin typeface="Calibri"/>
              </a:rPr>
              <a:t> proves the bucket refuses a second create; on top, the scripts take a lock per table on EFS (flock, NFSv4 byte-range locks, released if a task dies). </a:t>
            </a:r>
            <a:r>
              <a:rPr sz="1200" b="1" i="0">
                <a:solidFill>
                  <a:srgbClr val="1C2433"/>
                </a:solidFill>
                <a:latin typeface="Calibri"/>
              </a:rPr>
              <a:t>Tested:</a:t>
            </a:r>
            <a:r>
              <a:rPr sz="1200" b="0" i="0">
                <a:solidFill>
                  <a:srgbClr val="1C2433"/>
                </a:solidFill>
                <a:latin typeface="Calibri"/>
              </a:rPr>
              <a:t> three </a:t>
            </a:r>
            <a:r>
              <a:rPr sz="1100" b="0" i="0">
                <a:solidFill>
                  <a:srgbClr val="0E7C86"/>
                </a:solidFill>
                <a:latin typeface="Consolas"/>
              </a:rPr>
              <a:t>lake publish</a:t>
            </a:r>
            <a:r>
              <a:rPr sz="1200" b="0" i="0">
                <a:solidFill>
                  <a:srgbClr val="1C2433"/>
                </a:solidFill>
                <a:latin typeface="Calibri"/>
              </a:rPr>
              <a:t> runs at once on moto, one winner per version; racing Iceberg writers on MinIO. No DynamoDB lock table in either format.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content store: cluster state on S3 without a shared disk</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2 · how it works</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20</a:t>
            </a:r>
          </a:p>
        </p:txBody>
      </p:sp>
      <p:sp>
        <p:nvSpPr>
          <p:cNvPr id="10" name="Rounded Rectangle 9"/>
          <p:cNvSpPr/>
          <p:nvPr/>
        </p:nvSpPr>
        <p:spPr>
          <a:xfrm>
            <a:off x="411480" y="1188720"/>
            <a:ext cx="6583680" cy="11430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02920" y="1234440"/>
            <a:ext cx="64008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One interface, four backends (config/store/store.yaml)</a:t>
            </a:r>
          </a:p>
        </p:txBody>
      </p:sp>
      <p:sp>
        <p:nvSpPr>
          <p:cNvPr id="12" name="TextBox 11"/>
          <p:cNvSpPr txBox="1"/>
          <p:nvPr/>
        </p:nvSpPr>
        <p:spPr>
          <a:xfrm>
            <a:off x="502920" y="1554480"/>
            <a:ext cx="6400800" cy="7315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300" b="0" i="0">
                <a:solidFill>
                  <a:srgbClr val="1C2433"/>
                </a:solidFill>
                <a:latin typeface="Calibri"/>
              </a:rPr>
              <a:t>get · compare-and-set put · list · delete · changes</a:t>
            </a:r>
          </a:p>
        </p:txBody>
      </p:sp>
      <p:sp>
        <p:nvSpPr>
          <p:cNvPr id="13" name="Rounded Rectangle 12"/>
          <p:cNvSpPr/>
          <p:nvPr/>
        </p:nvSpPr>
        <p:spPr>
          <a:xfrm>
            <a:off x="411480" y="2514600"/>
            <a:ext cx="1554480" cy="1371600"/>
          </a:xfrm>
          <a:prstGeom prst="roundRect">
            <a:avLst>
              <a:gd name="adj" fmla="val 6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02920" y="2560320"/>
            <a:ext cx="13716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filesystem</a:t>
            </a:r>
          </a:p>
        </p:txBody>
      </p:sp>
      <p:sp>
        <p:nvSpPr>
          <p:cNvPr id="15" name="TextBox 14"/>
          <p:cNvSpPr txBox="1"/>
          <p:nvPr/>
        </p:nvSpPr>
        <p:spPr>
          <a:xfrm>
            <a:off x="502920" y="2880360"/>
            <a:ext cx="1371600" cy="9601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default; a shared mount (EFS) on a cluster</a:t>
            </a:r>
          </a:p>
        </p:txBody>
      </p:sp>
      <p:sp>
        <p:nvSpPr>
          <p:cNvPr id="16" name="Rounded Rectangle 15"/>
          <p:cNvSpPr/>
          <p:nvPr/>
        </p:nvSpPr>
        <p:spPr>
          <a:xfrm>
            <a:off x="2084832" y="2514600"/>
            <a:ext cx="1554480" cy="1371600"/>
          </a:xfrm>
          <a:prstGeom prst="roundRect">
            <a:avLst>
              <a:gd name="adj" fmla="val 6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2176272" y="2560320"/>
            <a:ext cx="13716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sqlite</a:t>
            </a:r>
          </a:p>
        </p:txBody>
      </p:sp>
      <p:sp>
        <p:nvSpPr>
          <p:cNvPr id="18" name="TextBox 17"/>
          <p:cNvSpPr txBox="1"/>
          <p:nvPr/>
        </p:nvSpPr>
        <p:spPr>
          <a:xfrm>
            <a:off x="2176272" y="2880360"/>
            <a:ext cx="1371600" cy="9601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single node</a:t>
            </a:r>
          </a:p>
        </p:txBody>
      </p:sp>
      <p:sp>
        <p:nvSpPr>
          <p:cNvPr id="19" name="Rounded Rectangle 18"/>
          <p:cNvSpPr/>
          <p:nvPr/>
        </p:nvSpPr>
        <p:spPr>
          <a:xfrm>
            <a:off x="3758184" y="2514600"/>
            <a:ext cx="1554480" cy="1371600"/>
          </a:xfrm>
          <a:prstGeom prst="roundRect">
            <a:avLst>
              <a:gd name="adj" fmla="val 6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3849624" y="2560320"/>
            <a:ext cx="13716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postgres</a:t>
            </a:r>
          </a:p>
        </p:txBody>
      </p:sp>
      <p:sp>
        <p:nvSpPr>
          <p:cNvPr id="21" name="TextBox 20"/>
          <p:cNvSpPr txBox="1"/>
          <p:nvPr/>
        </p:nvSpPr>
        <p:spPr>
          <a:xfrm>
            <a:off x="3849624" y="2880360"/>
            <a:ext cx="1371600" cy="9601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one SQL table</a:t>
            </a:r>
          </a:p>
        </p:txBody>
      </p:sp>
      <p:sp>
        <p:nvSpPr>
          <p:cNvPr id="22" name="Rounded Rectangle 21"/>
          <p:cNvSpPr/>
          <p:nvPr/>
        </p:nvSpPr>
        <p:spPr>
          <a:xfrm>
            <a:off x="5431536" y="2514600"/>
            <a:ext cx="1554480" cy="137160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5522976" y="2560320"/>
            <a:ext cx="13716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s3</a:t>
            </a:r>
          </a:p>
        </p:txBody>
      </p:sp>
      <p:sp>
        <p:nvSpPr>
          <p:cNvPr id="24" name="TextBox 23"/>
          <p:cNvSpPr txBox="1"/>
          <p:nvPr/>
        </p:nvSpPr>
        <p:spPr>
          <a:xfrm>
            <a:off x="5522976" y="2880360"/>
            <a:ext cx="1371600" cy="9601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conditional PUT; ETag versions</a:t>
            </a:r>
          </a:p>
        </p:txBody>
      </p:sp>
      <p:sp>
        <p:nvSpPr>
          <p:cNvPr id="25" name="TextBox 24"/>
          <p:cNvSpPr txBox="1"/>
          <p:nvPr/>
        </p:nvSpPr>
        <p:spPr>
          <a:xfrm>
            <a:off x="411480" y="4114800"/>
            <a:ext cx="6583680" cy="2240280"/>
          </a:xfrm>
          <a:prstGeom prst="rect">
            <a:avLst/>
          </a:prstGeom>
          <a:noFill/>
        </p:spPr>
        <p:txBody>
          <a:bodyPr wrap="square" lIns="0" rIns="0" tIns="0" bIns="0" anchor="t">
            <a:spAutoFit/>
          </a:bodyPr>
          <a:lstStyle/>
          <a:p>
            <a:pPr algn="l" marL="201168" indent="-201168">
              <a:spcAft>
                <a:spcPts val="600"/>
              </a:spcAft>
              <a:buClr>
                <a:srgbClr val="E87A1E"/>
              </a:buClr>
              <a:buSzPct val="100000"/>
              <a:buFont typeface="Arial"/>
              <a:buChar char="•"/>
            </a:pPr>
            <a:r>
              <a:rPr sz="1300" b="1" i="0">
                <a:solidFill>
                  <a:srgbClr val="1C2433"/>
                </a:solidFill>
                <a:latin typeface="Calibri"/>
              </a:rPr>
              <a:t>s3:</a:t>
            </a:r>
            <a:r>
              <a:rPr sz="1300" b="0" i="0">
                <a:solidFill>
                  <a:srgbClr val="1C2433"/>
                </a:solidFill>
                <a:latin typeface="Calibri"/>
              </a:rPr>
              <a:t> </a:t>
            </a:r>
            <a:r>
              <a:rPr sz="1200" b="0" i="0">
                <a:solidFill>
                  <a:srgbClr val="0E7C86"/>
                </a:solidFill>
                <a:latin typeface="Consolas"/>
              </a:rPr>
              <a:t>&lt;prefix&gt;/items/&lt;key&gt;</a:t>
            </a:r>
            <a:r>
              <a:rPr sz="1300" b="0" i="0">
                <a:solidFill>
                  <a:srgbClr val="1C2433"/>
                </a:solidFill>
                <a:latin typeface="Calibri"/>
              </a:rPr>
              <a:t>; create </a:t>
            </a:r>
            <a:r>
              <a:rPr sz="1200" b="0" i="0">
                <a:solidFill>
                  <a:srgbClr val="0E7C86"/>
                </a:solidFill>
                <a:latin typeface="Consolas"/>
              </a:rPr>
              <a:t>If-None-Match: *</a:t>
            </a:r>
            <a:r>
              <a:rPr sz="1300" b="0" i="0">
                <a:solidFill>
                  <a:srgbClr val="1C2433"/>
                </a:solidFill>
                <a:latin typeface="Calibri"/>
              </a:rPr>
              <a:t>; update </a:t>
            </a:r>
            <a:r>
              <a:rPr sz="1200" b="0" i="0">
                <a:solidFill>
                  <a:srgbClr val="0E7C86"/>
                </a:solidFill>
                <a:latin typeface="Consolas"/>
              </a:rPr>
              <a:t>If-Match: &lt;ETag&gt;</a:t>
            </a:r>
            <a:r>
              <a:rPr sz="1300" b="0" i="0">
                <a:solidFill>
                  <a:srgbClr val="1C2433"/>
                </a:solidFill>
                <a:latin typeface="Calibri"/>
              </a:rPr>
              <a:t>; a lost race is </a:t>
            </a:r>
            <a:r>
              <a:rPr sz="1200" b="0" i="0">
                <a:solidFill>
                  <a:srgbClr val="0E7C86"/>
                </a:solidFill>
                <a:latin typeface="Consolas"/>
              </a:rPr>
              <a:t>409 DRS-5057</a:t>
            </a:r>
          </a:p>
          <a:p>
            <a:pPr algn="l" marL="201168" indent="-201168">
              <a:spcAft>
                <a:spcPts val="600"/>
              </a:spcAft>
              <a:buClr>
                <a:srgbClr val="E87A1E"/>
              </a:buClr>
              <a:buSzPct val="100000"/>
              <a:buFont typeface="Arial"/>
              <a:buChar char="•"/>
            </a:pPr>
            <a:r>
              <a:rPr sz="1300" b="0" i="0">
                <a:solidFill>
                  <a:srgbClr val="1C2433"/>
                </a:solidFill>
                <a:latin typeface="Calibri"/>
              </a:rPr>
              <a:t>Two nodes saving one item at once: one success, one </a:t>
            </a:r>
            <a:r>
              <a:rPr sz="1200" b="0" i="0">
                <a:solidFill>
                  <a:srgbClr val="0E7C86"/>
                </a:solidFill>
                <a:latin typeface="Consolas"/>
              </a:rPr>
              <a:t>409</a:t>
            </a:r>
            <a:r>
              <a:rPr sz="1300" b="0" i="0">
                <a:solidFill>
                  <a:srgbClr val="1C2433"/>
                </a:solidFill>
                <a:latin typeface="Calibri"/>
              </a:rPr>
              <a:t>; an unreachable store </a:t>
            </a:r>
            <a:r>
              <a:rPr sz="1200" b="0" i="0">
                <a:solidFill>
                  <a:srgbClr val="0E7C86"/>
                </a:solidFill>
                <a:latin typeface="Consolas"/>
              </a:rPr>
              <a:t>503 DRS-5059</a:t>
            </a:r>
          </a:p>
          <a:p>
            <a:pPr algn="l" marL="201168" indent="-201168">
              <a:spcAft>
                <a:spcPts val="600"/>
              </a:spcAft>
              <a:buClr>
                <a:srgbClr val="E87A1E"/>
              </a:buClr>
              <a:buSzPct val="100000"/>
              <a:buFont typeface="Arial"/>
              <a:buChar char="•"/>
            </a:pPr>
            <a:r>
              <a:rPr sz="1300" b="0" i="0">
                <a:solidFill>
                  <a:srgbClr val="1C2433"/>
                </a:solidFill>
                <a:latin typeface="Calibri"/>
              </a:rPr>
              <a:t>A dead node's BI run is adopted by exactly one node, by a compare-and-set lease</a:t>
            </a:r>
          </a:p>
        </p:txBody>
      </p:sp>
      <p:sp>
        <p:nvSpPr>
          <p:cNvPr id="26" name="TextBox 25"/>
          <p:cNvSpPr txBox="1"/>
          <p:nvPr/>
        </p:nvSpPr>
        <p:spPr>
          <a:xfrm>
            <a:off x="7269480" y="1188720"/>
            <a:ext cx="4507992" cy="365760"/>
          </a:xfrm>
          <a:prstGeom prst="rect">
            <a:avLst/>
          </a:prstGeom>
          <a:noFill/>
        </p:spPr>
        <p:txBody>
          <a:bodyPr wrap="square" lIns="0" rIns="0" tIns="0" bIns="0" anchor="t">
            <a:spAutoFit/>
          </a:bodyPr>
          <a:lstStyle/>
          <a:p>
            <a:pPr algn="l">
              <a:spcAft>
                <a:spcPts val="600"/>
              </a:spcAft>
              <a:buNone/>
            </a:pPr>
            <a:r>
              <a:rPr sz="1500" b="1" i="0">
                <a:solidFill>
                  <a:srgbClr val="0B1E3B"/>
                </a:solidFill>
                <a:latin typeface="Calibri"/>
              </a:rPr>
              <a:t>What it holds on a cluster</a:t>
            </a:r>
          </a:p>
        </p:txBody>
      </p:sp>
      <p:sp>
        <p:nvSpPr>
          <p:cNvPr id="27" name="TextBox 26"/>
          <p:cNvSpPr txBox="1"/>
          <p:nvPr/>
        </p:nvSpPr>
        <p:spPr>
          <a:xfrm>
            <a:off x="7269480" y="1600200"/>
            <a:ext cx="4507992" cy="2743200"/>
          </a:xfrm>
          <a:prstGeom prst="rect">
            <a:avLst/>
          </a:prstGeom>
          <a:noFill/>
        </p:spPr>
        <p:txBody>
          <a:bodyPr wrap="square" lIns="0" rIns="0" tIns="0" bIns="0" anchor="t">
            <a:spAutoFit/>
          </a:bodyPr>
          <a:lstStyle/>
          <a:p>
            <a:pPr algn="l" marL="201168" indent="-201168">
              <a:spcAft>
                <a:spcPts val="600"/>
              </a:spcAft>
              <a:buClr>
                <a:srgbClr val="E87A1E"/>
              </a:buClr>
              <a:buSzPct val="100000"/>
              <a:buFont typeface="Arial"/>
              <a:buChar char="•"/>
            </a:pPr>
            <a:r>
              <a:rPr sz="1300" b="0" i="0">
                <a:solidFill>
                  <a:srgbClr val="1C2433"/>
                </a:solidFill>
                <a:latin typeface="Calibri"/>
              </a:rPr>
              <a:t>Designs; BI workspaces, items, versions, runs, schedules</a:t>
            </a:r>
          </a:p>
          <a:p>
            <a:pPr algn="l" marL="201168" indent="-201168">
              <a:spcAft>
                <a:spcPts val="600"/>
              </a:spcAft>
              <a:buClr>
                <a:srgbClr val="E87A1E"/>
              </a:buClr>
              <a:buSzPct val="100000"/>
              <a:buFont typeface="Arial"/>
              <a:buChar char="•"/>
            </a:pPr>
            <a:r>
              <a:rPr sz="1300" b="0" i="0">
                <a:solidFill>
                  <a:srgbClr val="1C2433"/>
                </a:solidFill>
                <a:latin typeface="Calibri"/>
              </a:rPr>
              <a:t>data-load overrides, connector edits, collaboration</a:t>
            </a:r>
          </a:p>
          <a:p>
            <a:pPr algn="l" marL="201168" indent="-201168">
              <a:spcAft>
                <a:spcPts val="600"/>
              </a:spcAft>
              <a:buClr>
                <a:srgbClr val="E87A1E"/>
              </a:buClr>
              <a:buSzPct val="100000"/>
              <a:buFont typeface="Arial"/>
              <a:buChar char="•"/>
            </a:pPr>
            <a:r>
              <a:rPr sz="1300" b="0" i="0">
                <a:solidFill>
                  <a:srgbClr val="1C2433"/>
                </a:solidFill>
                <a:latin typeface="Calibri"/>
              </a:rPr>
              <a:t>VaR and exposure captures and official records (append-only; row lists as JSONL)</a:t>
            </a:r>
          </a:p>
        </p:txBody>
      </p:sp>
      <p:sp>
        <p:nvSpPr>
          <p:cNvPr id="28" name="Callout"/>
          <p:cNvSpPr/>
          <p:nvPr/>
        </p:nvSpPr>
        <p:spPr>
          <a:xfrm>
            <a:off x="7269480" y="4114800"/>
            <a:ext cx="4507992" cy="173736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Callout edge"/>
          <p:cNvSpPr/>
          <p:nvPr/>
        </p:nvSpPr>
        <p:spPr>
          <a:xfrm>
            <a:off x="7269480" y="4133087"/>
            <a:ext cx="82296" cy="170078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7498079" y="4187952"/>
            <a:ext cx="4142231" cy="159105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On ECS</a:t>
            </a:r>
          </a:p>
          <a:p>
            <a:pPr algn="l">
              <a:spcAft>
                <a:spcPts val="600"/>
              </a:spcAft>
              <a:buNone/>
            </a:pPr>
            <a:r>
              <a:rPr sz="1200" b="0" i="0">
                <a:solidFill>
                  <a:srgbClr val="0E7C86"/>
                </a:solidFill>
                <a:latin typeface="Consolas"/>
              </a:rPr>
              <a:t>s3</a:t>
            </a:r>
            <a:r>
              <a:rPr sz="1300" b="0" i="0">
                <a:solidFill>
                  <a:srgbClr val="1C2433"/>
                </a:solidFill>
                <a:latin typeface="Calibri"/>
              </a:rPr>
              <a:t> or </a:t>
            </a:r>
            <a:r>
              <a:rPr sz="1200" b="0" i="0">
                <a:solidFill>
                  <a:srgbClr val="0E7C86"/>
                </a:solidFill>
                <a:latin typeface="Consolas"/>
              </a:rPr>
              <a:t>postgres</a:t>
            </a:r>
            <a:r>
              <a:rPr sz="1300" b="0" i="0">
                <a:solidFill>
                  <a:srgbClr val="1C2433"/>
                </a:solidFill>
                <a:latin typeface="Calibri"/>
              </a:rPr>
              <a:t> need no shared disk; </a:t>
            </a:r>
            <a:r>
              <a:rPr sz="1200" b="0" i="0">
                <a:solidFill>
                  <a:srgbClr val="0E7C86"/>
                </a:solidFill>
                <a:latin typeface="Consolas"/>
              </a:rPr>
              <a:t>filesystem</a:t>
            </a:r>
            <a:r>
              <a:rPr sz="1300" b="0" i="0">
                <a:solidFill>
                  <a:srgbClr val="1C2433"/>
                </a:solidFill>
                <a:latin typeface="Calibri"/>
              </a:rPr>
              <a:t> needs EFS at the same path on every node. The s3 bucket needs the conditional-write check of step 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What each server caches, Delta and Iceberg</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2 · how it works</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21</a:t>
            </a:r>
          </a:p>
        </p:txBody>
      </p:sp>
      <p:graphicFrame>
        <p:nvGraphicFramePr>
          <p:cNvPr id="10" name="Table"/>
          <p:cNvGraphicFramePr>
            <a:graphicFrameLocks noGrp="1"/>
          </p:cNvGraphicFramePr>
          <p:nvPr/>
        </p:nvGraphicFramePr>
        <p:xfrm>
          <a:off x="411480" y="1143000"/>
          <a:ext cx="11365992" cy="4297680"/>
        </p:xfrm>
        <a:graphic>
          <a:graphicData uri="http://schemas.openxmlformats.org/drawingml/2006/table">
            <a:tbl>
              <a:tblPr firstRow="0" bandRow="0">
                <a:tableStyleId>{5940675A-B579-460E-94D1-54222C63F5DA}</a:tableStyleId>
              </a:tblPr>
              <a:tblGrid>
                <a:gridCol w="2331720"/>
                <a:gridCol w="4023360"/>
                <a:gridCol w="2377440"/>
                <a:gridCol w="2633472"/>
              </a:tblGrid>
              <a:tr h="429768">
                <a:tc>
                  <a:txBody>
                    <a:bodyPr wrap="square"/>
                    <a:lstStyle/>
                    <a:p>
                      <a:r>
                        <a:rPr sz="1100" b="1" i="0">
                          <a:solidFill>
                            <a:srgbClr val="FFFFFF"/>
                          </a:solidFill>
                          <a:latin typeface="Calibri"/>
                        </a:rPr>
                        <a:t>Cache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Where, bounded by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Keyed by (Delta · 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After a restart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29768">
                <a:tc>
                  <a:txBody>
                    <a:bodyPr wrap="square"/>
                    <a:lstStyle/>
                    <a:p>
                      <a:r>
                        <a:rPr sz="1100" b="1" i="0">
                          <a:solidFill>
                            <a:srgbClr val="1C2433"/>
                          </a:solidFill>
                          <a:latin typeface="Calibri"/>
                        </a:rPr>
                        <a:t>file list / layout of each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heap: Delta from the last checkpoint; Iceberg per snapshot (</a:t>
                      </a:r>
                      <a:r>
                        <a:rPr sz="1100" b="0" i="0">
                          <a:solidFill>
                            <a:srgbClr val="0E7C86"/>
                          </a:solidFill>
                          <a:latin typeface="Consolas"/>
                        </a:rPr>
                        <a:t>layout-cache</a:t>
                      </a:r>
                      <a:r>
                        <a:rPr sz="1100" b="0" i="0">
                          <a:solidFill>
                            <a:srgbClr val="1C2433"/>
                          </a:solidFill>
                          <a:latin typeface="Calibri"/>
                        </a:rPr>
                        <a:t> 64)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version · snapshot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re-read from the checkpoint or the metadata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9768">
                <a:tc>
                  <a:txBody>
                    <a:bodyPr wrap="square"/>
                    <a:lstStyle/>
                    <a:p>
                      <a:r>
                        <a:rPr sz="1100" b="1" i="0">
                          <a:solidFill>
                            <a:srgbClr val="1C2433"/>
                          </a:solidFill>
                          <a:latin typeface="Calibri"/>
                        </a:rPr>
                        <a:t>Parquet footers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heap (native engines), 50,000 row groups, shared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file (never changes)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re-read on first use (one ranged GET)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9768">
                <a:tc>
                  <a:txBody>
                    <a:bodyPr wrap="square"/>
                    <a:lstStyle/>
                    <a:p>
                      <a:r>
                        <a:rPr sz="1100" b="1" i="0">
                          <a:solidFill>
                            <a:srgbClr val="1C2433"/>
                          </a:solidFill>
                          <a:latin typeface="Calibri"/>
                        </a:rPr>
                        <a:t>manifests, delete files (Iceberg)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heap: 2,000,000 manifest entries; 5,000,000 delete rows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file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re-read on first use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9768">
                <a:tc>
                  <a:txBody>
                    <a:bodyPr wrap="square"/>
                    <a:lstStyle/>
                    <a:p>
                      <a:r>
                        <a:rPr sz="1100" b="1" i="0">
                          <a:solidFill>
                            <a:srgbClr val="1C2433"/>
                          </a:solidFill>
                          <a:latin typeface="Calibri"/>
                        </a:rPr>
                        <a:t>id maps of days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heap (20 % shared) and disk (</a:t>
                      </a:r>
                      <a:r>
                        <a:rPr sz="1100" b="0" i="0">
                          <a:solidFill>
                            <a:srgbClr val="0E7C86"/>
                          </a:solidFill>
                          <a:latin typeface="Consolas"/>
                        </a:rPr>
                        <a:t>id-map-disk.dir</a:t>
                      </a:r>
                      <a:r>
                        <a:rPr sz="1100" b="0" i="0">
                          <a:solidFill>
                            <a:srgbClr val="1C2433"/>
                          </a:solidFill>
                          <a:latin typeface="Calibri"/>
                        </a:rPr>
                        <a:t>, memory-mapped)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table version · </a:t>
                      </a:r>
                      <a:r>
                        <a:rPr sz="1100" b="1" i="0">
                          <a:solidFill>
                            <a:srgbClr val="1C2433"/>
                          </a:solidFill>
                          <a:latin typeface="Calibri"/>
                        </a:rPr>
                        <a:t>the day's fingerprint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memory-mapped from disk: no scan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9768">
                <a:tc>
                  <a:txBody>
                    <a:bodyPr wrap="square"/>
                    <a:lstStyle/>
                    <a:p>
                      <a:r>
                        <a:rPr sz="1100" b="1" i="0">
                          <a:solidFill>
                            <a:srgbClr val="1C2433"/>
                          </a:solidFill>
                          <a:latin typeface="Calibri"/>
                        </a:rPr>
                        <a:t>column sets of days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heap (</a:t>
                      </a:r>
                      <a:r>
                        <a:rPr sz="1100" b="0" i="0">
                          <a:solidFill>
                            <a:srgbClr val="0E7C86"/>
                          </a:solidFill>
                          <a:latin typeface="Consolas"/>
                        </a:rPr>
                        <a:t>columns-cache-mb</a:t>
                      </a:r>
                      <a:r>
                        <a:rPr sz="1100" b="0" i="0">
                          <a:solidFill>
                            <a:srgbClr val="1C2433"/>
                          </a:solidFill>
                          <a:latin typeface="Calibri"/>
                        </a:rPr>
                        <a:t>; 1,024 on 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as id maps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re-read (newest day in the background)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9768">
                <a:tc>
                  <a:txBody>
                    <a:bodyPr wrap="square"/>
                    <a:lstStyle/>
                    <a:p>
                      <a:r>
                        <a:rPr sz="1100" b="1" i="0">
                          <a:solidFill>
                            <a:srgbClr val="1C2433"/>
                          </a:solidFill>
                          <a:latin typeface="Calibri"/>
                        </a:rPr>
                        <a:t>documents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heap and RocksDB on disk (</a:t>
                      </a:r>
                      <a:r>
                        <a:rPr sz="1100" b="0" i="0">
                          <a:solidFill>
                            <a:srgbClr val="0E7C86"/>
                          </a:solidFill>
                          <a:latin typeface="Consolas"/>
                        </a:rPr>
                        <a:t>doc-disk-cache.dir</a:t>
                      </a:r>
                      <a:r>
                        <a:rPr sz="1100" b="0" i="0">
                          <a:solidFill>
                            <a:srgbClr val="1C2433"/>
                          </a:solidFill>
                          <a:latin typeface="Calibri"/>
                        </a:rPr>
                        <a:t>, 1 GB, 12 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as id maps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warm from disk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9768">
                <a:tc>
                  <a:txBody>
                    <a:bodyPr wrap="square"/>
                    <a:lstStyle/>
                    <a:p>
                      <a:r>
                        <a:rPr sz="1100" b="1" i="0">
                          <a:solidFill>
                            <a:srgbClr val="1C2433"/>
                          </a:solidFill>
                          <a:latin typeface="Calibri"/>
                        </a:rPr>
                        <a:t>history answers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heap (</a:t>
                      </a:r>
                      <a:r>
                        <a:rPr sz="1100" b="0" i="0">
                          <a:solidFill>
                            <a:srgbClr val="0E7C86"/>
                          </a:solidFill>
                          <a:latin typeface="Consolas"/>
                        </a:rPr>
                        <a:t>drishti.history.cache-mb</a:t>
                      </a:r>
                      <a:r>
                        <a:rPr sz="1100" b="0" i="0">
                          <a:solidFill>
                            <a:srgbClr val="1C2433"/>
                          </a:solidFill>
                          <a:latin typeface="Calibri"/>
                        </a:rPr>
                        <a:t>, 256 MB)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kind's data version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rebuilt on ask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9768">
                <a:tc>
                  <a:txBody>
                    <a:bodyPr wrap="square"/>
                    <a:lstStyle/>
                    <a:p>
                      <a:r>
                        <a:rPr sz="1100" b="1" i="0">
                          <a:solidFill>
                            <a:srgbClr val="1C2433"/>
                          </a:solidFill>
                          <a:latin typeface="Calibri"/>
                        </a:rPr>
                        <a:t>VaR hot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DRISHTI_VAR_HOT_DIR</a:t>
                      </a:r>
                      <a:r>
                        <a:rPr sz="1100" b="0" i="0">
                          <a:solidFill>
                            <a:srgbClr val="1C2433"/>
                          </a:solidFill>
                          <a:latin typeface="Calibri"/>
                        </a:rPr>
                        <a:t>: fast local disk; 2 dates open, 60 on disk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date's inputs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rebuilt from the lake (deleted at shutdown by default)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9768">
                <a:tc>
                  <a:txBody>
                    <a:bodyPr wrap="square"/>
                    <a:lstStyle/>
                    <a:p>
                      <a:r>
                        <a:rPr sz="1100" b="1" i="0">
                          <a:solidFill>
                            <a:srgbClr val="1C2433"/>
                          </a:solidFill>
                          <a:latin typeface="Calibri"/>
                        </a:rPr>
                        <a:t>exposure hot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DRISHTI_EXPOSURE_HOT_DIR</a:t>
                      </a:r>
                      <a:r>
                        <a:rPr sz="1100" b="0" i="0">
                          <a:solidFill>
                            <a:srgbClr val="1C2433"/>
                          </a:solidFill>
                          <a:latin typeface="Calibri"/>
                        </a:rPr>
                        <a:t>: local disk; dates within retention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date's run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rebuilt from the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1" name="Callout"/>
          <p:cNvSpPr/>
          <p:nvPr/>
        </p:nvSpPr>
        <p:spPr>
          <a:xfrm>
            <a:off x="411480" y="5715000"/>
            <a:ext cx="11365992" cy="64008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allout edge"/>
          <p:cNvSpPr/>
          <p:nvPr/>
        </p:nvSpPr>
        <p:spPr>
          <a:xfrm>
            <a:off x="411480" y="5733288"/>
            <a:ext cx="82296" cy="603503"/>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0080" y="5788152"/>
            <a:ext cx="11000232" cy="493775"/>
          </a:xfrm>
          <a:prstGeom prst="rect">
            <a:avLst/>
          </a:prstGeom>
          <a:noFill/>
        </p:spPr>
        <p:txBody>
          <a:bodyPr wrap="square" lIns="0" rIns="0" tIns="0" bIns="0" anchor="ctr">
            <a:spAutoFit/>
          </a:bodyPr>
          <a:lstStyle/>
          <a:p>
            <a:pPr algn="l">
              <a:spcAft>
                <a:spcPts val="600"/>
              </a:spcAft>
              <a:buNone/>
            </a:pPr>
            <a:r>
              <a:rPr sz="1150" b="1" i="0">
                <a:solidFill>
                  <a:srgbClr val="1C2433"/>
                </a:solidFill>
                <a:latin typeface="Calibri"/>
              </a:rPr>
              <a:t>Iceberg's edge:</a:t>
            </a:r>
            <a:r>
              <a:rPr sz="1150" b="0" i="0">
                <a:solidFill>
                  <a:srgbClr val="1C2433"/>
                </a:solidFill>
                <a:latin typeface="Calibri"/>
              </a:rPr>
              <a:t> a commit of a new day leaves every other day's caches in place; on Delta a commit moves the table version, so untouched days reload (keeping them: PROPOSED). Disk caches and hot files default under </a:t>
            </a:r>
            <a:r>
              <a:rPr sz="1050" b="0" i="0">
                <a:solidFill>
                  <a:srgbClr val="0E7C86"/>
                </a:solidFill>
                <a:latin typeface="Consolas"/>
              </a:rPr>
              <a:t>&lt;data dir&gt;</a:t>
            </a:r>
            <a:r>
              <a:rPr sz="1150" b="0" i="0">
                <a:solidFill>
                  <a:srgbClr val="1C2433"/>
                </a:solidFill>
                <a:latin typeface="Calibri"/>
              </a:rPr>
              <a:t>, on ECS on EFS.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EFS or local NVMe for the disk caches and hot files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2 · how it works</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22</a:t>
            </a:r>
          </a:p>
        </p:txBody>
      </p:sp>
      <p:graphicFrame>
        <p:nvGraphicFramePr>
          <p:cNvPr id="10" name="Table"/>
          <p:cNvGraphicFramePr>
            <a:graphicFrameLocks noGrp="1"/>
          </p:cNvGraphicFramePr>
          <p:nvPr/>
        </p:nvGraphicFramePr>
        <p:xfrm>
          <a:off x="411480" y="1188720"/>
          <a:ext cx="6492240" cy="3968496"/>
        </p:xfrm>
        <a:graphic>
          <a:graphicData uri="http://schemas.openxmlformats.org/drawingml/2006/table">
            <a:tbl>
              <a:tblPr firstRow="0" bandRow="0">
                <a:tableStyleId>{5940675A-B579-460E-94D1-54222C63F5DA}</a:tableStyleId>
              </a:tblPr>
              <a:tblGrid>
                <a:gridCol w="2103120"/>
                <a:gridCol w="2286000"/>
                <a:gridCol w="2103120"/>
              </a:tblGrid>
              <a:tr h="566928">
                <a:tc>
                  <a:txBody>
                    <a:bodyPr wrap="square"/>
                    <a:lstStyle/>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EFS (default)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Local NVMe (instance store)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66928">
                <a:tc>
                  <a:txBody>
                    <a:bodyPr wrap="square"/>
                    <a:lstStyle/>
                    <a:p>
                      <a:r>
                        <a:rPr sz="1200" b="1" i="0">
                          <a:solidFill>
                            <a:srgbClr val="1C2433"/>
                          </a:solidFill>
                          <a:latin typeface="Calibri"/>
                        </a:rPr>
                        <a:t>Latency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 1 ms an operation (NFS); page cache serves repeated reads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tens of microseconds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200" b="1" i="0">
                          <a:solidFill>
                            <a:srgbClr val="1C2433"/>
                          </a:solidFill>
                          <a:latin typeface="Calibri"/>
                        </a:rPr>
                        <a:t>After a task moves host or zone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warm: same folders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empty: rebuilt as users read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200" b="1" i="0">
                          <a:solidFill>
                            <a:srgbClr val="1C2433"/>
                          </a:solidFill>
                          <a:latin typeface="Calibri"/>
                        </a:rPr>
                        <a:t>Launch type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Fargate or EC2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EC2 only (m6id, r6id, i4i)</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200" b="1" i="0">
                          <a:solidFill>
                            <a:srgbClr val="1C2433"/>
                          </a:solidFill>
                          <a:latin typeface="Calibri"/>
                        </a:rPr>
                        <a:t>Cost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EFS Standard ≈ USD 0.30/GB-month</a:t>
                      </a:r>
                      <a:r>
                        <a:rPr sz="1200" b="1" i="0">
                          <a:solidFill>
                            <a:srgbClr val="E87A1E"/>
                          </a:solidFill>
                          <a:latin typeface="Calibri"/>
                        </a:rPr>
                        <a:t>¹</a:t>
                      </a:r>
                      <a:r>
                        <a:rPr sz="1200" b="0" i="0">
                          <a:solidFill>
                            <a:srgbClr val="1C2433"/>
                          </a:solidFill>
                          <a:latin typeface="Calibri"/>
                        </a:rPr>
                        <a:t> + Elastic charges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included in the instance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200" b="1" i="0">
                          <a:solidFill>
                            <a:srgbClr val="1C2433"/>
                          </a:solidFill>
                          <a:latin typeface="Calibri"/>
                        </a:rPr>
                        <a:t>Identical-path rule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satisfied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not: the cache path is on the host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200" b="1" i="0">
                          <a:solidFill>
                            <a:srgbClr val="1C2433"/>
                          </a:solidFill>
                          <a:latin typeface="Calibri"/>
                        </a:rPr>
                        <a:t>Memory-mapped VaR and exposure hot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works, but each page fault is an NFS read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what the guides ask for: fast local disk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1" name="Code block"/>
          <p:cNvSpPr/>
          <p:nvPr/>
        </p:nvSpPr>
        <p:spPr>
          <a:xfrm>
            <a:off x="7132320" y="1188720"/>
            <a:ext cx="4645152" cy="214884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
          <p:cNvSpPr txBox="1"/>
          <p:nvPr/>
        </p:nvSpPr>
        <p:spPr>
          <a:xfrm>
            <a:off x="7242048" y="1252728"/>
            <a:ext cx="4425696" cy="202082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 config/connectors/trade-endur.yaml</a:t>
            </a:r>
          </a:p>
          <a:p>
            <a:pPr>
              <a:spcAft>
                <a:spcPts val="0"/>
              </a:spcAft>
              <a:buNone/>
            </a:pPr>
            <a:r>
              <a:rPr sz="1100" b="0" i="0">
                <a:solidFill>
                  <a:srgbClr val="E6EDF3"/>
                </a:solidFill>
                <a:latin typeface="Consolas"/>
              </a:rPr>
              <a:t>id-map-disk.dir:</a:t>
            </a:r>
          </a:p>
          <a:p>
            <a:pPr>
              <a:spcAft>
                <a:spcPts val="0"/>
              </a:spcAft>
              <a:buNone/>
            </a:pPr>
            <a:r>
              <a:rPr sz="1100" b="0" i="0">
                <a:solidFill>
                  <a:srgbClr val="E6EDF3"/>
                </a:solidFill>
                <a:latin typeface="Consolas"/>
              </a:rPr>
              <a:t>  /opt/drishti/nvme/cache/trade-endur/idmaps</a:t>
            </a:r>
          </a:p>
          <a:p>
            <a:pPr>
              <a:spcAft>
                <a:spcPts val="0"/>
              </a:spcAft>
              <a:buNone/>
            </a:pPr>
            <a:r>
              <a:rPr sz="1100" b="0" i="0">
                <a:solidFill>
                  <a:srgbClr val="E6EDF3"/>
                </a:solidFill>
                <a:latin typeface="Consolas"/>
              </a:rPr>
              <a:t>doc-disk-cache.dir:</a:t>
            </a:r>
          </a:p>
          <a:p>
            <a:pPr>
              <a:spcAft>
                <a:spcPts val="0"/>
              </a:spcAft>
              <a:buNone/>
            </a:pPr>
            <a:r>
              <a:rPr sz="1100" b="0" i="0">
                <a:solidFill>
                  <a:srgbClr val="E6EDF3"/>
                </a:solidFill>
                <a:latin typeface="Consolas"/>
              </a:rPr>
              <a:t>  /opt/drishti/nvme/cache/trade-endur/docs</a:t>
            </a:r>
          </a:p>
          <a:p>
            <a:pPr>
              <a:spcAft>
                <a:spcPts val="0"/>
              </a:spcAft>
              <a:buNone/>
            </a:pPr>
            <a:r>
              <a:rPr sz="1100" b="0" i="0">
                <a:solidFill>
                  <a:srgbClr val="E6EDF3"/>
                </a:solidFill>
                <a:latin typeface="Consolas"/>
              </a:rPr>
              <a:t># the server task</a:t>
            </a:r>
          </a:p>
          <a:p>
            <a:pPr>
              <a:spcAft>
                <a:spcPts val="0"/>
              </a:spcAft>
              <a:buNone/>
            </a:pPr>
            <a:r>
              <a:rPr sz="1100" b="0" i="0">
                <a:solidFill>
                  <a:srgbClr val="E6EDF3"/>
                </a:solidFill>
                <a:latin typeface="Consolas"/>
              </a:rPr>
              <a:t>DRISHTI_VAR_HOT_DIR=/opt/drishti/nvme/var/hot</a:t>
            </a:r>
          </a:p>
          <a:p>
            <a:pPr>
              <a:spcAft>
                <a:spcPts val="0"/>
              </a:spcAft>
              <a:buNone/>
            </a:pPr>
            <a:r>
              <a:rPr sz="1100" b="0" i="0">
                <a:solidFill>
                  <a:srgbClr val="E6EDF3"/>
                </a:solidFill>
                <a:latin typeface="Consolas"/>
              </a:rPr>
              <a:t>DRISHTI_EXPOSURE_HOT_DIR=/opt/drishti/nvme/ccr/hot</a:t>
            </a:r>
          </a:p>
        </p:txBody>
      </p:sp>
      <p:sp>
        <p:nvSpPr>
          <p:cNvPr id="13" name="Callout"/>
          <p:cNvSpPr/>
          <p:nvPr/>
        </p:nvSpPr>
        <p:spPr>
          <a:xfrm>
            <a:off x="7132320" y="3520440"/>
            <a:ext cx="4645152" cy="182880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Callout edge"/>
          <p:cNvSpPr/>
          <p:nvPr/>
        </p:nvSpPr>
        <p:spPr>
          <a:xfrm>
            <a:off x="7132320" y="3538728"/>
            <a:ext cx="82296" cy="179222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7360920" y="3593592"/>
            <a:ext cx="4279392" cy="168249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Recommendation</a:t>
            </a:r>
          </a:p>
          <a:p>
            <a:pPr algn="l">
              <a:spcAft>
                <a:spcPts val="600"/>
              </a:spcAft>
              <a:buNone/>
            </a:pPr>
            <a:r>
              <a:rPr sz="1300" b="0" i="0">
                <a:solidFill>
                  <a:srgbClr val="1C2433"/>
                </a:solidFill>
                <a:latin typeface="Calibri"/>
              </a:rPr>
              <a:t>Start the connector caches on EFS. Put the VaR and exposure hot files on NVMe from the start (</a:t>
            </a:r>
            <a:r>
              <a:rPr sz="1200" b="0" i="0">
                <a:solidFill>
                  <a:srgbClr val="0E7C86"/>
                </a:solidFill>
                <a:latin typeface="Consolas"/>
              </a:rPr>
              <a:t>register.sh --nodes --cache nvme</a:t>
            </a:r>
            <a:r>
              <a:rPr sz="1300" b="0" i="0">
                <a:solidFill>
                  <a:srgbClr val="1C2433"/>
                </a:solidFill>
                <a:latin typeface="Calibri"/>
              </a:rPr>
              <a:t>, EC2): they are rebuildable and memory-mapped. The NVMe exception is the product owner's decision.</a:t>
            </a:r>
          </a:p>
        </p:txBody>
      </p:sp>
      <p:sp>
        <p:nvSpPr>
          <p:cNvPr id="16" name="Footnotes"/>
          <p:cNvSpPr txBox="1"/>
          <p:nvPr/>
        </p:nvSpPr>
        <p:spPr>
          <a:xfrm>
            <a:off x="411480" y="6377940"/>
            <a:ext cx="11365992" cy="169164"/>
          </a:xfrm>
          <a:prstGeom prst="rect">
            <a:avLst/>
          </a:prstGeom>
          <a:noFill/>
        </p:spPr>
        <p:txBody>
          <a:bodyPr wrap="square" lIns="0" rIns="0" tIns="0" bIns="0" anchor="t">
            <a:spAutoFit/>
          </a:bodyPr>
          <a:lstStyle/>
          <a:p>
            <a:pPr algn="l">
              <a:lnSpc>
                <a:spcPct val="100000"/>
              </a:lnSpc>
              <a:spcAft>
                <a:spcPts val="0"/>
              </a:spcAft>
              <a:buNone/>
            </a:pPr>
            <a:r>
              <a:rPr sz="900" b="0" i="0">
                <a:solidFill>
                  <a:srgbClr val="5B677A"/>
                </a:solidFill>
                <a:latin typeface="Calibri"/>
              </a:rPr>
              <a:t>¹ EFS Standard list price, one Region, as quoted in AWS_DELTA_LAKE.md section 10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03</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Delta or Iceberg</a:t>
            </a:r>
          </a:p>
        </p:txBody>
      </p:sp>
      <p:pic>
        <p:nvPicPr>
          <p:cNvPr id="5" name="Drishti mark" descr="Drishti logo: an eye between curly brackets"/>
          <p:cNvPicPr>
            <a:picLocks noChangeAspect="1"/>
          </p:cNvPicPr>
          <p:nvPr/>
        </p:nvPicPr>
        <p:blipFill>
          <a:blip r:embed="rId2"/>
          <a:stretch>
            <a:fillRect/>
          </a:stretch>
        </p:blipFill>
        <p:spPr>
          <a:xfrm>
            <a:off x="822960" y="6236208"/>
            <a:ext cx="430911" cy="237744"/>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Where Delta and Iceberg plug in, and where they don't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24</a:t>
            </a:r>
          </a:p>
        </p:txBody>
      </p:sp>
      <p:sp>
        <p:nvSpPr>
          <p:cNvPr id="10" name="Rounded Rectangle 9"/>
          <p:cNvSpPr/>
          <p:nvPr/>
        </p:nvSpPr>
        <p:spPr>
          <a:xfrm>
            <a:off x="411480" y="1143000"/>
            <a:ext cx="7498079" cy="457200"/>
          </a:xfrm>
          <a:prstGeom prst="roundRect">
            <a:avLst>
              <a:gd name="adj" fmla="val 15000"/>
            </a:avLst>
          </a:prstGeom>
          <a:solidFill>
            <a:srgbClr val="EEE6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48640" y="1143000"/>
            <a:ext cx="7315200" cy="457200"/>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Console and UI · terminals, pages, BI reports, Admin</a:t>
            </a:r>
          </a:p>
        </p:txBody>
      </p:sp>
      <p:sp>
        <p:nvSpPr>
          <p:cNvPr id="12" name="Rounded Rectangle 11"/>
          <p:cNvSpPr/>
          <p:nvPr/>
        </p:nvSpPr>
        <p:spPr>
          <a:xfrm>
            <a:off x="411480" y="1691640"/>
            <a:ext cx="7498079" cy="457200"/>
          </a:xfrm>
          <a:prstGeom prst="roundRect">
            <a:avLst>
              <a:gd name="adj" fmla="val 15000"/>
            </a:avLst>
          </a:prstGeom>
          <a:solidFill>
            <a:srgbClr val="EEE6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548640" y="1691640"/>
            <a:ext cx="7315200" cy="457200"/>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Server · BI, VaR and exposure engines, captures, Drishti*net (replicas, shards, forwarding)</a:t>
            </a:r>
          </a:p>
        </p:txBody>
      </p:sp>
      <p:sp>
        <p:nvSpPr>
          <p:cNvPr id="14" name="Rounded Rectangle 13"/>
          <p:cNvSpPr/>
          <p:nvPr/>
        </p:nvSpPr>
        <p:spPr>
          <a:xfrm>
            <a:off x="411480" y="2240280"/>
            <a:ext cx="7498079" cy="457200"/>
          </a:xfrm>
          <a:prstGeom prst="roundRect">
            <a:avLst>
              <a:gd name="adj" fmla="val 15000"/>
            </a:avLst>
          </a:prstGeom>
          <a:solidFill>
            <a:srgbClr val="EEE6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548640" y="2240280"/>
            <a:ext cx="7315200" cy="457200"/>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Packs and data contracts · kinds, promoted columns, JSON Lines in · connector names (trade-calypso)</a:t>
            </a:r>
          </a:p>
        </p:txBody>
      </p:sp>
      <p:sp>
        <p:nvSpPr>
          <p:cNvPr id="16" name="Rounded Rectangle 15"/>
          <p:cNvSpPr/>
          <p:nvPr/>
        </p:nvSpPr>
        <p:spPr>
          <a:xfrm>
            <a:off x="411480" y="2788920"/>
            <a:ext cx="7498079" cy="457200"/>
          </a:xfrm>
          <a:prstGeom prst="roundRect">
            <a:avLst>
              <a:gd name="adj" fmla="val 15000"/>
            </a:avLst>
          </a:prstGeom>
          <a:solidFill>
            <a:srgbClr val="EEE6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548640" y="2788920"/>
            <a:ext cx="7315200" cy="457200"/>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Engine · SourceRouter: a kind to its connectors, in order; reads, searches, columns, history, scans</a:t>
            </a:r>
          </a:p>
        </p:txBody>
      </p:sp>
      <p:sp>
        <p:nvSpPr>
          <p:cNvPr id="18" name="Rounded Rectangle 17"/>
          <p:cNvSpPr/>
          <p:nvPr/>
        </p:nvSpPr>
        <p:spPr>
          <a:xfrm>
            <a:off x="8046719" y="1143000"/>
            <a:ext cx="3730752" cy="2103120"/>
          </a:xfrm>
          <a:prstGeom prst="roundRect">
            <a:avLst>
              <a:gd name="adj" fmla="val 6000"/>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8183879" y="1188720"/>
            <a:ext cx="3474720" cy="2011680"/>
          </a:xfrm>
          <a:prstGeom prst="rect">
            <a:avLst/>
          </a:prstGeom>
          <a:noFill/>
        </p:spPr>
        <p:txBody>
          <a:bodyPr wrap="square" lIns="45720" rIns="45720" tIns="27432" bIns="27432" anchor="ctr">
            <a:spAutoFit/>
          </a:bodyPr>
          <a:lstStyle/>
          <a:p>
            <a:pPr algn="l">
              <a:lnSpc>
                <a:spcPct val="105000"/>
              </a:lnSpc>
            </a:pPr>
            <a:r>
              <a:rPr sz="1400" b="1" i="0">
                <a:solidFill>
                  <a:srgbClr val="2E7D32"/>
                </a:solidFill>
                <a:latin typeface="Calibri"/>
              </a:rPr>
              <a:t>Identical on both formats</a:t>
            </a:r>
          </a:p>
          <a:p>
            <a:pPr algn="l">
              <a:lnSpc>
                <a:spcPct val="105000"/>
              </a:lnSpc>
            </a:pPr>
            <a:r>
              <a:rPr sz="1250" b="0" i="0">
                <a:solidFill>
                  <a:srgbClr val="1C2433"/>
                </a:solidFill>
                <a:latin typeface="Calibri"/>
              </a:rPr>
              <a:t>Nothing above the line knows whether a table is Delta or Iceberg. A pack routes kind </a:t>
            </a:r>
            <a:r>
              <a:rPr sz="1150" b="0" i="0">
                <a:solidFill>
                  <a:srgbClr val="0E7C86"/>
                </a:solidFill>
                <a:latin typeface="Consolas"/>
              </a:rPr>
              <a:t>trade</a:t>
            </a:r>
            <a:r>
              <a:rPr sz="1250" b="0" i="0">
                <a:solidFill>
                  <a:srgbClr val="1C2433"/>
                </a:solidFill>
                <a:latin typeface="Calibri"/>
              </a:rPr>
              <a:t> to </a:t>
            </a:r>
            <a:r>
              <a:rPr sz="1150" b="0" i="0">
                <a:solidFill>
                  <a:srgbClr val="0E7C86"/>
                </a:solidFill>
                <a:latin typeface="Consolas"/>
              </a:rPr>
              <a:t>trade-calypso</a:t>
            </a:r>
            <a:r>
              <a:rPr sz="1250" b="0" i="0">
                <a:solidFill>
                  <a:srgbClr val="1C2433"/>
                </a:solidFill>
                <a:latin typeface="Calibri"/>
              </a:rPr>
              <a:t>; the file under that name decides the format.</a:t>
            </a:r>
          </a:p>
        </p:txBody>
      </p:sp>
      <p:sp>
        <p:nvSpPr>
          <p:cNvPr id="20" name="Rounded Rectangle 19"/>
          <p:cNvSpPr/>
          <p:nvPr/>
        </p:nvSpPr>
        <p:spPr>
          <a:xfrm>
            <a:off x="411480" y="3355848"/>
            <a:ext cx="11365992" cy="384048"/>
          </a:xfrm>
          <a:prstGeom prst="roundRect">
            <a:avLst>
              <a:gd name="adj" fmla="val 20000"/>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548640" y="3355848"/>
            <a:ext cx="11091672" cy="384048"/>
          </a:xfrm>
          <a:prstGeom prst="rect">
            <a:avLst/>
          </a:prstGeom>
          <a:noFill/>
        </p:spPr>
        <p:txBody>
          <a:bodyPr wrap="square" lIns="45720" rIns="45720" tIns="27432" bIns="27432" anchor="ctr">
            <a:spAutoFit/>
          </a:bodyPr>
          <a:lstStyle/>
          <a:p>
            <a:pPr algn="l">
              <a:lnSpc>
                <a:spcPct val="105000"/>
              </a:lnSpc>
            </a:pPr>
            <a:r>
              <a:rPr sz="1300" b="0" i="0">
                <a:solidFill>
                  <a:srgbClr val="FFFFFF"/>
                </a:solidFill>
                <a:latin typeface="Calibri"/>
              </a:rPr>
              <a:t>The seam · drishti-api </a:t>
            </a:r>
            <a:r>
              <a:rPr sz="1200" b="0" i="0">
                <a:solidFill>
                  <a:srgbClr val="0E7C86"/>
                </a:solidFill>
                <a:latin typeface="Consolas"/>
              </a:rPr>
              <a:t>SourcePlugin</a:t>
            </a:r>
            <a:r>
              <a:rPr sz="1300" b="0" i="0">
                <a:solidFill>
                  <a:srgbClr val="FFFFFF"/>
                </a:solidFill>
                <a:latin typeface="Calibri"/>
              </a:rPr>
              <a:t>: fetch, days, columnar, columns, scan, dataVersion, heldDates, vectors, documents, tableIdentity …</a:t>
            </a:r>
          </a:p>
        </p:txBody>
      </p:sp>
      <p:sp>
        <p:nvSpPr>
          <p:cNvPr id="22" name="Rounded Rectangle 21"/>
          <p:cNvSpPr/>
          <p:nvPr/>
        </p:nvSpPr>
        <p:spPr>
          <a:xfrm>
            <a:off x="411480" y="3886200"/>
            <a:ext cx="2738628" cy="1371600"/>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502920" y="3931920"/>
            <a:ext cx="2555748"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plugin: delta</a:t>
            </a:r>
          </a:p>
        </p:txBody>
      </p:sp>
      <p:sp>
        <p:nvSpPr>
          <p:cNvPr id="24" name="TextBox 23"/>
          <p:cNvSpPr txBox="1"/>
          <p:nvPr/>
        </p:nvSpPr>
        <p:spPr>
          <a:xfrm>
            <a:off x="502920" y="4251960"/>
            <a:ext cx="2555748" cy="960120"/>
          </a:xfrm>
          <a:prstGeom prst="rect">
            <a:avLst/>
          </a:prstGeom>
          <a:noFill/>
        </p:spPr>
        <p:txBody>
          <a:bodyPr wrap="square" lIns="45720" rIns="45720" tIns="27432" bIns="27432" anchor="t">
            <a:spAutoFit/>
          </a:bodyPr>
          <a:lstStyle/>
          <a:p>
            <a:pPr algn="l">
              <a:lnSpc>
                <a:spcPct val="105000"/>
              </a:lnSpc>
              <a:spcAft>
                <a:spcPts val="200"/>
              </a:spcAft>
            </a:pPr>
            <a:r>
              <a:rPr sz="1150" b="0" i="0">
                <a:solidFill>
                  <a:srgbClr val="E87A1E"/>
                </a:solidFill>
                <a:latin typeface="Calibri"/>
              </a:rPr>
              <a:t>•  </a:t>
            </a:r>
            <a:r>
              <a:rPr sz="1150" b="0" i="0">
                <a:solidFill>
                  <a:srgbClr val="1C2433"/>
                </a:solidFill>
                <a:latin typeface="Calibri"/>
              </a:rPr>
              <a:t>Delta Kernel over </a:t>
            </a:r>
            <a:r>
              <a:rPr sz="1050" b="0" i="0">
                <a:solidFill>
                  <a:srgbClr val="0E7C86"/>
                </a:solidFill>
                <a:latin typeface="Consolas"/>
              </a:rPr>
              <a:t>drishti-deltalake</a:t>
            </a:r>
            <a:r>
              <a:rPr sz="1150" b="0" i="0">
                <a:solidFill>
                  <a:srgbClr val="1C2433"/>
                </a:solidFill>
                <a:latin typeface="Calibri"/>
              </a:rPr>
              <a:t> (native) or Hadoop</a:t>
            </a:r>
          </a:p>
          <a:p>
            <a:pPr algn="l">
              <a:lnSpc>
                <a:spcPct val="105000"/>
              </a:lnSpc>
              <a:spcAft>
                <a:spcPts val="200"/>
              </a:spcAft>
            </a:pPr>
            <a:r>
              <a:rPr sz="1150" b="0" i="0">
                <a:solidFill>
                  <a:srgbClr val="E87A1E"/>
                </a:solidFill>
                <a:latin typeface="Calibri"/>
              </a:rPr>
              <a:t>•  </a:t>
            </a:r>
            <a:r>
              <a:rPr sz="1150" b="0" i="0">
                <a:solidFill>
                  <a:srgbClr val="1C2433"/>
                </a:solidFill>
                <a:latin typeface="Calibri"/>
              </a:rPr>
              <a:t>tables Drishti or others write</a:t>
            </a:r>
          </a:p>
          <a:p>
            <a:pPr algn="l">
              <a:lnSpc>
                <a:spcPct val="105000"/>
              </a:lnSpc>
              <a:spcAft>
                <a:spcPts val="200"/>
              </a:spcAft>
            </a:pPr>
            <a:r>
              <a:rPr sz="1150" b="0" i="0">
                <a:solidFill>
                  <a:srgbClr val="E87A1E"/>
                </a:solidFill>
                <a:latin typeface="Calibri"/>
              </a:rPr>
              <a:t>•  </a:t>
            </a:r>
            <a:r>
              <a:rPr sz="1150" b="0" i="0">
                <a:solidFill>
                  <a:srgbClr val="1C2433"/>
                </a:solidFill>
                <a:latin typeface="Calibri"/>
              </a:rPr>
              <a:t>vectors, whole-day documents</a:t>
            </a:r>
          </a:p>
        </p:txBody>
      </p:sp>
      <p:cxnSp>
        <p:nvCxnSpPr>
          <p:cNvPr id="25" name="Connector 24"/>
          <p:cNvCxnSpPr/>
          <p:nvPr/>
        </p:nvCxnSpPr>
        <p:spPr>
          <a:xfrm>
            <a:off x="1780794" y="3739896"/>
            <a:ext cx="0" cy="146304"/>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287268" y="3886200"/>
            <a:ext cx="2738628" cy="1371600"/>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3378708" y="3931920"/>
            <a:ext cx="2555748"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plugin: iceberg</a:t>
            </a:r>
          </a:p>
        </p:txBody>
      </p:sp>
      <p:sp>
        <p:nvSpPr>
          <p:cNvPr id="28" name="TextBox 27"/>
          <p:cNvSpPr txBox="1"/>
          <p:nvPr/>
        </p:nvSpPr>
        <p:spPr>
          <a:xfrm>
            <a:off x="3378708" y="4251960"/>
            <a:ext cx="2555748" cy="960120"/>
          </a:xfrm>
          <a:prstGeom prst="rect">
            <a:avLst/>
          </a:prstGeom>
          <a:noFill/>
        </p:spPr>
        <p:txBody>
          <a:bodyPr wrap="square" lIns="45720" rIns="45720" tIns="27432" bIns="27432" anchor="t">
            <a:spAutoFit/>
          </a:bodyPr>
          <a:lstStyle/>
          <a:p>
            <a:pPr algn="l">
              <a:lnSpc>
                <a:spcPct val="105000"/>
              </a:lnSpc>
              <a:spcAft>
                <a:spcPts val="200"/>
              </a:spcAft>
            </a:pPr>
            <a:r>
              <a:rPr sz="1050" b="0" i="0">
                <a:solidFill>
                  <a:srgbClr val="E87A1E"/>
                </a:solidFill>
                <a:latin typeface="Calibri"/>
              </a:rPr>
              <a:t>•  </a:t>
            </a:r>
            <a:r>
              <a:rPr sz="1050" b="0" i="0">
                <a:solidFill>
                  <a:srgbClr val="0E7C86"/>
                </a:solidFill>
                <a:latin typeface="Consolas"/>
              </a:rPr>
              <a:t>drishti-iceberg</a:t>
            </a:r>
            <a:r>
              <a:rPr sz="1150" b="0" i="0">
                <a:solidFill>
                  <a:srgbClr val="1C2433"/>
                </a:solidFill>
                <a:latin typeface="Calibri"/>
              </a:rPr>
              <a:t> (native, default) or Apache Iceberg Java (library)</a:t>
            </a:r>
          </a:p>
          <a:p>
            <a:pPr algn="l">
              <a:lnSpc>
                <a:spcPct val="105000"/>
              </a:lnSpc>
              <a:spcAft>
                <a:spcPts val="200"/>
              </a:spcAft>
            </a:pPr>
            <a:r>
              <a:rPr sz="1150" b="0" i="0">
                <a:solidFill>
                  <a:srgbClr val="E87A1E"/>
                </a:solidFill>
                <a:latin typeface="Calibri"/>
              </a:rPr>
              <a:t>•  </a:t>
            </a:r>
            <a:r>
              <a:rPr sz="1150" b="0" i="0">
                <a:solidFill>
                  <a:srgbClr val="1C2433"/>
                </a:solidFill>
                <a:latin typeface="Calibri"/>
              </a:rPr>
              <a:t>Drishti's layout: id, doc, promoted</a:t>
            </a:r>
          </a:p>
          <a:p>
            <a:pPr algn="l">
              <a:lnSpc>
                <a:spcPct val="105000"/>
              </a:lnSpc>
              <a:spcAft>
                <a:spcPts val="200"/>
              </a:spcAft>
            </a:pPr>
            <a:r>
              <a:rPr sz="1150" b="0" i="0">
                <a:solidFill>
                  <a:srgbClr val="E87A1E"/>
                </a:solidFill>
                <a:latin typeface="Calibri"/>
              </a:rPr>
              <a:t>•  </a:t>
            </a:r>
            <a:r>
              <a:rPr sz="1150" b="0" i="0">
                <a:solidFill>
                  <a:srgbClr val="1C2433"/>
                </a:solidFill>
                <a:latin typeface="Calibri"/>
              </a:rPr>
              <a:t>loader and maintenance write</a:t>
            </a:r>
          </a:p>
        </p:txBody>
      </p:sp>
      <p:cxnSp>
        <p:nvCxnSpPr>
          <p:cNvPr id="29" name="Connector 28"/>
          <p:cNvCxnSpPr/>
          <p:nvPr/>
        </p:nvCxnSpPr>
        <p:spPr>
          <a:xfrm>
            <a:off x="4656582" y="3739896"/>
            <a:ext cx="0" cy="146304"/>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163056" y="3886200"/>
            <a:ext cx="2738628" cy="1371600"/>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6254496" y="3931920"/>
            <a:ext cx="2555748"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plugin: iceberg-external</a:t>
            </a:r>
          </a:p>
        </p:txBody>
      </p:sp>
      <p:sp>
        <p:nvSpPr>
          <p:cNvPr id="32" name="TextBox 31"/>
          <p:cNvSpPr txBox="1"/>
          <p:nvPr/>
        </p:nvSpPr>
        <p:spPr>
          <a:xfrm>
            <a:off x="6254496" y="4251960"/>
            <a:ext cx="2555748" cy="960120"/>
          </a:xfrm>
          <a:prstGeom prst="rect">
            <a:avLst/>
          </a:prstGeom>
          <a:noFill/>
        </p:spPr>
        <p:txBody>
          <a:bodyPr wrap="square" lIns="45720" rIns="45720" tIns="27432" bIns="27432" anchor="t">
            <a:spAutoFit/>
          </a:bodyPr>
          <a:lstStyle/>
          <a:p>
            <a:pPr algn="l">
              <a:lnSpc>
                <a:spcPct val="105000"/>
              </a:lnSpc>
              <a:spcAft>
                <a:spcPts val="200"/>
              </a:spcAft>
            </a:pPr>
            <a:r>
              <a:rPr sz="1050" b="0" i="0">
                <a:solidFill>
                  <a:srgbClr val="E87A1E"/>
                </a:solidFill>
                <a:latin typeface="Calibri"/>
              </a:rPr>
              <a:t>•  </a:t>
            </a:r>
            <a:r>
              <a:rPr sz="1050" b="0" i="0">
                <a:solidFill>
                  <a:srgbClr val="0E7C86"/>
                </a:solidFill>
                <a:latin typeface="Consolas"/>
              </a:rPr>
              <a:t>drishti-iceberg</a:t>
            </a:r>
            <a:r>
              <a:rPr sz="1150" b="0" i="0">
                <a:solidFill>
                  <a:srgbClr val="1C2433"/>
                </a:solidFill>
                <a:latin typeface="Calibri"/>
              </a:rPr>
              <a:t> only</a:t>
            </a:r>
          </a:p>
          <a:p>
            <a:pPr algn="l">
              <a:lnSpc>
                <a:spcPct val="105000"/>
              </a:lnSpc>
              <a:spcAft>
                <a:spcPts val="200"/>
              </a:spcAft>
            </a:pPr>
            <a:r>
              <a:rPr sz="1150" b="0" i="0">
                <a:solidFill>
                  <a:srgbClr val="E87A1E"/>
                </a:solidFill>
                <a:latin typeface="Calibri"/>
              </a:rPr>
              <a:t>•  </a:t>
            </a:r>
            <a:r>
              <a:rPr sz="1150" b="0" i="0">
                <a:solidFill>
                  <a:srgbClr val="1C2433"/>
                </a:solidFill>
                <a:latin typeface="Calibri"/>
              </a:rPr>
              <a:t>anyone's tables, the row is the document</a:t>
            </a:r>
          </a:p>
          <a:p>
            <a:pPr algn="l">
              <a:lnSpc>
                <a:spcPct val="105000"/>
              </a:lnSpc>
              <a:spcAft>
                <a:spcPts val="200"/>
              </a:spcAft>
            </a:pPr>
            <a:r>
              <a:rPr sz="1150" b="0" i="0">
                <a:solidFill>
                  <a:srgbClr val="E87A1E"/>
                </a:solidFill>
                <a:latin typeface="Calibri"/>
              </a:rPr>
              <a:t>•  </a:t>
            </a:r>
            <a:r>
              <a:rPr sz="1150" b="0" i="0">
                <a:solidFill>
                  <a:srgbClr val="1C2433"/>
                </a:solidFill>
                <a:latin typeface="Calibri"/>
              </a:rPr>
              <a:t>read-only</a:t>
            </a:r>
          </a:p>
        </p:txBody>
      </p:sp>
      <p:cxnSp>
        <p:nvCxnSpPr>
          <p:cNvPr id="33" name="Connector 32"/>
          <p:cNvCxnSpPr/>
          <p:nvPr/>
        </p:nvCxnSpPr>
        <p:spPr>
          <a:xfrm>
            <a:off x="7532370" y="3739896"/>
            <a:ext cx="0" cy="146304"/>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038844" y="3886200"/>
            <a:ext cx="2738628" cy="1371600"/>
          </a:xfrm>
          <a:prstGeom prst="roundRect">
            <a:avLst>
              <a:gd name="adj" fmla="val 8000"/>
            </a:avLst>
          </a:prstGeom>
          <a:solidFill>
            <a:srgbClr val="F3F5F8"/>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xtBox 34"/>
          <p:cNvSpPr txBox="1"/>
          <p:nvPr/>
        </p:nvSpPr>
        <p:spPr>
          <a:xfrm>
            <a:off x="9130284" y="3931920"/>
            <a:ext cx="2555748"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other plugins</a:t>
            </a:r>
          </a:p>
        </p:txBody>
      </p:sp>
      <p:sp>
        <p:nvSpPr>
          <p:cNvPr id="36" name="TextBox 35"/>
          <p:cNvSpPr txBox="1"/>
          <p:nvPr/>
        </p:nvSpPr>
        <p:spPr>
          <a:xfrm>
            <a:off x="9130284" y="4251960"/>
            <a:ext cx="2555748" cy="960120"/>
          </a:xfrm>
          <a:prstGeom prst="rect">
            <a:avLst/>
          </a:prstGeom>
          <a:noFill/>
        </p:spPr>
        <p:txBody>
          <a:bodyPr wrap="square" lIns="45720" rIns="45720" tIns="27432" bIns="27432" anchor="t">
            <a:spAutoFit/>
          </a:bodyPr>
          <a:lstStyle/>
          <a:p>
            <a:pPr algn="l">
              <a:lnSpc>
                <a:spcPct val="105000"/>
              </a:lnSpc>
              <a:spcAft>
                <a:spcPts val="200"/>
              </a:spcAft>
            </a:pPr>
            <a:r>
              <a:rPr sz="1150" b="0" i="0">
                <a:solidFill>
                  <a:srgbClr val="E87A1E"/>
                </a:solidFill>
                <a:latin typeface="Calibri"/>
              </a:rPr>
              <a:t>•  </a:t>
            </a:r>
            <a:r>
              <a:rPr sz="1150" b="0" i="0">
                <a:solidFill>
                  <a:srgbClr val="1C2433"/>
                </a:solidFill>
                <a:latin typeface="Calibri"/>
              </a:rPr>
              <a:t>files, S3 objects, PostgreSQL, DuckDB, Cassandra, Aerospike, MongoDB, Redis …</a:t>
            </a:r>
          </a:p>
        </p:txBody>
      </p:sp>
      <p:cxnSp>
        <p:nvCxnSpPr>
          <p:cNvPr id="37" name="Connector 36"/>
          <p:cNvCxnSpPr/>
          <p:nvPr/>
        </p:nvCxnSpPr>
        <p:spPr>
          <a:xfrm>
            <a:off x="10408158" y="3739896"/>
            <a:ext cx="0" cy="146304"/>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411480" y="5413248"/>
            <a:ext cx="7501554" cy="457200"/>
          </a:xfrm>
          <a:prstGeom prst="roundRect">
            <a:avLst>
              <a:gd name="adj" fmla="val 20000"/>
            </a:avLst>
          </a:prstGeom>
          <a:solidFill>
            <a:srgbClr val="FCE8D2"/>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xtBox 38"/>
          <p:cNvSpPr txBox="1"/>
          <p:nvPr/>
        </p:nvSpPr>
        <p:spPr>
          <a:xfrm>
            <a:off x="548640" y="5413248"/>
            <a:ext cx="7227234" cy="457200"/>
          </a:xfrm>
          <a:prstGeom prst="rect">
            <a:avLst/>
          </a:prstGeom>
          <a:noFill/>
        </p:spPr>
        <p:txBody>
          <a:bodyPr wrap="square" lIns="45720" rIns="45720" tIns="27432" bIns="27432" anchor="ctr">
            <a:spAutoFit/>
          </a:bodyPr>
          <a:lstStyle/>
          <a:p>
            <a:pPr algn="l">
              <a:lnSpc>
                <a:spcPct val="105000"/>
              </a:lnSpc>
            </a:pPr>
            <a:r>
              <a:rPr sz="1250" b="1" i="0">
                <a:solidFill>
                  <a:srgbClr val="1C2433"/>
                </a:solidFill>
                <a:latin typeface="Calibri"/>
              </a:rPr>
              <a:t>drishti-lakeio</a:t>
            </a:r>
            <a:r>
              <a:rPr sz="1250" b="0" i="0">
                <a:solidFill>
                  <a:srgbClr val="1C2433"/>
                </a:solidFill>
                <a:latin typeface="Calibri"/>
              </a:rPr>
              <a:t> (shared): local disk, S3, byte ranges, codecs, footer cache, exclusive create, conditional PUT</a:t>
            </a:r>
          </a:p>
        </p:txBody>
      </p:sp>
      <p:sp>
        <p:nvSpPr>
          <p:cNvPr id="40" name="Rounded Rectangle 39"/>
          <p:cNvSpPr/>
          <p:nvPr/>
        </p:nvSpPr>
        <p:spPr>
          <a:xfrm>
            <a:off x="411480" y="5961888"/>
            <a:ext cx="11365992" cy="438912"/>
          </a:xfrm>
          <a:prstGeom prst="roundRect">
            <a:avLst>
              <a:gd name="adj" fmla="val 20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xtBox 40"/>
          <p:cNvSpPr txBox="1"/>
          <p:nvPr/>
        </p:nvSpPr>
        <p:spPr>
          <a:xfrm>
            <a:off x="548640" y="5961888"/>
            <a:ext cx="11091672" cy="438912"/>
          </a:xfrm>
          <a:prstGeom prst="rect">
            <a:avLst/>
          </a:prstGeom>
          <a:noFill/>
        </p:spPr>
        <p:txBody>
          <a:bodyPr wrap="square" lIns="45720" rIns="45720" tIns="27432" bIns="27432" anchor="ctr">
            <a:spAutoFit/>
          </a:bodyPr>
          <a:lstStyle/>
          <a:p>
            <a:pPr algn="l">
              <a:lnSpc>
                <a:spcPct val="105000"/>
              </a:lnSpc>
            </a:pPr>
            <a:r>
              <a:rPr sz="1250" b="0" i="0">
                <a:solidFill>
                  <a:srgbClr val="1C2433"/>
                </a:solidFill>
                <a:latin typeface="Calibri"/>
              </a:rPr>
              <a:t>Storage · local disk or EFS (development, Windows) · Amazon S3 (</a:t>
            </a:r>
            <a:r>
              <a:rPr sz="1150" b="0" i="0">
                <a:solidFill>
                  <a:srgbClr val="0E7C86"/>
                </a:solidFill>
                <a:latin typeface="Consolas"/>
              </a:rPr>
              <a:t>s3://</a:t>
            </a:r>
            <a:r>
              <a:rPr sz="1250" b="0" i="0">
                <a:solidFill>
                  <a:srgbClr val="1C2433"/>
                </a:solidFill>
                <a:latin typeface="Calibri"/>
              </a:rPr>
              <a:t>, </a:t>
            </a:r>
            <a:r>
              <a:rPr sz="1150" b="0" i="0">
                <a:solidFill>
                  <a:srgbClr val="0E7C86"/>
                </a:solidFill>
                <a:latin typeface="Consolas"/>
              </a:rPr>
              <a:t>s3a://</a:t>
            </a:r>
            <a:r>
              <a:rPr sz="1250" b="0" i="0">
                <a:solidFill>
                  <a:srgbClr val="1C2433"/>
                </a:solidFill>
                <a:latin typeface="Calibri"/>
              </a:rPr>
              <a:t>) · Azure, GCS, HDFS only through the Hadoop/library engines</a:t>
            </a:r>
          </a:p>
        </p:txBody>
      </p:sp>
      <p:sp>
        <p:nvSpPr>
          <p:cNvPr id="42" name="TextBox 41"/>
          <p:cNvSpPr txBox="1"/>
          <p:nvPr/>
        </p:nvSpPr>
        <p:spPr>
          <a:xfrm>
            <a:off x="8050194" y="5413248"/>
            <a:ext cx="3727277" cy="457200"/>
          </a:xfrm>
          <a:prstGeom prst="rect">
            <a:avLst/>
          </a:prstGeom>
          <a:noFill/>
        </p:spPr>
        <p:txBody>
          <a:bodyPr wrap="square" lIns="45720" rIns="45720" tIns="27432" bIns="27432" anchor="ctr">
            <a:spAutoFit/>
          </a:bodyPr>
          <a:lstStyle/>
          <a:p>
            <a:pPr algn="l">
              <a:lnSpc>
                <a:spcPct val="105000"/>
              </a:lnSpc>
            </a:pPr>
            <a:r>
              <a:rPr sz="1250" b="1" i="0">
                <a:solidFill>
                  <a:srgbClr val="E87A1E"/>
                </a:solidFill>
                <a:latin typeface="Calibri"/>
              </a:rPr>
              <a:t>Format-specific below the seam only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What is identical, what differs, and why</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25</a:t>
            </a:r>
          </a:p>
        </p:txBody>
      </p:sp>
      <p:graphicFrame>
        <p:nvGraphicFramePr>
          <p:cNvPr id="10" name="Table 9"/>
          <p:cNvGraphicFramePr>
            <a:graphicFrameLocks noGrp="1"/>
          </p:cNvGraphicFramePr>
          <p:nvPr/>
        </p:nvGraphicFramePr>
        <p:xfrm>
          <a:off x="411480" y="1143000"/>
          <a:ext cx="11365992" cy="4592114"/>
        </p:xfrm>
        <a:graphic>
          <a:graphicData uri="http://schemas.openxmlformats.org/drawingml/2006/table">
            <a:tbl>
              <a:tblPr firstRow="1" bandRow="1">
                <a:tableStyleId>{5940675A-B579-460E-94D1-54222C63F5DA}</a:tableStyleId>
              </a:tblPr>
              <a:tblGrid>
                <a:gridCol w="2011680"/>
                <a:gridCol w="3520440"/>
                <a:gridCol w="3291840"/>
                <a:gridCol w="2542032"/>
              </a:tblGrid>
              <a:tr h="358706">
                <a:tc>
                  <a:txBody>
                    <a:bodyPr wrap="square"/>
                    <a:lstStyle/>
                    <a:p>
                      <a:pPr algn="l">
                        <a:lnSpc>
                          <a:spcPct val="100000"/>
                        </a:lnSpc>
                      </a:pPr>
                      <a:r>
                        <a:rPr sz="1150" b="1" i="0">
                          <a:solidFill>
                            <a:srgbClr val="FFFFFF"/>
                          </a:solidFill>
                          <a:latin typeface="Calibri"/>
                        </a:rPr>
                        <a:t>Layer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Identical on both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Differs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Why it differs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722248">
                <a:tc>
                  <a:txBody>
                    <a:bodyPr wrap="square"/>
                    <a:lstStyle/>
                    <a:p>
                      <a:pPr algn="l">
                        <a:lnSpc>
                          <a:spcPct val="100000"/>
                        </a:lnSpc>
                      </a:pPr>
                      <a:r>
                        <a:rPr sz="1150" b="1" i="0">
                          <a:solidFill>
                            <a:srgbClr val="1C2433"/>
                          </a:solidFill>
                          <a:latin typeface="Calibri"/>
                        </a:rPr>
                        <a:t>Packs, contracts, connector names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kinds, promoted columns (</a:t>
                      </a:r>
                      <a:r>
                        <a:rPr sz="1050" b="0" i="0">
                          <a:solidFill>
                            <a:srgbClr val="0E7C86"/>
                          </a:solidFill>
                          <a:latin typeface="Consolas"/>
                        </a:rPr>
                        <a:t>layout.&lt;kind&gt;.columns</a:t>
                      </a:r>
                      <a:r>
                        <a:rPr sz="1150" b="0" i="0">
                          <a:solidFill>
                            <a:srgbClr val="1C2433"/>
                          </a:solidFill>
                          <a:latin typeface="Calibri"/>
                        </a:rPr>
                        <a:t>), JSON Lines input, routes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nothing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the format is below the plugin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722248">
                <a:tc>
                  <a:txBody>
                    <a:bodyPr wrap="square"/>
                    <a:lstStyle/>
                    <a:p>
                      <a:pPr algn="l">
                        <a:lnSpc>
                          <a:spcPct val="100000"/>
                        </a:lnSpc>
                      </a:pPr>
                      <a:r>
                        <a:rPr sz="1150" b="1" i="0">
                          <a:solidFill>
                            <a:srgbClr val="1C2433"/>
                          </a:solidFill>
                          <a:latin typeface="Calibri"/>
                        </a:rPr>
                        <a:t>Logical table layout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050" b="0" i="0">
                          <a:solidFill>
                            <a:srgbClr val="0E7C86"/>
                          </a:solidFill>
                          <a:latin typeface="Consolas"/>
                        </a:rPr>
                        <a:t>id</a:t>
                      </a:r>
                      <a:r>
                        <a:rPr sz="1150" b="0" i="0">
                          <a:solidFill>
                            <a:srgbClr val="1C2433"/>
                          </a:solidFill>
                          <a:latin typeface="Calibri"/>
                        </a:rPr>
                        <a:t>, </a:t>
                      </a:r>
                      <a:r>
                        <a:rPr sz="1050" b="0" i="0">
                          <a:solidFill>
                            <a:srgbClr val="0E7C86"/>
                          </a:solidFill>
                          <a:latin typeface="Consolas"/>
                        </a:rPr>
                        <a:t>doc</a:t>
                      </a:r>
                      <a:r>
                        <a:rPr sz="1150" b="0" i="0">
                          <a:solidFill>
                            <a:srgbClr val="1C2433"/>
                          </a:solidFill>
                          <a:latin typeface="Calibri"/>
                        </a:rPr>
                        <a:t>, </a:t>
                      </a:r>
                      <a:r>
                        <a:rPr sz="1050" b="0" i="0">
                          <a:solidFill>
                            <a:srgbClr val="0E7C86"/>
                          </a:solidFill>
                          <a:latin typeface="Consolas"/>
                        </a:rPr>
                        <a:t>business_date</a:t>
                      </a:r>
                      <a:r>
                        <a:rPr sz="1150" b="0" i="0">
                          <a:solidFill>
                            <a:srgbClr val="1C2433"/>
                          </a:solidFill>
                          <a:latin typeface="Calibri"/>
                        </a:rPr>
                        <a:t>, promoted columns; sorted by id; one partition per day; 250,000 rows a file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row groups by rows (Delta, 1,000 rows or 1 MB on AWS) vs by compressed bytes (Iceberg, 1 MB)</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Iceberg's writer sizes row groups in bytes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16666">
                <a:tc>
                  <a:txBody>
                    <a:bodyPr wrap="square"/>
                    <a:lstStyle/>
                    <a:p>
                      <a:pPr algn="l">
                        <a:lnSpc>
                          <a:spcPct val="100000"/>
                        </a:lnSpc>
                      </a:pPr>
                      <a:r>
                        <a:rPr sz="1150" b="1" i="0">
                          <a:solidFill>
                            <a:srgbClr val="1C2433"/>
                          </a:solidFill>
                          <a:latin typeface="Calibri"/>
                        </a:rPr>
                        <a:t>Read paths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id map, one row group per read, column sets, type-ahead, history, BI column scan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Iceberg caches by day fingerprint; Delta by table version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Iceberg's manifests give each day's files cheaply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16666">
                <a:tc>
                  <a:txBody>
                    <a:bodyPr wrap="square"/>
                    <a:lstStyle/>
                    <a:p>
                      <a:pPr algn="l">
                        <a:lnSpc>
                          <a:spcPct val="100000"/>
                        </a:lnSpc>
                      </a:pPr>
                      <a:r>
                        <a:rPr sz="1150" b="1" i="0">
                          <a:solidFill>
                            <a:srgbClr val="1C2433"/>
                          </a:solidFill>
                          <a:latin typeface="Calibri"/>
                        </a:rPr>
                        <a:t>Where the table's truth is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 folder in S3, Parquet data files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050" b="0" i="0">
                          <a:solidFill>
                            <a:srgbClr val="0E7C86"/>
                          </a:solidFill>
                          <a:latin typeface="Consolas"/>
                        </a:rPr>
                        <a:t>_delta_log/</a:t>
                      </a:r>
                      <a:r>
                        <a:rPr sz="1150" b="0" i="0">
                          <a:solidFill>
                            <a:srgbClr val="1C2433"/>
                          </a:solidFill>
                          <a:latin typeface="Calibri"/>
                        </a:rPr>
                        <a:t> commits and checkpoints vs </a:t>
                      </a:r>
                      <a:r>
                        <a:rPr sz="1050" b="0" i="0">
                          <a:solidFill>
                            <a:srgbClr val="0E7C86"/>
                          </a:solidFill>
                          <a:latin typeface="Consolas"/>
                        </a:rPr>
                        <a:t>metadata/</a:t>
                      </a:r>
                      <a:r>
                        <a:rPr sz="1150" b="0" i="0">
                          <a:solidFill>
                            <a:srgbClr val="1C2433"/>
                          </a:solidFill>
                          <a:latin typeface="Calibri"/>
                        </a:rPr>
                        <a:t> JSON, manifest lists, manifests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the two specifications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722248">
                <a:tc>
                  <a:txBody>
                    <a:bodyPr wrap="square"/>
                    <a:lstStyle/>
                    <a:p>
                      <a:pPr algn="l">
                        <a:lnSpc>
                          <a:spcPct val="100000"/>
                        </a:lnSpc>
                      </a:pPr>
                      <a:r>
                        <a:rPr sz="1150" b="1" i="0">
                          <a:solidFill>
                            <a:srgbClr val="1C2433"/>
                          </a:solidFill>
                          <a:latin typeface="Calibri"/>
                        </a:rPr>
                        <a:t>Commits on S3</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a conditional PUT (</a:t>
                      </a:r>
                      <a:r>
                        <a:rPr sz="1050" b="0" i="0">
                          <a:solidFill>
                            <a:srgbClr val="0E7C86"/>
                          </a:solidFill>
                          <a:latin typeface="Consolas"/>
                        </a:rPr>
                        <a:t>If-None-Match: *</a:t>
                      </a:r>
                      <a:r>
                        <a:rPr sz="1150" b="0" i="0">
                          <a:solidFill>
                            <a:srgbClr val="1C2433"/>
                          </a:solidFill>
                          <a:latin typeface="Calibri"/>
                        </a:rPr>
                        <a:t>): two writers never both win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Delta: </a:t>
                      </a:r>
                      <a:r>
                        <a:rPr sz="1050" b="0" i="0">
                          <a:solidFill>
                            <a:srgbClr val="0E7C86"/>
                          </a:solidFill>
                          <a:latin typeface="Consolas"/>
                        </a:rPr>
                        <a:t>lake publish</a:t>
                      </a:r>
                      <a:r>
                        <a:rPr sz="1150" b="0" i="0">
                          <a:solidFill>
                            <a:srgbClr val="1C2433"/>
                          </a:solidFill>
                          <a:latin typeface="Calibri"/>
                        </a:rPr>
                        <a:t> (Python deltalake); Iceberg: the Java loader itself, plus a probe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Drishti's Java Delta writer writes local disk and EFS only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16666">
                <a:tc>
                  <a:txBody>
                    <a:bodyPr wrap="square"/>
                    <a:lstStyle/>
                    <a:p>
                      <a:pPr algn="l">
                        <a:lnSpc>
                          <a:spcPct val="100000"/>
                        </a:lnSpc>
                      </a:pPr>
                      <a:r>
                        <a:rPr sz="1150" b="1" i="0">
                          <a:solidFill>
                            <a:srgbClr val="1C2433"/>
                          </a:solidFill>
                          <a:latin typeface="Calibri"/>
                        </a:rPr>
                        <a:t>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none needed (path-based)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Iceberg may also use a REST catalog (Glue, Polaris)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Iceberg's ecosystem is catalog-centred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16666">
                <a:tc>
                  <a:txBody>
                    <a:bodyPr wrap="square"/>
                    <a:lstStyle/>
                    <a:p>
                      <a:pPr algn="l">
                        <a:lnSpc>
                          <a:spcPct val="100000"/>
                        </a:lnSpc>
                      </a:pPr>
                      <a:r>
                        <a:rPr sz="1150" b="1" i="0">
                          <a:solidFill>
                            <a:srgbClr val="1C2433"/>
                          </a:solidFill>
                          <a:latin typeface="Calibri"/>
                        </a:rPr>
                        <a:t>Maintenance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050" b="0" i="0">
                          <a:solidFill>
                            <a:srgbClr val="0E7C86"/>
                          </a:solidFill>
                          <a:latin typeface="Consolas"/>
                        </a:rPr>
                        <a:t>lake maintain</a:t>
                      </a:r>
                      <a:r>
                        <a:rPr sz="1150" b="0" i="0">
                          <a:solidFill>
                            <a:srgbClr val="1C2433"/>
                          </a:solidFill>
                          <a:latin typeface="Calibri"/>
                        </a:rPr>
                        <a:t> and Admin → Lakes for both; retention, relayout, 7-year floor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Delta checkpoints and vacuum vs Iceberg snapshot expiry and orphan files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the two specifications keep history differently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Drishti's support, side by side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26</a:t>
            </a:r>
          </a:p>
        </p:txBody>
      </p:sp>
      <p:graphicFrame>
        <p:nvGraphicFramePr>
          <p:cNvPr id="10" name="Table"/>
          <p:cNvGraphicFramePr>
            <a:graphicFrameLocks noGrp="1"/>
          </p:cNvGraphicFramePr>
          <p:nvPr/>
        </p:nvGraphicFramePr>
        <p:xfrm>
          <a:off x="411480" y="1143000"/>
          <a:ext cx="11365992" cy="4800600"/>
        </p:xfrm>
        <a:graphic>
          <a:graphicData uri="http://schemas.openxmlformats.org/drawingml/2006/table">
            <a:tbl>
              <a:tblPr firstRow="0" bandRow="0">
                <a:tableStyleId>{5940675A-B579-460E-94D1-54222C63F5DA}</a:tableStyleId>
              </a:tblPr>
              <a:tblGrid>
                <a:gridCol w="5120640"/>
                <a:gridCol w="2926080"/>
                <a:gridCol w="3319272"/>
              </a:tblGrid>
              <a:tr h="320040">
                <a:tc>
                  <a:txBody>
                    <a:bodyPr wrap="square"/>
                    <a:lstStyle/>
                    <a:p>
                      <a:r>
                        <a:rPr sz="1100" b="1" i="0">
                          <a:solidFill>
                            <a:srgbClr val="FFFFFF"/>
                          </a:solidFill>
                          <a:latin typeface="Calibri"/>
                        </a:rPr>
                        <a:t>Capability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Delta Lake (default)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320040">
                <a:tc>
                  <a:txBody>
                    <a:bodyPr wrap="square"/>
                    <a:lstStyle/>
                    <a:p>
                      <a:r>
                        <a:rPr sz="1100" b="1" i="0">
                          <a:solidFill>
                            <a:srgbClr val="1C2433"/>
                          </a:solidFill>
                          <a:latin typeface="Calibri"/>
                        </a:rPr>
                        <a:t>Documents (trades, reference, public data); local disk, EFS, S3 without Hadoop; Windows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yes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yes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20040">
                <a:tc>
                  <a:txBody>
                    <a:bodyPr wrap="square"/>
                    <a:lstStyle/>
                    <a:p>
                      <a:r>
                        <a:rPr sz="1100" b="1" i="0">
                          <a:solidFill>
                            <a:srgbClr val="1C2433"/>
                          </a:solidFill>
                          <a:latin typeface="Calibri"/>
                        </a:rPr>
                        <a:t>Write a table in 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yes (</a:t>
                      </a:r>
                      <a:r>
                        <a:rPr sz="1100" b="0" i="0">
                          <a:solidFill>
                            <a:srgbClr val="0E7C86"/>
                          </a:solidFill>
                          <a:latin typeface="Consolas"/>
                        </a:rPr>
                        <a:t>lake publish</a:t>
                      </a:r>
                      <a:r>
                        <a:rPr sz="11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yes (the loader, directly)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20040">
                <a:tc>
                  <a:txBody>
                    <a:bodyPr wrap="square"/>
                    <a:lstStyle/>
                    <a:p>
                      <a:r>
                        <a:rPr sz="1100" b="1" i="0">
                          <a:solidFill>
                            <a:srgbClr val="1C2433"/>
                          </a:solidFill>
                          <a:latin typeface="Calibri"/>
                        </a:rPr>
                        <a:t>Tables other engines write, in their own layout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yes (Delta connector)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yes (</a:t>
                      </a:r>
                      <a:r>
                        <a:rPr sz="1100" b="0" i="0">
                          <a:solidFill>
                            <a:srgbClr val="0E7C86"/>
                          </a:solidFill>
                          <a:latin typeface="Consolas"/>
                        </a:rPr>
                        <a:t>iceberg-external</a:t>
                      </a:r>
                      <a:r>
                        <a:rPr sz="1100" b="0" i="0">
                          <a:solidFill>
                            <a:srgbClr val="1C2433"/>
                          </a:solidFill>
                          <a:latin typeface="Calibri"/>
                        </a:rPr>
                        <a:t>, read-only)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20040">
                <a:tc>
                  <a:txBody>
                    <a:bodyPr wrap="square"/>
                    <a:lstStyle/>
                    <a:p>
                      <a:r>
                        <a:rPr sz="1100" b="1" i="0">
                          <a:solidFill>
                            <a:srgbClr val="1C2433"/>
                          </a:solidFill>
                          <a:latin typeface="Calibri"/>
                        </a:rPr>
                        <a:t>VaR inputs, intraday files, Kafka windows; exposure inputs (</a:t>
                      </a:r>
                      <a:r>
                        <a:rPr sz="1100" b="1" i="0">
                          <a:solidFill>
                            <a:srgbClr val="0E7C86"/>
                          </a:solidFill>
                          <a:latin typeface="Consolas"/>
                        </a:rPr>
                        <a:t>exposure-path</a:t>
                      </a:r>
                      <a:r>
                        <a:rPr sz="1100" b="1"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yes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yes (equal to the cent)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20040">
                <a:tc>
                  <a:txBody>
                    <a:bodyPr wrap="square"/>
                    <a:lstStyle/>
                    <a:p>
                      <a:r>
                        <a:rPr sz="1100" b="1" i="0">
                          <a:solidFill>
                            <a:srgbClr val="1C2433"/>
                          </a:solidFill>
                          <a:latin typeface="Calibri"/>
                        </a:rPr>
                        <a:t>VaR sharded across servers; the parallel Java loader (folder or 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yes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yes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20040">
                <a:tc>
                  <a:txBody>
                    <a:bodyPr wrap="square"/>
                    <a:lstStyle/>
                    <a:p>
                      <a:r>
                        <a:rPr sz="1100" b="1" i="0">
                          <a:solidFill>
                            <a:srgbClr val="1C2433"/>
                          </a:solidFill>
                          <a:latin typeface="Calibri"/>
                        </a:rPr>
                        <a:t>Official results, folder or </a:t>
                      </a:r>
                      <a:r>
                        <a:rPr sz="1100" b="1" i="0">
                          <a:solidFill>
                            <a:srgbClr val="0E7C86"/>
                          </a:solidFill>
                          <a:latin typeface="Consolas"/>
                        </a:rPr>
                        <a:t>s3://</a:t>
                      </a:r>
                      <a:r>
                        <a:rPr sz="1100" b="1" i="0">
                          <a:solidFill>
                            <a:srgbClr val="1C2433"/>
                          </a:solidFill>
                          <a:latin typeface="Calibri"/>
                        </a:rPr>
                        <a:t>; BI readers of them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yes; BI follows the format by itself</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yes; BI follows the format by itself</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20040">
                <a:tc>
                  <a:txBody>
                    <a:bodyPr wrap="square"/>
                    <a:lstStyle/>
                    <a:p>
                      <a:r>
                        <a:rPr sz="1100" b="1" i="0">
                          <a:solidFill>
                            <a:srgbClr val="1C2433"/>
                          </a:solidFill>
                          <a:latin typeface="Calibri"/>
                        </a:rPr>
                        <a:t>Load and maintain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lake build</a:t>
                      </a:r>
                      <a:r>
                        <a:rPr sz="1100" b="0" i="0">
                          <a:solidFill>
                            <a:srgbClr val="1C2433"/>
                          </a:solidFill>
                          <a:latin typeface="Calibri"/>
                        </a:rPr>
                        <a:t>, </a:t>
                      </a:r>
                      <a:r>
                        <a:rPr sz="1100" b="0" i="0">
                          <a:solidFill>
                            <a:srgbClr val="0E7C86"/>
                          </a:solidFill>
                          <a:latin typeface="Consolas"/>
                        </a:rPr>
                        <a:t>publish</a:t>
                      </a:r>
                      <a:r>
                        <a:rPr sz="1100" b="0" i="0">
                          <a:solidFill>
                            <a:srgbClr val="1C2433"/>
                          </a:solidFill>
                          <a:latin typeface="Calibri"/>
                        </a:rPr>
                        <a:t>, </a:t>
                      </a:r>
                      <a:r>
                        <a:rPr sz="1100" b="0" i="0">
                          <a:solidFill>
                            <a:srgbClr val="0E7C86"/>
                          </a:solidFill>
                          <a:latin typeface="Consolas"/>
                        </a:rPr>
                        <a:t>maintain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lake build --format iceberg</a:t>
                      </a:r>
                      <a:r>
                        <a:rPr sz="1100" b="0" i="0">
                          <a:solidFill>
                            <a:srgbClr val="1C2433"/>
                          </a:solidFill>
                          <a:latin typeface="Calibri"/>
                        </a:rPr>
                        <a:t>, </a:t>
                      </a:r>
                      <a:r>
                        <a:rPr sz="1100" b="0" i="0">
                          <a:solidFill>
                            <a:srgbClr val="0E7C86"/>
                          </a:solidFill>
                          <a:latin typeface="Consolas"/>
                        </a:rPr>
                        <a:t>maintain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20040">
                <a:tc>
                  <a:txBody>
                    <a:bodyPr wrap="square"/>
                    <a:lstStyle/>
                    <a:p>
                      <a:r>
                        <a:rPr sz="1100" b="1" i="0">
                          <a:solidFill>
                            <a:srgbClr val="1C2433"/>
                          </a:solidFill>
                          <a:latin typeface="Calibri"/>
                        </a:rPr>
                        <a:t>Maintenance UI, schedules, ownership rule, 7-year risk floor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yes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yes (+ orphan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20040">
                <a:tc>
                  <a:txBody>
                    <a:bodyPr wrap="square"/>
                    <a:lstStyle/>
                    <a:p>
                      <a:r>
                        <a:rPr sz="1100" b="1" i="0">
                          <a:solidFill>
                            <a:srgbClr val="1C2433"/>
                          </a:solidFill>
                          <a:latin typeface="Calibri"/>
                        </a:rPr>
                        <a:t>Disk caches (id maps, documents) across restarts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yes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yes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20040">
                <a:tc>
                  <a:txBody>
                    <a:bodyPr wrap="square"/>
                    <a:lstStyle/>
                    <a:p>
                      <a:r>
                        <a:rPr sz="1100" b="1" i="0">
                          <a:solidFill>
                            <a:srgbClr val="1C2433"/>
                          </a:solidFill>
                          <a:latin typeface="Calibri"/>
                        </a:rPr>
                        <a:t>Caches survive a commit of another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PROPOSED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yes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20040">
                <a:tc>
                  <a:txBody>
                    <a:bodyPr wrap="square"/>
                    <a:lstStyle/>
                    <a:p>
                      <a:r>
                        <a:rPr sz="1100" b="1" i="0">
                          <a:solidFill>
                            <a:srgbClr val="1C2433"/>
                          </a:solidFill>
                          <a:latin typeface="Calibri"/>
                        </a:rPr>
                        <a:t>AWS scripts: load, backfill, maintain, lifecycle, alarms, report (dry-run tested)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deploy/aws/delta-lake/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deploy/aws/iceberg/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20040">
                <a:tc>
                  <a:txBody>
                    <a:bodyPr wrap="square"/>
                    <a:lstStyle/>
                    <a:p>
                      <a:r>
                        <a:rPr sz="1100" b="1" i="0">
                          <a:solidFill>
                            <a:srgbClr val="1C2433"/>
                          </a:solidFill>
                          <a:latin typeface="Calibri"/>
                        </a:rPr>
                        <a:t>Catalog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table's log in S3 (none needed)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path-based in S3; REST, Glue, S3 Tables client (on AWS: NOT RUN)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20040">
                <a:tc>
                  <a:txBody>
                    <a:bodyPr wrap="square"/>
                    <a:lstStyle/>
                    <a:p>
                      <a:r>
                        <a:rPr sz="1100" b="1" i="0">
                          <a:solidFill>
                            <a:srgbClr val="1C2433"/>
                          </a:solidFill>
                          <a:latin typeface="Calibri"/>
                        </a:rPr>
                        <a:t>A promoted column added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new table + backfill; in place: PLANNED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in place, by field id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20040">
                <a:tc>
                  <a:txBody>
                    <a:bodyPr wrap="square"/>
                    <a:lstStyle/>
                    <a:p>
                      <a:r>
                        <a:rPr sz="1100" b="1" i="0">
                          <a:solidFill>
                            <a:srgbClr val="1C2433"/>
                          </a:solidFill>
                          <a:latin typeface="Calibri"/>
                        </a:rPr>
                        <a:t>Conversion between the two (any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PLANNED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PLANNED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seam in detail: what each plugin implements today</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27</a:t>
            </a:r>
          </a:p>
        </p:txBody>
      </p:sp>
      <p:graphicFrame>
        <p:nvGraphicFramePr>
          <p:cNvPr id="10" name="Table 9"/>
          <p:cNvGraphicFramePr>
            <a:graphicFrameLocks noGrp="1"/>
          </p:cNvGraphicFramePr>
          <p:nvPr/>
        </p:nvGraphicFramePr>
        <p:xfrm>
          <a:off x="411480" y="1143000"/>
          <a:ext cx="11365992" cy="3712464"/>
        </p:xfrm>
        <a:graphic>
          <a:graphicData uri="http://schemas.openxmlformats.org/drawingml/2006/table">
            <a:tbl>
              <a:tblPr firstRow="1" bandRow="1">
                <a:tableStyleId>{5940675A-B579-460E-94D1-54222C63F5DA}</a:tableStyleId>
              </a:tblPr>
              <a:tblGrid>
                <a:gridCol w="4023360"/>
                <a:gridCol w="1097280"/>
                <a:gridCol w="1463040"/>
                <a:gridCol w="1737360"/>
                <a:gridCol w="3044952"/>
              </a:tblGrid>
              <a:tr h="310896">
                <a:tc>
                  <a:txBody>
                    <a:bodyPr wrap="square"/>
                    <a:lstStyle/>
                    <a:p>
                      <a:pPr algn="l">
                        <a:lnSpc>
                          <a:spcPct val="100000"/>
                        </a:lnSpc>
                      </a:pPr>
                      <a:r>
                        <a:rPr sz="1200" b="1" i="0">
                          <a:solidFill>
                            <a:srgbClr val="FFFFFF"/>
                          </a:solidFill>
                          <a:latin typeface="Calibri"/>
                        </a:rPr>
                        <a:t>Capability (SourcePlugin method)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delta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iceberg-external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Who needs 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63296">
                <a:tc>
                  <a:txBody>
                    <a:bodyPr wrap="square"/>
                    <a:lstStyle/>
                    <a:p>
                      <a:pPr algn="l">
                        <a:lnSpc>
                          <a:spcPct val="100000"/>
                        </a:lnSpc>
                      </a:pPr>
                      <a:r>
                        <a:rPr sz="1200" b="1" i="0">
                          <a:solidFill>
                            <a:srgbClr val="1C2433"/>
                          </a:solidFill>
                          <a:latin typeface="Calibri"/>
                        </a:rPr>
                        <a:t>one entity, history days, search, reverse links (</a:t>
                      </a:r>
                      <a:r>
                        <a:rPr sz="1100" b="1" i="0">
                          <a:solidFill>
                            <a:srgbClr val="0E7C86"/>
                          </a:solidFill>
                          <a:latin typeface="Consolas"/>
                        </a:rPr>
                        <a:t>fetch</a:t>
                      </a:r>
                      <a:r>
                        <a:rPr sz="1200" b="1" i="0">
                          <a:solidFill>
                            <a:srgbClr val="1C2433"/>
                          </a:solidFill>
                          <a:latin typeface="Calibri"/>
                        </a:rPr>
                        <a:t>, </a:t>
                      </a:r>
                      <a:r>
                        <a:rPr sz="1100" b="1" i="0">
                          <a:solidFill>
                            <a:srgbClr val="0E7C86"/>
                          </a:solidFill>
                          <a:latin typeface="Consolas"/>
                        </a:rPr>
                        <a:t>days</a:t>
                      </a:r>
                      <a:r>
                        <a:rPr sz="1200" b="1" i="0">
                          <a:solidFill>
                            <a:srgbClr val="1C2433"/>
                          </a:solidFill>
                          <a:latin typeface="Calibri"/>
                        </a:rPr>
                        <a:t>, </a:t>
                      </a:r>
                      <a:r>
                        <a:rPr sz="1100" b="1" i="0">
                          <a:solidFill>
                            <a:srgbClr val="0E7C86"/>
                          </a:solidFill>
                          <a:latin typeface="Consolas"/>
                        </a:rPr>
                        <a:t>search</a:t>
                      </a:r>
                      <a:r>
                        <a:rPr sz="1200" b="1" i="0">
                          <a:solidFill>
                            <a:srgbClr val="1C2433"/>
                          </a:solidFill>
                          <a:latin typeface="Calibri"/>
                        </a:rPr>
                        <a:t>, </a:t>
                      </a:r>
                      <a:r>
                        <a:rPr sz="1100" b="1" i="0">
                          <a:solidFill>
                            <a:srgbClr val="0E7C86"/>
                          </a:solidFill>
                          <a:latin typeface="Consolas"/>
                        </a:rPr>
                        <a:t>reverse</a:t>
                      </a:r>
                      <a:r>
                        <a:rPr sz="1200" b="1"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yes (no </a:t>
                      </a:r>
                      <a:r>
                        <a:rPr sz="1100" b="0" i="0">
                          <a:solidFill>
                            <a:srgbClr val="0E7C86"/>
                          </a:solidFill>
                          <a:latin typeface="Consolas"/>
                        </a:rPr>
                        <a:t>days</a:t>
                      </a: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every page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63296">
                <a:tc>
                  <a:txBody>
                    <a:bodyPr wrap="square"/>
                    <a:lstStyle/>
                    <a:p>
                      <a:pPr algn="l">
                        <a:lnSpc>
                          <a:spcPct val="100000"/>
                        </a:lnSpc>
                      </a:pPr>
                      <a:r>
                        <a:rPr sz="1200" b="1" i="0">
                          <a:solidFill>
                            <a:srgbClr val="1C2433"/>
                          </a:solidFill>
                          <a:latin typeface="Calibri"/>
                        </a:rPr>
                        <a:t>columns of a day (</a:t>
                      </a:r>
                      <a:r>
                        <a:rPr sz="1100" b="1" i="0">
                          <a:solidFill>
                            <a:srgbClr val="0E7C86"/>
                          </a:solidFill>
                          <a:latin typeface="Consolas"/>
                        </a:rPr>
                        <a:t>columnar</a:t>
                      </a:r>
                      <a:r>
                        <a:rPr sz="1200" b="1" i="0">
                          <a:solidFill>
                            <a:srgbClr val="1C2433"/>
                          </a:solidFill>
                          <a:latin typeface="Calibri"/>
                        </a:rPr>
                        <a:t>, </a:t>
                      </a:r>
                      <a:r>
                        <a:rPr sz="1100" b="1" i="0">
                          <a:solidFill>
                            <a:srgbClr val="0E7C86"/>
                          </a:solidFill>
                          <a:latin typeface="Consolas"/>
                        </a:rPr>
                        <a:t>columns</a:t>
                      </a:r>
                      <a:r>
                        <a:rPr sz="1200" b="1" i="0">
                          <a:solidFill>
                            <a:srgbClr val="1C2433"/>
                          </a:solidFill>
                          <a:latin typeface="Calibri"/>
                        </a:rPr>
                        <a:t>), type-ahead index</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yes (columns)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searches, pick lists, impact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63296">
                <a:tc>
                  <a:txBody>
                    <a:bodyPr wrap="square"/>
                    <a:lstStyle/>
                    <a:p>
                      <a:pPr algn="l">
                        <a:lnSpc>
                          <a:spcPct val="100000"/>
                        </a:lnSpc>
                      </a:pPr>
                      <a:r>
                        <a:rPr sz="1200" b="1" i="0">
                          <a:solidFill>
                            <a:srgbClr val="1C2433"/>
                          </a:solidFill>
                          <a:latin typeface="Calibri"/>
                        </a:rPr>
                        <a:t>BI column scan, data version, held dates, row estimate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BI store and runs, statements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10896">
                <a:tc>
                  <a:txBody>
                    <a:bodyPr wrap="square"/>
                    <a:lstStyle/>
                    <a:p>
                      <a:pPr algn="l">
                        <a:lnSpc>
                          <a:spcPct val="100000"/>
                        </a:lnSpc>
                      </a:pPr>
                      <a:r>
                        <a:rPr sz="1200" b="1" i="0">
                          <a:solidFill>
                            <a:srgbClr val="1C2433"/>
                          </a:solidFill>
                          <a:latin typeface="Calibri"/>
                        </a:rPr>
                        <a:t>time travel (</a:t>
                      </a:r>
                      <a:r>
                        <a:rPr sz="1200" b="1" i="1">
                          <a:solidFill>
                            <a:srgbClr val="1C2433"/>
                          </a:solidFill>
                          <a:latin typeface="Calibri"/>
                        </a:rPr>
                        <a:t>known at</a:t>
                      </a:r>
                      <a:r>
                        <a:rPr sz="1200" b="1"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every as-known-at view</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63296">
                <a:tc>
                  <a:txBody>
                    <a:bodyPr wrap="square"/>
                    <a:lstStyle/>
                    <a:p>
                      <a:pPr algn="l">
                        <a:lnSpc>
                          <a:spcPct val="100000"/>
                        </a:lnSpc>
                      </a:pPr>
                      <a:r>
                        <a:rPr sz="1200" b="1" i="0">
                          <a:solidFill>
                            <a:srgbClr val="1C2433"/>
                          </a:solidFill>
                          <a:latin typeface="Calibri"/>
                        </a:rPr>
                        <a:t>vector columns (</a:t>
                      </a:r>
                      <a:r>
                        <a:rPr sz="1100" b="1" i="0">
                          <a:solidFill>
                            <a:srgbClr val="0E7C86"/>
                          </a:solidFill>
                          <a:latin typeface="Consolas"/>
                        </a:rPr>
                        <a:t>vectorColumns</a:t>
                      </a:r>
                      <a:r>
                        <a:rPr sz="1200" b="1" i="0">
                          <a:solidFill>
                            <a:srgbClr val="1C2433"/>
                          </a:solidFill>
                          <a:latin typeface="Calibri"/>
                        </a:rPr>
                        <a:t>, </a:t>
                      </a:r>
                      <a:r>
                        <a:rPr sz="1100" b="1" i="0">
                          <a:solidFill>
                            <a:srgbClr val="0E7C86"/>
                          </a:solidFill>
                          <a:latin typeface="Consolas"/>
                        </a:rPr>
                        <a:t>vectors</a:t>
                      </a:r>
                      <a:r>
                        <a:rPr sz="1200" b="1" i="0">
                          <a:solidFill>
                            <a:srgbClr val="1C2433"/>
                          </a:solidFill>
                          <a:latin typeface="Calibri"/>
                        </a:rPr>
                        <a:t>): </a:t>
                      </a:r>
                      <a:r>
                        <a:rPr sz="1100" b="1" i="0">
                          <a:solidFill>
                            <a:srgbClr val="0E7C86"/>
                          </a:solidFill>
                          <a:latin typeface="Consolas"/>
                        </a:rPr>
                        <a:t>list&lt;double&gt;</a:t>
                      </a:r>
                      <a:r>
                        <a:rPr sz="1200" b="1" i="0">
                          <a:solidFill>
                            <a:srgbClr val="1C2433"/>
                          </a:solidFill>
                          <a:latin typeface="Calibri"/>
                        </a:rPr>
                        <a:t> streamed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VaR, exposure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10896">
                <a:tc>
                  <a:txBody>
                    <a:bodyPr wrap="square"/>
                    <a:lstStyle/>
                    <a:p>
                      <a:pPr algn="l">
                        <a:lnSpc>
                          <a:spcPct val="100000"/>
                        </a:lnSpc>
                      </a:pPr>
                      <a:r>
                        <a:rPr sz="1200" b="1" i="0">
                          <a:solidFill>
                            <a:srgbClr val="1C2433"/>
                          </a:solidFill>
                          <a:latin typeface="Calibri"/>
                        </a:rPr>
                        <a:t>whole-day documents (</a:t>
                      </a:r>
                      <a:r>
                        <a:rPr sz="1100" b="1" i="0">
                          <a:solidFill>
                            <a:srgbClr val="0E7C86"/>
                          </a:solidFill>
                          <a:latin typeface="Consolas"/>
                        </a:rPr>
                        <a:t>documents</a:t>
                      </a:r>
                      <a:r>
                        <a:rPr sz="1200" b="1"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derived pages (faster path)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63296">
                <a:tc>
                  <a:txBody>
                    <a:bodyPr wrap="square"/>
                    <a:lstStyle/>
                    <a:p>
                      <a:pPr algn="l">
                        <a:lnSpc>
                          <a:spcPct val="100000"/>
                        </a:lnSpc>
                      </a:pPr>
                      <a:r>
                        <a:rPr sz="1200" b="1" i="0">
                          <a:solidFill>
                            <a:srgbClr val="1C2433"/>
                          </a:solidFill>
                          <a:latin typeface="Calibri"/>
                        </a:rPr>
                        <a:t>table identity, holds none (</a:t>
                      </a:r>
                      <a:r>
                        <a:rPr sz="1100" b="1" i="0">
                          <a:solidFill>
                            <a:srgbClr val="0E7C86"/>
                          </a:solidFill>
                          <a:latin typeface="Consolas"/>
                        </a:rPr>
                        <a:t>tableIdentity</a:t>
                      </a:r>
                      <a:r>
                        <a:rPr sz="1200" b="1" i="0">
                          <a:solidFill>
                            <a:srgbClr val="1C2433"/>
                          </a:solidFill>
                          <a:latin typeface="Calibri"/>
                        </a:rPr>
                        <a:t>, </a:t>
                      </a:r>
                      <a:r>
                        <a:rPr sz="1100" b="1" i="0">
                          <a:solidFill>
                            <a:srgbClr val="0E7C86"/>
                          </a:solidFill>
                          <a:latin typeface="Consolas"/>
                        </a:rPr>
                        <a:t>holdsNone</a:t>
                      </a:r>
                      <a:r>
                        <a:rPr sz="1200" b="1"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Drishti*net replicas vs shards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63296">
                <a:tc>
                  <a:txBody>
                    <a:bodyPr wrap="square"/>
                    <a:lstStyle/>
                    <a:p>
                      <a:pPr algn="l">
                        <a:lnSpc>
                          <a:spcPct val="100000"/>
                        </a:lnSpc>
                      </a:pPr>
                      <a:r>
                        <a:rPr sz="1200" b="1" i="0">
                          <a:solidFill>
                            <a:srgbClr val="1C2433"/>
                          </a:solidFill>
                          <a:latin typeface="Calibri"/>
                        </a:rPr>
                        <a:t>inventory, refresh on signal (</a:t>
                      </a:r>
                      <a:r>
                        <a:rPr sz="1100" b="1" i="0">
                          <a:solidFill>
                            <a:srgbClr val="0E7C86"/>
                          </a:solidFill>
                          <a:latin typeface="Consolas"/>
                        </a:rPr>
                        <a:t>inventory</a:t>
                      </a:r>
                      <a:r>
                        <a:rPr sz="1200" b="1" i="0">
                          <a:solidFill>
                            <a:srgbClr val="1C2433"/>
                          </a:solidFill>
                          <a:latin typeface="Calibri"/>
                        </a:rPr>
                        <a:t>, </a:t>
                      </a:r>
                      <a:r>
                        <a:rPr sz="1100" b="1" i="0">
                          <a:solidFill>
                            <a:srgbClr val="0E7C86"/>
                          </a:solidFill>
                          <a:latin typeface="Consolas"/>
                        </a:rPr>
                        <a:t>refreshVersions</a:t>
                      </a:r>
                      <a:r>
                        <a:rPr sz="1200" b="1"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Admin test, data-load signal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
        <p:nvSpPr>
          <p:cNvPr id="11" name="Rounded Rectangle 10"/>
          <p:cNvSpPr/>
          <p:nvPr/>
        </p:nvSpPr>
        <p:spPr>
          <a:xfrm>
            <a:off x="411480" y="5175504"/>
            <a:ext cx="11365992" cy="868680"/>
          </a:xfrm>
          <a:prstGeom prst="roundRect">
            <a:avLst>
              <a:gd name="adj" fmla="val 6000"/>
            </a:avLst>
          </a:prstGeom>
          <a:solidFill>
            <a:srgbClr val="FFF4E6"/>
          </a:solidFill>
          <a:ln w="19050">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411480" y="5175504"/>
            <a:ext cx="82296" cy="86868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0080" y="5230368"/>
            <a:ext cx="11000232" cy="758952"/>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Clean layering, equal capability.</a:t>
            </a:r>
            <a:r>
              <a:rPr sz="1300" b="0" i="0">
                <a:solidFill>
                  <a:srgbClr val="1C2433"/>
                </a:solidFill>
                <a:latin typeface="Calibri"/>
              </a:rPr>
              <a:t> The gaps were implementations of existing interface methods, not changes to the architecture: the seam was already where it should be.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Switching one table, and running both side by side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28</a:t>
            </a:r>
          </a:p>
        </p:txBody>
      </p:sp>
      <p:sp>
        <p:nvSpPr>
          <p:cNvPr id="10" name="Code block"/>
          <p:cNvSpPr/>
          <p:nvPr/>
        </p:nvSpPr>
        <p:spPr>
          <a:xfrm>
            <a:off x="411480" y="1143000"/>
            <a:ext cx="11365992" cy="566928"/>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521208" y="1207008"/>
            <a:ext cx="11146536" cy="438912"/>
          </a:xfrm>
          <a:prstGeom prst="rect">
            <a:avLst/>
          </a:prstGeom>
          <a:noFill/>
        </p:spPr>
        <p:txBody>
          <a:bodyPr wrap="square" lIns="0" rIns="0" tIns="0" bIns="0" anchor="ctr">
            <a:spAutoFit/>
          </a:bodyPr>
          <a:lstStyle/>
          <a:p>
            <a:pPr>
              <a:spcAft>
                <a:spcPts val="0"/>
              </a:spcAft>
              <a:buNone/>
            </a:pPr>
            <a:r>
              <a:rPr sz="1150" b="0" i="0">
                <a:solidFill>
                  <a:srgbClr val="E6EDF3"/>
                </a:solidFill>
                <a:latin typeface="Consolas"/>
              </a:rPr>
              <a:t>python tools/build_demo_lakes.py --store calypso=iceberg    </a:t>
            </a:r>
            <a:r>
              <a:rPr sz="1150" b="0" i="0">
                <a:solidFill>
                  <a:srgbClr val="8B9BB4"/>
                </a:solidFill>
                <a:latin typeface="Consolas"/>
              </a:rPr>
              <a:t>  # CALYPSO in Iceberg, ENDUR and MUREX in Delta</a:t>
            </a:r>
          </a:p>
          <a:p>
            <a:pPr>
              <a:spcAft>
                <a:spcPts val="0"/>
              </a:spcAft>
              <a:buNone/>
            </a:pPr>
            <a:r>
              <a:rPr sz="1150" b="0" i="0">
                <a:solidFill>
                  <a:srgbClr val="E6EDF3"/>
                </a:solidFill>
                <a:latin typeface="Consolas"/>
              </a:rPr>
              <a:t>python tools/build_demo_lakes.py --store all=iceberg        </a:t>
            </a:r>
            <a:r>
              <a:rPr sz="1150" b="0" i="0">
                <a:solidFill>
                  <a:srgbClr val="8B9BB4"/>
                </a:solidFill>
                <a:latin typeface="Consolas"/>
              </a:rPr>
              <a:t>  # every system in Iceberg</a:t>
            </a:r>
          </a:p>
        </p:txBody>
      </p:sp>
      <p:sp>
        <p:nvSpPr>
          <p:cNvPr id="12" name="TextBox 11"/>
          <p:cNvSpPr txBox="1"/>
          <p:nvPr/>
        </p:nvSpPr>
        <p:spPr>
          <a:xfrm>
            <a:off x="411480" y="1828800"/>
            <a:ext cx="5486400" cy="347472"/>
          </a:xfrm>
          <a:prstGeom prst="rect">
            <a:avLst/>
          </a:prstGeom>
          <a:noFill/>
        </p:spPr>
        <p:txBody>
          <a:bodyPr wrap="square" lIns="0" rIns="0" tIns="0" bIns="0" anchor="t">
            <a:spAutoFit/>
          </a:bodyPr>
          <a:lstStyle/>
          <a:p>
            <a:pPr algn="l">
              <a:spcAft>
                <a:spcPts val="600"/>
              </a:spcAft>
              <a:buNone/>
            </a:pPr>
            <a:r>
              <a:rPr sz="1400" b="1" i="0">
                <a:solidFill>
                  <a:srgbClr val="0B1E3B"/>
                </a:solidFill>
                <a:latin typeface="Calibri"/>
              </a:rPr>
              <a:t>Before: every system in Delta</a:t>
            </a:r>
          </a:p>
        </p:txBody>
      </p:sp>
      <p:sp>
        <p:nvSpPr>
          <p:cNvPr id="13" name="Rounded Rectangle 12"/>
          <p:cNvSpPr/>
          <p:nvPr/>
        </p:nvSpPr>
        <p:spPr>
          <a:xfrm>
            <a:off x="411480" y="2194560"/>
            <a:ext cx="5486400" cy="548640"/>
          </a:xfrm>
          <a:prstGeom prst="roundRect">
            <a:avLst>
              <a:gd name="adj" fmla="val 10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21208" y="2212848"/>
            <a:ext cx="5303520" cy="512064"/>
          </a:xfrm>
          <a:prstGeom prst="rect">
            <a:avLst/>
          </a:prstGeom>
          <a:noFill/>
        </p:spPr>
        <p:txBody>
          <a:bodyPr wrap="square" lIns="0" rIns="0" tIns="0" bIns="0" anchor="ctr">
            <a:spAutoFit/>
          </a:bodyPr>
          <a:lstStyle/>
          <a:p>
            <a:pPr algn="l">
              <a:spcAft>
                <a:spcPts val="600"/>
              </a:spcAft>
              <a:buNone/>
            </a:pPr>
            <a:r>
              <a:rPr sz="1200" b="1" i="0">
                <a:solidFill>
                  <a:srgbClr val="1C2433"/>
                </a:solidFill>
                <a:latin typeface="Calibri"/>
              </a:rPr>
              <a:t>trade-endur</a:t>
            </a:r>
            <a:r>
              <a:rPr sz="1200" b="0" i="0">
                <a:solidFill>
                  <a:srgbClr val="1C2433"/>
                </a:solidFill>
                <a:latin typeface="Calibri"/>
              </a:rPr>
              <a:t> · </a:t>
            </a:r>
            <a:r>
              <a:rPr sz="1100" b="0" i="0">
                <a:solidFill>
                  <a:srgbClr val="0E7C86"/>
                </a:solidFill>
                <a:latin typeface="Consolas"/>
              </a:rPr>
              <a:t>plugin: delta</a:t>
            </a:r>
            <a:r>
              <a:rPr sz="1200" b="0" i="0">
                <a:solidFill>
                  <a:srgbClr val="1C2433"/>
                </a:solidFill>
                <a:latin typeface="Calibri"/>
              </a:rPr>
              <a:t> · </a:t>
            </a:r>
            <a:r>
              <a:rPr sz="1100" b="0" i="0">
                <a:solidFill>
                  <a:srgbClr val="0E7C86"/>
                </a:solidFill>
                <a:latin typeface="Consolas"/>
              </a:rPr>
              <a:t>…/trade_endur</a:t>
            </a:r>
          </a:p>
        </p:txBody>
      </p:sp>
      <p:sp>
        <p:nvSpPr>
          <p:cNvPr id="15" name="Rounded Rectangle 14"/>
          <p:cNvSpPr/>
          <p:nvPr/>
        </p:nvSpPr>
        <p:spPr>
          <a:xfrm>
            <a:off x="411480" y="2816352"/>
            <a:ext cx="5486400" cy="548640"/>
          </a:xfrm>
          <a:prstGeom prst="roundRect">
            <a:avLst>
              <a:gd name="adj" fmla="val 10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521208" y="2834640"/>
            <a:ext cx="5303520" cy="512064"/>
          </a:xfrm>
          <a:prstGeom prst="rect">
            <a:avLst/>
          </a:prstGeom>
          <a:noFill/>
        </p:spPr>
        <p:txBody>
          <a:bodyPr wrap="square" lIns="0" rIns="0" tIns="0" bIns="0" anchor="ctr">
            <a:spAutoFit/>
          </a:bodyPr>
          <a:lstStyle/>
          <a:p>
            <a:pPr algn="l">
              <a:spcAft>
                <a:spcPts val="600"/>
              </a:spcAft>
              <a:buNone/>
            </a:pPr>
            <a:r>
              <a:rPr sz="1200" b="1" i="0">
                <a:solidFill>
                  <a:srgbClr val="1C2433"/>
                </a:solidFill>
                <a:latin typeface="Calibri"/>
              </a:rPr>
              <a:t>trade-calypso</a:t>
            </a:r>
            <a:r>
              <a:rPr sz="1200" b="0" i="0">
                <a:solidFill>
                  <a:srgbClr val="1C2433"/>
                </a:solidFill>
                <a:latin typeface="Calibri"/>
              </a:rPr>
              <a:t> · </a:t>
            </a:r>
            <a:r>
              <a:rPr sz="1100" b="0" i="0">
                <a:solidFill>
                  <a:srgbClr val="0E7C86"/>
                </a:solidFill>
                <a:latin typeface="Consolas"/>
              </a:rPr>
              <a:t>plugin: delta</a:t>
            </a:r>
            <a:r>
              <a:rPr sz="1200" b="0" i="0">
                <a:solidFill>
                  <a:srgbClr val="1C2433"/>
                </a:solidFill>
                <a:latin typeface="Calibri"/>
              </a:rPr>
              <a:t> · </a:t>
            </a:r>
            <a:r>
              <a:rPr sz="1100" b="0" i="0">
                <a:solidFill>
                  <a:srgbClr val="0E7C86"/>
                </a:solidFill>
                <a:latin typeface="Consolas"/>
              </a:rPr>
              <a:t>…/trade_calypso</a:t>
            </a:r>
          </a:p>
        </p:txBody>
      </p:sp>
      <p:sp>
        <p:nvSpPr>
          <p:cNvPr id="17" name="Rounded Rectangle 16"/>
          <p:cNvSpPr/>
          <p:nvPr/>
        </p:nvSpPr>
        <p:spPr>
          <a:xfrm>
            <a:off x="411480" y="3438144"/>
            <a:ext cx="5486400" cy="548640"/>
          </a:xfrm>
          <a:prstGeom prst="roundRect">
            <a:avLst>
              <a:gd name="adj" fmla="val 10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521208" y="3456432"/>
            <a:ext cx="5303520" cy="512064"/>
          </a:xfrm>
          <a:prstGeom prst="rect">
            <a:avLst/>
          </a:prstGeom>
          <a:noFill/>
        </p:spPr>
        <p:txBody>
          <a:bodyPr wrap="square" lIns="0" rIns="0" tIns="0" bIns="0" anchor="ctr">
            <a:spAutoFit/>
          </a:bodyPr>
          <a:lstStyle/>
          <a:p>
            <a:pPr algn="l">
              <a:spcAft>
                <a:spcPts val="600"/>
              </a:spcAft>
              <a:buNone/>
            </a:pPr>
            <a:r>
              <a:rPr sz="1200" b="1" i="0">
                <a:solidFill>
                  <a:srgbClr val="1C2433"/>
                </a:solidFill>
                <a:latin typeface="Calibri"/>
              </a:rPr>
              <a:t>trade-murex</a:t>
            </a:r>
            <a:r>
              <a:rPr sz="1200" b="0" i="0">
                <a:solidFill>
                  <a:srgbClr val="1C2433"/>
                </a:solidFill>
                <a:latin typeface="Calibri"/>
              </a:rPr>
              <a:t> · </a:t>
            </a:r>
            <a:r>
              <a:rPr sz="1100" b="0" i="0">
                <a:solidFill>
                  <a:srgbClr val="0E7C86"/>
                </a:solidFill>
                <a:latin typeface="Consolas"/>
              </a:rPr>
              <a:t>plugin: delta</a:t>
            </a:r>
            <a:r>
              <a:rPr sz="1200" b="0" i="0">
                <a:solidFill>
                  <a:srgbClr val="1C2433"/>
                </a:solidFill>
                <a:latin typeface="Calibri"/>
              </a:rPr>
              <a:t> · </a:t>
            </a:r>
            <a:r>
              <a:rPr sz="1100" b="0" i="0">
                <a:solidFill>
                  <a:srgbClr val="0E7C86"/>
                </a:solidFill>
                <a:latin typeface="Consolas"/>
              </a:rPr>
              <a:t>…/trade_murex</a:t>
            </a:r>
          </a:p>
        </p:txBody>
      </p:sp>
      <p:sp>
        <p:nvSpPr>
          <p:cNvPr id="19" name="TextBox 18"/>
          <p:cNvSpPr txBox="1"/>
          <p:nvPr/>
        </p:nvSpPr>
        <p:spPr>
          <a:xfrm>
            <a:off x="6291072" y="1828800"/>
            <a:ext cx="5486400" cy="347472"/>
          </a:xfrm>
          <a:prstGeom prst="rect">
            <a:avLst/>
          </a:prstGeom>
          <a:noFill/>
        </p:spPr>
        <p:txBody>
          <a:bodyPr wrap="square" lIns="0" rIns="0" tIns="0" bIns="0" anchor="t">
            <a:spAutoFit/>
          </a:bodyPr>
          <a:lstStyle/>
          <a:p>
            <a:pPr algn="l">
              <a:spcAft>
                <a:spcPts val="600"/>
              </a:spcAft>
              <a:buNone/>
            </a:pPr>
            <a:r>
              <a:rPr sz="1400" b="1" i="0">
                <a:solidFill>
                  <a:srgbClr val="0B1E3B"/>
                </a:solidFill>
                <a:latin typeface="Calibri"/>
              </a:rPr>
              <a:t>After: CALYPSO in Iceberg, the same connector name</a:t>
            </a:r>
          </a:p>
        </p:txBody>
      </p:sp>
      <p:sp>
        <p:nvSpPr>
          <p:cNvPr id="20" name="Rounded Rectangle 19"/>
          <p:cNvSpPr/>
          <p:nvPr/>
        </p:nvSpPr>
        <p:spPr>
          <a:xfrm>
            <a:off x="6291072" y="2194560"/>
            <a:ext cx="5486400" cy="548640"/>
          </a:xfrm>
          <a:prstGeom prst="roundRect">
            <a:avLst>
              <a:gd name="adj" fmla="val 10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6400800" y="2212848"/>
            <a:ext cx="5303520" cy="512064"/>
          </a:xfrm>
          <a:prstGeom prst="rect">
            <a:avLst/>
          </a:prstGeom>
          <a:noFill/>
        </p:spPr>
        <p:txBody>
          <a:bodyPr wrap="square" lIns="0" rIns="0" tIns="0" bIns="0" anchor="ctr">
            <a:spAutoFit/>
          </a:bodyPr>
          <a:lstStyle/>
          <a:p>
            <a:pPr algn="l">
              <a:spcAft>
                <a:spcPts val="600"/>
              </a:spcAft>
              <a:buNone/>
            </a:pPr>
            <a:r>
              <a:rPr sz="1200" b="1" i="0">
                <a:solidFill>
                  <a:srgbClr val="1C2433"/>
                </a:solidFill>
                <a:latin typeface="Calibri"/>
              </a:rPr>
              <a:t>trade-endur</a:t>
            </a:r>
            <a:r>
              <a:rPr sz="1200" b="0" i="0">
                <a:solidFill>
                  <a:srgbClr val="1C2433"/>
                </a:solidFill>
                <a:latin typeface="Calibri"/>
              </a:rPr>
              <a:t> · </a:t>
            </a:r>
            <a:r>
              <a:rPr sz="1100" b="0" i="0">
                <a:solidFill>
                  <a:srgbClr val="0E7C86"/>
                </a:solidFill>
                <a:latin typeface="Consolas"/>
              </a:rPr>
              <a:t>plugin: delta</a:t>
            </a:r>
            <a:r>
              <a:rPr sz="1200" b="0" i="0">
                <a:solidFill>
                  <a:srgbClr val="1C2433"/>
                </a:solidFill>
                <a:latin typeface="Calibri"/>
              </a:rPr>
              <a:t> · </a:t>
            </a:r>
            <a:r>
              <a:rPr sz="1100" b="0" i="0">
                <a:solidFill>
                  <a:srgbClr val="0E7C86"/>
                </a:solidFill>
                <a:latin typeface="Consolas"/>
              </a:rPr>
              <a:t>delta/trading/trade_endur</a:t>
            </a:r>
          </a:p>
        </p:txBody>
      </p:sp>
      <p:sp>
        <p:nvSpPr>
          <p:cNvPr id="22" name="Rounded Rectangle 21"/>
          <p:cNvSpPr/>
          <p:nvPr/>
        </p:nvSpPr>
        <p:spPr>
          <a:xfrm>
            <a:off x="6291072" y="2816352"/>
            <a:ext cx="5486400" cy="548640"/>
          </a:xfrm>
          <a:prstGeom prst="roundRect">
            <a:avLst>
              <a:gd name="adj" fmla="val 10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6400800" y="2834640"/>
            <a:ext cx="5303520" cy="512064"/>
          </a:xfrm>
          <a:prstGeom prst="rect">
            <a:avLst/>
          </a:prstGeom>
          <a:noFill/>
        </p:spPr>
        <p:txBody>
          <a:bodyPr wrap="square" lIns="0" rIns="0" tIns="0" bIns="0" anchor="ctr">
            <a:spAutoFit/>
          </a:bodyPr>
          <a:lstStyle/>
          <a:p>
            <a:pPr algn="l">
              <a:spcAft>
                <a:spcPts val="600"/>
              </a:spcAft>
              <a:buNone/>
            </a:pPr>
            <a:r>
              <a:rPr sz="1200" b="1" i="0">
                <a:solidFill>
                  <a:srgbClr val="1C2433"/>
                </a:solidFill>
                <a:latin typeface="Calibri"/>
              </a:rPr>
              <a:t>trade-calypso</a:t>
            </a:r>
            <a:r>
              <a:rPr sz="1200" b="0" i="0">
                <a:solidFill>
                  <a:srgbClr val="1C2433"/>
                </a:solidFill>
                <a:latin typeface="Calibri"/>
              </a:rPr>
              <a:t> · </a:t>
            </a:r>
            <a:r>
              <a:rPr sz="1100" b="0" i="0">
                <a:solidFill>
                  <a:srgbClr val="0E7C86"/>
                </a:solidFill>
                <a:latin typeface="Consolas"/>
              </a:rPr>
              <a:t>plugin: iceberg</a:t>
            </a:r>
            <a:r>
              <a:rPr sz="1200" b="0" i="0">
                <a:solidFill>
                  <a:srgbClr val="1C2433"/>
                </a:solidFill>
                <a:latin typeface="Calibri"/>
              </a:rPr>
              <a:t> · </a:t>
            </a:r>
            <a:r>
              <a:rPr sz="1100" b="0" i="0">
                <a:solidFill>
                  <a:srgbClr val="0E7C86"/>
                </a:solidFill>
                <a:latin typeface="Consolas"/>
              </a:rPr>
              <a:t>iceberg/…/trade_calypso</a:t>
            </a:r>
            <a:r>
              <a:rPr sz="1200" b="0" i="0">
                <a:solidFill>
                  <a:srgbClr val="1C2433"/>
                </a:solidFill>
                <a:latin typeface="Calibri"/>
              </a:rPr>
              <a:t>, native</a:t>
            </a:r>
          </a:p>
        </p:txBody>
      </p:sp>
      <p:sp>
        <p:nvSpPr>
          <p:cNvPr id="24" name="Rounded Rectangle 23"/>
          <p:cNvSpPr/>
          <p:nvPr/>
        </p:nvSpPr>
        <p:spPr>
          <a:xfrm>
            <a:off x="6291072" y="3438144"/>
            <a:ext cx="5486400" cy="548640"/>
          </a:xfrm>
          <a:prstGeom prst="roundRect">
            <a:avLst>
              <a:gd name="adj" fmla="val 10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6400800" y="3456432"/>
            <a:ext cx="5303520" cy="512064"/>
          </a:xfrm>
          <a:prstGeom prst="rect">
            <a:avLst/>
          </a:prstGeom>
          <a:noFill/>
        </p:spPr>
        <p:txBody>
          <a:bodyPr wrap="square" lIns="0" rIns="0" tIns="0" bIns="0" anchor="ctr">
            <a:spAutoFit/>
          </a:bodyPr>
          <a:lstStyle/>
          <a:p>
            <a:pPr algn="l">
              <a:spcAft>
                <a:spcPts val="600"/>
              </a:spcAft>
              <a:buNone/>
            </a:pPr>
            <a:r>
              <a:rPr sz="1200" b="1" i="0">
                <a:solidFill>
                  <a:srgbClr val="1C2433"/>
                </a:solidFill>
                <a:latin typeface="Calibri"/>
              </a:rPr>
              <a:t>trade-murex</a:t>
            </a:r>
            <a:r>
              <a:rPr sz="1200" b="0" i="0">
                <a:solidFill>
                  <a:srgbClr val="1C2433"/>
                </a:solidFill>
                <a:latin typeface="Calibri"/>
              </a:rPr>
              <a:t> · </a:t>
            </a:r>
            <a:r>
              <a:rPr sz="1100" b="0" i="0">
                <a:solidFill>
                  <a:srgbClr val="0E7C86"/>
                </a:solidFill>
                <a:latin typeface="Consolas"/>
              </a:rPr>
              <a:t>plugin: delta</a:t>
            </a:r>
            <a:r>
              <a:rPr sz="1200" b="0" i="0">
                <a:solidFill>
                  <a:srgbClr val="1C2433"/>
                </a:solidFill>
                <a:latin typeface="Calibri"/>
              </a:rPr>
              <a:t> · </a:t>
            </a:r>
            <a:r>
              <a:rPr sz="1100" b="0" i="0">
                <a:solidFill>
                  <a:srgbClr val="0E7C86"/>
                </a:solidFill>
                <a:latin typeface="Consolas"/>
              </a:rPr>
              <a:t>delta/trading/trade_murex</a:t>
            </a:r>
          </a:p>
        </p:txBody>
      </p:sp>
      <p:cxnSp>
        <p:nvCxnSpPr>
          <p:cNvPr id="26" name="Connector 25"/>
          <p:cNvCxnSpPr/>
          <p:nvPr/>
        </p:nvCxnSpPr>
        <p:spPr>
          <a:xfrm>
            <a:off x="5916168" y="3090672"/>
            <a:ext cx="356616" cy="0"/>
          </a:xfrm>
          <a:prstGeom prst="line">
            <a:avLst/>
          </a:prstGeom>
          <a:ln w="317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27" name="Table"/>
          <p:cNvGraphicFramePr>
            <a:graphicFrameLocks noGrp="1"/>
          </p:cNvGraphicFramePr>
          <p:nvPr/>
        </p:nvGraphicFramePr>
        <p:xfrm>
          <a:off x="411480" y="4160520"/>
          <a:ext cx="5486400" cy="2148840"/>
        </p:xfrm>
        <a:graphic>
          <a:graphicData uri="http://schemas.openxmlformats.org/drawingml/2006/table">
            <a:tbl>
              <a:tblPr firstRow="0" bandRow="0">
                <a:tableStyleId>{5940675A-B579-460E-94D1-54222C63F5DA}</a:tableStyleId>
              </a:tblPr>
              <a:tblGrid>
                <a:gridCol w="3931920"/>
                <a:gridCol w="1554480"/>
              </a:tblGrid>
              <a:tr h="429768">
                <a:tc>
                  <a:txBody>
                    <a:bodyPr wrap="square"/>
                    <a:lstStyle/>
                    <a:p>
                      <a:r>
                        <a:rPr sz="1150" b="1" i="0">
                          <a:solidFill>
                            <a:srgbClr val="FFFFFF"/>
                          </a:solidFill>
                          <a:latin typeface="Calibri"/>
                        </a:rPr>
                        <a:t>Compared, all-Delta against mixed (</a:t>
                      </a:r>
                      <a:r>
                        <a:rPr sz="1050" b="1" i="0">
                          <a:solidFill>
                            <a:srgbClr val="FFD8A8"/>
                          </a:solidFill>
                          <a:latin typeface="Consolas"/>
                        </a:rPr>
                        <a:t>stores_equality.py</a:t>
                      </a:r>
                      <a:r>
                        <a:rPr sz="1150" b="1" i="0">
                          <a:solidFill>
                            <a:srgbClr val="FFFFFF"/>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50" b="1" i="0">
                          <a:solidFill>
                            <a:srgbClr val="FFFFFF"/>
                          </a:solidFill>
                          <a:latin typeface="Calibri"/>
                        </a:rPr>
                        <a:t>Result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29768">
                <a:tc>
                  <a:txBody>
                    <a:bodyPr wrap="square"/>
                    <a:lstStyle/>
                    <a:p>
                      <a:r>
                        <a:rPr sz="1150" b="1" i="0">
                          <a:solidFill>
                            <a:srgbClr val="1C2433"/>
                          </a:solidFill>
                          <a:latin typeface="Calibri"/>
                        </a:rPr>
                        <a:t>six trade pages; </a:t>
                      </a:r>
                      <a:r>
                        <a:rPr sz="1050" b="1" i="0">
                          <a:solidFill>
                            <a:srgbClr val="0E7C86"/>
                          </a:solidFill>
                          <a:latin typeface="Consolas"/>
                        </a:rPr>
                        <a:t>TRD &lt;id&gt; 10</a:t>
                      </a:r>
                      <a:r>
                        <a:rPr sz="1150" b="1" i="0">
                          <a:solidFill>
                            <a:srgbClr val="1C2433"/>
                          </a:solidFill>
                          <a:latin typeface="Calibri"/>
                        </a:rPr>
                        <a:t> histories for each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the same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9768">
                <a:tc>
                  <a:txBody>
                    <a:bodyPr wrap="square"/>
                    <a:lstStyle/>
                    <a:p>
                      <a:r>
                        <a:rPr sz="1150" b="1" i="0">
                          <a:solidFill>
                            <a:srgbClr val="1C2433"/>
                          </a:solidFill>
                          <a:latin typeface="Calibri"/>
                        </a:rPr>
                        <a:t>two counterparty-trades pages; three searches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the same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9768">
                <a:tc>
                  <a:txBody>
                    <a:bodyPr wrap="square"/>
                    <a:lstStyle/>
                    <a:p>
                      <a:r>
                        <a:rPr sz="1150" b="1" i="0">
                          <a:solidFill>
                            <a:srgbClr val="1C2433"/>
                          </a:solidFill>
                          <a:latin typeface="Calibri"/>
                        </a:rPr>
                        <a:t>a BI model query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the same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9768">
                <a:tc>
                  <a:txBody>
                    <a:bodyPr wrap="square"/>
                    <a:lstStyle/>
                    <a:p>
                      <a:r>
                        <a:rPr sz="1150" b="1" i="0">
                          <a:solidFill>
                            <a:srgbClr val="1C2433"/>
                          </a:solidFill>
                          <a:latin typeface="Calibri"/>
                        </a:rPr>
                        <a:t>total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1" i="0">
                          <a:solidFill>
                            <a:srgbClr val="1C2433"/>
                          </a:solidFill>
                          <a:latin typeface="Calibri"/>
                        </a:rPr>
                        <a:t>18 answers the same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28" name="Callout"/>
          <p:cNvSpPr/>
          <p:nvPr/>
        </p:nvSpPr>
        <p:spPr>
          <a:xfrm>
            <a:off x="6291072" y="4160520"/>
            <a:ext cx="5486400" cy="219456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Callout edge"/>
          <p:cNvSpPr/>
          <p:nvPr/>
        </p:nvSpPr>
        <p:spPr>
          <a:xfrm>
            <a:off x="6291072" y="4178807"/>
            <a:ext cx="82296" cy="215798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6519672" y="4233672"/>
            <a:ext cx="5120640" cy="2048255"/>
          </a:xfrm>
          <a:prstGeom prst="rect">
            <a:avLst/>
          </a:prstGeom>
          <a:noFill/>
        </p:spPr>
        <p:txBody>
          <a:bodyPr wrap="square" lIns="0" rIns="0" tIns="0" bIns="0" anchor="t">
            <a:spAutoFit/>
          </a:bodyPr>
          <a:lstStyle/>
          <a:p>
            <a:pPr algn="l">
              <a:spcAft>
                <a:spcPts val="600"/>
              </a:spcAft>
              <a:buNone/>
            </a:pPr>
            <a:r>
              <a:rPr sz="1200" b="1" i="0">
                <a:solidFill>
                  <a:srgbClr val="1C2433"/>
                </a:solidFill>
                <a:latin typeface="Calibri"/>
              </a:rPr>
              <a:t>What stays:</a:t>
            </a:r>
            <a:r>
              <a:rPr sz="1200" b="0" i="0">
                <a:solidFill>
                  <a:srgbClr val="1C2433"/>
                </a:solidFill>
                <a:latin typeface="Calibri"/>
              </a:rPr>
              <a:t> the trading pack's route </a:t>
            </a:r>
            <a:r>
              <a:rPr sz="1100" b="0" i="0">
                <a:solidFill>
                  <a:srgbClr val="0E7C86"/>
                </a:solidFill>
                <a:latin typeface="Consolas"/>
              </a:rPr>
              <a:t>trade → trade-endur, trade-calypso, trade-murex</a:t>
            </a:r>
            <a:r>
              <a:rPr sz="1200" b="0" i="0">
                <a:solidFill>
                  <a:srgbClr val="1C2433"/>
                </a:solidFill>
                <a:latin typeface="Calibri"/>
              </a:rPr>
              <a:t>, the kinds, the promoted columns, every page, search, history and BI model; BI column scan, data versions and held dates on both.</a:t>
            </a:r>
          </a:p>
          <a:p>
            <a:pPr algn="l">
              <a:spcAft>
                <a:spcPts val="600"/>
              </a:spcAft>
              <a:buNone/>
            </a:pPr>
            <a:r>
              <a:rPr sz="1200" b="1" i="0">
                <a:solidFill>
                  <a:srgbClr val="1C2433"/>
                </a:solidFill>
                <a:latin typeface="Calibri"/>
              </a:rPr>
              <a:t>What changes:</a:t>
            </a:r>
            <a:r>
              <a:rPr sz="1200" b="0" i="0">
                <a:solidFill>
                  <a:srgbClr val="1C2433"/>
                </a:solidFill>
                <a:latin typeface="Calibri"/>
              </a:rPr>
              <a:t> one connector file's </a:t>
            </a:r>
            <a:r>
              <a:rPr sz="1100" b="0" i="0">
                <a:solidFill>
                  <a:srgbClr val="0E7C86"/>
                </a:solidFill>
                <a:latin typeface="Consolas"/>
              </a:rPr>
              <a:t>plugin</a:t>
            </a:r>
            <a:r>
              <a:rPr sz="1200" b="0" i="0">
                <a:solidFill>
                  <a:srgbClr val="1C2433"/>
                </a:solidFill>
                <a:latin typeface="Calibri"/>
              </a:rPr>
              <a:t>, </a:t>
            </a:r>
            <a:r>
              <a:rPr sz="1100" b="0" i="0">
                <a:solidFill>
                  <a:srgbClr val="0E7C86"/>
                </a:solidFill>
                <a:latin typeface="Consolas"/>
              </a:rPr>
              <a:t>engine</a:t>
            </a:r>
            <a:r>
              <a:rPr sz="1200" b="0" i="0">
                <a:solidFill>
                  <a:srgbClr val="1C2433"/>
                </a:solidFill>
                <a:latin typeface="Calibri"/>
              </a:rPr>
              <a:t> and </a:t>
            </a:r>
            <a:r>
              <a:rPr sz="1100" b="0" i="0">
                <a:solidFill>
                  <a:srgbClr val="0E7C86"/>
                </a:solidFill>
                <a:latin typeface="Consolas"/>
              </a:rPr>
              <a:t>table</a:t>
            </a:r>
            <a:r>
              <a:rPr sz="1200" b="0" i="0">
                <a:solidFill>
                  <a:srgbClr val="1C2433"/>
                </a:solidFill>
                <a:latin typeface="Calibri"/>
              </a:rPr>
              <a:t>.</a:t>
            </a:r>
          </a:p>
          <a:p>
            <a:pPr algn="l">
              <a:spcAft>
                <a:spcPts val="600"/>
              </a:spcAft>
              <a:buNone/>
            </a:pPr>
            <a:r>
              <a:rPr sz="1200" b="1" i="0">
                <a:solidFill>
                  <a:srgbClr val="1C2433"/>
                </a:solidFill>
                <a:latin typeface="Calibri"/>
              </a:rPr>
              <a:t>Never</a:t>
            </a:r>
            <a:r>
              <a:rPr sz="1200" b="0" i="0">
                <a:solidFill>
                  <a:srgbClr val="1C2433"/>
                </a:solidFill>
                <a:latin typeface="Calibri"/>
              </a:rPr>
              <a:t> two connectors for one system's trades: the union would double them.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Inside each format: a log against a tree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29</a:t>
            </a:r>
          </a:p>
        </p:txBody>
      </p:sp>
      <p:sp>
        <p:nvSpPr>
          <p:cNvPr id="10" name="TextBox 9"/>
          <p:cNvSpPr txBox="1"/>
          <p:nvPr/>
        </p:nvSpPr>
        <p:spPr>
          <a:xfrm>
            <a:off x="411480" y="1097280"/>
            <a:ext cx="5486400" cy="365760"/>
          </a:xfrm>
          <a:prstGeom prst="rect">
            <a:avLst/>
          </a:prstGeom>
          <a:noFill/>
        </p:spPr>
        <p:txBody>
          <a:bodyPr wrap="square" lIns="45720" rIns="45720" tIns="27432" bIns="27432" anchor="t">
            <a:spAutoFit/>
          </a:bodyPr>
          <a:lstStyle/>
          <a:p>
            <a:pPr algn="l">
              <a:lnSpc>
                <a:spcPct val="105000"/>
              </a:lnSpc>
            </a:pPr>
            <a:r>
              <a:rPr sz="1600" b="1" i="0">
                <a:solidFill>
                  <a:srgbClr val="0B1E3B"/>
                </a:solidFill>
                <a:latin typeface="Calibri"/>
              </a:rPr>
              <a:t>Delta Lake: a transaction log</a:t>
            </a:r>
          </a:p>
        </p:txBody>
      </p:sp>
      <p:sp>
        <p:nvSpPr>
          <p:cNvPr id="11" name="Rounded Rectangle 10"/>
          <p:cNvSpPr/>
          <p:nvPr/>
        </p:nvSpPr>
        <p:spPr>
          <a:xfrm>
            <a:off x="411480" y="1554480"/>
            <a:ext cx="5394960" cy="658368"/>
          </a:xfrm>
          <a:prstGeom prst="roundRect">
            <a:avLst>
              <a:gd name="adj" fmla="val 8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502920" y="1600200"/>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table folder</a:t>
            </a:r>
          </a:p>
        </p:txBody>
      </p:sp>
      <p:sp>
        <p:nvSpPr>
          <p:cNvPr id="13" name="TextBox 12"/>
          <p:cNvSpPr txBox="1"/>
          <p:nvPr/>
        </p:nvSpPr>
        <p:spPr>
          <a:xfrm>
            <a:off x="502920" y="1920240"/>
            <a:ext cx="5212080" cy="246887"/>
          </a:xfrm>
          <a:prstGeom prst="rect">
            <a:avLst/>
          </a:prstGeom>
          <a:noFill/>
        </p:spPr>
        <p:txBody>
          <a:bodyPr wrap="square" lIns="45720" rIns="45720" tIns="27432" bIns="27432" anchor="t">
            <a:spAutoFit/>
          </a:bodyPr>
          <a:lstStyle/>
          <a:p>
            <a:pPr algn="l">
              <a:lnSpc>
                <a:spcPct val="105000"/>
              </a:lnSpc>
              <a:spcAft>
                <a:spcPts val="200"/>
              </a:spcAft>
            </a:pPr>
            <a:r>
              <a:rPr sz="1100" b="0" i="0">
                <a:solidFill>
                  <a:srgbClr val="E87A1E"/>
                </a:solidFill>
                <a:latin typeface="Calibri"/>
              </a:rPr>
              <a:t>•  </a:t>
            </a:r>
            <a:r>
              <a:rPr sz="1100" b="0" i="0">
                <a:solidFill>
                  <a:srgbClr val="0E7C86"/>
                </a:solidFill>
                <a:latin typeface="Consolas"/>
              </a:rPr>
              <a:t>s3://…/lake/trading/trade_endur/</a:t>
            </a:r>
          </a:p>
        </p:txBody>
      </p:sp>
      <p:sp>
        <p:nvSpPr>
          <p:cNvPr id="14" name="Rounded Rectangle 13"/>
          <p:cNvSpPr/>
          <p:nvPr/>
        </p:nvSpPr>
        <p:spPr>
          <a:xfrm>
            <a:off x="411480" y="2395728"/>
            <a:ext cx="5394960" cy="1828800"/>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502920" y="2441448"/>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_delta_log/</a:t>
            </a:r>
          </a:p>
        </p:txBody>
      </p:sp>
      <p:sp>
        <p:nvSpPr>
          <p:cNvPr id="16" name="TextBox 15"/>
          <p:cNvSpPr txBox="1"/>
          <p:nvPr/>
        </p:nvSpPr>
        <p:spPr>
          <a:xfrm>
            <a:off x="502920" y="2761488"/>
            <a:ext cx="5212080" cy="1417320"/>
          </a:xfrm>
          <a:prstGeom prst="rect">
            <a:avLst/>
          </a:prstGeom>
          <a:noFill/>
        </p:spPr>
        <p:txBody>
          <a:bodyPr wrap="square" lIns="45720" rIns="45720" tIns="27432" bIns="27432" anchor="t">
            <a:spAutoFit/>
          </a:bodyPr>
          <a:lstStyle/>
          <a:p>
            <a:pPr algn="l">
              <a:lnSpc>
                <a:spcPct val="105000"/>
              </a:lnSpc>
              <a:spcAft>
                <a:spcPts val="200"/>
              </a:spcAft>
            </a:pPr>
            <a:r>
              <a:rPr sz="1100" b="0" i="0">
                <a:solidFill>
                  <a:srgbClr val="E87A1E"/>
                </a:solidFill>
                <a:latin typeface="Calibri"/>
              </a:rPr>
              <a:t>•  </a:t>
            </a:r>
            <a:r>
              <a:rPr sz="1100" b="0" i="0">
                <a:solidFill>
                  <a:srgbClr val="0E7C86"/>
                </a:solidFill>
                <a:latin typeface="Consolas"/>
              </a:rPr>
              <a:t>…0451.json</a:t>
            </a:r>
            <a:r>
              <a:rPr sz="1200" b="0" i="0">
                <a:solidFill>
                  <a:srgbClr val="1C2433"/>
                </a:solidFill>
                <a:latin typeface="Calibri"/>
              </a:rPr>
              <a:t> </a:t>
            </a:r>
            <a:r>
              <a:rPr sz="1100" b="0" i="0">
                <a:solidFill>
                  <a:srgbClr val="0E7C86"/>
                </a:solidFill>
                <a:latin typeface="Consolas"/>
              </a:rPr>
              <a:t>…0452.json</a:t>
            </a:r>
            <a:r>
              <a:rPr sz="1200" b="0" i="0">
                <a:solidFill>
                  <a:srgbClr val="1C2433"/>
                </a:solidFill>
                <a:latin typeface="Calibri"/>
              </a:rPr>
              <a:t> one commit each: add / remove + stats</a:t>
            </a:r>
          </a:p>
          <a:p>
            <a:pPr algn="l">
              <a:lnSpc>
                <a:spcPct val="105000"/>
              </a:lnSpc>
              <a:spcAft>
                <a:spcPts val="200"/>
              </a:spcAft>
            </a:pPr>
            <a:r>
              <a:rPr sz="1100" b="0" i="0">
                <a:solidFill>
                  <a:srgbClr val="E87A1E"/>
                </a:solidFill>
                <a:latin typeface="Calibri"/>
              </a:rPr>
              <a:t>•  </a:t>
            </a:r>
            <a:r>
              <a:rPr sz="1100" b="0" i="0">
                <a:solidFill>
                  <a:srgbClr val="0E7C86"/>
                </a:solidFill>
                <a:latin typeface="Consolas"/>
              </a:rPr>
              <a:t>…0450.checkpoint.parquet</a:t>
            </a:r>
            <a:r>
              <a:rPr sz="1200" b="0" i="0">
                <a:solidFill>
                  <a:srgbClr val="1C2433"/>
                </a:solidFill>
                <a:latin typeface="Calibri"/>
              </a:rPr>
              <a:t> every 10 commits</a:t>
            </a:r>
          </a:p>
          <a:p>
            <a:pPr algn="l">
              <a:lnSpc>
                <a:spcPct val="105000"/>
              </a:lnSpc>
              <a:spcAft>
                <a:spcPts val="200"/>
              </a:spcAft>
            </a:pPr>
            <a:r>
              <a:rPr sz="1100" b="0" i="0">
                <a:solidFill>
                  <a:srgbClr val="E87A1E"/>
                </a:solidFill>
                <a:latin typeface="Calibri"/>
              </a:rPr>
              <a:t>•  </a:t>
            </a:r>
            <a:r>
              <a:rPr sz="1100" b="0" i="0">
                <a:solidFill>
                  <a:srgbClr val="0E7C86"/>
                </a:solidFill>
                <a:latin typeface="Consolas"/>
              </a:rPr>
              <a:t>_last_checkpoint</a:t>
            </a:r>
            <a:r>
              <a:rPr sz="1200" b="0" i="0">
                <a:solidFill>
                  <a:srgbClr val="1C2433"/>
                </a:solidFill>
                <a:latin typeface="Calibri"/>
              </a:rPr>
              <a:t>: where to start replaying</a:t>
            </a:r>
          </a:p>
        </p:txBody>
      </p:sp>
      <p:sp>
        <p:nvSpPr>
          <p:cNvPr id="17" name="Rounded Rectangle 16"/>
          <p:cNvSpPr/>
          <p:nvPr/>
        </p:nvSpPr>
        <p:spPr>
          <a:xfrm>
            <a:off x="411480" y="4407408"/>
            <a:ext cx="5394960" cy="1097280"/>
          </a:xfrm>
          <a:prstGeom prst="roundRect">
            <a:avLst>
              <a:gd name="adj" fmla="val 8000"/>
            </a:avLst>
          </a:prstGeom>
          <a:solidFill>
            <a:srgbClr val="FCE8D2"/>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502920" y="4453128"/>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data files</a:t>
            </a:r>
          </a:p>
        </p:txBody>
      </p:sp>
      <p:sp>
        <p:nvSpPr>
          <p:cNvPr id="19" name="TextBox 18"/>
          <p:cNvSpPr txBox="1"/>
          <p:nvPr/>
        </p:nvSpPr>
        <p:spPr>
          <a:xfrm>
            <a:off x="502920" y="4773168"/>
            <a:ext cx="5212080" cy="685800"/>
          </a:xfrm>
          <a:prstGeom prst="rect">
            <a:avLst/>
          </a:prstGeom>
          <a:noFill/>
        </p:spPr>
        <p:txBody>
          <a:bodyPr wrap="square" lIns="45720" rIns="45720" tIns="27432" bIns="27432" anchor="t">
            <a:spAutoFit/>
          </a:bodyPr>
          <a:lstStyle/>
          <a:p>
            <a:pPr algn="l">
              <a:lnSpc>
                <a:spcPct val="105000"/>
              </a:lnSpc>
              <a:spcAft>
                <a:spcPts val="200"/>
              </a:spcAft>
            </a:pPr>
            <a:r>
              <a:rPr sz="1100" b="0" i="0">
                <a:solidFill>
                  <a:srgbClr val="E87A1E"/>
                </a:solidFill>
                <a:latin typeface="Calibri"/>
              </a:rPr>
              <a:t>•  </a:t>
            </a:r>
            <a:r>
              <a:rPr sz="1100" b="0" i="0">
                <a:solidFill>
                  <a:srgbClr val="0E7C86"/>
                </a:solidFill>
                <a:latin typeface="Consolas"/>
              </a:rPr>
              <a:t>business_date=…/PRODUCT_TYPE=…/part-….snappy.parquet</a:t>
            </a:r>
          </a:p>
        </p:txBody>
      </p:sp>
      <p:cxnSp>
        <p:nvCxnSpPr>
          <p:cNvPr id="20" name="Connector 19"/>
          <p:cNvCxnSpPr/>
          <p:nvPr/>
        </p:nvCxnSpPr>
        <p:spPr>
          <a:xfrm>
            <a:off x="3108960" y="2212848"/>
            <a:ext cx="0" cy="182880"/>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108960" y="4224528"/>
            <a:ext cx="0" cy="182880"/>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11480" y="5577840"/>
            <a:ext cx="5394960" cy="777240"/>
          </a:xfrm>
          <a:prstGeom prst="rect">
            <a:avLst/>
          </a:prstGeom>
          <a:noFill/>
        </p:spPr>
        <p:txBody>
          <a:bodyPr wrap="square" lIns="45720" rIns="45720" tIns="27432" bIns="27432" anchor="t">
            <a:spAutoFit/>
          </a:bodyPr>
          <a:lstStyle/>
          <a:p>
            <a:pPr algn="l">
              <a:lnSpc>
                <a:spcPct val="105000"/>
              </a:lnSpc>
            </a:pPr>
            <a:r>
              <a:rPr sz="1250" b="0" i="0">
                <a:solidFill>
                  <a:srgbClr val="5B677A"/>
                </a:solidFill>
                <a:latin typeface="Calibri"/>
              </a:rPr>
              <a:t>Read: replay checkpoint + later commits → the file list. Commit: create the next </a:t>
            </a:r>
            <a:r>
              <a:rPr sz="1150" b="0" i="0">
                <a:solidFill>
                  <a:srgbClr val="0E7C86"/>
                </a:solidFill>
                <a:latin typeface="Consolas"/>
              </a:rPr>
              <a:t>NNN.json</a:t>
            </a:r>
            <a:r>
              <a:rPr sz="1250" b="0" i="0">
                <a:solidFill>
                  <a:srgbClr val="5B677A"/>
                </a:solidFill>
                <a:latin typeface="Calibri"/>
              </a:rPr>
              <a:t>.</a:t>
            </a:r>
          </a:p>
        </p:txBody>
      </p:sp>
      <p:sp>
        <p:nvSpPr>
          <p:cNvPr id="23" name="TextBox 22"/>
          <p:cNvSpPr txBox="1"/>
          <p:nvPr/>
        </p:nvSpPr>
        <p:spPr>
          <a:xfrm>
            <a:off x="6382512" y="1097280"/>
            <a:ext cx="5486400" cy="365760"/>
          </a:xfrm>
          <a:prstGeom prst="rect">
            <a:avLst/>
          </a:prstGeom>
          <a:noFill/>
        </p:spPr>
        <p:txBody>
          <a:bodyPr wrap="square" lIns="45720" rIns="45720" tIns="27432" bIns="27432" anchor="t">
            <a:spAutoFit/>
          </a:bodyPr>
          <a:lstStyle/>
          <a:p>
            <a:pPr algn="l">
              <a:lnSpc>
                <a:spcPct val="105000"/>
              </a:lnSpc>
            </a:pPr>
            <a:r>
              <a:rPr sz="1600" b="1" i="0">
                <a:solidFill>
                  <a:srgbClr val="0B1E3B"/>
                </a:solidFill>
                <a:latin typeface="Calibri"/>
              </a:rPr>
              <a:t>Iceberg: a metadata tree</a:t>
            </a:r>
          </a:p>
        </p:txBody>
      </p:sp>
      <p:sp>
        <p:nvSpPr>
          <p:cNvPr id="24" name="Rounded Rectangle 23"/>
          <p:cNvSpPr/>
          <p:nvPr/>
        </p:nvSpPr>
        <p:spPr>
          <a:xfrm>
            <a:off x="6382512" y="1554480"/>
            <a:ext cx="5394960" cy="658368"/>
          </a:xfrm>
          <a:prstGeom prst="roundRect">
            <a:avLst>
              <a:gd name="adj" fmla="val 8000"/>
            </a:avLst>
          </a:prstGeom>
          <a:solidFill>
            <a:srgbClr val="EEE6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6473952" y="1600200"/>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catalog pointer</a:t>
            </a:r>
          </a:p>
        </p:txBody>
      </p:sp>
      <p:sp>
        <p:nvSpPr>
          <p:cNvPr id="26" name="TextBox 25"/>
          <p:cNvSpPr txBox="1"/>
          <p:nvPr/>
        </p:nvSpPr>
        <p:spPr>
          <a:xfrm>
            <a:off x="6473952" y="1920240"/>
            <a:ext cx="5212080" cy="246887"/>
          </a:xfrm>
          <a:prstGeom prst="rect">
            <a:avLst/>
          </a:prstGeom>
          <a:noFill/>
        </p:spPr>
        <p:txBody>
          <a:bodyPr wrap="square" lIns="45720" rIns="45720" tIns="27432" bIns="27432" anchor="t">
            <a:spAutoFit/>
          </a:bodyPr>
          <a:lstStyle/>
          <a:p>
            <a:pPr algn="l">
              <a:lnSpc>
                <a:spcPct val="105000"/>
              </a:lnSpc>
              <a:spcAft>
                <a:spcPts val="200"/>
              </a:spcAft>
            </a:pPr>
            <a:r>
              <a:rPr sz="1100" b="0" i="0">
                <a:solidFill>
                  <a:srgbClr val="E87A1E"/>
                </a:solidFill>
                <a:latin typeface="Calibri"/>
              </a:rPr>
              <a:t>•  </a:t>
            </a:r>
            <a:r>
              <a:rPr sz="1100" b="0" i="0">
                <a:solidFill>
                  <a:srgbClr val="0E7C86"/>
                </a:solidFill>
                <a:latin typeface="Consolas"/>
              </a:rPr>
              <a:t>version-hint.text</a:t>
            </a:r>
            <a:r>
              <a:rPr sz="1200" b="0" i="0">
                <a:solidFill>
                  <a:srgbClr val="1C2433"/>
                </a:solidFill>
                <a:latin typeface="Calibri"/>
              </a:rPr>
              <a:t> (path) or the REST catalog's metadata location</a:t>
            </a:r>
          </a:p>
        </p:txBody>
      </p:sp>
      <p:sp>
        <p:nvSpPr>
          <p:cNvPr id="27" name="Rounded Rectangle 26"/>
          <p:cNvSpPr/>
          <p:nvPr/>
        </p:nvSpPr>
        <p:spPr>
          <a:xfrm>
            <a:off x="6382512" y="2331720"/>
            <a:ext cx="5394960" cy="658368"/>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6473952" y="2377439"/>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vN.metadata.json</a:t>
            </a:r>
          </a:p>
        </p:txBody>
      </p:sp>
      <p:sp>
        <p:nvSpPr>
          <p:cNvPr id="29" name="TextBox 28"/>
          <p:cNvSpPr txBox="1"/>
          <p:nvPr/>
        </p:nvSpPr>
        <p:spPr>
          <a:xfrm>
            <a:off x="6473952" y="2697479"/>
            <a:ext cx="5212080" cy="246887"/>
          </a:xfrm>
          <a:prstGeom prst="rect">
            <a:avLst/>
          </a:prstGeom>
          <a:noFill/>
        </p:spPr>
        <p:txBody>
          <a:bodyPr wrap="square" lIns="45720" rIns="45720" tIns="27432" bIns="27432" anchor="t">
            <a:spAutoFit/>
          </a:bodyPr>
          <a:lstStyle/>
          <a:p>
            <a:pPr algn="l">
              <a:lnSpc>
                <a:spcPct val="105000"/>
              </a:lnSpc>
              <a:spcAft>
                <a:spcPts val="200"/>
              </a:spcAft>
            </a:pPr>
            <a:r>
              <a:rPr sz="1200" b="0" i="0">
                <a:solidFill>
                  <a:srgbClr val="E87A1E"/>
                </a:solidFill>
                <a:latin typeface="Calibri"/>
              </a:rPr>
              <a:t>•  </a:t>
            </a:r>
            <a:r>
              <a:rPr sz="1200" b="0" i="0">
                <a:solidFill>
                  <a:srgbClr val="1C2433"/>
                </a:solidFill>
                <a:latin typeface="Calibri"/>
              </a:rPr>
              <a:t>schemas, partition specs, sort orders, snapshots, properties</a:t>
            </a:r>
          </a:p>
        </p:txBody>
      </p:sp>
      <p:sp>
        <p:nvSpPr>
          <p:cNvPr id="30" name="Rounded Rectangle 29"/>
          <p:cNvSpPr/>
          <p:nvPr/>
        </p:nvSpPr>
        <p:spPr>
          <a:xfrm>
            <a:off x="6382512" y="3108960"/>
            <a:ext cx="5394960" cy="658368"/>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6473952" y="3154679"/>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manifest list (per snapshot)</a:t>
            </a:r>
          </a:p>
        </p:txBody>
      </p:sp>
      <p:sp>
        <p:nvSpPr>
          <p:cNvPr id="32" name="TextBox 31"/>
          <p:cNvSpPr txBox="1"/>
          <p:nvPr/>
        </p:nvSpPr>
        <p:spPr>
          <a:xfrm>
            <a:off x="6473952" y="3474720"/>
            <a:ext cx="5212080" cy="246887"/>
          </a:xfrm>
          <a:prstGeom prst="rect">
            <a:avLst/>
          </a:prstGeom>
          <a:noFill/>
        </p:spPr>
        <p:txBody>
          <a:bodyPr wrap="square" lIns="45720" rIns="45720" tIns="27432" bIns="27432" anchor="t">
            <a:spAutoFit/>
          </a:bodyPr>
          <a:lstStyle/>
          <a:p>
            <a:pPr algn="l">
              <a:lnSpc>
                <a:spcPct val="105000"/>
              </a:lnSpc>
              <a:spcAft>
                <a:spcPts val="200"/>
              </a:spcAft>
            </a:pPr>
            <a:r>
              <a:rPr sz="1100" b="0" i="0">
                <a:solidFill>
                  <a:srgbClr val="E87A1E"/>
                </a:solidFill>
                <a:latin typeface="Calibri"/>
              </a:rPr>
              <a:t>•  </a:t>
            </a:r>
            <a:r>
              <a:rPr sz="1100" b="0" i="0">
                <a:solidFill>
                  <a:srgbClr val="0E7C86"/>
                </a:solidFill>
                <a:latin typeface="Consolas"/>
              </a:rPr>
              <a:t>snap-….avro</a:t>
            </a:r>
            <a:r>
              <a:rPr sz="1200" b="0" i="0">
                <a:solidFill>
                  <a:srgbClr val="1C2433"/>
                </a:solidFill>
                <a:latin typeface="Calibri"/>
              </a:rPr>
              <a:t>: the manifests, with partition summaries</a:t>
            </a:r>
          </a:p>
        </p:txBody>
      </p:sp>
      <p:sp>
        <p:nvSpPr>
          <p:cNvPr id="33" name="Rounded Rectangle 32"/>
          <p:cNvSpPr/>
          <p:nvPr/>
        </p:nvSpPr>
        <p:spPr>
          <a:xfrm>
            <a:off x="6382512" y="3886200"/>
            <a:ext cx="5394960" cy="658368"/>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TextBox 33"/>
          <p:cNvSpPr txBox="1"/>
          <p:nvPr/>
        </p:nvSpPr>
        <p:spPr>
          <a:xfrm>
            <a:off x="6473952" y="3931920"/>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manifests</a:t>
            </a:r>
          </a:p>
        </p:txBody>
      </p:sp>
      <p:sp>
        <p:nvSpPr>
          <p:cNvPr id="35" name="TextBox 34"/>
          <p:cNvSpPr txBox="1"/>
          <p:nvPr/>
        </p:nvSpPr>
        <p:spPr>
          <a:xfrm>
            <a:off x="6473952" y="4251960"/>
            <a:ext cx="5212080" cy="246887"/>
          </a:xfrm>
          <a:prstGeom prst="rect">
            <a:avLst/>
          </a:prstGeom>
          <a:noFill/>
        </p:spPr>
        <p:txBody>
          <a:bodyPr wrap="square" lIns="45720" rIns="45720" tIns="27432" bIns="27432" anchor="t">
            <a:spAutoFit/>
          </a:bodyPr>
          <a:lstStyle/>
          <a:p>
            <a:pPr algn="l">
              <a:lnSpc>
                <a:spcPct val="105000"/>
              </a:lnSpc>
              <a:spcAft>
                <a:spcPts val="200"/>
              </a:spcAft>
            </a:pPr>
            <a:r>
              <a:rPr sz="1100" b="0" i="0">
                <a:solidFill>
                  <a:srgbClr val="E87A1E"/>
                </a:solidFill>
                <a:latin typeface="Calibri"/>
              </a:rPr>
              <a:t>•  </a:t>
            </a:r>
            <a:r>
              <a:rPr sz="1100" b="0" i="0">
                <a:solidFill>
                  <a:srgbClr val="0E7C86"/>
                </a:solidFill>
                <a:latin typeface="Consolas"/>
              </a:rPr>
              <a:t>…-m0.avro</a:t>
            </a:r>
            <a:r>
              <a:rPr sz="1200" b="0" i="0">
                <a:solidFill>
                  <a:srgbClr val="1C2433"/>
                </a:solidFill>
                <a:latin typeface="Calibri"/>
              </a:rPr>
              <a:t>: data and delete files, partition values, column bounds</a:t>
            </a:r>
          </a:p>
        </p:txBody>
      </p:sp>
      <p:sp>
        <p:nvSpPr>
          <p:cNvPr id="36" name="Rounded Rectangle 35"/>
          <p:cNvSpPr/>
          <p:nvPr/>
        </p:nvSpPr>
        <p:spPr>
          <a:xfrm>
            <a:off x="6382512" y="4663440"/>
            <a:ext cx="5394960" cy="841248"/>
          </a:xfrm>
          <a:prstGeom prst="roundRect">
            <a:avLst>
              <a:gd name="adj" fmla="val 8000"/>
            </a:avLst>
          </a:prstGeom>
          <a:solidFill>
            <a:srgbClr val="FCE8D2"/>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TextBox 36"/>
          <p:cNvSpPr txBox="1"/>
          <p:nvPr/>
        </p:nvSpPr>
        <p:spPr>
          <a:xfrm>
            <a:off x="6473952" y="4709159"/>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data and delete files</a:t>
            </a:r>
          </a:p>
        </p:txBody>
      </p:sp>
      <p:sp>
        <p:nvSpPr>
          <p:cNvPr id="38" name="TextBox 37"/>
          <p:cNvSpPr txBox="1"/>
          <p:nvPr/>
        </p:nvSpPr>
        <p:spPr>
          <a:xfrm>
            <a:off x="6473952" y="5029200"/>
            <a:ext cx="5212080" cy="429768"/>
          </a:xfrm>
          <a:prstGeom prst="rect">
            <a:avLst/>
          </a:prstGeom>
          <a:noFill/>
        </p:spPr>
        <p:txBody>
          <a:bodyPr wrap="square" lIns="45720" rIns="45720" tIns="27432" bIns="27432" anchor="t">
            <a:spAutoFit/>
          </a:bodyPr>
          <a:lstStyle/>
          <a:p>
            <a:pPr algn="l">
              <a:lnSpc>
                <a:spcPct val="105000"/>
              </a:lnSpc>
              <a:spcAft>
                <a:spcPts val="200"/>
              </a:spcAft>
            </a:pPr>
            <a:r>
              <a:rPr sz="1100" b="0" i="0">
                <a:solidFill>
                  <a:srgbClr val="E87A1E"/>
                </a:solidFill>
                <a:latin typeface="Calibri"/>
              </a:rPr>
              <a:t>•  </a:t>
            </a:r>
            <a:r>
              <a:rPr sz="1100" b="0" i="0">
                <a:solidFill>
                  <a:srgbClr val="0E7C86"/>
                </a:solidFill>
                <a:latin typeface="Consolas"/>
              </a:rPr>
              <a:t>data/business_date=…/…parquet</a:t>
            </a:r>
            <a:r>
              <a:rPr sz="1200" b="0" i="0">
                <a:solidFill>
                  <a:srgbClr val="1C2433"/>
                </a:solidFill>
                <a:latin typeface="Calibri"/>
              </a:rPr>
              <a:t>; position or equality delete files</a:t>
            </a:r>
          </a:p>
        </p:txBody>
      </p:sp>
      <p:cxnSp>
        <p:nvCxnSpPr>
          <p:cNvPr id="39" name="Connector 38"/>
          <p:cNvCxnSpPr/>
          <p:nvPr/>
        </p:nvCxnSpPr>
        <p:spPr>
          <a:xfrm>
            <a:off x="9079992" y="2212848"/>
            <a:ext cx="0" cy="118872"/>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079992" y="2990088"/>
            <a:ext cx="0" cy="118872"/>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079992" y="3767328"/>
            <a:ext cx="0" cy="118872"/>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079992" y="4544568"/>
            <a:ext cx="0" cy="118872"/>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382512" y="5577840"/>
            <a:ext cx="5394960" cy="777240"/>
          </a:xfrm>
          <a:prstGeom prst="rect">
            <a:avLst/>
          </a:prstGeom>
          <a:noFill/>
        </p:spPr>
        <p:txBody>
          <a:bodyPr wrap="square" lIns="45720" rIns="45720" tIns="27432" bIns="27432" anchor="t">
            <a:spAutoFit/>
          </a:bodyPr>
          <a:lstStyle/>
          <a:p>
            <a:pPr algn="l">
              <a:lnSpc>
                <a:spcPct val="105000"/>
              </a:lnSpc>
            </a:pPr>
            <a:r>
              <a:rPr sz="1250" b="0" i="0">
                <a:solidFill>
                  <a:srgbClr val="5B677A"/>
                </a:solidFill>
                <a:latin typeface="Calibri"/>
              </a:rPr>
              <a:t>Read: pointer → metadata → one manifest list → pruned manifests. Commit: create </a:t>
            </a:r>
            <a:r>
              <a:rPr sz="1150" b="0" i="0">
                <a:solidFill>
                  <a:srgbClr val="0E7C86"/>
                </a:solidFill>
                <a:latin typeface="Consolas"/>
              </a:rPr>
              <a:t>vN+1.metadata.json</a:t>
            </a:r>
            <a:r>
              <a:rPr sz="1250" b="0" i="0">
                <a:solidFill>
                  <a:srgbClr val="5B677A"/>
                </a:solidFill>
                <a:latin typeface="Calibri"/>
              </a:rPr>
              <a:t> (or the catalog swaps the pointer).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Side by side (1/3): log, commits, time travel, evolution</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30</a:t>
            </a:r>
          </a:p>
        </p:txBody>
      </p:sp>
      <p:graphicFrame>
        <p:nvGraphicFramePr>
          <p:cNvPr id="10" name="Table 9"/>
          <p:cNvGraphicFramePr>
            <a:graphicFrameLocks noGrp="1"/>
          </p:cNvGraphicFramePr>
          <p:nvPr/>
        </p:nvGraphicFramePr>
        <p:xfrm>
          <a:off x="411480" y="1143000"/>
          <a:ext cx="11365992" cy="4847230"/>
        </p:xfrm>
        <a:graphic>
          <a:graphicData uri="http://schemas.openxmlformats.org/drawingml/2006/table">
            <a:tbl>
              <a:tblPr firstRow="1" bandRow="1">
                <a:tableStyleId>{5940675A-B579-460E-94D1-54222C63F5DA}</a:tableStyleId>
              </a:tblPr>
              <a:tblGrid>
                <a:gridCol w="1828800"/>
                <a:gridCol w="3017520"/>
                <a:gridCol w="3108960"/>
                <a:gridCol w="3410712"/>
              </a:tblGrid>
              <a:tr h="422008">
                <a:tc>
                  <a:txBody>
                    <a:bodyPr wrap="square"/>
                    <a:lstStyle/>
                    <a:p>
                      <a:pPr algn="l">
                        <a:lnSpc>
                          <a:spcPct val="100000"/>
                        </a:lnSpc>
                      </a:pPr>
                      <a:r>
                        <a:rPr sz="1250" b="1" i="0">
                          <a:solidFill>
                            <a:srgbClr val="FFFFFF"/>
                          </a:solidFill>
                          <a:latin typeface="Calibri"/>
                        </a:rPr>
                        <a:t>Aspect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50" b="1" i="0">
                          <a:solidFill>
                            <a:srgbClr val="FFFFFF"/>
                          </a:solidFill>
                          <a:latin typeface="Calibri"/>
                        </a:rPr>
                        <a:t>Delta Lake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50" b="1" i="0">
                          <a:solidFill>
                            <a:srgbClr val="FFFFFF"/>
                          </a:solidFill>
                          <a:latin typeface="Calibri"/>
                        </a:rPr>
                        <a:t>Apache 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50" b="1" i="0">
                          <a:solidFill>
                            <a:srgbClr val="FFFFFF"/>
                          </a:solidFill>
                          <a:latin typeface="Calibri"/>
                        </a:rPr>
                        <a:t>In Drishti today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649906">
                <a:tc>
                  <a:txBody>
                    <a:bodyPr wrap="square"/>
                    <a:lstStyle/>
                    <a:p>
                      <a:pPr algn="l">
                        <a:lnSpc>
                          <a:spcPct val="100000"/>
                        </a:lnSpc>
                      </a:pPr>
                      <a:r>
                        <a:rPr sz="1250" b="1" i="0">
                          <a:solidFill>
                            <a:srgbClr val="1C2433"/>
                          </a:solidFill>
                          <a:latin typeface="Calibri"/>
                        </a:rPr>
                        <a:t>Where the truth is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an ordered log of JSON commits + Parquet checkpoints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a tree: metadata JSON → manifest list → manifests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both read natively, no Hadoop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9906">
                <a:tc>
                  <a:txBody>
                    <a:bodyPr wrap="square"/>
                    <a:lstStyle/>
                    <a:p>
                      <a:pPr algn="l">
                        <a:lnSpc>
                          <a:spcPct val="100000"/>
                        </a:lnSpc>
                      </a:pPr>
                      <a:r>
                        <a:rPr sz="1250" b="1" i="0">
                          <a:solidFill>
                            <a:srgbClr val="1C2433"/>
                          </a:solidFill>
                          <a:latin typeface="Calibri"/>
                        </a:rPr>
                        <a:t>Commit on S3</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create </a:t>
                      </a:r>
                      <a:r>
                        <a:rPr sz="1150" b="0" i="0">
                          <a:solidFill>
                            <a:srgbClr val="0E7C86"/>
                          </a:solidFill>
                          <a:latin typeface="Consolas"/>
                        </a:rPr>
                        <a:t>_delta_log/N.json</a:t>
                      </a:r>
                      <a:r>
                        <a:rPr sz="1250" b="0" i="0">
                          <a:solidFill>
                            <a:srgbClr val="1C2433"/>
                          </a:solidFill>
                          <a:latin typeface="Calibri"/>
                        </a:rPr>
                        <a:t> if absent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create </a:t>
                      </a:r>
                      <a:r>
                        <a:rPr sz="1150" b="0" i="0">
                          <a:solidFill>
                            <a:srgbClr val="0E7C86"/>
                          </a:solidFill>
                          <a:latin typeface="Consolas"/>
                        </a:rPr>
                        <a:t>vN+1.metadata.json</a:t>
                      </a:r>
                      <a:r>
                        <a:rPr sz="1250" b="0" i="0">
                          <a:solidFill>
                            <a:srgbClr val="1C2433"/>
                          </a:solidFill>
                          <a:latin typeface="Calibri"/>
                        </a:rPr>
                        <a:t> if absent, or a catalog swap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both by </a:t>
                      </a:r>
                      <a:r>
                        <a:rPr sz="1150" b="0" i="0">
                          <a:solidFill>
                            <a:srgbClr val="0E7C86"/>
                          </a:solidFill>
                          <a:latin typeface="Consolas"/>
                        </a:rPr>
                        <a:t>If-None-Match: *</a:t>
                      </a:r>
                      <a:r>
                        <a:rPr sz="1250" b="0" i="0">
                          <a:solidFill>
                            <a:srgbClr val="1C2433"/>
                          </a:solidFill>
                          <a:latin typeface="Calibri"/>
                        </a:rPr>
                        <a:t>; Delta via </a:t>
                      </a:r>
                      <a:r>
                        <a:rPr sz="1150" b="0" i="0">
                          <a:solidFill>
                            <a:srgbClr val="0E7C86"/>
                          </a:solidFill>
                          <a:latin typeface="Consolas"/>
                        </a:rPr>
                        <a:t>lake publish</a:t>
                      </a:r>
                      <a:r>
                        <a:rPr sz="1250" b="0" i="0">
                          <a:solidFill>
                            <a:srgbClr val="1C2433"/>
                          </a:solidFill>
                          <a:latin typeface="Calibri"/>
                        </a:rPr>
                        <a:t>, Iceberg via the Java loader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912799">
                <a:tc>
                  <a:txBody>
                    <a:bodyPr wrap="square"/>
                    <a:lstStyle/>
                    <a:p>
                      <a:pPr algn="l">
                        <a:lnSpc>
                          <a:spcPct val="100000"/>
                        </a:lnSpc>
                      </a:pPr>
                      <a:r>
                        <a:rPr sz="1250" b="1" i="0">
                          <a:solidFill>
                            <a:srgbClr val="1C2433"/>
                          </a:solidFill>
                          <a:latin typeface="Calibri"/>
                        </a:rPr>
                        <a:t>Concurrency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optimistic; conflicting writers retry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optimistic; requirements re-validated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a rewrite of a changed day is refused (Iceberg); per-table locks in the scripts (Delta)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9906">
                <a:tc>
                  <a:txBody>
                    <a:bodyPr wrap="square"/>
                    <a:lstStyle/>
                    <a:p>
                      <a:pPr algn="l">
                        <a:lnSpc>
                          <a:spcPct val="100000"/>
                        </a:lnSpc>
                      </a:pPr>
                      <a:r>
                        <a:rPr sz="1250" b="1" i="0">
                          <a:solidFill>
                            <a:srgbClr val="1C2433"/>
                          </a:solidFill>
                          <a:latin typeface="Calibri"/>
                        </a:rPr>
                        <a:t>Time travel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by version or timestamp, until vacuum and log cleanup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by snapshot or timestamp, until snapshots expire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1">
                          <a:solidFill>
                            <a:srgbClr val="1C2433"/>
                          </a:solidFill>
                          <a:latin typeface="Calibri"/>
                        </a:rPr>
                        <a:t>known at</a:t>
                      </a:r>
                      <a:r>
                        <a:rPr sz="1250" b="0" i="0">
                          <a:solidFill>
                            <a:srgbClr val="1C2433"/>
                          </a:solidFill>
                          <a:latin typeface="Calibri"/>
                        </a:rPr>
                        <a:t> on both; 7-year floor for risk tables on both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912799">
                <a:tc>
                  <a:txBody>
                    <a:bodyPr wrap="square"/>
                    <a:lstStyle/>
                    <a:p>
                      <a:pPr algn="l">
                        <a:lnSpc>
                          <a:spcPct val="100000"/>
                        </a:lnSpc>
                      </a:pPr>
                      <a:r>
                        <a:rPr sz="1250" b="1" i="0">
                          <a:solidFill>
                            <a:srgbClr val="1C2433"/>
                          </a:solidFill>
                          <a:latin typeface="Calibri"/>
                        </a:rPr>
                        <a:t>Schema evolution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add columns by name; renames need column mapping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by field id: add, drop, rename, reorder, widen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Iceberg reads every change by id; Delta publish refuses a changed day (in-place add: planned, not 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9906">
                <a:tc>
                  <a:txBody>
                    <a:bodyPr wrap="square"/>
                    <a:lstStyle/>
                    <a:p>
                      <a:pPr algn="l">
                        <a:lnSpc>
                          <a:spcPct val="100000"/>
                        </a:lnSpc>
                      </a:pPr>
                      <a:r>
                        <a:rPr sz="1250" b="1" i="0">
                          <a:solidFill>
                            <a:srgbClr val="1C2433"/>
                          </a:solidFill>
                          <a:latin typeface="Calibri"/>
                        </a:rPr>
                        <a:t>Reading cost of a refresh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commits since the last checkpoint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one small pointer, then metadata if changed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Iceberg keys caches by day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Side by side (2/3): partitions, deletes, maintenance, catalogs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31</a:t>
            </a:r>
          </a:p>
        </p:txBody>
      </p:sp>
      <p:graphicFrame>
        <p:nvGraphicFramePr>
          <p:cNvPr id="10" name="Table 9"/>
          <p:cNvGraphicFramePr>
            <a:graphicFrameLocks noGrp="1"/>
          </p:cNvGraphicFramePr>
          <p:nvPr/>
        </p:nvGraphicFramePr>
        <p:xfrm>
          <a:off x="411480" y="1143000"/>
          <a:ext cx="11365992" cy="4329074"/>
        </p:xfrm>
        <a:graphic>
          <a:graphicData uri="http://schemas.openxmlformats.org/drawingml/2006/table">
            <a:tbl>
              <a:tblPr firstRow="1" bandRow="1">
                <a:tableStyleId>{5940675A-B579-460E-94D1-54222C63F5DA}</a:tableStyleId>
              </a:tblPr>
              <a:tblGrid>
                <a:gridCol w="1737360"/>
                <a:gridCol w="2834640"/>
                <a:gridCol w="3108960"/>
                <a:gridCol w="3685032"/>
              </a:tblGrid>
              <a:tr h="435254">
                <a:tc>
                  <a:txBody>
                    <a:bodyPr wrap="square"/>
                    <a:lstStyle/>
                    <a:p>
                      <a:pPr algn="l">
                        <a:lnSpc>
                          <a:spcPct val="100000"/>
                        </a:lnSpc>
                      </a:pPr>
                      <a:r>
                        <a:rPr sz="1250" b="1" i="0">
                          <a:solidFill>
                            <a:srgbClr val="FFFFFF"/>
                          </a:solidFill>
                          <a:latin typeface="Calibri"/>
                        </a:rPr>
                        <a:t>Aspect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50" b="1" i="0">
                          <a:solidFill>
                            <a:srgbClr val="FFFFFF"/>
                          </a:solidFill>
                          <a:latin typeface="Calibri"/>
                        </a:rPr>
                        <a:t>Delta Lake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50" b="1" i="0">
                          <a:solidFill>
                            <a:srgbClr val="FFFFFF"/>
                          </a:solidFill>
                          <a:latin typeface="Calibri"/>
                        </a:rPr>
                        <a:t>Apache 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50" b="1" i="0">
                          <a:solidFill>
                            <a:srgbClr val="FFFFFF"/>
                          </a:solidFill>
                          <a:latin typeface="Calibri"/>
                        </a:rPr>
                        <a:t>In Drishti today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670306">
                <a:tc>
                  <a:txBody>
                    <a:bodyPr wrap="square"/>
                    <a:lstStyle/>
                    <a:p>
                      <a:pPr algn="l">
                        <a:lnSpc>
                          <a:spcPct val="100000"/>
                        </a:lnSpc>
                      </a:pPr>
                      <a:r>
                        <a:rPr sz="1250" b="1" i="0">
                          <a:solidFill>
                            <a:srgbClr val="1C2433"/>
                          </a:solidFill>
                          <a:latin typeface="Calibri"/>
                        </a:rPr>
                        <a:t>Partitioning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Hive-style folders on columns; liquid clustering (Databricks)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1" i="0">
                          <a:solidFill>
                            <a:srgbClr val="1C2433"/>
                          </a:solidFill>
                          <a:latin typeface="Calibri"/>
                        </a:rPr>
                        <a:t>hidden</a:t>
                      </a:r>
                      <a:r>
                        <a:rPr sz="1250" b="0" i="0">
                          <a:solidFill>
                            <a:srgbClr val="1C2433"/>
                          </a:solidFill>
                          <a:latin typeface="Calibri"/>
                        </a:rPr>
                        <a:t>: transforms (day, bucket, truncate) in the spec; specs evolve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both: </a:t>
                      </a:r>
                      <a:r>
                        <a:rPr sz="1150" b="0" i="0">
                          <a:solidFill>
                            <a:srgbClr val="0E7C86"/>
                          </a:solidFill>
                          <a:latin typeface="Consolas"/>
                        </a:rPr>
                        <a:t>business_date</a:t>
                      </a:r>
                      <a:r>
                        <a:rPr sz="1250" b="0" i="0">
                          <a:solidFill>
                            <a:srgbClr val="1C2433"/>
                          </a:solidFill>
                          <a:latin typeface="Calibri"/>
                        </a:rPr>
                        <a:t> only (+ PRODUCT_TYPE on Delta/AWS); Iceberg transforms read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941451">
                <a:tc>
                  <a:txBody>
                    <a:bodyPr wrap="square"/>
                    <a:lstStyle/>
                    <a:p>
                      <a:pPr algn="l">
                        <a:lnSpc>
                          <a:spcPct val="100000"/>
                        </a:lnSpc>
                      </a:pPr>
                      <a:r>
                        <a:rPr sz="1250" b="1" i="0">
                          <a:solidFill>
                            <a:srgbClr val="1C2433"/>
                          </a:solidFill>
                          <a:latin typeface="Calibri"/>
                        </a:rPr>
                        <a:t>Row deletes, merges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deletion vectors or file rewrites (copy-on-write)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position / equality delete files (merge-on-read) or rewrites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Drishti writes neither: a day is replaced; reads others' deletes (Delta: columns off; Iceberg: columns 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70306">
                <a:tc>
                  <a:txBody>
                    <a:bodyPr wrap="square"/>
                    <a:lstStyle/>
                    <a:p>
                      <a:pPr algn="l">
                        <a:lnSpc>
                          <a:spcPct val="100000"/>
                        </a:lnSpc>
                      </a:pPr>
                      <a:r>
                        <a:rPr sz="1250" b="1" i="0">
                          <a:solidFill>
                            <a:srgbClr val="1C2433"/>
                          </a:solidFill>
                          <a:latin typeface="Calibri"/>
                        </a:rPr>
                        <a:t>Maintenance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OPTIMIZE, checkpoint, VACUUM</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rewrite data and manifests, expire snapshots, remove orphans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both: </a:t>
                      </a:r>
                      <a:r>
                        <a:rPr sz="1150" b="0" i="0">
                          <a:solidFill>
                            <a:srgbClr val="0E7C86"/>
                          </a:solidFill>
                          <a:latin typeface="Consolas"/>
                        </a:rPr>
                        <a:t>lake maintain</a:t>
                      </a:r>
                      <a:r>
                        <a:rPr sz="1250" b="0" i="0">
                          <a:solidFill>
                            <a:srgbClr val="1C2433"/>
                          </a:solidFill>
                          <a:latin typeface="Calibri"/>
                        </a:rPr>
                        <a:t> + Admin → Lakes; Iceberg with orphan removal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941451">
                <a:tc>
                  <a:txBody>
                    <a:bodyPr wrap="square"/>
                    <a:lstStyle/>
                    <a:p>
                      <a:pPr algn="l">
                        <a:lnSpc>
                          <a:spcPct val="100000"/>
                        </a:lnSpc>
                      </a:pPr>
                      <a:r>
                        <a:rPr sz="1250" b="1" i="0">
                          <a:solidFill>
                            <a:srgbClr val="1C2433"/>
                          </a:solidFill>
                          <a:latin typeface="Calibri"/>
                        </a:rPr>
                        <a:t>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optional (the log is the table); Unity, Glue for discovery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central to most engines (Glue, Polaris, Unity, Nessie); path tables work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Delta: none; Iceberg: path or REST, incl. Glue and S3 Tables (not yet run on AWS)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70306">
                <a:tc>
                  <a:txBody>
                    <a:bodyPr wrap="square"/>
                    <a:lstStyle/>
                    <a:p>
                      <a:pPr algn="l">
                        <a:lnSpc>
                          <a:spcPct val="100000"/>
                        </a:lnSpc>
                      </a:pPr>
                      <a:r>
                        <a:rPr sz="1250" b="1" i="0">
                          <a:solidFill>
                            <a:srgbClr val="1C2433"/>
                          </a:solidFill>
                          <a:latin typeface="Calibri"/>
                        </a:rPr>
                        <a:t>Table identity across nodes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table id in the 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table UUID in metadata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both report it to Drishti*net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Side by side (3/3): the ecosystem and the running cost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32</a:t>
            </a:r>
          </a:p>
        </p:txBody>
      </p:sp>
      <p:graphicFrame>
        <p:nvGraphicFramePr>
          <p:cNvPr id="10" name="Table 9"/>
          <p:cNvGraphicFramePr>
            <a:graphicFrameLocks noGrp="1"/>
          </p:cNvGraphicFramePr>
          <p:nvPr/>
        </p:nvGraphicFramePr>
        <p:xfrm>
          <a:off x="411480" y="1143000"/>
          <a:ext cx="11365992" cy="2891329"/>
        </p:xfrm>
        <a:graphic>
          <a:graphicData uri="http://schemas.openxmlformats.org/drawingml/2006/table">
            <a:tbl>
              <a:tblPr firstRow="1" bandRow="1">
                <a:tableStyleId>{5940675A-B579-460E-94D1-54222C63F5DA}</a:tableStyleId>
              </a:tblPr>
              <a:tblGrid>
                <a:gridCol w="2377440"/>
                <a:gridCol w="4114800"/>
                <a:gridCol w="4873752"/>
              </a:tblGrid>
              <a:tr h="347470">
                <a:tc>
                  <a:txBody>
                    <a:bodyPr wrap="square"/>
                    <a:lstStyle/>
                    <a:p>
                      <a:pPr algn="l">
                        <a:lnSpc>
                          <a:spcPct val="100000"/>
                        </a:lnSpc>
                      </a:pPr>
                      <a:r>
                        <a:rPr sz="1150" b="1" i="0">
                          <a:solidFill>
                            <a:srgbClr val="FFFFFF"/>
                          </a:solidFill>
                          <a:latin typeface="Calibri"/>
                        </a:rPr>
                        <a:t>Engine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Delta Lake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Apache 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347470">
                <a:tc>
                  <a:txBody>
                    <a:bodyPr wrap="square"/>
                    <a:lstStyle/>
                    <a:p>
                      <a:pPr algn="l">
                        <a:lnSpc>
                          <a:spcPct val="100000"/>
                        </a:lnSpc>
                      </a:pPr>
                      <a:r>
                        <a:rPr sz="1150" b="1" i="0">
                          <a:solidFill>
                            <a:srgbClr val="1C2433"/>
                          </a:solidFill>
                          <a:latin typeface="Calibri"/>
                        </a:rPr>
                        <a:t>Apache Spark, Amazon EMR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read and write (Delta's Spark library)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read and write (Iceberg's Spark runtime)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47470">
                <a:tc>
                  <a:txBody>
                    <a:bodyPr wrap="square"/>
                    <a:lstStyle/>
                    <a:p>
                      <a:pPr algn="l">
                        <a:lnSpc>
                          <a:spcPct val="100000"/>
                        </a:lnSpc>
                      </a:pPr>
                      <a:r>
                        <a:rPr sz="1150" b="1" i="0">
                          <a:solidFill>
                            <a:srgbClr val="1C2433"/>
                          </a:solidFill>
                          <a:latin typeface="Calibri"/>
                        </a:rPr>
                        <a:t>Trino, Starburst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Delta connector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Iceberg connector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00483">
                <a:tc>
                  <a:txBody>
                    <a:bodyPr wrap="square"/>
                    <a:lstStyle/>
                    <a:p>
                      <a:pPr algn="l">
                        <a:lnSpc>
                          <a:spcPct val="100000"/>
                        </a:lnSpc>
                      </a:pPr>
                      <a:r>
                        <a:rPr sz="1150" b="1" i="0">
                          <a:solidFill>
                            <a:srgbClr val="1C2433"/>
                          </a:solidFill>
                          <a:latin typeface="Calibri"/>
                        </a:rPr>
                        <a:t>Amazon Athena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reads Delta tables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reads and writes Iceberg tables in the Glue catalog; OPTIMIZE, VACUUM</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00483">
                <a:tc>
                  <a:txBody>
                    <a:bodyPr wrap="square"/>
                    <a:lstStyle/>
                    <a:p>
                      <a:pPr algn="l">
                        <a:lnSpc>
                          <a:spcPct val="100000"/>
                        </a:lnSpc>
                      </a:pPr>
                      <a:r>
                        <a:rPr sz="1150" b="1" i="0">
                          <a:solidFill>
                            <a:srgbClr val="1C2433"/>
                          </a:solidFill>
                          <a:latin typeface="Calibri"/>
                        </a:rPr>
                        <a:t>Snowflake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reads through external tables / catalog integration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native Iceberg tables (managed or catalog-linked), Open Catalog (Polaris)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47470">
                <a:tc>
                  <a:txBody>
                    <a:bodyPr wrap="square"/>
                    <a:lstStyle/>
                    <a:p>
                      <a:pPr algn="l">
                        <a:lnSpc>
                          <a:spcPct val="100000"/>
                        </a:lnSpc>
                      </a:pPr>
                      <a:r>
                        <a:rPr sz="1150" b="1" i="0">
                          <a:solidFill>
                            <a:srgbClr val="1C2433"/>
                          </a:solidFill>
                          <a:latin typeface="Calibri"/>
                        </a:rPr>
                        <a:t>Databricks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native (Unity 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through Unity's Iceberg REST interface or UniForm</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00483">
                <a:tc>
                  <a:txBody>
                    <a:bodyPr wrap="square"/>
                    <a:lstStyle/>
                    <a:p>
                      <a:pPr algn="l">
                        <a:lnSpc>
                          <a:spcPct val="100000"/>
                        </a:lnSpc>
                      </a:pPr>
                      <a:r>
                        <a:rPr sz="1150" b="1" i="0">
                          <a:solidFill>
                            <a:srgbClr val="1C2433"/>
                          </a:solidFill>
                          <a:latin typeface="Calibri"/>
                        </a:rPr>
                        <a:t>pyiceberg, DuckDB, pandas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delta-rs (deltalake), DuckDB's delta extension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pyiceberg, DuckDB's iceberg extension (both used in Drishti's tests)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graphicFrame>
        <p:nvGraphicFramePr>
          <p:cNvPr id="11" name="Table 10"/>
          <p:cNvGraphicFramePr>
            <a:graphicFrameLocks noGrp="1"/>
          </p:cNvGraphicFramePr>
          <p:nvPr/>
        </p:nvGraphicFramePr>
        <p:xfrm>
          <a:off x="411480" y="4526280"/>
          <a:ext cx="11365992" cy="1691385"/>
        </p:xfrm>
        <a:graphic>
          <a:graphicData uri="http://schemas.openxmlformats.org/drawingml/2006/table">
            <a:tbl>
              <a:tblPr firstRow="1" bandRow="1">
                <a:tableStyleId>{5940675A-B579-460E-94D1-54222C63F5DA}</a:tableStyleId>
              </a:tblPr>
              <a:tblGrid>
                <a:gridCol w="2377440"/>
                <a:gridCol w="4114800"/>
                <a:gridCol w="4873752"/>
              </a:tblGrid>
              <a:tr h="310896">
                <a:tc>
                  <a:txBody>
                    <a:bodyPr wrap="square"/>
                    <a:lstStyle/>
                    <a:p>
                      <a:pPr algn="l">
                        <a:lnSpc>
                          <a:spcPct val="100000"/>
                        </a:lnSpc>
                      </a:pPr>
                      <a:r>
                        <a:rPr sz="1150" b="1" i="0">
                          <a:solidFill>
                            <a:srgbClr val="FFFFFF"/>
                          </a:solidFill>
                          <a:latin typeface="Calibri"/>
                        </a:rPr>
                        <a:t>Running cost item</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Delta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310896">
                <a:tc>
                  <a:txBody>
                    <a:bodyPr wrap="square"/>
                    <a:lstStyle/>
                    <a:p>
                      <a:pPr algn="l">
                        <a:lnSpc>
                          <a:spcPct val="100000"/>
                        </a:lnSpc>
                      </a:pPr>
                      <a:r>
                        <a:rPr sz="1150" b="1" i="0">
                          <a:solidFill>
                            <a:srgbClr val="1C2433"/>
                          </a:solidFill>
                          <a:latin typeface="Calibri"/>
                        </a:rPr>
                        <a:t>Storage (Parquet), tiers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same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same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47801">
                <a:tc>
                  <a:txBody>
                    <a:bodyPr wrap="square"/>
                    <a:lstStyle/>
                    <a:p>
                      <a:pPr algn="l">
                        <a:lnSpc>
                          <a:spcPct val="100000"/>
                        </a:lnSpc>
                      </a:pPr>
                      <a:r>
                        <a:rPr sz="1150" b="1" i="0">
                          <a:solidFill>
                            <a:srgbClr val="1C2433"/>
                          </a:solidFill>
                          <a:latin typeface="Calibri"/>
                        </a:rPr>
                        <a:t>Metadata per commit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 small JSON; a checkpoint every 10</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 metadata JSON listing every snapshot kept + a manifest list + a manifest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10896">
                <a:tc>
                  <a:txBody>
                    <a:bodyPr wrap="square"/>
                    <a:lstStyle/>
                    <a:p>
                      <a:pPr algn="l">
                        <a:lnSpc>
                          <a:spcPct val="100000"/>
                        </a:lnSpc>
                      </a:pPr>
                      <a:r>
                        <a:rPr sz="1150" b="1" i="0">
                          <a:solidFill>
                            <a:srgbClr val="1C2433"/>
                          </a:solidFill>
                          <a:latin typeface="Calibri"/>
                        </a:rPr>
                        <a:t>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none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none (path) or Glue / S3 Tables request and storage charges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10896">
                <a:tc>
                  <a:txBody>
                    <a:bodyPr wrap="square"/>
                    <a:lstStyle/>
                    <a:p>
                      <a:pPr algn="l">
                        <a:lnSpc>
                          <a:spcPct val="100000"/>
                        </a:lnSpc>
                      </a:pPr>
                      <a:r>
                        <a:rPr sz="1150" b="1" i="0">
                          <a:solidFill>
                            <a:srgbClr val="1C2433"/>
                          </a:solidFill>
                          <a:latin typeface="Calibri"/>
                        </a:rPr>
                        <a:t>Maintenance compute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nightly </a:t>
                      </a:r>
                      <a:r>
                        <a:rPr sz="1050" b="0" i="0">
                          <a:solidFill>
                            <a:srgbClr val="0E7C86"/>
                          </a:solidFill>
                          <a:latin typeface="Consolas"/>
                        </a:rPr>
                        <a:t>lake maintain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nightly </a:t>
                      </a:r>
                      <a:r>
                        <a:rPr sz="1050" b="0" i="0">
                          <a:solidFill>
                            <a:srgbClr val="0E7C86"/>
                          </a:solidFill>
                          <a:latin typeface="Consolas"/>
                        </a:rPr>
                        <a:t>IcebergMaintenance</a:t>
                      </a:r>
                      <a:r>
                        <a:rPr sz="1150" b="0" i="0">
                          <a:solidFill>
                            <a:srgbClr val="1C2433"/>
                          </a:solidFill>
                          <a:latin typeface="Calibri"/>
                        </a:rPr>
                        <a:t>, or managed optimizers (charged)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drishti-iceberg: Drishti's own Iceberg engine, no Hadoop</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33</a:t>
            </a:r>
          </a:p>
        </p:txBody>
      </p:sp>
      <p:sp>
        <p:nvSpPr>
          <p:cNvPr id="10" name="Rounded Rectangle 9"/>
          <p:cNvSpPr/>
          <p:nvPr/>
        </p:nvSpPr>
        <p:spPr>
          <a:xfrm>
            <a:off x="411480" y="1143000"/>
            <a:ext cx="8138160" cy="548640"/>
          </a:xfrm>
          <a:prstGeom prst="roundRect">
            <a:avLst>
              <a:gd name="adj" fmla="val 12000"/>
            </a:avLst>
          </a:prstGeom>
          <a:solidFill>
            <a:srgbClr val="EEE6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48640" y="1143000"/>
            <a:ext cx="6583680" cy="548640"/>
          </a:xfrm>
          <a:prstGeom prst="rect">
            <a:avLst/>
          </a:prstGeom>
          <a:noFill/>
        </p:spPr>
        <p:txBody>
          <a:bodyPr wrap="square" lIns="45720" rIns="45720" tIns="27432" bIns="27432" anchor="ctr">
            <a:spAutoFit/>
          </a:bodyPr>
          <a:lstStyle/>
          <a:p>
            <a:pPr algn="l">
              <a:lnSpc>
                <a:spcPct val="105000"/>
              </a:lnSpc>
            </a:pPr>
            <a:r>
              <a:rPr sz="1200" b="0" i="0">
                <a:solidFill>
                  <a:srgbClr val="1C2433"/>
                </a:solidFill>
                <a:latin typeface="Calibri"/>
              </a:rPr>
              <a:t>IcebergSourcePlugin · IcebergExternalPlugin · IcebergLoader · IcebergMaintenance</a:t>
            </a:r>
          </a:p>
        </p:txBody>
      </p:sp>
      <p:sp>
        <p:nvSpPr>
          <p:cNvPr id="12" name="TextBox 11"/>
          <p:cNvSpPr txBox="1"/>
          <p:nvPr/>
        </p:nvSpPr>
        <p:spPr>
          <a:xfrm>
            <a:off x="6995160" y="1143000"/>
            <a:ext cx="1463040" cy="548640"/>
          </a:xfrm>
          <a:prstGeom prst="rect">
            <a:avLst/>
          </a:prstGeom>
          <a:noFill/>
        </p:spPr>
        <p:txBody>
          <a:bodyPr wrap="square" lIns="45720" rIns="45720" tIns="27432" bIns="27432" anchor="ctr">
            <a:spAutoFit/>
          </a:bodyPr>
          <a:lstStyle/>
          <a:p>
            <a:pPr algn="r">
              <a:lnSpc>
                <a:spcPct val="105000"/>
              </a:lnSpc>
            </a:pPr>
            <a:r>
              <a:rPr sz="1100" b="0" i="0">
                <a:solidFill>
                  <a:srgbClr val="5B677A"/>
                </a:solidFill>
                <a:latin typeface="Calibri"/>
              </a:rPr>
              <a:t>unchanged read paths</a:t>
            </a:r>
          </a:p>
        </p:txBody>
      </p:sp>
      <p:sp>
        <p:nvSpPr>
          <p:cNvPr id="13" name="Rounded Rectangle 12"/>
          <p:cNvSpPr/>
          <p:nvPr/>
        </p:nvSpPr>
        <p:spPr>
          <a:xfrm>
            <a:off x="411480" y="1783080"/>
            <a:ext cx="8138160" cy="548640"/>
          </a:xfrm>
          <a:prstGeom prst="roundRect">
            <a:avLst>
              <a:gd name="adj" fmla="val 12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48640" y="1783080"/>
            <a:ext cx="6583680" cy="548640"/>
          </a:xfrm>
          <a:prstGeom prst="rect">
            <a:avLst/>
          </a:prstGeom>
          <a:noFill/>
        </p:spPr>
        <p:txBody>
          <a:bodyPr wrap="square" lIns="45720" rIns="45720" tIns="27432" bIns="27432" anchor="ctr">
            <a:spAutoFit/>
          </a:bodyPr>
          <a:lstStyle/>
          <a:p>
            <a:pPr algn="l">
              <a:lnSpc>
                <a:spcPct val="105000"/>
              </a:lnSpc>
            </a:pPr>
            <a:r>
              <a:rPr sz="1200" b="0" i="0">
                <a:solidFill>
                  <a:srgbClr val="1C2433"/>
                </a:solidFill>
                <a:latin typeface="Calibri"/>
              </a:rPr>
              <a:t>catalog/  path-based (</a:t>
            </a:r>
            <a:r>
              <a:rPr sz="1100" b="0" i="0">
                <a:solidFill>
                  <a:srgbClr val="0E7C86"/>
                </a:solidFill>
                <a:latin typeface="Consolas"/>
              </a:rPr>
              <a:t>version-hint.text</a:t>
            </a:r>
            <a:r>
              <a:rPr sz="1200" b="0" i="0">
                <a:solidFill>
                  <a:srgbClr val="1C2433"/>
                </a:solidFill>
                <a:latin typeface="Calibri"/>
              </a:rPr>
              <a:t>), a metadata file named directly, REST (OAuth2, SigV4, vended credentials)</a:t>
            </a:r>
          </a:p>
        </p:txBody>
      </p:sp>
      <p:sp>
        <p:nvSpPr>
          <p:cNvPr id="15" name="TextBox 14"/>
          <p:cNvSpPr txBox="1"/>
          <p:nvPr/>
        </p:nvSpPr>
        <p:spPr>
          <a:xfrm>
            <a:off x="6995160" y="1783080"/>
            <a:ext cx="1463040" cy="548640"/>
          </a:xfrm>
          <a:prstGeom prst="rect">
            <a:avLst/>
          </a:prstGeom>
          <a:noFill/>
        </p:spPr>
        <p:txBody>
          <a:bodyPr wrap="square" lIns="45720" rIns="45720" tIns="27432" bIns="27432" anchor="ctr">
            <a:spAutoFit/>
          </a:bodyPr>
          <a:lstStyle/>
          <a:p>
            <a:pPr algn="r">
              <a:lnSpc>
                <a:spcPct val="105000"/>
              </a:lnSpc>
            </a:pPr>
            <a:r>
              <a:rPr sz="1100" b="0" i="0">
                <a:solidFill>
                  <a:srgbClr val="5B677A"/>
                </a:solidFill>
                <a:latin typeface="Calibri"/>
              </a:rPr>
              <a:t>Jackson, JDK HTTP</a:t>
            </a:r>
          </a:p>
        </p:txBody>
      </p:sp>
      <p:sp>
        <p:nvSpPr>
          <p:cNvPr id="16" name="Rounded Rectangle 15"/>
          <p:cNvSpPr/>
          <p:nvPr/>
        </p:nvSpPr>
        <p:spPr>
          <a:xfrm>
            <a:off x="411480" y="2423160"/>
            <a:ext cx="8138160" cy="548640"/>
          </a:xfrm>
          <a:prstGeom prst="roundRect">
            <a:avLst>
              <a:gd name="adj" fmla="val 12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548640" y="2423160"/>
            <a:ext cx="6583680" cy="548640"/>
          </a:xfrm>
          <a:prstGeom prst="rect">
            <a:avLst/>
          </a:prstGeom>
          <a:noFill/>
        </p:spPr>
        <p:txBody>
          <a:bodyPr wrap="square" lIns="45720" rIns="45720" tIns="27432" bIns="27432" anchor="ctr">
            <a:spAutoFit/>
          </a:bodyPr>
          <a:lstStyle/>
          <a:p>
            <a:pPr algn="l">
              <a:lnSpc>
                <a:spcPct val="105000"/>
              </a:lnSpc>
            </a:pPr>
            <a:r>
              <a:rPr sz="1200" b="0" i="0">
                <a:solidFill>
                  <a:srgbClr val="1C2433"/>
                </a:solidFill>
                <a:latin typeface="Calibri"/>
              </a:rPr>
              <a:t>meta/  table metadata v1/v2, schemas, partition specs, sort orders, snapshots, refs; unknown fields kept</a:t>
            </a:r>
          </a:p>
        </p:txBody>
      </p:sp>
      <p:sp>
        <p:nvSpPr>
          <p:cNvPr id="18" name="TextBox 17"/>
          <p:cNvSpPr txBox="1"/>
          <p:nvPr/>
        </p:nvSpPr>
        <p:spPr>
          <a:xfrm>
            <a:off x="6995160" y="2423160"/>
            <a:ext cx="1463040" cy="548640"/>
          </a:xfrm>
          <a:prstGeom prst="rect">
            <a:avLst/>
          </a:prstGeom>
          <a:noFill/>
        </p:spPr>
        <p:txBody>
          <a:bodyPr wrap="square" lIns="45720" rIns="45720" tIns="27432" bIns="27432" anchor="ctr">
            <a:spAutoFit/>
          </a:bodyPr>
          <a:lstStyle/>
          <a:p>
            <a:pPr algn="r">
              <a:lnSpc>
                <a:spcPct val="105000"/>
              </a:lnSpc>
            </a:pPr>
            <a:r>
              <a:rPr sz="1100" b="0" i="0">
                <a:solidFill>
                  <a:srgbClr val="5B677A"/>
                </a:solidFill>
                <a:latin typeface="Calibri"/>
              </a:rPr>
              <a:t>Jackson</a:t>
            </a:r>
          </a:p>
        </p:txBody>
      </p:sp>
      <p:sp>
        <p:nvSpPr>
          <p:cNvPr id="19" name="Rounded Rectangle 18"/>
          <p:cNvSpPr/>
          <p:nvPr/>
        </p:nvSpPr>
        <p:spPr>
          <a:xfrm>
            <a:off x="411480" y="3063239"/>
            <a:ext cx="8138160" cy="548640"/>
          </a:xfrm>
          <a:prstGeom prst="roundRect">
            <a:avLst>
              <a:gd name="adj" fmla="val 12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548640" y="3063239"/>
            <a:ext cx="6583680" cy="548640"/>
          </a:xfrm>
          <a:prstGeom prst="rect">
            <a:avLst/>
          </a:prstGeom>
          <a:noFill/>
        </p:spPr>
        <p:txBody>
          <a:bodyPr wrap="square" lIns="45720" rIns="45720" tIns="27432" bIns="27432" anchor="ctr">
            <a:spAutoFit/>
          </a:bodyPr>
          <a:lstStyle/>
          <a:p>
            <a:pPr algn="l">
              <a:lnSpc>
                <a:spcPct val="105000"/>
              </a:lnSpc>
            </a:pPr>
            <a:r>
              <a:rPr sz="1200" b="0" i="0">
                <a:solidFill>
                  <a:srgbClr val="1C2433"/>
                </a:solidFill>
                <a:latin typeface="Calibri"/>
              </a:rPr>
              <a:t>manifest/  manifest lists and manifests: data and delete manifests, partition summaries, column bounds</a:t>
            </a:r>
          </a:p>
        </p:txBody>
      </p:sp>
      <p:sp>
        <p:nvSpPr>
          <p:cNvPr id="21" name="TextBox 20"/>
          <p:cNvSpPr txBox="1"/>
          <p:nvPr/>
        </p:nvSpPr>
        <p:spPr>
          <a:xfrm>
            <a:off x="6995160" y="3063239"/>
            <a:ext cx="1463040" cy="548640"/>
          </a:xfrm>
          <a:prstGeom prst="rect">
            <a:avLst/>
          </a:prstGeom>
          <a:noFill/>
        </p:spPr>
        <p:txBody>
          <a:bodyPr wrap="square" lIns="45720" rIns="45720" tIns="27432" bIns="27432" anchor="ctr">
            <a:spAutoFit/>
          </a:bodyPr>
          <a:lstStyle/>
          <a:p>
            <a:pPr algn="r">
              <a:lnSpc>
                <a:spcPct val="105000"/>
              </a:lnSpc>
            </a:pPr>
            <a:r>
              <a:rPr sz="1100" b="0" i="0">
                <a:solidFill>
                  <a:srgbClr val="5B677A"/>
                </a:solidFill>
                <a:latin typeface="Calibri"/>
              </a:rPr>
              <a:t>Avro</a:t>
            </a:r>
          </a:p>
        </p:txBody>
      </p:sp>
      <p:sp>
        <p:nvSpPr>
          <p:cNvPr id="22" name="Rounded Rectangle 21"/>
          <p:cNvSpPr/>
          <p:nvPr/>
        </p:nvSpPr>
        <p:spPr>
          <a:xfrm>
            <a:off x="411480" y="3703320"/>
            <a:ext cx="8138160" cy="548640"/>
          </a:xfrm>
          <a:prstGeom prst="roundRect">
            <a:avLst>
              <a:gd name="adj" fmla="val 12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548640" y="3703320"/>
            <a:ext cx="6583680" cy="548640"/>
          </a:xfrm>
          <a:prstGeom prst="rect">
            <a:avLst/>
          </a:prstGeom>
          <a:noFill/>
        </p:spPr>
        <p:txBody>
          <a:bodyPr wrap="square" lIns="45720" rIns="45720" tIns="27432" bIns="27432" anchor="ctr">
            <a:spAutoFit/>
          </a:bodyPr>
          <a:lstStyle/>
          <a:p>
            <a:pPr algn="l">
              <a:lnSpc>
                <a:spcPct val="105000"/>
              </a:lnSpc>
            </a:pPr>
            <a:r>
              <a:rPr sz="1200" b="0" i="0">
                <a:solidFill>
                  <a:srgbClr val="1C2433"/>
                </a:solidFill>
                <a:latin typeface="Calibri"/>
              </a:rPr>
              <a:t>scan/ + read/  pruning by partition and bounds; Parquet by field id; position and equality deletes</a:t>
            </a:r>
          </a:p>
        </p:txBody>
      </p:sp>
      <p:sp>
        <p:nvSpPr>
          <p:cNvPr id="24" name="TextBox 23"/>
          <p:cNvSpPr txBox="1"/>
          <p:nvPr/>
        </p:nvSpPr>
        <p:spPr>
          <a:xfrm>
            <a:off x="6995160" y="3703320"/>
            <a:ext cx="1463040" cy="548640"/>
          </a:xfrm>
          <a:prstGeom prst="rect">
            <a:avLst/>
          </a:prstGeom>
          <a:noFill/>
        </p:spPr>
        <p:txBody>
          <a:bodyPr wrap="square" lIns="45720" rIns="45720" tIns="27432" bIns="27432" anchor="ctr">
            <a:spAutoFit/>
          </a:bodyPr>
          <a:lstStyle/>
          <a:p>
            <a:pPr algn="r">
              <a:lnSpc>
                <a:spcPct val="105000"/>
              </a:lnSpc>
            </a:pPr>
            <a:r>
              <a:rPr sz="1100" b="0" i="0">
                <a:solidFill>
                  <a:srgbClr val="5B677A"/>
                </a:solidFill>
                <a:latin typeface="Calibri"/>
              </a:rPr>
              <a:t>parquet-java</a:t>
            </a:r>
          </a:p>
        </p:txBody>
      </p:sp>
      <p:sp>
        <p:nvSpPr>
          <p:cNvPr id="25" name="Rounded Rectangle 24"/>
          <p:cNvSpPr/>
          <p:nvPr/>
        </p:nvSpPr>
        <p:spPr>
          <a:xfrm>
            <a:off x="411480" y="4343400"/>
            <a:ext cx="8138160" cy="548640"/>
          </a:xfrm>
          <a:prstGeom prst="roundRect">
            <a:avLst>
              <a:gd name="adj" fmla="val 12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548640" y="4343400"/>
            <a:ext cx="6583680" cy="548640"/>
          </a:xfrm>
          <a:prstGeom prst="rect">
            <a:avLst/>
          </a:prstGeom>
          <a:noFill/>
        </p:spPr>
        <p:txBody>
          <a:bodyPr wrap="square" lIns="45720" rIns="45720" tIns="27432" bIns="27432" anchor="ctr">
            <a:spAutoFit/>
          </a:bodyPr>
          <a:lstStyle/>
          <a:p>
            <a:pPr algn="l">
              <a:lnSpc>
                <a:spcPct val="105000"/>
              </a:lnSpc>
            </a:pPr>
            <a:r>
              <a:rPr sz="1200" b="0" i="0">
                <a:solidFill>
                  <a:srgbClr val="1C2433"/>
                </a:solidFill>
                <a:latin typeface="Calibri"/>
              </a:rPr>
              <a:t>write/  Parquet with field ids and metrics, manifests, commits, maintenance operations</a:t>
            </a:r>
          </a:p>
        </p:txBody>
      </p:sp>
      <p:sp>
        <p:nvSpPr>
          <p:cNvPr id="27" name="TextBox 26"/>
          <p:cNvSpPr txBox="1"/>
          <p:nvPr/>
        </p:nvSpPr>
        <p:spPr>
          <a:xfrm>
            <a:off x="6995160" y="4343400"/>
            <a:ext cx="1463040" cy="548640"/>
          </a:xfrm>
          <a:prstGeom prst="rect">
            <a:avLst/>
          </a:prstGeom>
          <a:noFill/>
        </p:spPr>
        <p:txBody>
          <a:bodyPr wrap="square" lIns="45720" rIns="45720" tIns="27432" bIns="27432" anchor="ctr">
            <a:spAutoFit/>
          </a:bodyPr>
          <a:lstStyle/>
          <a:p>
            <a:pPr algn="r">
              <a:lnSpc>
                <a:spcPct val="105000"/>
              </a:lnSpc>
            </a:pPr>
            <a:r>
              <a:rPr sz="1100" b="0" i="0">
                <a:solidFill>
                  <a:srgbClr val="5B677A"/>
                </a:solidFill>
                <a:latin typeface="Calibri"/>
              </a:rPr>
              <a:t>no Hadoop Configuration</a:t>
            </a:r>
          </a:p>
        </p:txBody>
      </p:sp>
      <p:sp>
        <p:nvSpPr>
          <p:cNvPr id="28" name="Rounded Rectangle 27"/>
          <p:cNvSpPr/>
          <p:nvPr/>
        </p:nvSpPr>
        <p:spPr>
          <a:xfrm>
            <a:off x="411480" y="4983480"/>
            <a:ext cx="8138160" cy="548640"/>
          </a:xfrm>
          <a:prstGeom prst="roundRect">
            <a:avLst>
              <a:gd name="adj" fmla="val 12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548640" y="4983480"/>
            <a:ext cx="6583680" cy="548640"/>
          </a:xfrm>
          <a:prstGeom prst="rect">
            <a:avLst/>
          </a:prstGeom>
          <a:noFill/>
        </p:spPr>
        <p:txBody>
          <a:bodyPr wrap="square" lIns="45720" rIns="45720" tIns="27432" bIns="27432" anchor="ctr">
            <a:spAutoFit/>
          </a:bodyPr>
          <a:lstStyle/>
          <a:p>
            <a:pPr algn="l">
              <a:lnSpc>
                <a:spcPct val="105000"/>
              </a:lnSpc>
            </a:pPr>
            <a:r>
              <a:rPr sz="1200" b="0" i="0">
                <a:solidFill>
                  <a:srgbClr val="1C2433"/>
                </a:solidFill>
                <a:latin typeface="Calibri"/>
              </a:rPr>
              <a:t>drishti-lakeio  local disk (Windows paths, UNC), S3 (AWS SDK v2), ranged reads, codecs, footer cache</a:t>
            </a:r>
          </a:p>
        </p:txBody>
      </p:sp>
      <p:sp>
        <p:nvSpPr>
          <p:cNvPr id="30" name="TextBox 29"/>
          <p:cNvSpPr txBox="1"/>
          <p:nvPr/>
        </p:nvSpPr>
        <p:spPr>
          <a:xfrm>
            <a:off x="6995160" y="4983480"/>
            <a:ext cx="1463040" cy="548640"/>
          </a:xfrm>
          <a:prstGeom prst="rect">
            <a:avLst/>
          </a:prstGeom>
          <a:noFill/>
        </p:spPr>
        <p:txBody>
          <a:bodyPr wrap="square" lIns="45720" rIns="45720" tIns="27432" bIns="27432" anchor="ctr">
            <a:spAutoFit/>
          </a:bodyPr>
          <a:lstStyle/>
          <a:p>
            <a:pPr algn="r">
              <a:lnSpc>
                <a:spcPct val="105000"/>
              </a:lnSpc>
            </a:pPr>
            <a:r>
              <a:rPr sz="1100" b="0" i="0">
                <a:solidFill>
                  <a:srgbClr val="5B677A"/>
                </a:solidFill>
                <a:latin typeface="Calibri"/>
              </a:rPr>
              <a:t>shared with Delta</a:t>
            </a:r>
          </a:p>
        </p:txBody>
      </p:sp>
      <p:sp>
        <p:nvSpPr>
          <p:cNvPr id="31" name="Rounded Rectangle 30"/>
          <p:cNvSpPr/>
          <p:nvPr/>
        </p:nvSpPr>
        <p:spPr>
          <a:xfrm>
            <a:off x="8823960" y="1143000"/>
            <a:ext cx="2953512" cy="137160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8961120" y="1234440"/>
            <a:ext cx="2679192" cy="548640"/>
          </a:xfrm>
          <a:prstGeom prst="rect">
            <a:avLst/>
          </a:prstGeom>
          <a:noFill/>
        </p:spPr>
        <p:txBody>
          <a:bodyPr wrap="square" lIns="45720" rIns="45720" tIns="27432" bIns="27432" anchor="t">
            <a:spAutoFit/>
          </a:bodyPr>
          <a:lstStyle/>
          <a:p>
            <a:pPr algn="l">
              <a:lnSpc>
                <a:spcPct val="105000"/>
              </a:lnSpc>
            </a:pPr>
            <a:r>
              <a:rPr sz="2400" b="1" i="0">
                <a:solidFill>
                  <a:srgbClr val="0B1E3B"/>
                </a:solidFill>
                <a:latin typeface="Calibri"/>
              </a:rPr>
              <a:t>0 Hadoop classes</a:t>
            </a:r>
          </a:p>
        </p:txBody>
      </p:sp>
      <p:sp>
        <p:nvSpPr>
          <p:cNvPr id="33" name="TextBox 32"/>
          <p:cNvSpPr txBox="1"/>
          <p:nvPr/>
        </p:nvSpPr>
        <p:spPr>
          <a:xfrm>
            <a:off x="8961120" y="1783080"/>
            <a:ext cx="2679192" cy="685800"/>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loaded by connector, loader or maintenance (a test refuses them)</a:t>
            </a:r>
          </a:p>
        </p:txBody>
      </p:sp>
      <p:sp>
        <p:nvSpPr>
          <p:cNvPr id="34" name="Rounded Rectangle 33"/>
          <p:cNvSpPr/>
          <p:nvPr/>
        </p:nvSpPr>
        <p:spPr>
          <a:xfrm>
            <a:off x="8823960" y="2651760"/>
            <a:ext cx="2953512" cy="137160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xtBox 34"/>
          <p:cNvSpPr txBox="1"/>
          <p:nvPr/>
        </p:nvSpPr>
        <p:spPr>
          <a:xfrm>
            <a:off x="8961120" y="2743200"/>
            <a:ext cx="2679192" cy="548640"/>
          </a:xfrm>
          <a:prstGeom prst="rect">
            <a:avLst/>
          </a:prstGeom>
          <a:noFill/>
        </p:spPr>
        <p:txBody>
          <a:bodyPr wrap="square" lIns="45720" rIns="45720" tIns="27432" bIns="27432" anchor="t">
            <a:spAutoFit/>
          </a:bodyPr>
          <a:lstStyle/>
          <a:p>
            <a:pPr algn="l">
              <a:lnSpc>
                <a:spcPct val="105000"/>
              </a:lnSpc>
            </a:pPr>
            <a:r>
              <a:rPr sz="2400" b="1" i="0">
                <a:solidFill>
                  <a:srgbClr val="0B1E3B"/>
                </a:solidFill>
                <a:latin typeface="Calibri"/>
              </a:rPr>
              <a:t>Windows</a:t>
            </a:r>
          </a:p>
        </p:txBody>
      </p:sp>
      <p:sp>
        <p:nvSpPr>
          <p:cNvPr id="36" name="TextBox 35"/>
          <p:cNvSpPr txBox="1"/>
          <p:nvPr/>
        </p:nvSpPr>
        <p:spPr>
          <a:xfrm>
            <a:off x="8961120" y="3291839"/>
            <a:ext cx="2679192" cy="685800"/>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no winutils.exe, no HADOOP_HOME: load-iceberg.ps1, start-server.ps1 -Iceberg</a:t>
            </a:r>
          </a:p>
        </p:txBody>
      </p:sp>
      <p:sp>
        <p:nvSpPr>
          <p:cNvPr id="37" name="Rounded Rectangle 36"/>
          <p:cNvSpPr/>
          <p:nvPr/>
        </p:nvSpPr>
        <p:spPr>
          <a:xfrm>
            <a:off x="8823960" y="4160520"/>
            <a:ext cx="2953512" cy="137160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xtBox 37"/>
          <p:cNvSpPr txBox="1"/>
          <p:nvPr/>
        </p:nvSpPr>
        <p:spPr>
          <a:xfrm>
            <a:off x="8961120" y="4251959"/>
            <a:ext cx="2679192" cy="548640"/>
          </a:xfrm>
          <a:prstGeom prst="rect">
            <a:avLst/>
          </a:prstGeom>
          <a:noFill/>
        </p:spPr>
        <p:txBody>
          <a:bodyPr wrap="square" lIns="45720" rIns="45720" tIns="27432" bIns="27432" anchor="t">
            <a:spAutoFit/>
          </a:bodyPr>
          <a:lstStyle/>
          <a:p>
            <a:pPr algn="l">
              <a:lnSpc>
                <a:spcPct val="105000"/>
              </a:lnSpc>
            </a:pPr>
            <a:r>
              <a:rPr sz="2400" b="1" i="0">
                <a:solidFill>
                  <a:srgbClr val="0B1E3B"/>
                </a:solidFill>
                <a:latin typeface="Calibri"/>
              </a:rPr>
              <a:t>The default engine</a:t>
            </a:r>
          </a:p>
        </p:txBody>
      </p:sp>
      <p:sp>
        <p:nvSpPr>
          <p:cNvPr id="39" name="TextBox 38"/>
          <p:cNvSpPr txBox="1"/>
          <p:nvPr/>
        </p:nvSpPr>
        <p:spPr>
          <a:xfrm>
            <a:off x="8961120" y="4800600"/>
            <a:ext cx="2679192" cy="685800"/>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native; the library kept for Azure, GCS, HDFS</a:t>
            </a:r>
          </a:p>
        </p:txBody>
      </p:sp>
      <p:sp>
        <p:nvSpPr>
          <p:cNvPr id="40" name="TextBox 39"/>
          <p:cNvSpPr txBox="1"/>
          <p:nvPr/>
        </p:nvSpPr>
        <p:spPr>
          <a:xfrm>
            <a:off x="411480" y="5669280"/>
            <a:ext cx="11338560" cy="640080"/>
          </a:xfrm>
          <a:prstGeom prst="rect">
            <a:avLst/>
          </a:prstGeom>
          <a:noFill/>
        </p:spPr>
        <p:txBody>
          <a:bodyPr wrap="square" lIns="45720" rIns="45720" tIns="27432" bIns="27432" anchor="t">
            <a:spAutoFit/>
          </a:bodyPr>
          <a:lstStyle/>
          <a:p>
            <a:pPr algn="l">
              <a:lnSpc>
                <a:spcPct val="105000"/>
              </a:lnSpc>
            </a:pPr>
            <a:r>
              <a:rPr sz="1300" b="0" i="0">
                <a:solidFill>
                  <a:srgbClr val="1C2433"/>
                </a:solidFill>
                <a:latin typeface="Calibri"/>
              </a:rPr>
              <a:t>Refused by name, never read wrongly: format version 3, encrypted tables, ORC and Avro data files, unknown types, S3 remote signing.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Two engines: native and library</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34</a:t>
            </a:r>
          </a:p>
        </p:txBody>
      </p:sp>
      <p:graphicFrame>
        <p:nvGraphicFramePr>
          <p:cNvPr id="10" name="Table 9"/>
          <p:cNvGraphicFramePr>
            <a:graphicFrameLocks noGrp="1"/>
          </p:cNvGraphicFramePr>
          <p:nvPr/>
        </p:nvGraphicFramePr>
        <p:xfrm>
          <a:off x="411480" y="1143000"/>
          <a:ext cx="11365992" cy="1870859"/>
        </p:xfrm>
        <a:graphic>
          <a:graphicData uri="http://schemas.openxmlformats.org/drawingml/2006/table">
            <a:tbl>
              <a:tblPr firstRow="1" bandRow="1">
                <a:tableStyleId>{5940675A-B579-460E-94D1-54222C63F5DA}</a:tableStyleId>
              </a:tblPr>
              <a:tblGrid>
                <a:gridCol w="1737360"/>
                <a:gridCol w="3017520"/>
                <a:gridCol w="4023360"/>
                <a:gridCol w="2587752"/>
              </a:tblGrid>
              <a:tr h="416654">
                <a:tc>
                  <a:txBody>
                    <a:bodyPr wrap="square"/>
                    <a:lstStyle/>
                    <a:p>
                      <a:pPr algn="l">
                        <a:lnSpc>
                          <a:spcPct val="100000"/>
                        </a:lnSpc>
                      </a:pPr>
                      <a:r>
                        <a:rPr sz="1200" b="1" i="0">
                          <a:solidFill>
                            <a:srgbClr val="FFFFFF"/>
                          </a:solidFill>
                          <a:latin typeface="Calibri"/>
                        </a:rPr>
                        <a:t>engine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What reads and writes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Reaches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Use it for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620897">
                <a:tc>
                  <a:txBody>
                    <a:bodyPr wrap="square"/>
                    <a:lstStyle/>
                    <a:p>
                      <a:pPr algn="l">
                        <a:lnSpc>
                          <a:spcPct val="100000"/>
                        </a:lnSpc>
                      </a:pPr>
                      <a:r>
                        <a:rPr sz="1100" b="1" i="0">
                          <a:solidFill>
                            <a:srgbClr val="0E7C86"/>
                          </a:solidFill>
                          <a:latin typeface="Consolas"/>
                        </a:rPr>
                        <a:t>native</a:t>
                      </a:r>
                      <a:r>
                        <a:rPr sz="1200" b="1" i="0">
                          <a:solidFill>
                            <a:srgbClr val="1C2433"/>
                          </a:solidFill>
                          <a:latin typeface="Calibri"/>
                        </a:rPr>
                        <a:t> (default)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drishti-iceberg, no Hadoop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local disk (Windows too), </a:t>
                      </a:r>
                      <a:r>
                        <a:rPr sz="1100" b="0" i="0">
                          <a:solidFill>
                            <a:srgbClr val="0E7C86"/>
                          </a:solidFill>
                          <a:latin typeface="Consolas"/>
                        </a:rPr>
                        <a:t>s3://</a:t>
                      </a:r>
                      <a:r>
                        <a:rPr sz="1200" b="0" i="0">
                          <a:solidFill>
                            <a:srgbClr val="1C2433"/>
                          </a:solidFill>
                          <a:latin typeface="Calibri"/>
                        </a:rPr>
                        <a:t>, </a:t>
                      </a:r>
                      <a:r>
                        <a:rPr sz="1100" b="0" i="0">
                          <a:solidFill>
                            <a:srgbClr val="0E7C86"/>
                          </a:solidFill>
                          <a:latin typeface="Consolas"/>
                        </a:rPr>
                        <a:t>s3a://</a:t>
                      </a:r>
                      <a:r>
                        <a:rPr sz="1200" b="0" i="0">
                          <a:solidFill>
                            <a:srgbClr val="1C2433"/>
                          </a:solidFill>
                          <a:latin typeface="Calibri"/>
                        </a:rPr>
                        <a:t>; path, named metadata, REST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everything on disk and S3; Windows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16654">
                <a:tc>
                  <a:txBody>
                    <a:bodyPr wrap="square"/>
                    <a:lstStyle/>
                    <a:p>
                      <a:pPr algn="l">
                        <a:lnSpc>
                          <a:spcPct val="100000"/>
                        </a:lnSpc>
                      </a:pPr>
                      <a:r>
                        <a:rPr sz="1100" b="1" i="0">
                          <a:solidFill>
                            <a:srgbClr val="0E7C86"/>
                          </a:solidFill>
                          <a:latin typeface="Consolas"/>
                        </a:rPr>
                        <a:t>library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Apache Iceberg Java 1.10.1 over Hadoop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above plus </a:t>
                      </a:r>
                      <a:r>
                        <a:rPr sz="1100" b="0" i="0">
                          <a:solidFill>
                            <a:srgbClr val="0E7C86"/>
                          </a:solidFill>
                          <a:latin typeface="Consolas"/>
                        </a:rPr>
                        <a:t>abfs://</a:t>
                      </a:r>
                      <a:r>
                        <a:rPr sz="1200" b="0" i="0">
                          <a:solidFill>
                            <a:srgbClr val="1C2433"/>
                          </a:solidFill>
                          <a:latin typeface="Calibri"/>
                        </a:rPr>
                        <a:t>, </a:t>
                      </a:r>
                      <a:r>
                        <a:rPr sz="1100" b="0" i="0">
                          <a:solidFill>
                            <a:srgbClr val="0E7C86"/>
                          </a:solidFill>
                          <a:latin typeface="Consolas"/>
                        </a:rPr>
                        <a:t>gs://</a:t>
                      </a:r>
                      <a:r>
                        <a:rPr sz="1200" b="0" i="0">
                          <a:solidFill>
                            <a:srgbClr val="1C2433"/>
                          </a:solidFill>
                          <a:latin typeface="Calibri"/>
                        </a:rPr>
                        <a:t>, </a:t>
                      </a:r>
                      <a:r>
                        <a:rPr sz="1100" b="0" i="0">
                          <a:solidFill>
                            <a:srgbClr val="0E7C86"/>
                          </a:solidFill>
                          <a:latin typeface="Consolas"/>
                        </a:rPr>
                        <a:t>hdfs://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Azure, GCS, HDFS; a fallback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16654">
                <a:tc>
                  <a:txBody>
                    <a:bodyPr wrap="square"/>
                    <a:lstStyle/>
                    <a:p>
                      <a:pPr algn="l">
                        <a:lnSpc>
                          <a:spcPct val="100000"/>
                        </a:lnSpc>
                      </a:pPr>
                      <a:r>
                        <a:rPr sz="1100" b="1" i="0">
                          <a:solidFill>
                            <a:srgbClr val="0E7C86"/>
                          </a:solidFill>
                          <a:latin typeface="Consolas"/>
                        </a:rPr>
                        <a:t>auto</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native on Windows, library elsewhere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keeping the library on Linux</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graphicFrame>
        <p:nvGraphicFramePr>
          <p:cNvPr id="11" name="Table 10"/>
          <p:cNvGraphicFramePr>
            <a:graphicFrameLocks noGrp="1"/>
          </p:cNvGraphicFramePr>
          <p:nvPr/>
        </p:nvGraphicFramePr>
        <p:xfrm>
          <a:off x="411480" y="3337560"/>
          <a:ext cx="6766560" cy="2611524"/>
        </p:xfrm>
        <a:graphic>
          <a:graphicData uri="http://schemas.openxmlformats.org/drawingml/2006/table">
            <a:tbl>
              <a:tblPr firstRow="1" bandRow="1">
                <a:tableStyleId>{5940675A-B579-460E-94D1-54222C63F5DA}</a:tableStyleId>
              </a:tblPr>
              <a:tblGrid>
                <a:gridCol w="3840480"/>
                <a:gridCol w="1463040"/>
                <a:gridCol w="1463040"/>
              </a:tblGrid>
              <a:tr h="435254">
                <a:tc>
                  <a:txBody>
                    <a:bodyPr wrap="square"/>
                    <a:lstStyle/>
                    <a:p>
                      <a:pPr algn="l">
                        <a:lnSpc>
                          <a:spcPct val="100000"/>
                        </a:lnSpc>
                      </a:pPr>
                      <a:r>
                        <a:rPr sz="1200" b="1" i="0">
                          <a:solidFill>
                            <a:srgbClr val="FFFFFF"/>
                          </a:solidFill>
                          <a:latin typeface="Calibri"/>
                        </a:rPr>
                        <a:t>Measured (10,000 trades × 3 days)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native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library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35254">
                <a:tc>
                  <a:txBody>
                    <a:bodyPr wrap="square"/>
                    <a:lstStyle/>
                    <a:p>
                      <a:pPr algn="l">
                        <a:lnSpc>
                          <a:spcPct val="100000"/>
                        </a:lnSpc>
                      </a:pPr>
                      <a:r>
                        <a:rPr sz="1200" b="1" i="0">
                          <a:solidFill>
                            <a:srgbClr val="1C2433"/>
                          </a:solidFill>
                          <a:latin typeface="Calibri"/>
                        </a:rPr>
                        <a:t>load (30,000 rows)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22.7 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25.7 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connector start (plan, type-ahead)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637 ms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1,848 ms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first trade (cold: id map, footer)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212 ms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288 ms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one trade, document cache emptied: median / p95</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54 / 111 ms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75 / 144 ms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a trade on a past date (day not yet read)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94 ms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353 ms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
        <p:nvSpPr>
          <p:cNvPr id="12" name="Rounded Rectangle 11"/>
          <p:cNvSpPr/>
          <p:nvPr/>
        </p:nvSpPr>
        <p:spPr>
          <a:xfrm>
            <a:off x="7498079" y="3337560"/>
            <a:ext cx="4279392" cy="2514600"/>
          </a:xfrm>
          <a:prstGeom prst="roundRect">
            <a:avLst>
              <a:gd name="adj" fmla="val 6000"/>
            </a:avLst>
          </a:prstGeom>
          <a:solidFill>
            <a:srgbClr val="E8F4F5"/>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ectangle 12"/>
          <p:cNvSpPr/>
          <p:nvPr/>
        </p:nvSpPr>
        <p:spPr>
          <a:xfrm>
            <a:off x="7498079" y="3337560"/>
            <a:ext cx="82296" cy="25146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7726679" y="3392424"/>
            <a:ext cx="3913631" cy="2404872"/>
          </a:xfrm>
          <a:prstGeom prst="rect">
            <a:avLst/>
          </a:prstGeom>
          <a:noFill/>
        </p:spPr>
        <p:txBody>
          <a:bodyPr wrap="square" lIns="45720" rIns="45720" tIns="27432" bIns="27432" anchor="ctr">
            <a:spAutoFit/>
          </a:bodyPr>
          <a:lstStyle/>
          <a:p>
            <a:pPr algn="l">
              <a:lnSpc>
                <a:spcPct val="105000"/>
              </a:lnSpc>
            </a:pPr>
            <a:r>
              <a:rPr sz="1250" b="1" i="0">
                <a:solidFill>
                  <a:srgbClr val="1C2433"/>
                </a:solidFill>
                <a:latin typeface="Calibri"/>
              </a:rPr>
              <a:t>Why native is faster on first reads:</a:t>
            </a:r>
            <a:r>
              <a:rPr sz="1250" b="0" i="0">
                <a:solidFill>
                  <a:srgbClr val="1C2433"/>
                </a:solidFill>
                <a:latin typeface="Calibri"/>
              </a:rPr>
              <a:t> each Parquet footer, manifest and delete file is read once and kept (data files never change). The library re-reads the footer on every single-entity read.</a:t>
            </a:r>
          </a:p>
          <a:p>
            <a:pPr algn="l">
              <a:lnSpc>
                <a:spcPct val="105000"/>
              </a:lnSpc>
            </a:pPr>
            <a:r>
              <a:rPr sz="1250" b="0" i="0">
                <a:solidFill>
                  <a:srgbClr val="1C2433"/>
                </a:solidFill>
                <a:latin typeface="Calibri"/>
              </a:rPr>
              <a:t>Caches: footers 50,000 row groups (shared with Delta), manifests 2,000,000 entries, delete rows 5,000,000.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Two connectors: Drishti's tables and anyone's tables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35</a:t>
            </a:r>
          </a:p>
        </p:txBody>
      </p:sp>
      <p:graphicFrame>
        <p:nvGraphicFramePr>
          <p:cNvPr id="10" name="Table 9"/>
          <p:cNvGraphicFramePr>
            <a:graphicFrameLocks noGrp="1"/>
          </p:cNvGraphicFramePr>
          <p:nvPr/>
        </p:nvGraphicFramePr>
        <p:xfrm>
          <a:off x="411480" y="1143000"/>
          <a:ext cx="11365992" cy="4344006"/>
        </p:xfrm>
        <a:graphic>
          <a:graphicData uri="http://schemas.openxmlformats.org/drawingml/2006/table">
            <a:tbl>
              <a:tblPr firstRow="1" bandRow="1">
                <a:tableStyleId>{5940675A-B579-460E-94D1-54222C63F5DA}</a:tableStyleId>
              </a:tblPr>
              <a:tblGrid>
                <a:gridCol w="1828800"/>
                <a:gridCol w="4114800"/>
                <a:gridCol w="5422392"/>
              </a:tblGrid>
              <a:tr h="435254">
                <a:tc>
                  <a:txBody>
                    <a:bodyPr wrap="square"/>
                    <a:lstStyle/>
                    <a:p>
                      <a:pPr algn="l">
                        <a:lnSpc>
                          <a:spcPct val="100000"/>
                        </a:lnSpc>
                      </a:pP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00" b="1" i="0">
                          <a:solidFill>
                            <a:srgbClr val="C9D3E3"/>
                          </a:solidFill>
                          <a:latin typeface="Consolas"/>
                        </a:rPr>
                        <a:t>iceberg</a:t>
                      </a:r>
                      <a:r>
                        <a:rPr sz="1200" b="1" i="0">
                          <a:solidFill>
                            <a:srgbClr val="FFFFFF"/>
                          </a:solidFill>
                          <a:latin typeface="Calibri"/>
                        </a:rPr>
                        <a:t> (Drishti's tables)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00" b="1" i="0">
                          <a:solidFill>
                            <a:srgbClr val="C9D3E3"/>
                          </a:solidFill>
                          <a:latin typeface="Consolas"/>
                        </a:rPr>
                        <a:t>iceberg-external</a:t>
                      </a:r>
                      <a:r>
                        <a:rPr sz="1200" b="1" i="0">
                          <a:solidFill>
                            <a:srgbClr val="FFFFFF"/>
                          </a:solidFill>
                          <a:latin typeface="Calibri"/>
                        </a:rPr>
                        <a:t> (anyone's tables)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35254">
                <a:tc>
                  <a:txBody>
                    <a:bodyPr wrap="square"/>
                    <a:lstStyle/>
                    <a:p>
                      <a:pPr algn="l">
                        <a:lnSpc>
                          <a:spcPct val="100000"/>
                        </a:lnSpc>
                      </a:pPr>
                      <a:r>
                        <a:rPr sz="1200" b="1" i="0">
                          <a:solidFill>
                            <a:srgbClr val="1C2433"/>
                          </a:solidFill>
                          <a:latin typeface="Calibri"/>
                        </a:rPr>
                        <a:t>Written by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00" b="0" i="0">
                          <a:solidFill>
                            <a:srgbClr val="0E7C86"/>
                          </a:solidFill>
                          <a:latin typeface="Consolas"/>
                        </a:rPr>
                        <a:t>IcebergLoader</a:t>
                      </a:r>
                      <a:r>
                        <a:rPr sz="1200" b="0" i="0">
                          <a:solidFill>
                            <a:srgbClr val="1C2433"/>
                          </a:solidFill>
                          <a:latin typeface="Calibri"/>
                        </a:rPr>
                        <a:t> in Drishti's layout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Spark, Flink, Trino, Snowflake, Glue, dbt, pyiceberg, any layout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The document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a:t>
                      </a:r>
                      <a:r>
                        <a:rPr sz="1100" b="0" i="0">
                          <a:solidFill>
                            <a:srgbClr val="0E7C86"/>
                          </a:solidFill>
                          <a:latin typeface="Consolas"/>
                        </a:rPr>
                        <a:t>doc</a:t>
                      </a:r>
                      <a:r>
                        <a:rPr sz="1200" b="0" i="0">
                          <a:solidFill>
                            <a:srgbClr val="1C2433"/>
                          </a:solidFill>
                          <a:latin typeface="Calibri"/>
                        </a:rPr>
                        <a:t> column, exactly as loaded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1C2433"/>
                          </a:solidFill>
                          <a:latin typeface="Calibri"/>
                        </a:rPr>
                        <a:t>the row</a:t>
                      </a:r>
                      <a:r>
                        <a:rPr sz="1200" b="0" i="0">
                          <a:solidFill>
                            <a:srgbClr val="1C2433"/>
                          </a:solidFill>
                          <a:latin typeface="Calibri"/>
                        </a:rPr>
                        <a:t> as JSON (structs, lists, maps), or a JSON column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The id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a:t>
                      </a:r>
                      <a:r>
                        <a:rPr sz="1100" b="0" i="0">
                          <a:solidFill>
                            <a:srgbClr val="0E7C86"/>
                          </a:solidFill>
                          <a:latin typeface="Consolas"/>
                        </a:rPr>
                        <a:t>id</a:t>
                      </a:r>
                      <a:r>
                        <a:rPr sz="1200" b="0" i="0">
                          <a:solidFill>
                            <a:srgbClr val="1C2433"/>
                          </a:solidFill>
                          <a:latin typeface="Calibri"/>
                        </a:rPr>
                        <a:t> column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one or several columns; by default the table's </a:t>
                      </a:r>
                      <a:r>
                        <a:rPr sz="1200" b="1" i="0">
                          <a:solidFill>
                            <a:srgbClr val="1C2433"/>
                          </a:solidFill>
                          <a:latin typeface="Calibri"/>
                        </a:rPr>
                        <a:t>identifier fields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8614">
                <a:tc>
                  <a:txBody>
                    <a:bodyPr wrap="square"/>
                    <a:lstStyle/>
                    <a:p>
                      <a:pPr algn="l">
                        <a:lnSpc>
                          <a:spcPct val="100000"/>
                        </a:lnSpc>
                      </a:pPr>
                      <a:r>
                        <a:rPr sz="1200" b="1" i="0">
                          <a:solidFill>
                            <a:srgbClr val="1C2433"/>
                          </a:solidFill>
                          <a:latin typeface="Calibri"/>
                        </a:rPr>
                        <a:t>The business date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00" b="0" i="0">
                          <a:solidFill>
                            <a:srgbClr val="0E7C86"/>
                          </a:solidFill>
                          <a:latin typeface="Consolas"/>
                        </a:rPr>
                        <a:t>business_date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 date column, a timestamp's day in a zone, the partition spec's date; or current only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Searchable fields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promoted columns the pack declares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1C2433"/>
                          </a:solidFill>
                          <a:latin typeface="Calibri"/>
                        </a:rPr>
                        <a:t>every primitive column</a:t>
                      </a:r>
                      <a:r>
                        <a:rPr sz="1200" b="0" i="0">
                          <a:solidFill>
                            <a:srgbClr val="1C2433"/>
                          </a:solidFill>
                          <a:latin typeface="Calibri"/>
                        </a:rPr>
                        <a:t> (nested to depth 2)</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8614">
                <a:tc>
                  <a:txBody>
                    <a:bodyPr wrap="square"/>
                    <a:lstStyle/>
                    <a:p>
                      <a:pPr algn="l">
                        <a:lnSpc>
                          <a:spcPct val="100000"/>
                        </a:lnSpc>
                      </a:pPr>
                      <a:r>
                        <a:rPr sz="1200" b="1" i="0">
                          <a:solidFill>
                            <a:srgbClr val="1C2433"/>
                          </a:solidFill>
                          <a:latin typeface="Calibri"/>
                        </a:rPr>
                        <a:t>One entity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id map: one row group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sorted or bucketed by id: one row group; unsorted: an </a:t>
                      </a:r>
                      <a:r>
                        <a:rPr sz="1200" b="1" i="0">
                          <a:solidFill>
                            <a:srgbClr val="1C2433"/>
                          </a:solidFill>
                          <a:latin typeface="Calibri"/>
                        </a:rPr>
                        <a:t>id index</a:t>
                      </a:r>
                      <a:r>
                        <a:rPr sz="1200" b="0" i="0">
                          <a:solidFill>
                            <a:srgbClr val="1C2433"/>
                          </a:solidFill>
                          <a:latin typeface="Calibri"/>
                        </a:rPr>
                        <a:t> built on first use per day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Writes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loader and maintenance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1C2433"/>
                          </a:solidFill>
                          <a:latin typeface="Calibri"/>
                        </a:rPr>
                        <a:t>never</a:t>
                      </a:r>
                      <a:r>
                        <a:rPr sz="1200" b="0" i="0">
                          <a:solidFill>
                            <a:srgbClr val="1C2433"/>
                          </a:solidFill>
                          <a:latin typeface="Calibri"/>
                        </a:rPr>
                        <a:t>: the owners' engines maintain the tables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Deletes, time travel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position and equality deletes applied; </a:t>
                      </a:r>
                      <a:r>
                        <a:rPr sz="1200" b="0" i="1">
                          <a:solidFill>
                            <a:srgbClr val="1C2433"/>
                          </a:solidFill>
                          <a:latin typeface="Calibri"/>
                        </a:rPr>
                        <a:t>known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same; branches and tags not read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Catalogs: what Drishti supports today</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36</a:t>
            </a:r>
          </a:p>
        </p:txBody>
      </p:sp>
      <p:graphicFrame>
        <p:nvGraphicFramePr>
          <p:cNvPr id="10" name="Table 9"/>
          <p:cNvGraphicFramePr>
            <a:graphicFrameLocks noGrp="1"/>
          </p:cNvGraphicFramePr>
          <p:nvPr/>
        </p:nvGraphicFramePr>
        <p:xfrm>
          <a:off x="411480" y="1143000"/>
          <a:ext cx="11365992" cy="3911798"/>
        </p:xfrm>
        <a:graphic>
          <a:graphicData uri="http://schemas.openxmlformats.org/drawingml/2006/table">
            <a:tbl>
              <a:tblPr firstRow="1" bandRow="1">
                <a:tableStyleId>{5940675A-B579-460E-94D1-54222C63F5DA}</a:tableStyleId>
              </a:tblPr>
              <a:tblGrid>
                <a:gridCol w="3154680"/>
                <a:gridCol w="4343400"/>
                <a:gridCol w="1325880"/>
                <a:gridCol w="2542032"/>
              </a:tblGrid>
              <a:tr h="367576">
                <a:tc>
                  <a:txBody>
                    <a:bodyPr wrap="square"/>
                    <a:lstStyle/>
                    <a:p>
                      <a:pPr algn="l">
                        <a:lnSpc>
                          <a:spcPct val="100000"/>
                        </a:lnSpc>
                      </a:pPr>
                      <a:r>
                        <a:rPr sz="1150" b="1" i="0">
                          <a:solidFill>
                            <a:srgbClr val="FFFFFF"/>
                          </a:solidFill>
                          <a:latin typeface="Calibri"/>
                        </a:rPr>
                        <a:t>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How Drishti reaches 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Writes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Status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529441">
                <a:tc>
                  <a:txBody>
                    <a:bodyPr wrap="square"/>
                    <a:lstStyle/>
                    <a:p>
                      <a:pPr algn="l">
                        <a:lnSpc>
                          <a:spcPct val="100000"/>
                        </a:lnSpc>
                      </a:pPr>
                      <a:r>
                        <a:rPr sz="1150" b="1" i="0">
                          <a:solidFill>
                            <a:srgbClr val="1C2433"/>
                          </a:solidFill>
                          <a:latin typeface="Calibri"/>
                        </a:rPr>
                        <a:t>Path-based (</a:t>
                      </a:r>
                      <a:r>
                        <a:rPr sz="1050" b="1" i="0">
                          <a:solidFill>
                            <a:srgbClr val="0E7C86"/>
                          </a:solidFill>
                          <a:latin typeface="Consolas"/>
                        </a:rPr>
                        <a:t>catalog: hadoop</a:t>
                      </a:r>
                      <a:r>
                        <a:rPr sz="1150" b="1" i="0">
                          <a:solidFill>
                            <a:srgbClr val="1C2433"/>
                          </a:solidFill>
                          <a:latin typeface="Calibri"/>
                        </a:rPr>
                        <a:t>, the default)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050" b="0" i="0">
                          <a:solidFill>
                            <a:srgbClr val="0E7C86"/>
                          </a:solidFill>
                          <a:latin typeface="Consolas"/>
                        </a:rPr>
                        <a:t>&lt;root&gt;/&lt;domain&gt;/&lt;table&gt;/metadata/version-hint.text</a:t>
                      </a:r>
                      <a:r>
                        <a:rPr sz="1150" b="0" i="0">
                          <a:solidFill>
                            <a:srgbClr val="1C2433"/>
                          </a:solidFill>
                          <a:latin typeface="Calibri"/>
                        </a:rPr>
                        <a:t>; root a folder or </a:t>
                      </a:r>
                      <a:r>
                        <a:rPr sz="1050" b="0" i="0">
                          <a:solidFill>
                            <a:srgbClr val="0E7C86"/>
                          </a:solidFill>
                          <a:latin typeface="Consolas"/>
                        </a:rPr>
                        <a:t>s3://</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loader and maintenance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67576">
                <a:tc>
                  <a:txBody>
                    <a:bodyPr wrap="square"/>
                    <a:lstStyle/>
                    <a:p>
                      <a:pPr algn="l">
                        <a:lnSpc>
                          <a:spcPct val="100000"/>
                        </a:lnSpc>
                      </a:pPr>
                      <a:r>
                        <a:rPr sz="1150" b="1" i="0">
                          <a:solidFill>
                            <a:srgbClr val="1C2433"/>
                          </a:solidFill>
                          <a:latin typeface="Calibri"/>
                        </a:rPr>
                        <a:t>A metadata file named directly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050" b="0" i="0">
                          <a:solidFill>
                            <a:srgbClr val="0E7C86"/>
                          </a:solidFill>
                          <a:latin typeface="Consolas"/>
                        </a:rPr>
                        <a:t>metadata-location.&lt;kind&gt;: s3://…/v12.metadata.json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read-only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29441">
                <a:tc>
                  <a:txBody>
                    <a:bodyPr wrap="square"/>
                    <a:lstStyle/>
                    <a:p>
                      <a:pPr algn="l">
                        <a:lnSpc>
                          <a:spcPct val="100000"/>
                        </a:lnSpc>
                      </a:pPr>
                      <a:r>
                        <a:rPr sz="1150" b="1" i="0">
                          <a:solidFill>
                            <a:srgbClr val="1C2433"/>
                          </a:solidFill>
                          <a:latin typeface="Calibri"/>
                        </a:rPr>
                        <a:t>REST: Polaris, Snowflake Open Catalog, Nessie, Lakekeeper, Unity, Gravitino</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050" b="0" i="0">
                          <a:solidFill>
                            <a:srgbClr val="0E7C86"/>
                          </a:solidFill>
                          <a:latin typeface="Consolas"/>
                        </a:rPr>
                        <a:t>catalog: rest</a:t>
                      </a:r>
                      <a:r>
                        <a:rPr sz="1150" b="0" i="0">
                          <a:solidFill>
                            <a:srgbClr val="1C2433"/>
                          </a:solidFill>
                          <a:latin typeface="Calibri"/>
                        </a:rPr>
                        <a:t>, </a:t>
                      </a:r>
                      <a:r>
                        <a:rPr sz="1050" b="0" i="0">
                          <a:solidFill>
                            <a:srgbClr val="0E7C86"/>
                          </a:solidFill>
                          <a:latin typeface="Consolas"/>
                        </a:rPr>
                        <a:t>uri</a:t>
                      </a:r>
                      <a:r>
                        <a:rPr sz="1150" b="0" i="0">
                          <a:solidFill>
                            <a:srgbClr val="1C2433"/>
                          </a:solidFill>
                          <a:latin typeface="Calibri"/>
                        </a:rPr>
                        <a:t>, </a:t>
                      </a:r>
                      <a:r>
                        <a:rPr sz="1050" b="0" i="0">
                          <a:solidFill>
                            <a:srgbClr val="0E7C86"/>
                          </a:solidFill>
                          <a:latin typeface="Consolas"/>
                        </a:rPr>
                        <a:t>warehouse</a:t>
                      </a:r>
                      <a:r>
                        <a:rPr sz="1150" b="0" i="0">
                          <a:solidFill>
                            <a:srgbClr val="1C2433"/>
                          </a:solidFill>
                          <a:latin typeface="Calibri"/>
                        </a:rPr>
                        <a:t>, OAuth2 </a:t>
                      </a:r>
                      <a:r>
                        <a:rPr sz="1050" b="0" i="0">
                          <a:solidFill>
                            <a:srgbClr val="0E7C86"/>
                          </a:solidFill>
                          <a:latin typeface="Consolas"/>
                        </a:rPr>
                        <a:t>credential</a:t>
                      </a:r>
                      <a:r>
                        <a:rPr sz="1150" b="0" i="0">
                          <a:solidFill>
                            <a:srgbClr val="1C2433"/>
                          </a:solidFill>
                          <a:latin typeface="Calibri"/>
                        </a:rPr>
                        <a:t> or </a:t>
                      </a:r>
                      <a:r>
                        <a:rPr sz="1050" b="0" i="0">
                          <a:solidFill>
                            <a:srgbClr val="0E7C86"/>
                          </a:solidFill>
                          <a:latin typeface="Consolas"/>
                        </a:rPr>
                        <a:t>token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commits with requirements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29441">
                <a:tc>
                  <a:txBody>
                    <a:bodyPr wrap="square"/>
                    <a:lstStyle/>
                    <a:p>
                      <a:pPr algn="l">
                        <a:lnSpc>
                          <a:spcPct val="100000"/>
                        </a:lnSpc>
                      </a:pPr>
                      <a:r>
                        <a:rPr sz="1150" b="1" i="0">
                          <a:solidFill>
                            <a:srgbClr val="1C2433"/>
                          </a:solidFill>
                          <a:latin typeface="Calibri"/>
                        </a:rPr>
                        <a:t>AWS Glue Data Catalog, through Glue's Iceberg REST endpoint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050" b="0" i="0">
                          <a:solidFill>
                            <a:srgbClr val="0E7C86"/>
                          </a:solidFill>
                          <a:latin typeface="Consolas"/>
                        </a:rPr>
                        <a:t>uri: https://glue.&lt;region&gt;.amazonaws.com/iceberg</a:t>
                      </a:r>
                      <a:r>
                        <a:rPr sz="1150" b="0" i="0">
                          <a:solidFill>
                            <a:srgbClr val="1C2433"/>
                          </a:solidFill>
                          <a:latin typeface="Calibri"/>
                        </a:rPr>
                        <a:t>, SigV4 </a:t>
                      </a:r>
                      <a:r>
                        <a:rPr sz="1050" b="0" i="0">
                          <a:solidFill>
                            <a:srgbClr val="0E7C86"/>
                          </a:solidFill>
                          <a:latin typeface="Consolas"/>
                        </a:rPr>
                        <a:t>signing-name: glue</a:t>
                      </a:r>
                      <a:r>
                        <a:rPr sz="1150" b="0" i="0">
                          <a:solidFill>
                            <a:srgbClr val="1C2433"/>
                          </a:solidFill>
                          <a:latin typeface="Calibri"/>
                        </a:rPr>
                        <a:t>; </a:t>
                      </a:r>
                      <a:r>
                        <a:rPr sz="1050" b="0" i="0">
                          <a:solidFill>
                            <a:srgbClr val="0E7C86"/>
                          </a:solidFill>
                          <a:latin typeface="Consolas"/>
                        </a:rPr>
                        <a:t>check-glue.sh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as REST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1" i="0">
                          <a:solidFill>
                            <a:srgbClr val="5B677A"/>
                          </a:solidFill>
                          <a:latin typeface="Calibri"/>
                        </a:rPr>
                        <a:t>NOT RUN</a:t>
                      </a:r>
                      <a:r>
                        <a:rPr sz="1150" b="0" i="0">
                          <a:solidFill>
                            <a:srgbClr val="1C2433"/>
                          </a:solidFill>
                          <a:latin typeface="Calibri"/>
                        </a:rPr>
                        <a:t> on AWS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29441">
                <a:tc>
                  <a:txBody>
                    <a:bodyPr wrap="square"/>
                    <a:lstStyle/>
                    <a:p>
                      <a:pPr algn="l">
                        <a:lnSpc>
                          <a:spcPct val="100000"/>
                        </a:lnSpc>
                      </a:pPr>
                      <a:r>
                        <a:rPr sz="1150" b="1" i="0">
                          <a:solidFill>
                            <a:srgbClr val="1C2433"/>
                          </a:solidFill>
                          <a:latin typeface="Calibri"/>
                        </a:rPr>
                        <a:t>Amazon S3 Tables (table buckets)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its Iceberg REST endpoint, SigV4 </a:t>
                      </a:r>
                      <a:r>
                        <a:rPr sz="1050" b="0" i="0">
                          <a:solidFill>
                            <a:srgbClr val="0E7C86"/>
                          </a:solidFill>
                          <a:latin typeface="Consolas"/>
                        </a:rPr>
                        <a:t>signing-name: s3tables</a:t>
                      </a:r>
                      <a:r>
                        <a:rPr sz="1150" b="0" i="0">
                          <a:solidFill>
                            <a:srgbClr val="1C2433"/>
                          </a:solidFill>
                          <a:latin typeface="Calibri"/>
                        </a:rPr>
                        <a:t>; </a:t>
                      </a:r>
                      <a:r>
                        <a:rPr sz="1050" b="0" i="0">
                          <a:solidFill>
                            <a:srgbClr val="0E7C86"/>
                          </a:solidFill>
                          <a:latin typeface="Consolas"/>
                        </a:rPr>
                        <a:t>check-glue.sh --s3-tables ARN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as REST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1" i="0">
                          <a:solidFill>
                            <a:srgbClr val="5B677A"/>
                          </a:solidFill>
                          <a:latin typeface="Calibri"/>
                        </a:rPr>
                        <a:t>NOT RUN</a:t>
                      </a:r>
                      <a:r>
                        <a:rPr sz="1150" b="0" i="0">
                          <a:solidFill>
                            <a:srgbClr val="1C2433"/>
                          </a:solidFill>
                          <a:latin typeface="Calibri"/>
                        </a:rPr>
                        <a:t> on AWS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29441">
                <a:tc>
                  <a:txBody>
                    <a:bodyPr wrap="square"/>
                    <a:lstStyle/>
                    <a:p>
                      <a:pPr algn="l">
                        <a:lnSpc>
                          <a:spcPct val="100000"/>
                        </a:lnSpc>
                      </a:pPr>
                      <a:r>
                        <a:rPr sz="1150" b="1" i="0">
                          <a:solidFill>
                            <a:srgbClr val="1C2433"/>
                          </a:solidFill>
                          <a:latin typeface="Calibri"/>
                        </a:rPr>
                        <a:t>The Glue and S3 Tables live runs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050" b="0" i="0">
                          <a:solidFill>
                            <a:srgbClr val="0E7C86"/>
                          </a:solidFill>
                          <a:latin typeface="Consolas"/>
                        </a:rPr>
                        <a:t>GlueLiveTest</a:t>
                      </a:r>
                      <a:r>
                        <a:rPr sz="1150" b="0" i="0">
                          <a:solidFill>
                            <a:srgbClr val="1C2433"/>
                          </a:solidFill>
                          <a:latin typeface="Calibri"/>
                        </a:rPr>
                        <a:t> with </a:t>
                      </a:r>
                      <a:r>
                        <a:rPr sz="1050" b="0" i="0">
                          <a:solidFill>
                            <a:srgbClr val="0E7C86"/>
                          </a:solidFill>
                          <a:latin typeface="Consolas"/>
                        </a:rPr>
                        <a:t>DRISHTI_GLUE_LIVE=1</a:t>
                      </a:r>
                      <a:r>
                        <a:rPr sz="1150" b="0" i="0">
                          <a:solidFill>
                            <a:srgbClr val="1C2433"/>
                          </a:solidFill>
                          <a:latin typeface="Calibri"/>
                        </a:rPr>
                        <a:t>, in the product owner's account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1" i="0">
                          <a:solidFill>
                            <a:srgbClr val="0B1E3B"/>
                          </a:solidFill>
                          <a:latin typeface="Calibri"/>
                        </a:rPr>
                        <a:t>PLANNED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29441">
                <a:tc>
                  <a:txBody>
                    <a:bodyPr wrap="square"/>
                    <a:lstStyle/>
                    <a:p>
                      <a:pPr algn="l">
                        <a:lnSpc>
                          <a:spcPct val="100000"/>
                        </a:lnSpc>
                      </a:pPr>
                      <a:r>
                        <a:rPr sz="1150" b="1" i="0">
                          <a:solidFill>
                            <a:srgbClr val="1C2433"/>
                          </a:solidFill>
                          <a:latin typeface="Calibri"/>
                        </a:rPr>
                        <a:t>AWS Glue Data Catalog API (GetTable, UpdateTable); Hive metastore, JDBC</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not needed: Glue's REST endpoint; others behind a REST 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via REST only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
        <p:nvSpPr>
          <p:cNvPr id="11" name="Rounded Rectangle 10"/>
          <p:cNvSpPr/>
          <p:nvPr/>
        </p:nvSpPr>
        <p:spPr>
          <a:xfrm>
            <a:off x="411480" y="5596128"/>
            <a:ext cx="11365992" cy="749808"/>
          </a:xfrm>
          <a:prstGeom prst="roundRect">
            <a:avLst>
              <a:gd name="adj" fmla="val 3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521208" y="5669280"/>
            <a:ext cx="11146536" cy="603503"/>
          </a:xfrm>
          <a:prstGeom prst="rect">
            <a:avLst/>
          </a:prstGeom>
          <a:noFill/>
        </p:spPr>
        <p:txBody>
          <a:bodyPr wrap="square" lIns="45720" rIns="45720" tIns="27432" bIns="27432" anchor="t">
            <a:spAutoFit/>
          </a:bodyPr>
          <a:lstStyle/>
          <a:p>
            <a:pPr algn="l">
              <a:lnSpc>
                <a:spcPct val="100000"/>
              </a:lnSpc>
            </a:pPr>
            <a:r>
              <a:rPr sz="1150" b="0" i="0">
                <a:solidFill>
                  <a:srgbClr val="E6EDF3"/>
                </a:solidFill>
                <a:latin typeface="Consolas"/>
              </a:rPr>
              <a:t>settings: { catalog: rest, uri: "https://glue.us-east-1.amazonaws.com/iceberg", warehouse: "&lt;account-id&gt;",</a:t>
            </a:r>
          </a:p>
          <a:p>
            <a:pPr algn="l">
              <a:lnSpc>
                <a:spcPct val="100000"/>
              </a:lnSpc>
            </a:pPr>
            <a:r>
              <a:rPr sz="1150" b="0" i="0">
                <a:solidFill>
                  <a:srgbClr val="E6EDF3"/>
                </a:solidFill>
                <a:latin typeface="Consolas"/>
              </a:rPr>
              <a:t>            catalog.rest.sigv4-enabled: "true", catalog.rest.signing-name: glue, catalog.rest.signing-region: us-east-1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catalog choice on AWS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37</a:t>
            </a:r>
          </a:p>
        </p:txBody>
      </p:sp>
      <p:sp>
        <p:nvSpPr>
          <p:cNvPr id="10" name="Rounded Rectangle 9"/>
          <p:cNvSpPr/>
          <p:nvPr/>
        </p:nvSpPr>
        <p:spPr>
          <a:xfrm>
            <a:off x="411480" y="1188720"/>
            <a:ext cx="3666744" cy="3794760"/>
          </a:xfrm>
          <a:prstGeom prst="roundRect">
            <a:avLst>
              <a:gd name="adj" fmla="val 5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48640" y="1261872"/>
            <a:ext cx="2295144" cy="68580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Path-based tables in S3</a:t>
            </a:r>
          </a:p>
        </p:txBody>
      </p:sp>
      <p:sp>
        <p:nvSpPr>
          <p:cNvPr id="12" name="TextBox 11"/>
          <p:cNvSpPr txBox="1"/>
          <p:nvPr/>
        </p:nvSpPr>
        <p:spPr>
          <a:xfrm>
            <a:off x="548640" y="2011680"/>
            <a:ext cx="3392424" cy="2926080"/>
          </a:xfrm>
          <a:prstGeom prst="rect">
            <a:avLst/>
          </a:prstGeom>
          <a:noFill/>
        </p:spPr>
        <p:txBody>
          <a:bodyPr wrap="square" lIns="45720" rIns="45720" tIns="27432" bIns="27432" anchor="t">
            <a:spAutoFit/>
          </a:bodyPr>
          <a:lstStyle/>
          <a:p>
            <a:pPr algn="l">
              <a:lnSpc>
                <a:spcPct val="105000"/>
              </a:lnSpc>
              <a:spcAft>
                <a:spcPts val="600"/>
              </a:spcAft>
            </a:pPr>
            <a:r>
              <a:rPr sz="1250" b="0" i="0">
                <a:solidFill>
                  <a:srgbClr val="E87A1E"/>
                </a:solidFill>
                <a:latin typeface="Calibri"/>
              </a:rPr>
              <a:t>•  </a:t>
            </a:r>
            <a:r>
              <a:rPr sz="1250" b="0" i="0">
                <a:solidFill>
                  <a:srgbClr val="1C2433"/>
                </a:solidFill>
                <a:latin typeface="Calibri"/>
              </a:rPr>
              <a:t>no catalog service: </a:t>
            </a:r>
            <a:r>
              <a:rPr sz="1150" b="0" i="0">
                <a:solidFill>
                  <a:srgbClr val="0E7C86"/>
                </a:solidFill>
                <a:latin typeface="Consolas"/>
              </a:rPr>
              <a:t>metadata/version-hint.text</a:t>
            </a:r>
            <a:r>
              <a:rPr sz="1250" b="0" i="0">
                <a:solidFill>
                  <a:srgbClr val="1C2433"/>
                </a:solidFill>
                <a:latin typeface="Calibri"/>
              </a:rPr>
              <a:t> in the table folder</a:t>
            </a:r>
          </a:p>
          <a:p>
            <a:pPr algn="l">
              <a:lnSpc>
                <a:spcPct val="105000"/>
              </a:lnSpc>
              <a:spcAft>
                <a:spcPts val="600"/>
              </a:spcAft>
            </a:pPr>
            <a:r>
              <a:rPr sz="1250" b="0" i="0">
                <a:solidFill>
                  <a:srgbClr val="E87A1E"/>
                </a:solidFill>
                <a:latin typeface="Calibri"/>
              </a:rPr>
              <a:t>•  </a:t>
            </a:r>
            <a:r>
              <a:rPr sz="1250" b="0" i="0">
                <a:solidFill>
                  <a:srgbClr val="1C2433"/>
                </a:solidFill>
                <a:latin typeface="Calibri"/>
              </a:rPr>
              <a:t>commits: conditional PUT, probe at first commit</a:t>
            </a:r>
          </a:p>
          <a:p>
            <a:pPr algn="l">
              <a:lnSpc>
                <a:spcPct val="105000"/>
              </a:lnSpc>
              <a:spcAft>
                <a:spcPts val="600"/>
              </a:spcAft>
            </a:pPr>
            <a:r>
              <a:rPr sz="1250" b="0" i="0">
                <a:solidFill>
                  <a:srgbClr val="E87A1E"/>
                </a:solidFill>
                <a:latin typeface="Calibri"/>
              </a:rPr>
              <a:t>•  </a:t>
            </a:r>
            <a:r>
              <a:rPr sz="1250" b="0" i="0">
                <a:solidFill>
                  <a:srgbClr val="1C2433"/>
                </a:solidFill>
                <a:latin typeface="Calibri"/>
              </a:rPr>
              <a:t>other engines read by naming the metadata file, or after registering the table in Glue</a:t>
            </a:r>
          </a:p>
          <a:p>
            <a:pPr algn="l">
              <a:lnSpc>
                <a:spcPct val="105000"/>
              </a:lnSpc>
              <a:spcAft>
                <a:spcPts val="600"/>
              </a:spcAft>
            </a:pPr>
            <a:r>
              <a:rPr sz="1250" b="0" i="0">
                <a:solidFill>
                  <a:srgbClr val="E87A1E"/>
                </a:solidFill>
                <a:latin typeface="Calibri"/>
              </a:rPr>
              <a:t>•  </a:t>
            </a:r>
            <a:r>
              <a:rPr sz="1250" b="1" i="0">
                <a:solidFill>
                  <a:srgbClr val="1C2433"/>
                </a:solidFill>
                <a:latin typeface="Calibri"/>
              </a:rPr>
              <a:t>best when</a:t>
            </a:r>
            <a:r>
              <a:rPr sz="1250" b="0" i="0">
                <a:solidFill>
                  <a:srgbClr val="1C2433"/>
                </a:solidFill>
                <a:latin typeface="Calibri"/>
              </a:rPr>
              <a:t> only Drishti writes and Drishti reads</a:t>
            </a:r>
          </a:p>
        </p:txBody>
      </p:sp>
      <p:sp>
        <p:nvSpPr>
          <p:cNvPr id="13" name="Rounded Rectangle 12"/>
          <p:cNvSpPr/>
          <p:nvPr/>
        </p:nvSpPr>
        <p:spPr>
          <a:xfrm>
            <a:off x="4261104" y="1188720"/>
            <a:ext cx="3666744" cy="3794760"/>
          </a:xfrm>
          <a:prstGeom prst="roundRect">
            <a:avLst>
              <a:gd name="adj" fmla="val 5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4398264" y="1261872"/>
            <a:ext cx="2295144" cy="68580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AWS Glue Data Catalog (Iceberg REST endpoint)</a:t>
            </a:r>
          </a:p>
        </p:txBody>
      </p:sp>
      <p:sp>
        <p:nvSpPr>
          <p:cNvPr id="15" name="Rounded Rectangle 14"/>
          <p:cNvSpPr/>
          <p:nvPr/>
        </p:nvSpPr>
        <p:spPr>
          <a:xfrm>
            <a:off x="6739128" y="1325880"/>
            <a:ext cx="1051560" cy="246888"/>
          </a:xfrm>
          <a:prstGeom prst="roundRect">
            <a:avLst>
              <a:gd name="adj" fmla="val 50000"/>
            </a:avLst>
          </a:prstGeom>
          <a:solidFill>
            <a:srgbClr val="FFFFFF"/>
          </a:solidFill>
          <a:ln w="15875">
            <a:solidFill>
              <a:srgbClr val="B4231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B42318"/>
                </a:solidFill>
                <a:latin typeface="Calibri"/>
              </a:rPr>
              <a:t>NOT RUN</a:t>
            </a:r>
          </a:p>
        </p:txBody>
      </p:sp>
      <p:sp>
        <p:nvSpPr>
          <p:cNvPr id="16" name="TextBox 15"/>
          <p:cNvSpPr txBox="1"/>
          <p:nvPr/>
        </p:nvSpPr>
        <p:spPr>
          <a:xfrm>
            <a:off x="4398264" y="2011680"/>
            <a:ext cx="3392424" cy="2926080"/>
          </a:xfrm>
          <a:prstGeom prst="rect">
            <a:avLst/>
          </a:prstGeom>
          <a:noFill/>
        </p:spPr>
        <p:txBody>
          <a:bodyPr wrap="square" lIns="45720" rIns="45720" tIns="27432" bIns="27432" anchor="t">
            <a:spAutoFit/>
          </a:bodyPr>
          <a:lstStyle/>
          <a:p>
            <a:pPr algn="l">
              <a:lnSpc>
                <a:spcPct val="105000"/>
              </a:lnSpc>
              <a:spcAft>
                <a:spcPts val="600"/>
              </a:spcAft>
            </a:pPr>
            <a:r>
              <a:rPr sz="1150" b="0" i="0">
                <a:solidFill>
                  <a:srgbClr val="E87A1E"/>
                </a:solidFill>
                <a:latin typeface="Calibri"/>
              </a:rPr>
              <a:t>•  </a:t>
            </a:r>
            <a:r>
              <a:rPr sz="1150" b="0" i="0">
                <a:solidFill>
                  <a:srgbClr val="0E7C86"/>
                </a:solidFill>
                <a:latin typeface="Consolas"/>
              </a:rPr>
              <a:t>catalog: rest</a:t>
            </a:r>
            <a:r>
              <a:rPr sz="1250" b="0" i="0">
                <a:solidFill>
                  <a:srgbClr val="1C2433"/>
                </a:solidFill>
                <a:latin typeface="Calibri"/>
              </a:rPr>
              <a:t>, SigV4 </a:t>
            </a:r>
            <a:r>
              <a:rPr sz="1150" b="0" i="0">
                <a:solidFill>
                  <a:srgbClr val="0E7C86"/>
                </a:solidFill>
                <a:latin typeface="Consolas"/>
              </a:rPr>
              <a:t>signing-name: glue</a:t>
            </a:r>
            <a:r>
              <a:rPr sz="1250" b="0" i="0">
                <a:solidFill>
                  <a:srgbClr val="1C2433"/>
                </a:solidFill>
                <a:latin typeface="Calibri"/>
              </a:rPr>
              <a:t>; </a:t>
            </a:r>
            <a:r>
              <a:rPr sz="1150" b="0" i="0">
                <a:solidFill>
                  <a:srgbClr val="0E7C86"/>
                </a:solidFill>
                <a:latin typeface="Consolas"/>
              </a:rPr>
              <a:t>ICEBERG_CATALOG=glue</a:t>
            </a:r>
            <a:r>
              <a:rPr sz="1250" b="0" i="0">
                <a:solidFill>
                  <a:srgbClr val="1C2433"/>
                </a:solidFill>
                <a:latin typeface="Calibri"/>
              </a:rPr>
              <a:t> in the scripts (built; not yet run on AWS)</a:t>
            </a:r>
          </a:p>
          <a:p>
            <a:pPr algn="l">
              <a:lnSpc>
                <a:spcPct val="105000"/>
              </a:lnSpc>
              <a:spcAft>
                <a:spcPts val="600"/>
              </a:spcAft>
            </a:pPr>
            <a:r>
              <a:rPr sz="1250" b="0" i="0">
                <a:solidFill>
                  <a:srgbClr val="E87A1E"/>
                </a:solidFill>
                <a:latin typeface="Calibri"/>
              </a:rPr>
              <a:t>•  </a:t>
            </a:r>
            <a:r>
              <a:rPr sz="1250" b="0" i="0">
                <a:solidFill>
                  <a:srgbClr val="1C2433"/>
                </a:solidFill>
                <a:latin typeface="Calibri"/>
              </a:rPr>
              <a:t>commits through the catalog (409 retried); Athena, EMR, Redshift see the same tables</a:t>
            </a:r>
          </a:p>
          <a:p>
            <a:pPr algn="l">
              <a:lnSpc>
                <a:spcPct val="105000"/>
              </a:lnSpc>
              <a:spcAft>
                <a:spcPts val="600"/>
              </a:spcAft>
            </a:pPr>
            <a:r>
              <a:rPr sz="1250" b="0" i="0">
                <a:solidFill>
                  <a:srgbClr val="E87A1E"/>
                </a:solidFill>
                <a:latin typeface="Calibri"/>
              </a:rPr>
              <a:t>•  </a:t>
            </a:r>
            <a:r>
              <a:rPr sz="1250" b="0" i="0">
                <a:solidFill>
                  <a:srgbClr val="1C2433"/>
                </a:solidFill>
                <a:latin typeface="Calibri"/>
              </a:rPr>
              <a:t>IAM (and Lake Formation, if used) governs every table</a:t>
            </a:r>
          </a:p>
          <a:p>
            <a:pPr algn="l">
              <a:lnSpc>
                <a:spcPct val="105000"/>
              </a:lnSpc>
              <a:spcAft>
                <a:spcPts val="600"/>
              </a:spcAft>
            </a:pPr>
            <a:r>
              <a:rPr sz="1250" b="0" i="0">
                <a:solidFill>
                  <a:srgbClr val="E87A1E"/>
                </a:solidFill>
                <a:latin typeface="Calibri"/>
              </a:rPr>
              <a:t>•  </a:t>
            </a:r>
            <a:r>
              <a:rPr sz="1250" b="1" i="0">
                <a:solidFill>
                  <a:srgbClr val="1C2433"/>
                </a:solidFill>
                <a:latin typeface="Calibri"/>
              </a:rPr>
              <a:t>best when</a:t>
            </a:r>
            <a:r>
              <a:rPr sz="1250" b="0" i="0">
                <a:solidFill>
                  <a:srgbClr val="1C2433"/>
                </a:solidFill>
                <a:latin typeface="Calibri"/>
              </a:rPr>
              <a:t> Athena or Spark also read or write</a:t>
            </a:r>
          </a:p>
        </p:txBody>
      </p:sp>
      <p:sp>
        <p:nvSpPr>
          <p:cNvPr id="17" name="Rounded Rectangle 16"/>
          <p:cNvSpPr/>
          <p:nvPr/>
        </p:nvSpPr>
        <p:spPr>
          <a:xfrm>
            <a:off x="8110728" y="1188720"/>
            <a:ext cx="3666744" cy="3794760"/>
          </a:xfrm>
          <a:prstGeom prst="roundRect">
            <a:avLst>
              <a:gd name="adj" fmla="val 5000"/>
            </a:avLst>
          </a:prstGeom>
          <a:solidFill>
            <a:srgbClr val="F3F5F8"/>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8247888" y="1261872"/>
            <a:ext cx="2295144" cy="68580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Amazon S3 Tables (table buckets)</a:t>
            </a:r>
          </a:p>
        </p:txBody>
      </p:sp>
      <p:sp>
        <p:nvSpPr>
          <p:cNvPr id="19" name="Rounded Rectangle 18"/>
          <p:cNvSpPr/>
          <p:nvPr/>
        </p:nvSpPr>
        <p:spPr>
          <a:xfrm>
            <a:off x="10588752" y="1325880"/>
            <a:ext cx="1051560" cy="246888"/>
          </a:xfrm>
          <a:prstGeom prst="roundRect">
            <a:avLst>
              <a:gd name="adj" fmla="val 50000"/>
            </a:avLst>
          </a:prstGeom>
          <a:solidFill>
            <a:srgbClr val="FFFFFF"/>
          </a:solidFill>
          <a:ln w="15875">
            <a:solidFill>
              <a:srgbClr val="B4231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B42318"/>
                </a:solidFill>
                <a:latin typeface="Calibri"/>
              </a:rPr>
              <a:t>NOT RUN</a:t>
            </a:r>
          </a:p>
        </p:txBody>
      </p:sp>
      <p:sp>
        <p:nvSpPr>
          <p:cNvPr id="20" name="TextBox 19"/>
          <p:cNvSpPr txBox="1"/>
          <p:nvPr/>
        </p:nvSpPr>
        <p:spPr>
          <a:xfrm>
            <a:off x="8247888" y="2011680"/>
            <a:ext cx="3392424" cy="2926080"/>
          </a:xfrm>
          <a:prstGeom prst="rect">
            <a:avLst/>
          </a:prstGeom>
          <a:noFill/>
        </p:spPr>
        <p:txBody>
          <a:bodyPr wrap="square" lIns="45720" rIns="45720" tIns="27432" bIns="27432" anchor="t">
            <a:spAutoFit/>
          </a:bodyPr>
          <a:lstStyle/>
          <a:p>
            <a:pPr algn="l">
              <a:lnSpc>
                <a:spcPct val="105000"/>
              </a:lnSpc>
              <a:spcAft>
                <a:spcPts val="600"/>
              </a:spcAft>
            </a:pPr>
            <a:r>
              <a:rPr sz="1250" b="0" i="0">
                <a:solidFill>
                  <a:srgbClr val="E87A1E"/>
                </a:solidFill>
                <a:latin typeface="Calibri"/>
              </a:rPr>
              <a:t>•  </a:t>
            </a:r>
            <a:r>
              <a:rPr sz="1250" b="0" i="0">
                <a:solidFill>
                  <a:srgbClr val="1C2433"/>
                </a:solidFill>
                <a:latin typeface="Calibri"/>
              </a:rPr>
              <a:t>its Iceberg REST endpoint, SigV4 </a:t>
            </a:r>
            <a:r>
              <a:rPr sz="1150" b="0" i="0">
                <a:solidFill>
                  <a:srgbClr val="0E7C86"/>
                </a:solidFill>
                <a:latin typeface="Consolas"/>
              </a:rPr>
              <a:t>signing-name: s3tables</a:t>
            </a:r>
            <a:r>
              <a:rPr sz="1250" b="0" i="0">
                <a:solidFill>
                  <a:srgbClr val="1C2433"/>
                </a:solidFill>
                <a:latin typeface="Calibri"/>
              </a:rPr>
              <a:t>, a table bucket ARN (written; not yet run on AWS)</a:t>
            </a:r>
          </a:p>
          <a:p>
            <a:pPr algn="l">
              <a:lnSpc>
                <a:spcPct val="105000"/>
              </a:lnSpc>
              <a:spcAft>
                <a:spcPts val="600"/>
              </a:spcAft>
            </a:pPr>
            <a:r>
              <a:rPr sz="1150" b="0" i="0">
                <a:solidFill>
                  <a:srgbClr val="E87A1E"/>
                </a:solidFill>
                <a:latin typeface="Calibri"/>
              </a:rPr>
              <a:t>•  </a:t>
            </a:r>
            <a:r>
              <a:rPr sz="1150" b="0" i="0">
                <a:solidFill>
                  <a:srgbClr val="0E7C86"/>
                </a:solidFill>
                <a:latin typeface="Consolas"/>
              </a:rPr>
              <a:t>check-glue.sh --s3-tables ARN</a:t>
            </a:r>
            <a:r>
              <a:rPr sz="1250" b="0" i="0">
                <a:solidFill>
                  <a:srgbClr val="1C2433"/>
                </a:solidFill>
                <a:latin typeface="Calibri"/>
              </a:rPr>
              <a:t>: the live run is the product owner's, not yet done</a:t>
            </a:r>
          </a:p>
          <a:p>
            <a:pPr algn="l">
              <a:lnSpc>
                <a:spcPct val="105000"/>
              </a:lnSpc>
              <a:spcAft>
                <a:spcPts val="600"/>
              </a:spcAft>
            </a:pPr>
            <a:r>
              <a:rPr sz="1250" b="0" i="0">
                <a:solidFill>
                  <a:srgbClr val="E87A1E"/>
                </a:solidFill>
                <a:latin typeface="Calibri"/>
              </a:rPr>
              <a:t>•  </a:t>
            </a:r>
            <a:r>
              <a:rPr sz="1250" b="0" i="0">
                <a:solidFill>
                  <a:srgbClr val="1C2433"/>
                </a:solidFill>
                <a:latin typeface="Calibri"/>
              </a:rPr>
              <a:t>AWS runs compaction and snapshot management itself</a:t>
            </a:r>
          </a:p>
          <a:p>
            <a:pPr algn="l">
              <a:lnSpc>
                <a:spcPct val="105000"/>
              </a:lnSpc>
              <a:spcAft>
                <a:spcPts val="600"/>
              </a:spcAft>
            </a:pPr>
            <a:r>
              <a:rPr sz="1250" b="0" i="0">
                <a:solidFill>
                  <a:srgbClr val="E87A1E"/>
                </a:solidFill>
                <a:latin typeface="Calibri"/>
              </a:rPr>
              <a:t>•  </a:t>
            </a:r>
            <a:r>
              <a:rPr sz="1250" b="1" i="0">
                <a:solidFill>
                  <a:srgbClr val="1C2433"/>
                </a:solidFill>
                <a:latin typeface="Calibri"/>
              </a:rPr>
              <a:t>prove first</a:t>
            </a:r>
            <a:r>
              <a:rPr sz="1250" b="0" i="0">
                <a:solidFill>
                  <a:srgbClr val="1C2433"/>
                </a:solidFill>
                <a:latin typeface="Calibri"/>
              </a:rPr>
              <a:t> in a development account</a:t>
            </a:r>
          </a:p>
        </p:txBody>
      </p:sp>
      <p:sp>
        <p:nvSpPr>
          <p:cNvPr id="21" name="Rounded Rectangle 20"/>
          <p:cNvSpPr/>
          <p:nvPr/>
        </p:nvSpPr>
        <p:spPr>
          <a:xfrm>
            <a:off x="411480" y="5166360"/>
            <a:ext cx="11365992" cy="1188720"/>
          </a:xfrm>
          <a:prstGeom prst="roundRect">
            <a:avLst>
              <a:gd name="adj" fmla="val 6000"/>
            </a:avLst>
          </a:prstGeom>
          <a:solidFill>
            <a:srgbClr val="FFF4E6"/>
          </a:solidFill>
          <a:ln w="19050">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Rectangle 21"/>
          <p:cNvSpPr/>
          <p:nvPr/>
        </p:nvSpPr>
        <p:spPr>
          <a:xfrm>
            <a:off x="411480" y="5166360"/>
            <a:ext cx="82296" cy="1188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640080" y="5221224"/>
            <a:ext cx="11000232" cy="1078992"/>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Recommendation (PROPOSED):</a:t>
            </a:r>
            <a:r>
              <a:rPr sz="1300" b="0" i="0">
                <a:solidFill>
                  <a:srgbClr val="1C2433"/>
                </a:solidFill>
                <a:latin typeface="Calibri"/>
              </a:rPr>
              <a:t> start path-based (built, no extra service, the same commit safety as Delta). Move a table behind Glue's REST endpoint when another engine must write it or Athena must query it; the connector's name, kinds and packs do not change, only </a:t>
            </a:r>
            <a:r>
              <a:rPr sz="1200" b="0" i="0">
                <a:solidFill>
                  <a:srgbClr val="0E7C86"/>
                </a:solidFill>
                <a:latin typeface="Consolas"/>
              </a:rPr>
              <a:t>catalog</a:t>
            </a:r>
            <a:r>
              <a:rPr sz="1300" b="0" i="0">
                <a:solidFill>
                  <a:srgbClr val="1C2433"/>
                </a:solidFill>
                <a:latin typeface="Calibri"/>
              </a:rPr>
              <a:t>, </a:t>
            </a:r>
            <a:r>
              <a:rPr sz="1200" b="0" i="0">
                <a:solidFill>
                  <a:srgbClr val="0E7C86"/>
                </a:solidFill>
                <a:latin typeface="Consolas"/>
              </a:rPr>
              <a:t>uri</a:t>
            </a:r>
            <a:r>
              <a:rPr sz="1300" b="0" i="0">
                <a:solidFill>
                  <a:srgbClr val="1C2433"/>
                </a:solidFill>
                <a:latin typeface="Calibri"/>
              </a:rPr>
              <a:t> and the signing settings. Run </a:t>
            </a:r>
            <a:r>
              <a:rPr sz="1200" b="0" i="0">
                <a:solidFill>
                  <a:srgbClr val="0E7C86"/>
                </a:solidFill>
                <a:latin typeface="Consolas"/>
              </a:rPr>
              <a:t>check-glue.sh</a:t>
            </a:r>
            <a:r>
              <a:rPr sz="1300" b="0" i="0">
                <a:solidFill>
                  <a:srgbClr val="1C2433"/>
                </a:solidFill>
                <a:latin typeface="Calibri"/>
              </a:rPr>
              <a:t> first.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Schema and partition evolution, as built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38</a:t>
            </a:r>
          </a:p>
        </p:txBody>
      </p:sp>
      <p:sp>
        <p:nvSpPr>
          <p:cNvPr id="10" name="Rounded Rectangle 9"/>
          <p:cNvSpPr/>
          <p:nvPr/>
        </p:nvSpPr>
        <p:spPr>
          <a:xfrm>
            <a:off x="411480" y="1188720"/>
            <a:ext cx="6949440" cy="896112"/>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48640" y="1225296"/>
            <a:ext cx="5486400" cy="329184"/>
          </a:xfrm>
          <a:prstGeom prst="rect">
            <a:avLst/>
          </a:prstGeom>
          <a:noFill/>
        </p:spPr>
        <p:txBody>
          <a:bodyPr wrap="square" lIns="45720" rIns="45720" tIns="27432" bIns="27432" anchor="t">
            <a:spAutoFit/>
          </a:bodyPr>
          <a:lstStyle/>
          <a:p>
            <a:pPr algn="l">
              <a:lnSpc>
                <a:spcPct val="105000"/>
              </a:lnSpc>
            </a:pPr>
            <a:r>
              <a:rPr sz="1400" b="1" i="0">
                <a:solidFill>
                  <a:srgbClr val="0B1E3B"/>
                </a:solidFill>
                <a:latin typeface="Calibri"/>
              </a:rPr>
              <a:t>Read by field id</a:t>
            </a:r>
          </a:p>
        </p:txBody>
      </p:sp>
      <p:sp>
        <p:nvSpPr>
          <p:cNvPr id="12" name="TextBox 11"/>
          <p:cNvSpPr txBox="1"/>
          <p:nvPr/>
        </p:nvSpPr>
        <p:spPr>
          <a:xfrm>
            <a:off x="548640" y="1554480"/>
            <a:ext cx="6675120" cy="530352"/>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renamed columns read correctly; added columns read as null; int→long, float→double, decimal widening; files without ids through </a:t>
            </a:r>
            <a:r>
              <a:rPr sz="1100" b="0" i="0">
                <a:solidFill>
                  <a:srgbClr val="0E7C86"/>
                </a:solidFill>
                <a:latin typeface="Consolas"/>
              </a:rPr>
              <a:t>schema.name-mapping.default</a:t>
            </a:r>
          </a:p>
        </p:txBody>
      </p:sp>
      <p:sp>
        <p:nvSpPr>
          <p:cNvPr id="13" name="Rounded Rectangle 12"/>
          <p:cNvSpPr/>
          <p:nvPr/>
        </p:nvSpPr>
        <p:spPr>
          <a:xfrm>
            <a:off x="411480" y="2176272"/>
            <a:ext cx="6949440" cy="896112"/>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48640" y="2212848"/>
            <a:ext cx="5486400" cy="329184"/>
          </a:xfrm>
          <a:prstGeom prst="rect">
            <a:avLst/>
          </a:prstGeom>
          <a:noFill/>
        </p:spPr>
        <p:txBody>
          <a:bodyPr wrap="square" lIns="45720" rIns="45720" tIns="27432" bIns="27432" anchor="t">
            <a:spAutoFit/>
          </a:bodyPr>
          <a:lstStyle/>
          <a:p>
            <a:pPr algn="l">
              <a:lnSpc>
                <a:spcPct val="105000"/>
              </a:lnSpc>
            </a:pPr>
            <a:r>
              <a:rPr sz="1400" b="1" i="0">
                <a:solidFill>
                  <a:srgbClr val="0B1E3B"/>
                </a:solidFill>
                <a:latin typeface="Calibri"/>
              </a:rPr>
              <a:t>Add a promoted column</a:t>
            </a:r>
          </a:p>
        </p:txBody>
      </p:sp>
      <p:sp>
        <p:nvSpPr>
          <p:cNvPr id="15" name="TextBox 14"/>
          <p:cNvSpPr txBox="1"/>
          <p:nvPr/>
        </p:nvSpPr>
        <p:spPr>
          <a:xfrm>
            <a:off x="548640" y="2542032"/>
            <a:ext cx="6675120" cy="530352"/>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the loader adds new promoted paths as columns; </a:t>
            </a:r>
            <a:r>
              <a:rPr sz="1100" b="0" i="0">
                <a:solidFill>
                  <a:srgbClr val="0E7C86"/>
                </a:solidFill>
                <a:latin typeface="Consolas"/>
              </a:rPr>
              <a:t>IcebergMaintenance --columns trade:PATH</a:t>
            </a:r>
            <a:r>
              <a:rPr sz="1200" b="0" i="0">
                <a:solidFill>
                  <a:srgbClr val="1C2433"/>
                </a:solidFill>
                <a:latin typeface="Calibri"/>
              </a:rPr>
              <a:t> adds and fills them from the documents</a:t>
            </a:r>
          </a:p>
        </p:txBody>
      </p:sp>
      <p:sp>
        <p:nvSpPr>
          <p:cNvPr id="16" name="Rounded Rectangle 15"/>
          <p:cNvSpPr/>
          <p:nvPr/>
        </p:nvSpPr>
        <p:spPr>
          <a:xfrm>
            <a:off x="411480" y="3163824"/>
            <a:ext cx="6949440" cy="896112"/>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548640" y="3200400"/>
            <a:ext cx="5486400" cy="329184"/>
          </a:xfrm>
          <a:prstGeom prst="rect">
            <a:avLst/>
          </a:prstGeom>
          <a:noFill/>
        </p:spPr>
        <p:txBody>
          <a:bodyPr wrap="square" lIns="45720" rIns="45720" tIns="27432" bIns="27432" anchor="t">
            <a:spAutoFit/>
          </a:bodyPr>
          <a:lstStyle/>
          <a:p>
            <a:pPr algn="l">
              <a:lnSpc>
                <a:spcPct val="105000"/>
              </a:lnSpc>
            </a:pPr>
            <a:r>
              <a:rPr sz="1400" b="1" i="0">
                <a:solidFill>
                  <a:srgbClr val="0B1E3B"/>
                </a:solidFill>
                <a:latin typeface="Calibri"/>
              </a:rPr>
              <a:t>Partition evolution (read)</a:t>
            </a:r>
          </a:p>
        </p:txBody>
      </p:sp>
      <p:sp>
        <p:nvSpPr>
          <p:cNvPr id="18" name="TextBox 17"/>
          <p:cNvSpPr txBox="1"/>
          <p:nvPr/>
        </p:nvSpPr>
        <p:spPr>
          <a:xfrm>
            <a:off x="548640" y="3529584"/>
            <a:ext cx="6675120" cy="530352"/>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several specs in one table; every transform: identity, bucket, truncate, year, month, day, hour, void</a:t>
            </a:r>
          </a:p>
        </p:txBody>
      </p:sp>
      <p:sp>
        <p:nvSpPr>
          <p:cNvPr id="19" name="Rounded Rectangle 18"/>
          <p:cNvSpPr/>
          <p:nvPr/>
        </p:nvSpPr>
        <p:spPr>
          <a:xfrm>
            <a:off x="411480" y="4151376"/>
            <a:ext cx="6949440" cy="896112"/>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548640" y="4187952"/>
            <a:ext cx="5486400" cy="329184"/>
          </a:xfrm>
          <a:prstGeom prst="rect">
            <a:avLst/>
          </a:prstGeom>
          <a:noFill/>
        </p:spPr>
        <p:txBody>
          <a:bodyPr wrap="square" lIns="45720" rIns="45720" tIns="27432" bIns="27432" anchor="t">
            <a:spAutoFit/>
          </a:bodyPr>
          <a:lstStyle/>
          <a:p>
            <a:pPr algn="l">
              <a:lnSpc>
                <a:spcPct val="105000"/>
              </a:lnSpc>
            </a:pPr>
            <a:r>
              <a:rPr sz="1400" b="1" i="0">
                <a:solidFill>
                  <a:srgbClr val="0B1E3B"/>
                </a:solidFill>
                <a:latin typeface="Calibri"/>
              </a:rPr>
              <a:t>Hidden partitioning (read)</a:t>
            </a:r>
          </a:p>
        </p:txBody>
      </p:sp>
      <p:sp>
        <p:nvSpPr>
          <p:cNvPr id="21" name="TextBox 20"/>
          <p:cNvSpPr txBox="1"/>
          <p:nvPr/>
        </p:nvSpPr>
        <p:spPr>
          <a:xfrm>
            <a:off x="548640" y="4517136"/>
            <a:ext cx="6675120" cy="530352"/>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a table partitioned by </a:t>
            </a:r>
            <a:r>
              <a:rPr sz="1100" b="0" i="0">
                <a:solidFill>
                  <a:srgbClr val="0E7C86"/>
                </a:solidFill>
                <a:latin typeface="Consolas"/>
              </a:rPr>
              <a:t>day(TRADE_TS)</a:t>
            </a:r>
            <a:r>
              <a:rPr sz="1200" b="0" i="0">
                <a:solidFill>
                  <a:srgbClr val="1C2433"/>
                </a:solidFill>
                <a:latin typeface="Calibri"/>
              </a:rPr>
              <a:t> or </a:t>
            </a:r>
            <a:r>
              <a:rPr sz="1100" b="0" i="0">
                <a:solidFill>
                  <a:srgbClr val="0E7C86"/>
                </a:solidFill>
                <a:latin typeface="Consolas"/>
              </a:rPr>
              <a:t>bucket(id)</a:t>
            </a:r>
            <a:r>
              <a:rPr sz="1200" b="0" i="0">
                <a:solidFill>
                  <a:srgbClr val="1C2433"/>
                </a:solidFill>
                <a:latin typeface="Calibri"/>
              </a:rPr>
              <a:t> is pruned by its manifests; </a:t>
            </a:r>
            <a:r>
              <a:rPr sz="1100" b="0" i="0">
                <a:solidFill>
                  <a:srgbClr val="0E7C86"/>
                </a:solidFill>
                <a:latin typeface="Consolas"/>
              </a:rPr>
              <a:t>iceberg-external</a:t>
            </a:r>
            <a:r>
              <a:rPr sz="1200" b="0" i="0">
                <a:solidFill>
                  <a:srgbClr val="1C2433"/>
                </a:solidFill>
                <a:latin typeface="Calibri"/>
              </a:rPr>
              <a:t> takes the business date from the spec</a:t>
            </a:r>
          </a:p>
        </p:txBody>
      </p:sp>
      <p:sp>
        <p:nvSpPr>
          <p:cNvPr id="22" name="Rounded Rectangle 21"/>
          <p:cNvSpPr/>
          <p:nvPr/>
        </p:nvSpPr>
        <p:spPr>
          <a:xfrm>
            <a:off x="411480" y="5138928"/>
            <a:ext cx="6949440" cy="896112"/>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548640" y="5175504"/>
            <a:ext cx="5486400" cy="329184"/>
          </a:xfrm>
          <a:prstGeom prst="rect">
            <a:avLst/>
          </a:prstGeom>
          <a:noFill/>
        </p:spPr>
        <p:txBody>
          <a:bodyPr wrap="square" lIns="45720" rIns="45720" tIns="27432" bIns="27432" anchor="t">
            <a:spAutoFit/>
          </a:bodyPr>
          <a:lstStyle/>
          <a:p>
            <a:pPr algn="l">
              <a:lnSpc>
                <a:spcPct val="105000"/>
              </a:lnSpc>
            </a:pPr>
            <a:r>
              <a:rPr sz="1400" b="1" i="0">
                <a:solidFill>
                  <a:srgbClr val="0B1E3B"/>
                </a:solidFill>
                <a:latin typeface="Calibri"/>
              </a:rPr>
              <a:t>Drishti's writer changes a spec</a:t>
            </a:r>
          </a:p>
        </p:txBody>
      </p:sp>
      <p:sp>
        <p:nvSpPr>
          <p:cNvPr id="24" name="TextBox 23"/>
          <p:cNvSpPr txBox="1"/>
          <p:nvPr/>
        </p:nvSpPr>
        <p:spPr>
          <a:xfrm>
            <a:off x="548640" y="5504688"/>
            <a:ext cx="6675120" cy="530352"/>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always </a:t>
            </a:r>
            <a:r>
              <a:rPr sz="1100" b="0" i="0">
                <a:solidFill>
                  <a:srgbClr val="0E7C86"/>
                </a:solidFill>
                <a:latin typeface="Consolas"/>
              </a:rPr>
              <a:t>identity(business_date)</a:t>
            </a:r>
            <a:r>
              <a:rPr sz="1200" b="0" i="0">
                <a:solidFill>
                  <a:srgbClr val="1C2433"/>
                </a:solidFill>
                <a:latin typeface="Calibri"/>
              </a:rPr>
              <a:t>; no partition evolution written, none needed</a:t>
            </a:r>
          </a:p>
        </p:txBody>
      </p:sp>
      <p:sp>
        <p:nvSpPr>
          <p:cNvPr id="25" name="Rounded Rectangle 24"/>
          <p:cNvSpPr/>
          <p:nvPr/>
        </p:nvSpPr>
        <p:spPr>
          <a:xfrm>
            <a:off x="7635240" y="1188720"/>
            <a:ext cx="4142232" cy="2377440"/>
          </a:xfrm>
          <a:prstGeom prst="roundRect">
            <a:avLst>
              <a:gd name="adj" fmla="val 6000"/>
            </a:avLst>
          </a:prstGeom>
          <a:solidFill>
            <a:srgbClr val="FFF4E6"/>
          </a:solidFill>
          <a:ln w="19050">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Rectangle 25"/>
          <p:cNvSpPr/>
          <p:nvPr/>
        </p:nvSpPr>
        <p:spPr>
          <a:xfrm>
            <a:off x="7635240" y="1188720"/>
            <a:ext cx="82296" cy="237744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7863840" y="1243584"/>
            <a:ext cx="3776472" cy="2267712"/>
          </a:xfrm>
          <a:prstGeom prst="rect">
            <a:avLst/>
          </a:prstGeom>
          <a:noFill/>
        </p:spPr>
        <p:txBody>
          <a:bodyPr wrap="square" lIns="45720" rIns="45720" tIns="27432" bIns="27432" anchor="ctr">
            <a:spAutoFit/>
          </a:bodyPr>
          <a:lstStyle/>
          <a:p>
            <a:pPr algn="l">
              <a:lnSpc>
                <a:spcPct val="105000"/>
              </a:lnSpc>
            </a:pPr>
            <a:r>
              <a:rPr sz="1250" b="1" i="0">
                <a:solidFill>
                  <a:srgbClr val="1C2433"/>
                </a:solidFill>
                <a:latin typeface="Calibri"/>
              </a:rPr>
              <a:t>Versus Delta in Drishti:</a:t>
            </a:r>
            <a:r>
              <a:rPr sz="1250" b="0" i="0">
                <a:solidFill>
                  <a:srgbClr val="1C2433"/>
                </a:solidFill>
                <a:latin typeface="Calibri"/>
              </a:rPr>
              <a:t> adding a promoted column on Delta changes the table's columns, and </a:t>
            </a:r>
            <a:r>
              <a:rPr sz="1150" b="0" i="0">
                <a:solidFill>
                  <a:srgbClr val="0E7C86"/>
                </a:solidFill>
                <a:latin typeface="Consolas"/>
              </a:rPr>
              <a:t>lake publish</a:t>
            </a:r>
            <a:r>
              <a:rPr sz="1250" b="0" i="0">
                <a:solidFill>
                  <a:srgbClr val="1C2433"/>
                </a:solidFill>
                <a:latin typeface="Calibri"/>
              </a:rPr>
              <a:t> then refuses the next day: a new folder (</a:t>
            </a:r>
            <a:r>
              <a:rPr sz="1150" b="0" i="0">
                <a:solidFill>
                  <a:srgbClr val="0E7C86"/>
                </a:solidFill>
                <a:latin typeface="Consolas"/>
              </a:rPr>
              <a:t>trade_endur_v2</a:t>
            </a:r>
            <a:r>
              <a:rPr sz="1250" b="0" i="0">
                <a:solidFill>
                  <a:srgbClr val="1C2433"/>
                </a:solidFill>
                <a:latin typeface="Calibri"/>
              </a:rPr>
              <a:t>) and a backfill (Delta's in-place add: planned, not built).</a:t>
            </a:r>
          </a:p>
          <a:p>
            <a:pPr algn="l">
              <a:lnSpc>
                <a:spcPct val="105000"/>
              </a:lnSpc>
            </a:pPr>
            <a:r>
              <a:rPr sz="1250" b="0" i="0">
                <a:solidFill>
                  <a:srgbClr val="1C2433"/>
                </a:solidFill>
                <a:latin typeface="Calibri"/>
              </a:rPr>
              <a:t>On Iceberg the column is added in place by field id; old files read it as null until </a:t>
            </a:r>
            <a:r>
              <a:rPr sz="1150" b="0" i="0">
                <a:solidFill>
                  <a:srgbClr val="0E7C86"/>
                </a:solidFill>
                <a:latin typeface="Consolas"/>
              </a:rPr>
              <a:t>--columns</a:t>
            </a:r>
            <a:r>
              <a:rPr sz="1250" b="0" i="0">
                <a:solidFill>
                  <a:srgbClr val="1C2433"/>
                </a:solidFill>
                <a:latin typeface="Calibri"/>
              </a:rPr>
              <a:t> rewrites them.</a:t>
            </a:r>
          </a:p>
        </p:txBody>
      </p:sp>
      <p:sp>
        <p:nvSpPr>
          <p:cNvPr id="28" name="Rounded Rectangle 27"/>
          <p:cNvSpPr/>
          <p:nvPr/>
        </p:nvSpPr>
        <p:spPr>
          <a:xfrm>
            <a:off x="7635240" y="3749039"/>
            <a:ext cx="4142232" cy="2103120"/>
          </a:xfrm>
          <a:prstGeom prst="roundRect">
            <a:avLst>
              <a:gd name="adj" fmla="val 6000"/>
            </a:avLst>
          </a:prstGeom>
          <a:solidFill>
            <a:srgbClr val="E8F4F5"/>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Rectangle 28"/>
          <p:cNvSpPr/>
          <p:nvPr/>
        </p:nvSpPr>
        <p:spPr>
          <a:xfrm>
            <a:off x="7635240" y="3749039"/>
            <a:ext cx="82296" cy="21031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7863840" y="3803903"/>
            <a:ext cx="3776472" cy="1993391"/>
          </a:xfrm>
          <a:prstGeom prst="rect">
            <a:avLst/>
          </a:prstGeom>
          <a:noFill/>
        </p:spPr>
        <p:txBody>
          <a:bodyPr wrap="square" lIns="45720" rIns="45720" tIns="27432" bIns="27432" anchor="ctr">
            <a:spAutoFit/>
          </a:bodyPr>
          <a:lstStyle/>
          <a:p>
            <a:pPr algn="l">
              <a:lnSpc>
                <a:spcPct val="105000"/>
              </a:lnSpc>
            </a:pPr>
            <a:r>
              <a:rPr sz="1250" b="1" i="0">
                <a:solidFill>
                  <a:srgbClr val="1C2433"/>
                </a:solidFill>
                <a:latin typeface="Calibri"/>
              </a:rPr>
              <a:t>Why it matters for a bank:</a:t>
            </a:r>
            <a:r>
              <a:rPr sz="1250" b="0" i="0">
                <a:solidFill>
                  <a:srgbClr val="1C2433"/>
                </a:solidFill>
                <a:latin typeface="Calibri"/>
              </a:rPr>
              <a:t> promoted columns grow as people search new fields. Iceberg absorbs that without a new table; Delta in Drishti's AWS flow needs a new table per change, because </a:t>
            </a:r>
            <a:r>
              <a:rPr sz="1150" b="0" i="0">
                <a:solidFill>
                  <a:srgbClr val="0E7C86"/>
                </a:solidFill>
                <a:latin typeface="Consolas"/>
              </a:rPr>
              <a:t>lake publish</a:t>
            </a:r>
            <a:r>
              <a:rPr sz="1250" b="0" i="0">
                <a:solidFill>
                  <a:srgbClr val="1C2433"/>
                </a:solidFill>
                <a:latin typeface="Calibri"/>
              </a:rPr>
              <a:t> refuses a day whose columns differ.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Snapshots, time travel and deletes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39</a:t>
            </a:r>
          </a:p>
        </p:txBody>
      </p:sp>
      <p:sp>
        <p:nvSpPr>
          <p:cNvPr id="10" name="TextBox 9"/>
          <p:cNvSpPr txBox="1"/>
          <p:nvPr/>
        </p:nvSpPr>
        <p:spPr>
          <a:xfrm>
            <a:off x="411480" y="1143000"/>
            <a:ext cx="7315200" cy="36576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A table's snapshot log, and what </a:t>
            </a:r>
            <a:r>
              <a:rPr sz="1500" b="1" i="1">
                <a:solidFill>
                  <a:srgbClr val="0B1E3B"/>
                </a:solidFill>
                <a:latin typeface="Calibri"/>
              </a:rPr>
              <a:t>known at</a:t>
            </a:r>
            <a:r>
              <a:rPr sz="1500" b="1" i="0">
                <a:solidFill>
                  <a:srgbClr val="0B1E3B"/>
                </a:solidFill>
                <a:latin typeface="Calibri"/>
              </a:rPr>
              <a:t> reads</a:t>
            </a:r>
          </a:p>
        </p:txBody>
      </p:sp>
      <p:cxnSp>
        <p:nvCxnSpPr>
          <p:cNvPr id="11" name="Connector 10"/>
          <p:cNvCxnSpPr/>
          <p:nvPr/>
        </p:nvCxnSpPr>
        <p:spPr>
          <a:xfrm>
            <a:off x="594360" y="2148840"/>
            <a:ext cx="10927080" cy="0"/>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97280" y="1947672"/>
            <a:ext cx="402336" cy="402336"/>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1947672"/>
            <a:ext cx="402336" cy="402336"/>
          </a:xfrm>
          <a:prstGeom prst="rect">
            <a:avLst/>
          </a:prstGeom>
          <a:noFill/>
        </p:spPr>
        <p:txBody>
          <a:bodyPr wrap="square" lIns="0" rIns="0" tIns="0" bIns="0" anchor="ctr">
            <a:spAutoFit/>
          </a:bodyPr>
          <a:lstStyle/>
          <a:p>
            <a:pPr algn="ctr">
              <a:lnSpc>
                <a:spcPct val="105000"/>
              </a:lnSpc>
            </a:pPr>
            <a:r>
              <a:rPr sz="1100" b="1" i="0">
                <a:solidFill>
                  <a:srgbClr val="FFFFFF"/>
                </a:solidFill>
                <a:latin typeface="Calibri"/>
              </a:rPr>
              <a:t>S1</a:t>
            </a:r>
          </a:p>
        </p:txBody>
      </p:sp>
      <p:sp>
        <p:nvSpPr>
          <p:cNvPr id="14" name="TextBox 13"/>
          <p:cNvSpPr txBox="1"/>
          <p:nvPr/>
        </p:nvSpPr>
        <p:spPr>
          <a:xfrm>
            <a:off x="548640" y="2395728"/>
            <a:ext cx="1554480" cy="320040"/>
          </a:xfrm>
          <a:prstGeom prst="rect">
            <a:avLst/>
          </a:prstGeom>
          <a:noFill/>
        </p:spPr>
        <p:txBody>
          <a:bodyPr wrap="square" lIns="45720" rIns="45720" tIns="27432" bIns="27432" anchor="t">
            <a:spAutoFit/>
          </a:bodyPr>
          <a:lstStyle/>
          <a:p>
            <a:pPr algn="ctr">
              <a:lnSpc>
                <a:spcPct val="105000"/>
              </a:lnSpc>
            </a:pPr>
            <a:r>
              <a:rPr sz="1200" b="0" i="0">
                <a:solidFill>
                  <a:srgbClr val="1C2433"/>
                </a:solidFill>
                <a:latin typeface="Calibri"/>
              </a:rPr>
              <a:t>load 10-16</a:t>
            </a:r>
          </a:p>
        </p:txBody>
      </p:sp>
      <p:sp>
        <p:nvSpPr>
          <p:cNvPr id="15" name="Oval 14"/>
          <p:cNvSpPr/>
          <p:nvPr/>
        </p:nvSpPr>
        <p:spPr>
          <a:xfrm>
            <a:off x="3154680" y="1947672"/>
            <a:ext cx="402336" cy="402336"/>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54680" y="1947672"/>
            <a:ext cx="402336" cy="402336"/>
          </a:xfrm>
          <a:prstGeom prst="rect">
            <a:avLst/>
          </a:prstGeom>
          <a:noFill/>
        </p:spPr>
        <p:txBody>
          <a:bodyPr wrap="square" lIns="0" rIns="0" tIns="0" bIns="0" anchor="ctr">
            <a:spAutoFit/>
          </a:bodyPr>
          <a:lstStyle/>
          <a:p>
            <a:pPr algn="ctr">
              <a:lnSpc>
                <a:spcPct val="105000"/>
              </a:lnSpc>
            </a:pPr>
            <a:r>
              <a:rPr sz="1100" b="1" i="0">
                <a:solidFill>
                  <a:srgbClr val="FFFFFF"/>
                </a:solidFill>
                <a:latin typeface="Calibri"/>
              </a:rPr>
              <a:t>S2</a:t>
            </a:r>
          </a:p>
        </p:txBody>
      </p:sp>
      <p:sp>
        <p:nvSpPr>
          <p:cNvPr id="17" name="TextBox 16"/>
          <p:cNvSpPr txBox="1"/>
          <p:nvPr/>
        </p:nvSpPr>
        <p:spPr>
          <a:xfrm>
            <a:off x="2606040" y="2395728"/>
            <a:ext cx="1554480" cy="320040"/>
          </a:xfrm>
          <a:prstGeom prst="rect">
            <a:avLst/>
          </a:prstGeom>
          <a:noFill/>
        </p:spPr>
        <p:txBody>
          <a:bodyPr wrap="square" lIns="45720" rIns="45720" tIns="27432" bIns="27432" anchor="t">
            <a:spAutoFit/>
          </a:bodyPr>
          <a:lstStyle/>
          <a:p>
            <a:pPr algn="ctr">
              <a:lnSpc>
                <a:spcPct val="105000"/>
              </a:lnSpc>
            </a:pPr>
            <a:r>
              <a:rPr sz="1200" b="0" i="0">
                <a:solidFill>
                  <a:srgbClr val="1C2433"/>
                </a:solidFill>
                <a:latin typeface="Calibri"/>
              </a:rPr>
              <a:t>load 10-19</a:t>
            </a:r>
          </a:p>
        </p:txBody>
      </p:sp>
      <p:sp>
        <p:nvSpPr>
          <p:cNvPr id="18" name="Oval 17"/>
          <p:cNvSpPr/>
          <p:nvPr/>
        </p:nvSpPr>
        <p:spPr>
          <a:xfrm>
            <a:off x="5212080" y="1947672"/>
            <a:ext cx="402336" cy="402336"/>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1947672"/>
            <a:ext cx="402336" cy="402336"/>
          </a:xfrm>
          <a:prstGeom prst="rect">
            <a:avLst/>
          </a:prstGeom>
          <a:noFill/>
        </p:spPr>
        <p:txBody>
          <a:bodyPr wrap="square" lIns="0" rIns="0" tIns="0" bIns="0" anchor="ctr">
            <a:spAutoFit/>
          </a:bodyPr>
          <a:lstStyle/>
          <a:p>
            <a:pPr algn="ctr">
              <a:lnSpc>
                <a:spcPct val="105000"/>
              </a:lnSpc>
            </a:pPr>
            <a:r>
              <a:rPr sz="1100" b="1" i="0">
                <a:solidFill>
                  <a:srgbClr val="FFFFFF"/>
                </a:solidFill>
                <a:latin typeface="Calibri"/>
              </a:rPr>
              <a:t>S3</a:t>
            </a:r>
          </a:p>
        </p:txBody>
      </p:sp>
      <p:sp>
        <p:nvSpPr>
          <p:cNvPr id="20" name="TextBox 19"/>
          <p:cNvSpPr txBox="1"/>
          <p:nvPr/>
        </p:nvSpPr>
        <p:spPr>
          <a:xfrm>
            <a:off x="4663440" y="2395728"/>
            <a:ext cx="1554480" cy="320040"/>
          </a:xfrm>
          <a:prstGeom prst="rect">
            <a:avLst/>
          </a:prstGeom>
          <a:noFill/>
        </p:spPr>
        <p:txBody>
          <a:bodyPr wrap="square" lIns="45720" rIns="45720" tIns="27432" bIns="27432" anchor="t">
            <a:spAutoFit/>
          </a:bodyPr>
          <a:lstStyle/>
          <a:p>
            <a:pPr algn="ctr">
              <a:lnSpc>
                <a:spcPct val="105000"/>
              </a:lnSpc>
            </a:pPr>
            <a:r>
              <a:rPr sz="1200" b="0" i="0">
                <a:solidFill>
                  <a:srgbClr val="1C2433"/>
                </a:solidFill>
                <a:latin typeface="Calibri"/>
              </a:rPr>
              <a:t>restate 10-16</a:t>
            </a:r>
          </a:p>
        </p:txBody>
      </p:sp>
      <p:sp>
        <p:nvSpPr>
          <p:cNvPr id="21" name="Oval 20"/>
          <p:cNvSpPr/>
          <p:nvPr/>
        </p:nvSpPr>
        <p:spPr>
          <a:xfrm>
            <a:off x="7269480" y="1947672"/>
            <a:ext cx="402336" cy="402336"/>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69480" y="1947672"/>
            <a:ext cx="402336" cy="402336"/>
          </a:xfrm>
          <a:prstGeom prst="rect">
            <a:avLst/>
          </a:prstGeom>
          <a:noFill/>
        </p:spPr>
        <p:txBody>
          <a:bodyPr wrap="square" lIns="0" rIns="0" tIns="0" bIns="0" anchor="ctr">
            <a:spAutoFit/>
          </a:bodyPr>
          <a:lstStyle/>
          <a:p>
            <a:pPr algn="ctr">
              <a:lnSpc>
                <a:spcPct val="105000"/>
              </a:lnSpc>
            </a:pPr>
            <a:r>
              <a:rPr sz="1100" b="1" i="0">
                <a:solidFill>
                  <a:srgbClr val="FFFFFF"/>
                </a:solidFill>
                <a:latin typeface="Calibri"/>
              </a:rPr>
              <a:t>S4</a:t>
            </a:r>
          </a:p>
        </p:txBody>
      </p:sp>
      <p:sp>
        <p:nvSpPr>
          <p:cNvPr id="23" name="TextBox 22"/>
          <p:cNvSpPr txBox="1"/>
          <p:nvPr/>
        </p:nvSpPr>
        <p:spPr>
          <a:xfrm>
            <a:off x="6720840" y="2395728"/>
            <a:ext cx="1554480" cy="320040"/>
          </a:xfrm>
          <a:prstGeom prst="rect">
            <a:avLst/>
          </a:prstGeom>
          <a:noFill/>
        </p:spPr>
        <p:txBody>
          <a:bodyPr wrap="square" lIns="45720" rIns="45720" tIns="27432" bIns="27432" anchor="t">
            <a:spAutoFit/>
          </a:bodyPr>
          <a:lstStyle/>
          <a:p>
            <a:pPr algn="ctr">
              <a:lnSpc>
                <a:spcPct val="105000"/>
              </a:lnSpc>
            </a:pPr>
            <a:r>
              <a:rPr sz="1200" b="0" i="0">
                <a:solidFill>
                  <a:srgbClr val="1C2433"/>
                </a:solidFill>
                <a:latin typeface="Calibri"/>
              </a:rPr>
              <a:t>load 10-20</a:t>
            </a:r>
          </a:p>
        </p:txBody>
      </p:sp>
      <p:sp>
        <p:nvSpPr>
          <p:cNvPr id="24" name="Oval 23"/>
          <p:cNvSpPr/>
          <p:nvPr/>
        </p:nvSpPr>
        <p:spPr>
          <a:xfrm>
            <a:off x="9326880" y="1947672"/>
            <a:ext cx="402336" cy="402336"/>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0" y="1947672"/>
            <a:ext cx="402336" cy="402336"/>
          </a:xfrm>
          <a:prstGeom prst="rect">
            <a:avLst/>
          </a:prstGeom>
          <a:noFill/>
        </p:spPr>
        <p:txBody>
          <a:bodyPr wrap="square" lIns="0" rIns="0" tIns="0" bIns="0" anchor="ctr">
            <a:spAutoFit/>
          </a:bodyPr>
          <a:lstStyle/>
          <a:p>
            <a:pPr algn="ctr">
              <a:lnSpc>
                <a:spcPct val="105000"/>
              </a:lnSpc>
            </a:pPr>
            <a:r>
              <a:rPr sz="1100" b="1" i="0">
                <a:solidFill>
                  <a:srgbClr val="FFFFFF"/>
                </a:solidFill>
                <a:latin typeface="Calibri"/>
              </a:rPr>
              <a:t>S5</a:t>
            </a:r>
          </a:p>
        </p:txBody>
      </p:sp>
      <p:sp>
        <p:nvSpPr>
          <p:cNvPr id="26" name="TextBox 25"/>
          <p:cNvSpPr txBox="1"/>
          <p:nvPr/>
        </p:nvSpPr>
        <p:spPr>
          <a:xfrm>
            <a:off x="8778240" y="2395728"/>
            <a:ext cx="1554480" cy="320040"/>
          </a:xfrm>
          <a:prstGeom prst="rect">
            <a:avLst/>
          </a:prstGeom>
          <a:noFill/>
        </p:spPr>
        <p:txBody>
          <a:bodyPr wrap="square" lIns="45720" rIns="45720" tIns="27432" bIns="27432" anchor="t">
            <a:spAutoFit/>
          </a:bodyPr>
          <a:lstStyle/>
          <a:p>
            <a:pPr algn="ctr">
              <a:lnSpc>
                <a:spcPct val="105000"/>
              </a:lnSpc>
            </a:pPr>
            <a:r>
              <a:rPr sz="1200" b="0" i="0">
                <a:solidFill>
                  <a:srgbClr val="1C2433"/>
                </a:solidFill>
                <a:latin typeface="Calibri"/>
              </a:rPr>
              <a:t>maintenance</a:t>
            </a:r>
          </a:p>
        </p:txBody>
      </p:sp>
      <p:sp>
        <p:nvSpPr>
          <p:cNvPr id="27" name="Rectangle 26"/>
          <p:cNvSpPr/>
          <p:nvPr/>
        </p:nvSpPr>
        <p:spPr>
          <a:xfrm>
            <a:off x="4800600" y="1600200"/>
            <a:ext cx="27432" cy="114300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4846320" y="1554480"/>
            <a:ext cx="2103120" cy="320040"/>
          </a:xfrm>
          <a:prstGeom prst="rect">
            <a:avLst/>
          </a:prstGeom>
          <a:noFill/>
        </p:spPr>
        <p:txBody>
          <a:bodyPr wrap="square" lIns="45720" rIns="45720" tIns="27432" bIns="27432" anchor="t">
            <a:spAutoFit/>
          </a:bodyPr>
          <a:lstStyle/>
          <a:p>
            <a:pPr algn="l">
              <a:lnSpc>
                <a:spcPct val="105000"/>
              </a:lnSpc>
            </a:pPr>
            <a:r>
              <a:rPr sz="1150" b="1" i="0">
                <a:solidFill>
                  <a:srgbClr val="B3261E"/>
                </a:solidFill>
                <a:latin typeface="Calibri"/>
              </a:rPr>
              <a:t>known at: S3 time</a:t>
            </a:r>
          </a:p>
        </p:txBody>
      </p:sp>
      <p:sp>
        <p:nvSpPr>
          <p:cNvPr id="29" name="TextBox 28"/>
          <p:cNvSpPr txBox="1"/>
          <p:nvPr/>
        </p:nvSpPr>
        <p:spPr>
          <a:xfrm>
            <a:off x="411480" y="2788920"/>
            <a:ext cx="11247120" cy="365760"/>
          </a:xfrm>
          <a:prstGeom prst="rect">
            <a:avLst/>
          </a:prstGeom>
          <a:noFill/>
        </p:spPr>
        <p:txBody>
          <a:bodyPr wrap="square" lIns="45720" rIns="45720" tIns="27432" bIns="27432" anchor="t">
            <a:spAutoFit/>
          </a:bodyPr>
          <a:lstStyle/>
          <a:p>
            <a:pPr algn="l">
              <a:lnSpc>
                <a:spcPct val="105000"/>
              </a:lnSpc>
            </a:pPr>
            <a:r>
              <a:rPr sz="1250" b="0" i="0">
                <a:solidFill>
                  <a:srgbClr val="5B677A"/>
                </a:solidFill>
                <a:latin typeface="Calibri"/>
              </a:rPr>
              <a:t>A view </a:t>
            </a:r>
            <a:r>
              <a:rPr sz="1250" b="0" i="1">
                <a:solidFill>
                  <a:srgbClr val="5B677A"/>
                </a:solidFill>
                <a:latin typeface="Calibri"/>
              </a:rPr>
              <a:t>known at</a:t>
            </a:r>
            <a:r>
              <a:rPr sz="1250" b="0" i="0">
                <a:solidFill>
                  <a:srgbClr val="5B677A"/>
                </a:solidFill>
                <a:latin typeface="Calibri"/>
              </a:rPr>
              <a:t> that instant reads S3's schema and files; a later load is invisible; a time before the oldest snapshot kept reads nothing.</a:t>
            </a:r>
          </a:p>
        </p:txBody>
      </p:sp>
      <p:graphicFrame>
        <p:nvGraphicFramePr>
          <p:cNvPr id="30" name="Table 29"/>
          <p:cNvGraphicFramePr>
            <a:graphicFrameLocks noGrp="1"/>
          </p:cNvGraphicFramePr>
          <p:nvPr/>
        </p:nvGraphicFramePr>
        <p:xfrm>
          <a:off x="411480" y="3291840"/>
          <a:ext cx="11365992" cy="2891328"/>
        </p:xfrm>
        <a:graphic>
          <a:graphicData uri="http://schemas.openxmlformats.org/drawingml/2006/table">
            <a:tbl>
              <a:tblPr firstRow="1" bandRow="1">
                <a:tableStyleId>{5940675A-B579-460E-94D1-54222C63F5DA}</a:tableStyleId>
              </a:tblPr>
              <a:tblGrid>
                <a:gridCol w="2377440"/>
                <a:gridCol w="4572000"/>
                <a:gridCol w="4416552"/>
              </a:tblGrid>
              <a:tr h="414207">
                <a:tc>
                  <a:txBody>
                    <a:bodyPr wrap="square"/>
                    <a:lstStyle/>
                    <a:p>
                      <a:pPr algn="l">
                        <a:lnSpc>
                          <a:spcPct val="100000"/>
                        </a:lnSpc>
                      </a:pP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Iceberg in Drishti</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Delta in Drishti</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14207">
                <a:tc>
                  <a:txBody>
                    <a:bodyPr wrap="square"/>
                    <a:lstStyle/>
                    <a:p>
                      <a:pPr algn="l">
                        <a:lnSpc>
                          <a:spcPct val="100000"/>
                        </a:lnSpc>
                      </a:pPr>
                      <a:r>
                        <a:rPr sz="1200" b="1" i="0">
                          <a:solidFill>
                            <a:srgbClr val="1C2433"/>
                          </a:solidFill>
                          <a:latin typeface="Calibri"/>
                        </a:rPr>
                        <a:t>Time travel unit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 snapshot (each commit), from the snapshot 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 table version (each commit), from the 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17250">
                <a:tc>
                  <a:txBody>
                    <a:bodyPr wrap="square"/>
                    <a:lstStyle/>
                    <a:p>
                      <a:pPr algn="l">
                        <a:lnSpc>
                          <a:spcPct val="100000"/>
                        </a:lnSpc>
                      </a:pPr>
                      <a:r>
                        <a:rPr sz="1200" b="1" i="0">
                          <a:solidFill>
                            <a:srgbClr val="1C2433"/>
                          </a:solidFill>
                          <a:latin typeface="Calibri"/>
                        </a:rPr>
                        <a:t>How far back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until snapshots are expired: </a:t>
                      </a:r>
                      <a:r>
                        <a:rPr sz="1100" b="0" i="0">
                          <a:solidFill>
                            <a:srgbClr val="0E7C86"/>
                          </a:solidFill>
                          <a:latin typeface="Consolas"/>
                        </a:rPr>
                        <a:t>--expire-hours</a:t>
                      </a:r>
                      <a:r>
                        <a:rPr sz="1200" b="0" i="0">
                          <a:solidFill>
                            <a:srgbClr val="1C2433"/>
                          </a:solidFill>
                          <a:latin typeface="Calibri"/>
                        </a:rPr>
                        <a:t> (168 by default)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until vacuum and log retention (168 h; 7 years in the risk domains)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17250">
                <a:tc>
                  <a:txBody>
                    <a:bodyPr wrap="square"/>
                    <a:lstStyle/>
                    <a:p>
                      <a:pPr algn="l">
                        <a:lnSpc>
                          <a:spcPct val="100000"/>
                        </a:lnSpc>
                      </a:pPr>
                      <a:r>
                        <a:rPr sz="1200" b="1" i="0">
                          <a:solidFill>
                            <a:srgbClr val="1C2433"/>
                          </a:solidFill>
                          <a:latin typeface="Calibri"/>
                        </a:rPr>
                        <a:t>Rows deleted by other engines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position and equality deletes applied by </a:t>
                      </a:r>
                      <a:r>
                        <a:rPr sz="1200" b="1" i="0">
                          <a:solidFill>
                            <a:srgbClr val="1C2433"/>
                          </a:solidFill>
                          <a:latin typeface="Calibri"/>
                        </a:rPr>
                        <a:t>every</a:t>
                      </a:r>
                      <a:r>
                        <a:rPr sz="1200" b="0" i="0">
                          <a:solidFill>
                            <a:srgbClr val="1C2433"/>
                          </a:solidFill>
                          <a:latin typeface="Calibri"/>
                        </a:rPr>
                        <a:t> read, columns stay 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deletion vectors honoured; the table's searches fall back to documents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14207">
                <a:tc>
                  <a:txBody>
                    <a:bodyPr wrap="square"/>
                    <a:lstStyle/>
                    <a:p>
                      <a:pPr algn="l">
                        <a:lnSpc>
                          <a:spcPct val="100000"/>
                        </a:lnSpc>
                      </a:pPr>
                      <a:r>
                        <a:rPr sz="1200" b="1" i="0">
                          <a:solidFill>
                            <a:srgbClr val="1C2433"/>
                          </a:solidFill>
                          <a:latin typeface="Calibri"/>
                        </a:rPr>
                        <a:t>Drishti's own deletes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none: a restated day replaces its partition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none: a restated day replaces its partition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14207">
                <a:tc>
                  <a:txBody>
                    <a:bodyPr wrap="square"/>
                    <a:lstStyle/>
                    <a:p>
                      <a:pPr algn="l">
                        <a:lnSpc>
                          <a:spcPct val="100000"/>
                        </a:lnSpc>
                      </a:pPr>
                      <a:r>
                        <a:rPr sz="1200" b="1" i="0">
                          <a:solidFill>
                            <a:srgbClr val="1C2433"/>
                          </a:solidFill>
                          <a:latin typeface="Calibri"/>
                        </a:rPr>
                        <a:t>Format v3 deletion vectors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refused by name (later)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Lake build to Iceberg, and the demo's CALYPSO in Iceberg</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40</a:t>
            </a:r>
          </a:p>
        </p:txBody>
      </p:sp>
      <p:sp>
        <p:nvSpPr>
          <p:cNvPr id="10" name="Rounded Rectangle 9"/>
          <p:cNvSpPr/>
          <p:nvPr/>
        </p:nvSpPr>
        <p:spPr>
          <a:xfrm>
            <a:off x="411480" y="1234440"/>
            <a:ext cx="2130552" cy="2103120"/>
          </a:xfrm>
          <a:prstGeom prst="roundRect">
            <a:avLst>
              <a:gd name="adj" fmla="val 7000"/>
            </a:avLst>
          </a:prstGeom>
          <a:solidFill>
            <a:srgbClr val="EEE6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Oval 10"/>
          <p:cNvSpPr/>
          <p:nvPr/>
        </p:nvSpPr>
        <p:spPr>
          <a:xfrm>
            <a:off x="502920" y="1325880"/>
            <a:ext cx="411480" cy="41148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325880"/>
            <a:ext cx="411480" cy="411480"/>
          </a:xfrm>
          <a:prstGeom prst="rect">
            <a:avLst/>
          </a:prstGeom>
          <a:noFill/>
        </p:spPr>
        <p:txBody>
          <a:bodyPr wrap="square" lIns="0" rIns="0" tIns="0" bIns="0" anchor="ctr">
            <a:spAutoFit/>
          </a:bodyPr>
          <a:lstStyle/>
          <a:p>
            <a:pPr algn="ctr">
              <a:lnSpc>
                <a:spcPct val="105000"/>
              </a:lnSpc>
            </a:pPr>
            <a:r>
              <a:rPr sz="1400" b="1" i="0">
                <a:solidFill>
                  <a:srgbClr val="FFFFFF"/>
                </a:solidFill>
                <a:latin typeface="Calibri"/>
              </a:rPr>
              <a:t>1</a:t>
            </a:r>
          </a:p>
        </p:txBody>
      </p:sp>
      <p:sp>
        <p:nvSpPr>
          <p:cNvPr id="13" name="TextBox 12"/>
          <p:cNvSpPr txBox="1"/>
          <p:nvPr/>
        </p:nvSpPr>
        <p:spPr>
          <a:xfrm>
            <a:off x="960120" y="1298448"/>
            <a:ext cx="1536192" cy="502920"/>
          </a:xfrm>
          <a:prstGeom prst="rect">
            <a:avLst/>
          </a:prstGeom>
          <a:noFill/>
        </p:spPr>
        <p:txBody>
          <a:bodyPr wrap="square" lIns="45720" rIns="45720" tIns="27432" bIns="27432" anchor="ctr">
            <a:spAutoFit/>
          </a:bodyPr>
          <a:lstStyle/>
          <a:p>
            <a:pPr algn="l">
              <a:lnSpc>
                <a:spcPct val="105000"/>
              </a:lnSpc>
            </a:pPr>
            <a:r>
              <a:rPr sz="1300" b="1" i="0">
                <a:solidFill>
                  <a:srgbClr val="0B1E3B"/>
                </a:solidFill>
                <a:latin typeface="Calibri"/>
              </a:rPr>
              <a:t>JSON Lines in</a:t>
            </a:r>
          </a:p>
        </p:txBody>
      </p:sp>
      <p:sp>
        <p:nvSpPr>
          <p:cNvPr id="14" name="TextBox 13"/>
          <p:cNvSpPr txBox="1"/>
          <p:nvPr/>
        </p:nvSpPr>
        <p:spPr>
          <a:xfrm>
            <a:off x="502920" y="1874519"/>
            <a:ext cx="1947672" cy="1417320"/>
          </a:xfrm>
          <a:prstGeom prst="rect">
            <a:avLst/>
          </a:prstGeom>
          <a:noFill/>
        </p:spPr>
        <p:txBody>
          <a:bodyPr wrap="square" lIns="45720" rIns="45720" tIns="27432" bIns="27432" anchor="t">
            <a:spAutoFit/>
          </a:bodyPr>
          <a:lstStyle/>
          <a:p>
            <a:pPr algn="l">
              <a:lnSpc>
                <a:spcPct val="105000"/>
              </a:lnSpc>
            </a:pPr>
            <a:r>
              <a:rPr sz="1100" b="0" i="0">
                <a:solidFill>
                  <a:srgbClr val="0E7C86"/>
                </a:solidFill>
                <a:latin typeface="Consolas"/>
              </a:rPr>
              <a:t>data/testdata/&lt;domain&gt;/&lt;kind&gt;/*.jsonl.gz</a:t>
            </a:r>
            <a:r>
              <a:rPr sz="1200" b="0" i="0">
                <a:solidFill>
                  <a:srgbClr val="1C2433"/>
                </a:solidFill>
                <a:latin typeface="Calibri"/>
              </a:rPr>
              <a:t> or a bank's dumps</a:t>
            </a:r>
          </a:p>
        </p:txBody>
      </p:sp>
      <p:cxnSp>
        <p:nvCxnSpPr>
          <p:cNvPr id="15" name="Connector 14"/>
          <p:cNvCxnSpPr/>
          <p:nvPr/>
        </p:nvCxnSpPr>
        <p:spPr>
          <a:xfrm>
            <a:off x="2542032" y="2286000"/>
            <a:ext cx="182880" cy="0"/>
          </a:xfrm>
          <a:prstGeom prst="line">
            <a:avLst/>
          </a:prstGeom>
          <a:ln w="25400">
            <a:solidFill>
              <a:srgbClr val="E87A1E"/>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724912" y="1234440"/>
            <a:ext cx="2130552" cy="2103120"/>
          </a:xfrm>
          <a:prstGeom prst="roundRect">
            <a:avLst>
              <a:gd name="adj" fmla="val 7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Oval 16"/>
          <p:cNvSpPr/>
          <p:nvPr/>
        </p:nvSpPr>
        <p:spPr>
          <a:xfrm>
            <a:off x="2816352" y="1325880"/>
            <a:ext cx="411480" cy="41148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16352" y="1325880"/>
            <a:ext cx="411480" cy="411480"/>
          </a:xfrm>
          <a:prstGeom prst="rect">
            <a:avLst/>
          </a:prstGeom>
          <a:noFill/>
        </p:spPr>
        <p:txBody>
          <a:bodyPr wrap="square" lIns="0" rIns="0" tIns="0" bIns="0" anchor="ctr">
            <a:spAutoFit/>
          </a:bodyPr>
          <a:lstStyle/>
          <a:p>
            <a:pPr algn="ctr">
              <a:lnSpc>
                <a:spcPct val="105000"/>
              </a:lnSpc>
            </a:pPr>
            <a:r>
              <a:rPr sz="1400" b="1" i="0">
                <a:solidFill>
                  <a:srgbClr val="FFFFFF"/>
                </a:solidFill>
                <a:latin typeface="Calibri"/>
              </a:rPr>
              <a:t>2</a:t>
            </a:r>
          </a:p>
        </p:txBody>
      </p:sp>
      <p:sp>
        <p:nvSpPr>
          <p:cNvPr id="19" name="TextBox 18"/>
          <p:cNvSpPr txBox="1"/>
          <p:nvPr/>
        </p:nvSpPr>
        <p:spPr>
          <a:xfrm>
            <a:off x="3273552" y="1298448"/>
            <a:ext cx="1536192" cy="502920"/>
          </a:xfrm>
          <a:prstGeom prst="rect">
            <a:avLst/>
          </a:prstGeom>
          <a:noFill/>
        </p:spPr>
        <p:txBody>
          <a:bodyPr wrap="square" lIns="45720" rIns="45720" tIns="27432" bIns="27432" anchor="ctr">
            <a:spAutoFit/>
          </a:bodyPr>
          <a:lstStyle/>
          <a:p>
            <a:pPr algn="l">
              <a:lnSpc>
                <a:spcPct val="105000"/>
              </a:lnSpc>
            </a:pPr>
            <a:r>
              <a:rPr sz="1300" b="1" i="0">
                <a:solidFill>
                  <a:srgbClr val="0B1E3B"/>
                </a:solidFill>
                <a:latin typeface="Calibri"/>
              </a:rPr>
              <a:t>lake build → Delta</a:t>
            </a:r>
          </a:p>
        </p:txBody>
      </p:sp>
      <p:sp>
        <p:nvSpPr>
          <p:cNvPr id="20" name="TextBox 19"/>
          <p:cNvSpPr txBox="1"/>
          <p:nvPr/>
        </p:nvSpPr>
        <p:spPr>
          <a:xfrm>
            <a:off x="2816352" y="1874519"/>
            <a:ext cx="1947672" cy="1417320"/>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staged under </a:t>
            </a:r>
            <a:r>
              <a:rPr sz="1100" b="0" i="0">
                <a:solidFill>
                  <a:srgbClr val="0E7C86"/>
                </a:solidFill>
                <a:latin typeface="Consolas"/>
              </a:rPr>
              <a:t>&lt;data&gt;/build/iceberg-stage</a:t>
            </a:r>
            <a:r>
              <a:rPr sz="1200" b="0" i="0">
                <a:solidFill>
                  <a:srgbClr val="1C2433"/>
                </a:solidFill>
                <a:latin typeface="Calibri"/>
              </a:rPr>
              <a:t>: the same documents and promoted columns as a Delta build</a:t>
            </a:r>
          </a:p>
        </p:txBody>
      </p:sp>
      <p:cxnSp>
        <p:nvCxnSpPr>
          <p:cNvPr id="21" name="Connector 20"/>
          <p:cNvCxnSpPr/>
          <p:nvPr/>
        </p:nvCxnSpPr>
        <p:spPr>
          <a:xfrm>
            <a:off x="4855464" y="2286000"/>
            <a:ext cx="182880" cy="0"/>
          </a:xfrm>
          <a:prstGeom prst="line">
            <a:avLst/>
          </a:prstGeom>
          <a:ln w="25400">
            <a:solidFill>
              <a:srgbClr val="E87A1E"/>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38344" y="1234440"/>
            <a:ext cx="2130552" cy="2103120"/>
          </a:xfrm>
          <a:prstGeom prst="roundRect">
            <a:avLst>
              <a:gd name="adj" fmla="val 7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Oval 22"/>
          <p:cNvSpPr/>
          <p:nvPr/>
        </p:nvSpPr>
        <p:spPr>
          <a:xfrm>
            <a:off x="5129784" y="1325880"/>
            <a:ext cx="411480" cy="41148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9784" y="1325880"/>
            <a:ext cx="411480" cy="411480"/>
          </a:xfrm>
          <a:prstGeom prst="rect">
            <a:avLst/>
          </a:prstGeom>
          <a:noFill/>
        </p:spPr>
        <p:txBody>
          <a:bodyPr wrap="square" lIns="0" rIns="0" tIns="0" bIns="0" anchor="ctr">
            <a:spAutoFit/>
          </a:bodyPr>
          <a:lstStyle/>
          <a:p>
            <a:pPr algn="ctr">
              <a:lnSpc>
                <a:spcPct val="105000"/>
              </a:lnSpc>
            </a:pPr>
            <a:r>
              <a:rPr sz="1400" b="1" i="0">
                <a:solidFill>
                  <a:srgbClr val="FFFFFF"/>
                </a:solidFill>
                <a:latin typeface="Calibri"/>
              </a:rPr>
              <a:t>3</a:t>
            </a:r>
          </a:p>
        </p:txBody>
      </p:sp>
      <p:sp>
        <p:nvSpPr>
          <p:cNvPr id="25" name="TextBox 24"/>
          <p:cNvSpPr txBox="1"/>
          <p:nvPr/>
        </p:nvSpPr>
        <p:spPr>
          <a:xfrm>
            <a:off x="5586984" y="1298448"/>
            <a:ext cx="1536192" cy="502920"/>
          </a:xfrm>
          <a:prstGeom prst="rect">
            <a:avLst/>
          </a:prstGeom>
          <a:noFill/>
        </p:spPr>
        <p:txBody>
          <a:bodyPr wrap="square" lIns="45720" rIns="45720" tIns="27432" bIns="27432" anchor="ctr">
            <a:spAutoFit/>
          </a:bodyPr>
          <a:lstStyle/>
          <a:p>
            <a:pPr algn="l">
              <a:lnSpc>
                <a:spcPct val="105000"/>
              </a:lnSpc>
            </a:pPr>
            <a:r>
              <a:rPr sz="1300" b="1" i="0">
                <a:solidFill>
                  <a:srgbClr val="0B1E3B"/>
                </a:solidFill>
                <a:latin typeface="Calibri"/>
              </a:rPr>
              <a:t>IcebergLoader, engine native</a:t>
            </a:r>
          </a:p>
        </p:txBody>
      </p:sp>
      <p:sp>
        <p:nvSpPr>
          <p:cNvPr id="26" name="TextBox 25"/>
          <p:cNvSpPr txBox="1"/>
          <p:nvPr/>
        </p:nvSpPr>
        <p:spPr>
          <a:xfrm>
            <a:off x="5129784" y="1874519"/>
            <a:ext cx="1947672" cy="1417320"/>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each business day committed as one overwrite of its partition; no Maven, works on Windows</a:t>
            </a:r>
          </a:p>
        </p:txBody>
      </p:sp>
      <p:cxnSp>
        <p:nvCxnSpPr>
          <p:cNvPr id="27" name="Connector 26"/>
          <p:cNvCxnSpPr/>
          <p:nvPr/>
        </p:nvCxnSpPr>
        <p:spPr>
          <a:xfrm>
            <a:off x="7168896" y="2286000"/>
            <a:ext cx="182880" cy="0"/>
          </a:xfrm>
          <a:prstGeom prst="line">
            <a:avLst/>
          </a:prstGeom>
          <a:ln w="25400">
            <a:solidFill>
              <a:srgbClr val="E87A1E"/>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51776" y="1234440"/>
            <a:ext cx="2130552" cy="2103120"/>
          </a:xfrm>
          <a:prstGeom prst="roundRect">
            <a:avLst>
              <a:gd name="adj" fmla="val 7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Oval 28"/>
          <p:cNvSpPr/>
          <p:nvPr/>
        </p:nvSpPr>
        <p:spPr>
          <a:xfrm>
            <a:off x="7443216" y="1325880"/>
            <a:ext cx="411480" cy="41148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43216" y="1325880"/>
            <a:ext cx="411480" cy="411480"/>
          </a:xfrm>
          <a:prstGeom prst="rect">
            <a:avLst/>
          </a:prstGeom>
          <a:noFill/>
        </p:spPr>
        <p:txBody>
          <a:bodyPr wrap="square" lIns="0" rIns="0" tIns="0" bIns="0" anchor="ctr">
            <a:spAutoFit/>
          </a:bodyPr>
          <a:lstStyle/>
          <a:p>
            <a:pPr algn="ctr">
              <a:lnSpc>
                <a:spcPct val="105000"/>
              </a:lnSpc>
            </a:pPr>
            <a:r>
              <a:rPr sz="1400" b="1" i="0">
                <a:solidFill>
                  <a:srgbClr val="FFFFFF"/>
                </a:solidFill>
                <a:latin typeface="Calibri"/>
              </a:rPr>
              <a:t>4</a:t>
            </a:r>
          </a:p>
        </p:txBody>
      </p:sp>
      <p:sp>
        <p:nvSpPr>
          <p:cNvPr id="31" name="TextBox 30"/>
          <p:cNvSpPr txBox="1"/>
          <p:nvPr/>
        </p:nvSpPr>
        <p:spPr>
          <a:xfrm>
            <a:off x="7900416" y="1298448"/>
            <a:ext cx="1536192" cy="502920"/>
          </a:xfrm>
          <a:prstGeom prst="rect">
            <a:avLst/>
          </a:prstGeom>
          <a:noFill/>
        </p:spPr>
        <p:txBody>
          <a:bodyPr wrap="square" lIns="45720" rIns="45720" tIns="27432" bIns="27432" anchor="ctr">
            <a:spAutoFit/>
          </a:bodyPr>
          <a:lstStyle/>
          <a:p>
            <a:pPr algn="l">
              <a:lnSpc>
                <a:spcPct val="105000"/>
              </a:lnSpc>
            </a:pPr>
            <a:r>
              <a:rPr sz="1300" b="1" i="0">
                <a:solidFill>
                  <a:srgbClr val="0B1E3B"/>
                </a:solidFill>
                <a:latin typeface="Calibri"/>
              </a:rPr>
              <a:t>Iceberg table</a:t>
            </a:r>
          </a:p>
        </p:txBody>
      </p:sp>
      <p:sp>
        <p:nvSpPr>
          <p:cNvPr id="32" name="TextBox 31"/>
          <p:cNvSpPr txBox="1"/>
          <p:nvPr/>
        </p:nvSpPr>
        <p:spPr>
          <a:xfrm>
            <a:off x="7443216" y="1874519"/>
            <a:ext cx="1947672" cy="1417320"/>
          </a:xfrm>
          <a:prstGeom prst="rect">
            <a:avLst/>
          </a:prstGeom>
          <a:noFill/>
        </p:spPr>
        <p:txBody>
          <a:bodyPr wrap="square" lIns="45720" rIns="45720" tIns="27432" bIns="27432" anchor="t">
            <a:spAutoFit/>
          </a:bodyPr>
          <a:lstStyle/>
          <a:p>
            <a:pPr algn="l">
              <a:lnSpc>
                <a:spcPct val="105000"/>
              </a:lnSpc>
            </a:pPr>
            <a:r>
              <a:rPr sz="1100" b="0" i="0">
                <a:solidFill>
                  <a:srgbClr val="0E7C86"/>
                </a:solidFill>
                <a:latin typeface="Consolas"/>
              </a:rPr>
              <a:t>&lt;data&gt;/iceberg/trading/trade_calypso</a:t>
            </a:r>
            <a:r>
              <a:rPr sz="1200" b="0" i="0">
                <a:solidFill>
                  <a:srgbClr val="1C2433"/>
                </a:solidFill>
                <a:latin typeface="Calibri"/>
              </a:rPr>
              <a:t> (or </a:t>
            </a:r>
            <a:r>
              <a:rPr sz="1100" b="0" i="0">
                <a:solidFill>
                  <a:srgbClr val="0E7C86"/>
                </a:solidFill>
                <a:latin typeface="Consolas"/>
              </a:rPr>
              <a:t>s3://…</a:t>
            </a:r>
            <a:r>
              <a:rPr sz="1200" b="0" i="0">
                <a:solidFill>
                  <a:srgbClr val="1C2433"/>
                </a:solidFill>
                <a:latin typeface="Calibri"/>
              </a:rPr>
              <a:t>)</a:t>
            </a:r>
          </a:p>
        </p:txBody>
      </p:sp>
      <p:cxnSp>
        <p:nvCxnSpPr>
          <p:cNvPr id="33" name="Connector 32"/>
          <p:cNvCxnSpPr/>
          <p:nvPr/>
        </p:nvCxnSpPr>
        <p:spPr>
          <a:xfrm>
            <a:off x="9482328" y="2286000"/>
            <a:ext cx="182880" cy="0"/>
          </a:xfrm>
          <a:prstGeom prst="line">
            <a:avLst/>
          </a:prstGeom>
          <a:ln w="25400">
            <a:solidFill>
              <a:srgbClr val="E87A1E"/>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665208" y="1234440"/>
            <a:ext cx="2130552" cy="2103120"/>
          </a:xfrm>
          <a:prstGeom prst="roundRect">
            <a:avLst>
              <a:gd name="adj" fmla="val 7000"/>
            </a:avLst>
          </a:prstGeom>
          <a:solidFill>
            <a:srgbClr val="FCE8D2"/>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Oval 34"/>
          <p:cNvSpPr/>
          <p:nvPr/>
        </p:nvSpPr>
        <p:spPr>
          <a:xfrm>
            <a:off x="9756648" y="1325880"/>
            <a:ext cx="411480" cy="41148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56648" y="1325880"/>
            <a:ext cx="411480" cy="411480"/>
          </a:xfrm>
          <a:prstGeom prst="rect">
            <a:avLst/>
          </a:prstGeom>
          <a:noFill/>
        </p:spPr>
        <p:txBody>
          <a:bodyPr wrap="square" lIns="0" rIns="0" tIns="0" bIns="0" anchor="ctr">
            <a:spAutoFit/>
          </a:bodyPr>
          <a:lstStyle/>
          <a:p>
            <a:pPr algn="ctr">
              <a:lnSpc>
                <a:spcPct val="105000"/>
              </a:lnSpc>
            </a:pPr>
            <a:r>
              <a:rPr sz="1400" b="1" i="0">
                <a:solidFill>
                  <a:srgbClr val="FFFFFF"/>
                </a:solidFill>
                <a:latin typeface="Calibri"/>
              </a:rPr>
              <a:t>5</a:t>
            </a:r>
          </a:p>
        </p:txBody>
      </p:sp>
      <p:sp>
        <p:nvSpPr>
          <p:cNvPr id="37" name="TextBox 36"/>
          <p:cNvSpPr txBox="1"/>
          <p:nvPr/>
        </p:nvSpPr>
        <p:spPr>
          <a:xfrm>
            <a:off x="10213848" y="1298448"/>
            <a:ext cx="1536192" cy="502920"/>
          </a:xfrm>
          <a:prstGeom prst="rect">
            <a:avLst/>
          </a:prstGeom>
          <a:noFill/>
        </p:spPr>
        <p:txBody>
          <a:bodyPr wrap="square" lIns="45720" rIns="45720" tIns="27432" bIns="27432" anchor="ctr">
            <a:spAutoFit/>
          </a:bodyPr>
          <a:lstStyle/>
          <a:p>
            <a:pPr algn="l">
              <a:lnSpc>
                <a:spcPct val="105000"/>
              </a:lnSpc>
            </a:pPr>
            <a:r>
              <a:rPr sz="1300" b="1" i="0">
                <a:solidFill>
                  <a:srgbClr val="0B1E3B"/>
                </a:solidFill>
                <a:latin typeface="Calibri"/>
              </a:rPr>
              <a:t>connector file switched</a:t>
            </a:r>
          </a:p>
        </p:txBody>
      </p:sp>
      <p:sp>
        <p:nvSpPr>
          <p:cNvPr id="38" name="TextBox 37"/>
          <p:cNvSpPr txBox="1"/>
          <p:nvPr/>
        </p:nvSpPr>
        <p:spPr>
          <a:xfrm>
            <a:off x="9756648" y="1874519"/>
            <a:ext cx="1947672" cy="1417320"/>
          </a:xfrm>
          <a:prstGeom prst="rect">
            <a:avLst/>
          </a:prstGeom>
          <a:noFill/>
        </p:spPr>
        <p:txBody>
          <a:bodyPr wrap="square" lIns="45720" rIns="45720" tIns="27432" bIns="27432" anchor="t">
            <a:spAutoFit/>
          </a:bodyPr>
          <a:lstStyle/>
          <a:p>
            <a:pPr algn="l">
              <a:lnSpc>
                <a:spcPct val="105000"/>
              </a:lnSpc>
            </a:pPr>
            <a:r>
              <a:rPr sz="1100" b="0" i="0">
                <a:solidFill>
                  <a:srgbClr val="0E7C86"/>
                </a:solidFill>
                <a:latin typeface="Consolas"/>
              </a:rPr>
              <a:t>trade-calypso.yaml</a:t>
            </a:r>
            <a:r>
              <a:rPr sz="1200" b="0" i="0">
                <a:solidFill>
                  <a:srgbClr val="1C2433"/>
                </a:solidFill>
                <a:latin typeface="Calibri"/>
              </a:rPr>
              <a:t>: </a:t>
            </a:r>
            <a:r>
              <a:rPr sz="1100" b="0" i="0">
                <a:solidFill>
                  <a:srgbClr val="0E7C86"/>
                </a:solidFill>
                <a:latin typeface="Consolas"/>
              </a:rPr>
              <a:t>plugin: iceberg</a:t>
            </a:r>
            <a:r>
              <a:rPr sz="1200" b="0" i="0">
                <a:solidFill>
                  <a:srgbClr val="1C2433"/>
                </a:solidFill>
                <a:latin typeface="Calibri"/>
              </a:rPr>
              <a:t>, </a:t>
            </a:r>
            <a:r>
              <a:rPr sz="1100" b="0" i="0">
                <a:solidFill>
                  <a:srgbClr val="0E7C86"/>
                </a:solidFill>
                <a:latin typeface="Consolas"/>
              </a:rPr>
              <a:t>engine: native</a:t>
            </a:r>
            <a:r>
              <a:rPr sz="1200" b="0" i="0">
                <a:solidFill>
                  <a:srgbClr val="1C2433"/>
                </a:solidFill>
                <a:latin typeface="Calibri"/>
              </a:rPr>
              <a:t>, </a:t>
            </a:r>
            <a:r>
              <a:rPr sz="1100" b="0" i="0">
                <a:solidFill>
                  <a:srgbClr val="0E7C86"/>
                </a:solidFill>
                <a:latin typeface="Consolas"/>
              </a:rPr>
              <a:t>table: {trade: trade_calypso}</a:t>
            </a:r>
          </a:p>
        </p:txBody>
      </p:sp>
      <p:sp>
        <p:nvSpPr>
          <p:cNvPr id="39" name="Rounded Rectangle 38"/>
          <p:cNvSpPr/>
          <p:nvPr/>
        </p:nvSpPr>
        <p:spPr>
          <a:xfrm>
            <a:off x="411480" y="3520440"/>
            <a:ext cx="11365992" cy="868680"/>
          </a:xfrm>
          <a:prstGeom prst="roundRect">
            <a:avLst>
              <a:gd name="adj" fmla="val 3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TextBox 39"/>
          <p:cNvSpPr txBox="1"/>
          <p:nvPr/>
        </p:nvSpPr>
        <p:spPr>
          <a:xfrm>
            <a:off x="521208" y="3593592"/>
            <a:ext cx="11146536" cy="722375"/>
          </a:xfrm>
          <a:prstGeom prst="rect">
            <a:avLst/>
          </a:prstGeom>
          <a:noFill/>
        </p:spPr>
        <p:txBody>
          <a:bodyPr wrap="square" lIns="45720" rIns="45720" tIns="27432" bIns="27432" anchor="t">
            <a:spAutoFit/>
          </a:bodyPr>
          <a:lstStyle/>
          <a:p>
            <a:pPr algn="l">
              <a:lnSpc>
                <a:spcPct val="100000"/>
              </a:lnSpc>
            </a:pPr>
            <a:r>
              <a:rPr sz="1150" b="0" i="0">
                <a:solidFill>
                  <a:srgbClr val="E6EDF3"/>
                </a:solidFill>
                <a:latin typeface="Consolas"/>
              </a:rPr>
              <a:t>tools/load-iceberg.sh ./data/iceberg --trades 10000 --days 3          # samples and a book, one load</a:t>
            </a:r>
          </a:p>
          <a:p>
            <a:pPr algn="l">
              <a:lnSpc>
                <a:spcPct val="100000"/>
              </a:lnSpc>
            </a:pPr>
            <a:r>
              <a:rPr sz="1150" b="0" i="0">
                <a:solidFill>
                  <a:srgbClr val="E6EDF3"/>
                </a:solidFill>
                <a:latin typeface="Consolas"/>
              </a:rPr>
              <a:t>tools/load-iceberg.sh s3a://risk-lake/iceberg --set s3.region=us-east-1 --spill-dir /data/tmp</a:t>
            </a:r>
          </a:p>
          <a:p>
            <a:pPr algn="l">
              <a:lnSpc>
                <a:spcPct val="100000"/>
              </a:lnSpc>
            </a:pPr>
            <a:r>
              <a:rPr sz="1150" b="0" i="0">
                <a:solidFill>
                  <a:srgbClr val="E6EDF3"/>
                </a:solidFill>
                <a:latin typeface="Consolas"/>
              </a:rPr>
              <a:t>python tools/lake/stores.py --from data/delta/trading/trade_calypso --root data/iceberg --table trade_calypso --replace</a:t>
            </a:r>
          </a:p>
        </p:txBody>
      </p:sp>
      <p:graphicFrame>
        <p:nvGraphicFramePr>
          <p:cNvPr id="41" name="Table 40"/>
          <p:cNvGraphicFramePr>
            <a:graphicFrameLocks noGrp="1"/>
          </p:cNvGraphicFramePr>
          <p:nvPr/>
        </p:nvGraphicFramePr>
        <p:xfrm>
          <a:off x="411480" y="4572000"/>
          <a:ext cx="11365992" cy="1548384"/>
        </p:xfrm>
        <a:graphic>
          <a:graphicData uri="http://schemas.openxmlformats.org/drawingml/2006/table">
            <a:tbl>
              <a:tblPr firstRow="1" bandRow="1">
                <a:tableStyleId>{5940675A-B579-460E-94D1-54222C63F5DA}</a:tableStyleId>
              </a:tblPr>
              <a:tblGrid>
                <a:gridCol w="6793992"/>
                <a:gridCol w="4572000"/>
              </a:tblGrid>
              <a:tr h="310896">
                <a:tc>
                  <a:txBody>
                    <a:bodyPr wrap="square"/>
                    <a:lstStyle/>
                    <a:p>
                      <a:pPr algn="l">
                        <a:lnSpc>
                          <a:spcPct val="100000"/>
                        </a:lnSpc>
                      </a:pPr>
                      <a:r>
                        <a:rPr sz="1200" b="1" i="0">
                          <a:solidFill>
                            <a:srgbClr val="FFFFFF"/>
                          </a:solidFill>
                          <a:latin typeface="Calibri"/>
                        </a:rPr>
                        <a:t>Path to an Iceberg table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Scope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310896">
                <a:tc>
                  <a:txBody>
                    <a:bodyPr wrap="square"/>
                    <a:lstStyle/>
                    <a:p>
                      <a:pPr algn="l">
                        <a:lnSpc>
                          <a:spcPct val="100000"/>
                        </a:lnSpc>
                      </a:pPr>
                      <a:r>
                        <a:rPr sz="1100" b="1" i="0">
                          <a:solidFill>
                            <a:srgbClr val="0E7C86"/>
                          </a:solidFill>
                          <a:latin typeface="Consolas"/>
                        </a:rPr>
                        <a:t>build_demo_lakes.py --store &lt;system&gt;=iceberg</a:t>
                      </a:r>
                      <a:r>
                        <a:rPr sz="1200" b="1" i="0">
                          <a:solidFill>
                            <a:srgbClr val="1C2433"/>
                          </a:solidFill>
                          <a:latin typeface="Calibri"/>
                        </a:rPr>
                        <a:t> (via </a:t>
                      </a:r>
                      <a:r>
                        <a:rPr sz="1100" b="1" i="0">
                          <a:solidFill>
                            <a:srgbClr val="0E7C86"/>
                          </a:solidFill>
                          <a:latin typeface="Consolas"/>
                        </a:rPr>
                        <a:t>stores.py</a:t>
                      </a:r>
                      <a:r>
                        <a:rPr sz="1200" b="1"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trading domain's trade tables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63296">
                <a:tc>
                  <a:txBody>
                    <a:bodyPr wrap="square"/>
                    <a:lstStyle/>
                    <a:p>
                      <a:pPr algn="l">
                        <a:lnSpc>
                          <a:spcPct val="100000"/>
                        </a:lnSpc>
                      </a:pPr>
                      <a:r>
                        <a:rPr sz="1100" b="1" i="0">
                          <a:solidFill>
                            <a:srgbClr val="0E7C86"/>
                          </a:solidFill>
                          <a:latin typeface="Consolas"/>
                        </a:rPr>
                        <a:t>load-iceberg.sh</a:t>
                      </a:r>
                      <a:r>
                        <a:rPr sz="1200" b="1" i="0">
                          <a:solidFill>
                            <a:srgbClr val="1C2433"/>
                          </a:solidFill>
                          <a:latin typeface="Calibri"/>
                        </a:rPr>
                        <a:t> / </a:t>
                      </a:r>
                      <a:r>
                        <a:rPr sz="1100" b="1" i="0">
                          <a:solidFill>
                            <a:srgbClr val="0E7C86"/>
                          </a:solidFill>
                          <a:latin typeface="Consolas"/>
                        </a:rPr>
                        <a:t>load-iceberg.ps1</a:t>
                      </a:r>
                      <a:r>
                        <a:rPr sz="1200" b="1" i="0">
                          <a:solidFill>
                            <a:srgbClr val="1C2433"/>
                          </a:solidFill>
                          <a:latin typeface="Calibri"/>
                        </a:rPr>
                        <a:t> → </a:t>
                      </a:r>
                      <a:r>
                        <a:rPr sz="1100" b="1" i="0">
                          <a:solidFill>
                            <a:srgbClr val="0E7C86"/>
                          </a:solidFill>
                          <a:latin typeface="Consolas"/>
                        </a:rPr>
                        <a:t>IcebergLoader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any kind, JSON Lines </a:t>
                      </a:r>
                      <a:r>
                        <a:rPr sz="1100" b="0" i="0">
                          <a:solidFill>
                            <a:srgbClr val="0E7C86"/>
                          </a:solidFill>
                          <a:latin typeface="Consolas"/>
                        </a:rPr>
                        <a:t>{domain, kind, id, date, doc, columns}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63296">
                <a:tc>
                  <a:txBody>
                    <a:bodyPr wrap="square"/>
                    <a:lstStyle/>
                    <a:p>
                      <a:pPr algn="l">
                        <a:lnSpc>
                          <a:spcPct val="100000"/>
                        </a:lnSpc>
                      </a:pPr>
                      <a:r>
                        <a:rPr sz="1100" b="1" i="0">
                          <a:solidFill>
                            <a:srgbClr val="0E7C86"/>
                          </a:solidFill>
                          <a:latin typeface="Consolas"/>
                        </a:rPr>
                        <a:t>lake build --format iceberg</a:t>
                      </a:r>
                      <a:r>
                        <a:rPr sz="1200" b="1" i="0">
                          <a:solidFill>
                            <a:srgbClr val="1C2433"/>
                          </a:solidFill>
                          <a:latin typeface="Calibri"/>
                        </a:rPr>
                        <a:t>; </a:t>
                      </a:r>
                      <a:r>
                        <a:rPr sz="1100" b="1" i="0">
                          <a:solidFill>
                            <a:srgbClr val="0E7C86"/>
                          </a:solidFill>
                          <a:latin typeface="Consolas"/>
                        </a:rPr>
                        <a:t>--store risk=iceberg</a:t>
                      </a:r>
                      <a:r>
                        <a:rPr sz="1200" b="1" i="0">
                          <a:solidFill>
                            <a:srgbClr val="1C2433"/>
                          </a:solidFill>
                          <a:latin typeface="Calibri"/>
                        </a:rPr>
                        <a:t> (the whole risk domain)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any pack and kind; vector columns kept; </a:t>
                      </a:r>
                      <a:r>
                        <a:rPr sz="1100" b="0" i="0">
                          <a:solidFill>
                            <a:srgbClr val="0E7C86"/>
                          </a:solidFill>
                          <a:latin typeface="Consolas"/>
                        </a:rPr>
                        <a:t>s3://</a:t>
                      </a:r>
                      <a:r>
                        <a:rPr sz="1200" b="0" i="0">
                          <a:solidFill>
                            <a:srgbClr val="1C2433"/>
                          </a:solidFill>
                          <a:latin typeface="Calibri"/>
                        </a:rPr>
                        <a:t> or a REST 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A decision guide for a bank</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41</a:t>
            </a:r>
          </a:p>
        </p:txBody>
      </p:sp>
      <p:graphicFrame>
        <p:nvGraphicFramePr>
          <p:cNvPr id="10" name="Table 9"/>
          <p:cNvGraphicFramePr>
            <a:graphicFrameLocks noGrp="1"/>
          </p:cNvGraphicFramePr>
          <p:nvPr/>
        </p:nvGraphicFramePr>
        <p:xfrm>
          <a:off x="411480" y="1143000"/>
          <a:ext cx="11365992" cy="4335472"/>
        </p:xfrm>
        <a:graphic>
          <a:graphicData uri="http://schemas.openxmlformats.org/drawingml/2006/table">
            <a:tbl>
              <a:tblPr firstRow="1" bandRow="1">
                <a:tableStyleId>{5940675A-B579-460E-94D1-54222C63F5DA}</a:tableStyleId>
              </a:tblPr>
              <a:tblGrid>
                <a:gridCol w="3657600"/>
                <a:gridCol w="2560320"/>
                <a:gridCol w="5148072"/>
              </a:tblGrid>
              <a:tr h="435254">
                <a:tc>
                  <a:txBody>
                    <a:bodyPr wrap="square"/>
                    <a:lstStyle/>
                    <a:p>
                      <a:pPr algn="l">
                        <a:lnSpc>
                          <a:spcPct val="100000"/>
                        </a:lnSpc>
                      </a:pPr>
                      <a:r>
                        <a:rPr sz="1200" b="1" i="0">
                          <a:solidFill>
                            <a:srgbClr val="FFFFFF"/>
                          </a:solidFill>
                          <a:latin typeface="Calibri"/>
                        </a:rPr>
                        <a:t>If the bank …</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Choose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Because (Drishti today)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648614">
                <a:tc>
                  <a:txBody>
                    <a:bodyPr wrap="square"/>
                    <a:lstStyle/>
                    <a:p>
                      <a:pPr algn="l">
                        <a:lnSpc>
                          <a:spcPct val="100000"/>
                        </a:lnSpc>
                      </a:pPr>
                      <a:r>
                        <a:rPr sz="1200" b="1" i="0">
                          <a:solidFill>
                            <a:srgbClr val="1C2433"/>
                          </a:solidFill>
                          <a:latin typeface="Calibri"/>
                        </a:rPr>
                        <a:t>has no format standard yet, or runs Kafka intraday heavily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1C2433"/>
                          </a:solidFill>
                          <a:latin typeface="Calibri"/>
                        </a:rPr>
                        <a:t>Delta</a:t>
                      </a:r>
                      <a:r>
                        <a:rPr sz="1200" b="0" i="0">
                          <a:solidFill>
                            <a:srgbClr val="1C2433"/>
                          </a:solidFill>
                          <a:latin typeface="Calibri"/>
                        </a:rPr>
                        <a:t> (the default)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default everywhere; small JSON commits; the longest-run AWS scripts and runbooks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8614">
                <a:tc>
                  <a:txBody>
                    <a:bodyPr wrap="square"/>
                    <a:lstStyle/>
                    <a:p>
                      <a:pPr algn="l">
                        <a:lnSpc>
                          <a:spcPct val="100000"/>
                        </a:lnSpc>
                      </a:pPr>
                      <a:r>
                        <a:rPr sz="1200" b="1" i="0">
                          <a:solidFill>
                            <a:srgbClr val="1C2433"/>
                          </a:solidFill>
                          <a:latin typeface="Calibri"/>
                        </a:rPr>
                        <a:t>runs VaR or exposure and standardises on 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1C2433"/>
                          </a:solidFill>
                          <a:latin typeface="Calibri"/>
                        </a:rPr>
                        <a:t>Iceberg</a:t>
                      </a:r>
                      <a:r>
                        <a:rPr sz="1200" b="0" i="0">
                          <a:solidFill>
                            <a:srgbClr val="1C2433"/>
                          </a:solidFill>
                          <a:latin typeface="Calibri"/>
                        </a:rPr>
                        <a:t> for the risk domain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00" b="0" i="0">
                          <a:solidFill>
                            <a:srgbClr val="0E7C86"/>
                          </a:solidFill>
                          <a:latin typeface="Consolas"/>
                        </a:rPr>
                        <a:t>--store risk=iceberg</a:t>
                      </a:r>
                      <a:r>
                        <a:rPr sz="1200" b="0" i="0">
                          <a:solidFill>
                            <a:srgbClr val="1C2433"/>
                          </a:solidFill>
                          <a:latin typeface="Calibri"/>
                        </a:rPr>
                        <a:t>: VaR, exposure, intraday and official results equal Delta's to the cent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48614">
                <a:tc>
                  <a:txBody>
                    <a:bodyPr wrap="square"/>
                    <a:lstStyle/>
                    <a:p>
                      <a:pPr algn="l">
                        <a:lnSpc>
                          <a:spcPct val="100000"/>
                        </a:lnSpc>
                      </a:pPr>
                      <a:r>
                        <a:rPr sz="1200" b="1" i="0">
                          <a:solidFill>
                            <a:srgbClr val="1C2433"/>
                          </a:solidFill>
                          <a:latin typeface="Calibri"/>
                        </a:rPr>
                        <a:t>already keeps trades in Iceberg (Snowflake, Glue, Spark pipelines)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1C2433"/>
                          </a:solidFill>
                          <a:latin typeface="Calibri"/>
                        </a:rPr>
                        <a:t>Iceberg</a:t>
                      </a:r>
                      <a:r>
                        <a:rPr sz="1200" b="0" i="0">
                          <a:solidFill>
                            <a:srgbClr val="1C2433"/>
                          </a:solidFill>
                          <a:latin typeface="Calibri"/>
                        </a:rPr>
                        <a:t>, read in place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00" b="0" i="0">
                          <a:solidFill>
                            <a:srgbClr val="0E7C86"/>
                          </a:solidFill>
                          <a:latin typeface="Consolas"/>
                        </a:rPr>
                        <a:t>iceberg-external</a:t>
                      </a:r>
                      <a:r>
                        <a:rPr sz="1200" b="0" i="0">
                          <a:solidFill>
                            <a:srgbClr val="1C2433"/>
                          </a:solidFill>
                          <a:latin typeface="Calibri"/>
                        </a:rPr>
                        <a:t> serves them read-only; no copy, no Drishti writer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8614">
                <a:tc>
                  <a:txBody>
                    <a:bodyPr wrap="square"/>
                    <a:lstStyle/>
                    <a:p>
                      <a:pPr algn="l">
                        <a:lnSpc>
                          <a:spcPct val="100000"/>
                        </a:lnSpc>
                      </a:pPr>
                      <a:r>
                        <a:rPr sz="1200" b="1" i="0">
                          <a:solidFill>
                            <a:srgbClr val="1C2433"/>
                          </a:solidFill>
                          <a:latin typeface="Calibri"/>
                        </a:rPr>
                        <a:t>needs other engines to write the same tables Drishti reads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1C2433"/>
                          </a:solidFill>
                          <a:latin typeface="Calibri"/>
                        </a:rPr>
                        <a:t>Iceberg</a:t>
                      </a:r>
                      <a:r>
                        <a:rPr sz="1200" b="0" i="0">
                          <a:solidFill>
                            <a:srgbClr val="1C2433"/>
                          </a:solidFill>
                          <a:latin typeface="Calibri"/>
                        </a:rPr>
                        <a:t> behind a REST 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commits through the catalog's requirements; Drishti's loader is one writer among several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changes promoted columns often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1C2433"/>
                          </a:solidFill>
                          <a:latin typeface="Calibri"/>
                        </a:rPr>
                        <a:t>Iceberg</a:t>
                      </a:r>
                      <a:r>
                        <a:rPr sz="1200" b="0" i="0">
                          <a:solidFill>
                            <a:srgbClr val="1C2433"/>
                          </a:solidFill>
                          <a:latin typeface="Calibri"/>
                        </a:rPr>
                        <a:t> for those tables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 column is added by field id; Delta's publish needs a new table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standardises on Databricks and Unity 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1C2433"/>
                          </a:solidFill>
                          <a:latin typeface="Calibri"/>
                        </a:rPr>
                        <a:t>Delta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Drishti reads Delta natively; Iceberg only through a REST 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must run Drishti on Windows laptops for QA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either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both native engines run without Hadoop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recommendation, in one page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42</a:t>
            </a:r>
          </a:p>
        </p:txBody>
      </p:sp>
      <p:sp>
        <p:nvSpPr>
          <p:cNvPr id="10" name="Rounded Rectangle 9"/>
          <p:cNvSpPr/>
          <p:nvPr/>
        </p:nvSpPr>
        <p:spPr>
          <a:xfrm>
            <a:off x="411480" y="1188720"/>
            <a:ext cx="5486400" cy="5120640"/>
          </a:xfrm>
          <a:prstGeom prst="roundRect">
            <a:avLst>
              <a:gd name="adj" fmla="val 6000"/>
            </a:avLst>
          </a:prstGeom>
          <a:solidFill>
            <a:srgbClr val="FFF4E6"/>
          </a:solidFill>
          <a:ln w="19050">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411480" y="1188720"/>
            <a:ext cx="82296" cy="512064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080" y="1380744"/>
            <a:ext cx="5120640" cy="5010912"/>
          </a:xfrm>
          <a:prstGeom prst="rect">
            <a:avLst/>
          </a:prstGeom>
          <a:noFill/>
        </p:spPr>
        <p:txBody>
          <a:bodyPr wrap="square" lIns="45720" rIns="45720" tIns="27432" bIns="27432" anchor="t">
            <a:spAutoFit/>
          </a:bodyPr>
          <a:lstStyle/>
          <a:p>
            <a:pPr algn="l">
              <a:lnSpc>
                <a:spcPct val="105000"/>
              </a:lnSpc>
              <a:spcAft>
                <a:spcPts val="1400"/>
              </a:spcAft>
            </a:pPr>
            <a:r>
              <a:rPr sz="1700" b="1" i="0">
                <a:solidFill>
                  <a:srgbClr val="1C2433"/>
                </a:solidFill>
                <a:latin typeface="Calibri"/>
              </a:rPr>
              <a:t>Delta by default; Iceberg wherever the bank standardises on it</a:t>
            </a:r>
          </a:p>
          <a:p>
            <a:pPr algn="l">
              <a:lnSpc>
                <a:spcPct val="105000"/>
              </a:lnSpc>
              <a:spcAft>
                <a:spcPts val="1200"/>
              </a:spcAft>
            </a:pPr>
            <a:r>
              <a:rPr sz="1450" b="0" i="0">
                <a:solidFill>
                  <a:srgbClr val="E87A1E"/>
                </a:solidFill>
                <a:latin typeface="Calibri"/>
              </a:rPr>
              <a:t>•  </a:t>
            </a:r>
            <a:r>
              <a:rPr sz="1450" b="1" i="0">
                <a:solidFill>
                  <a:srgbClr val="1C2433"/>
                </a:solidFill>
                <a:latin typeface="Calibri"/>
              </a:rPr>
              <a:t>Risk domain</a:t>
            </a:r>
            <a:r>
              <a:rPr sz="1450" b="0" i="0">
                <a:solidFill>
                  <a:srgbClr val="1C2433"/>
                </a:solidFill>
                <a:latin typeface="Calibri"/>
              </a:rPr>
              <a:t> (P&amp;L vectors, scenario PVs, exposure paths, official results): Delta by default; Iceberg equal to the cent</a:t>
            </a:r>
          </a:p>
          <a:p>
            <a:pPr algn="l">
              <a:lnSpc>
                <a:spcPct val="105000"/>
              </a:lnSpc>
              <a:spcAft>
                <a:spcPts val="1200"/>
              </a:spcAft>
            </a:pPr>
            <a:r>
              <a:rPr sz="1450" b="0" i="0">
                <a:solidFill>
                  <a:srgbClr val="E87A1E"/>
                </a:solidFill>
                <a:latin typeface="Calibri"/>
              </a:rPr>
              <a:t>•  </a:t>
            </a:r>
            <a:r>
              <a:rPr sz="1450" b="1" i="0">
                <a:solidFill>
                  <a:srgbClr val="1C2433"/>
                </a:solidFill>
                <a:latin typeface="Calibri"/>
              </a:rPr>
              <a:t>Trades, reference, market data</a:t>
            </a:r>
            <a:r>
              <a:rPr sz="1450" b="0" i="0">
                <a:solidFill>
                  <a:srgbClr val="1C2433"/>
                </a:solidFill>
                <a:latin typeface="Calibri"/>
              </a:rPr>
              <a:t>: either, chosen per source system (</a:t>
            </a:r>
            <a:r>
              <a:rPr sz="1350" b="0" i="0">
                <a:solidFill>
                  <a:srgbClr val="0E7C86"/>
                </a:solidFill>
                <a:latin typeface="Consolas"/>
              </a:rPr>
              <a:t>--store</a:t>
            </a:r>
            <a:r>
              <a:rPr sz="1450" b="0" i="0">
                <a:solidFill>
                  <a:srgbClr val="1C2433"/>
                </a:solidFill>
                <a:latin typeface="Calibri"/>
              </a:rPr>
              <a:t>)</a:t>
            </a:r>
          </a:p>
          <a:p>
            <a:pPr algn="l">
              <a:lnSpc>
                <a:spcPct val="105000"/>
              </a:lnSpc>
              <a:spcAft>
                <a:spcPts val="1200"/>
              </a:spcAft>
            </a:pPr>
            <a:r>
              <a:rPr sz="1450" b="0" i="0">
                <a:solidFill>
                  <a:srgbClr val="E87A1E"/>
                </a:solidFill>
                <a:latin typeface="Calibri"/>
              </a:rPr>
              <a:t>•  </a:t>
            </a:r>
            <a:r>
              <a:rPr sz="1450" b="1" i="0">
                <a:solidFill>
                  <a:srgbClr val="1C2433"/>
                </a:solidFill>
                <a:latin typeface="Calibri"/>
              </a:rPr>
              <a:t>The bank's Iceberg tables</a:t>
            </a:r>
            <a:r>
              <a:rPr sz="1450" b="0" i="0">
                <a:solidFill>
                  <a:srgbClr val="1C2433"/>
                </a:solidFill>
                <a:latin typeface="Calibri"/>
              </a:rPr>
              <a:t> (Snowflake, Glue): </a:t>
            </a:r>
            <a:r>
              <a:rPr sz="1350" b="0" i="0">
                <a:solidFill>
                  <a:srgbClr val="0E7C86"/>
                </a:solidFill>
                <a:latin typeface="Consolas"/>
              </a:rPr>
              <a:t>iceberg-external</a:t>
            </a:r>
            <a:r>
              <a:rPr sz="1450" b="0" i="0">
                <a:solidFill>
                  <a:srgbClr val="1C2433"/>
                </a:solidFill>
                <a:latin typeface="Calibri"/>
              </a:rPr>
              <a:t>, read in place</a:t>
            </a:r>
          </a:p>
          <a:p>
            <a:pPr algn="l">
              <a:lnSpc>
                <a:spcPct val="105000"/>
              </a:lnSpc>
              <a:spcAft>
                <a:spcPts val="1200"/>
              </a:spcAft>
            </a:pPr>
            <a:r>
              <a:rPr sz="1450" b="0" i="0">
                <a:solidFill>
                  <a:srgbClr val="E87A1E"/>
                </a:solidFill>
                <a:latin typeface="Calibri"/>
              </a:rPr>
              <a:t>•  </a:t>
            </a:r>
            <a:r>
              <a:rPr sz="1450" b="1" i="0">
                <a:solidFill>
                  <a:srgbClr val="1C2433"/>
                </a:solidFill>
                <a:latin typeface="Calibri"/>
              </a:rPr>
              <a:t>One switch per table</a:t>
            </a:r>
            <a:r>
              <a:rPr sz="1450" b="0" i="0">
                <a:solidFill>
                  <a:srgbClr val="1C2433"/>
                </a:solidFill>
                <a:latin typeface="Calibri"/>
              </a:rPr>
              <a:t>: the connector name never changes, so a table can move later</a:t>
            </a:r>
          </a:p>
        </p:txBody>
      </p:sp>
      <p:sp>
        <p:nvSpPr>
          <p:cNvPr id="13" name="TextBox 12"/>
          <p:cNvSpPr txBox="1"/>
          <p:nvPr/>
        </p:nvSpPr>
        <p:spPr>
          <a:xfrm>
            <a:off x="6172200" y="1188720"/>
            <a:ext cx="5577840" cy="36576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Built for Iceberg; what remains</a:t>
            </a:r>
          </a:p>
        </p:txBody>
      </p:sp>
      <p:sp>
        <p:nvSpPr>
          <p:cNvPr id="14" name="Oval 13"/>
          <p:cNvSpPr/>
          <p:nvPr/>
        </p:nvSpPr>
        <p:spPr>
          <a:xfrm>
            <a:off x="6217920" y="1709928"/>
            <a:ext cx="384048" cy="384048"/>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1709928"/>
            <a:ext cx="384048" cy="384048"/>
          </a:xfrm>
          <a:prstGeom prst="rect">
            <a:avLst/>
          </a:prstGeom>
          <a:noFill/>
        </p:spPr>
        <p:txBody>
          <a:bodyPr wrap="square" lIns="0" rIns="0" tIns="0" bIns="0" anchor="ctr">
            <a:spAutoFit/>
          </a:bodyPr>
          <a:lstStyle/>
          <a:p>
            <a:pPr algn="ctr">
              <a:lnSpc>
                <a:spcPct val="105000"/>
              </a:lnSpc>
            </a:pPr>
            <a:r>
              <a:rPr sz="1300" b="1" i="0">
                <a:solidFill>
                  <a:srgbClr val="FFFFFF"/>
                </a:solidFill>
                <a:latin typeface="Calibri"/>
              </a:rPr>
              <a:t>1</a:t>
            </a:r>
          </a:p>
        </p:txBody>
      </p:sp>
      <p:sp>
        <p:nvSpPr>
          <p:cNvPr id="16" name="TextBox 15"/>
          <p:cNvSpPr txBox="1"/>
          <p:nvPr/>
        </p:nvSpPr>
        <p:spPr>
          <a:xfrm>
            <a:off x="6720840" y="1645920"/>
            <a:ext cx="5029200" cy="749808"/>
          </a:xfrm>
          <a:prstGeom prst="rect">
            <a:avLst/>
          </a:prstGeom>
          <a:noFill/>
        </p:spPr>
        <p:txBody>
          <a:bodyPr wrap="square" lIns="45720" rIns="45720" tIns="27432" bIns="27432" anchor="ctr">
            <a:spAutoFit/>
          </a:bodyPr>
          <a:lstStyle/>
          <a:p>
            <a:pPr algn="l">
              <a:lnSpc>
                <a:spcPct val="105000"/>
              </a:lnSpc>
            </a:pPr>
            <a:r>
              <a:rPr sz="1200" b="0" i="0">
                <a:solidFill>
                  <a:srgbClr val="0E7C86"/>
                </a:solidFill>
                <a:latin typeface="Consolas"/>
              </a:rPr>
              <a:t>vectors()</a:t>
            </a:r>
            <a:r>
              <a:rPr sz="1300" b="0" i="0">
                <a:solidFill>
                  <a:srgbClr val="1C2433"/>
                </a:solidFill>
                <a:latin typeface="Calibri"/>
              </a:rPr>
              <a:t>, documents, identity, disk caches; VaR, intraday, exposure on Iceberg</a:t>
            </a:r>
          </a:p>
        </p:txBody>
      </p:sp>
      <p:sp>
        <p:nvSpPr>
          <p:cNvPr id="17" name="Oval 16"/>
          <p:cNvSpPr/>
          <p:nvPr/>
        </p:nvSpPr>
        <p:spPr>
          <a:xfrm>
            <a:off x="6217920" y="2487168"/>
            <a:ext cx="384048" cy="384048"/>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2487168"/>
            <a:ext cx="384048" cy="384048"/>
          </a:xfrm>
          <a:prstGeom prst="rect">
            <a:avLst/>
          </a:prstGeom>
          <a:noFill/>
        </p:spPr>
        <p:txBody>
          <a:bodyPr wrap="square" lIns="0" rIns="0" tIns="0" bIns="0" anchor="ctr">
            <a:spAutoFit/>
          </a:bodyPr>
          <a:lstStyle/>
          <a:p>
            <a:pPr algn="ctr">
              <a:lnSpc>
                <a:spcPct val="105000"/>
              </a:lnSpc>
            </a:pPr>
            <a:r>
              <a:rPr sz="1300" b="1" i="0">
                <a:solidFill>
                  <a:srgbClr val="FFFFFF"/>
                </a:solidFill>
                <a:latin typeface="Calibri"/>
              </a:rPr>
              <a:t>2</a:t>
            </a:r>
          </a:p>
        </p:txBody>
      </p:sp>
      <p:sp>
        <p:nvSpPr>
          <p:cNvPr id="19" name="TextBox 18"/>
          <p:cNvSpPr txBox="1"/>
          <p:nvPr/>
        </p:nvSpPr>
        <p:spPr>
          <a:xfrm>
            <a:off x="6720840" y="2423160"/>
            <a:ext cx="5029200" cy="749808"/>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Official results to Iceberg and to </a:t>
            </a:r>
            <a:r>
              <a:rPr sz="1200" b="0" i="0">
                <a:solidFill>
                  <a:srgbClr val="0E7C86"/>
                </a:solidFill>
                <a:latin typeface="Consolas"/>
              </a:rPr>
              <a:t>s3://</a:t>
            </a:r>
            <a:r>
              <a:rPr sz="1300" b="0" i="0">
                <a:solidFill>
                  <a:srgbClr val="1C2433"/>
                </a:solidFill>
                <a:latin typeface="Calibri"/>
              </a:rPr>
              <a:t> (both formats); BI readers follow</a:t>
            </a:r>
          </a:p>
        </p:txBody>
      </p:sp>
      <p:sp>
        <p:nvSpPr>
          <p:cNvPr id="20" name="Oval 19"/>
          <p:cNvSpPr/>
          <p:nvPr/>
        </p:nvSpPr>
        <p:spPr>
          <a:xfrm>
            <a:off x="6217920" y="3264408"/>
            <a:ext cx="384048" cy="384048"/>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0" y="3264408"/>
            <a:ext cx="384048" cy="384048"/>
          </a:xfrm>
          <a:prstGeom prst="rect">
            <a:avLst/>
          </a:prstGeom>
          <a:noFill/>
        </p:spPr>
        <p:txBody>
          <a:bodyPr wrap="square" lIns="0" rIns="0" tIns="0" bIns="0" anchor="ctr">
            <a:spAutoFit/>
          </a:bodyPr>
          <a:lstStyle/>
          <a:p>
            <a:pPr algn="ctr">
              <a:lnSpc>
                <a:spcPct val="105000"/>
              </a:lnSpc>
            </a:pPr>
            <a:r>
              <a:rPr sz="1300" b="1" i="0">
                <a:solidFill>
                  <a:srgbClr val="FFFFFF"/>
                </a:solidFill>
                <a:latin typeface="Calibri"/>
              </a:rPr>
              <a:t>3</a:t>
            </a:r>
          </a:p>
        </p:txBody>
      </p:sp>
      <p:sp>
        <p:nvSpPr>
          <p:cNvPr id="22" name="TextBox 21"/>
          <p:cNvSpPr txBox="1"/>
          <p:nvPr/>
        </p:nvSpPr>
        <p:spPr>
          <a:xfrm>
            <a:off x="6720840" y="3200400"/>
            <a:ext cx="5029200" cy="749808"/>
          </a:xfrm>
          <a:prstGeom prst="rect">
            <a:avLst/>
          </a:prstGeom>
          <a:noFill/>
        </p:spPr>
        <p:txBody>
          <a:bodyPr wrap="square" lIns="45720" rIns="45720" tIns="27432" bIns="27432" anchor="ctr">
            <a:spAutoFit/>
          </a:bodyPr>
          <a:lstStyle/>
          <a:p>
            <a:pPr algn="l">
              <a:lnSpc>
                <a:spcPct val="105000"/>
              </a:lnSpc>
            </a:pPr>
            <a:r>
              <a:rPr sz="1200" b="0" i="0">
                <a:solidFill>
                  <a:srgbClr val="0E7C86"/>
                </a:solidFill>
                <a:latin typeface="Consolas"/>
              </a:rPr>
              <a:t>deploy/aws/iceberg/</a:t>
            </a:r>
            <a:r>
              <a:rPr sz="1300" b="0" i="0">
                <a:solidFill>
                  <a:srgbClr val="1C2433"/>
                </a:solidFill>
                <a:latin typeface="Calibri"/>
              </a:rPr>
              <a:t>, orphan files, Admin → Lakes, the 7-year floor</a:t>
            </a:r>
          </a:p>
        </p:txBody>
      </p:sp>
      <p:sp>
        <p:nvSpPr>
          <p:cNvPr id="23" name="Oval 22"/>
          <p:cNvSpPr/>
          <p:nvPr/>
        </p:nvSpPr>
        <p:spPr>
          <a:xfrm>
            <a:off x="6217920" y="4041648"/>
            <a:ext cx="384048" cy="384048"/>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0" y="4041648"/>
            <a:ext cx="384048" cy="384048"/>
          </a:xfrm>
          <a:prstGeom prst="rect">
            <a:avLst/>
          </a:prstGeom>
          <a:noFill/>
        </p:spPr>
        <p:txBody>
          <a:bodyPr wrap="square" lIns="0" rIns="0" tIns="0" bIns="0" anchor="ctr">
            <a:spAutoFit/>
          </a:bodyPr>
          <a:lstStyle/>
          <a:p>
            <a:pPr algn="ctr">
              <a:lnSpc>
                <a:spcPct val="105000"/>
              </a:lnSpc>
            </a:pPr>
            <a:r>
              <a:rPr sz="1300" b="1" i="0">
                <a:solidFill>
                  <a:srgbClr val="FFFFFF"/>
                </a:solidFill>
                <a:latin typeface="Calibri"/>
              </a:rPr>
              <a:t>4</a:t>
            </a:r>
          </a:p>
        </p:txBody>
      </p:sp>
      <p:sp>
        <p:nvSpPr>
          <p:cNvPr id="25" name="TextBox 24"/>
          <p:cNvSpPr txBox="1"/>
          <p:nvPr/>
        </p:nvSpPr>
        <p:spPr>
          <a:xfrm>
            <a:off x="6720840" y="3977639"/>
            <a:ext cx="5029200" cy="749808"/>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VaR sharded across a cluster and the parallel Java loader, on either format</a:t>
            </a:r>
          </a:p>
        </p:txBody>
      </p:sp>
      <p:sp>
        <p:nvSpPr>
          <p:cNvPr id="26" name="Oval 25"/>
          <p:cNvSpPr/>
          <p:nvPr/>
        </p:nvSpPr>
        <p:spPr>
          <a:xfrm>
            <a:off x="6217920" y="4818888"/>
            <a:ext cx="384048" cy="384048"/>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0" y="4818888"/>
            <a:ext cx="384048" cy="384048"/>
          </a:xfrm>
          <a:prstGeom prst="rect">
            <a:avLst/>
          </a:prstGeom>
          <a:noFill/>
        </p:spPr>
        <p:txBody>
          <a:bodyPr wrap="square" lIns="0" rIns="0" tIns="0" bIns="0" anchor="ctr">
            <a:spAutoFit/>
          </a:bodyPr>
          <a:lstStyle/>
          <a:p>
            <a:pPr algn="ctr">
              <a:lnSpc>
                <a:spcPct val="105000"/>
              </a:lnSpc>
            </a:pPr>
            <a:r>
              <a:rPr sz="1300" b="1" i="0">
                <a:solidFill>
                  <a:srgbClr val="FFFFFF"/>
                </a:solidFill>
                <a:latin typeface="Calibri"/>
              </a:rPr>
              <a:t>5</a:t>
            </a:r>
          </a:p>
        </p:txBody>
      </p:sp>
      <p:sp>
        <p:nvSpPr>
          <p:cNvPr id="28" name="TextBox 27"/>
          <p:cNvSpPr txBox="1"/>
          <p:nvPr/>
        </p:nvSpPr>
        <p:spPr>
          <a:xfrm>
            <a:off x="6720840" y="4754879"/>
            <a:ext cx="5029200" cy="749808"/>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NOT RUN:</a:t>
            </a:r>
            <a:r>
              <a:rPr sz="1300" b="0" i="0">
                <a:solidFill>
                  <a:srgbClr val="1C2433"/>
                </a:solidFill>
                <a:latin typeface="Calibri"/>
              </a:rPr>
              <a:t> the Glue and S3 Tables runs on a real AWS account (</a:t>
            </a:r>
            <a:r>
              <a:rPr sz="1200" b="0" i="0">
                <a:solidFill>
                  <a:srgbClr val="0E7C86"/>
                </a:solidFill>
                <a:latin typeface="Consolas"/>
              </a:rPr>
              <a:t>check-glue.sh</a:t>
            </a:r>
            <a:r>
              <a:rPr sz="1300" b="0" i="0">
                <a:solidFill>
                  <a:srgbClr val="1C2433"/>
                </a:solidFill>
                <a:latin typeface="Calibri"/>
              </a:rPr>
              <a:t>)</a:t>
            </a:r>
          </a:p>
        </p:txBody>
      </p:sp>
      <p:sp>
        <p:nvSpPr>
          <p:cNvPr id="29" name="Oval 28"/>
          <p:cNvSpPr/>
          <p:nvPr/>
        </p:nvSpPr>
        <p:spPr>
          <a:xfrm>
            <a:off x="6217920" y="5596127"/>
            <a:ext cx="384048" cy="384048"/>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5596127"/>
            <a:ext cx="384048" cy="384048"/>
          </a:xfrm>
          <a:prstGeom prst="rect">
            <a:avLst/>
          </a:prstGeom>
          <a:noFill/>
        </p:spPr>
        <p:txBody>
          <a:bodyPr wrap="square" lIns="0" rIns="0" tIns="0" bIns="0" anchor="ctr">
            <a:spAutoFit/>
          </a:bodyPr>
          <a:lstStyle/>
          <a:p>
            <a:pPr algn="ctr">
              <a:lnSpc>
                <a:spcPct val="105000"/>
              </a:lnSpc>
            </a:pPr>
            <a:r>
              <a:rPr sz="1300" b="1" i="0">
                <a:solidFill>
                  <a:srgbClr val="FFFFFF"/>
                </a:solidFill>
                <a:latin typeface="Calibri"/>
              </a:rPr>
              <a:t>6</a:t>
            </a:r>
          </a:p>
        </p:txBody>
      </p:sp>
      <p:sp>
        <p:nvSpPr>
          <p:cNvPr id="31" name="TextBox 30"/>
          <p:cNvSpPr txBox="1"/>
          <p:nvPr/>
        </p:nvSpPr>
        <p:spPr>
          <a:xfrm>
            <a:off x="6720840" y="5532119"/>
            <a:ext cx="5029200" cy="749808"/>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PLANNED:</a:t>
            </a:r>
            <a:r>
              <a:rPr sz="1300" b="0" i="0">
                <a:solidFill>
                  <a:srgbClr val="1C2433"/>
                </a:solidFill>
                <a:latin typeface="Calibri"/>
              </a:rPr>
              <a:t> Delta↔Iceberg conversion, Delta in-place schema evolution, the 200K benchmark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Converting tables between formats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43</a:t>
            </a:r>
          </a:p>
        </p:txBody>
      </p:sp>
      <p:graphicFrame>
        <p:nvGraphicFramePr>
          <p:cNvPr id="10" name="Table 9"/>
          <p:cNvGraphicFramePr>
            <a:graphicFrameLocks noGrp="1"/>
          </p:cNvGraphicFramePr>
          <p:nvPr/>
        </p:nvGraphicFramePr>
        <p:xfrm>
          <a:off x="411480" y="1143000"/>
          <a:ext cx="11365992" cy="2806289"/>
        </p:xfrm>
        <a:graphic>
          <a:graphicData uri="http://schemas.openxmlformats.org/drawingml/2006/table">
            <a:tbl>
              <a:tblPr firstRow="1" bandRow="1">
                <a:tableStyleId>{5940675A-B579-460E-94D1-54222C63F5DA}</a:tableStyleId>
              </a:tblPr>
              <a:tblGrid>
                <a:gridCol w="2560320"/>
                <a:gridCol w="4572000"/>
                <a:gridCol w="2286000"/>
                <a:gridCol w="1947672"/>
              </a:tblGrid>
              <a:tr h="433699">
                <a:tc>
                  <a:txBody>
                    <a:bodyPr wrap="square"/>
                    <a:lstStyle/>
                    <a:p>
                      <a:pPr algn="l">
                        <a:lnSpc>
                          <a:spcPct val="100000"/>
                        </a:lnSpc>
                      </a:pPr>
                      <a:r>
                        <a:rPr sz="1200" b="1" i="0">
                          <a:solidFill>
                            <a:srgbClr val="FFFFFF"/>
                          </a:solidFill>
                          <a:latin typeface="Calibri"/>
                        </a:rPr>
                        <a:t>Direction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How</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History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Status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646297">
                <a:tc>
                  <a:txBody>
                    <a:bodyPr wrap="square"/>
                    <a:lstStyle/>
                    <a:p>
                      <a:pPr algn="l">
                        <a:lnSpc>
                          <a:spcPct val="100000"/>
                        </a:lnSpc>
                      </a:pPr>
                      <a:r>
                        <a:rPr sz="1200" b="1" i="0">
                          <a:solidFill>
                            <a:srgbClr val="1C2433"/>
                          </a:solidFill>
                          <a:latin typeface="Calibri"/>
                        </a:rPr>
                        <a:t>Delta → Iceberg (trade tables)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00" b="0" i="0">
                          <a:solidFill>
                            <a:srgbClr val="0E7C86"/>
                          </a:solidFill>
                          <a:latin typeface="Consolas"/>
                        </a:rPr>
                        <a:t>stores.py</a:t>
                      </a:r>
                      <a:r>
                        <a:rPr sz="1200" b="0" i="0">
                          <a:solidFill>
                            <a:srgbClr val="1C2433"/>
                          </a:solidFill>
                          <a:latin typeface="Calibri"/>
                        </a:rPr>
                        <a:t> / </a:t>
                      </a:r>
                      <a:r>
                        <a:rPr sz="1100" b="0" i="0">
                          <a:solidFill>
                            <a:srgbClr val="0E7C86"/>
                          </a:solidFill>
                          <a:latin typeface="Consolas"/>
                        </a:rPr>
                        <a:t>build_demo_lakes.py --store &lt;system&gt;=iceberg</a:t>
                      </a:r>
                      <a:r>
                        <a:rPr sz="1200" b="0" i="0">
                          <a:solidFill>
                            <a:srgbClr val="1C2433"/>
                          </a:solidFill>
                          <a:latin typeface="Calibri"/>
                        </a:rPr>
                        <a:t>: rows → </a:t>
                      </a:r>
                      <a:r>
                        <a:rPr sz="1100" b="0" i="0">
                          <a:solidFill>
                            <a:srgbClr val="0E7C86"/>
                          </a:solidFill>
                          <a:latin typeface="Consolas"/>
                        </a:rPr>
                        <a:t>IcebergLoader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current days; one snapshot per copied day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6297">
                <a:tc>
                  <a:txBody>
                    <a:bodyPr wrap="square"/>
                    <a:lstStyle/>
                    <a:p>
                      <a:pPr algn="l">
                        <a:lnSpc>
                          <a:spcPct val="100000"/>
                        </a:lnSpc>
                      </a:pPr>
                      <a:r>
                        <a:rPr sz="1200" b="1" i="0">
                          <a:solidFill>
                            <a:srgbClr val="1C2433"/>
                          </a:solidFill>
                          <a:latin typeface="Calibri"/>
                        </a:rPr>
                        <a:t>Risk domain, either way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00" b="0" i="0">
                          <a:solidFill>
                            <a:srgbClr val="0E7C86"/>
                          </a:solidFill>
                          <a:latin typeface="Consolas"/>
                        </a:rPr>
                        <a:t>build_demo_lakes.py --store risk=iceberg</a:t>
                      </a:r>
                      <a:r>
                        <a:rPr sz="1200" b="0" i="0">
                          <a:solidFill>
                            <a:srgbClr val="1C2433"/>
                          </a:solidFill>
                          <a:latin typeface="Calibri"/>
                        </a:rPr>
                        <a:t> (or </a:t>
                      </a:r>
                      <a:r>
                        <a:rPr sz="1100" b="0" i="0">
                          <a:solidFill>
                            <a:srgbClr val="0E7C86"/>
                          </a:solidFill>
                          <a:latin typeface="Consolas"/>
                        </a:rPr>
                        <a:t>risk=delta</a:t>
                      </a:r>
                      <a:r>
                        <a:rPr sz="1200" b="0" i="0">
                          <a:solidFill>
                            <a:srgbClr val="1C2433"/>
                          </a:solidFill>
                          <a:latin typeface="Calibri"/>
                        </a:rPr>
                        <a:t>): rebuilt from JSON Lines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days in the JSON Lines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3699">
                <a:tc>
                  <a:txBody>
                    <a:bodyPr wrap="square"/>
                    <a:lstStyle/>
                    <a:p>
                      <a:pPr algn="l">
                        <a:lnSpc>
                          <a:spcPct val="100000"/>
                        </a:lnSpc>
                      </a:pPr>
                      <a:r>
                        <a:rPr sz="1200" b="1" i="0">
                          <a:solidFill>
                            <a:srgbClr val="1C2433"/>
                          </a:solidFill>
                          <a:latin typeface="Calibri"/>
                        </a:rPr>
                        <a:t>Any table, Delta ↔ 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 conversion of an existing table in either direction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current days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0B1E3B"/>
                          </a:solidFill>
                          <a:latin typeface="Calibri"/>
                        </a:rPr>
                        <a:t>PLANNED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6297">
                <a:tc>
                  <a:txBody>
                    <a:bodyPr wrap="square"/>
                    <a:lstStyle/>
                    <a:p>
                      <a:pPr algn="l">
                        <a:lnSpc>
                          <a:spcPct val="100000"/>
                        </a:lnSpc>
                      </a:pPr>
                      <a:r>
                        <a:rPr sz="1200" b="1" i="0">
                          <a:solidFill>
                            <a:srgbClr val="1C2433"/>
                          </a:solidFill>
                          <a:latin typeface="Calibri"/>
                        </a:rPr>
                        <a:t>In place: Delta UniForm, Iceberg </a:t>
                      </a:r>
                      <a:r>
                        <a:rPr sz="1100" b="1" i="0">
                          <a:solidFill>
                            <a:srgbClr val="0E7C86"/>
                          </a:solidFill>
                          <a:latin typeface="Consolas"/>
                        </a:rPr>
                        <a:t>snapshot</a:t>
                      </a:r>
                      <a:r>
                        <a:rPr sz="1200" b="1" i="0">
                          <a:solidFill>
                            <a:srgbClr val="1C2433"/>
                          </a:solidFill>
                          <a:latin typeface="Calibri"/>
                        </a:rPr>
                        <a:t>/</a:t>
                      </a:r>
                      <a:r>
                        <a:rPr sz="1100" b="1" i="0">
                          <a:solidFill>
                            <a:srgbClr val="0E7C86"/>
                          </a:solidFill>
                          <a:latin typeface="Consolas"/>
                        </a:rPr>
                        <a:t>migrate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other engines write the second format's metadata over the same Parquet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converter's choice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5B677A"/>
                          </a:solidFill>
                          <a:latin typeface="Calibri"/>
                        </a:rPr>
                        <a:t>PROPOSED</a:t>
                      </a:r>
                      <a:r>
                        <a:rPr sz="1200" b="0" i="0">
                          <a:solidFill>
                            <a:srgbClr val="1C2433"/>
                          </a:solidFill>
                          <a:latin typeface="Calibri"/>
                        </a:rPr>
                        <a:t> (evaluate)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
        <p:nvSpPr>
          <p:cNvPr id="11" name="Rounded Rectangle 10"/>
          <p:cNvSpPr/>
          <p:nvPr/>
        </p:nvSpPr>
        <p:spPr>
          <a:xfrm>
            <a:off x="411480" y="4343400"/>
            <a:ext cx="11365992" cy="1965960"/>
          </a:xfrm>
          <a:prstGeom prst="roundRect">
            <a:avLst>
              <a:gd name="adj" fmla="val 6000"/>
            </a:avLst>
          </a:prstGeom>
          <a:solidFill>
            <a:srgbClr val="FFF4E6"/>
          </a:solidFill>
          <a:ln w="19050">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411480" y="4343400"/>
            <a:ext cx="82296" cy="196596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0080" y="4398264"/>
            <a:ext cx="11000232" cy="1856231"/>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Keep the old table until the new one is proven:</a:t>
            </a:r>
            <a:r>
              <a:rPr sz="1300" b="0" i="0">
                <a:solidFill>
                  <a:srgbClr val="1C2433"/>
                </a:solidFill>
                <a:latin typeface="Calibri"/>
              </a:rPr>
              <a:t> build the Iceberg table beside the Delta one, run the equality test against both, then switch the connector file. Keep the Delta folder for its time travel (and the content store keeps every official capture), or archive it.</a:t>
            </a:r>
          </a:p>
          <a:p>
            <a:pPr algn="l">
              <a:lnSpc>
                <a:spcPct val="105000"/>
              </a:lnSpc>
            </a:pPr>
            <a:r>
              <a:rPr sz="1300" b="1" i="0">
                <a:solidFill>
                  <a:srgbClr val="1C2433"/>
                </a:solidFill>
                <a:latin typeface="Calibri"/>
              </a:rPr>
              <a:t>Never</a:t>
            </a:r>
            <a:r>
              <a:rPr sz="1300" b="0" i="0">
                <a:solidFill>
                  <a:srgbClr val="1C2433"/>
                </a:solidFill>
                <a:latin typeface="Calibri"/>
              </a:rPr>
              <a:t> let two connectors serve one system's trades at once: the union would double them.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Keeping one logical connector name across a switch</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3 · the format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44</a:t>
            </a:r>
          </a:p>
        </p:txBody>
      </p:sp>
      <p:sp>
        <p:nvSpPr>
          <p:cNvPr id="10" name="Rounded Rectangle 9"/>
          <p:cNvSpPr/>
          <p:nvPr/>
        </p:nvSpPr>
        <p:spPr>
          <a:xfrm>
            <a:off x="411480" y="1188720"/>
            <a:ext cx="2130552" cy="237744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Oval 10"/>
          <p:cNvSpPr/>
          <p:nvPr/>
        </p:nvSpPr>
        <p:spPr>
          <a:xfrm>
            <a:off x="521208" y="1307592"/>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 y="1307592"/>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1</a:t>
            </a:r>
          </a:p>
        </p:txBody>
      </p:sp>
      <p:sp>
        <p:nvSpPr>
          <p:cNvPr id="13" name="TextBox 12"/>
          <p:cNvSpPr txBox="1"/>
          <p:nvPr/>
        </p:nvSpPr>
        <p:spPr>
          <a:xfrm>
            <a:off x="1051560" y="1280160"/>
            <a:ext cx="1399032"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Build beside</a:t>
            </a:r>
          </a:p>
        </p:txBody>
      </p:sp>
      <p:sp>
        <p:nvSpPr>
          <p:cNvPr id="14" name="TextBox 13"/>
          <p:cNvSpPr txBox="1"/>
          <p:nvPr/>
        </p:nvSpPr>
        <p:spPr>
          <a:xfrm>
            <a:off x="521208" y="1828800"/>
            <a:ext cx="1911095" cy="1417320"/>
          </a:xfrm>
          <a:prstGeom prst="rect">
            <a:avLst/>
          </a:prstGeom>
          <a:noFill/>
        </p:spPr>
        <p:txBody>
          <a:bodyPr wrap="square" lIns="45720" rIns="45720" tIns="27432" bIns="27432" anchor="t">
            <a:spAutoFit/>
          </a:bodyPr>
          <a:lstStyle/>
          <a:p>
            <a:pPr algn="l">
              <a:lnSpc>
                <a:spcPct val="105000"/>
              </a:lnSpc>
            </a:pPr>
            <a:r>
              <a:rPr sz="1150" b="0" i="0">
                <a:solidFill>
                  <a:srgbClr val="1C2433"/>
                </a:solidFill>
                <a:latin typeface="Calibri"/>
              </a:rPr>
              <a:t>write the Iceberg table next to the Delta one (</a:t>
            </a:r>
            <a:r>
              <a:rPr sz="1050" b="0" i="0">
                <a:solidFill>
                  <a:srgbClr val="0E7C86"/>
                </a:solidFill>
                <a:latin typeface="Consolas"/>
              </a:rPr>
              <a:t>stores.py</a:t>
            </a:r>
            <a:r>
              <a:rPr sz="1150" b="0" i="0">
                <a:solidFill>
                  <a:srgbClr val="1C2433"/>
                </a:solidFill>
                <a:latin typeface="Calibri"/>
              </a:rPr>
              <a:t>, or the loader)</a:t>
            </a:r>
          </a:p>
        </p:txBody>
      </p:sp>
      <p:cxnSp>
        <p:nvCxnSpPr>
          <p:cNvPr id="15" name="Connector 14"/>
          <p:cNvCxnSpPr/>
          <p:nvPr/>
        </p:nvCxnSpPr>
        <p:spPr>
          <a:xfrm>
            <a:off x="2542032" y="2377440"/>
            <a:ext cx="155448" cy="0"/>
          </a:xfrm>
          <a:prstGeom prst="line">
            <a:avLst/>
          </a:prstGeom>
          <a:ln w="25400">
            <a:solidFill>
              <a:srgbClr val="E87A1E"/>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697480" y="1188720"/>
            <a:ext cx="2130552" cy="237744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Oval 16"/>
          <p:cNvSpPr/>
          <p:nvPr/>
        </p:nvSpPr>
        <p:spPr>
          <a:xfrm>
            <a:off x="2807208" y="1307592"/>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07208" y="1307592"/>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2</a:t>
            </a:r>
          </a:p>
        </p:txBody>
      </p:sp>
      <p:sp>
        <p:nvSpPr>
          <p:cNvPr id="19" name="TextBox 18"/>
          <p:cNvSpPr txBox="1"/>
          <p:nvPr/>
        </p:nvSpPr>
        <p:spPr>
          <a:xfrm>
            <a:off x="3337560" y="1280160"/>
            <a:ext cx="1399032"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Compare</a:t>
            </a:r>
          </a:p>
        </p:txBody>
      </p:sp>
      <p:sp>
        <p:nvSpPr>
          <p:cNvPr id="20" name="TextBox 19"/>
          <p:cNvSpPr txBox="1"/>
          <p:nvPr/>
        </p:nvSpPr>
        <p:spPr>
          <a:xfrm>
            <a:off x="2807208" y="1828800"/>
            <a:ext cx="1911095" cy="1417320"/>
          </a:xfrm>
          <a:prstGeom prst="rect">
            <a:avLst/>
          </a:prstGeom>
          <a:noFill/>
        </p:spPr>
        <p:txBody>
          <a:bodyPr wrap="square" lIns="45720" rIns="45720" tIns="27432" bIns="27432" anchor="t">
            <a:spAutoFit/>
          </a:bodyPr>
          <a:lstStyle/>
          <a:p>
            <a:pPr algn="l">
              <a:lnSpc>
                <a:spcPct val="105000"/>
              </a:lnSpc>
            </a:pPr>
            <a:r>
              <a:rPr sz="1050" b="0" i="0">
                <a:solidFill>
                  <a:srgbClr val="0E7C86"/>
                </a:solidFill>
                <a:latin typeface="Consolas"/>
              </a:rPr>
              <a:t>stores_equality.py</a:t>
            </a:r>
            <a:r>
              <a:rPr sz="1150" b="0" i="0">
                <a:solidFill>
                  <a:srgbClr val="1C2433"/>
                </a:solidFill>
                <a:latin typeface="Calibri"/>
              </a:rPr>
              <a:t>-style answers, both lakes, the same dates</a:t>
            </a:r>
          </a:p>
        </p:txBody>
      </p:sp>
      <p:cxnSp>
        <p:nvCxnSpPr>
          <p:cNvPr id="21" name="Connector 20"/>
          <p:cNvCxnSpPr/>
          <p:nvPr/>
        </p:nvCxnSpPr>
        <p:spPr>
          <a:xfrm>
            <a:off x="4828032" y="2377440"/>
            <a:ext cx="155448" cy="0"/>
          </a:xfrm>
          <a:prstGeom prst="line">
            <a:avLst/>
          </a:prstGeom>
          <a:ln w="25400">
            <a:solidFill>
              <a:srgbClr val="E87A1E"/>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983480" y="1188720"/>
            <a:ext cx="2130552" cy="237744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Oval 22"/>
          <p:cNvSpPr/>
          <p:nvPr/>
        </p:nvSpPr>
        <p:spPr>
          <a:xfrm>
            <a:off x="5093208" y="1307592"/>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93208" y="1307592"/>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3</a:t>
            </a:r>
          </a:p>
        </p:txBody>
      </p:sp>
      <p:sp>
        <p:nvSpPr>
          <p:cNvPr id="25" name="TextBox 24"/>
          <p:cNvSpPr txBox="1"/>
          <p:nvPr/>
        </p:nvSpPr>
        <p:spPr>
          <a:xfrm>
            <a:off x="5623560" y="1280160"/>
            <a:ext cx="1399032"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Switch</a:t>
            </a:r>
          </a:p>
        </p:txBody>
      </p:sp>
      <p:sp>
        <p:nvSpPr>
          <p:cNvPr id="26" name="TextBox 25"/>
          <p:cNvSpPr txBox="1"/>
          <p:nvPr/>
        </p:nvSpPr>
        <p:spPr>
          <a:xfrm>
            <a:off x="5093208" y="1828800"/>
            <a:ext cx="1911095" cy="1417320"/>
          </a:xfrm>
          <a:prstGeom prst="rect">
            <a:avLst/>
          </a:prstGeom>
          <a:noFill/>
        </p:spPr>
        <p:txBody>
          <a:bodyPr wrap="square" lIns="45720" rIns="45720" tIns="27432" bIns="27432" anchor="t">
            <a:spAutoFit/>
          </a:bodyPr>
          <a:lstStyle/>
          <a:p>
            <a:pPr algn="l">
              <a:lnSpc>
                <a:spcPct val="105000"/>
              </a:lnSpc>
            </a:pPr>
            <a:r>
              <a:rPr sz="1150" b="0" i="0">
                <a:solidFill>
                  <a:srgbClr val="1C2433"/>
                </a:solidFill>
                <a:latin typeface="Calibri"/>
              </a:rPr>
              <a:t>edit </a:t>
            </a:r>
            <a:r>
              <a:rPr sz="1050" b="0" i="0">
                <a:solidFill>
                  <a:srgbClr val="0E7C86"/>
                </a:solidFill>
                <a:latin typeface="Consolas"/>
              </a:rPr>
              <a:t>trade-calypso.yaml</a:t>
            </a:r>
            <a:r>
              <a:rPr sz="1150" b="0" i="0">
                <a:solidFill>
                  <a:srgbClr val="1C2433"/>
                </a:solidFill>
                <a:latin typeface="Calibri"/>
              </a:rPr>
              <a:t>: </a:t>
            </a:r>
            <a:r>
              <a:rPr sz="1050" b="0" i="0">
                <a:solidFill>
                  <a:srgbClr val="0E7C86"/>
                </a:solidFill>
                <a:latin typeface="Consolas"/>
              </a:rPr>
              <a:t>plugin: iceberg</a:t>
            </a:r>
            <a:r>
              <a:rPr sz="1150" b="0" i="0">
                <a:solidFill>
                  <a:srgbClr val="1C2433"/>
                </a:solidFill>
                <a:latin typeface="Calibri"/>
              </a:rPr>
              <a:t>, </a:t>
            </a:r>
            <a:r>
              <a:rPr sz="1050" b="0" i="0">
                <a:solidFill>
                  <a:srgbClr val="0E7C86"/>
                </a:solidFill>
                <a:latin typeface="Consolas"/>
              </a:rPr>
              <a:t>engine: native</a:t>
            </a:r>
            <a:r>
              <a:rPr sz="1150" b="0" i="0">
                <a:solidFill>
                  <a:srgbClr val="1C2433"/>
                </a:solidFill>
                <a:latin typeface="Calibri"/>
              </a:rPr>
              <a:t>, </a:t>
            </a:r>
            <a:r>
              <a:rPr sz="1050" b="0" i="0">
                <a:solidFill>
                  <a:srgbClr val="0E7C86"/>
                </a:solidFill>
                <a:latin typeface="Consolas"/>
              </a:rPr>
              <a:t>root</a:t>
            </a:r>
            <a:r>
              <a:rPr sz="1150" b="0" i="0">
                <a:solidFill>
                  <a:srgbClr val="1C2433"/>
                </a:solidFill>
                <a:latin typeface="Calibri"/>
              </a:rPr>
              <a:t>, </a:t>
            </a:r>
            <a:r>
              <a:rPr sz="1050" b="0" i="0">
                <a:solidFill>
                  <a:srgbClr val="0E7C86"/>
                </a:solidFill>
                <a:latin typeface="Consolas"/>
              </a:rPr>
              <a:t>table.trade</a:t>
            </a:r>
            <a:r>
              <a:rPr sz="1150" b="0" i="0">
                <a:solidFill>
                  <a:srgbClr val="1C2433"/>
                </a:solidFill>
                <a:latin typeface="Calibri"/>
              </a:rPr>
              <a:t>, the same </a:t>
            </a:r>
            <a:r>
              <a:rPr sz="1050" b="0" i="0">
                <a:solidFill>
                  <a:srgbClr val="0E7C86"/>
                </a:solidFill>
                <a:latin typeface="Consolas"/>
              </a:rPr>
              <a:t>layout</a:t>
            </a:r>
          </a:p>
        </p:txBody>
      </p:sp>
      <p:cxnSp>
        <p:nvCxnSpPr>
          <p:cNvPr id="27" name="Connector 26"/>
          <p:cNvCxnSpPr/>
          <p:nvPr/>
        </p:nvCxnSpPr>
        <p:spPr>
          <a:xfrm>
            <a:off x="7114032" y="2377440"/>
            <a:ext cx="155448" cy="0"/>
          </a:xfrm>
          <a:prstGeom prst="line">
            <a:avLst/>
          </a:prstGeom>
          <a:ln w="25400">
            <a:solidFill>
              <a:srgbClr val="E87A1E"/>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269480" y="1188720"/>
            <a:ext cx="2130552" cy="237744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Oval 28"/>
          <p:cNvSpPr/>
          <p:nvPr/>
        </p:nvSpPr>
        <p:spPr>
          <a:xfrm>
            <a:off x="7379208" y="1307592"/>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79208" y="1307592"/>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4</a:t>
            </a:r>
          </a:p>
        </p:txBody>
      </p:sp>
      <p:sp>
        <p:nvSpPr>
          <p:cNvPr id="31" name="TextBox 30"/>
          <p:cNvSpPr txBox="1"/>
          <p:nvPr/>
        </p:nvSpPr>
        <p:spPr>
          <a:xfrm>
            <a:off x="7909560" y="1280160"/>
            <a:ext cx="1399032"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Signal</a:t>
            </a:r>
          </a:p>
        </p:txBody>
      </p:sp>
      <p:sp>
        <p:nvSpPr>
          <p:cNvPr id="32" name="TextBox 31"/>
          <p:cNvSpPr txBox="1"/>
          <p:nvPr/>
        </p:nvSpPr>
        <p:spPr>
          <a:xfrm>
            <a:off x="7379208" y="1828800"/>
            <a:ext cx="1911095" cy="1417320"/>
          </a:xfrm>
          <a:prstGeom prst="rect">
            <a:avLst/>
          </a:prstGeom>
          <a:noFill/>
        </p:spPr>
        <p:txBody>
          <a:bodyPr wrap="square" lIns="45720" rIns="45720" tIns="27432" bIns="27432" anchor="t">
            <a:spAutoFit/>
          </a:bodyPr>
          <a:lstStyle/>
          <a:p>
            <a:pPr algn="l">
              <a:lnSpc>
                <a:spcPct val="105000"/>
              </a:lnSpc>
            </a:pPr>
            <a:r>
              <a:rPr sz="1150" b="0" i="0">
                <a:solidFill>
                  <a:srgbClr val="1C2433"/>
                </a:solidFill>
                <a:latin typeface="Calibri"/>
              </a:rPr>
              <a:t>the data-load signal, or wait </a:t>
            </a:r>
            <a:r>
              <a:rPr sz="1050" b="0" i="0">
                <a:solidFill>
                  <a:srgbClr val="0E7C86"/>
                </a:solidFill>
                <a:latin typeface="Consolas"/>
              </a:rPr>
              <a:t>refresh-seconds</a:t>
            </a:r>
            <a:r>
              <a:rPr sz="1150" b="0" i="0">
                <a:solidFill>
                  <a:srgbClr val="1C2433"/>
                </a:solidFill>
                <a:latin typeface="Calibri"/>
              </a:rPr>
              <a:t>; Health shows </a:t>
            </a:r>
            <a:r>
              <a:rPr sz="1050" b="0" i="0">
                <a:solidFill>
                  <a:srgbClr val="0E7C86"/>
                </a:solidFill>
                <a:latin typeface="Consolas"/>
              </a:rPr>
              <a:t>engine: native</a:t>
            </a:r>
            <a:r>
              <a:rPr sz="1150" b="0" i="0">
                <a:solidFill>
                  <a:srgbClr val="1C2433"/>
                </a:solidFill>
                <a:latin typeface="Calibri"/>
              </a:rPr>
              <a:t>, UP</a:t>
            </a:r>
          </a:p>
        </p:txBody>
      </p:sp>
      <p:cxnSp>
        <p:nvCxnSpPr>
          <p:cNvPr id="33" name="Connector 32"/>
          <p:cNvCxnSpPr/>
          <p:nvPr/>
        </p:nvCxnSpPr>
        <p:spPr>
          <a:xfrm>
            <a:off x="9400032" y="2377440"/>
            <a:ext cx="155448" cy="0"/>
          </a:xfrm>
          <a:prstGeom prst="line">
            <a:avLst/>
          </a:prstGeom>
          <a:ln w="25400">
            <a:solidFill>
              <a:srgbClr val="E87A1E"/>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555480" y="1188720"/>
            <a:ext cx="2130552" cy="237744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Oval 34"/>
          <p:cNvSpPr/>
          <p:nvPr/>
        </p:nvSpPr>
        <p:spPr>
          <a:xfrm>
            <a:off x="9665207" y="1307592"/>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65207" y="1307592"/>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5</a:t>
            </a:r>
          </a:p>
        </p:txBody>
      </p:sp>
      <p:sp>
        <p:nvSpPr>
          <p:cNvPr id="37" name="TextBox 36"/>
          <p:cNvSpPr txBox="1"/>
          <p:nvPr/>
        </p:nvSpPr>
        <p:spPr>
          <a:xfrm>
            <a:off x="10195559" y="1280160"/>
            <a:ext cx="1399032"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Keep, then retire</a:t>
            </a:r>
          </a:p>
        </p:txBody>
      </p:sp>
      <p:sp>
        <p:nvSpPr>
          <p:cNvPr id="38" name="TextBox 37"/>
          <p:cNvSpPr txBox="1"/>
          <p:nvPr/>
        </p:nvSpPr>
        <p:spPr>
          <a:xfrm>
            <a:off x="9665207" y="1828800"/>
            <a:ext cx="1911095" cy="1417320"/>
          </a:xfrm>
          <a:prstGeom prst="rect">
            <a:avLst/>
          </a:prstGeom>
          <a:noFill/>
        </p:spPr>
        <p:txBody>
          <a:bodyPr wrap="square" lIns="45720" rIns="45720" tIns="27432" bIns="27432" anchor="t">
            <a:spAutoFit/>
          </a:bodyPr>
          <a:lstStyle/>
          <a:p>
            <a:pPr algn="l">
              <a:lnSpc>
                <a:spcPct val="105000"/>
              </a:lnSpc>
            </a:pPr>
            <a:r>
              <a:rPr sz="1150" b="0" i="0">
                <a:solidFill>
                  <a:srgbClr val="1C2433"/>
                </a:solidFill>
                <a:latin typeface="Calibri"/>
              </a:rPr>
              <a:t>keep the Delta table for its history; roll back by restoring the file</a:t>
            </a:r>
          </a:p>
        </p:txBody>
      </p:sp>
      <p:sp>
        <p:nvSpPr>
          <p:cNvPr id="39" name="Rounded Rectangle 38"/>
          <p:cNvSpPr/>
          <p:nvPr/>
        </p:nvSpPr>
        <p:spPr>
          <a:xfrm>
            <a:off x="411480" y="3794760"/>
            <a:ext cx="6583680" cy="2514600"/>
          </a:xfrm>
          <a:prstGeom prst="roundRect">
            <a:avLst>
              <a:gd name="adj" fmla="val 3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TextBox 39"/>
          <p:cNvSpPr txBox="1"/>
          <p:nvPr/>
        </p:nvSpPr>
        <p:spPr>
          <a:xfrm>
            <a:off x="521208" y="3867912"/>
            <a:ext cx="6364224" cy="2368296"/>
          </a:xfrm>
          <a:prstGeom prst="rect">
            <a:avLst/>
          </a:prstGeom>
          <a:noFill/>
        </p:spPr>
        <p:txBody>
          <a:bodyPr wrap="square" lIns="45720" rIns="45720" tIns="27432" bIns="27432" anchor="t">
            <a:spAutoFit/>
          </a:bodyPr>
          <a:lstStyle/>
          <a:p>
            <a:pPr algn="l">
              <a:lnSpc>
                <a:spcPct val="100000"/>
              </a:lnSpc>
            </a:pPr>
            <a:r>
              <a:rPr sz="1150" b="0" i="0">
                <a:solidFill>
                  <a:srgbClr val="E6EDF3"/>
                </a:solidFill>
                <a:latin typeface="Consolas"/>
              </a:rPr>
              <a:t># config/connectors/trade-calypso.yaml (the name never changes)</a:t>
            </a:r>
          </a:p>
          <a:p>
            <a:pPr algn="l">
              <a:lnSpc>
                <a:spcPct val="100000"/>
              </a:lnSpc>
            </a:pPr>
            <a:r>
              <a:rPr sz="1150" b="0" i="0">
                <a:solidFill>
                  <a:srgbClr val="E6EDF3"/>
                </a:solidFill>
                <a:latin typeface="Consolas"/>
              </a:rPr>
              <a:t>plugin: iceberg                 # was: delta</a:t>
            </a:r>
          </a:p>
          <a:p>
            <a:pPr algn="l">
              <a:lnSpc>
                <a:spcPct val="100000"/>
              </a:lnSpc>
            </a:pPr>
            <a:r>
              <a:rPr sz="1150" b="0" i="0">
                <a:solidFill>
                  <a:srgbClr val="E6EDF3"/>
                </a:solidFill>
                <a:latin typeface="Consolas"/>
              </a:rPr>
              <a:t>kinds: [trade]</a:t>
            </a:r>
          </a:p>
          <a:p>
            <a:pPr algn="l">
              <a:lnSpc>
                <a:spcPct val="100000"/>
              </a:lnSpc>
            </a:pPr>
            <a:r>
              <a:rPr sz="1150" b="0" i="0">
                <a:solidFill>
                  <a:srgbClr val="E6EDF3"/>
                </a:solidFill>
                <a:latin typeface="Consolas"/>
              </a:rPr>
              <a:t>settings:</a:t>
            </a:r>
          </a:p>
          <a:p>
            <a:pPr algn="l">
              <a:lnSpc>
                <a:spcPct val="100000"/>
              </a:lnSpc>
            </a:pPr>
            <a:r>
              <a:rPr sz="1150" b="0" i="0">
                <a:solidFill>
                  <a:srgbClr val="E6EDF3"/>
                </a:solidFill>
                <a:latin typeface="Consolas"/>
              </a:rPr>
              <a:t>  domain: trading</a:t>
            </a:r>
          </a:p>
          <a:p>
            <a:pPr algn="l">
              <a:lnSpc>
                <a:spcPct val="100000"/>
              </a:lnSpc>
            </a:pPr>
            <a:r>
              <a:rPr sz="1150" b="0" i="0">
                <a:solidFill>
                  <a:srgbClr val="E6EDF3"/>
                </a:solidFill>
                <a:latin typeface="Consolas"/>
              </a:rPr>
              <a:t>  engine: native</a:t>
            </a:r>
          </a:p>
          <a:p>
            <a:pPr algn="l">
              <a:lnSpc>
                <a:spcPct val="100000"/>
              </a:lnSpc>
            </a:pPr>
            <a:r>
              <a:rPr sz="1150" b="0" i="0">
                <a:solidFill>
                  <a:srgbClr val="E6EDF3"/>
                </a:solidFill>
                <a:latin typeface="Consolas"/>
              </a:rPr>
              <a:t>  root: ${DRISHTI_ICEBERG_ROOT:${drishti.data.dir:./data}/iceberg}</a:t>
            </a:r>
          </a:p>
          <a:p>
            <a:pPr algn="l">
              <a:lnSpc>
                <a:spcPct val="100000"/>
              </a:lnSpc>
            </a:pPr>
            <a:r>
              <a:rPr sz="1150" b="0" i="0">
                <a:solidFill>
                  <a:srgbClr val="E6EDF3"/>
                </a:solidFill>
                <a:latin typeface="Consolas"/>
              </a:rPr>
              <a:t>  table: {trade: trade_calypso}</a:t>
            </a:r>
          </a:p>
          <a:p>
            <a:pPr algn="l">
              <a:lnSpc>
                <a:spcPct val="100000"/>
              </a:lnSpc>
            </a:pPr>
            <a:r>
              <a:rPr sz="1150" b="0" i="0">
                <a:solidFill>
                  <a:srgbClr val="E6EDF3"/>
                </a:solidFill>
                <a:latin typeface="Consolas"/>
              </a:rPr>
              <a:t>  layout: {trade: {columns: [TRADE_ID, SOURCE_SYSTEM, …]}}</a:t>
            </a:r>
          </a:p>
        </p:txBody>
      </p:sp>
      <p:sp>
        <p:nvSpPr>
          <p:cNvPr id="41" name="Rounded Rectangle 40"/>
          <p:cNvSpPr/>
          <p:nvPr/>
        </p:nvSpPr>
        <p:spPr>
          <a:xfrm>
            <a:off x="7223760" y="3794760"/>
            <a:ext cx="4553712" cy="2514600"/>
          </a:xfrm>
          <a:prstGeom prst="roundRect">
            <a:avLst>
              <a:gd name="adj" fmla="val 6000"/>
            </a:avLst>
          </a:prstGeom>
          <a:solidFill>
            <a:srgbClr val="E8F5E9"/>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Rectangle 41"/>
          <p:cNvSpPr/>
          <p:nvPr/>
        </p:nvSpPr>
        <p:spPr>
          <a:xfrm>
            <a:off x="7223760" y="3794760"/>
            <a:ext cx="82296" cy="2514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7452360" y="3849624"/>
            <a:ext cx="4187952" cy="2404872"/>
          </a:xfrm>
          <a:prstGeom prst="rect">
            <a:avLst/>
          </a:prstGeom>
          <a:noFill/>
        </p:spPr>
        <p:txBody>
          <a:bodyPr wrap="square" lIns="45720" rIns="45720" tIns="27432" bIns="27432" anchor="ctr">
            <a:spAutoFit/>
          </a:bodyPr>
          <a:lstStyle/>
          <a:p>
            <a:pPr algn="l">
              <a:lnSpc>
                <a:spcPct val="105000"/>
              </a:lnSpc>
            </a:pPr>
            <a:r>
              <a:rPr sz="1250" b="1" i="0">
                <a:solidFill>
                  <a:srgbClr val="1C2433"/>
                </a:solidFill>
                <a:latin typeface="Calibri"/>
              </a:rPr>
              <a:t>Nothing above the connector moves:</a:t>
            </a:r>
            <a:r>
              <a:rPr sz="1250" b="0" i="0">
                <a:solidFill>
                  <a:srgbClr val="1C2433"/>
                </a:solidFill>
                <a:latin typeface="Calibri"/>
              </a:rPr>
              <a:t> the pack's route, saved searches, BI models, reports and bookmarks name the connector or the kind, never the format.</a:t>
            </a:r>
          </a:p>
          <a:p>
            <a:pPr algn="l">
              <a:lnSpc>
                <a:spcPct val="105000"/>
              </a:lnSpc>
            </a:pPr>
            <a:r>
              <a:rPr sz="1250" b="0" i="0">
                <a:solidFill>
                  <a:srgbClr val="1C2433"/>
                </a:solidFill>
                <a:latin typeface="Calibri"/>
              </a:rPr>
              <a:t>Caches of the old connector are dropped when the file changes. At an upgrade the edited file keeps its values and gains the pack's new keys.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04</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The risk lake</a:t>
            </a:r>
          </a:p>
        </p:txBody>
      </p:sp>
      <p:pic>
        <p:nvPicPr>
          <p:cNvPr id="5" name="Drishti mark" descr="Drishti logo: an eye between curly brackets"/>
          <p:cNvPicPr>
            <a:picLocks noChangeAspect="1"/>
          </p:cNvPicPr>
          <p:nvPr/>
        </p:nvPicPr>
        <p:blipFill>
          <a:blip r:embed="rId2"/>
          <a:stretch>
            <a:fillRect/>
          </a:stretch>
        </p:blipFill>
        <p:spPr>
          <a:xfrm>
            <a:off x="822960" y="6236208"/>
            <a:ext cx="430911" cy="237744"/>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risk lake's tables: inputs in risk/, results in risk-results/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4 · the risk lake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46</a:t>
            </a:r>
          </a:p>
        </p:txBody>
      </p:sp>
      <p:graphicFrame>
        <p:nvGraphicFramePr>
          <p:cNvPr id="10" name="Table"/>
          <p:cNvGraphicFramePr>
            <a:graphicFrameLocks noGrp="1"/>
          </p:cNvGraphicFramePr>
          <p:nvPr/>
        </p:nvGraphicFramePr>
        <p:xfrm>
          <a:off x="411480" y="1143000"/>
          <a:ext cx="11365992" cy="4480560"/>
        </p:xfrm>
        <a:graphic>
          <a:graphicData uri="http://schemas.openxmlformats.org/drawingml/2006/table">
            <a:tbl>
              <a:tblPr firstRow="0" bandRow="0">
                <a:tableStyleId>{5940675A-B579-460E-94D1-54222C63F5DA}</a:tableStyleId>
              </a:tblPr>
              <a:tblGrid>
                <a:gridCol w="2926080"/>
                <a:gridCol w="3291840"/>
                <a:gridCol w="1920240"/>
                <a:gridCol w="1691640"/>
                <a:gridCol w="1536192"/>
              </a:tblGrid>
              <a:tr h="448056">
                <a:tc>
                  <a:txBody>
                    <a:bodyPr wrap="square"/>
                    <a:lstStyle/>
                    <a:p>
                      <a:r>
                        <a:rPr sz="1100" b="1" i="0">
                          <a:solidFill>
                            <a:srgbClr val="FFFFFF"/>
                          </a:solidFill>
                          <a:latin typeface="Calibri"/>
                        </a:rPr>
                        <a:t>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One row is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Key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Vector column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Read by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48056">
                <a:tc>
                  <a:txBody>
                    <a:bodyPr wrap="square"/>
                    <a:lstStyle/>
                    <a:p>
                      <a:r>
                        <a:rPr sz="1100" b="1" i="0">
                          <a:solidFill>
                            <a:srgbClr val="0E7C86"/>
                          </a:solidFill>
                          <a:latin typeface="Consolas"/>
                        </a:rPr>
                        <a:t>risk/pnl-vector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 trade's (or position's) P&amp;L over 509 scenarios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PNL-&lt;trade&gt;-&lt;set&gt;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PNL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VaR engine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48056">
                <a:tc>
                  <a:txBody>
                    <a:bodyPr wrap="square"/>
                    <a:lstStyle/>
                    <a:p>
                      <a:r>
                        <a:rPr sz="1100" b="1" i="0">
                          <a:solidFill>
                            <a:srgbClr val="0E7C86"/>
                          </a:solidFill>
                          <a:latin typeface="Consolas"/>
                        </a:rPr>
                        <a:t>risk/scenario-pv</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 trade's scenario PVs and base PV, its own currency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SCENARIO_PV_ID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SCENARIO_PV</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VaR engine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48056">
                <a:tc>
                  <a:txBody>
                    <a:bodyPr wrap="square"/>
                    <a:lstStyle/>
                    <a:p>
                      <a:r>
                        <a:rPr sz="1100" b="1" i="0">
                          <a:solidFill>
                            <a:srgbClr val="0E7C86"/>
                          </a:solidFill>
                          <a:latin typeface="Consolas"/>
                        </a:rPr>
                        <a:t>risk/fx-scenario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 currency's rate today and per scenario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FX_SCENARIO_ID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none (</a:t>
                      </a:r>
                      <a:r>
                        <a:rPr sz="1100" b="0" i="0">
                          <a:solidFill>
                            <a:srgbClr val="0E7C86"/>
                          </a:solidFill>
                          <a:latin typeface="Consolas"/>
                        </a:rPr>
                        <a:t>RATES</a:t>
                      </a:r>
                      <a:r>
                        <a:rPr sz="1100" b="0" i="0">
                          <a:solidFill>
                            <a:srgbClr val="1C2433"/>
                          </a:solidFill>
                          <a:latin typeface="Calibri"/>
                        </a:rPr>
                        <a:t> in doc)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VaR engine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48056">
                <a:tc>
                  <a:txBody>
                    <a:bodyPr wrap="square"/>
                    <a:lstStyle/>
                    <a:p>
                      <a:r>
                        <a:rPr sz="1100" b="1" i="0">
                          <a:solidFill>
                            <a:srgbClr val="0E7C86"/>
                          </a:solidFill>
                          <a:latin typeface="Consolas"/>
                        </a:rPr>
                        <a:t>risk/scenario-set</a:t>
                      </a:r>
                      <a:r>
                        <a:rPr sz="1100" b="1" i="0">
                          <a:solidFill>
                            <a:srgbClr val="1C2433"/>
                          </a:solidFill>
                          <a:latin typeface="Calibri"/>
                        </a:rPr>
                        <a:t> · </a:t>
                      </a:r>
                      <a:r>
                        <a:rPr sz="1100" b="1" i="0">
                          <a:solidFill>
                            <a:srgbClr val="0E7C86"/>
                          </a:solidFill>
                          <a:latin typeface="Consolas"/>
                        </a:rPr>
                        <a:t>risk-hierarchy</a:t>
                      </a:r>
                      <a:r>
                        <a:rPr sz="1100" b="1" i="0">
                          <a:solidFill>
                            <a:srgbClr val="1C2433"/>
                          </a:solidFill>
                          <a:latin typeface="Calibri"/>
                        </a:rPr>
                        <a:t> · </a:t>
                      </a:r>
                      <a:r>
                        <a:rPr sz="1100" b="1" i="0">
                          <a:solidFill>
                            <a:srgbClr val="0E7C86"/>
                          </a:solidFill>
                          <a:latin typeface="Consolas"/>
                        </a:rPr>
                        <a:t>portfolio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scenario days · a tree node with its limit · a portfolio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SCENARIO_SET_ID</a:t>
                      </a:r>
                      <a:r>
                        <a:rPr sz="1100" b="0" i="0">
                          <a:solidFill>
                            <a:srgbClr val="1C2433"/>
                          </a:solidFill>
                          <a:latin typeface="Calibri"/>
                        </a:rPr>
                        <a:t> …</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none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VaR engine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48056">
                <a:tc>
                  <a:txBody>
                    <a:bodyPr wrap="square"/>
                    <a:lstStyle/>
                    <a:p>
                      <a:r>
                        <a:rPr sz="1100" b="1" i="0">
                          <a:solidFill>
                            <a:srgbClr val="0E7C86"/>
                          </a:solidFill>
                          <a:latin typeface="Consolas"/>
                        </a:rPr>
                        <a:t>risk/var-limit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 node's VaR limit in a hierarchy by columns (the limit letters)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VL-&lt;NODE_ID&gt;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none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VaR engine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48056">
                <a:tc>
                  <a:txBody>
                    <a:bodyPr wrap="square"/>
                    <a:lstStyle/>
                    <a:p>
                      <a:r>
                        <a:rPr sz="1100" b="1" i="0">
                          <a:solidFill>
                            <a:srgbClr val="0E7C86"/>
                          </a:solidFill>
                          <a:latin typeface="Consolas"/>
                        </a:rPr>
                        <a:t>risk/simulation-run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an exposure run's grid and identity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RUN_ID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none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exposure engine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48056">
                <a:tc>
                  <a:txBody>
                    <a:bodyPr wrap="square"/>
                    <a:lstStyle/>
                    <a:p>
                      <a:r>
                        <a:rPr sz="1100" b="1" i="0">
                          <a:solidFill>
                            <a:srgbClr val="0E7C86"/>
                          </a:solidFill>
                          <a:latin typeface="Consolas"/>
                        </a:rPr>
                        <a:t>risk/exposure-path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 trade × grid date: MtM over the P paths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PATH_ROW_ID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MTM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exposure engine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48056">
                <a:tc>
                  <a:txBody>
                    <a:bodyPr wrap="square"/>
                    <a:lstStyle/>
                    <a:p>
                      <a:r>
                        <a:rPr sz="1100" b="1" i="0">
                          <a:solidFill>
                            <a:srgbClr val="0E7C86"/>
                          </a:solidFill>
                          <a:latin typeface="Consolas"/>
                        </a:rPr>
                        <a:t>risk-results/var-official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 node × date × result version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node@date#v</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none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BI only (</a:t>
                      </a:r>
                      <a:r>
                        <a:rPr sz="1100" b="0" i="0">
                          <a:solidFill>
                            <a:srgbClr val="0E7C86"/>
                          </a:solidFill>
                          <a:latin typeface="Consolas"/>
                        </a:rPr>
                        <a:t>VOFF</a:t>
                      </a:r>
                      <a:r>
                        <a:rPr sz="11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48056">
                <a:tc>
                  <a:txBody>
                    <a:bodyPr wrap="square"/>
                    <a:lstStyle/>
                    <a:p>
                      <a:r>
                        <a:rPr sz="1100" b="1" i="0">
                          <a:solidFill>
                            <a:srgbClr val="0E7C86"/>
                          </a:solidFill>
                          <a:latin typeface="Consolas"/>
                        </a:rPr>
                        <a:t>risk-results/exposure-official(-cpty)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 node, set, counterparty or group × version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scope@date#v</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none (profile as JSON)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BI only (</a:t>
                      </a:r>
                      <a:r>
                        <a:rPr sz="1100" b="0" i="0">
                          <a:solidFill>
                            <a:srgbClr val="0E7C86"/>
                          </a:solidFill>
                          <a:latin typeface="Consolas"/>
                        </a:rPr>
                        <a:t>XOFC</a:t>
                      </a:r>
                      <a:r>
                        <a:rPr sz="11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1" name="Callout"/>
          <p:cNvSpPr/>
          <p:nvPr/>
        </p:nvSpPr>
        <p:spPr>
          <a:xfrm>
            <a:off x="411480" y="5760720"/>
            <a:ext cx="11365992" cy="59436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allout edge"/>
          <p:cNvSpPr/>
          <p:nvPr/>
        </p:nvSpPr>
        <p:spPr>
          <a:xfrm>
            <a:off x="411480" y="5779007"/>
            <a:ext cx="82296" cy="55778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0080" y="5833872"/>
            <a:ext cx="11000232" cy="448056"/>
          </a:xfrm>
          <a:prstGeom prst="rect">
            <a:avLst/>
          </a:prstGeom>
          <a:noFill/>
        </p:spPr>
        <p:txBody>
          <a:bodyPr wrap="square" lIns="0" rIns="0" tIns="0" bIns="0" anchor="ctr">
            <a:spAutoFit/>
          </a:bodyPr>
          <a:lstStyle/>
          <a:p>
            <a:pPr algn="l">
              <a:spcAft>
                <a:spcPts val="600"/>
              </a:spcAft>
              <a:buNone/>
            </a:pPr>
            <a:r>
              <a:rPr sz="1200" b="0" i="0">
                <a:solidFill>
                  <a:srgbClr val="1C2433"/>
                </a:solidFill>
                <a:latin typeface="Calibri"/>
              </a:rPr>
              <a:t>Engines read </a:t>
            </a:r>
            <a:r>
              <a:rPr sz="1100" b="0" i="0">
                <a:solidFill>
                  <a:srgbClr val="0E7C86"/>
                </a:solidFill>
                <a:latin typeface="Consolas"/>
              </a:rPr>
              <a:t>risk/</a:t>
            </a:r>
            <a:r>
              <a:rPr sz="1200" b="0" i="0">
                <a:solidFill>
                  <a:srgbClr val="1C2433"/>
                </a:solidFill>
                <a:latin typeface="Calibri"/>
              </a:rPr>
              <a:t> only; nothing reads </a:t>
            </a:r>
            <a:r>
              <a:rPr sz="1100" b="0" i="0">
                <a:solidFill>
                  <a:srgbClr val="0E7C86"/>
                </a:solidFill>
                <a:latin typeface="Consolas"/>
              </a:rPr>
              <a:t>risk-results/</a:t>
            </a:r>
            <a:r>
              <a:rPr sz="1200" b="0" i="0">
                <a:solidFill>
                  <a:srgbClr val="1C2433"/>
                </a:solidFill>
                <a:latin typeface="Calibri"/>
              </a:rPr>
              <a:t> back except BI's read-only connectors (a guard test). Every input row carries </a:t>
            </a:r>
            <a:r>
              <a:rPr sz="1100" b="0" i="0">
                <a:solidFill>
                  <a:srgbClr val="0E7C86"/>
                </a:solidFill>
                <a:latin typeface="Consolas"/>
              </a:rPr>
              <a:t>LIMIT_LETTER</a:t>
            </a:r>
            <a:r>
              <a:rPr sz="1200" b="0" i="0">
                <a:solidFill>
                  <a:srgbClr val="1C2433"/>
                </a:solidFill>
                <a:latin typeface="Calibri"/>
              </a:rPr>
              <a:t>. Positions are derived, never stored.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A vector is one list&lt;double&gt; column: why, and how it is carried</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4 · the risk lake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47</a:t>
            </a:r>
          </a:p>
        </p:txBody>
      </p:sp>
      <p:graphicFrame>
        <p:nvGraphicFramePr>
          <p:cNvPr id="10" name="Table"/>
          <p:cNvGraphicFramePr>
            <a:graphicFrameLocks noGrp="1"/>
          </p:cNvGraphicFramePr>
          <p:nvPr/>
        </p:nvGraphicFramePr>
        <p:xfrm>
          <a:off x="411480" y="1188720"/>
          <a:ext cx="11365992" cy="2286000"/>
        </p:xfrm>
        <a:graphic>
          <a:graphicData uri="http://schemas.openxmlformats.org/drawingml/2006/table">
            <a:tbl>
              <a:tblPr firstRow="0" bandRow="0">
                <a:tableStyleId>{5940675A-B579-460E-94D1-54222C63F5DA}</a:tableStyleId>
              </a:tblPr>
              <a:tblGrid>
                <a:gridCol w="3474720"/>
                <a:gridCol w="2194560"/>
                <a:gridCol w="3291840"/>
                <a:gridCol w="2404872"/>
              </a:tblGrid>
              <a:tr h="457200">
                <a:tc>
                  <a:txBody>
                    <a:bodyPr wrap="square"/>
                    <a:lstStyle/>
                    <a:p>
                      <a:r>
                        <a:rPr sz="1200" b="1" i="0">
                          <a:solidFill>
                            <a:srgbClr val="FFFFFF"/>
                          </a:solidFill>
                          <a:latin typeface="Calibri"/>
                        </a:rPr>
                        <a:t>Layout (one date, 2M rows × 509)</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Size, compressed (estimate)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Sum a scope's vectors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Verdict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57200">
                <a:tc>
                  <a:txBody>
                    <a:bodyPr wrap="square"/>
                    <a:lstStyle/>
                    <a:p>
                      <a:r>
                        <a:rPr sz="1200" b="1" i="0">
                          <a:solidFill>
                            <a:srgbClr val="1C2433"/>
                          </a:solidFill>
                          <a:latin typeface="Calibri"/>
                        </a:rPr>
                        <a:t>A. Long: a row per position × scenario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~9–11 GB</a:t>
                      </a:r>
                      <a:r>
                        <a:rPr sz="1200" b="1" i="0">
                          <a:solidFill>
                            <a:srgbClr val="E87A1E"/>
                          </a:solidFill>
                          <a:latin typeface="Calibri"/>
                        </a:rPr>
                        <a:t>¹</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 group-by over hundreds of millions of rows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rejected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B. Wide: 509 columns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~5.5–6.5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509 column chunks per row group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rejected (schema = scenario count)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200" b="1" i="0">
                          <a:solidFill>
                            <a:srgbClr val="1C2433"/>
                          </a:solidFill>
                          <a:latin typeface="Calibri"/>
                        </a:rPr>
                        <a:t>C. Vector: </a:t>
                      </a:r>
                      <a:r>
                        <a:rPr sz="1100" b="1" i="0">
                          <a:solidFill>
                            <a:srgbClr val="0E7C86"/>
                          </a:solidFill>
                          <a:latin typeface="Consolas"/>
                        </a:rPr>
                        <a:t>PNL list&lt;double&gt;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~5.5–6.5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one column, decoded into one array, added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1" i="0">
                          <a:solidFill>
                            <a:srgbClr val="1C2433"/>
                          </a:solidFill>
                          <a:latin typeface="Calibri"/>
                        </a:rPr>
                        <a:t>chosen, built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D. Blob: 4,072 bytes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~6–7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one column, copy bytes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rejected (other tools cannot read 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1" name="Rounded Rectangle 10"/>
          <p:cNvSpPr/>
          <p:nvPr/>
        </p:nvSpPr>
        <p:spPr>
          <a:xfrm>
            <a:off x="411480" y="3703320"/>
            <a:ext cx="5532120" cy="219456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502920" y="3749039"/>
            <a:ext cx="534924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As built</a:t>
            </a:r>
          </a:p>
        </p:txBody>
      </p:sp>
      <p:sp>
        <p:nvSpPr>
          <p:cNvPr id="13" name="TextBox 12"/>
          <p:cNvSpPr txBox="1"/>
          <p:nvPr/>
        </p:nvSpPr>
        <p:spPr>
          <a:xfrm>
            <a:off x="502920" y="4069080"/>
            <a:ext cx="5349240" cy="178308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layout.&lt;kind&gt;.vectors: [PNL]</a:t>
            </a:r>
            <a:r>
              <a:rPr sz="1200" b="0" i="0">
                <a:solidFill>
                  <a:srgbClr val="1C2433"/>
                </a:solidFill>
                <a:latin typeface="Calibri"/>
              </a:rPr>
              <a:t>; </a:t>
            </a:r>
            <a:r>
              <a:rPr sz="1100" b="0" i="0">
                <a:solidFill>
                  <a:srgbClr val="0E7C86"/>
                </a:solidFill>
                <a:latin typeface="Consolas"/>
              </a:rPr>
              <a:t>lake build --vector</a:t>
            </a:r>
            <a:r>
              <a:rPr sz="1200" b="0" i="0">
                <a:solidFill>
                  <a:srgbClr val="1C2433"/>
                </a:solidFill>
                <a:latin typeface="Calibri"/>
              </a:rPr>
              <a:t>; both writers</a:t>
            </a:r>
          </a:p>
          <a:p>
            <a:pPr algn="l" marL="201168" indent="-201168">
              <a:spcAft>
                <a:spcPts val="200"/>
              </a:spcAft>
              <a:buClr>
                <a:srgbClr val="E87A1E"/>
              </a:buClr>
              <a:buSzPct val="100000"/>
              <a:buFont typeface="Arial"/>
              <a:buChar char="•"/>
            </a:pPr>
            <a:r>
              <a:rPr sz="1200" b="0" i="0">
                <a:solidFill>
                  <a:srgbClr val="1C2433"/>
                </a:solidFill>
                <a:latin typeface="Calibri"/>
              </a:rPr>
              <a:t>the document keeps </a:t>
            </a:r>
            <a:r>
              <a:rPr sz="1100" b="0" i="0">
                <a:solidFill>
                  <a:srgbClr val="0E7C86"/>
                </a:solidFill>
                <a:latin typeface="Consolas"/>
              </a:rPr>
              <a:t>{"$vector": "PNL"}</a:t>
            </a:r>
            <a:r>
              <a:rPr sz="1200" b="0" i="0">
                <a:solidFill>
                  <a:srgbClr val="1C2433"/>
                </a:solidFill>
                <a:latin typeface="Calibri"/>
              </a:rPr>
              <a:t>: never stored twice</a:t>
            </a:r>
          </a:p>
          <a:p>
            <a:pPr algn="l" marL="201168" indent="-201168">
              <a:spcAft>
                <a:spcPts val="200"/>
              </a:spcAft>
              <a:buClr>
                <a:srgbClr val="E87A1E"/>
              </a:buClr>
              <a:buSzPct val="100000"/>
              <a:buFont typeface="Arial"/>
              <a:buChar char="•"/>
            </a:pPr>
            <a:r>
              <a:rPr sz="1200" b="0" i="0">
                <a:solidFill>
                  <a:srgbClr val="1C2433"/>
                </a:solidFill>
                <a:latin typeface="Calibri"/>
              </a:rPr>
              <a:t>streamed per date, one buffer reused for every row</a:t>
            </a:r>
          </a:p>
          <a:p>
            <a:pPr algn="l" marL="201168" indent="-201168">
              <a:spcAft>
                <a:spcPts val="200"/>
              </a:spcAft>
              <a:buClr>
                <a:srgbClr val="E87A1E"/>
              </a:buClr>
              <a:buSzPct val="100000"/>
              <a:buFont typeface="Arial"/>
              <a:buChar char="•"/>
            </a:pPr>
            <a:r>
              <a:rPr sz="1200" b="0" i="0">
                <a:solidFill>
                  <a:srgbClr val="1C2433"/>
                </a:solidFill>
                <a:latin typeface="Calibri"/>
              </a:rPr>
              <a:t>round trip JSONL → Delta → </a:t>
            </a:r>
            <a:r>
              <a:rPr sz="1100" b="0" i="0">
                <a:solidFill>
                  <a:srgbClr val="0E7C86"/>
                </a:solidFill>
                <a:latin typeface="Consolas"/>
              </a:rPr>
              <a:t>double[]</a:t>
            </a:r>
            <a:r>
              <a:rPr sz="1200" b="0" i="0">
                <a:solidFill>
                  <a:srgbClr val="1C2433"/>
                </a:solidFill>
                <a:latin typeface="Calibri"/>
              </a:rPr>
              <a:t> equal to the bit</a:t>
            </a:r>
          </a:p>
          <a:p>
            <a:pPr algn="l" marL="201168" indent="-201168">
              <a:spcAft>
                <a:spcPts val="200"/>
              </a:spcAft>
              <a:buClr>
                <a:srgbClr val="E87A1E"/>
              </a:buClr>
              <a:buSzPct val="100000"/>
              <a:buFont typeface="Arial"/>
              <a:buChar char="•"/>
            </a:pPr>
            <a:r>
              <a:rPr sz="1100" b="0" i="0">
                <a:solidFill>
                  <a:srgbClr val="0E7C86"/>
                </a:solidFill>
                <a:latin typeface="Consolas"/>
              </a:rPr>
              <a:t>list&lt;float&gt;</a:t>
            </a:r>
            <a:r>
              <a:rPr sz="1200" b="0" i="0">
                <a:solidFill>
                  <a:srgbClr val="1C2433"/>
                </a:solidFill>
                <a:latin typeface="Calibri"/>
              </a:rPr>
              <a:t> read and written for exposure paths</a:t>
            </a:r>
          </a:p>
        </p:txBody>
      </p:sp>
      <p:sp>
        <p:nvSpPr>
          <p:cNvPr id="14" name="Rounded Rectangle 13"/>
          <p:cNvSpPr/>
          <p:nvPr/>
        </p:nvSpPr>
        <p:spPr>
          <a:xfrm>
            <a:off x="6245352" y="3703320"/>
            <a:ext cx="5532120" cy="219456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6336792" y="3749039"/>
            <a:ext cx="534924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Where it runs</a:t>
            </a:r>
          </a:p>
        </p:txBody>
      </p:sp>
      <p:sp>
        <p:nvSpPr>
          <p:cNvPr id="16" name="TextBox 15"/>
          <p:cNvSpPr txBox="1"/>
          <p:nvPr/>
        </p:nvSpPr>
        <p:spPr>
          <a:xfrm>
            <a:off x="6336792" y="4069080"/>
            <a:ext cx="5349240" cy="178308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streamed reads: the Delta plugin (default) and the Iceberg plugin (</a:t>
            </a:r>
            <a:r>
              <a:rPr sz="1100" b="0" i="0">
                <a:solidFill>
                  <a:srgbClr val="0E7C86"/>
                </a:solidFill>
                <a:latin typeface="Consolas"/>
              </a:rPr>
              <a:t>SourcePlugin.vectors</a:t>
            </a:r>
            <a:r>
              <a:rPr sz="1200" b="0" i="0">
                <a:solidFill>
                  <a:srgbClr val="1C2433"/>
                </a:solidFill>
                <a:latin typeface="Calibri"/>
              </a:rPr>
              <a:t>)</a:t>
            </a:r>
          </a:p>
          <a:p>
            <a:pPr algn="l" marL="201168" indent="-201168">
              <a:spcAft>
                <a:spcPts val="200"/>
              </a:spcAft>
              <a:buClr>
                <a:srgbClr val="E87A1E"/>
              </a:buClr>
              <a:buSzPct val="100000"/>
              <a:buFont typeface="Arial"/>
              <a:buChar char="•"/>
            </a:pPr>
            <a:r>
              <a:rPr sz="1200" b="0" i="0">
                <a:solidFill>
                  <a:srgbClr val="1C2433"/>
                </a:solidFill>
                <a:latin typeface="Calibri"/>
              </a:rPr>
              <a:t>VaR and exposure on Iceberg: equal to Delta to the cent</a:t>
            </a:r>
          </a:p>
          <a:p>
            <a:pPr algn="l" marL="201168" indent="-201168">
              <a:spcAft>
                <a:spcPts val="200"/>
              </a:spcAft>
              <a:buClr>
                <a:srgbClr val="E87A1E"/>
              </a:buClr>
              <a:buSzPct val="100000"/>
              <a:buFont typeface="Arial"/>
              <a:buChar char="•"/>
            </a:pPr>
            <a:r>
              <a:rPr sz="1200" b="0" i="0">
                <a:solidFill>
                  <a:srgbClr val="1C2433"/>
                </a:solidFill>
                <a:latin typeface="Calibri"/>
              </a:rPr>
              <a:t>Iceberg loader: </a:t>
            </a:r>
            <a:r>
              <a:rPr sz="1100" b="0" i="0">
                <a:solidFill>
                  <a:srgbClr val="0E7C86"/>
                </a:solidFill>
                <a:latin typeface="Consolas"/>
              </a:rPr>
              <a:t>list&lt;double&gt;</a:t>
            </a:r>
            <a:r>
              <a:rPr sz="1200" b="0" i="0">
                <a:solidFill>
                  <a:srgbClr val="1C2433"/>
                </a:solidFill>
                <a:latin typeface="Calibri"/>
              </a:rPr>
              <a:t>; a missing element null, never 0; a non-number list a reject</a:t>
            </a:r>
          </a:p>
          <a:p>
            <a:pPr algn="l" marL="201168" indent="-201168">
              <a:spcAft>
                <a:spcPts val="200"/>
              </a:spcAft>
              <a:buClr>
                <a:srgbClr val="E87A1E"/>
              </a:buClr>
              <a:buSzPct val="100000"/>
              <a:buFont typeface="Arial"/>
              <a:buChar char="•"/>
            </a:pPr>
            <a:r>
              <a:rPr sz="1200" b="0" i="0">
                <a:solidFill>
                  <a:srgbClr val="1C2433"/>
                </a:solidFill>
                <a:latin typeface="Calibri"/>
              </a:rPr>
              <a:t>bank-scale layout (sorted by legal entity and desk, BSS + ZSTD): the parallel Java loader writes it</a:t>
            </a:r>
          </a:p>
        </p:txBody>
      </p:sp>
      <p:sp>
        <p:nvSpPr>
          <p:cNvPr id="17" name="Footnotes"/>
          <p:cNvSpPr txBox="1"/>
          <p:nvPr/>
        </p:nvSpPr>
        <p:spPr>
          <a:xfrm>
            <a:off x="411480" y="6377940"/>
            <a:ext cx="11365992" cy="169164"/>
          </a:xfrm>
          <a:prstGeom prst="rect">
            <a:avLst/>
          </a:prstGeom>
          <a:noFill/>
        </p:spPr>
        <p:txBody>
          <a:bodyPr wrap="square" lIns="0" rIns="0" tIns="0" bIns="0" anchor="t">
            <a:spAutoFit/>
          </a:bodyPr>
          <a:lstStyle/>
          <a:p>
            <a:pPr algn="l">
              <a:lnSpc>
                <a:spcPct val="100000"/>
              </a:lnSpc>
              <a:spcAft>
                <a:spcPts val="0"/>
              </a:spcAft>
              <a:buNone/>
            </a:pPr>
            <a:r>
              <a:rPr sz="900" b="0" i="0">
                <a:solidFill>
                  <a:srgbClr val="5B677A"/>
                </a:solidFill>
                <a:latin typeface="Calibri"/>
              </a:rPr>
              <a:t>¹ design estimates of VAR_GUIDE.md 29.1 for 2,000,000 rows × 509 × 8 B = 8.14 GB raw: vector and wide ≈ 0.68–0.8 × raw compressed; long adds an id and scenario index per value; ESTIMATED, not measured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Morning run, intraday batches, Kafka micro-batches: all into the lake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4 · the risk lake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48</a:t>
            </a:r>
          </a:p>
        </p:txBody>
      </p:sp>
      <p:sp>
        <p:nvSpPr>
          <p:cNvPr id="10" name="Rounded Rectangle 9"/>
          <p:cNvSpPr/>
          <p:nvPr/>
        </p:nvSpPr>
        <p:spPr>
          <a:xfrm>
            <a:off x="411480" y="1188720"/>
            <a:ext cx="3566160" cy="1463040"/>
          </a:xfrm>
          <a:prstGeom prst="roundRect">
            <a:avLst>
              <a:gd name="adj" fmla="val 6000"/>
            </a:avLst>
          </a:prstGeom>
          <a:solidFill>
            <a:srgbClr val="EEE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02920" y="1234440"/>
            <a:ext cx="338327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Morning run · RUN_KIND FULL</a:t>
            </a:r>
          </a:p>
        </p:txBody>
      </p:sp>
      <p:sp>
        <p:nvSpPr>
          <p:cNvPr id="12" name="TextBox 11"/>
          <p:cNvSpPr txBox="1"/>
          <p:nvPr/>
        </p:nvSpPr>
        <p:spPr>
          <a:xfrm>
            <a:off x="502920" y="1554480"/>
            <a:ext cx="3383279" cy="105156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every live trade, one BATCH_ID</a:t>
            </a:r>
          </a:p>
          <a:p>
            <a:pPr algn="l" marL="201168" indent="-201168">
              <a:spcAft>
                <a:spcPts val="200"/>
              </a:spcAft>
              <a:buClr>
                <a:srgbClr val="E87A1E"/>
              </a:buClr>
              <a:buSzPct val="100000"/>
              <a:buFont typeface="Arial"/>
              <a:buChar char="•"/>
            </a:pPr>
            <a:r>
              <a:rPr sz="1200" b="0" i="0">
                <a:solidFill>
                  <a:srgbClr val="1C2433"/>
                </a:solidFill>
                <a:latin typeface="Calibri"/>
              </a:rPr>
              <a:t>JSONL → </a:t>
            </a:r>
            <a:r>
              <a:rPr sz="1100" b="0" i="0">
                <a:solidFill>
                  <a:srgbClr val="0E7C86"/>
                </a:solidFill>
                <a:latin typeface="Consolas"/>
              </a:rPr>
              <a:t>lake build</a:t>
            </a:r>
            <a:r>
              <a:rPr sz="1200" b="0" i="0">
                <a:solidFill>
                  <a:srgbClr val="1C2433"/>
                </a:solidFill>
                <a:latin typeface="Calibri"/>
              </a:rPr>
              <a:t> replaces the date</a:t>
            </a:r>
          </a:p>
        </p:txBody>
      </p:sp>
      <p:sp>
        <p:nvSpPr>
          <p:cNvPr id="13" name="Rounded Rectangle 12"/>
          <p:cNvSpPr/>
          <p:nvPr/>
        </p:nvSpPr>
        <p:spPr>
          <a:xfrm>
            <a:off x="411480" y="2834640"/>
            <a:ext cx="3566160" cy="1463040"/>
          </a:xfrm>
          <a:prstGeom prst="roundRect">
            <a:avLst>
              <a:gd name="adj" fmla="val 6000"/>
            </a:avLst>
          </a:prstGeom>
          <a:solidFill>
            <a:srgbClr val="EEE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02920" y="2880360"/>
            <a:ext cx="338327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Intraday files · INTRADAY</a:t>
            </a:r>
          </a:p>
        </p:txBody>
      </p:sp>
      <p:sp>
        <p:nvSpPr>
          <p:cNvPr id="15" name="TextBox 14"/>
          <p:cNvSpPr txBox="1"/>
          <p:nvPr/>
        </p:nvSpPr>
        <p:spPr>
          <a:xfrm>
            <a:off x="502920" y="3200400"/>
            <a:ext cx="3383279" cy="105156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changed trades only, own BATCH_ID</a:t>
            </a:r>
          </a:p>
          <a:p>
            <a:pPr algn="l" marL="201168" indent="-201168">
              <a:spcAft>
                <a:spcPts val="200"/>
              </a:spcAft>
              <a:buClr>
                <a:srgbClr val="E87A1E"/>
              </a:buClr>
              <a:buSzPct val="100000"/>
              <a:buFont typeface="Arial"/>
              <a:buChar char="•"/>
            </a:pPr>
            <a:r>
              <a:rPr sz="1100" b="0" i="0">
                <a:solidFill>
                  <a:srgbClr val="0E7C86"/>
                </a:solidFill>
                <a:latin typeface="Consolas"/>
              </a:rPr>
              <a:t>drishti.py var intraday --load</a:t>
            </a:r>
            <a:r>
              <a:rPr sz="1200" b="0" i="0">
                <a:solidFill>
                  <a:srgbClr val="1C2433"/>
                </a:solidFill>
                <a:latin typeface="Calibri"/>
              </a:rPr>
              <a:t> (append)</a:t>
            </a:r>
          </a:p>
        </p:txBody>
      </p:sp>
      <p:sp>
        <p:nvSpPr>
          <p:cNvPr id="16" name="Rounded Rectangle 15"/>
          <p:cNvSpPr/>
          <p:nvPr/>
        </p:nvSpPr>
        <p:spPr>
          <a:xfrm>
            <a:off x="411480" y="4480560"/>
            <a:ext cx="3566160" cy="1463040"/>
          </a:xfrm>
          <a:prstGeom prst="roundRect">
            <a:avLst>
              <a:gd name="adj" fmla="val 6000"/>
            </a:avLst>
          </a:prstGeom>
          <a:solidFill>
            <a:srgbClr val="EEE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502920" y="4526280"/>
            <a:ext cx="338327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Kafka PV topic · micro-batches</a:t>
            </a:r>
          </a:p>
        </p:txBody>
      </p:sp>
      <p:sp>
        <p:nvSpPr>
          <p:cNvPr id="18" name="TextBox 17"/>
          <p:cNvSpPr txBox="1"/>
          <p:nvPr/>
        </p:nvSpPr>
        <p:spPr>
          <a:xfrm>
            <a:off x="502920" y="4846320"/>
            <a:ext cx="3383279" cy="105156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pv-updates</a:t>
            </a:r>
            <a:r>
              <a:rPr sz="1200" b="0" i="0">
                <a:solidFill>
                  <a:srgbClr val="1C2433"/>
                </a:solidFill>
                <a:latin typeface="Calibri"/>
              </a:rPr>
              <a:t> (var-pv-stream), JSONL text</a:t>
            </a:r>
          </a:p>
          <a:p>
            <a:pPr algn="l" marL="201168" indent="-201168">
              <a:spcAft>
                <a:spcPts val="200"/>
              </a:spcAft>
              <a:buClr>
                <a:srgbClr val="E87A1E"/>
              </a:buClr>
              <a:buSzPct val="100000"/>
              <a:buFont typeface="Arial"/>
              <a:buChar char="•"/>
            </a:pPr>
            <a:r>
              <a:rPr sz="1200" b="0" i="0">
                <a:solidFill>
                  <a:srgbClr val="1C2433"/>
                </a:solidFill>
                <a:latin typeface="Calibri"/>
              </a:rPr>
              <a:t>window 5 min · flush at 500 · Apply now</a:t>
            </a:r>
          </a:p>
        </p:txBody>
      </p:sp>
      <p:sp>
        <p:nvSpPr>
          <p:cNvPr id="19" name="Rounded Rectangle 18"/>
          <p:cNvSpPr/>
          <p:nvPr/>
        </p:nvSpPr>
        <p:spPr>
          <a:xfrm>
            <a:off x="4434840" y="1188720"/>
            <a:ext cx="3429000" cy="475488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4526279" y="1234440"/>
            <a:ext cx="324612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risk/ in Delta or Iceberg (date D)</a:t>
            </a:r>
          </a:p>
        </p:txBody>
      </p:sp>
      <p:sp>
        <p:nvSpPr>
          <p:cNvPr id="21" name="TextBox 20"/>
          <p:cNvSpPr txBox="1"/>
          <p:nvPr/>
        </p:nvSpPr>
        <p:spPr>
          <a:xfrm>
            <a:off x="4526279" y="1554480"/>
            <a:ext cx="3246120" cy="434340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the morning commit replaces D</a:t>
            </a:r>
          </a:p>
          <a:p>
            <a:pPr algn="l" marL="201168" indent="-201168">
              <a:spcAft>
                <a:spcPts val="200"/>
              </a:spcAft>
              <a:buClr>
                <a:srgbClr val="E87A1E"/>
              </a:buClr>
              <a:buSzPct val="100000"/>
              <a:buFont typeface="Arial"/>
              <a:buChar char="•"/>
            </a:pPr>
            <a:r>
              <a:rPr sz="1200" b="0" i="0">
                <a:solidFill>
                  <a:srgbClr val="1C2433"/>
                </a:solidFill>
                <a:latin typeface="Calibri"/>
              </a:rPr>
              <a:t>each intraday batch: one appended commit</a:t>
            </a:r>
          </a:p>
          <a:p>
            <a:pPr algn="l" marL="201168" indent="-201168">
              <a:spcAft>
                <a:spcPts val="200"/>
              </a:spcAft>
              <a:buClr>
                <a:srgbClr val="E87A1E"/>
              </a:buClr>
              <a:buSzPct val="100000"/>
              <a:buFont typeface="Arial"/>
              <a:buChar char="•"/>
            </a:pPr>
            <a:r>
              <a:rPr sz="1200" b="0" i="0">
                <a:solidFill>
                  <a:srgbClr val="1C2433"/>
                </a:solidFill>
                <a:latin typeface="Calibri"/>
              </a:rPr>
              <a:t>each Kafka window: ONE batch, </a:t>
            </a:r>
            <a:r>
              <a:rPr sz="1100" b="0" i="0">
                <a:solidFill>
                  <a:srgbClr val="0E7C86"/>
                </a:solidFill>
                <a:latin typeface="Consolas"/>
              </a:rPr>
              <a:t>K-&lt;date&gt;-&lt;time&gt;-&lt;n&gt;</a:t>
            </a:r>
          </a:p>
          <a:p>
            <a:pPr algn="l" marL="201168" indent="-201168">
              <a:spcAft>
                <a:spcPts val="200"/>
              </a:spcAft>
              <a:buClr>
                <a:srgbClr val="E87A1E"/>
              </a:buClr>
              <a:buSzPct val="100000"/>
              <a:buFont typeface="Arial"/>
              <a:buChar char="•"/>
            </a:pPr>
            <a:r>
              <a:rPr sz="1200" b="0" i="0">
                <a:solidFill>
                  <a:srgbClr val="1C2433"/>
                </a:solidFill>
                <a:latin typeface="Calibri"/>
              </a:rPr>
              <a:t>latest </a:t>
            </a:r>
            <a:r>
              <a:rPr sz="1100" b="0" i="0">
                <a:solidFill>
                  <a:srgbClr val="0E7C86"/>
                </a:solidFill>
                <a:latin typeface="Consolas"/>
              </a:rPr>
              <a:t>COMPUTED_AT</a:t>
            </a:r>
            <a:r>
              <a:rPr sz="1200" b="0" i="0">
                <a:solidFill>
                  <a:srgbClr val="1C2433"/>
                </a:solidFill>
                <a:latin typeface="Calibri"/>
              </a:rPr>
              <a:t> per trade wins</a:t>
            </a:r>
          </a:p>
          <a:p>
            <a:pPr algn="l" marL="201168" indent="-201168">
              <a:spcAft>
                <a:spcPts val="200"/>
              </a:spcAft>
              <a:buClr>
                <a:srgbClr val="E87A1E"/>
              </a:buClr>
              <a:buSzPct val="100000"/>
              <a:buFont typeface="Arial"/>
              <a:buChar char="•"/>
            </a:pPr>
            <a:r>
              <a:rPr sz="1200" b="0" i="0">
                <a:solidFill>
                  <a:srgbClr val="1C2433"/>
                </a:solidFill>
                <a:latin typeface="Calibri"/>
              </a:rPr>
              <a:t>the lake is the record: a restart rebuilds</a:t>
            </a:r>
          </a:p>
          <a:p>
            <a:pPr algn="l" marL="201168" indent="-201168">
              <a:spcAft>
                <a:spcPts val="200"/>
              </a:spcAft>
              <a:buClr>
                <a:srgbClr val="E87A1E"/>
              </a:buClr>
              <a:buSzPct val="100000"/>
              <a:buFont typeface="Arial"/>
              <a:buChar char="•"/>
            </a:pPr>
            <a:r>
              <a:rPr sz="1200" b="0" i="0">
                <a:solidFill>
                  <a:srgbClr val="1C2433"/>
                </a:solidFill>
                <a:latin typeface="Calibri"/>
              </a:rPr>
              <a:t>7 years of time travel</a:t>
            </a:r>
          </a:p>
        </p:txBody>
      </p:sp>
      <p:cxnSp>
        <p:nvCxnSpPr>
          <p:cNvPr id="22" name="Connector 21"/>
          <p:cNvCxnSpPr/>
          <p:nvPr/>
        </p:nvCxnSpPr>
        <p:spPr>
          <a:xfrm>
            <a:off x="3977639" y="1920240"/>
            <a:ext cx="457201"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977639" y="3566160"/>
            <a:ext cx="457201"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977639" y="5212080"/>
            <a:ext cx="457201"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321040" y="1188720"/>
            <a:ext cx="3456432" cy="22860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8412480" y="1234440"/>
            <a:ext cx="327355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VaR engine (one date hot)</a:t>
            </a:r>
          </a:p>
        </p:txBody>
      </p:sp>
      <p:sp>
        <p:nvSpPr>
          <p:cNvPr id="27" name="TextBox 26"/>
          <p:cNvSpPr txBox="1"/>
          <p:nvPr/>
        </p:nvSpPr>
        <p:spPr>
          <a:xfrm>
            <a:off x="8412480" y="1554480"/>
            <a:ext cx="3273551" cy="1874519"/>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full run: date reloads</a:t>
            </a:r>
          </a:p>
          <a:p>
            <a:pPr algn="l" marL="201168" indent="-201168">
              <a:spcAft>
                <a:spcPts val="200"/>
              </a:spcAft>
              <a:buClr>
                <a:srgbClr val="E87A1E"/>
              </a:buClr>
              <a:buSzPct val="100000"/>
              <a:buFont typeface="Arial"/>
              <a:buChar char="•"/>
            </a:pPr>
            <a:r>
              <a:rPr sz="1200" b="0" i="0">
                <a:solidFill>
                  <a:srgbClr val="1C2433"/>
                </a:solidFill>
                <a:latin typeface="Calibri"/>
              </a:rPr>
              <a:t>batch: new − old into the book and every node above</a:t>
            </a:r>
          </a:p>
          <a:p>
            <a:pPr algn="l" marL="201168" indent="-201168">
              <a:spcAft>
                <a:spcPts val="200"/>
              </a:spcAft>
              <a:buClr>
                <a:srgbClr val="E87A1E"/>
              </a:buClr>
              <a:buSzPct val="100000"/>
              <a:buFont typeface="Arial"/>
              <a:buChar char="•"/>
            </a:pPr>
            <a:r>
              <a:rPr sz="1200" b="0" i="0">
                <a:solidFill>
                  <a:srgbClr val="1C2433"/>
                </a:solidFill>
                <a:latin typeface="Calibri"/>
              </a:rPr>
              <a:t>official capture from the morning run only</a:t>
            </a:r>
          </a:p>
        </p:txBody>
      </p:sp>
      <p:sp>
        <p:nvSpPr>
          <p:cNvPr id="28" name="Rounded Rectangle 27"/>
          <p:cNvSpPr/>
          <p:nvPr/>
        </p:nvSpPr>
        <p:spPr>
          <a:xfrm>
            <a:off x="8321040" y="3657600"/>
            <a:ext cx="3456432" cy="228600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8412480" y="3703320"/>
            <a:ext cx="327355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risk-results/var-official</a:t>
            </a:r>
          </a:p>
        </p:txBody>
      </p:sp>
      <p:sp>
        <p:nvSpPr>
          <p:cNvPr id="30" name="TextBox 29"/>
          <p:cNvSpPr txBox="1"/>
          <p:nvPr/>
        </p:nvSpPr>
        <p:spPr>
          <a:xfrm>
            <a:off x="8412480" y="4023360"/>
            <a:ext cx="3273551" cy="1874519"/>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append-only, a row per node and version</a:t>
            </a:r>
          </a:p>
          <a:p>
            <a:pPr algn="l" marL="201168" indent="-201168">
              <a:spcAft>
                <a:spcPts val="200"/>
              </a:spcAft>
              <a:buClr>
                <a:srgbClr val="E87A1E"/>
              </a:buClr>
              <a:buSzPct val="100000"/>
              <a:buFont typeface="Arial"/>
              <a:buChar char="•"/>
            </a:pPr>
            <a:r>
              <a:rPr sz="1200" b="0" i="0">
                <a:solidFill>
                  <a:srgbClr val="1C2433"/>
                </a:solidFill>
                <a:latin typeface="Calibri"/>
              </a:rPr>
              <a:t>JSONL beside it</a:t>
            </a:r>
          </a:p>
          <a:p>
            <a:pPr algn="l" marL="201168" indent="-201168">
              <a:spcAft>
                <a:spcPts val="200"/>
              </a:spcAft>
              <a:buClr>
                <a:srgbClr val="E87A1E"/>
              </a:buClr>
              <a:buSzPct val="100000"/>
              <a:buFont typeface="Arial"/>
              <a:buChar char="•"/>
            </a:pPr>
            <a:r>
              <a:rPr sz="1200" b="0" i="0">
                <a:solidFill>
                  <a:srgbClr val="1C2433"/>
                </a:solidFill>
                <a:latin typeface="Calibri"/>
              </a:rPr>
              <a:t>a folder or </a:t>
            </a:r>
            <a:r>
              <a:rPr sz="1100" b="0" i="0">
                <a:solidFill>
                  <a:srgbClr val="0E7C86"/>
                </a:solidFill>
                <a:latin typeface="Consolas"/>
              </a:rPr>
              <a:t>s3://</a:t>
            </a:r>
          </a:p>
          <a:p>
            <a:pPr algn="l" marL="201168" indent="-201168">
              <a:spcAft>
                <a:spcPts val="200"/>
              </a:spcAft>
              <a:buClr>
                <a:srgbClr val="E87A1E"/>
              </a:buClr>
              <a:buSzPct val="100000"/>
              <a:buFont typeface="Arial"/>
              <a:buChar char="•"/>
            </a:pPr>
            <a:r>
              <a:rPr sz="1200" b="0" i="0">
                <a:solidFill>
                  <a:srgbClr val="1C2433"/>
                </a:solidFill>
                <a:latin typeface="Calibri"/>
              </a:rPr>
              <a:t>read by BI as </a:t>
            </a:r>
            <a:r>
              <a:rPr sz="1100" b="0" i="0">
                <a:solidFill>
                  <a:srgbClr val="0E7C86"/>
                </a:solidFill>
                <a:latin typeface="Consolas"/>
              </a:rPr>
              <a:t>VOFF</a:t>
            </a:r>
          </a:p>
        </p:txBody>
      </p:sp>
      <p:cxnSp>
        <p:nvCxnSpPr>
          <p:cNvPr id="31" name="Connector 30"/>
          <p:cNvCxnSpPr/>
          <p:nvPr/>
        </p:nvCxnSpPr>
        <p:spPr>
          <a:xfrm>
            <a:off x="7863840" y="2331720"/>
            <a:ext cx="457200"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058400" y="3474720"/>
            <a:ext cx="0" cy="18288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882127" y="2377440"/>
            <a:ext cx="457200" cy="274320"/>
          </a:xfrm>
          <a:prstGeom prst="rect">
            <a:avLst/>
          </a:prstGeom>
          <a:noFill/>
        </p:spPr>
        <p:txBody>
          <a:bodyPr wrap="square" lIns="0" rIns="0" tIns="0" bIns="0" anchor="t">
            <a:spAutoFit/>
          </a:bodyPr>
          <a:lstStyle/>
          <a:p>
            <a:pPr algn="l">
              <a:spcAft>
                <a:spcPts val="600"/>
              </a:spcAft>
              <a:buNone/>
            </a:pPr>
            <a:r>
              <a:rPr sz="1000" b="0" i="0">
                <a:solidFill>
                  <a:srgbClr val="5B677A"/>
                </a:solidFill>
                <a:latin typeface="Calibri"/>
              </a:rPr>
              <a:t>signal</a:t>
            </a:r>
          </a:p>
        </p:txBody>
      </p:sp>
      <p:sp>
        <p:nvSpPr>
          <p:cNvPr id="34" name="TextBox 33"/>
          <p:cNvSpPr txBox="1"/>
          <p:nvPr/>
        </p:nvSpPr>
        <p:spPr>
          <a:xfrm>
            <a:off x="411480" y="6016752"/>
            <a:ext cx="11338560" cy="36576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Measured: 200 batches of 3 trades</a:t>
            </a:r>
            <a:r>
              <a:rPr sz="1200" b="1" i="0">
                <a:solidFill>
                  <a:srgbClr val="E87A1E"/>
                </a:solidFill>
                <a:latin typeface="Calibri"/>
              </a:rPr>
              <a:t>¹</a:t>
            </a:r>
            <a:r>
              <a:rPr sz="1200" b="0" i="0">
                <a:solidFill>
                  <a:srgbClr val="1C2433"/>
                </a:solidFill>
                <a:latin typeface="Calibri"/>
              </a:rPr>
              <a:t> equal one full load to the cent, on every node; batch time does not grow.</a:t>
            </a:r>
          </a:p>
        </p:txBody>
      </p:sp>
      <p:sp>
        <p:nvSpPr>
          <p:cNvPr id="35" name="Footnotes"/>
          <p:cNvSpPr txBox="1"/>
          <p:nvPr/>
        </p:nvSpPr>
        <p:spPr>
          <a:xfrm>
            <a:off x="411480" y="6377940"/>
            <a:ext cx="11365992" cy="169164"/>
          </a:xfrm>
          <a:prstGeom prst="rect">
            <a:avLst/>
          </a:prstGeom>
          <a:noFill/>
        </p:spPr>
        <p:txBody>
          <a:bodyPr wrap="square" lIns="0" rIns="0" tIns="0" bIns="0" anchor="t">
            <a:spAutoFit/>
          </a:bodyPr>
          <a:lstStyle/>
          <a:p>
            <a:pPr algn="l">
              <a:lnSpc>
                <a:spcPct val="100000"/>
              </a:lnSpc>
              <a:spcAft>
                <a:spcPts val="0"/>
              </a:spcAft>
              <a:buNone/>
            </a:pPr>
            <a:r>
              <a:rPr sz="900" b="0" i="0">
                <a:solidFill>
                  <a:srgbClr val="5B677A"/>
                </a:solidFill>
                <a:latin typeface="Calibri"/>
              </a:rPr>
              <a:t>¹ measured: VarIntradayApiTest (VAR_GUIDE.md 8.4)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On AWS: who writes the risk lake, and where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4 · the risk lake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49</a:t>
            </a:r>
          </a:p>
        </p:txBody>
      </p:sp>
      <p:graphicFrame>
        <p:nvGraphicFramePr>
          <p:cNvPr id="10" name="Table"/>
          <p:cNvGraphicFramePr>
            <a:graphicFrameLocks noGrp="1"/>
          </p:cNvGraphicFramePr>
          <p:nvPr/>
        </p:nvGraphicFramePr>
        <p:xfrm>
          <a:off x="411480" y="1188720"/>
          <a:ext cx="6583680" cy="3657600"/>
        </p:xfrm>
        <a:graphic>
          <a:graphicData uri="http://schemas.openxmlformats.org/drawingml/2006/table">
            <a:tbl>
              <a:tblPr firstRow="0" bandRow="0">
                <a:tableStyleId>{5940675A-B579-460E-94D1-54222C63F5DA}</a:tableStyleId>
              </a:tblPr>
              <a:tblGrid>
                <a:gridCol w="2011680"/>
                <a:gridCol w="2743200"/>
                <a:gridCol w="1828800"/>
              </a:tblGrid>
              <a:tr h="731520">
                <a:tc>
                  <a:txBody>
                    <a:bodyPr wrap="square"/>
                    <a:lstStyle/>
                    <a:p>
                      <a:r>
                        <a:rPr sz="1100" b="1" i="0">
                          <a:solidFill>
                            <a:srgbClr val="FFFFFF"/>
                          </a:solidFill>
                          <a:latin typeface="Calibri"/>
                        </a:rPr>
                        <a:t>Table group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Written by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On an S3 lake today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731520">
                <a:tc>
                  <a:txBody>
                    <a:bodyPr wrap="square"/>
                    <a:lstStyle/>
                    <a:p>
                      <a:r>
                        <a:rPr sz="1100" b="1" i="0">
                          <a:solidFill>
                            <a:srgbClr val="0E7C86"/>
                          </a:solidFill>
                          <a:latin typeface="Consolas"/>
                        </a:rPr>
                        <a:t>risk/</a:t>
                      </a:r>
                      <a:r>
                        <a:rPr sz="1100" b="1" i="0">
                          <a:solidFill>
                            <a:srgbClr val="1C2433"/>
                          </a:solidFill>
                          <a:latin typeface="Calibri"/>
                        </a:rPr>
                        <a:t> morning runs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bank's batch: JSONL → </a:t>
                      </a:r>
                      <a:r>
                        <a:rPr sz="1100" b="0" i="0">
                          <a:solidFill>
                            <a:srgbClr val="0E7C86"/>
                          </a:solidFill>
                          <a:latin typeface="Consolas"/>
                        </a:rPr>
                        <a:t>lake build</a:t>
                      </a:r>
                      <a:r>
                        <a:rPr sz="1100" b="0" i="0">
                          <a:solidFill>
                            <a:srgbClr val="1C2433"/>
                          </a:solidFill>
                          <a:latin typeface="Calibri"/>
                        </a:rPr>
                        <a:t> → </a:t>
                      </a:r>
                      <a:r>
                        <a:rPr sz="1100" b="0" i="0">
                          <a:solidFill>
                            <a:srgbClr val="0E7C86"/>
                          </a:solidFill>
                          <a:latin typeface="Consolas"/>
                        </a:rPr>
                        <a:t>lake publish</a:t>
                      </a:r>
                      <a:r>
                        <a:rPr sz="1100" b="0" i="0">
                          <a:solidFill>
                            <a:srgbClr val="1C2433"/>
                          </a:solidFill>
                          <a:latin typeface="Calibri"/>
                        </a:rPr>
                        <a:t> (overwrite-dates)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load-day.sh, like any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731520">
                <a:tc>
                  <a:txBody>
                    <a:bodyPr wrap="square"/>
                    <a:lstStyle/>
                    <a:p>
                      <a:r>
                        <a:rPr sz="1100" b="1" i="0">
                          <a:solidFill>
                            <a:srgbClr val="0E7C86"/>
                          </a:solidFill>
                          <a:latin typeface="Consolas"/>
                        </a:rPr>
                        <a:t>risk/</a:t>
                      </a:r>
                      <a:r>
                        <a:rPr sz="1100" b="1" i="0">
                          <a:solidFill>
                            <a:srgbClr val="1C2433"/>
                          </a:solidFill>
                          <a:latin typeface="Calibri"/>
                        </a:rPr>
                        <a:t> intraday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lake build --mode append</a:t>
                      </a:r>
                      <a:r>
                        <a:rPr sz="1100" b="0" i="0">
                          <a:solidFill>
                            <a:srgbClr val="1C2433"/>
                          </a:solidFill>
                          <a:latin typeface="Calibri"/>
                        </a:rPr>
                        <a:t> → </a:t>
                      </a:r>
                      <a:r>
                        <a:rPr sz="1100" b="0" i="0">
                          <a:solidFill>
                            <a:srgbClr val="0E7C86"/>
                          </a:solidFill>
                          <a:latin typeface="Consolas"/>
                        </a:rPr>
                        <a:t>lake publish --mode append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tools; no script yet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731520">
                <a:tc>
                  <a:txBody>
                    <a:bodyPr wrap="square"/>
                    <a:lstStyle/>
                    <a:p>
                      <a:r>
                        <a:rPr sz="1100" b="1" i="0">
                          <a:solidFill>
                            <a:srgbClr val="0E7C86"/>
                          </a:solidFill>
                          <a:latin typeface="Consolas"/>
                        </a:rPr>
                        <a:t>risk/</a:t>
                      </a:r>
                      <a:r>
                        <a:rPr sz="1100" b="1" i="0">
                          <a:solidFill>
                            <a:srgbClr val="1C2433"/>
                          </a:solidFill>
                          <a:latin typeface="Calibri"/>
                        </a:rPr>
                        <a:t> Kafka windows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server's Java lake writer (</a:t>
                      </a:r>
                      <a:r>
                        <a:rPr sz="1100" b="0" i="0">
                          <a:solidFill>
                            <a:srgbClr val="0E7C86"/>
                          </a:solidFill>
                          <a:latin typeface="Consolas"/>
                        </a:rPr>
                        <a:t>pv-updates</a:t>
                      </a:r>
                      <a:r>
                        <a:rPr sz="1100" b="0" i="0">
                          <a:solidFill>
                            <a:srgbClr val="1C2433"/>
                          </a:solidFill>
                          <a:latin typeface="Calibri"/>
                        </a:rPr>
                        <a:t>' </a:t>
                      </a:r>
                      <a:r>
                        <a:rPr sz="1100" b="0" i="0">
                          <a:solidFill>
                            <a:srgbClr val="0E7C86"/>
                          </a:solidFill>
                          <a:latin typeface="Consolas"/>
                        </a:rPr>
                        <a:t>lake</a:t>
                      </a:r>
                      <a:r>
                        <a:rPr sz="11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local or EFS lake path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731520">
                <a:tc>
                  <a:txBody>
                    <a:bodyPr wrap="square"/>
                    <a:lstStyle/>
                    <a:p>
                      <a:r>
                        <a:rPr sz="1100" b="1" i="0">
                          <a:solidFill>
                            <a:srgbClr val="0E7C86"/>
                          </a:solidFill>
                          <a:latin typeface="Consolas"/>
                        </a:rPr>
                        <a:t>risk-results/</a:t>
                      </a:r>
                      <a:r>
                        <a:rPr sz="1100" b="1" i="0">
                          <a:solidFill>
                            <a:srgbClr val="1C2433"/>
                          </a:solidFill>
                          <a:latin typeface="Calibri"/>
                        </a:rPr>
                        <a:t> official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server's publisher, Delta (default) or Iceberg, + JSONL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written to </a:t>
                      </a:r>
                      <a:r>
                        <a:rPr sz="1100" b="0" i="0">
                          <a:solidFill>
                            <a:srgbClr val="0E7C86"/>
                          </a:solidFill>
                          <a:latin typeface="Consolas"/>
                        </a:rPr>
                        <a:t>s3://</a:t>
                      </a:r>
                      <a:r>
                        <a:rPr sz="1100" b="0" i="0">
                          <a:solidFill>
                            <a:srgbClr val="1C2433"/>
                          </a:solidFill>
                          <a:latin typeface="Calibri"/>
                        </a:rPr>
                        <a:t> itself</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1" name="Rounded Rectangle 10"/>
          <p:cNvSpPr/>
          <p:nvPr/>
        </p:nvSpPr>
        <p:spPr>
          <a:xfrm>
            <a:off x="7269480" y="1188720"/>
            <a:ext cx="4507992" cy="201168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7360920" y="1234440"/>
            <a:ext cx="4325112"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Official results to S3</a:t>
            </a:r>
          </a:p>
        </p:txBody>
      </p:sp>
      <p:sp>
        <p:nvSpPr>
          <p:cNvPr id="13" name="TextBox 12"/>
          <p:cNvSpPr txBox="1"/>
          <p:nvPr/>
        </p:nvSpPr>
        <p:spPr>
          <a:xfrm>
            <a:off x="7360920" y="1554480"/>
            <a:ext cx="4325112" cy="160020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drishti.var.official.root: s3://&lt;lake&gt;/risk</a:t>
            </a:r>
            <a:r>
              <a:rPr sz="1200" b="0" i="0">
                <a:solidFill>
                  <a:srgbClr val="1C2433"/>
                </a:solidFill>
                <a:latin typeface="Calibri"/>
              </a:rPr>
              <a:t> (and the exposure root); </a:t>
            </a:r>
            <a:r>
              <a:rPr sz="1100" b="0" i="0">
                <a:solidFill>
                  <a:srgbClr val="0E7C86"/>
                </a:solidFill>
                <a:latin typeface="Consolas"/>
              </a:rPr>
              <a:t>format: delta</a:t>
            </a:r>
            <a:r>
              <a:rPr sz="1200" b="0" i="0">
                <a:solidFill>
                  <a:srgbClr val="1C2433"/>
                </a:solidFill>
                <a:latin typeface="Calibri"/>
              </a:rPr>
              <a:t> or </a:t>
            </a:r>
            <a:r>
              <a:rPr sz="1100" b="0" i="0">
                <a:solidFill>
                  <a:srgbClr val="0E7C86"/>
                </a:solidFill>
                <a:latin typeface="Consolas"/>
              </a:rPr>
              <a:t>iceberg</a:t>
            </a:r>
          </a:p>
          <a:p>
            <a:pPr algn="l" marL="201168" indent="-201168">
              <a:spcAft>
                <a:spcPts val="200"/>
              </a:spcAft>
              <a:buClr>
                <a:srgbClr val="E87A1E"/>
              </a:buClr>
              <a:buSzPct val="100000"/>
              <a:buFont typeface="Arial"/>
              <a:buChar char="•"/>
            </a:pPr>
            <a:r>
              <a:rPr sz="1200" b="0" i="0">
                <a:solidFill>
                  <a:srgbClr val="1C2433"/>
                </a:solidFill>
                <a:latin typeface="Calibri"/>
              </a:rPr>
              <a:t>each Delta commit an exclusive create: two servers both land</a:t>
            </a:r>
          </a:p>
          <a:p>
            <a:pPr algn="l" marL="201168" indent="-201168">
              <a:spcAft>
                <a:spcPts val="200"/>
              </a:spcAft>
              <a:buClr>
                <a:srgbClr val="E87A1E"/>
              </a:buClr>
              <a:buSzPct val="100000"/>
              <a:buFont typeface="Arial"/>
              <a:buChar char="•"/>
            </a:pPr>
            <a:r>
              <a:rPr sz="1200" b="0" i="0">
                <a:solidFill>
                  <a:srgbClr val="1C2433"/>
                </a:solidFill>
                <a:latin typeface="Calibri"/>
              </a:rPr>
              <a:t>BI's </a:t>
            </a:r>
            <a:r>
              <a:rPr sz="1100" b="0" i="0">
                <a:solidFill>
                  <a:srgbClr val="0E7C86"/>
                </a:solidFill>
                <a:latin typeface="Consolas"/>
              </a:rPr>
              <a:t>var-results</a:t>
            </a:r>
            <a:r>
              <a:rPr sz="1200" b="0" i="0">
                <a:solidFill>
                  <a:srgbClr val="1C2433"/>
                </a:solidFill>
                <a:latin typeface="Calibri"/>
              </a:rPr>
              <a:t> follows the format; task role: </a:t>
            </a:r>
            <a:r>
              <a:rPr sz="1100" b="0" i="0">
                <a:solidFill>
                  <a:srgbClr val="0E7C86"/>
                </a:solidFill>
                <a:latin typeface="Consolas"/>
              </a:rPr>
              <a:t>s3:PutObject</a:t>
            </a:r>
            <a:r>
              <a:rPr sz="1200" b="0" i="0">
                <a:solidFill>
                  <a:srgbClr val="1C2433"/>
                </a:solidFill>
                <a:latin typeface="Calibri"/>
              </a:rPr>
              <a:t>, no delete</a:t>
            </a:r>
          </a:p>
        </p:txBody>
      </p:sp>
      <p:sp>
        <p:nvSpPr>
          <p:cNvPr id="14" name="Rounded Rectangle 13"/>
          <p:cNvSpPr/>
          <p:nvPr/>
        </p:nvSpPr>
        <p:spPr>
          <a:xfrm>
            <a:off x="7269480" y="3383280"/>
            <a:ext cx="4507992" cy="1645920"/>
          </a:xfrm>
          <a:prstGeom prst="roundRect">
            <a:avLst>
              <a:gd name="adj" fmla="val 6000"/>
            </a:avLst>
          </a:prstGeom>
          <a:solidFill>
            <a:srgbClr val="FFF4E6"/>
          </a:solidFill>
          <a:ln w="952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7360920" y="3429000"/>
            <a:ext cx="318211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Kafka windows to S3</a:t>
            </a:r>
          </a:p>
        </p:txBody>
      </p:sp>
      <p:sp>
        <p:nvSpPr>
          <p:cNvPr id="16" name="Status PROPOSED"/>
          <p:cNvSpPr/>
          <p:nvPr/>
        </p:nvSpPr>
        <p:spPr>
          <a:xfrm>
            <a:off x="10634472" y="3474720"/>
            <a:ext cx="1051560" cy="237744"/>
          </a:xfrm>
          <a:prstGeom prst="roundRect">
            <a:avLst>
              <a:gd name="adj" fmla="val 50000"/>
            </a:avLst>
          </a:prstGeom>
          <a:solidFill>
            <a:srgbClr val="FFFFFF"/>
          </a:solidFill>
          <a:ln w="1587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E87A1E"/>
                </a:solidFill>
                <a:latin typeface="Calibri"/>
              </a:rPr>
              <a:t>PROPOSED</a:t>
            </a:r>
          </a:p>
        </p:txBody>
      </p:sp>
      <p:sp>
        <p:nvSpPr>
          <p:cNvPr id="17" name="TextBox 16"/>
          <p:cNvSpPr txBox="1"/>
          <p:nvPr/>
        </p:nvSpPr>
        <p:spPr>
          <a:xfrm>
            <a:off x="7360920" y="3749040"/>
            <a:ext cx="4325112" cy="12344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pv-updates</a:t>
            </a:r>
            <a:r>
              <a:rPr sz="1200" b="0" i="0">
                <a:solidFill>
                  <a:srgbClr val="1C2433"/>
                </a:solidFill>
                <a:latin typeface="Calibri"/>
              </a:rPr>
              <a:t>' lake on EFS; each window published with </a:t>
            </a:r>
            <a:r>
              <a:rPr sz="1100" b="0" i="0">
                <a:solidFill>
                  <a:srgbClr val="0E7C86"/>
                </a:solidFill>
                <a:latin typeface="Consolas"/>
              </a:rPr>
              <a:t>--mode append</a:t>
            </a:r>
          </a:p>
          <a:p>
            <a:pPr algn="l" marL="201168" indent="-201168">
              <a:spcAft>
                <a:spcPts val="200"/>
              </a:spcAft>
              <a:buClr>
                <a:srgbClr val="E87A1E"/>
              </a:buClr>
              <a:buSzPct val="100000"/>
              <a:buFont typeface="Arial"/>
              <a:buChar char="•"/>
            </a:pPr>
            <a:r>
              <a:rPr sz="1200" b="0" i="0">
                <a:solidFill>
                  <a:srgbClr val="1C2433"/>
                </a:solidFill>
                <a:latin typeface="Calibri"/>
              </a:rPr>
              <a:t>or keep </a:t>
            </a:r>
            <a:r>
              <a:rPr sz="1100" b="0" i="0">
                <a:solidFill>
                  <a:srgbClr val="0E7C86"/>
                </a:solidFill>
                <a:latin typeface="Consolas"/>
              </a:rPr>
              <a:t>risk/</a:t>
            </a:r>
            <a:r>
              <a:rPr sz="1200" b="0" i="0">
                <a:solidFill>
                  <a:srgbClr val="1C2433"/>
                </a:solidFill>
                <a:latin typeface="Calibri"/>
              </a:rPr>
              <a:t> on EFS if intraday must be seconds</a:t>
            </a:r>
          </a:p>
        </p:txBody>
      </p:sp>
      <p:sp>
        <p:nvSpPr>
          <p:cNvPr id="18" name="Callout"/>
          <p:cNvSpPr/>
          <p:nvPr/>
        </p:nvSpPr>
        <p:spPr>
          <a:xfrm>
            <a:off x="411480" y="5029200"/>
            <a:ext cx="6583680" cy="1280160"/>
          </a:xfrm>
          <a:prstGeom prst="roundRect">
            <a:avLst>
              <a:gd name="adj" fmla="val 6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Callout edge"/>
          <p:cNvSpPr/>
          <p:nvPr/>
        </p:nvSpPr>
        <p:spPr>
          <a:xfrm>
            <a:off x="411480" y="5047488"/>
            <a:ext cx="82296" cy="1243584"/>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640080" y="5102352"/>
            <a:ext cx="6217920" cy="1133856"/>
          </a:xfrm>
          <a:prstGeom prst="rect">
            <a:avLst/>
          </a:prstGeom>
          <a:noFill/>
        </p:spPr>
        <p:txBody>
          <a:bodyPr wrap="square" lIns="0" rIns="0" tIns="0" bIns="0" anchor="ctr">
            <a:spAutoFit/>
          </a:bodyPr>
          <a:lstStyle/>
          <a:p>
            <a:pPr algn="l">
              <a:spcAft>
                <a:spcPts val="600"/>
              </a:spcAft>
              <a:buNone/>
            </a:pPr>
            <a:r>
              <a:rPr sz="1200" b="1" i="0">
                <a:solidFill>
                  <a:srgbClr val="1C2433"/>
                </a:solidFill>
                <a:latin typeface="Calibri"/>
              </a:rPr>
              <a:t>Risk tables in S3 keep 7 years:</a:t>
            </a:r>
            <a:r>
              <a:rPr sz="1200" b="0" i="0">
                <a:solidFill>
                  <a:srgbClr val="1C2433"/>
                </a:solidFill>
                <a:latin typeface="Calibri"/>
              </a:rPr>
              <a:t> publish them with </a:t>
            </a:r>
            <a:r>
              <a:rPr sz="1100" b="0" i="0">
                <a:solidFill>
                  <a:srgbClr val="0E7C86"/>
                </a:solidFill>
                <a:latin typeface="Consolas"/>
              </a:rPr>
              <a:t>--log-retention-days 2557 --deleted-file-retention-days 2557</a:t>
            </a:r>
            <a:r>
              <a:rPr sz="1200" b="0" i="0">
                <a:solidFill>
                  <a:srgbClr val="1C2433"/>
                </a:solidFill>
                <a:latin typeface="Calibri"/>
              </a:rPr>
              <a:t>; </a:t>
            </a:r>
            <a:r>
              <a:rPr sz="1100" b="0" i="0">
                <a:solidFill>
                  <a:srgbClr val="0E7C86"/>
                </a:solidFill>
                <a:latin typeface="Consolas"/>
              </a:rPr>
              <a:t>lake publish</a:t>
            </a:r>
            <a:r>
              <a:rPr sz="1200" b="0" i="0">
                <a:solidFill>
                  <a:srgbClr val="1C2433"/>
                </a:solidFill>
                <a:latin typeface="Calibri"/>
              </a:rPr>
              <a:t>'s defaults (30 and 7 days) would cut time travel.</a:t>
            </a:r>
          </a:p>
        </p:txBody>
      </p:sp>
      <p:sp>
        <p:nvSpPr>
          <p:cNvPr id="21" name="TextBox 20"/>
          <p:cNvSpPr txBox="1"/>
          <p:nvPr/>
        </p:nvSpPr>
        <p:spPr>
          <a:xfrm>
            <a:off x="7269480" y="5257800"/>
            <a:ext cx="4507992" cy="822960"/>
          </a:xfrm>
          <a:prstGeom prst="rect">
            <a:avLst/>
          </a:prstGeom>
          <a:noFill/>
        </p:spPr>
        <p:txBody>
          <a:bodyPr wrap="square" lIns="0" rIns="0" tIns="0" bIns="0" anchor="t">
            <a:spAutoFit/>
          </a:bodyPr>
          <a:lstStyle/>
          <a:p>
            <a:pPr algn="l">
              <a:spcAft>
                <a:spcPts val="600"/>
              </a:spcAft>
              <a:buNone/>
            </a:pPr>
            <a:r>
              <a:rPr sz="1200" b="0" i="0">
                <a:solidFill>
                  <a:srgbClr val="5B677A"/>
                </a:solidFill>
                <a:latin typeface="Calibri"/>
              </a:rPr>
              <a:t>Hot files: </a:t>
            </a:r>
            <a:r>
              <a:rPr sz="1100" b="0" i="0">
                <a:solidFill>
                  <a:srgbClr val="0E7C86"/>
                </a:solidFill>
                <a:latin typeface="Consolas"/>
              </a:rPr>
              <a:t>DRISHTI_VAR_HOT_DIR</a:t>
            </a:r>
            <a:r>
              <a:rPr sz="1200" b="0" i="0">
                <a:solidFill>
                  <a:srgbClr val="5B677A"/>
                </a:solidFill>
                <a:latin typeface="Calibri"/>
              </a:rPr>
              <a:t>, </a:t>
            </a:r>
            <a:r>
              <a:rPr sz="1100" b="0" i="0">
                <a:solidFill>
                  <a:srgbClr val="0E7C86"/>
                </a:solidFill>
                <a:latin typeface="Consolas"/>
              </a:rPr>
              <a:t>DRISHTI_EXPOSURE_HOT_DIR</a:t>
            </a:r>
            <a:r>
              <a:rPr sz="1200" b="0" i="0">
                <a:solidFill>
                  <a:srgbClr val="5B677A"/>
                </a:solidFill>
                <a:latin typeface="Calibri"/>
              </a:rPr>
              <a:t> on fast local disk, as the guides say (slide 22).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Official results: append-only, versioned, reproducible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4 · the risk lake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50</a:t>
            </a:r>
          </a:p>
        </p:txBody>
      </p:sp>
      <p:graphicFrame>
        <p:nvGraphicFramePr>
          <p:cNvPr id="10" name="Table"/>
          <p:cNvGraphicFramePr>
            <a:graphicFrameLocks noGrp="1"/>
          </p:cNvGraphicFramePr>
          <p:nvPr/>
        </p:nvGraphicFramePr>
        <p:xfrm>
          <a:off x="411480" y="1188720"/>
          <a:ext cx="6949440" cy="3511296"/>
        </p:xfrm>
        <a:graphic>
          <a:graphicData uri="http://schemas.openxmlformats.org/drawingml/2006/table">
            <a:tbl>
              <a:tblPr firstRow="0" bandRow="0">
                <a:tableStyleId>{5940675A-B579-460E-94D1-54222C63F5DA}</a:tableStyleId>
              </a:tblPr>
              <a:tblGrid>
                <a:gridCol w="2286000"/>
                <a:gridCol w="4663440"/>
              </a:tblGrid>
              <a:tr h="585216">
                <a:tc>
                  <a:txBody>
                    <a:bodyPr wrap="square"/>
                    <a:lstStyle/>
                    <a:p>
                      <a:r>
                        <a:rPr sz="1200" b="1" i="0">
                          <a:solidFill>
                            <a:srgbClr val="FFFFFF"/>
                          </a:solidFill>
                          <a:latin typeface="Calibri"/>
                        </a:rPr>
                        <a:t>Column group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Content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85216">
                <a:tc>
                  <a:txBody>
                    <a:bodyPr wrap="square"/>
                    <a:lstStyle/>
                    <a:p>
                      <a:r>
                        <a:rPr sz="1100" b="1" i="0">
                          <a:solidFill>
                            <a:srgbClr val="0E7C86"/>
                          </a:solidFill>
                          <a:latin typeface="Consolas"/>
                        </a:rPr>
                        <a:t>business_date</a:t>
                      </a:r>
                      <a:r>
                        <a:rPr sz="1200" b="1" i="0">
                          <a:solidFill>
                            <a:srgbClr val="1C2433"/>
                          </a:solidFill>
                          <a:latin typeface="Calibri"/>
                        </a:rPr>
                        <a:t> · </a:t>
                      </a:r>
                      <a:r>
                        <a:rPr sz="1100" b="1" i="0">
                          <a:solidFill>
                            <a:srgbClr val="0E7C86"/>
                          </a:solidFill>
                          <a:latin typeface="Consolas"/>
                        </a:rPr>
                        <a:t>id</a:t>
                      </a:r>
                      <a:r>
                        <a:rPr sz="1200" b="1" i="0">
                          <a:solidFill>
                            <a:srgbClr val="1C2433"/>
                          </a:solidFill>
                          <a:latin typeface="Calibri"/>
                        </a:rPr>
                        <a:t> · </a:t>
                      </a:r>
                      <a:r>
                        <a:rPr sz="1100" b="1" i="0">
                          <a:solidFill>
                            <a:srgbClr val="0E7C86"/>
                          </a:solidFill>
                          <a:latin typeface="Consolas"/>
                        </a:rPr>
                        <a:t>doc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partition; </a:t>
                      </a:r>
                      <a:r>
                        <a:rPr sz="1100" b="0" i="0">
                          <a:solidFill>
                            <a:srgbClr val="0E7C86"/>
                          </a:solidFill>
                          <a:latin typeface="Consolas"/>
                        </a:rPr>
                        <a:t>&lt;NODE_ID&gt;@&lt;date&gt;#v&lt;RESULT_VERSION&gt;</a:t>
                      </a:r>
                      <a:r>
                        <a:rPr sz="1200" b="0" i="0">
                          <a:solidFill>
                            <a:srgbClr val="1C2433"/>
                          </a:solidFill>
                          <a:latin typeface="Calibri"/>
                        </a:rPr>
                        <a:t>; the row as JSON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85216">
                <a:tc>
                  <a:txBody>
                    <a:bodyPr wrap="square"/>
                    <a:lstStyle/>
                    <a:p>
                      <a:r>
                        <a:rPr sz="1200" b="1" i="0">
                          <a:solidFill>
                            <a:srgbClr val="1C2433"/>
                          </a:solidFill>
                          <a:latin typeface="Calibri"/>
                        </a:rPr>
                        <a:t>node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HIERARCHY</a:t>
                      </a:r>
                      <a:r>
                        <a:rPr sz="1200" b="0" i="0">
                          <a:solidFill>
                            <a:srgbClr val="1C2433"/>
                          </a:solidFill>
                          <a:latin typeface="Calibri"/>
                        </a:rPr>
                        <a:t> (MGMT, LEGAL, LL …), </a:t>
                      </a:r>
                      <a:r>
                        <a:rPr sz="1100" b="0" i="0">
                          <a:solidFill>
                            <a:srgbClr val="0E7C86"/>
                          </a:solidFill>
                          <a:latin typeface="Consolas"/>
                        </a:rPr>
                        <a:t>NODE_ID</a:t>
                      </a:r>
                      <a:r>
                        <a:rPr sz="1200" b="0" i="0">
                          <a:solidFill>
                            <a:srgbClr val="1C2433"/>
                          </a:solidFill>
                          <a:latin typeface="Calibri"/>
                        </a:rPr>
                        <a:t>, </a:t>
                      </a:r>
                      <a:r>
                        <a:rPr sz="1100" b="0" i="0">
                          <a:solidFill>
                            <a:srgbClr val="0E7C86"/>
                          </a:solidFill>
                          <a:latin typeface="Consolas"/>
                        </a:rPr>
                        <a:t>NODE_NAME</a:t>
                      </a:r>
                      <a:r>
                        <a:rPr sz="1200" b="0" i="0">
                          <a:solidFill>
                            <a:srgbClr val="1C2433"/>
                          </a:solidFill>
                          <a:latin typeface="Calibri"/>
                        </a:rPr>
                        <a:t>, </a:t>
                      </a:r>
                      <a:r>
                        <a:rPr sz="1100" b="0" i="0">
                          <a:solidFill>
                            <a:srgbClr val="0E7C86"/>
                          </a:solidFill>
                          <a:latin typeface="Consolas"/>
                        </a:rPr>
                        <a:t>PARENT_ID</a:t>
                      </a:r>
                      <a:r>
                        <a:rPr sz="1200" b="0" i="0">
                          <a:solidFill>
                            <a:srgbClr val="1C2433"/>
                          </a:solidFill>
                          <a:latin typeface="Calibri"/>
                        </a:rPr>
                        <a:t>, </a:t>
                      </a:r>
                      <a:r>
                        <a:rPr sz="1100" b="0" i="0">
                          <a:solidFill>
                            <a:srgbClr val="0E7C86"/>
                          </a:solidFill>
                          <a:latin typeface="Consolas"/>
                        </a:rPr>
                        <a:t>LEVEL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85216">
                <a:tc>
                  <a:txBody>
                    <a:bodyPr wrap="square"/>
                    <a:lstStyle/>
                    <a:p>
                      <a:r>
                        <a:rPr sz="1200" b="1" i="0">
                          <a:solidFill>
                            <a:srgbClr val="1C2433"/>
                          </a:solidFill>
                          <a:latin typeface="Calibri"/>
                        </a:rPr>
                        <a:t>version and inputs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RESULT_VERSION</a:t>
                      </a:r>
                      <a:r>
                        <a:rPr sz="1200" b="0" i="0">
                          <a:solidFill>
                            <a:srgbClr val="1C2433"/>
                          </a:solidFill>
                          <a:latin typeface="Calibri"/>
                        </a:rPr>
                        <a:t> (1, 2 … on restatement), </a:t>
                      </a:r>
                      <a:r>
                        <a:rPr sz="1100" b="0" i="0">
                          <a:solidFill>
                            <a:srgbClr val="0E7C86"/>
                          </a:solidFill>
                          <a:latin typeface="Consolas"/>
                        </a:rPr>
                        <a:t>CAPTURE_ID</a:t>
                      </a:r>
                      <a:r>
                        <a:rPr sz="1200" b="0" i="0">
                          <a:solidFill>
                            <a:srgbClr val="1C2433"/>
                          </a:solidFill>
                          <a:latin typeface="Calibri"/>
                        </a:rPr>
                        <a:t>, </a:t>
                      </a:r>
                      <a:r>
                        <a:rPr sz="1100" b="0" i="0">
                          <a:solidFill>
                            <a:srgbClr val="0E7C86"/>
                          </a:solidFill>
                          <a:latin typeface="Consolas"/>
                        </a:rPr>
                        <a:t>INPUT_VERSIONS</a:t>
                      </a:r>
                      <a:r>
                        <a:rPr sz="1200" b="0" i="0">
                          <a:solidFill>
                            <a:srgbClr val="1C2433"/>
                          </a:solidFill>
                          <a:latin typeface="Calibri"/>
                        </a:rPr>
                        <a:t> (versions, batch ids, rules digest)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85216">
                <a:tc>
                  <a:txBody>
                    <a:bodyPr wrap="square"/>
                    <a:lstStyle/>
                    <a:p>
                      <a:r>
                        <a:rPr sz="1200" b="1" i="0">
                          <a:solidFill>
                            <a:srgbClr val="1C2433"/>
                          </a:solidFill>
                          <a:latin typeface="Calibri"/>
                        </a:rPr>
                        <a:t>figures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VAR</a:t>
                      </a:r>
                      <a:r>
                        <a:rPr sz="1200" b="0" i="0">
                          <a:solidFill>
                            <a:srgbClr val="1C2433"/>
                          </a:solidFill>
                          <a:latin typeface="Calibri"/>
                        </a:rPr>
                        <a:t>, </a:t>
                      </a:r>
                      <a:r>
                        <a:rPr sz="1100" b="0" i="0">
                          <a:solidFill>
                            <a:srgbClr val="0E7C86"/>
                          </a:solidFill>
                          <a:latin typeface="Consolas"/>
                        </a:rPr>
                        <a:t>ES</a:t>
                      </a:r>
                      <a:r>
                        <a:rPr sz="1200" b="0" i="0">
                          <a:solidFill>
                            <a:srgbClr val="1C2433"/>
                          </a:solidFill>
                          <a:latin typeface="Calibri"/>
                        </a:rPr>
                        <a:t>, </a:t>
                      </a:r>
                      <a:r>
                        <a:rPr sz="1100" b="0" i="0">
                          <a:solidFill>
                            <a:srgbClr val="0E7C86"/>
                          </a:solidFill>
                          <a:latin typeface="Consolas"/>
                        </a:rPr>
                        <a:t>CONFIDENCE</a:t>
                      </a:r>
                      <a:r>
                        <a:rPr sz="1200" b="0" i="0">
                          <a:solidFill>
                            <a:srgbClr val="1C2433"/>
                          </a:solidFill>
                          <a:latin typeface="Calibri"/>
                        </a:rPr>
                        <a:t>, </a:t>
                      </a:r>
                      <a:r>
                        <a:rPr sz="1100" b="0" i="0">
                          <a:solidFill>
                            <a:srgbClr val="0E7C86"/>
                          </a:solidFill>
                          <a:latin typeface="Consolas"/>
                        </a:rPr>
                        <a:t>ES_CONFIDENCE</a:t>
                      </a:r>
                      <a:r>
                        <a:rPr sz="1200" b="0" i="0">
                          <a:solidFill>
                            <a:srgbClr val="1C2433"/>
                          </a:solidFill>
                          <a:latin typeface="Calibri"/>
                        </a:rPr>
                        <a:t>, </a:t>
                      </a:r>
                      <a:r>
                        <a:rPr sz="1100" b="0" i="0">
                          <a:solidFill>
                            <a:srgbClr val="0E7C86"/>
                          </a:solidFill>
                          <a:latin typeface="Consolas"/>
                        </a:rPr>
                        <a:t>STANDALONE_SUM</a:t>
                      </a:r>
                      <a:r>
                        <a:rPr sz="1200" b="0" i="0">
                          <a:solidFill>
                            <a:srgbClr val="1C2433"/>
                          </a:solidFill>
                          <a:latin typeface="Calibri"/>
                        </a:rPr>
                        <a:t>, </a:t>
                      </a:r>
                      <a:r>
                        <a:rPr sz="1100" b="0" i="0">
                          <a:solidFill>
                            <a:srgbClr val="0E7C86"/>
                          </a:solidFill>
                          <a:latin typeface="Consolas"/>
                        </a:rPr>
                        <a:t>DIVERSIFICATION</a:t>
                      </a:r>
                      <a:r>
                        <a:rPr sz="1200" b="0" i="0">
                          <a:solidFill>
                            <a:srgbClr val="1C2433"/>
                          </a:solidFill>
                          <a:latin typeface="Calibri"/>
                        </a:rPr>
                        <a:t>, </a:t>
                      </a:r>
                      <a:r>
                        <a:rPr sz="1100" b="0" i="0">
                          <a:solidFill>
                            <a:srgbClr val="0E7C86"/>
                          </a:solidFill>
                          <a:latin typeface="Consolas"/>
                        </a:rPr>
                        <a:t>HYPO_PNL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85216">
                <a:tc>
                  <a:txBody>
                    <a:bodyPr wrap="square"/>
                    <a:lstStyle/>
                    <a:p>
                      <a:r>
                        <a:rPr sz="1200" b="1" i="0">
                          <a:solidFill>
                            <a:srgbClr val="1C2433"/>
                          </a:solidFill>
                          <a:latin typeface="Calibri"/>
                        </a:rPr>
                        <a:t>limits and backtest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LIMIT</a:t>
                      </a:r>
                      <a:r>
                        <a:rPr sz="1200" b="0" i="0">
                          <a:solidFill>
                            <a:srgbClr val="1C2433"/>
                          </a:solidFill>
                          <a:latin typeface="Calibri"/>
                        </a:rPr>
                        <a:t>, </a:t>
                      </a:r>
                      <a:r>
                        <a:rPr sz="1100" b="0" i="0">
                          <a:solidFill>
                            <a:srgbClr val="0E7C86"/>
                          </a:solidFill>
                          <a:latin typeface="Consolas"/>
                        </a:rPr>
                        <a:t>LIMIT_USE</a:t>
                      </a:r>
                      <a:r>
                        <a:rPr sz="1200" b="0" i="0">
                          <a:solidFill>
                            <a:srgbClr val="1C2433"/>
                          </a:solidFill>
                          <a:latin typeface="Calibri"/>
                        </a:rPr>
                        <a:t>, </a:t>
                      </a:r>
                      <a:r>
                        <a:rPr sz="1100" b="0" i="0">
                          <a:solidFill>
                            <a:srgbClr val="0E7C86"/>
                          </a:solidFill>
                          <a:latin typeface="Consolas"/>
                        </a:rPr>
                        <a:t>EXCEPTIONS_250</a:t>
                      </a:r>
                      <a:r>
                        <a:rPr sz="1200" b="0" i="0">
                          <a:solidFill>
                            <a:srgbClr val="1C2433"/>
                          </a:solidFill>
                          <a:latin typeface="Calibri"/>
                        </a:rPr>
                        <a:t>, </a:t>
                      </a:r>
                      <a:r>
                        <a:rPr sz="1100" b="0" i="0">
                          <a:solidFill>
                            <a:srgbClr val="0E7C86"/>
                          </a:solidFill>
                          <a:latin typeface="Consolas"/>
                        </a:rPr>
                        <a:t>TRAFFIC_LIGHT</a:t>
                      </a:r>
                      <a:r>
                        <a:rPr sz="1200" b="0" i="0">
                          <a:solidFill>
                            <a:srgbClr val="1C2433"/>
                          </a:solidFill>
                          <a:latin typeface="Calibri"/>
                        </a:rPr>
                        <a:t>, </a:t>
                      </a:r>
                      <a:r>
                        <a:rPr sz="1100" b="0" i="0">
                          <a:solidFill>
                            <a:srgbClr val="0E7C86"/>
                          </a:solidFill>
                          <a:latin typeface="Consolas"/>
                        </a:rPr>
                        <a:t>TRADE_COUNT</a:t>
                      </a:r>
                      <a:r>
                        <a:rPr sz="1200" b="0" i="0">
                          <a:solidFill>
                            <a:srgbClr val="1C2433"/>
                          </a:solidFill>
                          <a:latin typeface="Calibri"/>
                        </a:rPr>
                        <a:t>, </a:t>
                      </a:r>
                      <a:r>
                        <a:rPr sz="1100" b="0" i="0">
                          <a:solidFill>
                            <a:srgbClr val="0E7C86"/>
                          </a:solidFill>
                          <a:latin typeface="Consolas"/>
                        </a:rPr>
                        <a:t>POSITION_COUNT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1" name="TextBox 10"/>
          <p:cNvSpPr txBox="1"/>
          <p:nvPr/>
        </p:nvSpPr>
        <p:spPr>
          <a:xfrm>
            <a:off x="7635240" y="1188720"/>
            <a:ext cx="4142232" cy="3657600"/>
          </a:xfrm>
          <a:prstGeom prst="rect">
            <a:avLst/>
          </a:prstGeom>
          <a:noFill/>
        </p:spPr>
        <p:txBody>
          <a:bodyPr wrap="square" lIns="0" rIns="0" tIns="0" bIns="0" anchor="t">
            <a:spAutoFit/>
          </a:bodyPr>
          <a:lstStyle/>
          <a:p>
            <a:pPr algn="l" marL="201168" indent="-201168">
              <a:spcAft>
                <a:spcPts val="500"/>
              </a:spcAft>
              <a:buClr>
                <a:srgbClr val="E87A1E"/>
              </a:buClr>
              <a:buSzPct val="100000"/>
              <a:buFont typeface="Arial"/>
              <a:buChar char="•"/>
            </a:pPr>
            <a:r>
              <a:rPr sz="1300" b="0" i="0">
                <a:solidFill>
                  <a:srgbClr val="1C2433"/>
                </a:solidFill>
                <a:latin typeface="Calibri"/>
              </a:rPr>
              <a:t>every configured hierarchy: 131 nodes on the test data (MGMT, LEGAL + 43 limit-letter nodes)</a:t>
            </a:r>
          </a:p>
          <a:p>
            <a:pPr algn="l" marL="201168" indent="-201168">
              <a:spcAft>
                <a:spcPts val="500"/>
              </a:spcAft>
              <a:buClr>
                <a:srgbClr val="E87A1E"/>
              </a:buClr>
              <a:buSzPct val="100000"/>
              <a:buFont typeface="Arial"/>
              <a:buChar char="•"/>
            </a:pPr>
            <a:r>
              <a:rPr sz="1200" b="0" i="0">
                <a:solidFill>
                  <a:srgbClr val="0E7C86"/>
                </a:solidFill>
                <a:latin typeface="Consolas"/>
              </a:rPr>
              <a:t>delta.appendOnly</a:t>
            </a:r>
            <a:r>
              <a:rPr sz="1300" b="0" i="0">
                <a:solidFill>
                  <a:srgbClr val="1C2433"/>
                </a:solidFill>
                <a:latin typeface="Calibri"/>
              </a:rPr>
              <a:t>: nothing is overwritten; a restated date adds rows with the next </a:t>
            </a:r>
            <a:r>
              <a:rPr sz="1200" b="0" i="0">
                <a:solidFill>
                  <a:srgbClr val="0E7C86"/>
                </a:solidFill>
                <a:latin typeface="Consolas"/>
              </a:rPr>
              <a:t>RESULT_VERSION</a:t>
            </a:r>
          </a:p>
          <a:p>
            <a:pPr algn="l" marL="201168" indent="-201168">
              <a:spcAft>
                <a:spcPts val="500"/>
              </a:spcAft>
              <a:buClr>
                <a:srgbClr val="E87A1E"/>
              </a:buClr>
              <a:buSzPct val="100000"/>
              <a:buFont typeface="Arial"/>
              <a:buChar char="•"/>
            </a:pPr>
            <a:r>
              <a:rPr sz="1300" b="0" i="0">
                <a:solidFill>
                  <a:srgbClr val="1C2433"/>
                </a:solidFill>
                <a:latin typeface="Calibri"/>
              </a:rPr>
              <a:t>7 years of log and removed files: time travel to any published day</a:t>
            </a:r>
          </a:p>
          <a:p>
            <a:pPr algn="l" marL="201168" indent="-201168">
              <a:spcAft>
                <a:spcPts val="500"/>
              </a:spcAft>
              <a:buClr>
                <a:srgbClr val="E87A1E"/>
              </a:buClr>
              <a:buSzPct val="100000"/>
              <a:buFont typeface="Arial"/>
              <a:buChar char="•"/>
            </a:pPr>
            <a:r>
              <a:rPr sz="1300" b="0" i="0">
                <a:solidFill>
                  <a:srgbClr val="1C2433"/>
                </a:solidFill>
                <a:latin typeface="Calibri"/>
              </a:rPr>
              <a:t>no vectors, no trade rows: the capture in the content store keeps the vector for audit</a:t>
            </a:r>
          </a:p>
          <a:p>
            <a:pPr algn="l" marL="201168" indent="-201168">
              <a:spcAft>
                <a:spcPts val="500"/>
              </a:spcAft>
              <a:buClr>
                <a:srgbClr val="E87A1E"/>
              </a:buClr>
              <a:buSzPct val="100000"/>
              <a:buFont typeface="Arial"/>
              <a:buChar char="•"/>
            </a:pPr>
            <a:r>
              <a:rPr sz="1300" b="0" i="0">
                <a:solidFill>
                  <a:srgbClr val="1C2433"/>
                </a:solidFill>
                <a:latin typeface="Calibri"/>
              </a:rPr>
              <a:t>Delta or Iceberg, a folder or </a:t>
            </a:r>
            <a:r>
              <a:rPr sz="1200" b="0" i="0">
                <a:solidFill>
                  <a:srgbClr val="0E7C86"/>
                </a:solidFill>
                <a:latin typeface="Consolas"/>
              </a:rPr>
              <a:t>s3://</a:t>
            </a:r>
          </a:p>
        </p:txBody>
      </p:sp>
      <p:sp>
        <p:nvSpPr>
          <p:cNvPr id="12" name="Callout"/>
          <p:cNvSpPr/>
          <p:nvPr/>
        </p:nvSpPr>
        <p:spPr>
          <a:xfrm>
            <a:off x="411480" y="4892040"/>
            <a:ext cx="11365992" cy="141732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allout edge"/>
          <p:cNvSpPr/>
          <p:nvPr/>
        </p:nvSpPr>
        <p:spPr>
          <a:xfrm>
            <a:off x="411480" y="4910327"/>
            <a:ext cx="82296" cy="138074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640080" y="4965192"/>
            <a:ext cx="11000232" cy="1271016"/>
          </a:xfrm>
          <a:prstGeom prst="rect">
            <a:avLst/>
          </a:prstGeom>
          <a:noFill/>
        </p:spPr>
        <p:txBody>
          <a:bodyPr wrap="square" lIns="0" rIns="0" tIns="0" bIns="0" anchor="ctr">
            <a:spAutoFit/>
          </a:bodyPr>
          <a:lstStyle/>
          <a:p>
            <a:pPr algn="l">
              <a:spcAft>
                <a:spcPts val="600"/>
              </a:spcAft>
              <a:buNone/>
            </a:pPr>
            <a:r>
              <a:rPr sz="1300" b="1" i="0">
                <a:solidFill>
                  <a:srgbClr val="1C2433"/>
                </a:solidFill>
                <a:latin typeface="Calibri"/>
              </a:rPr>
              <a:t>For other systems, never for engines.</a:t>
            </a:r>
            <a:r>
              <a:rPr sz="1300" b="0" i="0">
                <a:solidFill>
                  <a:srgbClr val="1C2433"/>
                </a:solidFill>
                <a:latin typeface="Calibri"/>
              </a:rPr>
              <a:t> BI reads the published tables as </a:t>
            </a:r>
            <a:r>
              <a:rPr sz="1200" b="0" i="0">
                <a:solidFill>
                  <a:srgbClr val="0E7C86"/>
                </a:solidFill>
                <a:latin typeface="Consolas"/>
              </a:rPr>
              <a:t>VOFF</a:t>
            </a:r>
            <a:r>
              <a:rPr sz="1300" b="0" i="0">
                <a:solidFill>
                  <a:srgbClr val="1C2433"/>
                </a:solidFill>
                <a:latin typeface="Calibri"/>
              </a:rPr>
              <a:t> and </a:t>
            </a:r>
            <a:r>
              <a:rPr sz="1200" b="0" i="0">
                <a:solidFill>
                  <a:srgbClr val="0E7C86"/>
                </a:solidFill>
                <a:latin typeface="Consolas"/>
              </a:rPr>
              <a:t>XOFC</a:t>
            </a:r>
            <a:r>
              <a:rPr sz="1300" b="0" i="0">
                <a:solidFill>
                  <a:srgbClr val="1C2433"/>
                </a:solidFill>
                <a:latin typeface="Calibri"/>
              </a:rPr>
              <a:t> (the reports Market risk: VaR and Counterparty risk; no measure sums VaR). Each figure can be recomputed from its inputs, the same vectors and engine version, years later.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Official results: Delta or Iceberg, a folder or S3, JSON Lines beside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4 · the risk lake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51</a:t>
            </a:r>
          </a:p>
        </p:txBody>
      </p:sp>
      <p:sp>
        <p:nvSpPr>
          <p:cNvPr id="10" name="Code block"/>
          <p:cNvSpPr/>
          <p:nvPr/>
        </p:nvSpPr>
        <p:spPr>
          <a:xfrm>
            <a:off x="411480" y="1097280"/>
            <a:ext cx="11365992" cy="105156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521208" y="1161288"/>
            <a:ext cx="11146536" cy="923543"/>
          </a:xfrm>
          <a:prstGeom prst="rect">
            <a:avLst/>
          </a:prstGeom>
          <a:noFill/>
        </p:spPr>
        <p:txBody>
          <a:bodyPr wrap="square" lIns="0" rIns="0" tIns="0" bIns="0" anchor="ctr">
            <a:spAutoFit/>
          </a:bodyPr>
          <a:lstStyle/>
          <a:p>
            <a:pPr>
              <a:spcAft>
                <a:spcPts val="0"/>
              </a:spcAft>
              <a:buNone/>
            </a:pPr>
            <a:r>
              <a:rPr sz="1150" b="0" i="0">
                <a:solidFill>
                  <a:srgbClr val="E6EDF3"/>
                </a:solidFill>
                <a:latin typeface="Consolas"/>
              </a:rPr>
              <a:t>&lt;root&gt;/risk-results/                       a folder or s3://</a:t>
            </a:r>
          </a:p>
          <a:p>
            <a:pPr>
              <a:spcAft>
                <a:spcPts val="0"/>
              </a:spcAft>
              <a:buNone/>
            </a:pPr>
            <a:r>
              <a:rPr sz="1150" b="0" i="0">
                <a:solidFill>
                  <a:srgbClr val="E6EDF3"/>
                </a:solidFill>
                <a:latin typeface="Consolas"/>
              </a:rPr>
              <a:t>├── var-official/              business_date=…/   Delta (default) or Iceberg, append-only, 7 years</a:t>
            </a:r>
          </a:p>
          <a:p>
            <a:pPr>
              <a:spcAft>
                <a:spcPts val="0"/>
              </a:spcAft>
              <a:buNone/>
            </a:pPr>
            <a:r>
              <a:rPr sz="1150" b="0" i="0">
                <a:solidFill>
                  <a:srgbClr val="E6EDF3"/>
                </a:solidFill>
                <a:latin typeface="Consolas"/>
              </a:rPr>
              <a:t>├── exposure-official/  exposure-official-cpty/   append-only</a:t>
            </a:r>
          </a:p>
          <a:p>
            <a:pPr>
              <a:spcAft>
                <a:spcPts val="0"/>
              </a:spcAft>
              <a:buNone/>
            </a:pPr>
            <a:r>
              <a:rPr sz="1150" b="0" i="0">
                <a:solidFill>
                  <a:srgbClr val="E6EDF3"/>
                </a:solidFill>
                <a:latin typeface="Consolas"/>
              </a:rPr>
              <a:t>└── jsonl/&lt;table&gt;/&lt;date&gt;/&lt;table&gt;-v&lt;table version&gt;.jsonl      one file per commit</a:t>
            </a:r>
          </a:p>
        </p:txBody>
      </p:sp>
      <p:graphicFrame>
        <p:nvGraphicFramePr>
          <p:cNvPr id="12" name="Table"/>
          <p:cNvGraphicFramePr>
            <a:graphicFrameLocks noGrp="1"/>
          </p:cNvGraphicFramePr>
          <p:nvPr/>
        </p:nvGraphicFramePr>
        <p:xfrm>
          <a:off x="411480" y="2286000"/>
          <a:ext cx="7223760" cy="2688336"/>
        </p:xfrm>
        <a:graphic>
          <a:graphicData uri="http://schemas.openxmlformats.org/drawingml/2006/table">
            <a:tbl>
              <a:tblPr firstRow="0" bandRow="0">
                <a:tableStyleId>{5940675A-B579-460E-94D1-54222C63F5DA}</a:tableStyleId>
              </a:tblPr>
              <a:tblGrid>
                <a:gridCol w="3017520"/>
                <a:gridCol w="2103120"/>
                <a:gridCol w="2103120"/>
              </a:tblGrid>
              <a:tr h="384048">
                <a:tc>
                  <a:txBody>
                    <a:bodyPr wrap="square"/>
                    <a:lstStyle/>
                    <a:p>
                      <a:r>
                        <a:rPr sz="1100" b="1" i="0">
                          <a:solidFill>
                            <a:srgbClr val="FFFFFF"/>
                          </a:solidFill>
                          <a:latin typeface="Calibri"/>
                        </a:rPr>
                        <a:t>Setting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Default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Effect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384048">
                <a:tc>
                  <a:txBody>
                    <a:bodyPr wrap="square"/>
                    <a:lstStyle/>
                    <a:p>
                      <a:r>
                        <a:rPr sz="1100" b="1" i="0">
                          <a:solidFill>
                            <a:srgbClr val="0E7C86"/>
                          </a:solidFill>
                          <a:latin typeface="Consolas"/>
                        </a:rPr>
                        <a:t>drishti.var.official.root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${DRISHTI_DELTA_ROOT}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where both are written: a folder or </a:t>
                      </a:r>
                      <a:r>
                        <a:rPr sz="1100" b="0" i="0">
                          <a:solidFill>
                            <a:srgbClr val="0E7C86"/>
                          </a:solidFill>
                          <a:latin typeface="Consolas"/>
                        </a:rPr>
                        <a:t>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100" b="1" i="0">
                          <a:solidFill>
                            <a:srgbClr val="0E7C86"/>
                          </a:solidFill>
                          <a:latin typeface="Consolas"/>
                        </a:rPr>
                        <a:t>drishti.var.official.format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delta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or </a:t>
                      </a:r>
                      <a:r>
                        <a:rPr sz="1100" b="0" i="0">
                          <a:solidFill>
                            <a:srgbClr val="0E7C86"/>
                          </a:solidFill>
                          <a:latin typeface="Consolas"/>
                        </a:rPr>
                        <a:t>iceberg</a:t>
                      </a:r>
                      <a:r>
                        <a:rPr sz="1100" b="0" i="0">
                          <a:solidFill>
                            <a:srgbClr val="1C2433"/>
                          </a:solidFill>
                          <a:latin typeface="Calibri"/>
                        </a:rPr>
                        <a:t>; a table keeps the format it was created in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84048">
                <a:tc>
                  <a:txBody>
                    <a:bodyPr wrap="square"/>
                    <a:lstStyle/>
                    <a:p>
                      <a:r>
                        <a:rPr sz="1100" b="1" i="0">
                          <a:solidFill>
                            <a:srgbClr val="0E7C86"/>
                          </a:solidFill>
                          <a:latin typeface="Consolas"/>
                        </a:rPr>
                        <a:t>drishti.ccr.exposure.official.format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delta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same for exposure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100" b="1" i="0">
                          <a:solidFill>
                            <a:srgbClr val="0E7C86"/>
                          </a:solidFill>
                          <a:latin typeface="Consolas"/>
                        </a:rPr>
                        <a:t>….official.storage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a:t>
                      </a:r>
                      <a:r>
                        <a:rPr sz="1100" b="0" i="0">
                          <a:solidFill>
                            <a:srgbClr val="0E7C86"/>
                          </a:solidFill>
                          <a:latin typeface="Consolas"/>
                        </a:rPr>
                        <a:t>s3.*</a:t>
                      </a:r>
                      <a:r>
                        <a:rPr sz="1100" b="0" i="0">
                          <a:solidFill>
                            <a:srgbClr val="1C2433"/>
                          </a:solidFill>
                          <a:latin typeface="Calibri"/>
                        </a:rPr>
                        <a:t> settings (no keys: the task role)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84048">
                <a:tc>
                  <a:txBody>
                    <a:bodyPr wrap="square"/>
                    <a:lstStyle/>
                    <a:p>
                      <a:r>
                        <a:rPr sz="1100" b="1" i="0">
                          <a:solidFill>
                            <a:srgbClr val="0E7C86"/>
                          </a:solidFill>
                          <a:latin typeface="Consolas"/>
                        </a:rPr>
                        <a:t>drishti.var.official.jsonl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true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each VaR publish also written as JSONL beside the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100" b="1" i="0">
                          <a:solidFill>
                            <a:srgbClr val="0E7C86"/>
                          </a:solidFill>
                          <a:latin typeface="Consolas"/>
                        </a:rPr>
                        <a:t>drishti.ccr.exposure.official.jsonl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true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each exposure publish also written as JSONL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3" name="TextBox 12"/>
          <p:cNvSpPr txBox="1"/>
          <p:nvPr/>
        </p:nvSpPr>
        <p:spPr>
          <a:xfrm>
            <a:off x="7818120" y="2286000"/>
            <a:ext cx="3959352" cy="3200400"/>
          </a:xfrm>
          <a:prstGeom prst="rect">
            <a:avLst/>
          </a:prstGeom>
          <a:noFill/>
        </p:spPr>
        <p:txBody>
          <a:bodyPr wrap="square" lIns="0" rIns="0" tIns="0" bIns="0" anchor="t">
            <a:spAutoFit/>
          </a:bodyPr>
          <a:lstStyle/>
          <a:p>
            <a:pPr algn="l" marL="201168" indent="-201168">
              <a:spcAft>
                <a:spcPts val="500"/>
              </a:spcAft>
              <a:buClr>
                <a:srgbClr val="E87A1E"/>
              </a:buClr>
              <a:buSzPct val="100000"/>
              <a:buFont typeface="Arial"/>
              <a:buChar char="•"/>
            </a:pPr>
            <a:r>
              <a:rPr sz="1200" b="1" i="0">
                <a:solidFill>
                  <a:srgbClr val="1C2433"/>
                </a:solidFill>
                <a:latin typeface="Calibri"/>
              </a:rPr>
              <a:t>Append-only on both:</a:t>
            </a:r>
            <a:r>
              <a:rPr sz="1200" b="0" i="0">
                <a:solidFill>
                  <a:srgbClr val="1C2433"/>
                </a:solidFill>
                <a:latin typeface="Calibri"/>
              </a:rPr>
              <a:t> </a:t>
            </a:r>
            <a:r>
              <a:rPr sz="1100" b="0" i="0">
                <a:solidFill>
                  <a:srgbClr val="0E7C86"/>
                </a:solidFill>
                <a:latin typeface="Consolas"/>
              </a:rPr>
              <a:t>delta.appendOnly</a:t>
            </a:r>
            <a:r>
              <a:rPr sz="1200" b="0" i="0">
                <a:solidFill>
                  <a:srgbClr val="1C2433"/>
                </a:solidFill>
                <a:latin typeface="Calibri"/>
              </a:rPr>
              <a:t>; Iceberg append commits only (</a:t>
            </a:r>
            <a:r>
              <a:rPr sz="1100" b="0" i="0">
                <a:solidFill>
                  <a:srgbClr val="0E7C86"/>
                </a:solidFill>
                <a:latin typeface="Consolas"/>
              </a:rPr>
              <a:t>drishti.append-only=true</a:t>
            </a:r>
            <a:r>
              <a:rPr sz="1200" b="0" i="0">
                <a:solidFill>
                  <a:srgbClr val="1C2433"/>
                </a:solidFill>
                <a:latin typeface="Calibri"/>
              </a:rPr>
              <a:t>), a snapshot per run</a:t>
            </a:r>
          </a:p>
          <a:p>
            <a:pPr algn="l" marL="201168" indent="-201168">
              <a:spcAft>
                <a:spcPts val="500"/>
              </a:spcAft>
              <a:buClr>
                <a:srgbClr val="E87A1E"/>
              </a:buClr>
              <a:buSzPct val="100000"/>
              <a:buFont typeface="Arial"/>
              <a:buChar char="•"/>
            </a:pPr>
            <a:r>
              <a:rPr sz="1200" b="1" i="0">
                <a:solidFill>
                  <a:srgbClr val="1C2433"/>
                </a:solidFill>
                <a:latin typeface="Calibri"/>
              </a:rPr>
              <a:t>7 years on both:</a:t>
            </a:r>
            <a:r>
              <a:rPr sz="1200" b="0" i="0">
                <a:solidFill>
                  <a:srgbClr val="1C2433"/>
                </a:solidFill>
                <a:latin typeface="Calibri"/>
              </a:rPr>
              <a:t> Delta log retention; Iceberg </a:t>
            </a:r>
            <a:r>
              <a:rPr sz="1100" b="0" i="0">
                <a:solidFill>
                  <a:srgbClr val="0E7C86"/>
                </a:solidFill>
                <a:latin typeface="Consolas"/>
              </a:rPr>
              <a:t>history.expire.max-snapshot-age-ms</a:t>
            </a:r>
            <a:r>
              <a:rPr sz="1200" b="0" i="0">
                <a:solidFill>
                  <a:srgbClr val="1C2433"/>
                </a:solidFill>
                <a:latin typeface="Calibri"/>
              </a:rPr>
              <a:t>, every metadata file kept</a:t>
            </a:r>
          </a:p>
          <a:p>
            <a:pPr algn="l" marL="201168" indent="-201168">
              <a:spcAft>
                <a:spcPts val="500"/>
              </a:spcAft>
              <a:buClr>
                <a:srgbClr val="E87A1E"/>
              </a:buClr>
              <a:buSzPct val="100000"/>
              <a:buFont typeface="Arial"/>
              <a:buChar char="•"/>
            </a:pPr>
            <a:r>
              <a:rPr sz="1200" b="1" i="0">
                <a:solidFill>
                  <a:srgbClr val="1C2433"/>
                </a:solidFill>
                <a:latin typeface="Calibri"/>
              </a:rPr>
              <a:t>On S3:</a:t>
            </a:r>
            <a:r>
              <a:rPr sz="1200" b="0" i="0">
                <a:solidFill>
                  <a:srgbClr val="1C2433"/>
                </a:solidFill>
                <a:latin typeface="Calibri"/>
              </a:rPr>
              <a:t> each Delta commit an exclusive create: two servers publishing at once both land</a:t>
            </a:r>
          </a:p>
          <a:p>
            <a:pPr algn="l" marL="201168" indent="-201168">
              <a:spcAft>
                <a:spcPts val="500"/>
              </a:spcAft>
              <a:buClr>
                <a:srgbClr val="E87A1E"/>
              </a:buClr>
              <a:buSzPct val="100000"/>
              <a:buFont typeface="Arial"/>
              <a:buChar char="•"/>
            </a:pPr>
            <a:r>
              <a:rPr sz="1200" b="1" i="0">
                <a:solidFill>
                  <a:srgbClr val="1C2433"/>
                </a:solidFill>
                <a:latin typeface="Calibri"/>
              </a:rPr>
              <a:t>BI's readers</a:t>
            </a:r>
            <a:r>
              <a:rPr sz="1200" b="0" i="0">
                <a:solidFill>
                  <a:srgbClr val="1C2433"/>
                </a:solidFill>
                <a:latin typeface="Calibri"/>
              </a:rPr>
              <a:t> (</a:t>
            </a:r>
            <a:r>
              <a:rPr sz="1100" b="0" i="0">
                <a:solidFill>
                  <a:srgbClr val="0E7C86"/>
                </a:solidFill>
                <a:latin typeface="Consolas"/>
              </a:rPr>
              <a:t>VOFF</a:t>
            </a:r>
            <a:r>
              <a:rPr sz="1200" b="0" i="0">
                <a:solidFill>
                  <a:srgbClr val="1C2433"/>
                </a:solidFill>
                <a:latin typeface="Calibri"/>
              </a:rPr>
              <a:t>, </a:t>
            </a:r>
            <a:r>
              <a:rPr sz="1100" b="0" i="0">
                <a:solidFill>
                  <a:srgbClr val="0E7C86"/>
                </a:solidFill>
                <a:latin typeface="Consolas"/>
              </a:rPr>
              <a:t>XOFC</a:t>
            </a:r>
            <a:r>
              <a:rPr sz="1200" b="0" i="0">
                <a:solidFill>
                  <a:srgbClr val="1C2433"/>
                </a:solidFill>
                <a:latin typeface="Calibri"/>
              </a:rPr>
              <a:t>) switch to </a:t>
            </a:r>
            <a:r>
              <a:rPr sz="1100" b="0" i="0">
                <a:solidFill>
                  <a:srgbClr val="0E7C86"/>
                </a:solidFill>
                <a:latin typeface="Consolas"/>
              </a:rPr>
              <a:t>plugin: iceberg</a:t>
            </a:r>
            <a:r>
              <a:rPr sz="1200" b="0" i="0">
                <a:solidFill>
                  <a:srgbClr val="1C2433"/>
                </a:solidFill>
                <a:latin typeface="Calibri"/>
              </a:rPr>
              <a:t> by themselves</a:t>
            </a:r>
          </a:p>
        </p:txBody>
      </p:sp>
      <p:sp>
        <p:nvSpPr>
          <p:cNvPr id="14" name="TextBox 13"/>
          <p:cNvSpPr txBox="1"/>
          <p:nvPr/>
        </p:nvSpPr>
        <p:spPr>
          <a:xfrm>
            <a:off x="411480" y="5532120"/>
            <a:ext cx="11365992" cy="822960"/>
          </a:xfrm>
          <a:prstGeom prst="rect">
            <a:avLst/>
          </a:prstGeom>
          <a:noFill/>
        </p:spPr>
        <p:txBody>
          <a:bodyPr wrap="square" lIns="0" rIns="0" tIns="0" bIns="0" anchor="t">
            <a:spAutoFit/>
          </a:bodyPr>
          <a:lstStyle/>
          <a:p>
            <a:pPr algn="l" marL="201168" indent="-201168">
              <a:spcAft>
                <a:spcPts val="300"/>
              </a:spcAft>
              <a:buClr>
                <a:srgbClr val="E87A1E"/>
              </a:buClr>
              <a:buSzPct val="100000"/>
              <a:buFont typeface="Arial"/>
              <a:buChar char="•"/>
            </a:pPr>
            <a:r>
              <a:rPr sz="1200" b="0" i="0">
                <a:solidFill>
                  <a:srgbClr val="1C2433"/>
                </a:solidFill>
                <a:latin typeface="Calibri"/>
              </a:rPr>
              <a:t>A restatement is a new file, never a rewrite; content-store row lists are JSONL too (</a:t>
            </a:r>
            <a:r>
              <a:rPr sz="1100" b="0" i="0">
                <a:solidFill>
                  <a:srgbClr val="0E7C86"/>
                </a:solidFill>
                <a:latin typeface="Consolas"/>
              </a:rPr>
              <a:t>var/official/&lt;date&gt;-membership-v&lt;n&gt;.jsonl</a:t>
            </a:r>
            <a:r>
              <a:rPr sz="1200" b="0" i="0">
                <a:solidFill>
                  <a:srgbClr val="1C2433"/>
                </a:solidFill>
                <a:latin typeface="Calibri"/>
              </a:rPr>
              <a:t>); older </a:t>
            </a:r>
            <a:r>
              <a:rPr sz="1100" b="0" i="0">
                <a:solidFill>
                  <a:srgbClr val="0E7C86"/>
                </a:solidFill>
                <a:latin typeface="Consolas"/>
              </a:rPr>
              <a:t>.json</a:t>
            </a:r>
            <a:r>
              <a:rPr sz="1200" b="0" i="0">
                <a:solidFill>
                  <a:srgbClr val="1C2433"/>
                </a:solidFill>
                <a:latin typeface="Calibri"/>
              </a:rPr>
              <a:t> records are read as they are</a:t>
            </a:r>
          </a:p>
          <a:p>
            <a:pPr algn="l" marL="201168" indent="-201168">
              <a:spcAft>
                <a:spcPts val="300"/>
              </a:spcAft>
              <a:buClr>
                <a:srgbClr val="E87A1E"/>
              </a:buClr>
              <a:buSzPct val="100000"/>
              <a:buFont typeface="Arial"/>
              <a:buChar char="•"/>
            </a:pPr>
            <a:r>
              <a:rPr sz="1200" b="0" i="0">
                <a:solidFill>
                  <a:srgbClr val="1C2433"/>
                </a:solidFill>
                <a:latin typeface="Calibri"/>
              </a:rPr>
              <a:t>Tested: </a:t>
            </a:r>
            <a:r>
              <a:rPr sz="1100" b="0" i="0">
                <a:solidFill>
                  <a:srgbClr val="0E7C86"/>
                </a:solidFill>
                <a:latin typeface="Consolas"/>
              </a:rPr>
              <a:t>OfficialSinkTest</a:t>
            </a:r>
            <a:r>
              <a:rPr sz="1200" b="0" i="0">
                <a:solidFill>
                  <a:srgbClr val="1C2433"/>
                </a:solidFill>
                <a:latin typeface="Calibri"/>
              </a:rPr>
              <a:t>, </a:t>
            </a:r>
            <a:r>
              <a:rPr sz="1100" b="0" i="0">
                <a:solidFill>
                  <a:srgbClr val="0E7C86"/>
                </a:solidFill>
                <a:latin typeface="Consolas"/>
              </a:rPr>
              <a:t>OfficialS3Test</a:t>
            </a:r>
            <a:r>
              <a:rPr sz="1200" b="0" i="0">
                <a:solidFill>
                  <a:srgbClr val="1C2433"/>
                </a:solidFill>
                <a:latin typeface="Calibri"/>
              </a:rPr>
              <a:t> (S3Mock), </a:t>
            </a:r>
            <a:r>
              <a:rPr sz="1100" b="0" i="0">
                <a:solidFill>
                  <a:srgbClr val="0E7C86"/>
                </a:solidFill>
                <a:latin typeface="Consolas"/>
              </a:rPr>
              <a:t>OfficialReadersTest</a:t>
            </a:r>
            <a:r>
              <a:rPr sz="1200" b="0" i="0">
                <a:solidFill>
                  <a:srgbClr val="1C2433"/>
                </a:solidFill>
                <a:latin typeface="Calibri"/>
              </a:rPr>
              <a:t>; not yet run against a real bucket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Exposure paths: the large table, and what is kept for 7 years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4 · the risk lake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52</a:t>
            </a:r>
          </a:p>
        </p:txBody>
      </p:sp>
      <p:graphicFrame>
        <p:nvGraphicFramePr>
          <p:cNvPr id="10" name="Table"/>
          <p:cNvGraphicFramePr>
            <a:graphicFrameLocks noGrp="1"/>
          </p:cNvGraphicFramePr>
          <p:nvPr/>
        </p:nvGraphicFramePr>
        <p:xfrm>
          <a:off x="411480" y="1188720"/>
          <a:ext cx="5669280" cy="2286000"/>
        </p:xfrm>
        <a:graphic>
          <a:graphicData uri="http://schemas.openxmlformats.org/drawingml/2006/table">
            <a:tbl>
              <a:tblPr firstRow="0" bandRow="0">
                <a:tableStyleId>{5940675A-B579-460E-94D1-54222C63F5DA}</a:tableStyleId>
              </a:tblPr>
              <a:tblGrid>
                <a:gridCol w="2743200"/>
                <a:gridCol w="1463040"/>
                <a:gridCol w="1463040"/>
              </a:tblGrid>
              <a:tr h="457200">
                <a:tc>
                  <a:txBody>
                    <a:bodyPr wrap="square"/>
                    <a:lstStyle/>
                    <a:p>
                      <a:r>
                        <a:rPr sz="1200" b="1" i="0">
                          <a:solidFill>
                            <a:srgbClr val="FFFFFF"/>
                          </a:solidFill>
                          <a:latin typeface="Calibri"/>
                        </a:rPr>
                        <a:t>Item (1,000,000 trades)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P = 2,000, G = 50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P = 5,000, G = 100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57200">
                <a:tc>
                  <a:txBody>
                    <a:bodyPr wrap="square"/>
                    <a:lstStyle/>
                    <a:p>
                      <a:r>
                        <a:rPr sz="1200" b="1" i="0">
                          <a:solidFill>
                            <a:srgbClr val="1C2433"/>
                          </a:solidFill>
                          <a:latin typeface="Calibri"/>
                        </a:rPr>
                        <a:t>trade paths, float32, dense, a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400 GB</a:t>
                      </a:r>
                      <a:r>
                        <a:rPr sz="1200" b="1" i="0">
                          <a:solidFill>
                            <a:srgbClr val="E87A1E"/>
                          </a:solidFill>
                          <a:latin typeface="Calibri"/>
                        </a:rPr>
                        <a:t>¹</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2.0 TB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the same, float64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800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4.0 TB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200" b="1" i="0">
                          <a:solidFill>
                            <a:srgbClr val="1C2433"/>
                          </a:solidFill>
                          <a:latin typeface="Calibri"/>
                        </a:rPr>
                        <a:t>netting-set V matrices (hot), 100,000 sets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40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200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for comparison: VaR vectors, a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4.07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graphicFrame>
        <p:nvGraphicFramePr>
          <p:cNvPr id="11" name="Table"/>
          <p:cNvGraphicFramePr>
            <a:graphicFrameLocks noGrp="1"/>
          </p:cNvGraphicFramePr>
          <p:nvPr/>
        </p:nvGraphicFramePr>
        <p:xfrm>
          <a:off x="6309360" y="1188720"/>
          <a:ext cx="5468112" cy="2743200"/>
        </p:xfrm>
        <a:graphic>
          <a:graphicData uri="http://schemas.openxmlformats.org/drawingml/2006/table">
            <a:tbl>
              <a:tblPr firstRow="0" bandRow="0">
                <a:tableStyleId>{5940675A-B579-460E-94D1-54222C63F5DA}</a:tableStyleId>
              </a:tblPr>
              <a:tblGrid>
                <a:gridCol w="2377440"/>
                <a:gridCol w="3090672"/>
              </a:tblGrid>
              <a:tr h="457200">
                <a:tc>
                  <a:txBody>
                    <a:bodyPr wrap="square"/>
                    <a:lstStyle/>
                    <a:p>
                      <a:r>
                        <a:rPr sz="1200" b="1" i="0">
                          <a:solidFill>
                            <a:srgbClr val="FFFFFF"/>
                          </a:solidFill>
                          <a:latin typeface="Calibri"/>
                        </a:rPr>
                        <a:t>What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Kept (decided 2026-10-26, built)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57200">
                <a:tc>
                  <a:txBody>
                    <a:bodyPr wrap="square"/>
                    <a:lstStyle/>
                    <a:p>
                      <a:r>
                        <a:rPr sz="1200" b="1" i="0">
                          <a:solidFill>
                            <a:srgbClr val="1C2433"/>
                          </a:solidFill>
                          <a:latin typeface="Calibri"/>
                        </a:rPr>
                        <a:t>trade paths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20 business days, and each month-end for 1 year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netting-set matrices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every date for 1 year; month-ends for 7 years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200" b="1" i="0">
                          <a:solidFill>
                            <a:srgbClr val="1C2433"/>
                          </a:solidFill>
                          <a:latin typeface="Calibri"/>
                        </a:rPr>
                        <a:t>statistics per set and counterparty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every date, 7 years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trade EE contributions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every date, 7 years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200" b="1" i="0">
                          <a:solidFill>
                            <a:srgbClr val="1C2433"/>
                          </a:solidFill>
                          <a:latin typeface="Calibri"/>
                        </a:rPr>
                        <a:t>official captures, run records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7 years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2" name="Callout"/>
          <p:cNvSpPr/>
          <p:nvPr/>
        </p:nvSpPr>
        <p:spPr>
          <a:xfrm>
            <a:off x="411480" y="4069080"/>
            <a:ext cx="11365992" cy="86868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allout edge"/>
          <p:cNvSpPr/>
          <p:nvPr/>
        </p:nvSpPr>
        <p:spPr>
          <a:xfrm>
            <a:off x="411480" y="4087368"/>
            <a:ext cx="82296" cy="832103"/>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640080" y="4142232"/>
            <a:ext cx="11000232" cy="722375"/>
          </a:xfrm>
          <a:prstGeom prst="rect">
            <a:avLst/>
          </a:prstGeom>
          <a:noFill/>
        </p:spPr>
        <p:txBody>
          <a:bodyPr wrap="square" lIns="0" rIns="0" tIns="0" bIns="0" anchor="ctr">
            <a:spAutoFit/>
          </a:bodyPr>
          <a:lstStyle/>
          <a:p>
            <a:pPr algn="l">
              <a:spcAft>
                <a:spcPts val="600"/>
              </a:spcAft>
              <a:buNone/>
            </a:pPr>
            <a:r>
              <a:rPr sz="1300" b="1" i="0">
                <a:solidFill>
                  <a:srgbClr val="1C2433"/>
                </a:solidFill>
                <a:latin typeface="Calibri"/>
              </a:rPr>
              <a:t>3.5 PB → about 130 TB</a:t>
            </a:r>
            <a:r>
              <a:rPr sz="1300" b="1" i="0">
                <a:solidFill>
                  <a:srgbClr val="E87A1E"/>
                </a:solidFill>
                <a:latin typeface="Calibri"/>
              </a:rPr>
              <a:t>²</a:t>
            </a:r>
            <a:r>
              <a:rPr sz="1300" b="1" i="0">
                <a:solidFill>
                  <a:srgbClr val="1C2433"/>
                </a:solidFill>
                <a:latin typeface="Calibri"/>
              </a:rPr>
              <a:t>:</a:t>
            </a:r>
            <a:r>
              <a:rPr sz="1300" b="0" i="0">
                <a:solidFill>
                  <a:srgbClr val="1C2433"/>
                </a:solidFill>
                <a:latin typeface="Calibri"/>
              </a:rPr>
              <a:t> 7 years of dense trade paths at P = 5,000, G = 100 would be 3.5 PB; under the decided tiers the standing storage is about 130 TB at full size (a fifth at P = 2,000, G = 50). ESTIMATED from the guide's formulas.</a:t>
            </a:r>
          </a:p>
        </p:txBody>
      </p:sp>
      <p:sp>
        <p:nvSpPr>
          <p:cNvPr id="15" name="Rounded Rectangle 14"/>
          <p:cNvSpPr/>
          <p:nvPr/>
        </p:nvSpPr>
        <p:spPr>
          <a:xfrm>
            <a:off x="411480" y="5074920"/>
            <a:ext cx="11365992" cy="868680"/>
          </a:xfrm>
          <a:prstGeom prst="roundRect">
            <a:avLst>
              <a:gd name="adj" fmla="val 6000"/>
            </a:avLst>
          </a:prstGeom>
          <a:solidFill>
            <a:srgbClr val="FFF4E6"/>
          </a:solidFill>
          <a:ln w="952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502920" y="5120640"/>
            <a:ext cx="10040112"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Exposure-path layout at scale (EXPOSURE_GUIDE.md 15.3)</a:t>
            </a:r>
          </a:p>
        </p:txBody>
      </p:sp>
      <p:sp>
        <p:nvSpPr>
          <p:cNvPr id="17" name="Status PROPOSED"/>
          <p:cNvSpPr/>
          <p:nvPr/>
        </p:nvSpPr>
        <p:spPr>
          <a:xfrm>
            <a:off x="10634472" y="5166359"/>
            <a:ext cx="1051560" cy="237744"/>
          </a:xfrm>
          <a:prstGeom prst="roundRect">
            <a:avLst>
              <a:gd name="adj" fmla="val 50000"/>
            </a:avLst>
          </a:prstGeom>
          <a:solidFill>
            <a:srgbClr val="FFFFFF"/>
          </a:solidFill>
          <a:ln w="1587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E87A1E"/>
                </a:solidFill>
                <a:latin typeface="Calibri"/>
              </a:rPr>
              <a:t>PROPOSED</a:t>
            </a:r>
          </a:p>
        </p:txBody>
      </p:sp>
      <p:sp>
        <p:nvSpPr>
          <p:cNvPr id="18" name="TextBox 17"/>
          <p:cNvSpPr txBox="1"/>
          <p:nvPr/>
        </p:nvSpPr>
        <p:spPr>
          <a:xfrm>
            <a:off x="502920" y="5440680"/>
            <a:ext cx="11183112" cy="457199"/>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partition by </a:t>
            </a:r>
            <a:r>
              <a:rPr sz="1100" b="0" i="0">
                <a:solidFill>
                  <a:srgbClr val="0E7C86"/>
                </a:solidFill>
                <a:latin typeface="Consolas"/>
              </a:rPr>
              <a:t>business_date</a:t>
            </a:r>
            <a:r>
              <a:rPr sz="1200" b="0" i="0">
                <a:solidFill>
                  <a:srgbClr val="1C2433"/>
                </a:solidFill>
                <a:latin typeface="Calibri"/>
              </a:rPr>
              <a:t> and </a:t>
            </a:r>
            <a:r>
              <a:rPr sz="1100" b="0" i="0">
                <a:solidFill>
                  <a:srgbClr val="0E7C86"/>
                </a:solidFill>
                <a:latin typeface="Consolas"/>
              </a:rPr>
              <a:t>run_id</a:t>
            </a:r>
            <a:r>
              <a:rPr sz="1200" b="0" i="0">
                <a:solidFill>
                  <a:srgbClr val="1C2433"/>
                </a:solidFill>
                <a:latin typeface="Calibri"/>
              </a:rPr>
              <a:t>; sort by </a:t>
            </a:r>
            <a:r>
              <a:rPr sz="1100" b="0" i="0">
                <a:solidFill>
                  <a:srgbClr val="0E7C86"/>
                </a:solidFill>
                <a:latin typeface="Consolas"/>
              </a:rPr>
              <a:t>NETTING_SET</a:t>
            </a:r>
            <a:r>
              <a:rPr sz="1200" b="0" i="0">
                <a:solidFill>
                  <a:srgbClr val="1C2433"/>
                </a:solidFill>
                <a:latin typeface="Calibri"/>
              </a:rPr>
              <a:t>, </a:t>
            </a:r>
            <a:r>
              <a:rPr sz="1100" b="0" i="0">
                <a:solidFill>
                  <a:srgbClr val="0E7C86"/>
                </a:solidFill>
                <a:latin typeface="Consolas"/>
              </a:rPr>
              <a:t>TRADE_ID</a:t>
            </a:r>
            <a:r>
              <a:rPr sz="1200" b="0" i="0">
                <a:solidFill>
                  <a:srgbClr val="1C2433"/>
                </a:solidFill>
                <a:latin typeface="Calibri"/>
              </a:rPr>
              <a:t>, </a:t>
            </a:r>
            <a:r>
              <a:rPr sz="1100" b="0" i="0">
                <a:solidFill>
                  <a:srgbClr val="0E7C86"/>
                </a:solidFill>
                <a:latin typeface="Consolas"/>
              </a:rPr>
              <a:t>GRID_INDEX</a:t>
            </a:r>
            <a:r>
              <a:rPr sz="1200" b="0" i="0">
                <a:solidFill>
                  <a:srgbClr val="1C2433"/>
                </a:solidFill>
                <a:latin typeface="Calibri"/>
              </a:rPr>
              <a:t>; ~512 MB files; </a:t>
            </a:r>
            <a:r>
              <a:rPr sz="1100" b="0" i="0">
                <a:solidFill>
                  <a:srgbClr val="0E7C86"/>
                </a:solidFill>
                <a:latin typeface="Consolas"/>
              </a:rPr>
              <a:t>MTM</a:t>
            </a:r>
            <a:r>
              <a:rPr sz="1200" b="0" i="0">
                <a:solidFill>
                  <a:srgbClr val="1C2433"/>
                </a:solidFill>
                <a:latin typeface="Calibri"/>
              </a:rPr>
              <a:t> BYTE_STREAM_SPLIT + ZSTD</a:t>
            </a:r>
          </a:p>
        </p:txBody>
      </p:sp>
      <p:sp>
        <p:nvSpPr>
          <p:cNvPr id="19" name="Footnotes"/>
          <p:cNvSpPr txBox="1"/>
          <p:nvPr/>
        </p:nvSpPr>
        <p:spPr>
          <a:xfrm>
            <a:off x="411480" y="6377940"/>
            <a:ext cx="11365992" cy="169164"/>
          </a:xfrm>
          <a:prstGeom prst="rect">
            <a:avLst/>
          </a:prstGeom>
          <a:noFill/>
        </p:spPr>
        <p:txBody>
          <a:bodyPr wrap="square" lIns="0" rIns="0" tIns="0" bIns="0" anchor="t">
            <a:spAutoFit/>
          </a:bodyPr>
          <a:lstStyle/>
          <a:p>
            <a:pPr algn="l">
              <a:lnSpc>
                <a:spcPct val="100000"/>
              </a:lnSpc>
              <a:spcAft>
                <a:spcPts val="0"/>
              </a:spcAft>
              <a:buNone/>
            </a:pPr>
            <a:r>
              <a:rPr sz="900" b="0" i="0">
                <a:solidFill>
                  <a:srgbClr val="5B677A"/>
                </a:solidFill>
                <a:latin typeface="Calibri"/>
              </a:rPr>
              <a:t>¹ trades × P × G × 4 B (EXPOSURE_GUIDE.md 27.2)   ² 2.0 TB × 1,764 dates; kept tiers summed = 132 TB  Full derivations: slides 119–121.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05</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Evidence</a:t>
            </a:r>
          </a:p>
        </p:txBody>
      </p:sp>
      <p:pic>
        <p:nvPicPr>
          <p:cNvPr id="5" name="Drishti mark" descr="Drishti logo: an eye between curly brackets"/>
          <p:cNvPicPr>
            <a:picLocks noChangeAspect="1"/>
          </p:cNvPicPr>
          <p:nvPr/>
        </p:nvPicPr>
        <p:blipFill>
          <a:blip r:embed="rId2"/>
          <a:stretch>
            <a:fillRect/>
          </a:stretch>
        </p:blipFill>
        <p:spPr>
          <a:xfrm>
            <a:off x="822960" y="6236208"/>
            <a:ext cx="430911" cy="237744"/>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Status: what exists today, and how it was tested</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5 · evidence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54</a:t>
            </a:r>
          </a:p>
        </p:txBody>
      </p:sp>
      <p:sp>
        <p:nvSpPr>
          <p:cNvPr id="10" name="TextBox 9"/>
          <p:cNvSpPr txBox="1"/>
          <p:nvPr/>
        </p:nvSpPr>
        <p:spPr>
          <a:xfrm>
            <a:off x="2011680" y="1143000"/>
            <a:ext cx="9738360" cy="438912"/>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No label: built, in the code and tested: the AWS lake, the risk lake, JSON Lines, the S3 work, official results to S3, Iceberg as an alternative, Drishti*net, VaR sharding and the parallel Java loader.</a:t>
            </a:r>
          </a:p>
        </p:txBody>
      </p:sp>
      <p:sp>
        <p:nvSpPr>
          <p:cNvPr id="11" name="Status DESIGNED"/>
          <p:cNvSpPr/>
          <p:nvPr/>
        </p:nvSpPr>
        <p:spPr>
          <a:xfrm>
            <a:off x="411480" y="1673352"/>
            <a:ext cx="1234440" cy="292608"/>
          </a:xfrm>
          <a:prstGeom prst="roundRect">
            <a:avLst>
              <a:gd name="adj" fmla="val 50000"/>
            </a:avLst>
          </a:prstGeom>
          <a:solidFill>
            <a:srgbClr val="FFFFFF"/>
          </a:solidFill>
          <a:ln w="15875">
            <a:solidFill>
              <a:srgbClr val="0B1E3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100" b="1" i="0">
                <a:solidFill>
                  <a:srgbClr val="0B1E3B"/>
                </a:solidFill>
                <a:latin typeface="Calibri"/>
              </a:rPr>
              <a:t>DESIGNED</a:t>
            </a:r>
          </a:p>
        </p:txBody>
      </p:sp>
      <p:sp>
        <p:nvSpPr>
          <p:cNvPr id="12" name="TextBox 11"/>
          <p:cNvSpPr txBox="1"/>
          <p:nvPr/>
        </p:nvSpPr>
        <p:spPr>
          <a:xfrm>
            <a:off x="2011680" y="1600200"/>
            <a:ext cx="9738360" cy="438912"/>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The super-scale scale-out of the whole lake (SUPER_SCALE S1–S8), not built.</a:t>
            </a:r>
          </a:p>
        </p:txBody>
      </p:sp>
      <p:sp>
        <p:nvSpPr>
          <p:cNvPr id="13" name="Status PLANNED"/>
          <p:cNvSpPr/>
          <p:nvPr/>
        </p:nvSpPr>
        <p:spPr>
          <a:xfrm>
            <a:off x="411480" y="2130552"/>
            <a:ext cx="1234440" cy="292608"/>
          </a:xfrm>
          <a:prstGeom prst="roundRect">
            <a:avLst>
              <a:gd name="adj" fmla="val 50000"/>
            </a:avLst>
          </a:prstGeom>
          <a:solidFill>
            <a:srgbClr val="FFFFFF"/>
          </a:solidFill>
          <a:ln w="15875">
            <a:solidFill>
              <a:srgbClr val="0E7C8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100" b="1" i="0">
                <a:solidFill>
                  <a:srgbClr val="0E7C86"/>
                </a:solidFill>
                <a:latin typeface="Calibri"/>
              </a:rPr>
              <a:t>PLANNED</a:t>
            </a:r>
          </a:p>
        </p:txBody>
      </p:sp>
      <p:sp>
        <p:nvSpPr>
          <p:cNvPr id="14" name="TextBox 13"/>
          <p:cNvSpPr txBox="1"/>
          <p:nvPr/>
        </p:nvSpPr>
        <p:spPr>
          <a:xfrm>
            <a:off x="2011680" y="2057400"/>
            <a:ext cx="9738360" cy="438912"/>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In the plan, not built: 10-day and stressed VaR, Delta in-place schema evolution, Delta↔Iceberg conversion, the 200K benchmark, Unity Catalog.</a:t>
            </a:r>
          </a:p>
        </p:txBody>
      </p:sp>
      <p:sp>
        <p:nvSpPr>
          <p:cNvPr id="15" name="Status NOT RUN"/>
          <p:cNvSpPr/>
          <p:nvPr/>
        </p:nvSpPr>
        <p:spPr>
          <a:xfrm>
            <a:off x="411480" y="2587752"/>
            <a:ext cx="1234440" cy="292608"/>
          </a:xfrm>
          <a:prstGeom prst="roundRect">
            <a:avLst>
              <a:gd name="adj" fmla="val 50000"/>
            </a:avLst>
          </a:prstGeom>
          <a:solidFill>
            <a:srgbClr val="FFFFFF"/>
          </a:solidFill>
          <a:ln w="15875">
            <a:solidFill>
              <a:srgbClr val="B4231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100" b="1" i="0">
                <a:solidFill>
                  <a:srgbClr val="B42318"/>
                </a:solidFill>
                <a:latin typeface="Calibri"/>
              </a:rPr>
              <a:t>NOT RUN</a:t>
            </a:r>
          </a:p>
        </p:txBody>
      </p:sp>
      <p:sp>
        <p:nvSpPr>
          <p:cNvPr id="16" name="TextBox 15"/>
          <p:cNvSpPr txBox="1"/>
          <p:nvPr/>
        </p:nvSpPr>
        <p:spPr>
          <a:xfrm>
            <a:off x="2011680" y="2514600"/>
            <a:ext cx="9738360" cy="438912"/>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Code written, never run against AWS: the Glue and S3 Tables live runs.</a:t>
            </a:r>
          </a:p>
        </p:txBody>
      </p:sp>
      <p:sp>
        <p:nvSpPr>
          <p:cNvPr id="17" name="Status PROPOSED"/>
          <p:cNvSpPr/>
          <p:nvPr/>
        </p:nvSpPr>
        <p:spPr>
          <a:xfrm>
            <a:off x="411480" y="3044952"/>
            <a:ext cx="1234440" cy="292608"/>
          </a:xfrm>
          <a:prstGeom prst="roundRect">
            <a:avLst>
              <a:gd name="adj" fmla="val 50000"/>
            </a:avLst>
          </a:prstGeom>
          <a:solidFill>
            <a:srgbClr val="FFFFFF"/>
          </a:solidFill>
          <a:ln w="1587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100" b="1" i="0">
                <a:solidFill>
                  <a:srgbClr val="E87A1E"/>
                </a:solidFill>
                <a:latin typeface="Calibri"/>
              </a:rPr>
              <a:t>PROPOSED</a:t>
            </a:r>
          </a:p>
        </p:txBody>
      </p:sp>
      <p:sp>
        <p:nvSpPr>
          <p:cNvPr id="18" name="TextBox 17"/>
          <p:cNvSpPr txBox="1"/>
          <p:nvPr/>
        </p:nvSpPr>
        <p:spPr>
          <a:xfrm>
            <a:off x="2011680" y="2971800"/>
            <a:ext cx="9738360" cy="438912"/>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This deck's recommendation, not yet in the docs (each one is marked where it appears).</a:t>
            </a:r>
          </a:p>
        </p:txBody>
      </p:sp>
      <p:sp>
        <p:nvSpPr>
          <p:cNvPr id="19" name="Status MEASURED"/>
          <p:cNvSpPr/>
          <p:nvPr/>
        </p:nvSpPr>
        <p:spPr>
          <a:xfrm>
            <a:off x="411480" y="3502152"/>
            <a:ext cx="1234440" cy="292608"/>
          </a:xfrm>
          <a:prstGeom prst="roundRect">
            <a:avLst>
              <a:gd name="adj" fmla="val 50000"/>
            </a:avLst>
          </a:prstGeom>
          <a:solidFill>
            <a:srgbClr val="0B1E3B"/>
          </a:solidFill>
          <a:ln w="15875">
            <a:solidFill>
              <a:srgbClr val="0B1E3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100" b="1" i="0">
                <a:solidFill>
                  <a:srgbClr val="FFFFFF"/>
                </a:solidFill>
                <a:latin typeface="Calibri"/>
              </a:rPr>
              <a:t>MEASURED</a:t>
            </a:r>
          </a:p>
        </p:txBody>
      </p:sp>
      <p:sp>
        <p:nvSpPr>
          <p:cNvPr id="20" name="TextBox 19"/>
          <p:cNvSpPr txBox="1"/>
          <p:nvPr/>
        </p:nvSpPr>
        <p:spPr>
          <a:xfrm>
            <a:off x="2011680" y="3429000"/>
            <a:ext cx="9738360" cy="438912"/>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A number measured on Drishti (the doc names the test or benchmark).</a:t>
            </a:r>
          </a:p>
        </p:txBody>
      </p:sp>
      <p:sp>
        <p:nvSpPr>
          <p:cNvPr id="21" name="Status ESTIMATED"/>
          <p:cNvSpPr/>
          <p:nvPr/>
        </p:nvSpPr>
        <p:spPr>
          <a:xfrm>
            <a:off x="411480" y="3959352"/>
            <a:ext cx="1234440" cy="29260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100" b="1" i="0">
                <a:solidFill>
                  <a:srgbClr val="5B677A"/>
                </a:solidFill>
                <a:latin typeface="Calibri"/>
              </a:rPr>
              <a:t>ESTIMATED</a:t>
            </a:r>
          </a:p>
        </p:txBody>
      </p:sp>
      <p:sp>
        <p:nvSpPr>
          <p:cNvPr id="22" name="TextBox 21"/>
          <p:cNvSpPr txBox="1"/>
          <p:nvPr/>
        </p:nvSpPr>
        <p:spPr>
          <a:xfrm>
            <a:off x="2011680" y="3886200"/>
            <a:ext cx="9738360" cy="438912"/>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A number from arithmetic or a linear extrapolation of measured points; to be replaced by measurement.</a:t>
            </a:r>
          </a:p>
        </p:txBody>
      </p:sp>
      <p:sp>
        <p:nvSpPr>
          <p:cNvPr id="23" name="Callout"/>
          <p:cNvSpPr/>
          <p:nvPr/>
        </p:nvSpPr>
        <p:spPr>
          <a:xfrm>
            <a:off x="411480" y="4434840"/>
            <a:ext cx="11365992" cy="1901952"/>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Callout edge"/>
          <p:cNvSpPr/>
          <p:nvPr/>
        </p:nvSpPr>
        <p:spPr>
          <a:xfrm>
            <a:off x="411480" y="4453127"/>
            <a:ext cx="82296" cy="186537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640080" y="4507992"/>
            <a:ext cx="11000232" cy="1755648"/>
          </a:xfrm>
          <a:prstGeom prst="rect">
            <a:avLst/>
          </a:prstGeom>
          <a:noFill/>
        </p:spPr>
        <p:txBody>
          <a:bodyPr wrap="square" lIns="0" rIns="0" tIns="0" bIns="0" anchor="ctr">
            <a:spAutoFit/>
          </a:bodyPr>
          <a:lstStyle/>
          <a:p>
            <a:pPr algn="l">
              <a:spcAft>
                <a:spcPts val="600"/>
              </a:spcAft>
              <a:buNone/>
            </a:pPr>
            <a:r>
              <a:rPr sz="1400" b="1" i="0">
                <a:solidFill>
                  <a:srgbClr val="1C2433"/>
                </a:solidFill>
                <a:latin typeface="Calibri"/>
              </a:rPr>
              <a:t>How it was tested</a:t>
            </a:r>
          </a:p>
          <a:p>
            <a:pPr algn="l">
              <a:spcAft>
                <a:spcPts val="600"/>
              </a:spcAft>
              <a:buNone/>
            </a:pPr>
            <a:r>
              <a:rPr sz="1200" b="0" i="0">
                <a:solidFill>
                  <a:srgbClr val="1C2433"/>
                </a:solidFill>
                <a:latin typeface="Calibri"/>
              </a:rPr>
              <a:t>Every AWS script, Delta and Iceberg, with --help and --dry-run (</a:t>
            </a:r>
            <a:r>
              <a:rPr sz="1100" b="0" i="0">
                <a:solidFill>
                  <a:srgbClr val="0E7C86"/>
                </a:solidFill>
                <a:latin typeface="Consolas"/>
              </a:rPr>
              <a:t>tools/test_deploy_aws.py</a:t>
            </a:r>
            <a:r>
              <a:rPr sz="1200" b="0" i="0">
                <a:solidFill>
                  <a:srgbClr val="1C2433"/>
                </a:solidFill>
                <a:latin typeface="Calibri"/>
              </a:rPr>
              <a:t>, an aws that fails if called). Delta on S3 and </a:t>
            </a:r>
            <a:r>
              <a:rPr sz="1100" b="0" i="0">
                <a:solidFill>
                  <a:srgbClr val="0E7C86"/>
                </a:solidFill>
                <a:latin typeface="Consolas"/>
              </a:rPr>
              <a:t>lake publish</a:t>
            </a:r>
            <a:r>
              <a:rPr sz="1200" b="0" i="0">
                <a:solidFill>
                  <a:srgbClr val="1C2433"/>
                </a:solidFill>
                <a:latin typeface="Calibri"/>
              </a:rPr>
              <a:t> on moto, three publishes at once; official results to S3 on S3Mock in both formats (</a:t>
            </a:r>
            <a:r>
              <a:rPr sz="1100" b="0" i="0">
                <a:solidFill>
                  <a:srgbClr val="0E7C86"/>
                </a:solidFill>
                <a:latin typeface="Consolas"/>
              </a:rPr>
              <a:t>OfficialS3Test</a:t>
            </a:r>
            <a:r>
              <a:rPr sz="1200" b="0" i="0">
                <a:solidFill>
                  <a:srgbClr val="1C2433"/>
                </a:solidFill>
                <a:latin typeface="Calibri"/>
              </a:rPr>
              <a:t>); VaR and exposure equal on Delta and Iceberg to the cent (</a:t>
            </a:r>
            <a:r>
              <a:rPr sz="1100" b="0" i="0">
                <a:solidFill>
                  <a:srgbClr val="0E7C86"/>
                </a:solidFill>
                <a:latin typeface="Consolas"/>
              </a:rPr>
              <a:t>VarFormatEqualityTest</a:t>
            </a:r>
            <a:r>
              <a:rPr sz="1200" b="0" i="0">
                <a:solidFill>
                  <a:srgbClr val="1C2433"/>
                </a:solidFill>
                <a:latin typeface="Calibri"/>
              </a:rPr>
              <a:t>, </a:t>
            </a:r>
            <a:r>
              <a:rPr sz="1100" b="0" i="0">
                <a:solidFill>
                  <a:srgbClr val="0E7C86"/>
                </a:solidFill>
                <a:latin typeface="Consolas"/>
              </a:rPr>
              <a:t>ExposureFormatEqualityTest</a:t>
            </a:r>
            <a:r>
              <a:rPr sz="1200" b="0" i="0">
                <a:solidFill>
                  <a:srgbClr val="1C2433"/>
                </a:solidFill>
                <a:latin typeface="Calibri"/>
              </a:rPr>
              <a:t>); sharded VaR equal to one server (</a:t>
            </a:r>
            <a:r>
              <a:rPr sz="1100" b="0" i="0">
                <a:solidFill>
                  <a:srgbClr val="0E7C86"/>
                </a:solidFill>
                <a:latin typeface="Consolas"/>
              </a:rPr>
              <a:t>VarShardClusterTest</a:t>
            </a:r>
            <a:r>
              <a:rPr sz="1200" b="0" i="0">
                <a:solidFill>
                  <a:srgbClr val="1C2433"/>
                </a:solidFill>
                <a:latin typeface="Calibri"/>
              </a:rPr>
              <a:t>); the connector upgrade (</a:t>
            </a:r>
            <a:r>
              <a:rPr sz="1100" b="0" i="0">
                <a:solidFill>
                  <a:srgbClr val="0E7C86"/>
                </a:solidFill>
                <a:latin typeface="Consolas"/>
              </a:rPr>
              <a:t>ConnectorUpgradeTest</a:t>
            </a:r>
            <a:r>
              <a:rPr sz="1200" b="0" i="0">
                <a:solidFill>
                  <a:srgbClr val="1C2433"/>
                </a:solidFill>
                <a:latin typeface="Calibri"/>
              </a:rPr>
              <a:t>).</a:t>
            </a:r>
          </a:p>
          <a:p>
            <a:pPr algn="l">
              <a:spcAft>
                <a:spcPts val="600"/>
              </a:spcAft>
              <a:buNone/>
            </a:pPr>
            <a:r>
              <a:rPr sz="1200" b="1" i="0">
                <a:solidFill>
                  <a:srgbClr val="1C2433"/>
                </a:solidFill>
                <a:latin typeface="Calibri"/>
              </a:rPr>
              <a:t>Not yet: the first run in a real AWS account (steps 0–11 and the runbooks); the Glue and S3 Tables live runs. Every number marked ESTIMATED waits for it.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Built (1/2): the lake on S3</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5 · evidence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55</a:t>
            </a:r>
          </a:p>
        </p:txBody>
      </p:sp>
      <p:graphicFrame>
        <p:nvGraphicFramePr>
          <p:cNvPr id="10" name="Table"/>
          <p:cNvGraphicFramePr>
            <a:graphicFrameLocks noGrp="1"/>
          </p:cNvGraphicFramePr>
          <p:nvPr/>
        </p:nvGraphicFramePr>
        <p:xfrm>
          <a:off x="411480" y="1143000"/>
          <a:ext cx="11365992" cy="4535424"/>
        </p:xfrm>
        <a:graphic>
          <a:graphicData uri="http://schemas.openxmlformats.org/drawingml/2006/table">
            <a:tbl>
              <a:tblPr firstRow="0" bandRow="0">
                <a:tableStyleId>{5940675A-B579-460E-94D1-54222C63F5DA}</a:tableStyleId>
              </a:tblPr>
              <a:tblGrid>
                <a:gridCol w="7223760"/>
                <a:gridCol w="4142232"/>
              </a:tblGrid>
              <a:tr h="566928">
                <a:tc>
                  <a:txBody>
                    <a:bodyPr wrap="square"/>
                    <a:lstStyle/>
                    <a:p>
                      <a:r>
                        <a:rPr sz="1200" b="1" i="0">
                          <a:solidFill>
                            <a:srgbClr val="FFFFFF"/>
                          </a:solidFill>
                          <a:latin typeface="Calibri"/>
                        </a:rPr>
                        <a:t>Capability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Where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66928">
                <a:tc>
                  <a:txBody>
                    <a:bodyPr wrap="square"/>
                    <a:lstStyle/>
                    <a:p>
                      <a:r>
                        <a:rPr sz="1200" b="1" i="0">
                          <a:solidFill>
                            <a:srgbClr val="1C2433"/>
                          </a:solidFill>
                          <a:latin typeface="Calibri"/>
                        </a:rPr>
                        <a:t>Reading Delta tables in S3: file lists from the last checkpoint, id maps, one row group per read, footers cached, documents cached on disk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drishti-deltalake, drishti-lakeio, plugins/drishti-plugin-delta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100" b="1" i="0">
                          <a:solidFill>
                            <a:srgbClr val="0E7C86"/>
                          </a:solidFill>
                          <a:latin typeface="Consolas"/>
                        </a:rPr>
                        <a:t>lake build</a:t>
                      </a:r>
                      <a:r>
                        <a:rPr sz="1200" b="1" i="0">
                          <a:solidFill>
                            <a:srgbClr val="1C2433"/>
                          </a:solidFill>
                          <a:latin typeface="Calibri"/>
                        </a:rPr>
                        <a:t>: JSON Lines into a Delta table on local disk or EFS: promoted and vector columns, partitions, sorted by id per batch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tools/lake/build.py, the Java writer in the server jar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100" b="1" i="0">
                          <a:solidFill>
                            <a:srgbClr val="0E7C86"/>
                          </a:solidFill>
                          <a:latin typeface="Consolas"/>
                        </a:rPr>
                        <a:t>lake publish</a:t>
                      </a:r>
                      <a:r>
                        <a:rPr sz="1200" b="1" i="0">
                          <a:solidFill>
                            <a:srgbClr val="1C2433"/>
                          </a:solidFill>
                          <a:latin typeface="Calibri"/>
                        </a:rPr>
                        <a:t>: a built table committed into an S3 table as ONE commit (S3 conditional writes)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tools/lake/publish.py, test_publish.py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100" b="1" i="0">
                          <a:solidFill>
                            <a:srgbClr val="0E7C86"/>
                          </a:solidFill>
                          <a:latin typeface="Consolas"/>
                        </a:rPr>
                        <a:t>lake maintain</a:t>
                      </a:r>
                      <a:r>
                        <a:rPr sz="1200" b="1" i="0">
                          <a:solidFill>
                            <a:srgbClr val="1C2433"/>
                          </a:solidFill>
                          <a:latin typeface="Calibri"/>
                        </a:rPr>
                        <a:t> on </a:t>
                      </a:r>
                      <a:r>
                        <a:rPr sz="1100" b="1" i="0">
                          <a:solidFill>
                            <a:srgbClr val="0E7C86"/>
                          </a:solidFill>
                          <a:latin typeface="Consolas"/>
                        </a:rPr>
                        <a:t>s3://</a:t>
                      </a:r>
                      <a:r>
                        <a:rPr sz="1200" b="1" i="0">
                          <a:solidFill>
                            <a:srgbClr val="1C2433"/>
                          </a:solidFill>
                          <a:latin typeface="Calibri"/>
                        </a:rPr>
                        <a:t>: retention, checkpoint, vacuum; relayout of the per-source trade tables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tools/lake/maintain.py (</a:t>
                      </a:r>
                      <a:r>
                        <a:rPr sz="1100" b="0" i="0">
                          <a:solidFill>
                            <a:srgbClr val="0E7C86"/>
                          </a:solidFill>
                          <a:latin typeface="Consolas"/>
                        </a:rPr>
                        <a:t>--force-foreign</a:t>
                      </a:r>
                      <a:r>
                        <a:rPr sz="12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200" b="1" i="0">
                          <a:solidFill>
                            <a:srgbClr val="1C2433"/>
                          </a:solidFill>
                          <a:latin typeface="Calibri"/>
                        </a:rPr>
                        <a:t>Buckets, IAM, conditional-write check, lifecycle tiers, alarms, report, load, backfill, maintenance, EFS, Cloud Map, task definitions, schedules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deploy/aws/ (dry-run tested)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200" b="1" i="0">
                          <a:solidFill>
                            <a:srgbClr val="1C2433"/>
                          </a:solidFill>
                          <a:latin typeface="Calibri"/>
                        </a:rPr>
                        <a:t>ECS images (server, console, loader) and entry points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deploy/docker/ecs/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200" b="1" i="0">
                          <a:solidFill>
                            <a:srgbClr val="1C2433"/>
                          </a:solidFill>
                          <a:latin typeface="Calibri"/>
                        </a:rPr>
                        <a:t>Drishti*net shards by table; replicas send one entity to the same node by a hash of its id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DRISHTI_NET.md §7, §10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Built (2/2): history, risk, Iceberg, sharding, the loader</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5 · evidence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56</a:t>
            </a:r>
          </a:p>
        </p:txBody>
      </p:sp>
      <p:graphicFrame>
        <p:nvGraphicFramePr>
          <p:cNvPr id="10" name="Table"/>
          <p:cNvGraphicFramePr>
            <a:graphicFrameLocks noGrp="1"/>
          </p:cNvGraphicFramePr>
          <p:nvPr/>
        </p:nvGraphicFramePr>
        <p:xfrm>
          <a:off x="411480" y="1143000"/>
          <a:ext cx="11365992" cy="5029200"/>
        </p:xfrm>
        <a:graphic>
          <a:graphicData uri="http://schemas.openxmlformats.org/drawingml/2006/table">
            <a:tbl>
              <a:tblPr firstRow="0" bandRow="0">
                <a:tableStyleId>{5940675A-B579-460E-94D1-54222C63F5DA}</a:tableStyleId>
              </a:tblPr>
              <a:tblGrid>
                <a:gridCol w="7589520"/>
                <a:gridCol w="3776472"/>
              </a:tblGrid>
              <a:tr h="457200">
                <a:tc>
                  <a:txBody>
                    <a:bodyPr wrap="square"/>
                    <a:lstStyle/>
                    <a:p>
                      <a:r>
                        <a:rPr sz="1100" b="1" i="0">
                          <a:solidFill>
                            <a:srgbClr val="FFFFFF"/>
                          </a:solidFill>
                          <a:latin typeface="Calibri"/>
                        </a:rPr>
                        <a:t>Capability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Where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57200">
                <a:tc>
                  <a:txBody>
                    <a:bodyPr wrap="square"/>
                    <a:lstStyle/>
                    <a:p>
                      <a:r>
                        <a:rPr sz="1100" b="1" i="0">
                          <a:solidFill>
                            <a:srgbClr val="1C2433"/>
                          </a:solidFill>
                          <a:latin typeface="Calibri"/>
                        </a:rPr>
                        <a:t>History queries over the lake (</a:t>
                      </a:r>
                      <a:r>
                        <a:rPr sz="1100" b="1" i="0">
                          <a:solidFill>
                            <a:srgbClr val="0E7C86"/>
                          </a:solidFill>
                          <a:latin typeface="Consolas"/>
                        </a:rPr>
                        <a:t>TRD &lt;id&gt; 30</a:t>
                      </a:r>
                      <a:r>
                        <a:rPr sz="1100" b="1" i="0">
                          <a:solidFill>
                            <a:srgbClr val="1C2433"/>
                          </a:solidFill>
                          <a:latin typeface="Calibri"/>
                        </a:rPr>
                        <a:t>, </a:t>
                      </a:r>
                      <a:r>
                        <a:rPr sz="1100" b="1" i="0">
                          <a:solidFill>
                            <a:srgbClr val="0E7C86"/>
                          </a:solidFill>
                          <a:latin typeface="Consolas"/>
                        </a:rPr>
                        <a:t>knownAt</a:t>
                      </a:r>
                      <a:r>
                        <a:rPr sz="1100" b="1" i="0">
                          <a:solidFill>
                            <a:srgbClr val="1C2433"/>
                          </a:solidFill>
                          <a:latin typeface="Calibri"/>
                        </a:rPr>
                        <a:t>), the Delta fast path, across Drishti*net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HISTORY_QUERIES.md, DELTA_CONNECTOR.md §8</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100" b="1" i="0">
                          <a:solidFill>
                            <a:srgbClr val="1C2433"/>
                          </a:solidFill>
                          <a:latin typeface="Calibri"/>
                        </a:rPr>
                        <a:t>Delta and Iceberg side by side, per source system; Drishti*net gossip on its own port, peer data over HTTP/2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build_demo_lakes.py </a:t>
                      </a:r>
                      <a:r>
                        <a:rPr sz="1100" b="0" i="0">
                          <a:solidFill>
                            <a:srgbClr val="0E7C86"/>
                          </a:solidFill>
                          <a:latin typeface="Consolas"/>
                        </a:rPr>
                        <a:t>--store</a:t>
                      </a:r>
                      <a:r>
                        <a:rPr sz="1100" b="0" i="0">
                          <a:solidFill>
                            <a:srgbClr val="1C2433"/>
                          </a:solidFill>
                          <a:latin typeface="Calibri"/>
                        </a:rPr>
                        <a:t>; NET.md §4, §7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100" b="1" i="0">
                          <a:solidFill>
                            <a:srgbClr val="1C2433"/>
                          </a:solidFill>
                          <a:latin typeface="Calibri"/>
                        </a:rPr>
                        <a:t>Content store with an S3 backend (conditional PUT, ETag); S3 on S3Mock, moto, MinIO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CONTENT_STORE.md, TOOLS.md §4.12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100" b="1" i="0">
                          <a:solidFill>
                            <a:srgbClr val="1C2433"/>
                          </a:solidFill>
                          <a:latin typeface="Calibri"/>
                        </a:rPr>
                        <a:t>Vector columns </a:t>
                      </a:r>
                      <a:r>
                        <a:rPr sz="1100" b="1" i="0">
                          <a:solidFill>
                            <a:srgbClr val="0E7C86"/>
                          </a:solidFill>
                          <a:latin typeface="Consolas"/>
                        </a:rPr>
                        <a:t>list&lt;double&gt;</a:t>
                      </a:r>
                      <a:r>
                        <a:rPr sz="1100" b="1" i="0">
                          <a:solidFill>
                            <a:srgbClr val="1C2433"/>
                          </a:solidFill>
                          <a:latin typeface="Calibri"/>
                        </a:rPr>
                        <a:t>; VaR and </a:t>
                      </a:r>
                      <a:r>
                        <a:rPr sz="1100" b="1" i="0">
                          <a:solidFill>
                            <a:srgbClr val="0E7C86"/>
                          </a:solidFill>
                          <a:latin typeface="Consolas"/>
                        </a:rPr>
                        <a:t>exposure-path</a:t>
                      </a:r>
                      <a:r>
                        <a:rPr sz="1100" b="1" i="0">
                          <a:solidFill>
                            <a:srgbClr val="1C2433"/>
                          </a:solidFill>
                          <a:latin typeface="Calibri"/>
                        </a:rPr>
                        <a:t> inputs in </a:t>
                      </a:r>
                      <a:r>
                        <a:rPr sz="1100" b="1" i="0">
                          <a:solidFill>
                            <a:srgbClr val="0E7C86"/>
                          </a:solidFill>
                          <a:latin typeface="Consolas"/>
                        </a:rPr>
                        <a:t>risk/</a:t>
                      </a:r>
                      <a:r>
                        <a:rPr sz="1100" b="1" i="0">
                          <a:solidFill>
                            <a:srgbClr val="1C2433"/>
                          </a:solidFill>
                          <a:latin typeface="Calibri"/>
                        </a:rPr>
                        <a:t>; 7-year floor; official results append-only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VAR_GUIDE.md §15, §19, §29; EXPOSURE_GUIDE.md §15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100" b="1" i="0">
                          <a:solidFill>
                            <a:srgbClr val="1C2433"/>
                          </a:solidFill>
                          <a:latin typeface="Calibri"/>
                        </a:rPr>
                        <a:t>JSON Lines standard; CSV deprecated; official results as JSONL; scenario PVs; intraday and Kafka batches; DATAMAP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DATA_FORMATS.md, VAR_GUIDE.md §8.4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100" b="1" i="0">
                          <a:solidFill>
                            <a:srgbClr val="1C2433"/>
                          </a:solidFill>
                          <a:latin typeface="Calibri"/>
                        </a:rPr>
                        <a:t>Official results straight to </a:t>
                      </a:r>
                      <a:r>
                        <a:rPr sz="1100" b="1" i="0">
                          <a:solidFill>
                            <a:srgbClr val="0E7C86"/>
                          </a:solidFill>
                          <a:latin typeface="Consolas"/>
                        </a:rPr>
                        <a:t>s3://</a:t>
                      </a:r>
                      <a:r>
                        <a:rPr sz="1100" b="1" i="0">
                          <a:solidFill>
                            <a:srgbClr val="1C2433"/>
                          </a:solidFill>
                          <a:latin typeface="Calibri"/>
                        </a:rPr>
                        <a:t>, Delta (default) or Iceberg; each Delta commit an exclusive create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VAR_GUIDE.md §19, AWS_DEPLOYMENT.md §22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100" b="1" i="0">
                          <a:solidFill>
                            <a:srgbClr val="1C2433"/>
                          </a:solidFill>
                          <a:latin typeface="Calibri"/>
                        </a:rPr>
                        <a:t>Iceberg a full alternative: VaR, intraday, exposure, official; </a:t>
                      </a:r>
                      <a:r>
                        <a:rPr sz="1100" b="1" i="0">
                          <a:solidFill>
                            <a:srgbClr val="0E7C86"/>
                          </a:solidFill>
                          <a:latin typeface="Consolas"/>
                        </a:rPr>
                        <a:t>deploy/aws/iceberg/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ICEBERG_CONNECTOR.md §18–19</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100" b="1" i="0">
                          <a:solidFill>
                            <a:srgbClr val="1C2433"/>
                          </a:solidFill>
                          <a:latin typeface="Calibri"/>
                        </a:rPr>
                        <a:t>Connector upgrades: unedited files follow the pack, edited ones gain keys; hierarchies by columns, </a:t>
                      </a:r>
                      <a:r>
                        <a:rPr sz="1100" b="1" i="0">
                          <a:solidFill>
                            <a:srgbClr val="0E7C86"/>
                          </a:solidFill>
                          <a:latin typeface="Consolas"/>
                        </a:rPr>
                        <a:t>var-limit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CONNECTOR_FILES.md, VAR_GUIDE.md §5.2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100" b="1" i="0">
                          <a:solidFill>
                            <a:srgbClr val="1C2433"/>
                          </a:solidFill>
                          <a:latin typeface="Calibri"/>
                        </a:rPr>
                        <a:t>VaR sharded across Drishti*net: shards of legal entity and desk ranges, two owners each, partial vectors added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VAR_SHARDING.md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100" b="1" i="0">
                          <a:solidFill>
                            <a:srgbClr val="1C2433"/>
                          </a:solidFill>
                          <a:latin typeface="Calibri"/>
                        </a:rPr>
                        <a:t>The parallel Java loader: JSON Lines (folder or S3) into Delta or Iceberg, one commit per date, shard-aligned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PARALLEL_LOADER.md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Iceberg as built, and where each piece is tested</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5 · evidence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57</a:t>
            </a:r>
          </a:p>
        </p:txBody>
      </p:sp>
      <p:graphicFrame>
        <p:nvGraphicFramePr>
          <p:cNvPr id="10" name="Table"/>
          <p:cNvGraphicFramePr>
            <a:graphicFrameLocks noGrp="1"/>
          </p:cNvGraphicFramePr>
          <p:nvPr/>
        </p:nvGraphicFramePr>
        <p:xfrm>
          <a:off x="411480" y="1097280"/>
          <a:ext cx="11365991" cy="4206240"/>
        </p:xfrm>
        <a:graphic>
          <a:graphicData uri="http://schemas.openxmlformats.org/drawingml/2006/table">
            <a:tbl>
              <a:tblPr firstRow="0" bandRow="0">
                <a:tableStyleId>{5940675A-B579-460E-94D1-54222C63F5DA}</a:tableStyleId>
              </a:tblPr>
              <a:tblGrid>
                <a:gridCol w="6400799"/>
                <a:gridCol w="4965192"/>
              </a:tblGrid>
              <a:tr h="420624">
                <a:tc>
                  <a:txBody>
                    <a:bodyPr wrap="square"/>
                    <a:lstStyle/>
                    <a:p>
                      <a:r>
                        <a:rPr sz="1100" b="1" i="0">
                          <a:solidFill>
                            <a:srgbClr val="FFFFFF"/>
                          </a:solidFill>
                          <a:latin typeface="Calibri"/>
                        </a:rPr>
                        <a:t>Piece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Where, and how it is tested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20624">
                <a:tc>
                  <a:txBody>
                    <a:bodyPr wrap="square"/>
                    <a:lstStyle/>
                    <a:p>
                      <a:r>
                        <a:rPr sz="1100" b="1" i="0">
                          <a:solidFill>
                            <a:srgbClr val="1C2433"/>
                          </a:solidFill>
                          <a:latin typeface="Calibri"/>
                        </a:rPr>
                        <a:t>drishti-iceberg, no Hadoop: metadata, manifests, planning with pruning, field-id reads, deletes, time travel; the writer (Parquet with field ids and metrics, manifests, commits)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drishti-iceberg</a:t>
                      </a:r>
                      <a:r>
                        <a:rPr sz="1100" b="0" i="0">
                          <a:solidFill>
                            <a:srgbClr val="1C2433"/>
                          </a:solidFill>
                          <a:latin typeface="Calibri"/>
                        </a:rPr>
                        <a:t>, </a:t>
                      </a:r>
                      <a:r>
                        <a:rPr sz="1100" b="0" i="0">
                          <a:solidFill>
                            <a:srgbClr val="0E7C86"/>
                          </a:solidFill>
                          <a:latin typeface="Consolas"/>
                        </a:rPr>
                        <a:t>drishti-lakeio</a:t>
                      </a:r>
                      <a:r>
                        <a:rPr sz="1100" b="0" i="0">
                          <a:solidFill>
                            <a:srgbClr val="1C2433"/>
                          </a:solidFill>
                          <a:latin typeface="Calibri"/>
                        </a:rPr>
                        <a:t>; pyiceberg interop both ways; a class loader that refuses Hadoop; </a:t>
                      </a:r>
                      <a:r>
                        <a:rPr sz="1100" b="0" i="0">
                          <a:solidFill>
                            <a:srgbClr val="0E7C86"/>
                          </a:solidFill>
                          <a:latin typeface="Consolas"/>
                        </a:rPr>
                        <a:t>NativeCommitTest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0624">
                <a:tc>
                  <a:txBody>
                    <a:bodyPr wrap="square"/>
                    <a:lstStyle/>
                    <a:p>
                      <a:r>
                        <a:rPr sz="1100" b="1" i="0">
                          <a:solidFill>
                            <a:srgbClr val="0E7C86"/>
                          </a:solidFill>
                          <a:latin typeface="Consolas"/>
                        </a:rPr>
                        <a:t>iceberg</a:t>
                      </a:r>
                      <a:r>
                        <a:rPr sz="1100" b="1" i="0">
                          <a:solidFill>
                            <a:srgbClr val="1C2433"/>
                          </a:solidFill>
                          <a:latin typeface="Calibri"/>
                        </a:rPr>
                        <a:t> connector: id maps, column sets, type-ahead, history days, BI scan, data versions, </a:t>
                      </a:r>
                      <a:r>
                        <a:rPr sz="1100" b="1" i="1">
                          <a:solidFill>
                            <a:srgbClr val="1C2433"/>
                          </a:solidFill>
                          <a:latin typeface="Calibri"/>
                        </a:rPr>
                        <a:t>known at</a:t>
                      </a:r>
                      <a:r>
                        <a:rPr sz="1100" b="1" i="0">
                          <a:solidFill>
                            <a:srgbClr val="1C2433"/>
                          </a:solidFill>
                          <a:latin typeface="Calibri"/>
                        </a:rPr>
                        <a:t>; </a:t>
                      </a:r>
                      <a:r>
                        <a:rPr sz="1100" b="1" i="0">
                          <a:solidFill>
                            <a:srgbClr val="0E7C86"/>
                          </a:solidFill>
                          <a:latin typeface="Consolas"/>
                        </a:rPr>
                        <a:t>vectors()</a:t>
                      </a:r>
                      <a:r>
                        <a:rPr sz="1100" b="1" i="0">
                          <a:solidFill>
                            <a:srgbClr val="1C2433"/>
                          </a:solidFill>
                          <a:latin typeface="Calibri"/>
                        </a:rPr>
                        <a:t>, </a:t>
                      </a:r>
                      <a:r>
                        <a:rPr sz="1100" b="1" i="0">
                          <a:solidFill>
                            <a:srgbClr val="0E7C86"/>
                          </a:solidFill>
                          <a:latin typeface="Consolas"/>
                        </a:rPr>
                        <a:t>documents()</a:t>
                      </a:r>
                      <a:r>
                        <a:rPr sz="1100" b="1" i="0">
                          <a:solidFill>
                            <a:srgbClr val="1C2433"/>
                          </a:solidFill>
                          <a:latin typeface="Calibri"/>
                        </a:rPr>
                        <a:t>, </a:t>
                      </a:r>
                      <a:r>
                        <a:rPr sz="1100" b="1" i="0">
                          <a:solidFill>
                            <a:srgbClr val="0E7C86"/>
                          </a:solidFill>
                          <a:latin typeface="Consolas"/>
                        </a:rPr>
                        <a:t>tableIdentity()</a:t>
                      </a:r>
                      <a:r>
                        <a:rPr sz="1100" b="1" i="0">
                          <a:solidFill>
                            <a:srgbClr val="1C2433"/>
                          </a:solidFill>
                          <a:latin typeface="Calibri"/>
                        </a:rPr>
                        <a:t>, </a:t>
                      </a:r>
                      <a:r>
                        <a:rPr sz="1100" b="1" i="0">
                          <a:solidFill>
                            <a:srgbClr val="0E7C86"/>
                          </a:solidFill>
                          <a:latin typeface="Consolas"/>
                        </a:rPr>
                        <a:t>inventory()</a:t>
                      </a:r>
                      <a:r>
                        <a:rPr sz="1100" b="1" i="0">
                          <a:solidFill>
                            <a:srgbClr val="1C2433"/>
                          </a:solidFill>
                          <a:latin typeface="Calibri"/>
                        </a:rPr>
                        <a:t>, </a:t>
                      </a:r>
                      <a:r>
                        <a:rPr sz="1100" b="1" i="0">
                          <a:solidFill>
                            <a:srgbClr val="0E7C86"/>
                          </a:solidFill>
                          <a:latin typeface="Consolas"/>
                        </a:rPr>
                        <a:t>refreshVersions()</a:t>
                      </a:r>
                      <a:r>
                        <a:rPr sz="1100" b="1" i="0">
                          <a:solidFill>
                            <a:srgbClr val="1C2433"/>
                          </a:solidFill>
                          <a:latin typeface="Calibri"/>
                        </a:rPr>
                        <a:t>; disk caches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plugins/drishti-plugin-iceberg</a:t>
                      </a:r>
                      <a:r>
                        <a:rPr sz="1100" b="0" i="0">
                          <a:solidFill>
                            <a:srgbClr val="1C2433"/>
                          </a:solidFill>
                          <a:latin typeface="Calibri"/>
                        </a:rPr>
                        <a:t>; every plugin test on both engines; </a:t>
                      </a:r>
                      <a:r>
                        <a:rPr sz="1100" b="0" i="0">
                          <a:solidFill>
                            <a:srgbClr val="0E7C86"/>
                          </a:solidFill>
                          <a:latin typeface="Consolas"/>
                        </a:rPr>
                        <a:t>IcebergParityTest</a:t>
                      </a:r>
                      <a:r>
                        <a:rPr sz="1100" b="0" i="0">
                          <a:solidFill>
                            <a:srgbClr val="1C2433"/>
                          </a:solidFill>
                          <a:latin typeface="Calibri"/>
                        </a:rPr>
                        <a:t>, </a:t>
                      </a:r>
                      <a:r>
                        <a:rPr sz="1100" b="0" i="0">
                          <a:solidFill>
                            <a:srgbClr val="0E7C86"/>
                          </a:solidFill>
                          <a:latin typeface="Consolas"/>
                        </a:rPr>
                        <a:t>IcebergVectorsTest</a:t>
                      </a:r>
                      <a:r>
                        <a:rPr sz="1100" b="0" i="0">
                          <a:solidFill>
                            <a:srgbClr val="1C2433"/>
                          </a:solidFill>
                          <a:latin typeface="Calibri"/>
                        </a:rPr>
                        <a:t>, </a:t>
                      </a:r>
                      <a:r>
                        <a:rPr sz="1100" b="0" i="0">
                          <a:solidFill>
                            <a:srgbClr val="0E7C86"/>
                          </a:solidFill>
                          <a:latin typeface="Consolas"/>
                        </a:rPr>
                        <a:t>IcebergDiskCacheTest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0624">
                <a:tc>
                  <a:txBody>
                    <a:bodyPr wrap="square"/>
                    <a:lstStyle/>
                    <a:p>
                      <a:r>
                        <a:rPr sz="1100" b="1" i="0">
                          <a:solidFill>
                            <a:srgbClr val="0E7C86"/>
                          </a:solidFill>
                          <a:latin typeface="Consolas"/>
                        </a:rPr>
                        <a:t>iceberg-external</a:t>
                      </a:r>
                      <a:r>
                        <a:rPr sz="1100" b="1" i="0">
                          <a:solidFill>
                            <a:srgbClr val="1C2433"/>
                          </a:solidFill>
                          <a:latin typeface="Calibri"/>
                        </a:rPr>
                        <a:t>: anyone's tables, read-only; rows as documents, identifier fields, every column searchable, id index, </a:t>
                      </a:r>
                      <a:r>
                        <a:rPr sz="1100" b="1" i="0">
                          <a:solidFill>
                            <a:srgbClr val="0E7C86"/>
                          </a:solidFill>
                          <a:latin typeface="Consolas"/>
                        </a:rPr>
                        <a:t>tables: auto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IcebergExternalPluginTest</a:t>
                      </a:r>
                      <a:r>
                        <a:rPr sz="1100" b="0" i="0">
                          <a:solidFill>
                            <a:srgbClr val="1C2433"/>
                          </a:solidFill>
                          <a:latin typeface="Calibri"/>
                        </a:rPr>
                        <a:t> on pyiceberg-written fixtures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0624">
                <a:tc>
                  <a:txBody>
                    <a:bodyPr wrap="square"/>
                    <a:lstStyle/>
                    <a:p>
                      <a:r>
                        <a:rPr sz="1100" b="1" i="0">
                          <a:solidFill>
                            <a:srgbClr val="1C2433"/>
                          </a:solidFill>
                          <a:latin typeface="Calibri"/>
                        </a:rPr>
                        <a:t>Iceberg tables in S3 via the AWS SDK: the loader writes, the connector reads, commits by conditional PUT; TLS, private CA and proxy for the object store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S3Mock (in-process and Docker), MinIO; racing writers on MinIO only; never real AWS 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0624">
                <a:tc>
                  <a:txBody>
                    <a:bodyPr wrap="square"/>
                    <a:lstStyle/>
                    <a:p>
                      <a:r>
                        <a:rPr sz="1100" b="1" i="0">
                          <a:solidFill>
                            <a:srgbClr val="1C2433"/>
                          </a:solidFill>
                          <a:latin typeface="Calibri"/>
                        </a:rPr>
                        <a:t>REST catalogs (OAuth2, ETag, vended credentials), incl. Glue's Iceberg endpoint and S3 Tables (SigV4)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REST protocol tests; </a:t>
                      </a:r>
                      <a:r>
                        <a:rPr sz="1100" b="0" i="0">
                          <a:solidFill>
                            <a:srgbClr val="0E7C86"/>
                          </a:solidFill>
                          <a:latin typeface="Consolas"/>
                        </a:rPr>
                        <a:t>SigV4Test</a:t>
                      </a:r>
                      <a:r>
                        <a:rPr sz="1100" b="0" i="0">
                          <a:solidFill>
                            <a:srgbClr val="1C2433"/>
                          </a:solidFill>
                          <a:latin typeface="Calibri"/>
                        </a:rPr>
                        <a:t>; </a:t>
                      </a:r>
                      <a:r>
                        <a:rPr sz="1100" b="0" i="0">
                          <a:solidFill>
                            <a:srgbClr val="0E7C86"/>
                          </a:solidFill>
                          <a:latin typeface="Consolas"/>
                        </a:rPr>
                        <a:t>GlueLiveTest</a:t>
                      </a:r>
                      <a:r>
                        <a:rPr sz="1100" b="0" i="0">
                          <a:solidFill>
                            <a:srgbClr val="1C2433"/>
                          </a:solidFill>
                          <a:latin typeface="Calibri"/>
                        </a:rPr>
                        <a:t> written, NOT RUN on AWS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0624">
                <a:tc>
                  <a:txBody>
                    <a:bodyPr wrap="square"/>
                    <a:lstStyle/>
                    <a:p>
                      <a:r>
                        <a:rPr sz="1100" b="1" i="0">
                          <a:solidFill>
                            <a:srgbClr val="1C2433"/>
                          </a:solidFill>
                          <a:latin typeface="Calibri"/>
                        </a:rPr>
                        <a:t>Mixed storage per source system (</a:t>
                      </a:r>
                      <a:r>
                        <a:rPr sz="1100" b="1" i="0">
                          <a:solidFill>
                            <a:srgbClr val="0E7C86"/>
                          </a:solidFill>
                          <a:latin typeface="Consolas"/>
                        </a:rPr>
                        <a:t>--store calypso=iceberg</a:t>
                      </a:r>
                      <a:r>
                        <a:rPr sz="1100" b="1"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tools/lake/stores.py</a:t>
                      </a:r>
                      <a:r>
                        <a:rPr sz="1100" b="0" i="0">
                          <a:solidFill>
                            <a:srgbClr val="1C2433"/>
                          </a:solidFill>
                          <a:latin typeface="Calibri"/>
                        </a:rPr>
                        <a:t>; equality test: 18 answers the same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0624">
                <a:tc>
                  <a:txBody>
                    <a:bodyPr wrap="square"/>
                    <a:lstStyle/>
                    <a:p>
                      <a:r>
                        <a:rPr sz="1100" b="1" i="0">
                          <a:solidFill>
                            <a:srgbClr val="0E7C86"/>
                          </a:solidFill>
                          <a:latin typeface="Consolas"/>
                        </a:rPr>
                        <a:t>IcebergLoader</a:t>
                      </a:r>
                      <a:r>
                        <a:rPr sz="1100" b="1" i="0">
                          <a:solidFill>
                            <a:srgbClr val="1C2433"/>
                          </a:solidFill>
                          <a:latin typeface="Calibri"/>
                        </a:rPr>
                        <a:t>, </a:t>
                      </a:r>
                      <a:r>
                        <a:rPr sz="1100" b="1" i="0">
                          <a:solidFill>
                            <a:srgbClr val="0E7C86"/>
                          </a:solidFill>
                          <a:latin typeface="Consolas"/>
                        </a:rPr>
                        <a:t>IcebergMaintenance</a:t>
                      </a:r>
                      <a:r>
                        <a:rPr sz="1100" b="1" i="0">
                          <a:solidFill>
                            <a:srgbClr val="1C2433"/>
                          </a:solidFill>
                          <a:latin typeface="Calibri"/>
                        </a:rPr>
                        <a:t> on both engines; </a:t>
                      </a:r>
                      <a:r>
                        <a:rPr sz="1100" b="1" i="0">
                          <a:solidFill>
                            <a:srgbClr val="0E7C86"/>
                          </a:solidFill>
                          <a:latin typeface="Consolas"/>
                        </a:rPr>
                        <a:t>load-iceberg.sh</a:t>
                      </a:r>
                      <a:r>
                        <a:rPr sz="1100" b="1" i="0">
                          <a:solidFill>
                            <a:srgbClr val="1C2433"/>
                          </a:solidFill>
                          <a:latin typeface="Calibri"/>
                        </a:rPr>
                        <a:t> and </a:t>
                      </a:r>
                      <a:r>
                        <a:rPr sz="1100" b="1" i="0">
                          <a:solidFill>
                            <a:srgbClr val="0E7C86"/>
                          </a:solidFill>
                          <a:latin typeface="Consolas"/>
                        </a:rPr>
                        <a:t>.ps1</a:t>
                      </a:r>
                      <a:r>
                        <a:rPr sz="1100" b="1" i="0">
                          <a:solidFill>
                            <a:srgbClr val="1C2433"/>
                          </a:solidFill>
                          <a:latin typeface="Calibri"/>
                        </a:rPr>
                        <a:t> (Windows); orphan files, Admin → Lakes, the 7-year floor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IcebergOrphanFilesTest</a:t>
                      </a:r>
                      <a:r>
                        <a:rPr sz="1100" b="0" i="0">
                          <a:solidFill>
                            <a:srgbClr val="1C2433"/>
                          </a:solidFill>
                          <a:latin typeface="Calibri"/>
                        </a:rPr>
                        <a:t>, </a:t>
                      </a:r>
                      <a:r>
                        <a:rPr sz="1100" b="0" i="0">
                          <a:solidFill>
                            <a:srgbClr val="0E7C86"/>
                          </a:solidFill>
                          <a:latin typeface="Consolas"/>
                        </a:rPr>
                        <a:t>test_maintain_iceberg.py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0624">
                <a:tc>
                  <a:txBody>
                    <a:bodyPr wrap="square"/>
                    <a:lstStyle/>
                    <a:p>
                      <a:r>
                        <a:rPr sz="1100" b="1" i="0">
                          <a:solidFill>
                            <a:srgbClr val="0E7C86"/>
                          </a:solidFill>
                          <a:latin typeface="Consolas"/>
                        </a:rPr>
                        <a:t>deploy/aws/iceberg/</a:t>
                      </a:r>
                      <a:r>
                        <a:rPr sz="1100" b="1" i="0">
                          <a:solidFill>
                            <a:srgbClr val="1C2433"/>
                          </a:solidFill>
                          <a:latin typeface="Calibri"/>
                        </a:rPr>
                        <a:t>: load, backfill, maintain, lifecycle, alarms, report, IAM, Glue check; with the shared ECS images, EFS access points, Cloud Map, IAM roles and buckets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--help</a:t>
                      </a:r>
                      <a:r>
                        <a:rPr sz="1100" b="0" i="0">
                          <a:solidFill>
                            <a:srgbClr val="1C2433"/>
                          </a:solidFill>
                          <a:latin typeface="Calibri"/>
                        </a:rPr>
                        <a:t> and </a:t>
                      </a:r>
                      <a:r>
                        <a:rPr sz="1100" b="0" i="0">
                          <a:solidFill>
                            <a:srgbClr val="0E7C86"/>
                          </a:solidFill>
                          <a:latin typeface="Consolas"/>
                        </a:rPr>
                        <a:t>--dry-run</a:t>
                      </a:r>
                      <a:r>
                        <a:rPr sz="1100" b="0" i="0">
                          <a:solidFill>
                            <a:srgbClr val="1C2433"/>
                          </a:solidFill>
                          <a:latin typeface="Calibri"/>
                        </a:rPr>
                        <a:t> in </a:t>
                      </a:r>
                      <a:r>
                        <a:rPr sz="1100" b="0" i="0">
                          <a:solidFill>
                            <a:srgbClr val="0E7C86"/>
                          </a:solidFill>
                          <a:latin typeface="Consolas"/>
                        </a:rPr>
                        <a:t>test_deploy_aws.py</a:t>
                      </a:r>
                      <a:r>
                        <a:rPr sz="1100" b="0" i="0">
                          <a:solidFill>
                            <a:srgbClr val="1C2433"/>
                          </a:solidFill>
                          <a:latin typeface="Calibri"/>
                        </a:rPr>
                        <a:t>; first real run pending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0624">
                <a:tc>
                  <a:txBody>
                    <a:bodyPr wrap="square"/>
                    <a:lstStyle/>
                    <a:p>
                      <a:r>
                        <a:rPr sz="1100" b="1" i="0">
                          <a:solidFill>
                            <a:srgbClr val="1C2433"/>
                          </a:solidFill>
                          <a:latin typeface="Calibri"/>
                        </a:rPr>
                        <a:t>VaR, intraday and exposure from Iceberg; official results to Delta or Iceberg, disk or </a:t>
                      </a:r>
                      <a:r>
                        <a:rPr sz="1100" b="1" i="0">
                          <a:solidFill>
                            <a:srgbClr val="0E7C86"/>
                          </a:solidFill>
                          <a:latin typeface="Consolas"/>
                        </a:rPr>
                        <a:t>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VarFormatEqualityTest</a:t>
                      </a:r>
                      <a:r>
                        <a:rPr sz="1100" b="0" i="0">
                          <a:solidFill>
                            <a:srgbClr val="1C2433"/>
                          </a:solidFill>
                          <a:latin typeface="Calibri"/>
                        </a:rPr>
                        <a:t>, </a:t>
                      </a:r>
                      <a:r>
                        <a:rPr sz="1100" b="0" i="0">
                          <a:solidFill>
                            <a:srgbClr val="0E7C86"/>
                          </a:solidFill>
                          <a:latin typeface="Consolas"/>
                        </a:rPr>
                        <a:t>ExposureFormatEqualityTest</a:t>
                      </a:r>
                      <a:r>
                        <a:rPr sz="1100" b="0" i="0">
                          <a:solidFill>
                            <a:srgbClr val="1C2433"/>
                          </a:solidFill>
                          <a:latin typeface="Calibri"/>
                        </a:rPr>
                        <a:t>: Delta = Iceberg to the cent; </a:t>
                      </a:r>
                      <a:r>
                        <a:rPr sz="1100" b="0" i="0">
                          <a:solidFill>
                            <a:srgbClr val="0E7C86"/>
                          </a:solidFill>
                          <a:latin typeface="Consolas"/>
                        </a:rPr>
                        <a:t>LakeAppendsTest</a:t>
                      </a:r>
                      <a:r>
                        <a:rPr sz="1100" b="0" i="0">
                          <a:solidFill>
                            <a:srgbClr val="1C2433"/>
                          </a:solidFill>
                          <a:latin typeface="Calibri"/>
                        </a:rPr>
                        <a:t>; </a:t>
                      </a:r>
                      <a:r>
                        <a:rPr sz="1100" b="0" i="0">
                          <a:solidFill>
                            <a:srgbClr val="0E7C86"/>
                          </a:solidFill>
                          <a:latin typeface="Consolas"/>
                        </a:rPr>
                        <a:t>OfficialS3Test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S3 on three simulators, no Docker: what each test proves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5 · evidence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58</a:t>
            </a:r>
          </a:p>
        </p:txBody>
      </p:sp>
      <p:graphicFrame>
        <p:nvGraphicFramePr>
          <p:cNvPr id="10" name="Table"/>
          <p:cNvGraphicFramePr>
            <a:graphicFrameLocks noGrp="1"/>
          </p:cNvGraphicFramePr>
          <p:nvPr/>
        </p:nvGraphicFramePr>
        <p:xfrm>
          <a:off x="411480" y="1097280"/>
          <a:ext cx="11365992" cy="2944368"/>
        </p:xfrm>
        <a:graphic>
          <a:graphicData uri="http://schemas.openxmlformats.org/drawingml/2006/table">
            <a:tbl>
              <a:tblPr firstRow="0" bandRow="0">
                <a:tableStyleId>{5940675A-B579-460E-94D1-54222C63F5DA}</a:tableStyleId>
              </a:tblPr>
              <a:tblGrid>
                <a:gridCol w="3017520"/>
                <a:gridCol w="2743200"/>
                <a:gridCol w="3776472"/>
                <a:gridCol w="1828800"/>
              </a:tblGrid>
              <a:tr h="420624">
                <a:tc>
                  <a:txBody>
                    <a:bodyPr wrap="square"/>
                    <a:lstStyle/>
                    <a:p>
                      <a:r>
                        <a:rPr sz="1100" b="1" i="0">
                          <a:solidFill>
                            <a:srgbClr val="FFFFFF"/>
                          </a:solidFill>
                          <a:latin typeface="Calibri"/>
                        </a:rPr>
                        <a:t>Test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Simulator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What it proves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Runs 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20624">
                <a:tc>
                  <a:txBody>
                    <a:bodyPr wrap="square"/>
                    <a:lstStyle/>
                    <a:p>
                      <a:r>
                        <a:rPr sz="1100" b="1" i="0">
                          <a:solidFill>
                            <a:srgbClr val="0E7C86"/>
                          </a:solidFill>
                          <a:latin typeface="Consolas"/>
                        </a:rPr>
                        <a:t>NativeOnS3SimulatorTest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Adobe S3Mock 4.12.4 in the JVM; MinIO binary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Iceberg loader writes, the connector reads a table in S3; writers at once where atomic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Linux, Windows (S3Mock)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0624">
                <a:tc>
                  <a:txBody>
                    <a:bodyPr wrap="square"/>
                    <a:lstStyle/>
                    <a:p>
                      <a:r>
                        <a:rPr sz="1100" b="1" i="0">
                          <a:solidFill>
                            <a:srgbClr val="0E7C86"/>
                          </a:solidFill>
                          <a:latin typeface="Consolas"/>
                        </a:rPr>
                        <a:t>NativeOnS3Test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S3Mock image; MinIO image (Testcontainers)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same; the commit probe decides single-writer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where Docker is reachable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0624">
                <a:tc>
                  <a:txBody>
                    <a:bodyPr wrap="square"/>
                    <a:lstStyle/>
                    <a:p>
                      <a:r>
                        <a:rPr sz="1100" b="1" i="0">
                          <a:solidFill>
                            <a:srgbClr val="0E7C86"/>
                          </a:solidFill>
                          <a:latin typeface="Consolas"/>
                        </a:rPr>
                        <a:t>S3MockContentStoreTest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S3Mock in the JVM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content store on 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Linux, Windows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0624">
                <a:tc>
                  <a:txBody>
                    <a:bodyPr wrap="square"/>
                    <a:lstStyle/>
                    <a:p>
                      <a:r>
                        <a:rPr sz="1100" b="1" i="0">
                          <a:solidFill>
                            <a:srgbClr val="0E7C86"/>
                          </a:solidFill>
                          <a:latin typeface="Consolas"/>
                        </a:rPr>
                        <a:t>tools/lake/test_s3_simulators.py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moto 5.2.3 (pure Python); MinIO binary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1" i="0">
                          <a:solidFill>
                            <a:srgbClr val="1C2433"/>
                          </a:solidFill>
                          <a:latin typeface="Calibri"/>
                        </a:rPr>
                        <a:t>Delta</a:t>
                      </a:r>
                      <a:r>
                        <a:rPr sz="1100" b="0" i="0">
                          <a:solidFill>
                            <a:srgbClr val="1C2433"/>
                          </a:solidFill>
                          <a:latin typeface="Calibri"/>
                        </a:rPr>
                        <a:t> on S3; </a:t>
                      </a:r>
                      <a:r>
                        <a:rPr sz="1100" b="0" i="0">
                          <a:solidFill>
                            <a:srgbClr val="0E7C86"/>
                          </a:solidFill>
                          <a:latin typeface="Consolas"/>
                        </a:rPr>
                        <a:t>lake publish</a:t>
                      </a:r>
                      <a:r>
                        <a:rPr sz="1100" b="0" i="0">
                          <a:solidFill>
                            <a:srgbClr val="1C2433"/>
                          </a:solidFill>
                          <a:latin typeface="Calibri"/>
                        </a:rPr>
                        <a:t>: new table, a day restated, a missing file refused, three at once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Linux, Windows (moto)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0624">
                <a:tc>
                  <a:txBody>
                    <a:bodyPr wrap="square"/>
                    <a:lstStyle/>
                    <a:p>
                      <a:r>
                        <a:rPr sz="1100" b="1" i="0">
                          <a:solidFill>
                            <a:srgbClr val="0E7C86"/>
                          </a:solidFill>
                          <a:latin typeface="Consolas"/>
                        </a:rPr>
                        <a:t>OfficialS3Test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S3Mock in the JVM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official results to </a:t>
                      </a:r>
                      <a:r>
                        <a:rPr sz="1100" b="0" i="0">
                          <a:solidFill>
                            <a:srgbClr val="0E7C86"/>
                          </a:solidFill>
                          <a:latin typeface="Consolas"/>
                        </a:rPr>
                        <a:t>s3://</a:t>
                      </a:r>
                      <a:r>
                        <a:rPr sz="1100" b="0" i="0">
                          <a:solidFill>
                            <a:srgbClr val="1C2433"/>
                          </a:solidFill>
                          <a:latin typeface="Calibri"/>
                        </a:rPr>
                        <a:t> in Delta and Iceberg; two writers in sequence; the exclusive create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Linux, Windows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0624">
                <a:tc>
                  <a:txBody>
                    <a:bodyPr wrap="square"/>
                    <a:lstStyle/>
                    <a:p>
                      <a:r>
                        <a:rPr sz="1100" b="1" i="0">
                          <a:solidFill>
                            <a:srgbClr val="0E7C86"/>
                          </a:solidFill>
                          <a:latin typeface="Consolas"/>
                        </a:rPr>
                        <a:t>check-conditional-writes.sh</a:t>
                      </a:r>
                      <a:r>
                        <a:rPr sz="1100" b="1" i="0">
                          <a:solidFill>
                            <a:srgbClr val="1C2433"/>
                          </a:solidFill>
                          <a:latin typeface="Calibri"/>
                        </a:rPr>
                        <a:t> (</a:t>
                      </a:r>
                      <a:r>
                        <a:rPr sz="1100" b="1" i="0">
                          <a:solidFill>
                            <a:srgbClr val="0E7C86"/>
                          </a:solidFill>
                          <a:latin typeface="Consolas"/>
                        </a:rPr>
                        <a:t>delta-lake/</a:t>
                      </a:r>
                      <a:r>
                        <a:rPr sz="1100" b="1" i="0">
                          <a:solidFill>
                            <a:srgbClr val="1C2433"/>
                          </a:solidFill>
                          <a:latin typeface="Calibri"/>
                        </a:rPr>
                        <a:t>, </a:t>
                      </a:r>
                      <a:r>
                        <a:rPr sz="1100" b="1" i="0">
                          <a:solidFill>
                            <a:srgbClr val="0E7C86"/>
                          </a:solidFill>
                          <a:latin typeface="Consolas"/>
                        </a:rPr>
                        <a:t>iceberg/</a:t>
                      </a:r>
                      <a:r>
                        <a:rPr sz="1100" b="1"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your real bucket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bucket refuses a second create (412): the probe both formats rely 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AWS (first run pending)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1" name="TextBox 10"/>
          <p:cNvSpPr txBox="1"/>
          <p:nvPr/>
        </p:nvSpPr>
        <p:spPr>
          <a:xfrm>
            <a:off x="411480" y="4343400"/>
            <a:ext cx="11365992" cy="548640"/>
          </a:xfrm>
          <a:prstGeom prst="rect">
            <a:avLst/>
          </a:prstGeom>
          <a:noFill/>
        </p:spPr>
        <p:txBody>
          <a:bodyPr wrap="square" lIns="0" rIns="0" tIns="0" bIns="0" anchor="t">
            <a:spAutoFit/>
          </a:bodyPr>
          <a:lstStyle/>
          <a:p>
            <a:pPr algn="l">
              <a:spcAft>
                <a:spcPts val="600"/>
              </a:spcAft>
              <a:buNone/>
            </a:pPr>
            <a:r>
              <a:rPr sz="1200" b="1" i="0">
                <a:solidFill>
                  <a:srgbClr val="1C2433"/>
                </a:solidFill>
                <a:latin typeface="Calibri"/>
              </a:rPr>
              <a:t>Conditional writes honoured:</a:t>
            </a:r>
            <a:r>
              <a:rPr sz="1200" b="0" i="0">
                <a:solidFill>
                  <a:srgbClr val="1C2433"/>
                </a:solidFill>
                <a:latin typeface="Calibri"/>
              </a:rPr>
              <a:t> S3Mock: create-only, update-if-match, delete-if-match, racing creates not atomic · moto: all three, racing creates one winner · MinIO: all, the most faithful (binary needed; skipped with the reason). Each suite probes and prints its line first.</a:t>
            </a:r>
          </a:p>
        </p:txBody>
      </p:sp>
      <p:sp>
        <p:nvSpPr>
          <p:cNvPr id="12" name="Code block"/>
          <p:cNvSpPr/>
          <p:nvPr/>
        </p:nvSpPr>
        <p:spPr>
          <a:xfrm>
            <a:off x="411480" y="4919472"/>
            <a:ext cx="11365992" cy="54864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
          <p:cNvSpPr txBox="1"/>
          <p:nvPr/>
        </p:nvSpPr>
        <p:spPr>
          <a:xfrm>
            <a:off x="521208" y="4983480"/>
            <a:ext cx="11146536" cy="420623"/>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./mvnw -q -pl drishti-identity,plugins/drishti-plugin-iceberg -am test -Dtest='S3MockContentStoreTest,NativeOnS3SimulatorTest' …</a:t>
            </a:r>
          </a:p>
          <a:p>
            <a:pPr>
              <a:spcAft>
                <a:spcPts val="0"/>
              </a:spcAft>
              <a:buNone/>
            </a:pPr>
            <a:r>
              <a:rPr sz="1100" b="0" i="0">
                <a:solidFill>
                  <a:srgbClr val="E6EDF3"/>
                </a:solidFill>
                <a:latin typeface="Consolas"/>
              </a:rPr>
              <a:t>drishti-console/.venv/bin/python -m unittest -v tools/lake/test_s3_simulators.py    </a:t>
            </a:r>
            <a:r>
              <a:rPr sz="1100" b="0" i="0">
                <a:solidFill>
                  <a:srgbClr val="8B9BB4"/>
                </a:solidFill>
                <a:latin typeface="Consolas"/>
              </a:rPr>
              <a:t>  # moto: Delta and lake publish</a:t>
            </a:r>
          </a:p>
        </p:txBody>
      </p:sp>
      <p:sp>
        <p:nvSpPr>
          <p:cNvPr id="14" name="Callout"/>
          <p:cNvSpPr/>
          <p:nvPr/>
        </p:nvSpPr>
        <p:spPr>
          <a:xfrm>
            <a:off x="411480" y="5559552"/>
            <a:ext cx="11365992" cy="822960"/>
          </a:xfrm>
          <a:prstGeom prst="roundRect">
            <a:avLst>
              <a:gd name="adj" fmla="val 6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allout edge"/>
          <p:cNvSpPr/>
          <p:nvPr/>
        </p:nvSpPr>
        <p:spPr>
          <a:xfrm>
            <a:off x="411480" y="5577840"/>
            <a:ext cx="82296" cy="786384"/>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640080" y="5632704"/>
            <a:ext cx="11000232" cy="676656"/>
          </a:xfrm>
          <a:prstGeom prst="rect">
            <a:avLst/>
          </a:prstGeom>
          <a:noFill/>
        </p:spPr>
        <p:txBody>
          <a:bodyPr wrap="square" lIns="0" rIns="0" tIns="0" bIns="0" anchor="ctr">
            <a:spAutoFit/>
          </a:bodyPr>
          <a:lstStyle/>
          <a:p>
            <a:pPr algn="l">
              <a:spcAft>
                <a:spcPts val="600"/>
              </a:spcAft>
              <a:buNone/>
            </a:pPr>
            <a:r>
              <a:rPr sz="1200" b="1" i="0">
                <a:solidFill>
                  <a:srgbClr val="1C2433"/>
                </a:solidFill>
                <a:latin typeface="Calibri"/>
              </a:rPr>
              <a:t>Not yet proven on AWS:</a:t>
            </a:r>
            <a:r>
              <a:rPr sz="1200" b="0" i="0">
                <a:solidFill>
                  <a:srgbClr val="1C2433"/>
                </a:solidFill>
                <a:latin typeface="Calibri"/>
              </a:rPr>
              <a:t> no table has been written to a real S3 bucket or committed through a real Glue catalog. First step of any production plan: </a:t>
            </a:r>
            <a:r>
              <a:rPr sz="1100" b="0" i="0">
                <a:solidFill>
                  <a:srgbClr val="0E7C86"/>
                </a:solidFill>
                <a:latin typeface="Consolas"/>
              </a:rPr>
              <a:t>check-conditional-writes.sh</a:t>
            </a:r>
            <a:r>
              <a:rPr sz="1200" b="0" i="0">
                <a:solidFill>
                  <a:srgbClr val="1C2433"/>
                </a:solidFill>
                <a:latin typeface="Calibri"/>
              </a:rPr>
              <a:t>, then </a:t>
            </a:r>
            <a:r>
              <a:rPr sz="1100" b="0" i="0">
                <a:solidFill>
                  <a:srgbClr val="0E7C86"/>
                </a:solidFill>
                <a:latin typeface="Consolas"/>
              </a:rPr>
              <a:t>check-glue.sh</a:t>
            </a:r>
            <a:r>
              <a:rPr sz="1200" b="0" i="0">
                <a:solidFill>
                  <a:srgbClr val="1C2433"/>
                </a:solidFill>
                <a:latin typeface="Calibri"/>
              </a:rPr>
              <a:t> against a development bucket (PROPOSED). Fixed: </a:t>
            </a:r>
            <a:r>
              <a:rPr sz="1100" b="0" i="0">
                <a:solidFill>
                  <a:srgbClr val="0E7C86"/>
                </a:solidFill>
                <a:latin typeface="Consolas"/>
              </a:rPr>
              <a:t>lake publish --storage-option AWS_ENDPOINT_URL=…</a:t>
            </a:r>
            <a:r>
              <a:rPr sz="1200" b="0" i="0">
                <a:solidFill>
                  <a:srgbClr val="1C2433"/>
                </a:solidFill>
                <a:latin typeface="Calibri"/>
              </a:rPr>
              <a:t> checks the files on that endpoint, as the commit does.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evidence: Delta = Iceberg, to the cent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5 · evidence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59</a:t>
            </a:r>
          </a:p>
        </p:txBody>
      </p:sp>
      <p:graphicFrame>
        <p:nvGraphicFramePr>
          <p:cNvPr id="10" name="Table 9"/>
          <p:cNvGraphicFramePr>
            <a:graphicFrameLocks noGrp="1"/>
          </p:cNvGraphicFramePr>
          <p:nvPr/>
        </p:nvGraphicFramePr>
        <p:xfrm>
          <a:off x="411480" y="1143000"/>
          <a:ext cx="11365992" cy="2389630"/>
        </p:xfrm>
        <a:graphic>
          <a:graphicData uri="http://schemas.openxmlformats.org/drawingml/2006/table">
            <a:tbl>
              <a:tblPr firstRow="1" bandRow="1">
                <a:tableStyleId>{5940675A-B579-460E-94D1-54222C63F5DA}</a:tableStyleId>
              </a:tblPr>
              <a:tblGrid>
                <a:gridCol w="3291840"/>
                <a:gridCol w="6519672"/>
                <a:gridCol w="1554480"/>
              </a:tblGrid>
              <a:tr h="435254">
                <a:tc>
                  <a:txBody>
                    <a:bodyPr wrap="square"/>
                    <a:lstStyle/>
                    <a:p>
                      <a:pPr algn="l">
                        <a:lnSpc>
                          <a:spcPct val="100000"/>
                        </a:lnSpc>
                      </a:pPr>
                      <a:r>
                        <a:rPr sz="1200" b="1" i="0">
                          <a:solidFill>
                            <a:srgbClr val="FFFFFF"/>
                          </a:solidFill>
                          <a:latin typeface="Calibri"/>
                        </a:rPr>
                        <a:t>Test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Same lines, Delta lake and Iceberg lake, one connector switched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Equal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648614">
                <a:tc>
                  <a:txBody>
                    <a:bodyPr wrap="square"/>
                    <a:lstStyle/>
                    <a:p>
                      <a:pPr algn="l">
                        <a:lnSpc>
                          <a:spcPct val="100000"/>
                        </a:lnSpc>
                      </a:pPr>
                      <a:r>
                        <a:rPr sz="1100" b="1" i="0">
                          <a:solidFill>
                            <a:srgbClr val="0E7C86"/>
                          </a:solidFill>
                          <a:latin typeface="Consolas"/>
                        </a:rPr>
                        <a:t>VarFormatEqualityTest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VaR, ES, component and incremental VaR, worst scenarios, limits; every scope incl. the limit letters; USD and EUR; intraday file batches applied live; official records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to the cent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100" b="1" i="0">
                          <a:solidFill>
                            <a:srgbClr val="0E7C86"/>
                          </a:solidFill>
                          <a:latin typeface="Consolas"/>
                        </a:rPr>
                        <a:t>ExposureFormatEqualityTest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EE, PFE, EPE, profiles, contributions; official records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to the cent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100" b="1" i="0">
                          <a:solidFill>
                            <a:srgbClr val="0E7C86"/>
                          </a:solidFill>
                          <a:latin typeface="Consolas"/>
                        </a:rPr>
                        <a:t>LakeAppendsTest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Kafka PV stream's window: one Iceberg append (on Delta, as before)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applied live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100" b="1" i="0">
                          <a:solidFill>
                            <a:srgbClr val="0E7C86"/>
                          </a:solidFill>
                          <a:latin typeface="Consolas"/>
                        </a:rPr>
                        <a:t>IcebergParityTest</a:t>
                      </a:r>
                      <a:r>
                        <a:rPr sz="1200" b="1" i="0">
                          <a:solidFill>
                            <a:srgbClr val="1C2433"/>
                          </a:solidFill>
                          <a:latin typeface="Calibri"/>
                        </a:rPr>
                        <a:t>, </a:t>
                      </a:r>
                      <a:r>
                        <a:rPr sz="1100" b="1" i="0">
                          <a:solidFill>
                            <a:srgbClr val="0E7C86"/>
                          </a:solidFill>
                          <a:latin typeface="Consolas"/>
                        </a:rPr>
                        <a:t>IcebergVectorsTest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documents, vectors (both engines), identity, inventory against the Delta connector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bit for bit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graphicFrame>
        <p:nvGraphicFramePr>
          <p:cNvPr id="11" name="Table 10"/>
          <p:cNvGraphicFramePr>
            <a:graphicFrameLocks noGrp="1"/>
          </p:cNvGraphicFramePr>
          <p:nvPr/>
        </p:nvGraphicFramePr>
        <p:xfrm>
          <a:off x="411480" y="4069080"/>
          <a:ext cx="9326880" cy="1954376"/>
        </p:xfrm>
        <a:graphic>
          <a:graphicData uri="http://schemas.openxmlformats.org/drawingml/2006/table">
            <a:tbl>
              <a:tblPr firstRow="1" bandRow="1">
                <a:tableStyleId>{5940675A-B579-460E-94D1-54222C63F5DA}</a:tableStyleId>
              </a:tblPr>
              <a:tblGrid>
                <a:gridCol w="3657600"/>
                <a:gridCol w="1737360"/>
                <a:gridCol w="2194560"/>
                <a:gridCol w="1737360"/>
              </a:tblGrid>
              <a:tr h="435254">
                <a:tc>
                  <a:txBody>
                    <a:bodyPr wrap="square"/>
                    <a:lstStyle/>
                    <a:p>
                      <a:pPr algn="l">
                        <a:lnSpc>
                          <a:spcPct val="100000"/>
                        </a:lnSpc>
                      </a:pPr>
                      <a:r>
                        <a:rPr sz="1200" b="1" i="0">
                          <a:solidFill>
                            <a:srgbClr val="FFFFFF"/>
                          </a:solidFill>
                          <a:latin typeface="Calibri"/>
                        </a:rPr>
                        <a:t>On the demo data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Delta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Label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35254">
                <a:tc>
                  <a:txBody>
                    <a:bodyPr wrap="square"/>
                    <a:lstStyle/>
                    <a:p>
                      <a:pPr algn="l">
                        <a:lnSpc>
                          <a:spcPct val="100000"/>
                        </a:lnSpc>
                      </a:pPr>
                      <a:r>
                        <a:rPr sz="1100" b="1" i="0">
                          <a:solidFill>
                            <a:srgbClr val="0E7C86"/>
                          </a:solidFill>
                          <a:latin typeface="Consolas"/>
                        </a:rPr>
                        <a:t>VAR BANK</a:t>
                      </a:r>
                      <a:r>
                        <a:rPr sz="1200" b="1" i="0">
                          <a:solidFill>
                            <a:srgbClr val="1C2433"/>
                          </a:solidFill>
                          <a:latin typeface="Calibri"/>
                        </a:rPr>
                        <a:t>, 2026-09-30, USD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112,041,646</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112,041,646</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0E7C86"/>
                          </a:solidFill>
                          <a:latin typeface="Calibri"/>
                        </a:rPr>
                        <a:t>MEASURED (demo)</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8614">
                <a:tc>
                  <a:txBody>
                    <a:bodyPr wrap="square"/>
                    <a:lstStyle/>
                    <a:p>
                      <a:pPr algn="l">
                        <a:lnSpc>
                          <a:spcPct val="100000"/>
                        </a:lnSpc>
                      </a:pPr>
                      <a:r>
                        <a:rPr sz="1200" b="1" i="0">
                          <a:solidFill>
                            <a:srgbClr val="1C2433"/>
                          </a:solidFill>
                          <a:latin typeface="Calibri"/>
                        </a:rPr>
                        <a:t>The risk domain moved (</a:t>
                      </a:r>
                      <a:r>
                        <a:rPr sz="1100" b="1" i="0">
                          <a:solidFill>
                            <a:srgbClr val="0E7C86"/>
                          </a:solidFill>
                          <a:latin typeface="Consolas"/>
                        </a:rPr>
                        <a:t>--store risk=iceberg</a:t>
                      </a:r>
                      <a:r>
                        <a:rPr sz="1200" b="1"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14 tables, 955,124 rows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same, in 579 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0E7C86"/>
                          </a:solidFill>
                          <a:latin typeface="Calibri"/>
                        </a:rPr>
                        <a:t>MEASURED (demo)</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100" b="1" i="0">
                          <a:solidFill>
                            <a:srgbClr val="0E7C86"/>
                          </a:solidFill>
                          <a:latin typeface="Consolas"/>
                        </a:rPr>
                        <a:t>LL:LL-0003</a:t>
                      </a:r>
                      <a:r>
                        <a:rPr sz="1200" b="1" i="0">
                          <a:solidFill>
                            <a:srgbClr val="1C2433"/>
                          </a:solidFill>
                          <a:latin typeface="Calibri"/>
                        </a:rPr>
                        <a:t>, </a:t>
                      </a:r>
                      <a:r>
                        <a:rPr sz="1100" b="1" i="0">
                          <a:solidFill>
                            <a:srgbClr val="0E7C86"/>
                          </a:solidFill>
                          <a:latin typeface="Consolas"/>
                        </a:rPr>
                        <a:t>XPO BANK</a:t>
                      </a:r>
                      <a:r>
                        <a:rPr sz="1200" b="1" i="0">
                          <a:solidFill>
                            <a:srgbClr val="1C2433"/>
                          </a:solidFill>
                          <a:latin typeface="Calibri"/>
                        </a:rPr>
                        <a:t>, official records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answered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answered from 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0E7C86"/>
                          </a:solidFill>
                          <a:latin typeface="Calibri"/>
                        </a:rPr>
                        <a:t>MEASURED (demo)</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
        <p:nvSpPr>
          <p:cNvPr id="12" name="Rounded Rectangle 11"/>
          <p:cNvSpPr/>
          <p:nvPr/>
        </p:nvSpPr>
        <p:spPr>
          <a:xfrm>
            <a:off x="9921240" y="4069080"/>
            <a:ext cx="1856231" cy="2240280"/>
          </a:xfrm>
          <a:prstGeom prst="roundRect">
            <a:avLst>
              <a:gd name="adj" fmla="val 6000"/>
            </a:avLst>
          </a:prstGeom>
          <a:solidFill>
            <a:srgbClr val="E8F4F5"/>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ectangle 12"/>
          <p:cNvSpPr/>
          <p:nvPr/>
        </p:nvSpPr>
        <p:spPr>
          <a:xfrm>
            <a:off x="9921240" y="4069080"/>
            <a:ext cx="82296" cy="22402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10149840" y="4123944"/>
            <a:ext cx="1490472" cy="2130552"/>
          </a:xfrm>
          <a:prstGeom prst="rect">
            <a:avLst/>
          </a:prstGeom>
          <a:noFill/>
        </p:spPr>
        <p:txBody>
          <a:bodyPr wrap="square" lIns="45720" rIns="45720" tIns="27432" bIns="27432" anchor="ctr">
            <a:spAutoFit/>
          </a:bodyPr>
          <a:lstStyle/>
          <a:p>
            <a:pPr algn="l">
              <a:lnSpc>
                <a:spcPct val="105000"/>
              </a:lnSpc>
            </a:pPr>
            <a:r>
              <a:rPr sz="1150" b="1" i="0">
                <a:solidFill>
                  <a:srgbClr val="1C2433"/>
                </a:solidFill>
                <a:latin typeface="Calibri"/>
              </a:rPr>
              <a:t>Demo data, not bank scale.</a:t>
            </a:r>
            <a:r>
              <a:rPr sz="1150" b="0" i="0">
                <a:solidFill>
                  <a:srgbClr val="1C2433"/>
                </a:solidFill>
                <a:latin typeface="Calibri"/>
              </a:rPr>
              <a:t> The benchmark on both formats is </a:t>
            </a:r>
            <a:r>
              <a:rPr sz="1150" b="1" i="0">
                <a:solidFill>
                  <a:srgbClr val="1C2433"/>
                </a:solidFill>
                <a:latin typeface="Calibri"/>
              </a:rPr>
              <a:t>PLANNED</a:t>
            </a:r>
            <a:r>
              <a:rPr sz="1150" b="0" i="0">
                <a:solidFill>
                  <a:srgbClr val="1C2433"/>
                </a:solidFill>
                <a:latin typeface="Calibri"/>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What 2.3 million positions put in the lake each day</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5 · evidence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60</a:t>
            </a:r>
          </a:p>
        </p:txBody>
      </p:sp>
      <p:graphicFrame>
        <p:nvGraphicFramePr>
          <p:cNvPr id="10" name="Table"/>
          <p:cNvGraphicFramePr>
            <a:graphicFrameLocks noGrp="1"/>
          </p:cNvGraphicFramePr>
          <p:nvPr/>
        </p:nvGraphicFramePr>
        <p:xfrm>
          <a:off x="411480" y="1188720"/>
          <a:ext cx="7680960" cy="4727448"/>
        </p:xfrm>
        <a:graphic>
          <a:graphicData uri="http://schemas.openxmlformats.org/drawingml/2006/table">
            <a:tbl>
              <a:tblPr firstRow="0" bandRow="0">
                <a:tableStyleId>{5940675A-B579-460E-94D1-54222C63F5DA}</a:tableStyleId>
              </a:tblPr>
              <a:tblGrid>
                <a:gridCol w="2743200"/>
                <a:gridCol w="2468880"/>
                <a:gridCol w="1463040"/>
                <a:gridCol w="1005840"/>
              </a:tblGrid>
              <a:tr h="429768">
                <a:tc>
                  <a:txBody>
                    <a:bodyPr wrap="square"/>
                    <a:lstStyle/>
                    <a:p>
                      <a:r>
                        <a:rPr sz="1200" b="1" i="0">
                          <a:solidFill>
                            <a:srgbClr val="FFFFFF"/>
                          </a:solidFill>
                          <a:latin typeface="Calibri"/>
                        </a:rPr>
                        <a:t>Per business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Arithmetic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Result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Basis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29768">
                <a:tc>
                  <a:txBody>
                    <a:bodyPr wrap="square"/>
                    <a:lstStyle/>
                    <a:p>
                      <a:r>
                        <a:rPr sz="1200" b="1" i="0">
                          <a:solidFill>
                            <a:srgbClr val="1C2433"/>
                          </a:solidFill>
                          <a:latin typeface="Calibri"/>
                        </a:rPr>
                        <a:t>P&amp;L vectors, float64 (in the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2.3M × 509 × 8 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9.37 GB</a:t>
                      </a:r>
                      <a:r>
                        <a:rPr sz="1200" b="1" i="0">
                          <a:solidFill>
                            <a:srgbClr val="E87A1E"/>
                          </a:solidFill>
                          <a:latin typeface="Calibri"/>
                        </a:rPr>
                        <a:t>¹</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arithmetic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9768">
                <a:tc>
                  <a:txBody>
                    <a:bodyPr wrap="square"/>
                    <a:lstStyle/>
                    <a:p>
                      <a:r>
                        <a:rPr sz="1200" b="1" i="0">
                          <a:solidFill>
                            <a:srgbClr val="1C2433"/>
                          </a:solidFill>
                          <a:latin typeface="Calibri"/>
                        </a:rPr>
                        <a:t>… float32 (the hot copy)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2.3M × 509 × 4 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4.68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arithmetic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9768">
                <a:tc>
                  <a:txBody>
                    <a:bodyPr wrap="square"/>
                    <a:lstStyle/>
                    <a:p>
                      <a:r>
                        <a:rPr sz="1200" b="1" i="0">
                          <a:solidFill>
                            <a:srgbClr val="1C2433"/>
                          </a:solidFill>
                          <a:latin typeface="Calibri"/>
                        </a:rPr>
                        <a:t>… as Parquet (≈ 0.75 × raw)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9.37 GB × 0.75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 7.0 GB</a:t>
                      </a:r>
                      <a:r>
                        <a:rPr sz="1200" b="1" i="0">
                          <a:solidFill>
                            <a:srgbClr val="E87A1E"/>
                          </a:solidFill>
                          <a:latin typeface="Calibri"/>
                        </a:rPr>
                        <a:t>²</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ESTIMATED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9768">
                <a:tc>
                  <a:txBody>
                    <a:bodyPr wrap="square"/>
                    <a:lstStyle/>
                    <a:p>
                      <a:r>
                        <a:rPr sz="1200" b="1" i="0">
                          <a:solidFill>
                            <a:srgbClr val="1C2433"/>
                          </a:solidFill>
                          <a:latin typeface="Calibri"/>
                        </a:rPr>
                        <a:t>… a year; 7 years kept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 252; × 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 1.77 TB; ≈ 12.4 TB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ESTIMATED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9768">
                <a:tc>
                  <a:txBody>
                    <a:bodyPr wrap="square"/>
                    <a:lstStyle/>
                    <a:p>
                      <a:r>
                        <a:rPr sz="1200" b="1" i="0">
                          <a:solidFill>
                            <a:srgbClr val="1C2433"/>
                          </a:solidFill>
                          <a:latin typeface="Calibri"/>
                        </a:rPr>
                        <a:t>Partitions; files at 512–250 MB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1 (business_date); 7.02 GB ÷ 512–250 MB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1; ≈ 14–28 files</a:t>
                      </a:r>
                      <a:r>
                        <a:rPr sz="1200" b="1" i="0">
                          <a:solidFill>
                            <a:srgbClr val="E87A1E"/>
                          </a:solidFill>
                          <a:latin typeface="Calibri"/>
                        </a:rPr>
                        <a:t>³</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PROPOSED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9768">
                <a:tc>
                  <a:txBody>
                    <a:bodyPr wrap="square"/>
                    <a:lstStyle/>
                    <a:p>
                      <a:r>
                        <a:rPr sz="1200" b="1" i="0">
                          <a:solidFill>
                            <a:srgbClr val="1C2433"/>
                          </a:solidFill>
                          <a:latin typeface="Calibri"/>
                        </a:rPr>
                        <a:t>A cold read of the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7.02 GB ÷ 1 MB row groups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 7,000 GETs</a:t>
                      </a:r>
                      <a:r>
                        <a:rPr sz="1200" b="1" i="0">
                          <a:solidFill>
                            <a:srgbClr val="E87A1E"/>
                          </a:solidFill>
                          <a:latin typeface="Calibri"/>
                        </a:rPr>
                        <a:t>⁴</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arithmetic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9768">
                <a:tc>
                  <a:txBody>
                    <a:bodyPr wrap="square"/>
                    <a:lstStyle/>
                    <a:p>
                      <a:r>
                        <a:rPr sz="1200" b="1" i="0">
                          <a:solidFill>
                            <a:srgbClr val="1C2433"/>
                          </a:solidFill>
                          <a:latin typeface="Calibri"/>
                        </a:rPr>
                        <a:t>Portfolio definitions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15,000 rows a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small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arithmetic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9768">
                <a:tc>
                  <a:txBody>
                    <a:bodyPr wrap="square"/>
                    <a:lstStyle/>
                    <a:p>
                      <a:r>
                        <a:rPr sz="1200" b="1" i="0">
                          <a:solidFill>
                            <a:srgbClr val="1C2433"/>
                          </a:solidFill>
                          <a:latin typeface="Calibri"/>
                        </a:rPr>
                        <a:t>Every portfolio's vector, if stored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15k × 509 × 8 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 61 MB per currency</a:t>
                      </a:r>
                      <a:r>
                        <a:rPr sz="1200" b="1" i="0">
                          <a:solidFill>
                            <a:srgbClr val="E87A1E"/>
                          </a:solidFill>
                          <a:latin typeface="Calibri"/>
                        </a:rPr>
                        <a:t>⁵</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PROPOSED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9768">
                <a:tc>
                  <a:txBody>
                    <a:bodyPr wrap="square"/>
                    <a:lstStyle/>
                    <a:p>
                      <a:r>
                        <a:rPr sz="1200" b="1" i="0">
                          <a:solidFill>
                            <a:srgbClr val="1C2433"/>
                          </a:solidFill>
                          <a:latin typeface="Calibri"/>
                        </a:rPr>
                        <a:t>Kafka micro-batches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5-minute window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 12 commits an hour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arithmetic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9768">
                <a:tc>
                  <a:txBody>
                    <a:bodyPr wrap="square"/>
                    <a:lstStyle/>
                    <a:p>
                      <a:r>
                        <a:rPr sz="1200" b="1" i="0">
                          <a:solidFill>
                            <a:srgbClr val="1C2433"/>
                          </a:solidFill>
                          <a:latin typeface="Calibri"/>
                        </a:rPr>
                        <a:t>Intraday records on the topic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10,000 updates × 4–8 KB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40–80 MB a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guide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1" name="Callout"/>
          <p:cNvSpPr/>
          <p:nvPr/>
        </p:nvSpPr>
        <p:spPr>
          <a:xfrm>
            <a:off x="8321040" y="1188720"/>
            <a:ext cx="3456432" cy="237744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allout edge"/>
          <p:cNvSpPr/>
          <p:nvPr/>
        </p:nvSpPr>
        <p:spPr>
          <a:xfrm>
            <a:off x="8321040" y="1207008"/>
            <a:ext cx="82296" cy="2340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8549640" y="1261872"/>
            <a:ext cx="3090672" cy="223113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The risk lake is small next to the documents</a:t>
            </a:r>
          </a:p>
          <a:p>
            <a:pPr algn="l">
              <a:spcAft>
                <a:spcPts val="600"/>
              </a:spcAft>
              <a:buNone/>
            </a:pPr>
            <a:r>
              <a:rPr sz="1300" b="0" i="0">
                <a:solidFill>
                  <a:srgbClr val="1C2433"/>
                </a:solidFill>
                <a:latin typeface="Calibri"/>
              </a:rPr>
              <a:t>≈ 12.4 TB of VaR vectors over 7 years, against ≈ 200 TB of documents (slide 84). Exposure paths are the large table (slide 52).</a:t>
            </a:r>
          </a:p>
        </p:txBody>
      </p:sp>
      <p:sp>
        <p:nvSpPr>
          <p:cNvPr id="14" name="Callout"/>
          <p:cNvSpPr/>
          <p:nvPr/>
        </p:nvSpPr>
        <p:spPr>
          <a:xfrm>
            <a:off x="8321040" y="3749039"/>
            <a:ext cx="3456432" cy="224028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allout edge"/>
          <p:cNvSpPr/>
          <p:nvPr/>
        </p:nvSpPr>
        <p:spPr>
          <a:xfrm>
            <a:off x="8321040" y="3767327"/>
            <a:ext cx="82296" cy="220370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8549640" y="3822191"/>
            <a:ext cx="3090672" cy="209397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Position grain</a:t>
            </a:r>
          </a:p>
          <a:p>
            <a:pPr algn="l">
              <a:spcAft>
                <a:spcPts val="600"/>
              </a:spcAft>
              <a:buNone/>
            </a:pPr>
            <a:r>
              <a:rPr sz="1300" b="0" i="0">
                <a:solidFill>
                  <a:srgbClr val="1C2433"/>
                </a:solidFill>
                <a:latin typeface="Calibri"/>
              </a:rPr>
              <a:t>A system may send one row per position: rows = positions, so 2.3M rows a date whatever the trade count. 15,000 portfolios are far under the 100,000-row read limit.</a:t>
            </a:r>
          </a:p>
        </p:txBody>
      </p:sp>
      <p:sp>
        <p:nvSpPr>
          <p:cNvPr id="17" name="Footnotes"/>
          <p:cNvSpPr txBox="1"/>
          <p:nvPr/>
        </p:nvSpPr>
        <p:spPr>
          <a:xfrm>
            <a:off x="411480" y="6236208"/>
            <a:ext cx="11365992" cy="310896"/>
          </a:xfrm>
          <a:prstGeom prst="rect">
            <a:avLst/>
          </a:prstGeom>
          <a:noFill/>
        </p:spPr>
        <p:txBody>
          <a:bodyPr wrap="square" lIns="0" rIns="0" tIns="0" bIns="0" anchor="t">
            <a:spAutoFit/>
          </a:bodyPr>
          <a:lstStyle/>
          <a:p>
            <a:pPr algn="l">
              <a:lnSpc>
                <a:spcPct val="100000"/>
              </a:lnSpc>
              <a:spcAft>
                <a:spcPts val="0"/>
              </a:spcAft>
              <a:buNone/>
            </a:pPr>
            <a:r>
              <a:rPr sz="900" b="0" i="0">
                <a:solidFill>
                  <a:srgbClr val="5B677A"/>
                </a:solidFill>
                <a:latin typeface="Calibri"/>
              </a:rPr>
              <a:t>¹ 2.3M: bank scale (product owner); 509: the scenario set   ² × 0.75 Parquet ratio (VAR_GUIDE.md 27.4); 252 dates a year, 1,764 in 7   ³ ÷ 512–250 MB files (VAR_GUIDE.md 29.2)   ⁴ ÷ 1 MB row groups (LAKE_ROW_GROUP_KB)   ⁵ 15,000 portfolios: bank scale  Full derivations: slides 119–121.</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Seven years at bank scale: Delta against Iceberg</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5 · evidence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61</a:t>
            </a:r>
          </a:p>
        </p:txBody>
      </p:sp>
      <p:graphicFrame>
        <p:nvGraphicFramePr>
          <p:cNvPr id="10" name="Table 9"/>
          <p:cNvGraphicFramePr>
            <a:graphicFrameLocks noGrp="1"/>
          </p:cNvGraphicFramePr>
          <p:nvPr/>
        </p:nvGraphicFramePr>
        <p:xfrm>
          <a:off x="411480" y="1143000"/>
          <a:ext cx="11365992" cy="3571645"/>
        </p:xfrm>
        <a:graphic>
          <a:graphicData uri="http://schemas.openxmlformats.org/drawingml/2006/table">
            <a:tbl>
              <a:tblPr firstRow="1" bandRow="1">
                <a:tableStyleId>{5940675A-B579-460E-94D1-54222C63F5DA}</a:tableStyleId>
              </a:tblPr>
              <a:tblGrid>
                <a:gridCol w="2377440"/>
                <a:gridCol w="4480560"/>
                <a:gridCol w="4507992"/>
              </a:tblGrid>
              <a:tr h="331893">
                <a:tc>
                  <a:txBody>
                    <a:bodyPr wrap="square"/>
                    <a:lstStyle/>
                    <a:p>
                      <a:pPr algn="l">
                        <a:lnSpc>
                          <a:spcPct val="100000"/>
                        </a:lnSpc>
                      </a:pP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Delta (risk domain)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Iceberg (risk domain)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331893">
                <a:tc>
                  <a:txBody>
                    <a:bodyPr wrap="square"/>
                    <a:lstStyle/>
                    <a:p>
                      <a:pPr algn="l">
                        <a:lnSpc>
                          <a:spcPct val="100000"/>
                        </a:lnSpc>
                      </a:pPr>
                      <a:r>
                        <a:rPr sz="1150" b="1" i="0">
                          <a:solidFill>
                            <a:srgbClr val="1C2433"/>
                          </a:solidFill>
                          <a:latin typeface="Calibri"/>
                        </a:rPr>
                        <a:t>How 7 years are kept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log and removed files kept 2,557 days; checkpoints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keep every snapshot 7 years (</a:t>
                      </a:r>
                      <a:r>
                        <a:rPr sz="1050" b="0" i="0">
                          <a:solidFill>
                            <a:srgbClr val="0E7C86"/>
                          </a:solidFill>
                          <a:latin typeface="Consolas"/>
                        </a:rPr>
                        <a:t>--expire-hours</a:t>
                      </a:r>
                      <a:r>
                        <a:rPr sz="1150" b="0" i="0">
                          <a:solidFill>
                            <a:srgbClr val="1C2433"/>
                          </a:solidFill>
                          <a:latin typeface="Calibri"/>
                        </a:rPr>
                        <a:t> ≥ 61,368</a:t>
                      </a:r>
                      <a:r>
                        <a:rPr sz="1150" b="1" i="0">
                          <a:solidFill>
                            <a:srgbClr val="E87A1E"/>
                          </a:solidFill>
                          <a:latin typeface="Calibri"/>
                        </a:rPr>
                        <a:t>²</a:t>
                      </a:r>
                      <a:r>
                        <a:rPr sz="115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78045">
                <a:tc>
                  <a:txBody>
                    <a:bodyPr wrap="square"/>
                    <a:lstStyle/>
                    <a:p>
                      <a:pPr algn="l">
                        <a:lnSpc>
                          <a:spcPct val="100000"/>
                        </a:lnSpc>
                      </a:pPr>
                      <a:r>
                        <a:rPr sz="1150" b="1" i="0">
                          <a:solidFill>
                            <a:srgbClr val="1C2433"/>
                          </a:solidFill>
                          <a:latin typeface="Calibri"/>
                        </a:rPr>
                        <a:t>Data kept, 2.3M positions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1,764 dates × 7.02 GB ≈ </a:t>
                      </a:r>
                      <a:r>
                        <a:rPr sz="1150" b="1" i="0">
                          <a:solidFill>
                            <a:srgbClr val="1C2433"/>
                          </a:solidFill>
                          <a:latin typeface="Calibri"/>
                        </a:rPr>
                        <a:t>12.4 TB</a:t>
                      </a:r>
                      <a:r>
                        <a:rPr sz="1150" b="1" i="0">
                          <a:solidFill>
                            <a:srgbClr val="E87A1E"/>
                          </a:solidFill>
                          <a:latin typeface="Calibri"/>
                        </a:rPr>
                        <a:t>¹</a:t>
                      </a:r>
                      <a:r>
                        <a:rPr sz="1150" b="0" i="0">
                          <a:solidFill>
                            <a:srgbClr val="1C2433"/>
                          </a:solidFill>
                          <a:latin typeface="Calibri"/>
                        </a:rPr>
                        <a:t> of vector Parquet (+ replaced files of restated days)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the same ≈ </a:t>
                      </a:r>
                      <a:r>
                        <a:rPr sz="1150" b="1" i="0">
                          <a:solidFill>
                            <a:srgbClr val="1C2433"/>
                          </a:solidFill>
                          <a:latin typeface="Calibri"/>
                        </a:rPr>
                        <a:t>12.4 TB</a:t>
                      </a:r>
                      <a:r>
                        <a:rPr sz="1150" b="0" i="0">
                          <a:solidFill>
                            <a:srgbClr val="1C2433"/>
                          </a:solidFill>
                          <a:latin typeface="Calibri"/>
                        </a:rPr>
                        <a:t>: the data is format-neutral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31893">
                <a:tc>
                  <a:txBody>
                    <a:bodyPr wrap="square"/>
                    <a:lstStyle/>
                    <a:p>
                      <a:pPr algn="l">
                        <a:lnSpc>
                          <a:spcPct val="100000"/>
                        </a:lnSpc>
                      </a:pPr>
                      <a:r>
                        <a:rPr sz="1150" b="1" i="0">
                          <a:solidFill>
                            <a:srgbClr val="1C2433"/>
                          </a:solidFill>
                          <a:latin typeface="Calibri"/>
                        </a:rPr>
                        <a:t>Versions kept (full runs)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252 a year × 7 = </a:t>
                      </a:r>
                      <a:r>
                        <a:rPr sz="1150" b="1" i="0">
                          <a:solidFill>
                            <a:srgbClr val="1C2433"/>
                          </a:solidFill>
                          <a:latin typeface="Calibri"/>
                        </a:rPr>
                        <a:t>1,764</a:t>
                      </a:r>
                      <a:r>
                        <a:rPr sz="1150" b="0" i="0">
                          <a:solidFill>
                            <a:srgbClr val="1C2433"/>
                          </a:solidFill>
                          <a:latin typeface="Calibri"/>
                        </a:rPr>
                        <a:t> commits in the 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1" i="0">
                          <a:solidFill>
                            <a:srgbClr val="1C2433"/>
                          </a:solidFill>
                          <a:latin typeface="Calibri"/>
                        </a:rPr>
                        <a:t>1,764</a:t>
                      </a:r>
                      <a:r>
                        <a:rPr sz="1150" b="0" i="0">
                          <a:solidFill>
                            <a:srgbClr val="1C2433"/>
                          </a:solidFill>
                          <a:latin typeface="Calibri"/>
                        </a:rPr>
                        <a:t> snapshots listed in every metadata JSON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78045">
                <a:tc>
                  <a:txBody>
                    <a:bodyPr wrap="square"/>
                    <a:lstStyle/>
                    <a:p>
                      <a:pPr algn="l">
                        <a:lnSpc>
                          <a:spcPct val="100000"/>
                        </a:lnSpc>
                      </a:pPr>
                      <a:r>
                        <a:rPr sz="1150" b="1" i="0">
                          <a:solidFill>
                            <a:srgbClr val="1C2433"/>
                          </a:solidFill>
                          <a:latin typeface="Calibri"/>
                        </a:rPr>
                        <a:t>Intraday micro-batch commits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one small JSON per window per table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one snapshot per window per table (ASSUMPTION: the count depends on the window)</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31893">
                <a:tc>
                  <a:txBody>
                    <a:bodyPr wrap="square"/>
                    <a:lstStyle/>
                    <a:p>
                      <a:pPr algn="l">
                        <a:lnSpc>
                          <a:spcPct val="100000"/>
                        </a:lnSpc>
                      </a:pPr>
                      <a:r>
                        <a:rPr sz="1150" b="1" i="0">
                          <a:solidFill>
                            <a:srgbClr val="1C2433"/>
                          </a:solidFill>
                          <a:latin typeface="Calibri"/>
                        </a:rPr>
                        <a:t>Cost per commit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a small JSON; replay from the last checkpoint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the metadata JSON rewritten with every snapshot kept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78045">
                <a:tc>
                  <a:txBody>
                    <a:bodyPr wrap="square"/>
                    <a:lstStyle/>
                    <a:p>
                      <a:pPr algn="l">
                        <a:lnSpc>
                          <a:spcPct val="100000"/>
                        </a:lnSpc>
                      </a:pPr>
                      <a:r>
                        <a:rPr sz="1150" b="1" i="0">
                          <a:solidFill>
                            <a:srgbClr val="1C2433"/>
                          </a:solidFill>
                          <a:latin typeface="Calibri"/>
                        </a:rPr>
                        <a:t>Measured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7,200 files list in 84 ms from a checkpoint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1,800 daily commits: 93 ms a commit, start 160 ms → 33 ms after regrouping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78045">
                <a:tc>
                  <a:txBody>
                    <a:bodyPr wrap="square"/>
                    <a:lstStyle/>
                    <a:p>
                      <a:pPr algn="l">
                        <a:lnSpc>
                          <a:spcPct val="100000"/>
                        </a:lnSpc>
                      </a:pPr>
                      <a:r>
                        <a:rPr sz="1150" b="1" i="0">
                          <a:solidFill>
                            <a:srgbClr val="1C2433"/>
                          </a:solidFill>
                          <a:latin typeface="Calibri"/>
                        </a:rPr>
                        <a:t>With intraday micro-batches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more small JSON files; checkpoints absorb them</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more snapshots in every metadata file: compact intraday into the day's run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31893">
                <a:tc>
                  <a:txBody>
                    <a:bodyPr wrap="square"/>
                    <a:lstStyle/>
                    <a:p>
                      <a:pPr algn="l">
                        <a:lnSpc>
                          <a:spcPct val="100000"/>
                        </a:lnSpc>
                      </a:pPr>
                      <a:r>
                        <a:rPr sz="1150" b="1" i="0">
                          <a:solidFill>
                            <a:srgbClr val="1C2433"/>
                          </a:solidFill>
                          <a:latin typeface="Calibri"/>
                        </a:rPr>
                        <a:t>Guard against a short setting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050" b="0" i="0">
                          <a:solidFill>
                            <a:srgbClr val="0E7C86"/>
                          </a:solidFill>
                          <a:latin typeface="Consolas"/>
                        </a:rPr>
                        <a:t>lake maintain</a:t>
                      </a:r>
                      <a:r>
                        <a:rPr sz="1150" b="0" i="0">
                          <a:solidFill>
                            <a:srgbClr val="1C2433"/>
                          </a:solidFill>
                          <a:latin typeface="Calibri"/>
                        </a:rPr>
                        <a:t> raises it (</a:t>
                      </a:r>
                      <a:r>
                        <a:rPr sz="1050" b="0" i="0">
                          <a:solidFill>
                            <a:srgbClr val="0E7C86"/>
                          </a:solidFill>
                          <a:latin typeface="Consolas"/>
                        </a:rPr>
                        <a:t>retention-floor</a:t>
                      </a:r>
                      <a:r>
                        <a:rPr sz="115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050" b="0" i="0">
                          <a:solidFill>
                            <a:srgbClr val="0E7C86"/>
                          </a:solidFill>
                          <a:latin typeface="Consolas"/>
                        </a:rPr>
                        <a:t>--floor-days 2557</a:t>
                      </a:r>
                      <a:r>
                        <a:rPr sz="1150" b="0" i="0">
                          <a:solidFill>
                            <a:srgbClr val="1C2433"/>
                          </a:solidFill>
                          <a:latin typeface="Calibri"/>
                        </a:rPr>
                        <a:t>; official tables: max snapshot age 7 years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
        <p:nvSpPr>
          <p:cNvPr id="11" name="Rounded Rectangle 10"/>
          <p:cNvSpPr/>
          <p:nvPr/>
        </p:nvSpPr>
        <p:spPr>
          <a:xfrm>
            <a:off x="411480" y="4824374"/>
            <a:ext cx="11365992" cy="1183233"/>
          </a:xfrm>
          <a:prstGeom prst="roundRect">
            <a:avLst>
              <a:gd name="adj" fmla="val 6000"/>
            </a:avLst>
          </a:prstGeom>
          <a:solidFill>
            <a:srgbClr val="E8F4F5"/>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411480" y="4824374"/>
            <a:ext cx="82296" cy="1183233"/>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0080" y="4879238"/>
            <a:ext cx="11000232" cy="1073505"/>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The data volume is format-neutral; the history is not.</a:t>
            </a:r>
            <a:r>
              <a:rPr sz="1300" b="0" i="0">
                <a:solidFill>
                  <a:srgbClr val="1C2433"/>
                </a:solidFill>
                <a:latin typeface="Calibri"/>
              </a:rPr>
              <a:t> </a:t>
            </a:r>
            <a:r>
              <a:rPr sz="1300" b="1" i="0">
                <a:solidFill>
                  <a:srgbClr val="1C2433"/>
                </a:solidFill>
                <a:latin typeface="Calibri"/>
              </a:rPr>
              <a:t>PROPOSED for an Iceberg risk lake:</a:t>
            </a:r>
            <a:r>
              <a:rPr sz="1300" b="0" i="0">
                <a:solidFill>
                  <a:srgbClr val="1C2433"/>
                </a:solidFill>
                <a:latin typeface="Calibri"/>
              </a:rPr>
              <a:t> keep full-run snapshots for seven years and compact intraday appends into the day's run (the content store keeps the official captures); the 7-year floor is built; measure the metadata JSON at 2,000+ snapshots (with the planned benchmark) before committing.</a:t>
            </a:r>
          </a:p>
        </p:txBody>
      </p:sp>
      <p:sp>
        <p:nvSpPr>
          <p:cNvPr id="14" name="Footnotes"/>
          <p:cNvSpPr txBox="1"/>
          <p:nvPr/>
        </p:nvSpPr>
        <p:spPr>
          <a:xfrm>
            <a:off x="411480" y="6236208"/>
            <a:ext cx="11365992" cy="310896"/>
          </a:xfrm>
          <a:prstGeom prst="rect">
            <a:avLst/>
          </a:prstGeom>
          <a:noFill/>
        </p:spPr>
        <p:txBody>
          <a:bodyPr wrap="square" lIns="0" rIns="0" tIns="0" bIns="0" anchor="t">
            <a:spAutoFit/>
          </a:bodyPr>
          <a:lstStyle/>
          <a:p>
            <a:pPr algn="l">
              <a:lnSpc>
                <a:spcPct val="100000"/>
              </a:lnSpc>
              <a:spcAft>
                <a:spcPts val="0"/>
              </a:spcAft>
              <a:buNone/>
            </a:pPr>
            <a:r>
              <a:rPr sz="900" b="0" i="0">
                <a:solidFill>
                  <a:srgbClr val="5B677A"/>
                </a:solidFill>
                <a:latin typeface="Calibri"/>
              </a:rPr>
              <a:t>¹ 9.37 GB × 0.75 (Parquet against raw, VAR_GUIDE.md 27.4: 'about 70–80 % of raw') = 7.02 GB a date; × 252 business dates = 1.77 TB a year; × 1,764 dates (7 years) = 12.4 TB; ESTIMATED   ² 2,557 days (7 years) × 24 h = 61,368 h</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Measured on the documents: a million trades a day, seven years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5 · evidence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62</a:t>
            </a:r>
          </a:p>
        </p:txBody>
      </p:sp>
      <p:graphicFrame>
        <p:nvGraphicFramePr>
          <p:cNvPr id="10" name="Table"/>
          <p:cNvGraphicFramePr>
            <a:graphicFrameLocks noGrp="1"/>
          </p:cNvGraphicFramePr>
          <p:nvPr/>
        </p:nvGraphicFramePr>
        <p:xfrm>
          <a:off x="411480" y="1188720"/>
          <a:ext cx="6309360" cy="4279392"/>
        </p:xfrm>
        <a:graphic>
          <a:graphicData uri="http://schemas.openxmlformats.org/drawingml/2006/table">
            <a:tbl>
              <a:tblPr firstRow="0" bandRow="0">
                <a:tableStyleId>{5940675A-B579-460E-94D1-54222C63F5DA}</a:tableStyleId>
              </a:tblPr>
              <a:tblGrid>
                <a:gridCol w="4206240"/>
                <a:gridCol w="2103120"/>
              </a:tblGrid>
              <a:tr h="475488">
                <a:tc>
                  <a:txBody>
                    <a:bodyPr wrap="square"/>
                    <a:lstStyle/>
                    <a:p>
                      <a:r>
                        <a:rPr sz="1200" b="1" i="0">
                          <a:solidFill>
                            <a:srgbClr val="FFFFFF"/>
                          </a:solidFill>
                          <a:latin typeface="Calibri"/>
                        </a:rPr>
                        <a:t>Question (1,000,000 trades a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Measured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75488">
                <a:tc>
                  <a:txBody>
                    <a:bodyPr wrap="square"/>
                    <a:lstStyle/>
                    <a:p>
                      <a:r>
                        <a:rPr sz="1200" b="1" i="0">
                          <a:solidFill>
                            <a:srgbClr val="1C2433"/>
                          </a:solidFill>
                          <a:latin typeface="Calibri"/>
                        </a:rPr>
                        <a:t>type-ahead </a:t>
                      </a:r>
                      <a:r>
                        <a:rPr sz="1100" b="1" i="0">
                          <a:solidFill>
                            <a:srgbClr val="0E7C86"/>
                          </a:solidFill>
                          <a:latin typeface="Consolas"/>
                        </a:rPr>
                        <a:t>TRD CLY-40834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29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200" b="1" i="0">
                          <a:solidFill>
                            <a:srgbClr val="1C2433"/>
                          </a:solidFill>
                          <a:latin typeface="Calibri"/>
                        </a:rPr>
                        <a:t>open a trade, first time / cached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137–157 ms / 48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75488">
                <a:tc>
                  <a:txBody>
                    <a:bodyPr wrap="square"/>
                    <a:lstStyle/>
                    <a:p>
                      <a:r>
                        <a:rPr sz="1200" b="1" i="0">
                          <a:solidFill>
                            <a:srgbClr val="1C2433"/>
                          </a:solidFill>
                          <a:latin typeface="Calibri"/>
                        </a:rPr>
                        <a:t>open a trade on a past business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288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200" b="1" i="0">
                          <a:solidFill>
                            <a:srgbClr val="1C2433"/>
                          </a:solidFill>
                          <a:latin typeface="Calibri"/>
                        </a:rPr>
                        <a:t>a search over the day, exact over 1,000,000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134–322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75488">
                <a:tc>
                  <a:txBody>
                    <a:bodyPr wrap="square"/>
                    <a:lstStyle/>
                    <a:p>
                      <a:r>
                        <a:rPr sz="1200" b="1" i="0">
                          <a:solidFill>
                            <a:srgbClr val="1C2433"/>
                          </a:solidFill>
                          <a:latin typeface="Calibri"/>
                        </a:rPr>
                        <a:t>desk P&amp;L of all desks / another desk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327 ms / 48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200" b="1" i="0">
                          <a:solidFill>
                            <a:srgbClr val="1C2433"/>
                          </a:solidFill>
                          <a:latin typeface="Calibri"/>
                        </a:rPr>
                        <a:t>impact of a netting set (143,982 trades)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716–881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75488">
                <a:tc>
                  <a:txBody>
                    <a:bodyPr wrap="square"/>
                    <a:lstStyle/>
                    <a:p>
                      <a:r>
                        <a:rPr sz="1200" b="1" i="0">
                          <a:solidFill>
                            <a:srgbClr val="1C2433"/>
                          </a:solidFill>
                          <a:latin typeface="Calibri"/>
                        </a:rPr>
                        <a:t>a search on another business day, first / again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6.6 s / 306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200" b="1" i="0">
                          <a:solidFill>
                            <a:srgbClr val="1C2433"/>
                          </a:solidFill>
                          <a:latin typeface="Calibri"/>
                        </a:rPr>
                        <a:t>server heap in use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2–3.5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graphicFrame>
        <p:nvGraphicFramePr>
          <p:cNvPr id="11" name="Table"/>
          <p:cNvGraphicFramePr>
            <a:graphicFrameLocks noGrp="1"/>
          </p:cNvGraphicFramePr>
          <p:nvPr/>
        </p:nvGraphicFramePr>
        <p:xfrm>
          <a:off x="6949440" y="1188720"/>
          <a:ext cx="4828032" cy="2852928"/>
        </p:xfrm>
        <a:graphic>
          <a:graphicData uri="http://schemas.openxmlformats.org/drawingml/2006/table">
            <a:tbl>
              <a:tblPr firstRow="0" bandRow="0">
                <a:tableStyleId>{5940675A-B579-460E-94D1-54222C63F5DA}</a:tableStyleId>
              </a:tblPr>
              <a:tblGrid>
                <a:gridCol w="3291840"/>
                <a:gridCol w="1536192"/>
              </a:tblGrid>
              <a:tr h="475488">
                <a:tc>
                  <a:txBody>
                    <a:bodyPr wrap="square"/>
                    <a:lstStyle/>
                    <a:p>
                      <a:r>
                        <a:rPr sz="1200" b="1" i="0">
                          <a:solidFill>
                            <a:srgbClr val="FFFFFF"/>
                          </a:solidFill>
                          <a:latin typeface="Calibri"/>
                        </a:rPr>
                        <a:t>Seven years: 1,800 days, 7,200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Measured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75488">
                <a:tc>
                  <a:txBody>
                    <a:bodyPr wrap="square"/>
                    <a:lstStyle/>
                    <a:p>
                      <a:r>
                        <a:rPr sz="1200" b="1" i="0">
                          <a:solidFill>
                            <a:srgbClr val="1C2433"/>
                          </a:solidFill>
                          <a:latin typeface="Calibri"/>
                        </a:rPr>
                        <a:t>start-up incl. file list and newest ids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729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200" b="1" i="0">
                          <a:solidFill>
                            <a:srgbClr val="1C2433"/>
                          </a:solidFill>
                          <a:latin typeface="Calibri"/>
                        </a:rPr>
                        <a:t>a trade on 2019-12-05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22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75488">
                <a:tc>
                  <a:txBody>
                    <a:bodyPr wrap="square"/>
                    <a:lstStyle/>
                    <a:p>
                      <a:r>
                        <a:rPr sz="1200" b="1" i="0">
                          <a:solidFill>
                            <a:srgbClr val="1C2433"/>
                          </a:solidFill>
                          <a:latin typeface="Calibri"/>
                        </a:rPr>
                        <a:t>a trade on 2022-06-15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13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200" b="1" i="0">
                          <a:solidFill>
                            <a:srgbClr val="1C2433"/>
                          </a:solidFill>
                          <a:latin typeface="Calibri"/>
                        </a:rPr>
                        <a:t>the file list re-read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84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75488">
                <a:tc>
                  <a:txBody>
                    <a:bodyPr wrap="square"/>
                    <a:lstStyle/>
                    <a:p>
                      <a:r>
                        <a:rPr sz="1200" b="1" i="0">
                          <a:solidFill>
                            <a:srgbClr val="1C2433"/>
                          </a:solidFill>
                          <a:latin typeface="Calibri"/>
                        </a:rPr>
                        <a:t>an old day's columns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13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2" name="Status MEASURED"/>
          <p:cNvSpPr/>
          <p:nvPr/>
        </p:nvSpPr>
        <p:spPr>
          <a:xfrm>
            <a:off x="6949440" y="4206240"/>
            <a:ext cx="1051560" cy="237744"/>
          </a:xfrm>
          <a:prstGeom prst="roundRect">
            <a:avLst>
              <a:gd name="adj" fmla="val 50000"/>
            </a:avLst>
          </a:prstGeom>
          <a:solidFill>
            <a:srgbClr val="0B1E3B"/>
          </a:solidFill>
          <a:ln w="15875">
            <a:solidFill>
              <a:srgbClr val="0B1E3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FFFFFF"/>
                </a:solidFill>
                <a:latin typeface="Calibri"/>
              </a:rPr>
              <a:t>MEASURED</a:t>
            </a:r>
          </a:p>
        </p:txBody>
      </p:sp>
      <p:sp>
        <p:nvSpPr>
          <p:cNvPr id="13" name="TextBox 12"/>
          <p:cNvSpPr txBox="1"/>
          <p:nvPr/>
        </p:nvSpPr>
        <p:spPr>
          <a:xfrm>
            <a:off x="6949440" y="4572000"/>
            <a:ext cx="4828032" cy="1737360"/>
          </a:xfrm>
          <a:prstGeom prst="rect">
            <a:avLst/>
          </a:prstGeom>
          <a:noFill/>
        </p:spPr>
        <p:txBody>
          <a:bodyPr wrap="square" lIns="0" rIns="0" tIns="0" bIns="0" anchor="t">
            <a:spAutoFit/>
          </a:bodyPr>
          <a:lstStyle/>
          <a:p>
            <a:pPr algn="l">
              <a:spcAft>
                <a:spcPts val="600"/>
              </a:spcAft>
              <a:buNone/>
            </a:pPr>
            <a:r>
              <a:rPr sz="1300" b="0" i="0">
                <a:solidFill>
                  <a:srgbClr val="1C2433"/>
                </a:solidFill>
                <a:latin typeface="Calibri"/>
              </a:rPr>
              <a:t>Nothing in the read paths grows with history: a read concerns one business day, the file list comes from the last checkpoint, caches hold days by memory. A day in 2019 waits once for its id map (about a second).</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Reading one VaR date at bank scale: lake, hot file, memory</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5 · evidence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63</a:t>
            </a:r>
          </a:p>
        </p:txBody>
      </p:sp>
      <p:sp>
        <p:nvSpPr>
          <p:cNvPr id="10" name="Rounded Rectangle 9"/>
          <p:cNvSpPr/>
          <p:nvPr/>
        </p:nvSpPr>
        <p:spPr>
          <a:xfrm>
            <a:off x="411480" y="1188720"/>
            <a:ext cx="6949440" cy="109728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48640" y="1261872"/>
            <a:ext cx="5394960" cy="411480"/>
          </a:xfrm>
          <a:prstGeom prst="rect">
            <a:avLst/>
          </a:prstGeom>
          <a:noFill/>
        </p:spPr>
        <p:txBody>
          <a:bodyPr wrap="square" lIns="0" rIns="0" tIns="0" bIns="0" anchor="t">
            <a:spAutoFit/>
          </a:bodyPr>
          <a:lstStyle/>
          <a:p>
            <a:pPr algn="l">
              <a:spcAft>
                <a:spcPts val="600"/>
              </a:spcAft>
              <a:buNone/>
            </a:pPr>
            <a:r>
              <a:rPr sz="1500" b="1" i="0">
                <a:solidFill>
                  <a:srgbClr val="0B1E3B"/>
                </a:solidFill>
                <a:latin typeface="Calibri"/>
              </a:rPr>
              <a:t>The lake (S3, Parquet)</a:t>
            </a:r>
          </a:p>
        </p:txBody>
      </p:sp>
      <p:sp>
        <p:nvSpPr>
          <p:cNvPr id="12" name="Status ESTIMATED"/>
          <p:cNvSpPr/>
          <p:nvPr/>
        </p:nvSpPr>
        <p:spPr>
          <a:xfrm>
            <a:off x="6172200" y="1298448"/>
            <a:ext cx="1051560" cy="237744"/>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5B677A"/>
                </a:solidFill>
                <a:latin typeface="Calibri"/>
              </a:rPr>
              <a:t>ESTIMATED</a:t>
            </a:r>
          </a:p>
        </p:txBody>
      </p:sp>
      <p:sp>
        <p:nvSpPr>
          <p:cNvPr id="13" name="TextBox 12"/>
          <p:cNvSpPr txBox="1"/>
          <p:nvPr/>
        </p:nvSpPr>
        <p:spPr>
          <a:xfrm>
            <a:off x="548640" y="1719072"/>
            <a:ext cx="6675120" cy="502920"/>
          </a:xfrm>
          <a:prstGeom prst="rect">
            <a:avLst/>
          </a:prstGeom>
          <a:noFill/>
        </p:spPr>
        <p:txBody>
          <a:bodyPr wrap="square" lIns="0" rIns="0" tIns="0" bIns="0" anchor="t">
            <a:spAutoFit/>
          </a:bodyPr>
          <a:lstStyle/>
          <a:p>
            <a:pPr algn="l">
              <a:spcAft>
                <a:spcPts val="600"/>
              </a:spcAft>
              <a:buNone/>
            </a:pPr>
            <a:r>
              <a:rPr sz="1300" b="0" i="0">
                <a:solidFill>
                  <a:srgbClr val="1C2433"/>
                </a:solidFill>
                <a:latin typeface="Calibri"/>
              </a:rPr>
              <a:t>≈ 7.0 GB a date; a cold whole-bank pass ≈ 18–70 s on one server</a:t>
            </a:r>
            <a:r>
              <a:rPr sz="1300" b="1" i="0">
                <a:solidFill>
                  <a:srgbClr val="E87A1E"/>
                </a:solidFill>
                <a:latin typeface="Calibri"/>
              </a:rPr>
              <a:t>¹</a:t>
            </a:r>
          </a:p>
        </p:txBody>
      </p:sp>
      <p:cxnSp>
        <p:nvCxnSpPr>
          <p:cNvPr id="14" name="Connector 13"/>
          <p:cNvCxnSpPr/>
          <p:nvPr/>
        </p:nvCxnSpPr>
        <p:spPr>
          <a:xfrm>
            <a:off x="3886200" y="2286000"/>
            <a:ext cx="0" cy="22860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11480" y="2514600"/>
            <a:ext cx="6949440" cy="1097280"/>
          </a:xfrm>
          <a:prstGeom prst="roundRect">
            <a:avLst>
              <a:gd name="adj" fmla="val 6000"/>
            </a:avLst>
          </a:prstGeom>
          <a:solidFill>
            <a:srgbClr val="FCE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548640" y="2587752"/>
            <a:ext cx="5394960" cy="411480"/>
          </a:xfrm>
          <a:prstGeom prst="rect">
            <a:avLst/>
          </a:prstGeom>
          <a:noFill/>
        </p:spPr>
        <p:txBody>
          <a:bodyPr wrap="square" lIns="0" rIns="0" tIns="0" bIns="0" anchor="t">
            <a:spAutoFit/>
          </a:bodyPr>
          <a:lstStyle/>
          <a:p>
            <a:pPr algn="l">
              <a:spcAft>
                <a:spcPts val="600"/>
              </a:spcAft>
              <a:buNone/>
            </a:pPr>
            <a:r>
              <a:rPr sz="1500" b="1" i="0">
                <a:solidFill>
                  <a:srgbClr val="0B1E3B"/>
                </a:solidFill>
                <a:latin typeface="Calibri"/>
              </a:rPr>
              <a:t>The hot file (local disk)</a:t>
            </a:r>
          </a:p>
        </p:txBody>
      </p:sp>
      <p:sp>
        <p:nvSpPr>
          <p:cNvPr id="17" name="Status ESTIMATED"/>
          <p:cNvSpPr/>
          <p:nvPr/>
        </p:nvSpPr>
        <p:spPr>
          <a:xfrm>
            <a:off x="6172200" y="2624328"/>
            <a:ext cx="1051560" cy="237744"/>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5B677A"/>
                </a:solidFill>
                <a:latin typeface="Calibri"/>
              </a:rPr>
              <a:t>ESTIMATED</a:t>
            </a:r>
          </a:p>
        </p:txBody>
      </p:sp>
      <p:sp>
        <p:nvSpPr>
          <p:cNvPr id="18" name="TextBox 17"/>
          <p:cNvSpPr txBox="1"/>
          <p:nvPr/>
        </p:nvSpPr>
        <p:spPr>
          <a:xfrm>
            <a:off x="548640" y="3044952"/>
            <a:ext cx="6675120" cy="502920"/>
          </a:xfrm>
          <a:prstGeom prst="rect">
            <a:avLst/>
          </a:prstGeom>
          <a:noFill/>
        </p:spPr>
        <p:txBody>
          <a:bodyPr wrap="square" lIns="0" rIns="0" tIns="0" bIns="0" anchor="t">
            <a:spAutoFit/>
          </a:bodyPr>
          <a:lstStyle/>
          <a:p>
            <a:pPr algn="l">
              <a:spcAft>
                <a:spcPts val="600"/>
              </a:spcAft>
              <a:buNone/>
            </a:pPr>
            <a:r>
              <a:rPr sz="1300" b="0" i="0">
                <a:solidFill>
                  <a:srgbClr val="1C2433"/>
                </a:solidFill>
                <a:latin typeface="Calibri"/>
              </a:rPr>
              <a:t>≈ 5.5 GB a date</a:t>
            </a:r>
            <a:r>
              <a:rPr sz="1300" b="1" i="0">
                <a:solidFill>
                  <a:srgbClr val="E87A1E"/>
                </a:solidFill>
                <a:latin typeface="Calibri"/>
              </a:rPr>
              <a:t>²</a:t>
            </a:r>
            <a:r>
              <a:rPr sz="1300" b="0" i="0">
                <a:solidFill>
                  <a:srgbClr val="1C2433"/>
                </a:solidFill>
                <a:latin typeface="Calibri"/>
              </a:rPr>
              <a:t>; reopened in ≈ 0.5 s; 60 dates ≈ 328 GB</a:t>
            </a:r>
          </a:p>
        </p:txBody>
      </p:sp>
      <p:cxnSp>
        <p:nvCxnSpPr>
          <p:cNvPr id="19" name="Connector 18"/>
          <p:cNvCxnSpPr/>
          <p:nvPr/>
        </p:nvCxnSpPr>
        <p:spPr>
          <a:xfrm>
            <a:off x="3886200" y="3611880"/>
            <a:ext cx="0" cy="22860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11480" y="3840480"/>
            <a:ext cx="6949440" cy="109728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548640" y="3913632"/>
            <a:ext cx="5394960" cy="411480"/>
          </a:xfrm>
          <a:prstGeom prst="rect">
            <a:avLst/>
          </a:prstGeom>
          <a:noFill/>
        </p:spPr>
        <p:txBody>
          <a:bodyPr wrap="square" lIns="0" rIns="0" tIns="0" bIns="0" anchor="t">
            <a:spAutoFit/>
          </a:bodyPr>
          <a:lstStyle/>
          <a:p>
            <a:pPr algn="l">
              <a:spcAft>
                <a:spcPts val="600"/>
              </a:spcAft>
              <a:buNone/>
            </a:pPr>
            <a:r>
              <a:rPr sz="1500" b="1" i="0">
                <a:solidFill>
                  <a:srgbClr val="0B1E3B"/>
                </a:solidFill>
                <a:latin typeface="Calibri"/>
              </a:rPr>
              <a:t>Memory (page cache + heap)</a:t>
            </a:r>
          </a:p>
        </p:txBody>
      </p:sp>
      <p:sp>
        <p:nvSpPr>
          <p:cNvPr id="22" name="Status ESTIMATED"/>
          <p:cNvSpPr/>
          <p:nvPr/>
        </p:nvSpPr>
        <p:spPr>
          <a:xfrm>
            <a:off x="6172200" y="3950208"/>
            <a:ext cx="1051560" cy="237744"/>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5B677A"/>
                </a:solidFill>
                <a:latin typeface="Calibri"/>
              </a:rPr>
              <a:t>ESTIMATED</a:t>
            </a:r>
          </a:p>
        </p:txBody>
      </p:sp>
      <p:sp>
        <p:nvSpPr>
          <p:cNvPr id="23" name="TextBox 22"/>
          <p:cNvSpPr txBox="1"/>
          <p:nvPr/>
        </p:nvSpPr>
        <p:spPr>
          <a:xfrm>
            <a:off x="548640" y="4370832"/>
            <a:ext cx="6675120" cy="502920"/>
          </a:xfrm>
          <a:prstGeom prst="rect">
            <a:avLst/>
          </a:prstGeom>
          <a:noFill/>
        </p:spPr>
        <p:txBody>
          <a:bodyPr wrap="square" lIns="0" rIns="0" tIns="0" bIns="0" anchor="t">
            <a:spAutoFit/>
          </a:bodyPr>
          <a:lstStyle/>
          <a:p>
            <a:pPr algn="l">
              <a:spcAft>
                <a:spcPts val="600"/>
              </a:spcAft>
              <a:buNone/>
            </a:pPr>
            <a:r>
              <a:rPr sz="1300" b="0" i="0">
                <a:solidFill>
                  <a:srgbClr val="1C2433"/>
                </a:solidFill>
                <a:latin typeface="Calibri"/>
              </a:rPr>
              <a:t>heap ≈ 1.8 GB a date</a:t>
            </a:r>
            <a:r>
              <a:rPr sz="1300" b="1" i="0">
                <a:solidFill>
                  <a:srgbClr val="E87A1E"/>
                </a:solidFill>
                <a:latin typeface="Calibri"/>
              </a:rPr>
              <a:t>³</a:t>
            </a:r>
            <a:r>
              <a:rPr sz="1300" b="0" i="0">
                <a:solidFill>
                  <a:srgbClr val="1C2433"/>
                </a:solidFill>
                <a:latin typeface="Calibri"/>
              </a:rPr>
              <a:t>; whole bank ≈ 78 ms resident, ≈ 1.6 s cold from NVMe</a:t>
            </a:r>
          </a:p>
        </p:txBody>
      </p:sp>
      <p:graphicFrame>
        <p:nvGraphicFramePr>
          <p:cNvPr id="24" name="Table"/>
          <p:cNvGraphicFramePr>
            <a:graphicFrameLocks noGrp="1"/>
          </p:cNvGraphicFramePr>
          <p:nvPr/>
        </p:nvGraphicFramePr>
        <p:xfrm>
          <a:off x="7635240" y="1188720"/>
          <a:ext cx="4142232" cy="2286000"/>
        </p:xfrm>
        <a:graphic>
          <a:graphicData uri="http://schemas.openxmlformats.org/drawingml/2006/table">
            <a:tbl>
              <a:tblPr firstRow="0" bandRow="0">
                <a:tableStyleId>{5940675A-B579-460E-94D1-54222C63F5DA}</a:tableStyleId>
              </a:tblPr>
              <a:tblGrid>
                <a:gridCol w="2194560"/>
                <a:gridCol w="914400"/>
                <a:gridCol w="1033272"/>
              </a:tblGrid>
              <a:tr h="457200">
                <a:tc>
                  <a:txBody>
                    <a:bodyPr wrap="square"/>
                    <a:lstStyle/>
                    <a:p>
                      <a:r>
                        <a:rPr sz="1200" b="1" i="0">
                          <a:solidFill>
                            <a:srgbClr val="FFFFFF"/>
                          </a:solidFill>
                          <a:latin typeface="Calibri"/>
                        </a:rPr>
                        <a:t>Measured at 100,000 trades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Time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 23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57200">
                <a:tc>
                  <a:txBody>
                    <a:bodyPr wrap="square"/>
                    <a:lstStyle/>
                    <a:p>
                      <a:r>
                        <a:rPr sz="1200" b="1" i="0">
                          <a:solidFill>
                            <a:srgbClr val="1C2433"/>
                          </a:solidFill>
                          <a:latin typeface="Calibri"/>
                        </a:rPr>
                        <a:t>first load of a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0.8–1.2 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 18–28 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reopen from its hot file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23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 0.53 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200" b="1" i="0">
                          <a:solidFill>
                            <a:srgbClr val="1C2433"/>
                          </a:solidFill>
                          <a:latin typeface="Calibri"/>
                        </a:rPr>
                        <a:t>a node's VaR and 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0.48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 0.5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the whole bank, float32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3.4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 78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25" name="Callout"/>
          <p:cNvSpPr/>
          <p:nvPr/>
        </p:nvSpPr>
        <p:spPr>
          <a:xfrm>
            <a:off x="7635240" y="3703320"/>
            <a:ext cx="4142232" cy="228600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Callout edge"/>
          <p:cNvSpPr/>
          <p:nvPr/>
        </p:nvSpPr>
        <p:spPr>
          <a:xfrm>
            <a:off x="7635240" y="3721607"/>
            <a:ext cx="82296" cy="224942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7863840" y="3776472"/>
            <a:ext cx="3776472" cy="213969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On ECS</a:t>
            </a:r>
          </a:p>
          <a:p>
            <a:pPr algn="l">
              <a:spcAft>
                <a:spcPts val="600"/>
              </a:spcAft>
              <a:buNone/>
            </a:pPr>
            <a:r>
              <a:rPr sz="1200" b="0" i="0">
                <a:solidFill>
                  <a:srgbClr val="0E7C86"/>
                </a:solidFill>
                <a:latin typeface="Consolas"/>
              </a:rPr>
              <a:t>DRISHTI_VAR_HOT_DIR</a:t>
            </a:r>
            <a:r>
              <a:rPr sz="1300" b="0" i="0">
                <a:solidFill>
                  <a:srgbClr val="1C2433"/>
                </a:solidFill>
                <a:latin typeface="Calibri"/>
              </a:rPr>
              <a:t> and </a:t>
            </a:r>
            <a:r>
              <a:rPr sz="1200" b="0" i="0">
                <a:solidFill>
                  <a:srgbClr val="0E7C86"/>
                </a:solidFill>
                <a:latin typeface="Consolas"/>
              </a:rPr>
              <a:t>DRISHTI_EXPOSURE_HOT_DIR</a:t>
            </a:r>
            <a:r>
              <a:rPr sz="1300" b="0" i="0">
                <a:solidFill>
                  <a:srgbClr val="1C2433"/>
                </a:solidFill>
                <a:latin typeface="Calibri"/>
              </a:rPr>
              <a:t> on fast local disk (NVMe), as the guides say: the default </a:t>
            </a:r>
            <a:r>
              <a:rPr sz="1200" b="0" i="0">
                <a:solidFill>
                  <a:srgbClr val="0E7C86"/>
                </a:solidFill>
                <a:latin typeface="Consolas"/>
              </a:rPr>
              <a:t>&lt;data dir&gt;</a:t>
            </a:r>
            <a:r>
              <a:rPr sz="1300" b="0" i="0">
                <a:solidFill>
                  <a:srgbClr val="1C2433"/>
                </a:solidFill>
                <a:latin typeface="Calibri"/>
              </a:rPr>
              <a:t> is on EFS. Hot files are rebuildable from the lake, so they meet the NVMe exception of slide 22.</a:t>
            </a:r>
          </a:p>
        </p:txBody>
      </p:sp>
      <p:sp>
        <p:nvSpPr>
          <p:cNvPr id="28" name="TextBox 27"/>
          <p:cNvSpPr txBox="1"/>
          <p:nvPr/>
        </p:nvSpPr>
        <p:spPr>
          <a:xfrm>
            <a:off x="411480" y="5212080"/>
            <a:ext cx="6949440" cy="822960"/>
          </a:xfrm>
          <a:prstGeom prst="rect">
            <a:avLst/>
          </a:prstGeom>
          <a:noFill/>
        </p:spPr>
        <p:txBody>
          <a:bodyPr wrap="square" lIns="0" rIns="0" tIns="0" bIns="0" anchor="t">
            <a:spAutoFit/>
          </a:bodyPr>
          <a:lstStyle/>
          <a:p>
            <a:pPr algn="l">
              <a:spcAft>
                <a:spcPts val="600"/>
              </a:spcAft>
              <a:buNone/>
            </a:pPr>
            <a:r>
              <a:rPr sz="1200" b="0" i="0">
                <a:solidFill>
                  <a:srgbClr val="5B677A"/>
                </a:solidFill>
                <a:latin typeface="Calibri"/>
              </a:rPr>
              <a:t>× 23 = scaled from the measured 100,000-trade points (VAR_GUIDE.md 27.3); a node is size-independent. The 200K benchmark (PLANNED) keeps 2.3M extrapolated; VaR sharding (slide 65) is the step for a date larger than one server.</a:t>
            </a:r>
          </a:p>
        </p:txBody>
      </p:sp>
      <p:sp>
        <p:nvSpPr>
          <p:cNvPr id="29" name="Footnotes"/>
          <p:cNvSpPr txBox="1"/>
          <p:nvPr/>
        </p:nvSpPr>
        <p:spPr>
          <a:xfrm>
            <a:off x="411480" y="6377940"/>
            <a:ext cx="11365992" cy="169164"/>
          </a:xfrm>
          <a:prstGeom prst="rect">
            <a:avLst/>
          </a:prstGeom>
          <a:noFill/>
        </p:spPr>
        <p:txBody>
          <a:bodyPr wrap="square" lIns="0" rIns="0" tIns="0" bIns="0" anchor="t">
            <a:spAutoFit/>
          </a:bodyPr>
          <a:lstStyle/>
          <a:p>
            <a:pPr algn="l">
              <a:lnSpc>
                <a:spcPct val="100000"/>
              </a:lnSpc>
              <a:spcAft>
                <a:spcPts val="0"/>
              </a:spcAft>
              <a:buNone/>
            </a:pPr>
            <a:r>
              <a:rPr sz="900" b="0" i="0">
                <a:solidFill>
                  <a:srgbClr val="5B677A"/>
                </a:solidFill>
                <a:latin typeface="Calibri"/>
              </a:rPr>
              <a:t>¹ the guide's 10–40 s per 4 GB × 7.02 ÷ 4   ² 237.7 MB × 23 (measured at 100,000)   ³ 80 MB × 23; 4.68 GB ÷ 60 GB/s; ÷ 3 GB/s NVMe (assumed)  Full derivations: slides 119–121.</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parallel Java loader: JSON Lines into Delta or Iceberg</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5 · evidence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64</a:t>
            </a:r>
          </a:p>
        </p:txBody>
      </p:sp>
      <p:sp>
        <p:nvSpPr>
          <p:cNvPr id="10" name="Rounded Rectangle 9"/>
          <p:cNvSpPr/>
          <p:nvPr/>
        </p:nvSpPr>
        <p:spPr>
          <a:xfrm>
            <a:off x="411480" y="1188720"/>
            <a:ext cx="5577840" cy="210312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02920" y="1234440"/>
            <a:ext cx="539495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The pipeline (drishti-lakeload)</a:t>
            </a:r>
          </a:p>
        </p:txBody>
      </p:sp>
      <p:sp>
        <p:nvSpPr>
          <p:cNvPr id="12" name="TextBox 11"/>
          <p:cNvSpPr txBox="1"/>
          <p:nvPr/>
        </p:nvSpPr>
        <p:spPr>
          <a:xfrm>
            <a:off x="502920" y="1554480"/>
            <a:ext cx="5394959" cy="1691639"/>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read: a file in byte ranges, ranged GETs on </a:t>
            </a:r>
            <a:r>
              <a:rPr sz="1100" b="0" i="0">
                <a:solidFill>
                  <a:srgbClr val="0E7C86"/>
                </a:solidFill>
                <a:latin typeface="Consolas"/>
              </a:rPr>
              <a:t>s3://</a:t>
            </a:r>
            <a:r>
              <a:rPr sz="1200" b="0" i="0">
                <a:solidFill>
                  <a:srgbClr val="1C2433"/>
                </a:solidFill>
                <a:latin typeface="Calibri"/>
              </a:rPr>
              <a:t>; </a:t>
            </a:r>
            <a:r>
              <a:rPr sz="1100" b="0" i="0">
                <a:solidFill>
                  <a:srgbClr val="0E7C86"/>
                </a:solidFill>
                <a:latin typeface="Consolas"/>
              </a:rPr>
              <a:t>.gz</a:t>
            </a:r>
            <a:r>
              <a:rPr sz="1200" b="0" i="0">
                <a:solidFill>
                  <a:srgbClr val="1C2433"/>
                </a:solidFill>
                <a:latin typeface="Calibri"/>
              </a:rPr>
              <a:t> / </a:t>
            </a:r>
            <a:r>
              <a:rPr sz="1100" b="0" i="0">
                <a:solidFill>
                  <a:srgbClr val="0E7C86"/>
                </a:solidFill>
                <a:latin typeface="Consolas"/>
              </a:rPr>
              <a:t>.zst</a:t>
            </a:r>
            <a:r>
              <a:rPr sz="1200" b="0" i="0">
                <a:solidFill>
                  <a:srgbClr val="1C2433"/>
                </a:solidFill>
                <a:latin typeface="Calibri"/>
              </a:rPr>
              <a:t> streamed</a:t>
            </a:r>
          </a:p>
          <a:p>
            <a:pPr algn="l" marL="201168" indent="-201168">
              <a:spcAft>
                <a:spcPts val="200"/>
              </a:spcAft>
              <a:buClr>
                <a:srgbClr val="E87A1E"/>
              </a:buClr>
              <a:buSzPct val="100000"/>
              <a:buFont typeface="Arial"/>
              <a:buChar char="•"/>
            </a:pPr>
            <a:r>
              <a:rPr sz="1200" b="0" i="0">
                <a:solidFill>
                  <a:srgbClr val="1C2433"/>
                </a:solidFill>
                <a:latin typeface="Calibri"/>
              </a:rPr>
              <a:t>parse: streaming Jackson, the vector straight to </a:t>
            </a:r>
            <a:r>
              <a:rPr sz="1100" b="0" i="0">
                <a:solidFill>
                  <a:srgbClr val="0E7C86"/>
                </a:solidFill>
                <a:latin typeface="Consolas"/>
              </a:rPr>
              <a:t>double[]</a:t>
            </a:r>
          </a:p>
          <a:p>
            <a:pPr algn="l" marL="201168" indent="-201168">
              <a:spcAft>
                <a:spcPts val="200"/>
              </a:spcAft>
              <a:buClr>
                <a:srgbClr val="E87A1E"/>
              </a:buClr>
              <a:buSzPct val="100000"/>
              <a:buFont typeface="Arial"/>
              <a:buChar char="•"/>
            </a:pPr>
            <a:r>
              <a:rPr sz="1200" b="0" i="0">
                <a:solidFill>
                  <a:srgbClr val="1C2433"/>
                </a:solidFill>
                <a:latin typeface="Calibri"/>
              </a:rPr>
              <a:t>sort and spill: runs to </a:t>
            </a:r>
            <a:r>
              <a:rPr sz="1100" b="0" i="0">
                <a:solidFill>
                  <a:srgbClr val="0E7C86"/>
                </a:solidFill>
                <a:latin typeface="Consolas"/>
              </a:rPr>
              <a:t>memory.spill-dir</a:t>
            </a:r>
            <a:r>
              <a:rPr sz="1200" b="0" i="0">
                <a:solidFill>
                  <a:srgbClr val="1C2433"/>
                </a:solidFill>
                <a:latin typeface="Calibri"/>
              </a:rPr>
              <a:t>, bounded by </a:t>
            </a:r>
            <a:r>
              <a:rPr sz="1100" b="0" i="0">
                <a:solidFill>
                  <a:srgbClr val="0E7C86"/>
                </a:solidFill>
                <a:latin typeface="Consolas"/>
              </a:rPr>
              <a:t>memory.budget-mb</a:t>
            </a:r>
          </a:p>
          <a:p>
            <a:pPr algn="l" marL="201168" indent="-201168">
              <a:spcAft>
                <a:spcPts val="200"/>
              </a:spcAft>
              <a:buClr>
                <a:srgbClr val="E87A1E"/>
              </a:buClr>
              <a:buSzPct val="100000"/>
              <a:buFont typeface="Arial"/>
              <a:buChar char="•"/>
            </a:pPr>
            <a:r>
              <a:rPr sz="1200" b="0" i="0">
                <a:solidFill>
                  <a:srgbClr val="1C2433"/>
                </a:solidFill>
                <a:latin typeface="Calibri"/>
              </a:rPr>
              <a:t>write: Parquet files of </a:t>
            </a:r>
            <a:r>
              <a:rPr sz="1100" b="0" i="0">
                <a:solidFill>
                  <a:srgbClr val="0E7C86"/>
                </a:solidFill>
                <a:latin typeface="Consolas"/>
              </a:rPr>
              <a:t>file-size-mb</a:t>
            </a:r>
            <a:r>
              <a:rPr sz="1200" b="0" i="0">
                <a:solidFill>
                  <a:srgbClr val="1C2433"/>
                </a:solidFill>
                <a:latin typeface="Calibri"/>
              </a:rPr>
              <a:t>; ONE commit per business date</a:t>
            </a:r>
          </a:p>
        </p:txBody>
      </p:sp>
      <p:sp>
        <p:nvSpPr>
          <p:cNvPr id="13" name="Rounded Rectangle 12"/>
          <p:cNvSpPr/>
          <p:nvPr/>
        </p:nvSpPr>
        <p:spPr>
          <a:xfrm>
            <a:off x="6199632" y="1188720"/>
            <a:ext cx="5577840" cy="210312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6291072" y="1234440"/>
            <a:ext cx="539495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The layout it writes</a:t>
            </a:r>
          </a:p>
        </p:txBody>
      </p:sp>
      <p:sp>
        <p:nvSpPr>
          <p:cNvPr id="15" name="TextBox 14"/>
          <p:cNvSpPr txBox="1"/>
          <p:nvPr/>
        </p:nvSpPr>
        <p:spPr>
          <a:xfrm>
            <a:off x="6291072" y="1554480"/>
            <a:ext cx="5394959" cy="1691639"/>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sorted by </a:t>
            </a:r>
            <a:r>
              <a:rPr sz="1100" b="0" i="0">
                <a:solidFill>
                  <a:srgbClr val="0E7C86"/>
                </a:solidFill>
                <a:latin typeface="Consolas"/>
              </a:rPr>
              <a:t>LEGAL_ENTITY</a:t>
            </a:r>
            <a:r>
              <a:rPr sz="1200" b="0" i="0">
                <a:solidFill>
                  <a:srgbClr val="1C2433"/>
                </a:solidFill>
                <a:latin typeface="Calibri"/>
              </a:rPr>
              <a:t>, </a:t>
            </a:r>
            <a:r>
              <a:rPr sz="1100" b="0" i="0">
                <a:solidFill>
                  <a:srgbClr val="0E7C86"/>
                </a:solidFill>
                <a:latin typeface="Consolas"/>
              </a:rPr>
              <a:t>DESK</a:t>
            </a:r>
            <a:r>
              <a:rPr sz="1200" b="0" i="0">
                <a:solidFill>
                  <a:srgbClr val="1C2433"/>
                </a:solidFill>
                <a:latin typeface="Calibri"/>
              </a:rPr>
              <a:t>, </a:t>
            </a:r>
            <a:r>
              <a:rPr sz="1100" b="0" i="0">
                <a:solidFill>
                  <a:srgbClr val="0E7C86"/>
                </a:solidFill>
                <a:latin typeface="Consolas"/>
              </a:rPr>
              <a:t>id</a:t>
            </a:r>
            <a:r>
              <a:rPr sz="1200" b="0" i="0">
                <a:solidFill>
                  <a:srgbClr val="1C2433"/>
                </a:solidFill>
                <a:latin typeface="Calibri"/>
              </a:rPr>
              <a:t>: files a shard owner can skip</a:t>
            </a:r>
          </a:p>
          <a:p>
            <a:pPr algn="l" marL="201168" indent="-201168">
              <a:spcAft>
                <a:spcPts val="200"/>
              </a:spcAft>
              <a:buClr>
                <a:srgbClr val="E87A1E"/>
              </a:buClr>
              <a:buSzPct val="100000"/>
              <a:buFont typeface="Arial"/>
              <a:buChar char="•"/>
            </a:pPr>
            <a:r>
              <a:rPr sz="1200" b="0" i="0">
                <a:solidFill>
                  <a:srgbClr val="1C2433"/>
                </a:solidFill>
                <a:latin typeface="Calibri"/>
              </a:rPr>
              <a:t>a file cut where a desk changes; a load manifest of each file's key range</a:t>
            </a:r>
          </a:p>
          <a:p>
            <a:pPr algn="l" marL="201168" indent="-201168">
              <a:spcAft>
                <a:spcPts val="200"/>
              </a:spcAft>
              <a:buClr>
                <a:srgbClr val="E87A1E"/>
              </a:buClr>
              <a:buSzPct val="100000"/>
              <a:buFont typeface="Arial"/>
              <a:buChar char="•"/>
            </a:pPr>
            <a:r>
              <a:rPr sz="1200" b="0" i="0">
                <a:solidFill>
                  <a:srgbClr val="1C2433"/>
                </a:solidFill>
                <a:latin typeface="Calibri"/>
              </a:rPr>
              <a:t>the vector column BYTE_STREAM_SPLIT + ZSTD; Delta through Kernel, Iceberg by replacePartitions</a:t>
            </a:r>
          </a:p>
          <a:p>
            <a:pPr algn="l" marL="201168" indent="-201168">
              <a:spcAft>
                <a:spcPts val="200"/>
              </a:spcAft>
              <a:buClr>
                <a:srgbClr val="E87A1E"/>
              </a:buClr>
              <a:buSzPct val="100000"/>
              <a:buFont typeface="Arial"/>
              <a:buChar char="•"/>
            </a:pPr>
            <a:r>
              <a:rPr sz="1200" b="0" i="0">
                <a:solidFill>
                  <a:srgbClr val="1C2433"/>
                </a:solidFill>
                <a:latin typeface="Calibri"/>
              </a:rPr>
              <a:t>folder or </a:t>
            </a:r>
            <a:r>
              <a:rPr sz="1100" b="0" i="0">
                <a:solidFill>
                  <a:srgbClr val="0E7C86"/>
                </a:solidFill>
                <a:latin typeface="Consolas"/>
              </a:rPr>
              <a:t>s3://</a:t>
            </a:r>
            <a:r>
              <a:rPr sz="1200" b="0" i="0">
                <a:solidFill>
                  <a:srgbClr val="1C2433"/>
                </a:solidFill>
                <a:latin typeface="Calibri"/>
              </a:rPr>
              <a:t> in and out; credentials from the AWS chain only</a:t>
            </a:r>
          </a:p>
        </p:txBody>
      </p:sp>
      <p:sp>
        <p:nvSpPr>
          <p:cNvPr id="16" name="Code block"/>
          <p:cNvSpPr/>
          <p:nvPr/>
        </p:nvSpPr>
        <p:spPr>
          <a:xfrm>
            <a:off x="411480" y="3520440"/>
            <a:ext cx="5577840" cy="96012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Code"/>
          <p:cNvSpPr txBox="1"/>
          <p:nvPr/>
        </p:nvSpPr>
        <p:spPr>
          <a:xfrm>
            <a:off x="521208" y="3584448"/>
            <a:ext cx="5358383" cy="83210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drishti.py lake build --engine java --kind scenario-pv \</a:t>
            </a:r>
          </a:p>
          <a:p>
            <a:pPr>
              <a:spcAft>
                <a:spcPts val="0"/>
              </a:spcAft>
              <a:buNone/>
            </a:pPr>
            <a:r>
              <a:rPr sz="1100" b="0" i="0">
                <a:solidFill>
                  <a:srgbClr val="E6EDF3"/>
                </a:solidFill>
                <a:latin typeface="Consolas"/>
              </a:rPr>
              <a:t>  --from s3://&lt;landing&gt;/&lt;date&gt;/pv/ --lake s3://&lt;lake&gt;/lake \</a:t>
            </a:r>
          </a:p>
          <a:p>
            <a:pPr>
              <a:spcAft>
                <a:spcPts val="0"/>
              </a:spcAft>
              <a:buNone/>
            </a:pPr>
            <a:r>
              <a:rPr sz="1100" b="0" i="0">
                <a:solidFill>
                  <a:srgbClr val="E6EDF3"/>
                </a:solidFill>
                <a:latin typeface="Consolas"/>
              </a:rPr>
              <a:t>  --loader-set memory.spill-dir=/mnt/nvme/spill</a:t>
            </a:r>
          </a:p>
        </p:txBody>
      </p:sp>
      <p:sp>
        <p:nvSpPr>
          <p:cNvPr id="18" name="TextBox 17"/>
          <p:cNvSpPr txBox="1"/>
          <p:nvPr/>
        </p:nvSpPr>
        <p:spPr>
          <a:xfrm>
            <a:off x="411480" y="4617720"/>
            <a:ext cx="5577840" cy="137160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Equal to the Python path on Delta and Iceberg, row for row and vector for vector (</a:t>
            </a:r>
            <a:r>
              <a:rPr sz="1100" b="0" i="0">
                <a:solidFill>
                  <a:srgbClr val="0E7C86"/>
                </a:solidFill>
                <a:latin typeface="Consolas"/>
              </a:rPr>
              <a:t>PythonPathEqualityTest</a:t>
            </a:r>
            <a:r>
              <a:rPr sz="1200" b="0" i="0">
                <a:solidFill>
                  <a:srgbClr val="1C2433"/>
                </a:solidFill>
                <a:latin typeface="Calibri"/>
              </a:rPr>
              <a:t>). The Python path stays the default; </a:t>
            </a:r>
            <a:r>
              <a:rPr sz="1100" b="0" i="0">
                <a:solidFill>
                  <a:srgbClr val="0E7C86"/>
                </a:solidFill>
                <a:latin typeface="Consolas"/>
              </a:rPr>
              <a:t>--engine auto --java-above-mb N</a:t>
            </a:r>
            <a:r>
              <a:rPr sz="1200" b="0" i="0">
                <a:solidFill>
                  <a:srgbClr val="1C2433"/>
                </a:solidFill>
                <a:latin typeface="Calibri"/>
              </a:rPr>
              <a:t> picks the loader for large loads.</a:t>
            </a:r>
          </a:p>
        </p:txBody>
      </p:sp>
      <p:graphicFrame>
        <p:nvGraphicFramePr>
          <p:cNvPr id="19" name="Table"/>
          <p:cNvGraphicFramePr>
            <a:graphicFrameLocks noGrp="1"/>
          </p:cNvGraphicFramePr>
          <p:nvPr/>
        </p:nvGraphicFramePr>
        <p:xfrm>
          <a:off x="6199632" y="3520440"/>
          <a:ext cx="5577840" cy="2304288"/>
        </p:xfrm>
        <a:graphic>
          <a:graphicData uri="http://schemas.openxmlformats.org/drawingml/2006/table">
            <a:tbl>
              <a:tblPr firstRow="0" bandRow="0">
                <a:tableStyleId>{5940675A-B579-460E-94D1-54222C63F5DA}</a:tableStyleId>
              </a:tblPr>
              <a:tblGrid>
                <a:gridCol w="3017520"/>
                <a:gridCol w="1280160"/>
                <a:gridCol w="1280160"/>
              </a:tblGrid>
              <a:tr h="384048">
                <a:tc>
                  <a:txBody>
                    <a:bodyPr wrap="square"/>
                    <a:lstStyle/>
                    <a:p>
                      <a:r>
                        <a:rPr sz="1200" b="1" i="0">
                          <a:solidFill>
                            <a:srgbClr val="FFFFFF"/>
                          </a:solidFill>
                          <a:latin typeface="Calibri"/>
                        </a:rPr>
                        <a:t>Load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Time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Basis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384048">
                <a:tc>
                  <a:txBody>
                    <a:bodyPr wrap="square"/>
                    <a:lstStyle/>
                    <a:p>
                      <a:r>
                        <a:rPr sz="1200" b="1" i="0">
                          <a:solidFill>
                            <a:srgbClr val="1C2433"/>
                          </a:solidFill>
                          <a:latin typeface="Calibri"/>
                        </a:rPr>
                        <a:t>10K positions × 510, Delta, warm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0.19–0.29 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MEASURED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200" b="1" i="0">
                          <a:solidFill>
                            <a:srgbClr val="1C2433"/>
                          </a:solidFill>
                          <a:latin typeface="Calibri"/>
                        </a:rPr>
                        <a:t>the same into Iceberg, warm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0.25–0.27 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MEASURED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84048">
                <a:tc>
                  <a:txBody>
                    <a:bodyPr wrap="square"/>
                    <a:lstStyle/>
                    <a:p>
                      <a:r>
                        <a:rPr sz="1200" b="1" i="0">
                          <a:solidFill>
                            <a:srgbClr val="1C2433"/>
                          </a:solidFill>
                          <a:latin typeface="Calibri"/>
                        </a:rPr>
                        <a:t>2.3M, 32 vCPU, 64 GB, NVMe spill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1–2 min</a:t>
                      </a:r>
                      <a:r>
                        <a:rPr sz="1200" b="1" i="0">
                          <a:solidFill>
                            <a:srgbClr val="E87A1E"/>
                          </a:solidFill>
                          <a:latin typeface="Calibri"/>
                        </a:rPr>
                        <a:t>¹</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ESTIMATED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200" b="1" i="0">
                          <a:solidFill>
                            <a:srgbClr val="1C2433"/>
                          </a:solidFill>
                          <a:latin typeface="Calibri"/>
                        </a:rPr>
                        <a:t>2.3M, Fargate 16 vCPU, 120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 2 min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ESTIMATED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84048">
                <a:tc>
                  <a:txBody>
                    <a:bodyPr wrap="square"/>
                    <a:lstStyle/>
                    <a:p>
                      <a:r>
                        <a:rPr sz="1200" b="1" i="0">
                          <a:solidFill>
                            <a:srgbClr val="1C2433"/>
                          </a:solidFill>
                          <a:latin typeface="Calibri"/>
                        </a:rPr>
                        <a:t>2.3M, 16 vCPU, 32 GB, gp3 spill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4–5 min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ESTIMATED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20" name="TextBox 19"/>
          <p:cNvSpPr txBox="1"/>
          <p:nvPr/>
        </p:nvSpPr>
        <p:spPr>
          <a:xfrm>
            <a:off x="6199632" y="5897880"/>
            <a:ext cx="5577840" cy="320040"/>
          </a:xfrm>
          <a:prstGeom prst="rect">
            <a:avLst/>
          </a:prstGeom>
          <a:noFill/>
        </p:spPr>
        <p:txBody>
          <a:bodyPr wrap="square" lIns="0" rIns="0" tIns="0" bIns="0" anchor="t">
            <a:spAutoFit/>
          </a:bodyPr>
          <a:lstStyle/>
          <a:p>
            <a:pPr algn="l">
              <a:spcAft>
                <a:spcPts val="600"/>
              </a:spcAft>
              <a:buNone/>
            </a:pPr>
            <a:r>
              <a:rPr sz="1100" b="0" i="0">
                <a:solidFill>
                  <a:srgbClr val="5B677A"/>
                </a:solidFill>
                <a:latin typeface="Calibri"/>
              </a:rPr>
              <a:t>PARALLEL_LOADER.md section 11: 2.3M not yet measured</a:t>
            </a:r>
          </a:p>
        </p:txBody>
      </p:sp>
      <p:sp>
        <p:nvSpPr>
          <p:cNvPr id="21" name="Footnotes"/>
          <p:cNvSpPr txBox="1"/>
          <p:nvPr/>
        </p:nvSpPr>
        <p:spPr>
          <a:xfrm>
            <a:off x="411480" y="6377940"/>
            <a:ext cx="11365992" cy="169164"/>
          </a:xfrm>
          <a:prstGeom prst="rect">
            <a:avLst/>
          </a:prstGeom>
          <a:noFill/>
        </p:spPr>
        <p:txBody>
          <a:bodyPr wrap="square" lIns="0" rIns="0" tIns="0" bIns="0" anchor="t">
            <a:spAutoFit/>
          </a:bodyPr>
          <a:lstStyle/>
          <a:p>
            <a:pPr algn="l">
              <a:lnSpc>
                <a:spcPct val="100000"/>
              </a:lnSpc>
              <a:spcAft>
                <a:spcPts val="0"/>
              </a:spcAft>
              <a:buNone/>
            </a:pPr>
            <a:r>
              <a:rPr sz="900" b="0" i="0">
                <a:solidFill>
                  <a:srgbClr val="5B677A"/>
                </a:solidFill>
                <a:latin typeface="Calibri"/>
              </a:rPr>
              <a:t>¹ PARALLEL_LOADER.md §11's estimate from about 92–150 µs of CPU a position (scaled from the 10,000-position ThroughputTest) plus spill I/O; to be confirmed by the planned benchmark</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VaR sharded across servers, and running it on ECS Fargate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5 · evidence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65</a:t>
            </a:r>
          </a:p>
        </p:txBody>
      </p:sp>
      <p:sp>
        <p:nvSpPr>
          <p:cNvPr id="10" name="Rounded Rectangle 9"/>
          <p:cNvSpPr/>
          <p:nvPr/>
        </p:nvSpPr>
        <p:spPr>
          <a:xfrm>
            <a:off x="411480" y="1188720"/>
            <a:ext cx="5577840" cy="237744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02920" y="1234440"/>
            <a:ext cx="539495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How it works</a:t>
            </a:r>
          </a:p>
        </p:txBody>
      </p:sp>
      <p:sp>
        <p:nvSpPr>
          <p:cNvPr id="12" name="TextBox 11"/>
          <p:cNvSpPr txBox="1"/>
          <p:nvPr/>
        </p:nvSpPr>
        <p:spPr>
          <a:xfrm>
            <a:off x="502920" y="1554480"/>
            <a:ext cx="5394959" cy="196596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each date cut into shards of </a:t>
            </a:r>
            <a:r>
              <a:rPr sz="1100" b="0" i="0">
                <a:solidFill>
                  <a:srgbClr val="0E7C86"/>
                </a:solidFill>
                <a:latin typeface="Consolas"/>
              </a:rPr>
              <a:t>LEGAL_ENTITY</a:t>
            </a:r>
            <a:r>
              <a:rPr sz="1200" b="0" i="0">
                <a:solidFill>
                  <a:srgbClr val="1C2433"/>
                </a:solidFill>
                <a:latin typeface="Calibri"/>
              </a:rPr>
              <a:t>, </a:t>
            </a:r>
            <a:r>
              <a:rPr sz="1100" b="0" i="0">
                <a:solidFill>
                  <a:srgbClr val="0E7C86"/>
                </a:solidFill>
                <a:latin typeface="Consolas"/>
              </a:rPr>
              <a:t>DESK</a:t>
            </a:r>
            <a:r>
              <a:rPr sz="1200" b="0" i="0">
                <a:solidFill>
                  <a:srgbClr val="1C2433"/>
                </a:solidFill>
                <a:latin typeface="Calibri"/>
              </a:rPr>
              <a:t> ranges (a desk never split)</a:t>
            </a:r>
          </a:p>
          <a:p>
            <a:pPr algn="l" marL="201168" indent="-201168">
              <a:spcAft>
                <a:spcPts val="200"/>
              </a:spcAft>
              <a:buClr>
                <a:srgbClr val="E87A1E"/>
              </a:buClr>
              <a:buSzPct val="100000"/>
              <a:buFont typeface="Arial"/>
              <a:buChar char="•"/>
            </a:pPr>
            <a:r>
              <a:rPr sz="1200" b="0" i="0">
                <a:solidFill>
                  <a:srgbClr val="1C2433"/>
                </a:solidFill>
                <a:latin typeface="Calibri"/>
              </a:rPr>
              <a:t>two owners per shard by rendezvous hashing; another zone with </a:t>
            </a:r>
            <a:r>
              <a:rPr sz="1100" b="0" i="0">
                <a:solidFill>
                  <a:srgbClr val="0E7C86"/>
                </a:solidFill>
                <a:latin typeface="Consolas"/>
              </a:rPr>
              <a:t>zone-tag</a:t>
            </a:r>
          </a:p>
          <a:p>
            <a:pPr algn="l" marL="201168" indent="-201168">
              <a:spcAft>
                <a:spcPts val="200"/>
              </a:spcAft>
              <a:buClr>
                <a:srgbClr val="E87A1E"/>
              </a:buClr>
              <a:buSzPct val="100000"/>
              <a:buFont typeface="Arial"/>
              <a:buChar char="•"/>
            </a:pPr>
            <a:r>
              <a:rPr sz="1200" b="0" i="0">
                <a:solidFill>
                  <a:srgbClr val="1C2433"/>
                </a:solidFill>
                <a:latin typeface="Calibri"/>
              </a:rPr>
              <a:t>an owner reads only its ranges from S3: Delta files skipped by the log's statistics, Iceberg's by their bounds</a:t>
            </a:r>
          </a:p>
          <a:p>
            <a:pPr algn="l" marL="201168" indent="-201168">
              <a:spcAft>
                <a:spcPts val="200"/>
              </a:spcAft>
              <a:buClr>
                <a:srgbClr val="E87A1E"/>
              </a:buClr>
              <a:buSzPct val="100000"/>
              <a:buFont typeface="Arial"/>
              <a:buChar char="•"/>
            </a:pPr>
            <a:r>
              <a:rPr sz="1200" b="0" i="0">
                <a:solidFill>
                  <a:srgbClr val="1C2433"/>
                </a:solidFill>
                <a:latin typeface="Calibri"/>
              </a:rPr>
              <a:t>every member answers every scope: nodes from aggregates, the rest by partial vectors</a:t>
            </a:r>
          </a:p>
        </p:txBody>
      </p:sp>
      <p:sp>
        <p:nvSpPr>
          <p:cNvPr id="13" name="Code block"/>
          <p:cNvSpPr/>
          <p:nvPr/>
        </p:nvSpPr>
        <p:spPr>
          <a:xfrm>
            <a:off x="6199632" y="1188720"/>
            <a:ext cx="5577840" cy="237744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Code"/>
          <p:cNvSpPr txBox="1"/>
          <p:nvPr/>
        </p:nvSpPr>
        <p:spPr>
          <a:xfrm>
            <a:off x="6309360" y="1252728"/>
            <a:ext cx="5358383" cy="2249424"/>
          </a:xfrm>
          <a:prstGeom prst="rect">
            <a:avLst/>
          </a:prstGeom>
          <a:noFill/>
        </p:spPr>
        <p:txBody>
          <a:bodyPr wrap="square" lIns="0" rIns="0" tIns="0" bIns="0" anchor="ctr">
            <a:spAutoFit/>
          </a:bodyPr>
          <a:lstStyle/>
          <a:p>
            <a:pPr>
              <a:spcAft>
                <a:spcPts val="0"/>
              </a:spcAft>
              <a:buNone/>
            </a:pPr>
            <a:r>
              <a:rPr sz="1200" b="0" i="0">
                <a:solidFill>
                  <a:srgbClr val="E6EDF3"/>
                </a:solidFill>
                <a:latin typeface="Consolas"/>
              </a:rPr>
              <a:t># config/packs/market-risk/pack.yaml</a:t>
            </a:r>
          </a:p>
          <a:p>
            <a:pPr>
              <a:spcAft>
                <a:spcPts val="0"/>
              </a:spcAft>
              <a:buNone/>
            </a:pPr>
            <a:r>
              <a:rPr sz="1200" b="0" i="0">
                <a:solidFill>
                  <a:srgbClr val="E6EDF3"/>
                </a:solidFill>
                <a:latin typeface="Consolas"/>
              </a:rPr>
              <a:t>sharding:</a:t>
            </a:r>
          </a:p>
          <a:p>
            <a:pPr>
              <a:spcAft>
                <a:spcPts val="0"/>
              </a:spcAft>
              <a:buNone/>
            </a:pPr>
            <a:r>
              <a:rPr sz="1200" b="0" i="0">
                <a:solidFill>
                  <a:srgbClr val="E6EDF3"/>
                </a:solidFill>
                <a:latin typeface="Consolas"/>
              </a:rPr>
              <a:t>  enabled: true</a:t>
            </a:r>
          </a:p>
          <a:p>
            <a:pPr>
              <a:spcAft>
                <a:spcPts val="0"/>
              </a:spcAft>
              <a:buNone/>
            </a:pPr>
            <a:r>
              <a:rPr sz="1200" b="0" i="0">
                <a:solidFill>
                  <a:srgbClr val="E6EDF3"/>
                </a:solidFill>
                <a:latin typeface="Consolas"/>
              </a:rPr>
              <a:t>  key: [LEGAL_ENTITY, DESK]</a:t>
            </a:r>
          </a:p>
          <a:p>
            <a:pPr>
              <a:spcAft>
                <a:spcPts val="0"/>
              </a:spcAft>
              <a:buNone/>
            </a:pPr>
            <a:r>
              <a:rPr sz="1200" b="0" i="0">
                <a:solidFill>
                  <a:srgbClr val="E6EDF3"/>
                </a:solidFill>
                <a:latin typeface="Consolas"/>
              </a:rPr>
              <a:t>  kinds: [scenario-pv, pnl-vector]</a:t>
            </a:r>
          </a:p>
          <a:p>
            <a:pPr>
              <a:spcAft>
                <a:spcPts val="0"/>
              </a:spcAft>
              <a:buNone/>
            </a:pPr>
            <a:r>
              <a:rPr sz="1200" b="0" i="0">
                <a:solidFill>
                  <a:srgbClr val="E6EDF3"/>
                </a:solidFill>
                <a:latin typeface="Consolas"/>
              </a:rPr>
              <a:t>  target-shard-mb: 2048</a:t>
            </a:r>
          </a:p>
          <a:p>
            <a:pPr>
              <a:spcAft>
                <a:spcPts val="0"/>
              </a:spcAft>
              <a:buNone/>
            </a:pPr>
            <a:r>
              <a:rPr sz="1200" b="0" i="0">
                <a:solidFill>
                  <a:srgbClr val="E6EDF3"/>
                </a:solidFill>
                <a:latin typeface="Consolas"/>
              </a:rPr>
              <a:t>  replicas: 2</a:t>
            </a:r>
          </a:p>
        </p:txBody>
      </p:sp>
      <p:sp>
        <p:nvSpPr>
          <p:cNvPr id="15" name="Rounded Rectangle 14"/>
          <p:cNvSpPr/>
          <p:nvPr/>
        </p:nvSpPr>
        <p:spPr>
          <a:xfrm>
            <a:off x="411480" y="3749039"/>
            <a:ext cx="5577840" cy="169164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502920" y="3794759"/>
            <a:ext cx="539495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On ECS Fargate: scale in safely</a:t>
            </a:r>
          </a:p>
        </p:txBody>
      </p:sp>
      <p:sp>
        <p:nvSpPr>
          <p:cNvPr id="17" name="TextBox 16"/>
          <p:cNvSpPr txBox="1"/>
          <p:nvPr/>
        </p:nvSpPr>
        <p:spPr>
          <a:xfrm>
            <a:off x="502920" y="4114800"/>
            <a:ext cx="5394959" cy="128016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stop hook: </a:t>
            </a:r>
            <a:r>
              <a:rPr sz="1100" b="0" i="0">
                <a:solidFill>
                  <a:srgbClr val="0E7C86"/>
                </a:solidFill>
                <a:latin typeface="Consolas"/>
              </a:rPr>
              <a:t>drishti.py var shards --drain</a:t>
            </a:r>
            <a:r>
              <a:rPr sz="1200" b="0" i="0">
                <a:solidFill>
                  <a:srgbClr val="1C2433"/>
                </a:solidFill>
                <a:latin typeface="Calibri"/>
              </a:rPr>
              <a:t> (or </a:t>
            </a:r>
            <a:r>
              <a:rPr sz="1100" b="0" i="0">
                <a:solidFill>
                  <a:srgbClr val="0E7C86"/>
                </a:solidFill>
                <a:latin typeface="Consolas"/>
              </a:rPr>
              <a:t>POST /api/v1/var/shards/drain</a:t>
            </a:r>
            <a:r>
              <a:rPr sz="1200" b="0" i="0">
                <a:solidFill>
                  <a:srgbClr val="1C2433"/>
                </a:solidFill>
                <a:latin typeface="Calibri"/>
              </a:rPr>
              <a:t>)</a:t>
            </a:r>
          </a:p>
          <a:p>
            <a:pPr algn="l" marL="201168" indent="-201168">
              <a:spcAft>
                <a:spcPts val="200"/>
              </a:spcAft>
              <a:buClr>
                <a:srgbClr val="E87A1E"/>
              </a:buClr>
              <a:buSzPct val="100000"/>
              <a:buFont typeface="Arial"/>
              <a:buChar char="•"/>
            </a:pPr>
            <a:r>
              <a:rPr sz="1200" b="0" i="0">
                <a:solidFill>
                  <a:srgbClr val="1C2433"/>
                </a:solidFill>
                <a:latin typeface="Calibri"/>
              </a:rPr>
              <a:t>wait for </a:t>
            </a:r>
            <a:r>
              <a:rPr sz="1100" b="0" i="0">
                <a:solidFill>
                  <a:srgbClr val="0E7C86"/>
                </a:solidFill>
                <a:latin typeface="Consolas"/>
              </a:rPr>
              <a:t>GET /api/v1/var/shards</a:t>
            </a:r>
            <a:r>
              <a:rPr sz="1200" b="0" i="0">
                <a:solidFill>
                  <a:srgbClr val="1C2433"/>
                </a:solidFill>
                <a:latin typeface="Calibri"/>
              </a:rPr>
              <a:t> → </a:t>
            </a:r>
            <a:r>
              <a:rPr sz="1100" b="0" i="0">
                <a:solidFill>
                  <a:srgbClr val="0E7C86"/>
                </a:solidFill>
                <a:latin typeface="Consolas"/>
              </a:rPr>
              <a:t>"safeToStop": true</a:t>
            </a:r>
          </a:p>
          <a:p>
            <a:pPr algn="l" marL="201168" indent="-201168">
              <a:spcAft>
                <a:spcPts val="200"/>
              </a:spcAft>
              <a:buClr>
                <a:srgbClr val="E87A1E"/>
              </a:buClr>
              <a:buSzPct val="100000"/>
              <a:buFont typeface="Arial"/>
              <a:buChar char="•"/>
            </a:pPr>
            <a:r>
              <a:rPr sz="1100" b="0" i="0">
                <a:solidFill>
                  <a:srgbClr val="0E7C86"/>
                </a:solidFill>
                <a:latin typeface="Consolas"/>
              </a:rPr>
              <a:t>stopTimeout</a:t>
            </a:r>
            <a:r>
              <a:rPr sz="1200" b="0" i="0">
                <a:solidFill>
                  <a:srgbClr val="1C2433"/>
                </a:solidFill>
                <a:latin typeface="Calibri"/>
              </a:rPr>
              <a:t> ≥ the largest shard's build + </a:t>
            </a:r>
            <a:r>
              <a:rPr sz="1100" b="0" i="0">
                <a:solidFill>
                  <a:srgbClr val="0E7C86"/>
                </a:solidFill>
                <a:latin typeface="Consolas"/>
              </a:rPr>
              <a:t>grace-seconds</a:t>
            </a:r>
          </a:p>
        </p:txBody>
      </p:sp>
      <p:sp>
        <p:nvSpPr>
          <p:cNvPr id="18" name="Rounded Rectangle 17"/>
          <p:cNvSpPr/>
          <p:nvPr/>
        </p:nvSpPr>
        <p:spPr>
          <a:xfrm>
            <a:off x="6199632" y="3749039"/>
            <a:ext cx="5577840" cy="169164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6291072" y="3794759"/>
            <a:ext cx="539495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When it cannot answer exactly, it says so</a:t>
            </a:r>
          </a:p>
        </p:txBody>
      </p:sp>
      <p:sp>
        <p:nvSpPr>
          <p:cNvPr id="20" name="TextBox 19"/>
          <p:cNvSpPr txBox="1"/>
          <p:nvPr/>
        </p:nvSpPr>
        <p:spPr>
          <a:xfrm>
            <a:off x="6291072" y="4114800"/>
            <a:ext cx="5394959" cy="128016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no live owner of a shard: </a:t>
            </a:r>
            <a:r>
              <a:rPr sz="1100" b="0" i="0">
                <a:solidFill>
                  <a:srgbClr val="0E7C86"/>
                </a:solidFill>
                <a:latin typeface="Consolas"/>
              </a:rPr>
              <a:t>503 DRS-5215</a:t>
            </a:r>
            <a:r>
              <a:rPr sz="1200" b="0" i="0">
                <a:solidFill>
                  <a:srgbClr val="1C2433"/>
                </a:solidFill>
                <a:latin typeface="Calibri"/>
              </a:rPr>
              <a:t>, never a partial VaR</a:t>
            </a:r>
          </a:p>
          <a:p>
            <a:pPr algn="l" marL="201168" indent="-201168">
              <a:spcAft>
                <a:spcPts val="200"/>
              </a:spcAft>
              <a:buClr>
                <a:srgbClr val="E87A1E"/>
              </a:buClr>
              <a:buSzPct val="100000"/>
              <a:buFont typeface="Arial"/>
              <a:buChar char="•"/>
            </a:pPr>
            <a:r>
              <a:rPr sz="1200" b="0" i="0">
                <a:solidFill>
                  <a:srgbClr val="1C2433"/>
                </a:solidFill>
                <a:latin typeface="Calibri"/>
              </a:rPr>
              <a:t>another data version: </a:t>
            </a:r>
            <a:r>
              <a:rPr sz="1100" b="0" i="0">
                <a:solidFill>
                  <a:srgbClr val="0E7C86"/>
                </a:solidFill>
                <a:latin typeface="Consolas"/>
              </a:rPr>
              <a:t>409 DRS-5216</a:t>
            </a:r>
            <a:r>
              <a:rPr sz="1200" b="0" i="0">
                <a:solidFill>
                  <a:srgbClr val="1C2433"/>
                </a:solidFill>
                <a:latin typeface="Calibri"/>
              </a:rPr>
              <a:t>; a bad cut: </a:t>
            </a:r>
            <a:r>
              <a:rPr sz="1100" b="0" i="0">
                <a:solidFill>
                  <a:srgbClr val="0E7C86"/>
                </a:solidFill>
                <a:latin typeface="Consolas"/>
              </a:rPr>
              <a:t>422 DRS-5217</a:t>
            </a:r>
          </a:p>
          <a:p>
            <a:pPr algn="l" marL="201168" indent="-201168">
              <a:spcAft>
                <a:spcPts val="200"/>
              </a:spcAft>
              <a:buClr>
                <a:srgbClr val="E87A1E"/>
              </a:buClr>
              <a:buSzPct val="100000"/>
              <a:buFont typeface="Arial"/>
              <a:buChar char="•"/>
            </a:pPr>
            <a:r>
              <a:rPr sz="1200" b="0" i="0">
                <a:solidFill>
                  <a:srgbClr val="1C2433"/>
                </a:solidFill>
                <a:latin typeface="Calibri"/>
              </a:rPr>
              <a:t>nodes (VAR BANK, desks) still answer from their aggregates</a:t>
            </a:r>
          </a:p>
        </p:txBody>
      </p:sp>
      <p:sp>
        <p:nvSpPr>
          <p:cNvPr id="21" name="Callout"/>
          <p:cNvSpPr/>
          <p:nvPr/>
        </p:nvSpPr>
        <p:spPr>
          <a:xfrm>
            <a:off x="411480" y="5577840"/>
            <a:ext cx="11365992" cy="73152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Callout edge"/>
          <p:cNvSpPr/>
          <p:nvPr/>
        </p:nvSpPr>
        <p:spPr>
          <a:xfrm>
            <a:off x="411480" y="5596127"/>
            <a:ext cx="82296" cy="69494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640080" y="5650992"/>
            <a:ext cx="11000232" cy="585216"/>
          </a:xfrm>
          <a:prstGeom prst="rect">
            <a:avLst/>
          </a:prstGeom>
          <a:noFill/>
        </p:spPr>
        <p:txBody>
          <a:bodyPr wrap="square" lIns="0" rIns="0" tIns="0" bIns="0" anchor="ctr">
            <a:spAutoFit/>
          </a:bodyPr>
          <a:lstStyle/>
          <a:p>
            <a:pPr algn="l">
              <a:spcAft>
                <a:spcPts val="600"/>
              </a:spcAft>
              <a:buNone/>
            </a:pPr>
            <a:r>
              <a:rPr sz="1200" b="0" i="0">
                <a:solidFill>
                  <a:srgbClr val="1C2433"/>
                </a:solidFill>
                <a:latin typeface="Calibri"/>
              </a:rPr>
              <a:t>Equal to one server </a:t>
            </a:r>
            <a:r>
              <a:rPr sz="1200" b="1" i="0">
                <a:solidFill>
                  <a:srgbClr val="1C2433"/>
                </a:solidFill>
                <a:latin typeface="Calibri"/>
              </a:rPr>
              <a:t>to the cent</a:t>
            </a:r>
            <a:r>
              <a:rPr sz="1200" b="0" i="0">
                <a:solidFill>
                  <a:srgbClr val="1C2433"/>
                </a:solidFill>
                <a:latin typeface="Calibri"/>
              </a:rPr>
              <a:t> on three members, USD and EUR, Delta and Iceberg, intraday included (</a:t>
            </a:r>
            <a:r>
              <a:rPr sz="1100" b="0" i="0">
                <a:solidFill>
                  <a:srgbClr val="0E7C86"/>
                </a:solidFill>
                <a:latin typeface="Consolas"/>
              </a:rPr>
              <a:t>VarShardClusterTest</a:t>
            </a:r>
            <a:r>
              <a:rPr sz="1200" b="0" i="0">
                <a:solidFill>
                  <a:srgbClr val="1C2433"/>
                </a:solidFill>
                <a:latin typeface="Calibri"/>
              </a:rPr>
              <a:t>). Off by default. The sharded 200K benchmark is planned, not run.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demo lake: 85 Delta tables from committed JSON Lines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5 · evidence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66</a:t>
            </a:r>
          </a:p>
        </p:txBody>
      </p:sp>
      <p:graphicFrame>
        <p:nvGraphicFramePr>
          <p:cNvPr id="10" name="Table"/>
          <p:cNvGraphicFramePr>
            <a:graphicFrameLocks noGrp="1"/>
          </p:cNvGraphicFramePr>
          <p:nvPr/>
        </p:nvGraphicFramePr>
        <p:xfrm>
          <a:off x="411480" y="1188720"/>
          <a:ext cx="5852160" cy="3520440"/>
        </p:xfrm>
        <a:graphic>
          <a:graphicData uri="http://schemas.openxmlformats.org/drawingml/2006/table">
            <a:tbl>
              <a:tblPr firstRow="0" bandRow="0">
                <a:tableStyleId>{5940675A-B579-460E-94D1-54222C63F5DA}</a:tableStyleId>
              </a:tblPr>
              <a:tblGrid>
                <a:gridCol w="1554480"/>
                <a:gridCol w="4297680"/>
              </a:tblGrid>
              <a:tr h="502920">
                <a:tc>
                  <a:txBody>
                    <a:bodyPr wrap="square"/>
                    <a:lstStyle/>
                    <a:p>
                      <a:r>
                        <a:rPr sz="1200" b="1" i="0">
                          <a:solidFill>
                            <a:srgbClr val="FFFFFF"/>
                          </a:solidFill>
                          <a:latin typeface="Calibri"/>
                        </a:rPr>
                        <a:t>What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Value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02920">
                <a:tc>
                  <a:txBody>
                    <a:bodyPr wrap="square"/>
                    <a:lstStyle/>
                    <a:p>
                      <a:r>
                        <a:rPr sz="1200" b="1" i="0">
                          <a:solidFill>
                            <a:srgbClr val="1C2433"/>
                          </a:solidFill>
                          <a:latin typeface="Calibri"/>
                        </a:rPr>
                        <a:t>Tables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1" i="0">
                          <a:solidFill>
                            <a:srgbClr val="1C2433"/>
                          </a:solidFill>
                          <a:latin typeface="Calibri"/>
                        </a:rPr>
                        <a:t>85</a:t>
                      </a:r>
                      <a:r>
                        <a:rPr sz="1200" b="0" i="0">
                          <a:solidFill>
                            <a:srgbClr val="1C2433"/>
                          </a:solidFill>
                          <a:latin typeface="Calibri"/>
                        </a:rPr>
                        <a:t>, about 3.4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02920">
                <a:tc>
                  <a:txBody>
                    <a:bodyPr wrap="square"/>
                    <a:lstStyle/>
                    <a:p>
                      <a:r>
                        <a:rPr sz="1200" b="1" i="0">
                          <a:solidFill>
                            <a:srgbClr val="1C2433"/>
                          </a:solidFill>
                          <a:latin typeface="Calibri"/>
                        </a:rPr>
                        <a:t>Business days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60, ending today's business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02920">
                <a:tc>
                  <a:txBody>
                    <a:bodyPr wrap="square"/>
                    <a:lstStyle/>
                    <a:p>
                      <a:r>
                        <a:rPr sz="1200" b="1" i="0">
                          <a:solidFill>
                            <a:srgbClr val="1C2433"/>
                          </a:solidFill>
                          <a:latin typeface="Calibri"/>
                        </a:rPr>
                        <a:t>Built in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943 s (about 15 minutes), measured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02920">
                <a:tc>
                  <a:txBody>
                    <a:bodyPr wrap="square"/>
                    <a:lstStyle/>
                    <a:p>
                      <a:r>
                        <a:rPr sz="1200" b="1" i="0">
                          <a:solidFill>
                            <a:srgbClr val="1C2433"/>
                          </a:solidFill>
                          <a:latin typeface="Calibri"/>
                        </a:rPr>
                        <a:t>From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committed </a:t>
                      </a:r>
                      <a:r>
                        <a:rPr sz="1100" b="0" i="0">
                          <a:solidFill>
                            <a:srgbClr val="0E7C86"/>
                          </a:solidFill>
                          <a:latin typeface="Consolas"/>
                        </a:rPr>
                        <a:t>data/testdata/…/*.jsonl.gz</a:t>
                      </a:r>
                      <a:r>
                        <a:rPr sz="1200" b="0" i="0">
                          <a:solidFill>
                            <a:srgbClr val="1C2433"/>
                          </a:solidFill>
                          <a:latin typeface="Calibri"/>
                        </a:rPr>
                        <a:t> (about 138 MB)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02920">
                <a:tc>
                  <a:txBody>
                    <a:bodyPr wrap="square"/>
                    <a:lstStyle/>
                    <a:p>
                      <a:r>
                        <a:rPr sz="1200" b="1" i="0">
                          <a:solidFill>
                            <a:srgbClr val="1C2433"/>
                          </a:solidFill>
                          <a:latin typeface="Calibri"/>
                        </a:rPr>
                        <a:t>Trades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15,000 on the last day in 3 tables (ENDUR, CALYPSO, MUREX)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02920">
                <a:tc>
                  <a:txBody>
                    <a:bodyPr wrap="square"/>
                    <a:lstStyle/>
                    <a:p>
                      <a:r>
                        <a:rPr sz="1200" b="1" i="0">
                          <a:solidFill>
                            <a:srgbClr val="1C2433"/>
                          </a:solidFill>
                          <a:latin typeface="Calibri"/>
                        </a:rPr>
                        <a:t>Risk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VaR inputs, limit letters, scenario PVs, FX scenarios, exposure paths for 74 netting sets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1" name="Code block"/>
          <p:cNvSpPr/>
          <p:nvPr/>
        </p:nvSpPr>
        <p:spPr>
          <a:xfrm>
            <a:off x="6492240" y="1188720"/>
            <a:ext cx="5285232" cy="114300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
          <p:cNvSpPr txBox="1"/>
          <p:nvPr/>
        </p:nvSpPr>
        <p:spPr>
          <a:xfrm>
            <a:off x="6601968" y="1252728"/>
            <a:ext cx="5065776" cy="1014983"/>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drishti.py lake demo                     </a:t>
            </a:r>
            <a:r>
              <a:rPr sz="1100" b="0" i="0">
                <a:solidFill>
                  <a:srgbClr val="8B9BB4"/>
                </a:solidFill>
                <a:latin typeface="Consolas"/>
              </a:rPr>
              <a:t>  # all 85 tables</a:t>
            </a:r>
          </a:p>
          <a:p>
            <a:pPr>
              <a:spcAft>
                <a:spcPts val="0"/>
              </a:spcAft>
              <a:buNone/>
            </a:pPr>
            <a:r>
              <a:rPr sz="1100" b="0" i="0">
                <a:solidFill>
                  <a:srgbClr val="E6EDF3"/>
                </a:solidFill>
                <a:latin typeface="Consolas"/>
              </a:rPr>
              <a:t>build_demo_lakes.py --store risk=iceberg </a:t>
            </a:r>
            <a:r>
              <a:rPr sz="1100" b="0" i="0">
                <a:solidFill>
                  <a:srgbClr val="8B9BB4"/>
                </a:solidFill>
                <a:latin typeface="Consolas"/>
              </a:rPr>
              <a:t>  # risk on Iceberg</a:t>
            </a:r>
          </a:p>
          <a:p>
            <a:pPr>
              <a:spcAft>
                <a:spcPts val="0"/>
              </a:spcAft>
              <a:buNone/>
            </a:pPr>
            <a:r>
              <a:rPr sz="1100" b="0" i="0">
                <a:solidFill>
                  <a:srgbClr val="E6EDF3"/>
                </a:solidFill>
                <a:latin typeface="Consolas"/>
              </a:rPr>
              <a:t>build_demo_lakes.py --names config/demo/names.yaml</a:t>
            </a:r>
          </a:p>
        </p:txBody>
      </p:sp>
      <p:sp>
        <p:nvSpPr>
          <p:cNvPr id="13" name="TextBox 12"/>
          <p:cNvSpPr txBox="1"/>
          <p:nvPr/>
        </p:nvSpPr>
        <p:spPr>
          <a:xfrm>
            <a:off x="6492240" y="2514600"/>
            <a:ext cx="5285232" cy="2011680"/>
          </a:xfrm>
          <a:prstGeom prst="rect">
            <a:avLst/>
          </a:prstGeom>
          <a:noFill/>
        </p:spPr>
        <p:txBody>
          <a:bodyPr wrap="square" lIns="0" rIns="0" tIns="0" bIns="0" anchor="t">
            <a:spAutoFit/>
          </a:bodyPr>
          <a:lstStyle/>
          <a:p>
            <a:pPr algn="l" marL="201168" indent="-201168">
              <a:spcAft>
                <a:spcPts val="600"/>
              </a:spcAft>
              <a:buClr>
                <a:srgbClr val="E87A1E"/>
              </a:buClr>
              <a:buSzPct val="100000"/>
              <a:buFont typeface="Arial"/>
              <a:buChar char="•"/>
            </a:pPr>
            <a:r>
              <a:rPr sz="1300" b="1" i="0">
                <a:solidFill>
                  <a:srgbClr val="1C2433"/>
                </a:solidFill>
                <a:latin typeface="Calibri"/>
              </a:rPr>
              <a:t>The pattern:</a:t>
            </a:r>
            <a:r>
              <a:rPr sz="1300" b="0" i="0">
                <a:solidFill>
                  <a:srgbClr val="1C2433"/>
                </a:solidFill>
                <a:latin typeface="Calibri"/>
              </a:rPr>
              <a:t> </a:t>
            </a:r>
            <a:r>
              <a:rPr sz="1200" b="0" i="0">
                <a:solidFill>
                  <a:srgbClr val="0E7C86"/>
                </a:solidFill>
                <a:latin typeface="Consolas"/>
              </a:rPr>
              <a:t>data/testdata/&lt;domain&gt;/&lt;kind&gt;/*.jsonl.gz</a:t>
            </a:r>
            <a:r>
              <a:rPr sz="1300" b="0" i="0">
                <a:solidFill>
                  <a:srgbClr val="1C2433"/>
                </a:solidFill>
                <a:latin typeface="Calibri"/>
              </a:rPr>
              <a:t> → </a:t>
            </a:r>
            <a:r>
              <a:rPr sz="1200" b="0" i="0">
                <a:solidFill>
                  <a:srgbClr val="0E7C86"/>
                </a:solidFill>
                <a:latin typeface="Consolas"/>
              </a:rPr>
              <a:t>build_demo_lakes</a:t>
            </a:r>
            <a:r>
              <a:rPr sz="1300" b="0" i="0">
                <a:solidFill>
                  <a:srgbClr val="1C2433"/>
                </a:solidFill>
                <a:latin typeface="Calibri"/>
              </a:rPr>
              <a:t> → Delta → the pack's Delta connector</a:t>
            </a:r>
          </a:p>
          <a:p>
            <a:pPr algn="l" marL="201168" indent="-201168">
              <a:spcAft>
                <a:spcPts val="600"/>
              </a:spcAft>
              <a:buClr>
                <a:srgbClr val="E87A1E"/>
              </a:buClr>
              <a:buSzPct val="100000"/>
              <a:buFont typeface="Arial"/>
              <a:buChar char="•"/>
            </a:pPr>
            <a:r>
              <a:rPr sz="1300" b="0" i="0">
                <a:solidFill>
                  <a:srgbClr val="1C2433"/>
                </a:solidFill>
                <a:latin typeface="Calibri"/>
              </a:rPr>
              <a:t>tested with the demo connector </a:t>
            </a:r>
            <a:r>
              <a:rPr sz="1300" b="1" i="0">
                <a:solidFill>
                  <a:srgbClr val="1C2433"/>
                </a:solidFill>
                <a:latin typeface="Calibri"/>
              </a:rPr>
              <a:t>off</a:t>
            </a:r>
            <a:r>
              <a:rPr sz="1300" b="0" i="0">
                <a:solidFill>
                  <a:srgbClr val="1C2433"/>
                </a:solidFill>
                <a:latin typeface="Calibri"/>
              </a:rPr>
              <a:t>: a build test fails any shipped kind without a Delta connector</a:t>
            </a:r>
          </a:p>
          <a:p>
            <a:pPr algn="l" marL="201168" indent="-201168">
              <a:spcAft>
                <a:spcPts val="600"/>
              </a:spcAft>
              <a:buClr>
                <a:srgbClr val="E87A1E"/>
              </a:buClr>
              <a:buSzPct val="100000"/>
              <a:buFont typeface="Arial"/>
              <a:buChar char="•"/>
            </a:pPr>
            <a:r>
              <a:rPr sz="1300" b="0" i="0">
                <a:solidFill>
                  <a:srgbClr val="1C2433"/>
                </a:solidFill>
                <a:latin typeface="Calibri"/>
              </a:rPr>
              <a:t>the same commands build a lake on EFS for a proof of concept</a:t>
            </a:r>
          </a:p>
        </p:txBody>
      </p:sp>
      <p:sp>
        <p:nvSpPr>
          <p:cNvPr id="14" name="Callout"/>
          <p:cNvSpPr/>
          <p:nvPr/>
        </p:nvSpPr>
        <p:spPr>
          <a:xfrm>
            <a:off x="411480" y="4846320"/>
            <a:ext cx="11365992" cy="146304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allout edge"/>
          <p:cNvSpPr/>
          <p:nvPr/>
        </p:nvSpPr>
        <p:spPr>
          <a:xfrm>
            <a:off x="411480" y="4864607"/>
            <a:ext cx="82296" cy="14264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640080" y="4919472"/>
            <a:ext cx="11000232" cy="1316736"/>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Domains: trading, reference, legal, collateral, credit, </a:t>
            </a:r>
            <a:r>
              <a:rPr sz="1300" b="1" i="0">
                <a:solidFill>
                  <a:srgbClr val="1C2433"/>
                </a:solidFill>
                <a:latin typeface="Calibri"/>
              </a:rPr>
              <a:t>risk</a:t>
            </a:r>
            <a:r>
              <a:rPr sz="1300" b="0" i="0">
                <a:solidFill>
                  <a:srgbClr val="1C2433"/>
                </a:solidFill>
                <a:latin typeface="Calibri"/>
              </a:rPr>
              <a:t>, market, macro, news, civic, us-equities, gleif, funds. </a:t>
            </a:r>
            <a:r>
              <a:rPr sz="1300" b="1" i="0">
                <a:solidFill>
                  <a:srgbClr val="1C2433"/>
                </a:solidFill>
                <a:latin typeface="Calibri"/>
              </a:rPr>
              <a:t>Not a production ETL:</a:t>
            </a:r>
            <a:r>
              <a:rPr sz="1300" b="0" i="0">
                <a:solidFill>
                  <a:srgbClr val="1C2433"/>
                </a:solidFill>
                <a:latin typeface="Calibri"/>
              </a:rPr>
              <a:t> in production your own loads end with the data-load signal (DATA_LOADS.md), and on AWS the loader task does the work (slide 71).</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Public-data packs: real data on the same lake pattern</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5 · evidence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67</a:t>
            </a:r>
          </a:p>
        </p:txBody>
      </p:sp>
      <p:sp>
        <p:nvSpPr>
          <p:cNvPr id="10" name="Rounded Rectangle 9"/>
          <p:cNvSpPr/>
          <p:nvPr/>
        </p:nvSpPr>
        <p:spPr>
          <a:xfrm>
            <a:off x="411480" y="1188720"/>
            <a:ext cx="3611880" cy="141732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02920" y="1234440"/>
            <a:ext cx="34290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us-equities</a:t>
            </a:r>
          </a:p>
        </p:txBody>
      </p:sp>
      <p:sp>
        <p:nvSpPr>
          <p:cNvPr id="12" name="TextBox 11"/>
          <p:cNvSpPr txBox="1"/>
          <p:nvPr/>
        </p:nvSpPr>
        <p:spPr>
          <a:xfrm>
            <a:off x="502920" y="1554480"/>
            <a:ext cx="3429000" cy="10058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300" b="0" i="0">
                <a:solidFill>
                  <a:srgbClr val="1C2433"/>
                </a:solidFill>
                <a:latin typeface="Calibri"/>
              </a:rPr>
              <a:t>479 companies with SEC filings</a:t>
            </a:r>
          </a:p>
          <a:p>
            <a:pPr algn="l" marL="201168" indent="-201168">
              <a:spcAft>
                <a:spcPts val="200"/>
              </a:spcAft>
              <a:buClr>
                <a:srgbClr val="E87A1E"/>
              </a:buClr>
              <a:buSzPct val="100000"/>
              <a:buFont typeface="Arial"/>
              <a:buChar char="•"/>
            </a:pPr>
            <a:r>
              <a:rPr sz="1300" b="0" i="0">
                <a:solidFill>
                  <a:srgbClr val="1C2433"/>
                </a:solidFill>
                <a:latin typeface="Calibri"/>
              </a:rPr>
              <a:t>filings, facts, index members, SIC</a:t>
            </a:r>
          </a:p>
          <a:p>
            <a:pPr algn="l" marL="201168" indent="-201168">
              <a:spcAft>
                <a:spcPts val="200"/>
              </a:spcAft>
              <a:buClr>
                <a:srgbClr val="E87A1E"/>
              </a:buClr>
              <a:buSzPct val="100000"/>
              <a:buFont typeface="Arial"/>
              <a:buChar char="•"/>
            </a:pPr>
            <a:r>
              <a:rPr sz="1300" b="0" i="0">
                <a:solidFill>
                  <a:srgbClr val="1C2433"/>
                </a:solidFill>
                <a:latin typeface="Calibri"/>
              </a:rPr>
              <a:t>prices internal only, off</a:t>
            </a:r>
          </a:p>
        </p:txBody>
      </p:sp>
      <p:sp>
        <p:nvSpPr>
          <p:cNvPr id="13" name="Rounded Rectangle 12"/>
          <p:cNvSpPr/>
          <p:nvPr/>
        </p:nvSpPr>
        <p:spPr>
          <a:xfrm>
            <a:off x="4288536" y="1188720"/>
            <a:ext cx="3611880" cy="141732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4379976" y="1234440"/>
            <a:ext cx="34290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gleif</a:t>
            </a:r>
          </a:p>
        </p:txBody>
      </p:sp>
      <p:sp>
        <p:nvSpPr>
          <p:cNvPr id="15" name="TextBox 14"/>
          <p:cNvSpPr txBox="1"/>
          <p:nvPr/>
        </p:nvSpPr>
        <p:spPr>
          <a:xfrm>
            <a:off x="4379976" y="1554480"/>
            <a:ext cx="3429000" cy="10058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300" b="0" i="0">
                <a:solidFill>
                  <a:srgbClr val="1C2433"/>
                </a:solidFill>
                <a:latin typeface="Calibri"/>
              </a:rPr>
              <a:t>≈ 9,500 legal entities</a:t>
            </a:r>
          </a:p>
          <a:p>
            <a:pPr algn="l" marL="201168" indent="-201168">
              <a:spcAft>
                <a:spcPts val="200"/>
              </a:spcAft>
              <a:buClr>
                <a:srgbClr val="E87A1E"/>
              </a:buClr>
              <a:buSzPct val="100000"/>
              <a:buFont typeface="Arial"/>
              <a:buChar char="•"/>
            </a:pPr>
            <a:r>
              <a:rPr sz="1300" b="0" i="0">
                <a:solidFill>
                  <a:srgbClr val="1C2433"/>
                </a:solidFill>
                <a:latin typeface="Calibri"/>
              </a:rPr>
              <a:t>540 ownership groups, 132 countries</a:t>
            </a:r>
          </a:p>
          <a:p>
            <a:pPr algn="l" marL="201168" indent="-201168">
              <a:spcAft>
                <a:spcPts val="200"/>
              </a:spcAft>
              <a:buClr>
                <a:srgbClr val="E87A1E"/>
              </a:buClr>
              <a:buSzPct val="100000"/>
              <a:buFont typeface="Arial"/>
              <a:buChar char="•"/>
            </a:pPr>
            <a:r>
              <a:rPr sz="1300" b="0" i="0">
                <a:solidFill>
                  <a:srgbClr val="1C2433"/>
                </a:solidFill>
                <a:latin typeface="Calibri"/>
              </a:rPr>
              <a:t>LEI, BIC, ISIN mappings</a:t>
            </a:r>
          </a:p>
        </p:txBody>
      </p:sp>
      <p:sp>
        <p:nvSpPr>
          <p:cNvPr id="16" name="Rounded Rectangle 15"/>
          <p:cNvSpPr/>
          <p:nvPr/>
        </p:nvSpPr>
        <p:spPr>
          <a:xfrm>
            <a:off x="8165592" y="1188720"/>
            <a:ext cx="3611880" cy="141732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8257031" y="1234440"/>
            <a:ext cx="34290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funds</a:t>
            </a:r>
          </a:p>
        </p:txBody>
      </p:sp>
      <p:sp>
        <p:nvSpPr>
          <p:cNvPr id="18" name="TextBox 17"/>
          <p:cNvSpPr txBox="1"/>
          <p:nvPr/>
        </p:nvSpPr>
        <p:spPr>
          <a:xfrm>
            <a:off x="8257031" y="1554480"/>
            <a:ext cx="3429000" cy="10058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300" b="0" i="0">
                <a:solidFill>
                  <a:srgbClr val="1C2433"/>
                </a:solidFill>
                <a:latin typeface="Calibri"/>
              </a:rPr>
              <a:t>200 largest US funds and ETFs</a:t>
            </a:r>
          </a:p>
          <a:p>
            <a:pPr algn="l" marL="201168" indent="-201168">
              <a:spcAft>
                <a:spcPts val="200"/>
              </a:spcAft>
              <a:buClr>
                <a:srgbClr val="E87A1E"/>
              </a:buClr>
              <a:buSzPct val="100000"/>
              <a:buFont typeface="Arial"/>
              <a:buChar char="•"/>
            </a:pPr>
            <a:r>
              <a:rPr sz="1300" b="0" i="0">
                <a:solidFill>
                  <a:srgbClr val="1C2433"/>
                </a:solidFill>
                <a:latin typeface="Calibri"/>
              </a:rPr>
              <a:t>N-PORT holdings, N-CEN facts</a:t>
            </a:r>
          </a:p>
          <a:p>
            <a:pPr algn="l" marL="201168" indent="-201168">
              <a:spcAft>
                <a:spcPts val="200"/>
              </a:spcAft>
              <a:buClr>
                <a:srgbClr val="E87A1E"/>
              </a:buClr>
              <a:buSzPct val="100000"/>
              <a:buFont typeface="Arial"/>
              <a:buChar char="•"/>
            </a:pPr>
            <a:r>
              <a:rPr sz="1300" b="0" i="0">
                <a:solidFill>
                  <a:srgbClr val="1C2433"/>
                </a:solidFill>
                <a:latin typeface="Calibri"/>
              </a:rPr>
              <a:t>index weights from SEC data</a:t>
            </a:r>
          </a:p>
        </p:txBody>
      </p:sp>
      <p:sp>
        <p:nvSpPr>
          <p:cNvPr id="19" name="Rounded Rectangle 18"/>
          <p:cNvSpPr/>
          <p:nvPr/>
        </p:nvSpPr>
        <p:spPr>
          <a:xfrm>
            <a:off x="411480" y="2880360"/>
            <a:ext cx="2606040" cy="118872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502920" y="2926079"/>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refresh script</a:t>
            </a:r>
          </a:p>
        </p:txBody>
      </p:sp>
      <p:sp>
        <p:nvSpPr>
          <p:cNvPr id="21" name="TextBox 20"/>
          <p:cNvSpPr txBox="1"/>
          <p:nvPr/>
        </p:nvSpPr>
        <p:spPr>
          <a:xfrm>
            <a:off x="502920" y="3246120"/>
            <a:ext cx="2423160"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tools/publicdata/&lt;pack&gt;.py refresh</a:t>
            </a:r>
          </a:p>
        </p:txBody>
      </p:sp>
      <p:cxnSp>
        <p:nvCxnSpPr>
          <p:cNvPr id="22" name="Connector 21"/>
          <p:cNvCxnSpPr/>
          <p:nvPr/>
        </p:nvCxnSpPr>
        <p:spPr>
          <a:xfrm>
            <a:off x="3017520" y="3474720"/>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328416" y="2880360"/>
            <a:ext cx="2606040" cy="118872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xtBox 23"/>
          <p:cNvSpPr txBox="1"/>
          <p:nvPr/>
        </p:nvSpPr>
        <p:spPr>
          <a:xfrm>
            <a:off x="3419856" y="2926079"/>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committed snapshot</a:t>
            </a:r>
          </a:p>
        </p:txBody>
      </p:sp>
      <p:sp>
        <p:nvSpPr>
          <p:cNvPr id="25" name="TextBox 24"/>
          <p:cNvSpPr txBox="1"/>
          <p:nvPr/>
        </p:nvSpPr>
        <p:spPr>
          <a:xfrm>
            <a:off x="3419856" y="3246120"/>
            <a:ext cx="2423160"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snapshot-&lt;date&gt;.jsonl.gz</a:t>
            </a:r>
          </a:p>
        </p:txBody>
      </p:sp>
      <p:cxnSp>
        <p:nvCxnSpPr>
          <p:cNvPr id="26" name="Connector 25"/>
          <p:cNvCxnSpPr/>
          <p:nvPr/>
        </p:nvCxnSpPr>
        <p:spPr>
          <a:xfrm>
            <a:off x="5934456" y="3474720"/>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245352" y="2880360"/>
            <a:ext cx="2606040" cy="118872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6336792" y="2926079"/>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lake demo</a:t>
            </a:r>
          </a:p>
        </p:txBody>
      </p:sp>
      <p:sp>
        <p:nvSpPr>
          <p:cNvPr id="29" name="TextBox 28"/>
          <p:cNvSpPr txBox="1"/>
          <p:nvPr/>
        </p:nvSpPr>
        <p:spPr>
          <a:xfrm>
            <a:off x="6336792" y="3246120"/>
            <a:ext cx="2423160"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&lt;pack&gt;/&lt;kind&gt;</a:t>
            </a:r>
            <a:r>
              <a:rPr sz="1200" b="0" i="0">
                <a:solidFill>
                  <a:srgbClr val="1C2433"/>
                </a:solidFill>
                <a:latin typeface="Calibri"/>
              </a:rPr>
              <a:t> every demo day</a:t>
            </a:r>
          </a:p>
        </p:txBody>
      </p:sp>
      <p:cxnSp>
        <p:nvCxnSpPr>
          <p:cNvPr id="30" name="Connector 29"/>
          <p:cNvCxnSpPr/>
          <p:nvPr/>
        </p:nvCxnSpPr>
        <p:spPr>
          <a:xfrm>
            <a:off x="8851392" y="3474720"/>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162288" y="2880360"/>
            <a:ext cx="2606040" cy="118872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9253728" y="2926079"/>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Delta connector</a:t>
            </a:r>
          </a:p>
        </p:txBody>
      </p:sp>
      <p:sp>
        <p:nvSpPr>
          <p:cNvPr id="33" name="TextBox 32"/>
          <p:cNvSpPr txBox="1"/>
          <p:nvPr/>
        </p:nvSpPr>
        <p:spPr>
          <a:xfrm>
            <a:off x="9253728" y="3246120"/>
            <a:ext cx="2423160"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us-equities-store</a:t>
            </a:r>
            <a:r>
              <a:rPr sz="1200" b="0" i="0">
                <a:solidFill>
                  <a:srgbClr val="1C2433"/>
                </a:solidFill>
                <a:latin typeface="Calibri"/>
              </a:rPr>
              <a:t>, </a:t>
            </a:r>
            <a:r>
              <a:rPr sz="1100" b="0" i="0">
                <a:solidFill>
                  <a:srgbClr val="0E7C86"/>
                </a:solidFill>
                <a:latin typeface="Consolas"/>
              </a:rPr>
              <a:t>gleif-store</a:t>
            </a:r>
            <a:r>
              <a:rPr sz="1200" b="0" i="0">
                <a:solidFill>
                  <a:srgbClr val="1C2433"/>
                </a:solidFill>
                <a:latin typeface="Calibri"/>
              </a:rPr>
              <a:t> …</a:t>
            </a:r>
          </a:p>
        </p:txBody>
      </p:sp>
      <p:sp>
        <p:nvSpPr>
          <p:cNvPr id="34" name="TextBox 33"/>
          <p:cNvSpPr txBox="1"/>
          <p:nvPr/>
        </p:nvSpPr>
        <p:spPr>
          <a:xfrm>
            <a:off x="411480" y="4343400"/>
            <a:ext cx="11365992" cy="1737360"/>
          </a:xfrm>
          <a:prstGeom prst="rect">
            <a:avLst/>
          </a:prstGeom>
          <a:noFill/>
        </p:spPr>
        <p:txBody>
          <a:bodyPr wrap="square" lIns="0" rIns="0" tIns="0" bIns="0" anchor="t">
            <a:spAutoFit/>
          </a:bodyPr>
          <a:lstStyle/>
          <a:p>
            <a:pPr algn="l" marL="201168" indent="-201168">
              <a:spcAft>
                <a:spcPts val="500"/>
              </a:spcAft>
              <a:buClr>
                <a:srgbClr val="E87A1E"/>
              </a:buClr>
              <a:buSzPct val="100000"/>
              <a:buFont typeface="Arial"/>
              <a:buChar char="•"/>
            </a:pPr>
            <a:r>
              <a:rPr sz="1300" b="0" i="0">
                <a:solidFill>
                  <a:srgbClr val="1C2433"/>
                </a:solidFill>
                <a:latin typeface="Calibri"/>
              </a:rPr>
              <a:t>One standalone refresh script per pack (</a:t>
            </a:r>
            <a:r>
              <a:rPr sz="1200" b="0" i="0">
                <a:solidFill>
                  <a:srgbClr val="0E7C86"/>
                </a:solidFill>
                <a:latin typeface="Consolas"/>
              </a:rPr>
              <a:t>status</a:t>
            </a:r>
            <a:r>
              <a:rPr sz="1300" b="0" i="0">
                <a:solidFill>
                  <a:srgbClr val="1C2433"/>
                </a:solidFill>
                <a:latin typeface="Calibri"/>
              </a:rPr>
              <a:t>, </a:t>
            </a:r>
            <a:r>
              <a:rPr sz="1200" b="0" i="0">
                <a:solidFill>
                  <a:srgbClr val="0E7C86"/>
                </a:solidFill>
                <a:latin typeface="Consolas"/>
              </a:rPr>
              <a:t>refresh</a:t>
            </a:r>
            <a:r>
              <a:rPr sz="1300" b="0" i="0">
                <a:solidFill>
                  <a:srgbClr val="1C2433"/>
                </a:solidFill>
                <a:latin typeface="Calibri"/>
              </a:rPr>
              <a:t>, </a:t>
            </a:r>
            <a:r>
              <a:rPr sz="1200" b="0" i="0">
                <a:solidFill>
                  <a:srgbClr val="0E7C86"/>
                </a:solidFill>
                <a:latin typeface="Consolas"/>
              </a:rPr>
              <a:t>--dry-run</a:t>
            </a:r>
            <a:r>
              <a:rPr sz="1300" b="0" i="0">
                <a:solidFill>
                  <a:srgbClr val="1C2433"/>
                </a:solidFill>
                <a:latin typeface="Calibri"/>
              </a:rPr>
              <a:t>, </a:t>
            </a:r>
            <a:r>
              <a:rPr sz="1200" b="0" i="0">
                <a:solidFill>
                  <a:srgbClr val="0E7C86"/>
                </a:solidFill>
                <a:latin typeface="Consolas"/>
              </a:rPr>
              <a:t>--offline</a:t>
            </a:r>
            <a:r>
              <a:rPr sz="1300" b="0" i="0">
                <a:solidFill>
                  <a:srgbClr val="1C2433"/>
                </a:solidFill>
                <a:latin typeface="Calibri"/>
              </a:rPr>
              <a:t>), </a:t>
            </a:r>
            <a:r>
              <a:rPr sz="1200" b="0" i="0">
                <a:solidFill>
                  <a:srgbClr val="0E7C86"/>
                </a:solidFill>
                <a:latin typeface="Consolas"/>
              </a:rPr>
              <a:t>.sh</a:t>
            </a:r>
            <a:r>
              <a:rPr sz="1300" b="0" i="0">
                <a:solidFill>
                  <a:srgbClr val="1C2433"/>
                </a:solidFill>
                <a:latin typeface="Calibri"/>
              </a:rPr>
              <a:t> and </a:t>
            </a:r>
            <a:r>
              <a:rPr sz="1200" b="0" i="0">
                <a:solidFill>
                  <a:srgbClr val="0E7C86"/>
                </a:solidFill>
                <a:latin typeface="Consolas"/>
              </a:rPr>
              <a:t>.ps1</a:t>
            </a:r>
            <a:r>
              <a:rPr sz="1300" b="0" i="0">
                <a:solidFill>
                  <a:srgbClr val="1C2433"/>
                </a:solidFill>
                <a:latin typeface="Calibri"/>
              </a:rPr>
              <a:t> wrappers</a:t>
            </a:r>
          </a:p>
          <a:p>
            <a:pPr algn="l" marL="201168" indent="-201168">
              <a:spcAft>
                <a:spcPts val="500"/>
              </a:spcAft>
              <a:buClr>
                <a:srgbClr val="E87A1E"/>
              </a:buClr>
              <a:buSzPct val="100000"/>
              <a:buFont typeface="Arial"/>
              <a:buChar char="•"/>
            </a:pPr>
            <a:r>
              <a:rPr sz="1300" b="0" i="0">
                <a:solidFill>
                  <a:srgbClr val="1C2433"/>
                </a:solidFill>
                <a:latin typeface="Calibri"/>
              </a:rPr>
              <a:t>Internal-only sources (IMF, Yahoo, news) are refused in committed folders without </a:t>
            </a:r>
            <a:r>
              <a:rPr sz="1200" b="0" i="0">
                <a:solidFill>
                  <a:srgbClr val="0E7C86"/>
                </a:solidFill>
                <a:latin typeface="Consolas"/>
              </a:rPr>
              <a:t>--internal-ok</a:t>
            </a:r>
          </a:p>
          <a:p>
            <a:pPr algn="l" marL="201168" indent="-201168">
              <a:spcAft>
                <a:spcPts val="500"/>
              </a:spcAft>
              <a:buClr>
                <a:srgbClr val="E87A1E"/>
              </a:buClr>
              <a:buSzPct val="100000"/>
              <a:buFont typeface="Arial"/>
              <a:buChar char="•"/>
            </a:pPr>
            <a:r>
              <a:rPr sz="1300" b="0" i="0">
                <a:solidFill>
                  <a:srgbClr val="1C2433"/>
                </a:solidFill>
                <a:latin typeface="Calibri"/>
              </a:rPr>
              <a:t>Names in the type-ahead from promoted columns: </a:t>
            </a:r>
            <a:r>
              <a:rPr sz="1200" b="0" i="0">
                <a:solidFill>
                  <a:srgbClr val="0E7C86"/>
                </a:solidFill>
                <a:latin typeface="Consolas"/>
              </a:rPr>
              <a:t>USEQ Ford</a:t>
            </a:r>
            <a:r>
              <a:rPr sz="1300" b="0" i="0">
                <a:solidFill>
                  <a:srgbClr val="1C2433"/>
                </a:solidFill>
                <a:latin typeface="Calibri"/>
              </a:rPr>
              <a:t> finds </a:t>
            </a:r>
            <a:r>
              <a:rPr sz="1200" b="0" i="0">
                <a:solidFill>
                  <a:srgbClr val="0E7C86"/>
                </a:solidFill>
                <a:latin typeface="Consolas"/>
              </a:rPr>
              <a:t>F</a:t>
            </a:r>
            <a:r>
              <a:rPr sz="1300" b="0" i="0">
                <a:solidFill>
                  <a:srgbClr val="1C2433"/>
                </a:solidFill>
                <a:latin typeface="Calibri"/>
              </a:rPr>
              <a:t> (</a:t>
            </a:r>
            <a:r>
              <a:rPr sz="1200" b="0" i="0">
                <a:solidFill>
                  <a:srgbClr val="0E7C86"/>
                </a:solidFill>
                <a:latin typeface="Consolas"/>
              </a:rPr>
              <a:t>layout.&lt;kind&gt;.type-ahead</a:t>
            </a:r>
            <a:r>
              <a:rPr sz="1300" b="0" i="0">
                <a:solidFill>
                  <a:srgbClr val="1C2433"/>
                </a:solidFill>
                <a:latin typeface="Calibri"/>
              </a:rPr>
              <a: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DATAMAP: every kind, count and join, checked against the lake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5 · evidence</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68</a:t>
            </a:r>
          </a:p>
        </p:txBody>
      </p:sp>
      <p:pic>
        <p:nvPicPr>
          <p:cNvPr id="10" name="DATAMAP screenshot" descr="datamap-trade.jpg"/>
          <p:cNvPicPr>
            <a:picLocks noChangeAspect="1"/>
          </p:cNvPicPr>
          <p:nvPr/>
        </p:nvPicPr>
        <p:blipFill>
          <a:blip r:embed="rId4"/>
          <a:stretch>
            <a:fillRect/>
          </a:stretch>
        </p:blipFill>
        <p:spPr>
          <a:xfrm>
            <a:off x="411480" y="1188720"/>
            <a:ext cx="6729984" cy="4206240"/>
          </a:xfrm>
          <a:prstGeom prst="rect">
            <a:avLst/>
          </a:prstGeom>
        </p:spPr>
      </p:pic>
      <p:sp>
        <p:nvSpPr>
          <p:cNvPr id="11" name="TextBox 10"/>
          <p:cNvSpPr txBox="1"/>
          <p:nvPr/>
        </p:nvSpPr>
        <p:spPr>
          <a:xfrm>
            <a:off x="411480" y="5440680"/>
            <a:ext cx="6729984" cy="868680"/>
          </a:xfrm>
          <a:prstGeom prst="rect">
            <a:avLst/>
          </a:prstGeom>
          <a:noFill/>
        </p:spPr>
        <p:txBody>
          <a:bodyPr wrap="square" lIns="0" rIns="0" tIns="0" bIns="0" anchor="t">
            <a:spAutoFit/>
          </a:bodyPr>
          <a:lstStyle/>
          <a:p>
            <a:pPr algn="l">
              <a:spcAft>
                <a:spcPts val="600"/>
              </a:spcAft>
              <a:buNone/>
            </a:pPr>
            <a:r>
              <a:rPr sz="1100" b="0" i="0">
                <a:solidFill>
                  <a:srgbClr val="0E7C86"/>
                </a:solidFill>
                <a:latin typeface="Consolas"/>
              </a:rPr>
              <a:t>DATAMAP trade</a:t>
            </a:r>
            <a:r>
              <a:rPr sz="1200" b="0" i="0">
                <a:solidFill>
                  <a:srgbClr val="5B677A"/>
                </a:solidFill>
                <a:latin typeface="Calibri"/>
              </a:rPr>
              <a:t>: the selection across the top (Trade and its joins, each checked against the lake), the map at full width under it (QUICKSTART packs, 2026-10-30).</a:t>
            </a:r>
          </a:p>
        </p:txBody>
      </p:sp>
      <p:sp>
        <p:nvSpPr>
          <p:cNvPr id="12" name="TextBox 11"/>
          <p:cNvSpPr txBox="1"/>
          <p:nvPr/>
        </p:nvSpPr>
        <p:spPr>
          <a:xfrm>
            <a:off x="7406640" y="1188720"/>
            <a:ext cx="4370832" cy="3200400"/>
          </a:xfrm>
          <a:prstGeom prst="rect">
            <a:avLst/>
          </a:prstGeom>
          <a:noFill/>
        </p:spPr>
        <p:txBody>
          <a:bodyPr wrap="square" lIns="0" rIns="0" tIns="0" bIns="0" anchor="t">
            <a:spAutoFit/>
          </a:bodyPr>
          <a:lstStyle/>
          <a:p>
            <a:pPr algn="l" marL="201168" indent="-201168">
              <a:spcAft>
                <a:spcPts val="700"/>
              </a:spcAft>
              <a:buClr>
                <a:srgbClr val="E87A1E"/>
              </a:buClr>
              <a:buSzPct val="100000"/>
              <a:buFont typeface="Arial"/>
              <a:buChar char="•"/>
            </a:pPr>
            <a:r>
              <a:rPr sz="1300" b="0" i="0">
                <a:solidFill>
                  <a:srgbClr val="1C2433"/>
                </a:solidFill>
                <a:latin typeface="Calibri"/>
              </a:rPr>
              <a:t>kinds from the packs' contracts; computed kinds (VaR, exposure) dashed</a:t>
            </a:r>
          </a:p>
          <a:p>
            <a:pPr algn="l" marL="201168" indent="-201168">
              <a:spcAft>
                <a:spcPts val="700"/>
              </a:spcAft>
              <a:buClr>
                <a:srgbClr val="E87A1E"/>
              </a:buClr>
              <a:buSzPct val="100000"/>
              <a:buFont typeface="Arial"/>
              <a:buChar char="•"/>
            </a:pPr>
            <a:r>
              <a:rPr sz="1300" b="0" i="0">
                <a:solidFill>
                  <a:srgbClr val="1C2433"/>
                </a:solidFill>
                <a:latin typeface="Calibri"/>
              </a:rPr>
              <a:t>joins from </a:t>
            </a:r>
            <a:r>
              <a:rPr sz="1200" b="0" i="0">
                <a:solidFill>
                  <a:srgbClr val="0E7C86"/>
                </a:solidFill>
                <a:latin typeface="Consolas"/>
              </a:rPr>
              <a:t>links:</a:t>
            </a:r>
            <a:r>
              <a:rPr sz="1300" b="0" i="0">
                <a:solidFill>
                  <a:srgbClr val="1C2433"/>
                </a:solidFill>
                <a:latin typeface="Calibri"/>
              </a:rPr>
              <a:t>, </a:t>
            </a:r>
            <a:r>
              <a:rPr sz="1200" b="0" i="0">
                <a:solidFill>
                  <a:srgbClr val="0E7C86"/>
                </a:solidFill>
                <a:latin typeface="Consolas"/>
              </a:rPr>
              <a:t>link:</a:t>
            </a:r>
            <a:r>
              <a:rPr sz="1300" b="0" i="0">
                <a:solidFill>
                  <a:srgbClr val="1C2433"/>
                </a:solidFill>
                <a:latin typeface="Calibri"/>
              </a:rPr>
              <a:t> and </a:t>
            </a:r>
            <a:r>
              <a:rPr sz="1200" b="0" i="0">
                <a:solidFill>
                  <a:srgbClr val="0E7C86"/>
                </a:solidFill>
                <a:latin typeface="Consolas"/>
              </a:rPr>
              <a:t>graph.fields</a:t>
            </a:r>
            <a:r>
              <a:rPr sz="1300" b="0" i="0">
                <a:solidFill>
                  <a:srgbClr val="1C2433"/>
                </a:solidFill>
                <a:latin typeface="Calibri"/>
              </a:rPr>
              <a:t>, </a:t>
            </a:r>
            <a:r>
              <a:rPr sz="1300" b="1" i="0">
                <a:solidFill>
                  <a:srgbClr val="1C2433"/>
                </a:solidFill>
                <a:latin typeface="Calibri"/>
              </a:rPr>
              <a:t>each checked against the lake</a:t>
            </a:r>
            <a:r>
              <a:rPr sz="1300" b="0" i="0">
                <a:solidFill>
                  <a:srgbClr val="1C2433"/>
                </a:solidFill>
                <a:latin typeface="Calibri"/>
              </a:rPr>
              <a:t>: under 95 % match is a finding</a:t>
            </a:r>
          </a:p>
          <a:p>
            <a:pPr algn="l" marL="201168" indent="-201168">
              <a:spcAft>
                <a:spcPts val="700"/>
              </a:spcAft>
              <a:buClr>
                <a:srgbClr val="E87A1E"/>
              </a:buClr>
              <a:buSzPct val="100000"/>
              <a:buFont typeface="Arial"/>
              <a:buChar char="•"/>
            </a:pPr>
            <a:r>
              <a:rPr sz="1300" b="0" i="0">
                <a:solidFill>
                  <a:srgbClr val="1C2433"/>
                </a:solidFill>
                <a:latin typeface="Calibri"/>
              </a:rPr>
              <a:t>counts per business date, cached 15 minutes; read from the day's columns, never documents</a:t>
            </a:r>
          </a:p>
        </p:txBody>
      </p:sp>
      <p:sp>
        <p:nvSpPr>
          <p:cNvPr id="13" name="Callout"/>
          <p:cNvSpPr/>
          <p:nvPr/>
        </p:nvSpPr>
        <p:spPr>
          <a:xfrm>
            <a:off x="7406640" y="4526280"/>
            <a:ext cx="4370832" cy="178308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Callout edge"/>
          <p:cNvSpPr/>
          <p:nvPr/>
        </p:nvSpPr>
        <p:spPr>
          <a:xfrm>
            <a:off x="7406640" y="4544568"/>
            <a:ext cx="82296" cy="17465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7635240" y="4599432"/>
            <a:ext cx="4005072" cy="163677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On the demo lake</a:t>
            </a:r>
          </a:p>
          <a:p>
            <a:pPr algn="l">
              <a:spcAft>
                <a:spcPts val="600"/>
              </a:spcAft>
              <a:buNone/>
            </a:pPr>
            <a:r>
              <a:rPr sz="1300" b="0" i="0">
                <a:solidFill>
                  <a:srgbClr val="1C2433"/>
                </a:solidFill>
                <a:latin typeface="Calibri"/>
              </a:rPr>
              <a:t>Measured 2026-10-27, 10 packs: 96 kinds, 226 joins, 176 checked in about 1.5 s; 11 findings to fix in the contracts or the data.</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06</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Operating it</a:t>
            </a:r>
          </a:p>
        </p:txBody>
      </p:sp>
      <p:pic>
        <p:nvPicPr>
          <p:cNvPr id="5" name="Drishti mark" descr="Drishti logo: an eye between curly brackets"/>
          <p:cNvPicPr>
            <a:picLocks noChangeAspect="1"/>
          </p:cNvPicPr>
          <p:nvPr/>
        </p:nvPicPr>
        <p:blipFill>
          <a:blip r:embed="rId2"/>
          <a:stretch>
            <a:fillRect/>
          </a:stretch>
        </p:blipFill>
        <p:spPr>
          <a:xfrm>
            <a:off x="822960" y="6236208"/>
            <a:ext cx="430911" cy="237744"/>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Setup at a glance: steps 0 to 11, Delta and Iceberg</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6 · operating it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70</a:t>
            </a:r>
          </a:p>
        </p:txBody>
      </p:sp>
      <p:sp>
        <p:nvSpPr>
          <p:cNvPr id="10" name="Rounded Rectangle 9"/>
          <p:cNvSpPr/>
          <p:nvPr/>
        </p:nvSpPr>
        <p:spPr>
          <a:xfrm>
            <a:off x="411480" y="1143000"/>
            <a:ext cx="2697480" cy="1463040"/>
          </a:xfrm>
          <a:prstGeom prst="roundRect">
            <a:avLst>
              <a:gd name="adj" fmla="val 8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Oval 10"/>
          <p:cNvSpPr/>
          <p:nvPr/>
        </p:nvSpPr>
        <p:spPr>
          <a:xfrm>
            <a:off x="502920" y="1234440"/>
            <a:ext cx="420624" cy="420624"/>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spcAft>
                <a:spcPts val="0"/>
              </a:spcAft>
              <a:buNone/>
            </a:pPr>
            <a:r>
              <a:rPr sz="1300" b="1" i="0">
                <a:solidFill>
                  <a:srgbClr val="FFFFFF"/>
                </a:solidFill>
                <a:latin typeface="Calibri"/>
              </a:rPr>
              <a:t>0</a:t>
            </a:r>
          </a:p>
        </p:txBody>
      </p:sp>
      <p:sp>
        <p:nvSpPr>
          <p:cNvPr id="12" name="TextBox 11"/>
          <p:cNvSpPr txBox="1"/>
          <p:nvPr/>
        </p:nvSpPr>
        <p:spPr>
          <a:xfrm>
            <a:off x="1005840" y="1216152"/>
            <a:ext cx="2039112" cy="45720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Prerequisites</a:t>
            </a:r>
          </a:p>
        </p:txBody>
      </p:sp>
      <p:sp>
        <p:nvSpPr>
          <p:cNvPr id="13" name="TextBox 12"/>
          <p:cNvSpPr txBox="1"/>
          <p:nvPr/>
        </p:nvSpPr>
        <p:spPr>
          <a:xfrm>
            <a:off x="521208" y="1737360"/>
            <a:ext cx="2478024" cy="822960"/>
          </a:xfrm>
          <a:prstGeom prst="rect">
            <a:avLst/>
          </a:prstGeom>
          <a:noFill/>
        </p:spPr>
        <p:txBody>
          <a:bodyPr wrap="square" lIns="0" rIns="0" tIns="0" bIns="0" anchor="t">
            <a:spAutoFit/>
          </a:bodyPr>
          <a:lstStyle/>
          <a:p>
            <a:pPr algn="l">
              <a:spcAft>
                <a:spcPts val="200"/>
              </a:spcAft>
              <a:buNone/>
            </a:pPr>
            <a:r>
              <a:rPr sz="1100" b="1" i="0">
                <a:solidFill>
                  <a:srgbClr val="1C2433"/>
                </a:solidFill>
                <a:latin typeface="Calibri"/>
              </a:rPr>
              <a:t>Delta:</a:t>
            </a:r>
            <a:r>
              <a:rPr sz="1100" b="0" i="0">
                <a:solidFill>
                  <a:srgbClr val="1C2433"/>
                </a:solidFill>
                <a:latin typeface="Calibri"/>
              </a:rPr>
              <a:t> VPC, endpoints, EFS, KMS, ECS, ALB, SNS, secrets</a:t>
            </a:r>
          </a:p>
          <a:p>
            <a:pPr algn="l">
              <a:spcAft>
                <a:spcPts val="600"/>
              </a:spcAft>
              <a:buNone/>
            </a:pPr>
            <a:r>
              <a:rPr sz="1100" b="1" i="0">
                <a:solidFill>
                  <a:srgbClr val="0E7C86"/>
                </a:solidFill>
                <a:latin typeface="Calibri"/>
              </a:rPr>
              <a:t>Iceberg:</a:t>
            </a:r>
            <a:r>
              <a:rPr sz="1100" b="0" i="0">
                <a:solidFill>
                  <a:srgbClr val="0E7C86"/>
                </a:solidFill>
                <a:latin typeface="Calibri"/>
              </a:rPr>
              <a:t> + a Glue endpoint if Glue</a:t>
            </a:r>
          </a:p>
        </p:txBody>
      </p:sp>
      <p:sp>
        <p:nvSpPr>
          <p:cNvPr id="14" name="Rounded Rectangle 13"/>
          <p:cNvSpPr/>
          <p:nvPr/>
        </p:nvSpPr>
        <p:spPr>
          <a:xfrm>
            <a:off x="3300984" y="1143000"/>
            <a:ext cx="2697480" cy="1463040"/>
          </a:xfrm>
          <a:prstGeom prst="roundRect">
            <a:avLst>
              <a:gd name="adj" fmla="val 8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val 14"/>
          <p:cNvSpPr/>
          <p:nvPr/>
        </p:nvSpPr>
        <p:spPr>
          <a:xfrm>
            <a:off x="3392424" y="1234440"/>
            <a:ext cx="420624" cy="420624"/>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spcAft>
                <a:spcPts val="0"/>
              </a:spcAft>
              <a:buNone/>
            </a:pPr>
            <a:r>
              <a:rPr sz="1300" b="1" i="0">
                <a:solidFill>
                  <a:srgbClr val="FFFFFF"/>
                </a:solidFill>
                <a:latin typeface="Calibri"/>
              </a:rPr>
              <a:t>1</a:t>
            </a:r>
          </a:p>
        </p:txBody>
      </p:sp>
      <p:sp>
        <p:nvSpPr>
          <p:cNvPr id="16" name="TextBox 15"/>
          <p:cNvSpPr txBox="1"/>
          <p:nvPr/>
        </p:nvSpPr>
        <p:spPr>
          <a:xfrm>
            <a:off x="3895344" y="1216152"/>
            <a:ext cx="2039112" cy="45720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Settings</a:t>
            </a:r>
          </a:p>
        </p:txBody>
      </p:sp>
      <p:sp>
        <p:nvSpPr>
          <p:cNvPr id="17" name="TextBox 16"/>
          <p:cNvSpPr txBox="1"/>
          <p:nvPr/>
        </p:nvSpPr>
        <p:spPr>
          <a:xfrm>
            <a:off x="3410712" y="1737360"/>
            <a:ext cx="2478024" cy="822960"/>
          </a:xfrm>
          <a:prstGeom prst="rect">
            <a:avLst/>
          </a:prstGeom>
          <a:noFill/>
        </p:spPr>
        <p:txBody>
          <a:bodyPr wrap="square" lIns="0" rIns="0" tIns="0" bIns="0" anchor="t">
            <a:spAutoFit/>
          </a:bodyPr>
          <a:lstStyle/>
          <a:p>
            <a:pPr algn="l">
              <a:spcAft>
                <a:spcPts val="200"/>
              </a:spcAft>
              <a:buNone/>
            </a:pPr>
            <a:r>
              <a:rPr sz="1100" b="1" i="0">
                <a:solidFill>
                  <a:srgbClr val="1C2433"/>
                </a:solidFill>
                <a:latin typeface="Calibri"/>
              </a:rPr>
              <a:t>Delta:</a:t>
            </a:r>
            <a:r>
              <a:rPr sz="1100" b="0" i="0">
                <a:solidFill>
                  <a:srgbClr val="1C2433"/>
                </a:solidFill>
                <a:latin typeface="Calibri"/>
              </a:rPr>
              <a:t> </a:t>
            </a:r>
            <a:r>
              <a:rPr sz="1100" b="0" i="0">
                <a:solidFill>
                  <a:srgbClr val="0E7C86"/>
                </a:solidFill>
                <a:latin typeface="Consolas"/>
              </a:rPr>
              <a:t>deploy/aws/env</a:t>
            </a:r>
            <a:r>
              <a:rPr sz="1100" b="0" i="0">
                <a:solidFill>
                  <a:srgbClr val="1C2433"/>
                </a:solidFill>
                <a:latin typeface="Calibri"/>
              </a:rPr>
              <a:t> from env.example</a:t>
            </a:r>
          </a:p>
          <a:p>
            <a:pPr algn="l">
              <a:spcAft>
                <a:spcPts val="600"/>
              </a:spcAft>
              <a:buNone/>
            </a:pPr>
            <a:r>
              <a:rPr sz="1100" b="1" i="0">
                <a:solidFill>
                  <a:srgbClr val="0E7C86"/>
                </a:solidFill>
                <a:latin typeface="Calibri"/>
              </a:rPr>
              <a:t>Iceberg:</a:t>
            </a:r>
            <a:r>
              <a:rPr sz="1100" b="0" i="0">
                <a:solidFill>
                  <a:srgbClr val="0E7C86"/>
                </a:solidFill>
                <a:latin typeface="Calibri"/>
              </a:rPr>
              <a:t> </a:t>
            </a:r>
            <a:r>
              <a:rPr sz="1100" b="0" i="0">
                <a:solidFill>
                  <a:srgbClr val="0E7C86"/>
                </a:solidFill>
                <a:latin typeface="Consolas"/>
              </a:rPr>
              <a:t>ICEBERG_TABLES_FILE</a:t>
            </a:r>
            <a:r>
              <a:rPr sz="1100" b="0" i="0">
                <a:solidFill>
                  <a:srgbClr val="0E7C86"/>
                </a:solidFill>
                <a:latin typeface="Calibri"/>
              </a:rPr>
              <a:t>, </a:t>
            </a:r>
            <a:r>
              <a:rPr sz="1100" b="0" i="0">
                <a:solidFill>
                  <a:srgbClr val="0E7C86"/>
                </a:solidFill>
                <a:latin typeface="Consolas"/>
              </a:rPr>
              <a:t>ICEBERG_PREFIX</a:t>
            </a:r>
          </a:p>
        </p:txBody>
      </p:sp>
      <p:sp>
        <p:nvSpPr>
          <p:cNvPr id="18" name="Rounded Rectangle 17"/>
          <p:cNvSpPr/>
          <p:nvPr/>
        </p:nvSpPr>
        <p:spPr>
          <a:xfrm>
            <a:off x="6190488" y="1143000"/>
            <a:ext cx="2697480" cy="1463040"/>
          </a:xfrm>
          <a:prstGeom prst="roundRect">
            <a:avLst>
              <a:gd name="adj" fmla="val 8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Oval 18"/>
          <p:cNvSpPr/>
          <p:nvPr/>
        </p:nvSpPr>
        <p:spPr>
          <a:xfrm>
            <a:off x="6281928" y="1234440"/>
            <a:ext cx="420624" cy="420624"/>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spcAft>
                <a:spcPts val="0"/>
              </a:spcAft>
              <a:buNone/>
            </a:pPr>
            <a:r>
              <a:rPr sz="1300" b="1" i="0">
                <a:solidFill>
                  <a:srgbClr val="FFFFFF"/>
                </a:solidFill>
                <a:latin typeface="Calibri"/>
              </a:rPr>
              <a:t>2</a:t>
            </a:r>
          </a:p>
        </p:txBody>
      </p:sp>
      <p:sp>
        <p:nvSpPr>
          <p:cNvPr id="20" name="TextBox 19"/>
          <p:cNvSpPr txBox="1"/>
          <p:nvPr/>
        </p:nvSpPr>
        <p:spPr>
          <a:xfrm>
            <a:off x="6784848" y="1216152"/>
            <a:ext cx="2039112" cy="45720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Buckets</a:t>
            </a:r>
          </a:p>
        </p:txBody>
      </p:sp>
      <p:sp>
        <p:nvSpPr>
          <p:cNvPr id="21" name="TextBox 20"/>
          <p:cNvSpPr txBox="1"/>
          <p:nvPr/>
        </p:nvSpPr>
        <p:spPr>
          <a:xfrm>
            <a:off x="6300216" y="1737360"/>
            <a:ext cx="2478024" cy="822960"/>
          </a:xfrm>
          <a:prstGeom prst="rect">
            <a:avLst/>
          </a:prstGeom>
          <a:noFill/>
        </p:spPr>
        <p:txBody>
          <a:bodyPr wrap="square" lIns="0" rIns="0" tIns="0" bIns="0" anchor="t">
            <a:spAutoFit/>
          </a:bodyPr>
          <a:lstStyle/>
          <a:p>
            <a:pPr algn="l">
              <a:spcAft>
                <a:spcPts val="200"/>
              </a:spcAft>
              <a:buNone/>
            </a:pPr>
            <a:r>
              <a:rPr sz="1100" b="1" i="0">
                <a:solidFill>
                  <a:srgbClr val="1C2433"/>
                </a:solidFill>
                <a:latin typeface="Calibri"/>
              </a:rPr>
              <a:t>Delta:</a:t>
            </a:r>
            <a:r>
              <a:rPr sz="1100" b="0" i="0">
                <a:solidFill>
                  <a:srgbClr val="1C2433"/>
                </a:solidFill>
                <a:latin typeface="Calibri"/>
              </a:rPr>
              <a:t> </a:t>
            </a:r>
            <a:r>
              <a:rPr sz="1100" b="0" i="0">
                <a:solidFill>
                  <a:srgbClr val="0E7C86"/>
                </a:solidFill>
                <a:latin typeface="Consolas"/>
              </a:rPr>
              <a:t>setup-buckets.sh</a:t>
            </a:r>
          </a:p>
          <a:p>
            <a:pPr algn="l">
              <a:spcAft>
                <a:spcPts val="600"/>
              </a:spcAft>
              <a:buNone/>
            </a:pPr>
            <a:r>
              <a:rPr sz="1100" b="1" i="0">
                <a:solidFill>
                  <a:srgbClr val="0E7C86"/>
                </a:solidFill>
                <a:latin typeface="Calibri"/>
              </a:rPr>
              <a:t>Iceberg:</a:t>
            </a:r>
            <a:r>
              <a:rPr sz="1100" b="0" i="0">
                <a:solidFill>
                  <a:srgbClr val="0E7C86"/>
                </a:solidFill>
                <a:latin typeface="Calibri"/>
              </a:rPr>
              <a:t> unchanged</a:t>
            </a:r>
          </a:p>
        </p:txBody>
      </p:sp>
      <p:sp>
        <p:nvSpPr>
          <p:cNvPr id="22" name="Rounded Rectangle 21"/>
          <p:cNvSpPr/>
          <p:nvPr/>
        </p:nvSpPr>
        <p:spPr>
          <a:xfrm>
            <a:off x="9079992" y="1143000"/>
            <a:ext cx="2697480" cy="1463040"/>
          </a:xfrm>
          <a:prstGeom prst="roundRect">
            <a:avLst>
              <a:gd name="adj" fmla="val 8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Oval 22"/>
          <p:cNvSpPr/>
          <p:nvPr/>
        </p:nvSpPr>
        <p:spPr>
          <a:xfrm>
            <a:off x="9171432" y="1234440"/>
            <a:ext cx="420624" cy="420624"/>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spcAft>
                <a:spcPts val="0"/>
              </a:spcAft>
              <a:buNone/>
            </a:pPr>
            <a:r>
              <a:rPr sz="1300" b="1" i="0">
                <a:solidFill>
                  <a:srgbClr val="FFFFFF"/>
                </a:solidFill>
                <a:latin typeface="Calibri"/>
              </a:rPr>
              <a:t>3</a:t>
            </a:r>
          </a:p>
        </p:txBody>
      </p:sp>
      <p:sp>
        <p:nvSpPr>
          <p:cNvPr id="24" name="TextBox 23"/>
          <p:cNvSpPr txBox="1"/>
          <p:nvPr/>
        </p:nvSpPr>
        <p:spPr>
          <a:xfrm>
            <a:off x="9674352" y="1216152"/>
            <a:ext cx="2039112" cy="45720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IAM</a:t>
            </a:r>
          </a:p>
        </p:txBody>
      </p:sp>
      <p:sp>
        <p:nvSpPr>
          <p:cNvPr id="25" name="TextBox 24"/>
          <p:cNvSpPr txBox="1"/>
          <p:nvPr/>
        </p:nvSpPr>
        <p:spPr>
          <a:xfrm>
            <a:off x="9189719" y="1737360"/>
            <a:ext cx="2478024" cy="822960"/>
          </a:xfrm>
          <a:prstGeom prst="rect">
            <a:avLst/>
          </a:prstGeom>
          <a:noFill/>
        </p:spPr>
        <p:txBody>
          <a:bodyPr wrap="square" lIns="0" rIns="0" tIns="0" bIns="0" anchor="t">
            <a:spAutoFit/>
          </a:bodyPr>
          <a:lstStyle/>
          <a:p>
            <a:pPr algn="l">
              <a:spcAft>
                <a:spcPts val="200"/>
              </a:spcAft>
              <a:buNone/>
            </a:pPr>
            <a:r>
              <a:rPr sz="1100" b="1" i="0">
                <a:solidFill>
                  <a:srgbClr val="1C2433"/>
                </a:solidFill>
                <a:latin typeface="Calibri"/>
              </a:rPr>
              <a:t>Delta:</a:t>
            </a:r>
            <a:r>
              <a:rPr sz="1100" b="0" i="0">
                <a:solidFill>
                  <a:srgbClr val="1C2433"/>
                </a:solidFill>
                <a:latin typeface="Calibri"/>
              </a:rPr>
              <a:t> </a:t>
            </a:r>
            <a:r>
              <a:rPr sz="1100" b="0" i="0">
                <a:solidFill>
                  <a:srgbClr val="0E7C86"/>
                </a:solidFill>
                <a:latin typeface="Consolas"/>
              </a:rPr>
              <a:t>setup-iam.sh</a:t>
            </a:r>
          </a:p>
          <a:p>
            <a:pPr algn="l">
              <a:spcAft>
                <a:spcPts val="600"/>
              </a:spcAft>
              <a:buNone/>
            </a:pPr>
            <a:r>
              <a:rPr sz="1100" b="1" i="0">
                <a:solidFill>
                  <a:srgbClr val="0E7C86"/>
                </a:solidFill>
                <a:latin typeface="Calibri"/>
              </a:rPr>
              <a:t>Iceberg:</a:t>
            </a:r>
            <a:r>
              <a:rPr sz="1100" b="0" i="0">
                <a:solidFill>
                  <a:srgbClr val="0E7C86"/>
                </a:solidFill>
                <a:latin typeface="Calibri"/>
              </a:rPr>
              <a:t> </a:t>
            </a:r>
            <a:r>
              <a:rPr sz="1100" b="0" i="0">
                <a:solidFill>
                  <a:srgbClr val="0E7C86"/>
                </a:solidFill>
                <a:latin typeface="Consolas"/>
              </a:rPr>
              <a:t>iceberg/setup-iam.sh</a:t>
            </a:r>
            <a:r>
              <a:rPr sz="1100" b="0" i="0">
                <a:solidFill>
                  <a:srgbClr val="0E7C86"/>
                </a:solidFill>
                <a:latin typeface="Calibri"/>
              </a:rPr>
              <a:t>, </a:t>
            </a:r>
            <a:r>
              <a:rPr sz="1100" b="0" i="0">
                <a:solidFill>
                  <a:srgbClr val="0E7C86"/>
                </a:solidFill>
                <a:latin typeface="Consolas"/>
              </a:rPr>
              <a:t>iam/*.json</a:t>
            </a:r>
            <a:r>
              <a:rPr sz="1100" b="0" i="0">
                <a:solidFill>
                  <a:srgbClr val="0E7C86"/>
                </a:solidFill>
                <a:latin typeface="Calibri"/>
              </a:rPr>
              <a:t>, Glue</a:t>
            </a:r>
          </a:p>
        </p:txBody>
      </p:sp>
      <p:sp>
        <p:nvSpPr>
          <p:cNvPr id="26" name="Rounded Rectangle 25"/>
          <p:cNvSpPr/>
          <p:nvPr/>
        </p:nvSpPr>
        <p:spPr>
          <a:xfrm>
            <a:off x="411480" y="2715768"/>
            <a:ext cx="2697480" cy="1463040"/>
          </a:xfrm>
          <a:prstGeom prst="roundRect">
            <a:avLst>
              <a:gd name="adj" fmla="val 8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Oval 26"/>
          <p:cNvSpPr/>
          <p:nvPr/>
        </p:nvSpPr>
        <p:spPr>
          <a:xfrm>
            <a:off x="502920" y="2807208"/>
            <a:ext cx="420624" cy="420624"/>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spcAft>
                <a:spcPts val="0"/>
              </a:spcAft>
              <a:buNone/>
            </a:pPr>
            <a:r>
              <a:rPr sz="1300" b="1" i="0">
                <a:solidFill>
                  <a:srgbClr val="FFFFFF"/>
                </a:solidFill>
                <a:latin typeface="Calibri"/>
              </a:rPr>
              <a:t>4</a:t>
            </a:r>
          </a:p>
        </p:txBody>
      </p:sp>
      <p:sp>
        <p:nvSpPr>
          <p:cNvPr id="28" name="TextBox 27"/>
          <p:cNvSpPr txBox="1"/>
          <p:nvPr/>
        </p:nvSpPr>
        <p:spPr>
          <a:xfrm>
            <a:off x="1005840" y="2788920"/>
            <a:ext cx="2039112" cy="45720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Prove commits safe</a:t>
            </a:r>
          </a:p>
        </p:txBody>
      </p:sp>
      <p:sp>
        <p:nvSpPr>
          <p:cNvPr id="29" name="TextBox 28"/>
          <p:cNvSpPr txBox="1"/>
          <p:nvPr/>
        </p:nvSpPr>
        <p:spPr>
          <a:xfrm>
            <a:off x="521208" y="3310128"/>
            <a:ext cx="2478024" cy="822960"/>
          </a:xfrm>
          <a:prstGeom prst="rect">
            <a:avLst/>
          </a:prstGeom>
          <a:noFill/>
        </p:spPr>
        <p:txBody>
          <a:bodyPr wrap="square" lIns="0" rIns="0" tIns="0" bIns="0" anchor="t">
            <a:spAutoFit/>
          </a:bodyPr>
          <a:lstStyle/>
          <a:p>
            <a:pPr algn="l">
              <a:spcAft>
                <a:spcPts val="200"/>
              </a:spcAft>
              <a:buNone/>
            </a:pPr>
            <a:r>
              <a:rPr sz="1100" b="1" i="0">
                <a:solidFill>
                  <a:srgbClr val="1C2433"/>
                </a:solidFill>
                <a:latin typeface="Calibri"/>
              </a:rPr>
              <a:t>Delta:</a:t>
            </a:r>
            <a:r>
              <a:rPr sz="1100" b="0" i="0">
                <a:solidFill>
                  <a:srgbClr val="1C2433"/>
                </a:solidFill>
                <a:latin typeface="Calibri"/>
              </a:rPr>
              <a:t> </a:t>
            </a:r>
            <a:r>
              <a:rPr sz="1100" b="0" i="0">
                <a:solidFill>
                  <a:srgbClr val="0E7C86"/>
                </a:solidFill>
                <a:latin typeface="Consolas"/>
              </a:rPr>
              <a:t>check-conditional-writes.sh</a:t>
            </a:r>
          </a:p>
          <a:p>
            <a:pPr algn="l">
              <a:spcAft>
                <a:spcPts val="600"/>
              </a:spcAft>
              <a:buNone/>
            </a:pPr>
            <a:r>
              <a:rPr sz="1100" b="1" i="0">
                <a:solidFill>
                  <a:srgbClr val="0E7C86"/>
                </a:solidFill>
                <a:latin typeface="Calibri"/>
              </a:rPr>
              <a:t>Iceberg:</a:t>
            </a:r>
            <a:r>
              <a:rPr sz="1100" b="0" i="0">
                <a:solidFill>
                  <a:srgbClr val="0E7C86"/>
                </a:solidFill>
                <a:latin typeface="Calibri"/>
              </a:rPr>
              <a:t> the same check</a:t>
            </a:r>
          </a:p>
        </p:txBody>
      </p:sp>
      <p:sp>
        <p:nvSpPr>
          <p:cNvPr id="30" name="Rounded Rectangle 29"/>
          <p:cNvSpPr/>
          <p:nvPr/>
        </p:nvSpPr>
        <p:spPr>
          <a:xfrm>
            <a:off x="3300984" y="2715768"/>
            <a:ext cx="2697480" cy="1463040"/>
          </a:xfrm>
          <a:prstGeom prst="roundRect">
            <a:avLst>
              <a:gd name="adj" fmla="val 8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Oval 30"/>
          <p:cNvSpPr/>
          <p:nvPr/>
        </p:nvSpPr>
        <p:spPr>
          <a:xfrm>
            <a:off x="3392424" y="2807208"/>
            <a:ext cx="420624" cy="420624"/>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spcAft>
                <a:spcPts val="0"/>
              </a:spcAft>
              <a:buNone/>
            </a:pPr>
            <a:r>
              <a:rPr sz="1300" b="1" i="0">
                <a:solidFill>
                  <a:srgbClr val="FFFFFF"/>
                </a:solidFill>
                <a:latin typeface="Calibri"/>
              </a:rPr>
              <a:t>5</a:t>
            </a:r>
          </a:p>
        </p:txBody>
      </p:sp>
      <p:sp>
        <p:nvSpPr>
          <p:cNvPr id="32" name="TextBox 31"/>
          <p:cNvSpPr txBox="1"/>
          <p:nvPr/>
        </p:nvSpPr>
        <p:spPr>
          <a:xfrm>
            <a:off x="3895344" y="2788920"/>
            <a:ext cx="2039112" cy="45720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Storage tiers</a:t>
            </a:r>
          </a:p>
        </p:txBody>
      </p:sp>
      <p:sp>
        <p:nvSpPr>
          <p:cNvPr id="33" name="TextBox 32"/>
          <p:cNvSpPr txBox="1"/>
          <p:nvPr/>
        </p:nvSpPr>
        <p:spPr>
          <a:xfrm>
            <a:off x="3410712" y="3310128"/>
            <a:ext cx="2478024" cy="822960"/>
          </a:xfrm>
          <a:prstGeom prst="rect">
            <a:avLst/>
          </a:prstGeom>
          <a:noFill/>
        </p:spPr>
        <p:txBody>
          <a:bodyPr wrap="square" lIns="0" rIns="0" tIns="0" bIns="0" anchor="t">
            <a:spAutoFit/>
          </a:bodyPr>
          <a:lstStyle/>
          <a:p>
            <a:pPr algn="l">
              <a:spcAft>
                <a:spcPts val="200"/>
              </a:spcAft>
              <a:buNone/>
            </a:pPr>
            <a:r>
              <a:rPr sz="1100" b="1" i="0">
                <a:solidFill>
                  <a:srgbClr val="1C2433"/>
                </a:solidFill>
                <a:latin typeface="Calibri"/>
              </a:rPr>
              <a:t>Delta:</a:t>
            </a:r>
            <a:r>
              <a:rPr sz="1100" b="0" i="0">
                <a:solidFill>
                  <a:srgbClr val="1C2433"/>
                </a:solidFill>
                <a:latin typeface="Calibri"/>
              </a:rPr>
              <a:t> </a:t>
            </a:r>
            <a:r>
              <a:rPr sz="1100" b="0" i="0">
                <a:solidFill>
                  <a:srgbClr val="0E7C86"/>
                </a:solidFill>
                <a:latin typeface="Consolas"/>
              </a:rPr>
              <a:t>setup-lifecycle.sh</a:t>
            </a:r>
          </a:p>
          <a:p>
            <a:pPr algn="l">
              <a:spcAft>
                <a:spcPts val="600"/>
              </a:spcAft>
              <a:buNone/>
            </a:pPr>
            <a:r>
              <a:rPr sz="1100" b="1" i="0">
                <a:solidFill>
                  <a:srgbClr val="0E7C86"/>
                </a:solidFill>
                <a:latin typeface="Calibri"/>
              </a:rPr>
              <a:t>Iceberg:</a:t>
            </a:r>
            <a:r>
              <a:rPr sz="1100" b="0" i="0">
                <a:solidFill>
                  <a:srgbClr val="0E7C86"/>
                </a:solidFill>
                <a:latin typeface="Calibri"/>
              </a:rPr>
              <a:t> </a:t>
            </a:r>
            <a:r>
              <a:rPr sz="1100" b="0" i="0">
                <a:solidFill>
                  <a:srgbClr val="0E7C86"/>
                </a:solidFill>
                <a:latin typeface="Consolas"/>
              </a:rPr>
              <a:t>iceberg/setup-lifecycle.sh</a:t>
            </a:r>
            <a:r>
              <a:rPr sz="1100" b="0" i="0">
                <a:solidFill>
                  <a:srgbClr val="0E7C86"/>
                </a:solidFill>
                <a:latin typeface="Calibri"/>
              </a:rPr>
              <a:t>: </a:t>
            </a:r>
            <a:r>
              <a:rPr sz="1100" b="0" i="0">
                <a:solidFill>
                  <a:srgbClr val="0E7C86"/>
                </a:solidFill>
                <a:latin typeface="Consolas"/>
              </a:rPr>
              <a:t>data/</a:t>
            </a:r>
            <a:r>
              <a:rPr sz="1100" b="0" i="0">
                <a:solidFill>
                  <a:srgbClr val="0E7C86"/>
                </a:solidFill>
                <a:latin typeface="Calibri"/>
              </a:rPr>
              <a:t> only</a:t>
            </a:r>
          </a:p>
        </p:txBody>
      </p:sp>
      <p:sp>
        <p:nvSpPr>
          <p:cNvPr id="34" name="Rounded Rectangle 33"/>
          <p:cNvSpPr/>
          <p:nvPr/>
        </p:nvSpPr>
        <p:spPr>
          <a:xfrm>
            <a:off x="6190488" y="2715768"/>
            <a:ext cx="2697480" cy="1463040"/>
          </a:xfrm>
          <a:prstGeom prst="roundRect">
            <a:avLst>
              <a:gd name="adj" fmla="val 8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Oval 34"/>
          <p:cNvSpPr/>
          <p:nvPr/>
        </p:nvSpPr>
        <p:spPr>
          <a:xfrm>
            <a:off x="6281928" y="2807208"/>
            <a:ext cx="420624" cy="420624"/>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spcAft>
                <a:spcPts val="0"/>
              </a:spcAft>
              <a:buNone/>
            </a:pPr>
            <a:r>
              <a:rPr sz="1300" b="1" i="0">
                <a:solidFill>
                  <a:srgbClr val="FFFFFF"/>
                </a:solidFill>
                <a:latin typeface="Calibri"/>
              </a:rPr>
              <a:t>6</a:t>
            </a:r>
          </a:p>
        </p:txBody>
      </p:sp>
      <p:sp>
        <p:nvSpPr>
          <p:cNvPr id="36" name="TextBox 35"/>
          <p:cNvSpPr txBox="1"/>
          <p:nvPr/>
        </p:nvSpPr>
        <p:spPr>
          <a:xfrm>
            <a:off x="6784848" y="2788920"/>
            <a:ext cx="2039112" cy="45720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EFS access points</a:t>
            </a:r>
          </a:p>
        </p:txBody>
      </p:sp>
      <p:sp>
        <p:nvSpPr>
          <p:cNvPr id="37" name="TextBox 36"/>
          <p:cNvSpPr txBox="1"/>
          <p:nvPr/>
        </p:nvSpPr>
        <p:spPr>
          <a:xfrm>
            <a:off x="6300216" y="3310128"/>
            <a:ext cx="2478024" cy="822960"/>
          </a:xfrm>
          <a:prstGeom prst="rect">
            <a:avLst/>
          </a:prstGeom>
          <a:noFill/>
        </p:spPr>
        <p:txBody>
          <a:bodyPr wrap="square" lIns="0" rIns="0" tIns="0" bIns="0" anchor="t">
            <a:spAutoFit/>
          </a:bodyPr>
          <a:lstStyle/>
          <a:p>
            <a:pPr algn="l">
              <a:spcAft>
                <a:spcPts val="200"/>
              </a:spcAft>
              <a:buNone/>
            </a:pPr>
            <a:r>
              <a:rPr sz="1100" b="1" i="0">
                <a:solidFill>
                  <a:srgbClr val="1C2433"/>
                </a:solidFill>
                <a:latin typeface="Calibri"/>
              </a:rPr>
              <a:t>Delta:</a:t>
            </a:r>
            <a:r>
              <a:rPr sz="1100" b="0" i="0">
                <a:solidFill>
                  <a:srgbClr val="1C2433"/>
                </a:solidFill>
                <a:latin typeface="Calibri"/>
              </a:rPr>
              <a:t> </a:t>
            </a:r>
            <a:r>
              <a:rPr sz="1100" b="0" i="0">
                <a:solidFill>
                  <a:srgbClr val="0E7C86"/>
                </a:solidFill>
                <a:latin typeface="Consolas"/>
              </a:rPr>
              <a:t>ecs/setup-efs.sh</a:t>
            </a:r>
          </a:p>
          <a:p>
            <a:pPr algn="l">
              <a:spcAft>
                <a:spcPts val="600"/>
              </a:spcAft>
              <a:buNone/>
            </a:pPr>
            <a:r>
              <a:rPr sz="1100" b="1" i="0">
                <a:solidFill>
                  <a:srgbClr val="0E7C86"/>
                </a:solidFill>
                <a:latin typeface="Calibri"/>
              </a:rPr>
              <a:t>Iceberg:</a:t>
            </a:r>
            <a:r>
              <a:rPr sz="1100" b="0" i="0">
                <a:solidFill>
                  <a:srgbClr val="0E7C86"/>
                </a:solidFill>
                <a:latin typeface="Calibri"/>
              </a:rPr>
              <a:t> unchanged</a:t>
            </a:r>
          </a:p>
        </p:txBody>
      </p:sp>
      <p:sp>
        <p:nvSpPr>
          <p:cNvPr id="38" name="Rounded Rectangle 37"/>
          <p:cNvSpPr/>
          <p:nvPr/>
        </p:nvSpPr>
        <p:spPr>
          <a:xfrm>
            <a:off x="9079992" y="2715768"/>
            <a:ext cx="2697480" cy="1463040"/>
          </a:xfrm>
          <a:prstGeom prst="roundRect">
            <a:avLst>
              <a:gd name="adj" fmla="val 8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Oval 38"/>
          <p:cNvSpPr/>
          <p:nvPr/>
        </p:nvSpPr>
        <p:spPr>
          <a:xfrm>
            <a:off x="9171432" y="2807208"/>
            <a:ext cx="420624" cy="420624"/>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spcAft>
                <a:spcPts val="0"/>
              </a:spcAft>
              <a:buNone/>
            </a:pPr>
            <a:r>
              <a:rPr sz="1300" b="1" i="0">
                <a:solidFill>
                  <a:srgbClr val="FFFFFF"/>
                </a:solidFill>
                <a:latin typeface="Calibri"/>
              </a:rPr>
              <a:t>7</a:t>
            </a:r>
          </a:p>
        </p:txBody>
      </p:sp>
      <p:sp>
        <p:nvSpPr>
          <p:cNvPr id="40" name="TextBox 39"/>
          <p:cNvSpPr txBox="1"/>
          <p:nvPr/>
        </p:nvSpPr>
        <p:spPr>
          <a:xfrm>
            <a:off x="9674352" y="2788920"/>
            <a:ext cx="2039112" cy="45720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Cloud Map seeds</a:t>
            </a:r>
          </a:p>
        </p:txBody>
      </p:sp>
      <p:sp>
        <p:nvSpPr>
          <p:cNvPr id="41" name="TextBox 40"/>
          <p:cNvSpPr txBox="1"/>
          <p:nvPr/>
        </p:nvSpPr>
        <p:spPr>
          <a:xfrm>
            <a:off x="9189719" y="3310128"/>
            <a:ext cx="2478024" cy="822960"/>
          </a:xfrm>
          <a:prstGeom prst="rect">
            <a:avLst/>
          </a:prstGeom>
          <a:noFill/>
        </p:spPr>
        <p:txBody>
          <a:bodyPr wrap="square" lIns="0" rIns="0" tIns="0" bIns="0" anchor="t">
            <a:spAutoFit/>
          </a:bodyPr>
          <a:lstStyle/>
          <a:p>
            <a:pPr algn="l">
              <a:spcAft>
                <a:spcPts val="200"/>
              </a:spcAft>
              <a:buNone/>
            </a:pPr>
            <a:r>
              <a:rPr sz="1100" b="1" i="0">
                <a:solidFill>
                  <a:srgbClr val="1C2433"/>
                </a:solidFill>
                <a:latin typeface="Calibri"/>
              </a:rPr>
              <a:t>Delta:</a:t>
            </a:r>
            <a:r>
              <a:rPr sz="1100" b="0" i="0">
                <a:solidFill>
                  <a:srgbClr val="1C2433"/>
                </a:solidFill>
                <a:latin typeface="Calibri"/>
              </a:rPr>
              <a:t> </a:t>
            </a:r>
            <a:r>
              <a:rPr sz="1100" b="0" i="0">
                <a:solidFill>
                  <a:srgbClr val="0E7C86"/>
                </a:solidFill>
                <a:latin typeface="Consolas"/>
              </a:rPr>
              <a:t>ecs/setup-cloud-map.sh</a:t>
            </a:r>
            <a:r>
              <a:rPr sz="1100" b="0" i="0">
                <a:solidFill>
                  <a:srgbClr val="1C2433"/>
                </a:solidFill>
                <a:latin typeface="Calibri"/>
              </a:rPr>
              <a:t> (twice)</a:t>
            </a:r>
          </a:p>
          <a:p>
            <a:pPr algn="l">
              <a:spcAft>
                <a:spcPts val="600"/>
              </a:spcAft>
              <a:buNone/>
            </a:pPr>
            <a:r>
              <a:rPr sz="1100" b="1" i="0">
                <a:solidFill>
                  <a:srgbClr val="0E7C86"/>
                </a:solidFill>
                <a:latin typeface="Calibri"/>
              </a:rPr>
              <a:t>Iceberg:</a:t>
            </a:r>
            <a:r>
              <a:rPr sz="1100" b="0" i="0">
                <a:solidFill>
                  <a:srgbClr val="0E7C86"/>
                </a:solidFill>
                <a:latin typeface="Calibri"/>
              </a:rPr>
              <a:t> unchanged</a:t>
            </a:r>
          </a:p>
        </p:txBody>
      </p:sp>
      <p:sp>
        <p:nvSpPr>
          <p:cNvPr id="42" name="Rounded Rectangle 41"/>
          <p:cNvSpPr/>
          <p:nvPr/>
        </p:nvSpPr>
        <p:spPr>
          <a:xfrm>
            <a:off x="411480" y="4288536"/>
            <a:ext cx="2697480" cy="1463040"/>
          </a:xfrm>
          <a:prstGeom prst="roundRect">
            <a:avLst>
              <a:gd name="adj" fmla="val 8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Oval 42"/>
          <p:cNvSpPr/>
          <p:nvPr/>
        </p:nvSpPr>
        <p:spPr>
          <a:xfrm>
            <a:off x="502920" y="4379976"/>
            <a:ext cx="420624" cy="420624"/>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spcAft>
                <a:spcPts val="0"/>
              </a:spcAft>
              <a:buNone/>
            </a:pPr>
            <a:r>
              <a:rPr sz="1300" b="1" i="0">
                <a:solidFill>
                  <a:srgbClr val="FFFFFF"/>
                </a:solidFill>
                <a:latin typeface="Calibri"/>
              </a:rPr>
              <a:t>8</a:t>
            </a:r>
          </a:p>
        </p:txBody>
      </p:sp>
      <p:sp>
        <p:nvSpPr>
          <p:cNvPr id="44" name="TextBox 43"/>
          <p:cNvSpPr txBox="1"/>
          <p:nvPr/>
        </p:nvSpPr>
        <p:spPr>
          <a:xfrm>
            <a:off x="1005840" y="4361688"/>
            <a:ext cx="2039112" cy="45720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Images</a:t>
            </a:r>
          </a:p>
        </p:txBody>
      </p:sp>
      <p:sp>
        <p:nvSpPr>
          <p:cNvPr id="45" name="TextBox 44"/>
          <p:cNvSpPr txBox="1"/>
          <p:nvPr/>
        </p:nvSpPr>
        <p:spPr>
          <a:xfrm>
            <a:off x="521208" y="4882896"/>
            <a:ext cx="2478024" cy="822960"/>
          </a:xfrm>
          <a:prstGeom prst="rect">
            <a:avLst/>
          </a:prstGeom>
          <a:noFill/>
        </p:spPr>
        <p:txBody>
          <a:bodyPr wrap="square" lIns="0" rIns="0" tIns="0" bIns="0" anchor="t">
            <a:spAutoFit/>
          </a:bodyPr>
          <a:lstStyle/>
          <a:p>
            <a:pPr algn="l">
              <a:spcAft>
                <a:spcPts val="200"/>
              </a:spcAft>
              <a:buNone/>
            </a:pPr>
            <a:r>
              <a:rPr sz="1100" b="1" i="0">
                <a:solidFill>
                  <a:srgbClr val="1C2433"/>
                </a:solidFill>
                <a:latin typeface="Calibri"/>
              </a:rPr>
              <a:t>Delta:</a:t>
            </a:r>
            <a:r>
              <a:rPr sz="1100" b="0" i="0">
                <a:solidFill>
                  <a:srgbClr val="1C2433"/>
                </a:solidFill>
                <a:latin typeface="Calibri"/>
              </a:rPr>
              <a:t> docker build ×3, push to ECR</a:t>
            </a:r>
          </a:p>
          <a:p>
            <a:pPr algn="l">
              <a:spcAft>
                <a:spcPts val="600"/>
              </a:spcAft>
              <a:buNone/>
            </a:pPr>
            <a:r>
              <a:rPr sz="1100" b="1" i="0">
                <a:solidFill>
                  <a:srgbClr val="0E7C86"/>
                </a:solidFill>
                <a:latin typeface="Calibri"/>
              </a:rPr>
              <a:t>Iceberg:</a:t>
            </a:r>
            <a:r>
              <a:rPr sz="1100" b="0" i="0">
                <a:solidFill>
                  <a:srgbClr val="0E7C86"/>
                </a:solidFill>
                <a:latin typeface="Calibri"/>
              </a:rPr>
              <a:t> the server image carries </a:t>
            </a:r>
            <a:r>
              <a:rPr sz="1100" b="0" i="0">
                <a:solidFill>
                  <a:srgbClr val="0E7C86"/>
                </a:solidFill>
                <a:latin typeface="Consolas"/>
              </a:rPr>
              <a:t>IcebergLoader</a:t>
            </a:r>
          </a:p>
        </p:txBody>
      </p:sp>
      <p:sp>
        <p:nvSpPr>
          <p:cNvPr id="46" name="Rounded Rectangle 45"/>
          <p:cNvSpPr/>
          <p:nvPr/>
        </p:nvSpPr>
        <p:spPr>
          <a:xfrm>
            <a:off x="3300984" y="4288536"/>
            <a:ext cx="2697480" cy="1463040"/>
          </a:xfrm>
          <a:prstGeom prst="roundRect">
            <a:avLst>
              <a:gd name="adj" fmla="val 8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Oval 46"/>
          <p:cNvSpPr/>
          <p:nvPr/>
        </p:nvSpPr>
        <p:spPr>
          <a:xfrm>
            <a:off x="3392424" y="4379976"/>
            <a:ext cx="420624" cy="420624"/>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spcAft>
                <a:spcPts val="0"/>
              </a:spcAft>
              <a:buNone/>
            </a:pPr>
            <a:r>
              <a:rPr sz="1300" b="1" i="0">
                <a:solidFill>
                  <a:srgbClr val="FFFFFF"/>
                </a:solidFill>
                <a:latin typeface="Calibri"/>
              </a:rPr>
              <a:t>9</a:t>
            </a:r>
          </a:p>
        </p:txBody>
      </p:sp>
      <p:sp>
        <p:nvSpPr>
          <p:cNvPr id="48" name="TextBox 47"/>
          <p:cNvSpPr txBox="1"/>
          <p:nvPr/>
        </p:nvSpPr>
        <p:spPr>
          <a:xfrm>
            <a:off x="3895344" y="4361688"/>
            <a:ext cx="2039112" cy="45720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Tasks, services</a:t>
            </a:r>
          </a:p>
        </p:txBody>
      </p:sp>
      <p:sp>
        <p:nvSpPr>
          <p:cNvPr id="49" name="TextBox 48"/>
          <p:cNvSpPr txBox="1"/>
          <p:nvPr/>
        </p:nvSpPr>
        <p:spPr>
          <a:xfrm>
            <a:off x="3410712" y="4882896"/>
            <a:ext cx="2478024" cy="822960"/>
          </a:xfrm>
          <a:prstGeom prst="rect">
            <a:avLst/>
          </a:prstGeom>
          <a:noFill/>
        </p:spPr>
        <p:txBody>
          <a:bodyPr wrap="square" lIns="0" rIns="0" tIns="0" bIns="0" anchor="t">
            <a:spAutoFit/>
          </a:bodyPr>
          <a:lstStyle/>
          <a:p>
            <a:pPr algn="l">
              <a:spcAft>
                <a:spcPts val="200"/>
              </a:spcAft>
              <a:buNone/>
            </a:pPr>
            <a:r>
              <a:rPr sz="1100" b="1" i="0">
                <a:solidFill>
                  <a:srgbClr val="1C2433"/>
                </a:solidFill>
                <a:latin typeface="Calibri"/>
              </a:rPr>
              <a:t>Delta:</a:t>
            </a:r>
            <a:r>
              <a:rPr sz="1100" b="0" i="0">
                <a:solidFill>
                  <a:srgbClr val="1C2433"/>
                </a:solidFill>
                <a:latin typeface="Calibri"/>
              </a:rPr>
              <a:t> </a:t>
            </a:r>
            <a:r>
              <a:rPr sz="1100" b="0" i="0">
                <a:solidFill>
                  <a:srgbClr val="0E7C86"/>
                </a:solidFill>
                <a:latin typeface="Consolas"/>
              </a:rPr>
              <a:t>ecs/register.sh</a:t>
            </a:r>
          </a:p>
          <a:p>
            <a:pPr algn="l">
              <a:spcAft>
                <a:spcPts val="600"/>
              </a:spcAft>
              <a:buNone/>
            </a:pPr>
            <a:r>
              <a:rPr sz="1100" b="1" i="0">
                <a:solidFill>
                  <a:srgbClr val="0E7C86"/>
                </a:solidFill>
                <a:latin typeface="Calibri"/>
              </a:rPr>
              <a:t>Iceberg:</a:t>
            </a:r>
            <a:r>
              <a:rPr sz="1100" b="0" i="0">
                <a:solidFill>
                  <a:srgbClr val="0E7C86"/>
                </a:solidFill>
                <a:latin typeface="Calibri"/>
              </a:rPr>
              <a:t> + </a:t>
            </a:r>
            <a:r>
              <a:rPr sz="1100" b="0" i="0">
                <a:solidFill>
                  <a:srgbClr val="0E7C86"/>
                </a:solidFill>
                <a:latin typeface="Consolas"/>
              </a:rPr>
              <a:t>DRISHTI_ICEBERG_ROOT</a:t>
            </a:r>
          </a:p>
        </p:txBody>
      </p:sp>
      <p:sp>
        <p:nvSpPr>
          <p:cNvPr id="50" name="Rounded Rectangle 49"/>
          <p:cNvSpPr/>
          <p:nvPr/>
        </p:nvSpPr>
        <p:spPr>
          <a:xfrm>
            <a:off x="6190488" y="4288536"/>
            <a:ext cx="2697480" cy="1463040"/>
          </a:xfrm>
          <a:prstGeom prst="roundRect">
            <a:avLst>
              <a:gd name="adj" fmla="val 8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Oval 50"/>
          <p:cNvSpPr/>
          <p:nvPr/>
        </p:nvSpPr>
        <p:spPr>
          <a:xfrm>
            <a:off x="6281928" y="4379976"/>
            <a:ext cx="420624" cy="420624"/>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spcAft>
                <a:spcPts val="0"/>
              </a:spcAft>
              <a:buNone/>
            </a:pPr>
            <a:r>
              <a:rPr sz="1300" b="1" i="0">
                <a:solidFill>
                  <a:srgbClr val="FFFFFF"/>
                </a:solidFill>
                <a:latin typeface="Calibri"/>
              </a:rPr>
              <a:t>10</a:t>
            </a:r>
          </a:p>
        </p:txBody>
      </p:sp>
      <p:sp>
        <p:nvSpPr>
          <p:cNvPr id="52" name="TextBox 51"/>
          <p:cNvSpPr txBox="1"/>
          <p:nvPr/>
        </p:nvSpPr>
        <p:spPr>
          <a:xfrm>
            <a:off x="6784848" y="4361688"/>
            <a:ext cx="2039112" cy="45720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First load</a:t>
            </a:r>
          </a:p>
        </p:txBody>
      </p:sp>
      <p:sp>
        <p:nvSpPr>
          <p:cNvPr id="53" name="TextBox 52"/>
          <p:cNvSpPr txBox="1"/>
          <p:nvPr/>
        </p:nvSpPr>
        <p:spPr>
          <a:xfrm>
            <a:off x="6300216" y="4882896"/>
            <a:ext cx="2478024" cy="822960"/>
          </a:xfrm>
          <a:prstGeom prst="rect">
            <a:avLst/>
          </a:prstGeom>
          <a:noFill/>
        </p:spPr>
        <p:txBody>
          <a:bodyPr wrap="square" lIns="0" rIns="0" tIns="0" bIns="0" anchor="t">
            <a:spAutoFit/>
          </a:bodyPr>
          <a:lstStyle/>
          <a:p>
            <a:pPr algn="l">
              <a:spcAft>
                <a:spcPts val="200"/>
              </a:spcAft>
              <a:buNone/>
            </a:pPr>
            <a:r>
              <a:rPr sz="1100" b="1" i="0">
                <a:solidFill>
                  <a:srgbClr val="1C2433"/>
                </a:solidFill>
                <a:latin typeface="Calibri"/>
              </a:rPr>
              <a:t>Delta:</a:t>
            </a:r>
            <a:r>
              <a:rPr sz="1100" b="0" i="0">
                <a:solidFill>
                  <a:srgbClr val="1C2433"/>
                </a:solidFill>
                <a:latin typeface="Calibri"/>
              </a:rPr>
              <a:t> </a:t>
            </a:r>
            <a:r>
              <a:rPr sz="1100" b="0" i="0">
                <a:solidFill>
                  <a:srgbClr val="0E7C86"/>
                </a:solidFill>
                <a:latin typeface="Consolas"/>
              </a:rPr>
              <a:t>load-day.sh --date …</a:t>
            </a:r>
          </a:p>
          <a:p>
            <a:pPr algn="l">
              <a:spcAft>
                <a:spcPts val="600"/>
              </a:spcAft>
              <a:buNone/>
            </a:pPr>
            <a:r>
              <a:rPr sz="1100" b="1" i="0">
                <a:solidFill>
                  <a:srgbClr val="0E7C86"/>
                </a:solidFill>
                <a:latin typeface="Calibri"/>
              </a:rPr>
              <a:t>Iceberg:</a:t>
            </a:r>
            <a:r>
              <a:rPr sz="1100" b="0" i="0">
                <a:solidFill>
                  <a:srgbClr val="0E7C86"/>
                </a:solidFill>
                <a:latin typeface="Calibri"/>
              </a:rPr>
              <a:t> </a:t>
            </a:r>
            <a:r>
              <a:rPr sz="1100" b="0" i="0">
                <a:solidFill>
                  <a:srgbClr val="0E7C86"/>
                </a:solidFill>
                <a:latin typeface="Consolas"/>
              </a:rPr>
              <a:t>iceberg/load-day.sh</a:t>
            </a:r>
            <a:r>
              <a:rPr sz="1100" b="0" i="0">
                <a:solidFill>
                  <a:srgbClr val="0E7C86"/>
                </a:solidFill>
                <a:latin typeface="Calibri"/>
              </a:rPr>
              <a:t>; </a:t>
            </a:r>
            <a:r>
              <a:rPr sz="1100" b="0" i="0">
                <a:solidFill>
                  <a:srgbClr val="0E7C86"/>
                </a:solidFill>
                <a:latin typeface="Consolas"/>
              </a:rPr>
              <a:t>check-glue.sh</a:t>
            </a:r>
          </a:p>
        </p:txBody>
      </p:sp>
      <p:sp>
        <p:nvSpPr>
          <p:cNvPr id="54" name="Rounded Rectangle 53"/>
          <p:cNvSpPr/>
          <p:nvPr/>
        </p:nvSpPr>
        <p:spPr>
          <a:xfrm>
            <a:off x="9079992" y="4288536"/>
            <a:ext cx="2697480" cy="1463040"/>
          </a:xfrm>
          <a:prstGeom prst="roundRect">
            <a:avLst>
              <a:gd name="adj" fmla="val 8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Oval 54"/>
          <p:cNvSpPr/>
          <p:nvPr/>
        </p:nvSpPr>
        <p:spPr>
          <a:xfrm>
            <a:off x="9171432" y="4379976"/>
            <a:ext cx="420624" cy="420624"/>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spcAft>
                <a:spcPts val="0"/>
              </a:spcAft>
              <a:buNone/>
            </a:pPr>
            <a:r>
              <a:rPr sz="1300" b="1" i="0">
                <a:solidFill>
                  <a:srgbClr val="FFFFFF"/>
                </a:solidFill>
                <a:latin typeface="Calibri"/>
              </a:rPr>
              <a:t>11</a:t>
            </a:r>
          </a:p>
        </p:txBody>
      </p:sp>
      <p:sp>
        <p:nvSpPr>
          <p:cNvPr id="56" name="TextBox 55"/>
          <p:cNvSpPr txBox="1"/>
          <p:nvPr/>
        </p:nvSpPr>
        <p:spPr>
          <a:xfrm>
            <a:off x="9674352" y="4361688"/>
            <a:ext cx="2039112" cy="45720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Alarms and report</a:t>
            </a:r>
          </a:p>
        </p:txBody>
      </p:sp>
      <p:sp>
        <p:nvSpPr>
          <p:cNvPr id="57" name="TextBox 56"/>
          <p:cNvSpPr txBox="1"/>
          <p:nvPr/>
        </p:nvSpPr>
        <p:spPr>
          <a:xfrm>
            <a:off x="9189719" y="4882896"/>
            <a:ext cx="2478024" cy="822960"/>
          </a:xfrm>
          <a:prstGeom prst="rect">
            <a:avLst/>
          </a:prstGeom>
          <a:noFill/>
        </p:spPr>
        <p:txBody>
          <a:bodyPr wrap="square" lIns="0" rIns="0" tIns="0" bIns="0" anchor="t">
            <a:spAutoFit/>
          </a:bodyPr>
          <a:lstStyle/>
          <a:p>
            <a:pPr algn="l">
              <a:spcAft>
                <a:spcPts val="200"/>
              </a:spcAft>
              <a:buNone/>
            </a:pPr>
            <a:r>
              <a:rPr sz="1100" b="1" i="0">
                <a:solidFill>
                  <a:srgbClr val="1C2433"/>
                </a:solidFill>
                <a:latin typeface="Calibri"/>
              </a:rPr>
              <a:t>Delta:</a:t>
            </a:r>
            <a:r>
              <a:rPr sz="1100" b="0" i="0">
                <a:solidFill>
                  <a:srgbClr val="1C2433"/>
                </a:solidFill>
                <a:latin typeface="Calibri"/>
              </a:rPr>
              <a:t> </a:t>
            </a:r>
            <a:r>
              <a:rPr sz="1100" b="0" i="0">
                <a:solidFill>
                  <a:srgbClr val="0E7C86"/>
                </a:solidFill>
                <a:latin typeface="Consolas"/>
              </a:rPr>
              <a:t>setup-alarms.sh</a:t>
            </a:r>
            <a:r>
              <a:rPr sz="1100" b="0" i="0">
                <a:solidFill>
                  <a:srgbClr val="1C2433"/>
                </a:solidFill>
                <a:latin typeface="Calibri"/>
              </a:rPr>
              <a:t>, </a:t>
            </a:r>
            <a:r>
              <a:rPr sz="1100" b="0" i="0">
                <a:solidFill>
                  <a:srgbClr val="0E7C86"/>
                </a:solidFill>
                <a:latin typeface="Consolas"/>
              </a:rPr>
              <a:t>report.sh</a:t>
            </a:r>
          </a:p>
          <a:p>
            <a:pPr algn="l">
              <a:spcAft>
                <a:spcPts val="600"/>
              </a:spcAft>
              <a:buNone/>
            </a:pPr>
            <a:r>
              <a:rPr sz="1100" b="1" i="0">
                <a:solidFill>
                  <a:srgbClr val="0E7C86"/>
                </a:solidFill>
                <a:latin typeface="Calibri"/>
              </a:rPr>
              <a:t>Iceberg:</a:t>
            </a:r>
            <a:r>
              <a:rPr sz="1100" b="0" i="0">
                <a:solidFill>
                  <a:srgbClr val="0E7C86"/>
                </a:solidFill>
                <a:latin typeface="Calibri"/>
              </a:rPr>
              <a:t> </a:t>
            </a:r>
            <a:r>
              <a:rPr sz="1100" b="0" i="0">
                <a:solidFill>
                  <a:srgbClr val="0E7C86"/>
                </a:solidFill>
                <a:latin typeface="Consolas"/>
              </a:rPr>
              <a:t>iceberg/</a:t>
            </a:r>
            <a:r>
              <a:rPr sz="1100" b="0" i="0">
                <a:solidFill>
                  <a:srgbClr val="0E7C86"/>
                </a:solidFill>
                <a:latin typeface="Calibri"/>
              </a:rPr>
              <a:t> versions: snapshots</a:t>
            </a:r>
          </a:p>
        </p:txBody>
      </p:sp>
      <p:sp>
        <p:nvSpPr>
          <p:cNvPr id="58" name="TextBox 57"/>
          <p:cNvSpPr txBox="1"/>
          <p:nvPr/>
        </p:nvSpPr>
        <p:spPr>
          <a:xfrm>
            <a:off x="411480" y="5897880"/>
            <a:ext cx="11365992" cy="457200"/>
          </a:xfrm>
          <a:prstGeom prst="rect">
            <a:avLst/>
          </a:prstGeom>
          <a:noFill/>
        </p:spPr>
        <p:txBody>
          <a:bodyPr wrap="square" lIns="0" rIns="0" tIns="0" bIns="0" anchor="t">
            <a:spAutoFit/>
          </a:bodyPr>
          <a:lstStyle/>
          <a:p>
            <a:pPr algn="l">
              <a:spcAft>
                <a:spcPts val="600"/>
              </a:spcAft>
              <a:buNone/>
            </a:pPr>
            <a:r>
              <a:rPr sz="1200" b="0" i="0">
                <a:solidFill>
                  <a:srgbClr val="5B677A"/>
                </a:solidFill>
                <a:latin typeface="Calibri"/>
              </a:rPr>
              <a:t>Every script: bash and the AWS CLI v2, </a:t>
            </a:r>
            <a:r>
              <a:rPr sz="1100" b="0" i="0">
                <a:solidFill>
                  <a:srgbClr val="0E7C86"/>
                </a:solidFill>
                <a:latin typeface="Consolas"/>
              </a:rPr>
              <a:t>deploy/aws/env</a:t>
            </a:r>
            <a:r>
              <a:rPr sz="1200" b="0" i="0">
                <a:solidFill>
                  <a:srgbClr val="5B677A"/>
                </a:solidFill>
                <a:latin typeface="Calibri"/>
              </a:rPr>
              <a:t> (git-ignored), </a:t>
            </a:r>
            <a:r>
              <a:rPr sz="1100" b="0" i="0">
                <a:solidFill>
                  <a:srgbClr val="0E7C86"/>
                </a:solidFill>
                <a:latin typeface="Consolas"/>
              </a:rPr>
              <a:t>--help</a:t>
            </a:r>
            <a:r>
              <a:rPr sz="1200" b="0" i="0">
                <a:solidFill>
                  <a:srgbClr val="5B677A"/>
                </a:solidFill>
                <a:latin typeface="Calibri"/>
              </a:rPr>
              <a:t> and </a:t>
            </a:r>
            <a:r>
              <a:rPr sz="1100" b="0" i="0">
                <a:solidFill>
                  <a:srgbClr val="0E7C86"/>
                </a:solidFill>
                <a:latin typeface="Consolas"/>
              </a:rPr>
              <a:t>--dry-run</a:t>
            </a:r>
            <a:r>
              <a:rPr sz="1200" b="0" i="0">
                <a:solidFill>
                  <a:srgbClr val="5B677A"/>
                </a:solidFill>
                <a:latin typeface="Calibri"/>
              </a:rPr>
              <a:t>, safe to run again; dry-run tested, not yet run in a real account. Step by step: appendix, slides 94 to 105.</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daily load on AWS: Delta's four steps, Iceberg's one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6 · operating it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71</a:t>
            </a:r>
          </a:p>
        </p:txBody>
      </p:sp>
      <p:sp>
        <p:nvSpPr>
          <p:cNvPr id="10" name="TextBox 9"/>
          <p:cNvSpPr txBox="1"/>
          <p:nvPr/>
        </p:nvSpPr>
        <p:spPr>
          <a:xfrm>
            <a:off x="411480" y="1143000"/>
            <a:ext cx="5486400" cy="36576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Delta (built): build locally, then publish</a:t>
            </a:r>
          </a:p>
        </p:txBody>
      </p:sp>
      <p:sp>
        <p:nvSpPr>
          <p:cNvPr id="11" name="Rounded Rectangle 10"/>
          <p:cNvSpPr/>
          <p:nvPr/>
        </p:nvSpPr>
        <p:spPr>
          <a:xfrm>
            <a:off x="411480" y="1554480"/>
            <a:ext cx="5394960" cy="713232"/>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502920" y="1600200"/>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aws s3 sync</a:t>
            </a:r>
          </a:p>
        </p:txBody>
      </p:sp>
      <p:sp>
        <p:nvSpPr>
          <p:cNvPr id="13" name="TextBox 12"/>
          <p:cNvSpPr txBox="1"/>
          <p:nvPr/>
        </p:nvSpPr>
        <p:spPr>
          <a:xfrm>
            <a:off x="502920" y="1920240"/>
            <a:ext cx="5212080" cy="301752"/>
          </a:xfrm>
          <a:prstGeom prst="rect">
            <a:avLst/>
          </a:prstGeom>
          <a:noFill/>
        </p:spPr>
        <p:txBody>
          <a:bodyPr wrap="square" lIns="45720" rIns="45720" tIns="27432" bIns="27432" anchor="t">
            <a:spAutoFit/>
          </a:bodyPr>
          <a:lstStyle/>
          <a:p>
            <a:pPr algn="l">
              <a:lnSpc>
                <a:spcPct val="105000"/>
              </a:lnSpc>
              <a:spcAft>
                <a:spcPts val="200"/>
              </a:spcAft>
            </a:pPr>
            <a:r>
              <a:rPr sz="1200" b="0" i="0">
                <a:solidFill>
                  <a:srgbClr val="E87A1E"/>
                </a:solidFill>
                <a:latin typeface="Calibri"/>
              </a:rPr>
              <a:t>•  </a:t>
            </a:r>
            <a:r>
              <a:rPr sz="1200" b="0" i="0">
                <a:solidFill>
                  <a:srgbClr val="1C2433"/>
                </a:solidFill>
                <a:latin typeface="Calibri"/>
              </a:rPr>
              <a:t>landing → EFS scratch</a:t>
            </a:r>
          </a:p>
        </p:txBody>
      </p:sp>
      <p:cxnSp>
        <p:nvCxnSpPr>
          <p:cNvPr id="14" name="Connector 13"/>
          <p:cNvCxnSpPr/>
          <p:nvPr/>
        </p:nvCxnSpPr>
        <p:spPr>
          <a:xfrm>
            <a:off x="3108960" y="2267712"/>
            <a:ext cx="0" cy="155448"/>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11480" y="2423160"/>
            <a:ext cx="5394960" cy="713232"/>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502920" y="2468879"/>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lake build</a:t>
            </a:r>
          </a:p>
        </p:txBody>
      </p:sp>
      <p:sp>
        <p:nvSpPr>
          <p:cNvPr id="17" name="TextBox 16"/>
          <p:cNvSpPr txBox="1"/>
          <p:nvPr/>
        </p:nvSpPr>
        <p:spPr>
          <a:xfrm>
            <a:off x="502920" y="2788920"/>
            <a:ext cx="5212080" cy="301752"/>
          </a:xfrm>
          <a:prstGeom prst="rect">
            <a:avLst/>
          </a:prstGeom>
          <a:noFill/>
        </p:spPr>
        <p:txBody>
          <a:bodyPr wrap="square" lIns="45720" rIns="45720" tIns="27432" bIns="27432" anchor="t">
            <a:spAutoFit/>
          </a:bodyPr>
          <a:lstStyle/>
          <a:p>
            <a:pPr algn="l">
              <a:lnSpc>
                <a:spcPct val="105000"/>
              </a:lnSpc>
              <a:spcAft>
                <a:spcPts val="200"/>
              </a:spcAft>
            </a:pPr>
            <a:r>
              <a:rPr sz="1200" b="0" i="0">
                <a:solidFill>
                  <a:srgbClr val="E87A1E"/>
                </a:solidFill>
                <a:latin typeface="Calibri"/>
              </a:rPr>
              <a:t>•  </a:t>
            </a:r>
            <a:r>
              <a:rPr sz="1200" b="0" i="0">
                <a:solidFill>
                  <a:srgbClr val="1C2433"/>
                </a:solidFill>
                <a:latin typeface="Calibri"/>
              </a:rPr>
              <a:t>scratch Delta table</a:t>
            </a:r>
          </a:p>
        </p:txBody>
      </p:sp>
      <p:cxnSp>
        <p:nvCxnSpPr>
          <p:cNvPr id="18" name="Connector 17"/>
          <p:cNvCxnSpPr/>
          <p:nvPr/>
        </p:nvCxnSpPr>
        <p:spPr>
          <a:xfrm>
            <a:off x="3108960" y="3136391"/>
            <a:ext cx="0" cy="155448"/>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11480" y="3291839"/>
            <a:ext cx="5394960" cy="713232"/>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502920" y="3337559"/>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aws s3 sync</a:t>
            </a:r>
          </a:p>
        </p:txBody>
      </p:sp>
      <p:sp>
        <p:nvSpPr>
          <p:cNvPr id="21" name="TextBox 20"/>
          <p:cNvSpPr txBox="1"/>
          <p:nvPr/>
        </p:nvSpPr>
        <p:spPr>
          <a:xfrm>
            <a:off x="502920" y="3657599"/>
            <a:ext cx="5212080" cy="301752"/>
          </a:xfrm>
          <a:prstGeom prst="rect">
            <a:avLst/>
          </a:prstGeom>
          <a:noFill/>
        </p:spPr>
        <p:txBody>
          <a:bodyPr wrap="square" lIns="45720" rIns="45720" tIns="27432" bIns="27432" anchor="t">
            <a:spAutoFit/>
          </a:bodyPr>
          <a:lstStyle/>
          <a:p>
            <a:pPr algn="l">
              <a:lnSpc>
                <a:spcPct val="105000"/>
              </a:lnSpc>
              <a:spcAft>
                <a:spcPts val="200"/>
              </a:spcAft>
            </a:pPr>
            <a:r>
              <a:rPr sz="1200" b="0" i="0">
                <a:solidFill>
                  <a:srgbClr val="E87A1E"/>
                </a:solidFill>
                <a:latin typeface="Calibri"/>
              </a:rPr>
              <a:t>•  </a:t>
            </a:r>
            <a:r>
              <a:rPr sz="1200" b="0" i="0">
                <a:solidFill>
                  <a:srgbClr val="1C2433"/>
                </a:solidFill>
                <a:latin typeface="Calibri"/>
              </a:rPr>
              <a:t>data files → S3</a:t>
            </a:r>
          </a:p>
        </p:txBody>
      </p:sp>
      <p:cxnSp>
        <p:nvCxnSpPr>
          <p:cNvPr id="22" name="Connector 21"/>
          <p:cNvCxnSpPr/>
          <p:nvPr/>
        </p:nvCxnSpPr>
        <p:spPr>
          <a:xfrm>
            <a:off x="3108960" y="4005072"/>
            <a:ext cx="0" cy="155448"/>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11480" y="4160520"/>
            <a:ext cx="5394960" cy="713232"/>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xtBox 23"/>
          <p:cNvSpPr txBox="1"/>
          <p:nvPr/>
        </p:nvSpPr>
        <p:spPr>
          <a:xfrm>
            <a:off x="502920" y="4206240"/>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lake publish</a:t>
            </a:r>
          </a:p>
        </p:txBody>
      </p:sp>
      <p:sp>
        <p:nvSpPr>
          <p:cNvPr id="25" name="TextBox 24"/>
          <p:cNvSpPr txBox="1"/>
          <p:nvPr/>
        </p:nvSpPr>
        <p:spPr>
          <a:xfrm>
            <a:off x="502920" y="4526280"/>
            <a:ext cx="5212080" cy="301752"/>
          </a:xfrm>
          <a:prstGeom prst="rect">
            <a:avLst/>
          </a:prstGeom>
          <a:noFill/>
        </p:spPr>
        <p:txBody>
          <a:bodyPr wrap="square" lIns="45720" rIns="45720" tIns="27432" bIns="27432" anchor="t">
            <a:spAutoFit/>
          </a:bodyPr>
          <a:lstStyle/>
          <a:p>
            <a:pPr algn="l">
              <a:lnSpc>
                <a:spcPct val="105000"/>
              </a:lnSpc>
              <a:spcAft>
                <a:spcPts val="200"/>
              </a:spcAft>
            </a:pPr>
            <a:r>
              <a:rPr sz="1200" b="0" i="0">
                <a:solidFill>
                  <a:srgbClr val="E87A1E"/>
                </a:solidFill>
                <a:latin typeface="Calibri"/>
              </a:rPr>
              <a:t>•  </a:t>
            </a:r>
            <a:r>
              <a:rPr sz="1200" b="0" i="0">
                <a:solidFill>
                  <a:srgbClr val="1C2433"/>
                </a:solidFill>
                <a:latin typeface="Calibri"/>
              </a:rPr>
              <a:t>one commit, conditional PUT</a:t>
            </a:r>
          </a:p>
        </p:txBody>
      </p:sp>
      <p:sp>
        <p:nvSpPr>
          <p:cNvPr id="26" name="TextBox 25"/>
          <p:cNvSpPr txBox="1"/>
          <p:nvPr/>
        </p:nvSpPr>
        <p:spPr>
          <a:xfrm>
            <a:off x="6217920" y="1143000"/>
            <a:ext cx="5559552" cy="36576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Iceberg (built, </a:t>
            </a:r>
            <a:r>
              <a:rPr sz="1400" b="1" i="0">
                <a:solidFill>
                  <a:srgbClr val="0E7C86"/>
                </a:solidFill>
                <a:latin typeface="Consolas"/>
              </a:rPr>
              <a:t>iceberg/load-day.sh</a:t>
            </a:r>
            <a:r>
              <a:rPr sz="1500" b="1" i="0">
                <a:solidFill>
                  <a:srgbClr val="0B1E3B"/>
                </a:solidFill>
                <a:latin typeface="Calibri"/>
              </a:rPr>
              <a:t>): the loader writes S3</a:t>
            </a:r>
          </a:p>
        </p:txBody>
      </p:sp>
      <p:sp>
        <p:nvSpPr>
          <p:cNvPr id="27" name="Rounded Rectangle 26"/>
          <p:cNvSpPr/>
          <p:nvPr/>
        </p:nvSpPr>
        <p:spPr>
          <a:xfrm>
            <a:off x="6217920" y="1554480"/>
            <a:ext cx="5559552" cy="1920240"/>
          </a:xfrm>
          <a:prstGeom prst="roundRect">
            <a:avLst>
              <a:gd name="adj" fmla="val 8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6309359" y="1600200"/>
            <a:ext cx="5376672"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IcebergLoader, engine native</a:t>
            </a:r>
          </a:p>
        </p:txBody>
      </p:sp>
      <p:sp>
        <p:nvSpPr>
          <p:cNvPr id="29" name="TextBox 28"/>
          <p:cNvSpPr txBox="1"/>
          <p:nvPr/>
        </p:nvSpPr>
        <p:spPr>
          <a:xfrm>
            <a:off x="6309359" y="1920240"/>
            <a:ext cx="5376672" cy="1508760"/>
          </a:xfrm>
          <a:prstGeom prst="rect">
            <a:avLst/>
          </a:prstGeom>
          <a:noFill/>
        </p:spPr>
        <p:txBody>
          <a:bodyPr wrap="square" lIns="45720" rIns="45720" tIns="27432" bIns="27432" anchor="t">
            <a:spAutoFit/>
          </a:bodyPr>
          <a:lstStyle/>
          <a:p>
            <a:pPr algn="l">
              <a:lnSpc>
                <a:spcPct val="105000"/>
              </a:lnSpc>
              <a:spcAft>
                <a:spcPts val="200"/>
              </a:spcAft>
            </a:pPr>
            <a:r>
              <a:rPr sz="1250" b="0" i="0">
                <a:solidFill>
                  <a:srgbClr val="E87A1E"/>
                </a:solidFill>
                <a:latin typeface="Calibri"/>
              </a:rPr>
              <a:t>•  </a:t>
            </a:r>
            <a:r>
              <a:rPr sz="1250" b="0" i="0">
                <a:solidFill>
                  <a:srgbClr val="1C2433"/>
                </a:solidFill>
                <a:latin typeface="Calibri"/>
              </a:rPr>
              <a:t>reads the landing dumps (stdin or a file)</a:t>
            </a:r>
          </a:p>
          <a:p>
            <a:pPr algn="l">
              <a:lnSpc>
                <a:spcPct val="105000"/>
              </a:lnSpc>
              <a:spcAft>
                <a:spcPts val="200"/>
              </a:spcAft>
            </a:pPr>
            <a:r>
              <a:rPr sz="1250" b="0" i="0">
                <a:solidFill>
                  <a:srgbClr val="E87A1E"/>
                </a:solidFill>
                <a:latin typeface="Calibri"/>
              </a:rPr>
              <a:t>•  </a:t>
            </a:r>
            <a:r>
              <a:rPr sz="1250" b="0" i="0">
                <a:solidFill>
                  <a:srgbClr val="1C2433"/>
                </a:solidFill>
                <a:latin typeface="Calibri"/>
              </a:rPr>
              <a:t>sorts each day by id, spills to EFS or ephemeral disk</a:t>
            </a:r>
          </a:p>
          <a:p>
            <a:pPr algn="l">
              <a:lnSpc>
                <a:spcPct val="105000"/>
              </a:lnSpc>
              <a:spcAft>
                <a:spcPts val="200"/>
              </a:spcAft>
            </a:pPr>
            <a:r>
              <a:rPr sz="1250" b="0" i="0">
                <a:solidFill>
                  <a:srgbClr val="E87A1E"/>
                </a:solidFill>
                <a:latin typeface="Calibri"/>
              </a:rPr>
              <a:t>•  </a:t>
            </a:r>
            <a:r>
              <a:rPr sz="1250" b="0" i="0">
                <a:solidFill>
                  <a:srgbClr val="1C2433"/>
                </a:solidFill>
                <a:latin typeface="Calibri"/>
              </a:rPr>
              <a:t>writes Parquet and manifests to </a:t>
            </a:r>
            <a:r>
              <a:rPr sz="1150" b="0" i="0">
                <a:solidFill>
                  <a:srgbClr val="0E7C86"/>
                </a:solidFill>
                <a:latin typeface="Consolas"/>
              </a:rPr>
              <a:t>s3://…/iceberg/&lt;domain&gt;/&lt;table&gt;/</a:t>
            </a:r>
          </a:p>
          <a:p>
            <a:pPr algn="l">
              <a:lnSpc>
                <a:spcPct val="105000"/>
              </a:lnSpc>
              <a:spcAft>
                <a:spcPts val="200"/>
              </a:spcAft>
            </a:pPr>
            <a:r>
              <a:rPr sz="1250" b="0" i="0">
                <a:solidFill>
                  <a:srgbClr val="E87A1E"/>
                </a:solidFill>
                <a:latin typeface="Calibri"/>
              </a:rPr>
              <a:t>•  </a:t>
            </a:r>
            <a:r>
              <a:rPr sz="1250" b="0" i="0">
                <a:solidFill>
                  <a:srgbClr val="1C2433"/>
                </a:solidFill>
                <a:latin typeface="Calibri"/>
              </a:rPr>
              <a:t>commits: conditional PUT of </a:t>
            </a:r>
            <a:r>
              <a:rPr sz="1150" b="0" i="0">
                <a:solidFill>
                  <a:srgbClr val="0E7C86"/>
                </a:solidFill>
                <a:latin typeface="Consolas"/>
              </a:rPr>
              <a:t>vN+1.metadata.json</a:t>
            </a:r>
            <a:r>
              <a:rPr sz="1250" b="0" i="0">
                <a:solidFill>
                  <a:srgbClr val="1C2433"/>
                </a:solidFill>
                <a:latin typeface="Calibri"/>
              </a:rPr>
              <a:t>, then </a:t>
            </a:r>
            <a:r>
              <a:rPr sz="1150" b="0" i="0">
                <a:solidFill>
                  <a:srgbClr val="0E7C86"/>
                </a:solidFill>
                <a:latin typeface="Consolas"/>
              </a:rPr>
              <a:t>version-hint.text</a:t>
            </a:r>
          </a:p>
        </p:txBody>
      </p:sp>
      <p:sp>
        <p:nvSpPr>
          <p:cNvPr id="30" name="Rounded Rectangle 29"/>
          <p:cNvSpPr/>
          <p:nvPr/>
        </p:nvSpPr>
        <p:spPr>
          <a:xfrm>
            <a:off x="6217920" y="3611880"/>
            <a:ext cx="5559552" cy="1463040"/>
          </a:xfrm>
          <a:prstGeom prst="roundRect">
            <a:avLst>
              <a:gd name="adj" fmla="val 3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6327648" y="3685032"/>
            <a:ext cx="5340096" cy="1316736"/>
          </a:xfrm>
          <a:prstGeom prst="rect">
            <a:avLst/>
          </a:prstGeom>
          <a:noFill/>
        </p:spPr>
        <p:txBody>
          <a:bodyPr wrap="square" lIns="45720" rIns="45720" tIns="27432" bIns="27432" anchor="t">
            <a:spAutoFit/>
          </a:bodyPr>
          <a:lstStyle/>
          <a:p>
            <a:pPr algn="l">
              <a:lnSpc>
                <a:spcPct val="100000"/>
              </a:lnSpc>
            </a:pPr>
            <a:r>
              <a:rPr sz="1100" b="0" i="0">
                <a:solidFill>
                  <a:srgbClr val="E6EDF3"/>
                </a:solidFill>
                <a:latin typeface="Consolas"/>
              </a:rPr>
              <a:t>deploy/aws/iceberg/load-day.sh --date 2026-10-20</a:t>
            </a:r>
          </a:p>
          <a:p>
            <a:pPr algn="l">
              <a:lnSpc>
                <a:spcPct val="100000"/>
              </a:lnSpc>
            </a:pPr>
            <a:r>
              <a:rPr sz="1100" b="0" i="0">
                <a:solidFill>
                  <a:srgbClr val="E6EDF3"/>
                </a:solidFill>
                <a:latin typeface="Consolas"/>
              </a:rPr>
              <a:t>  # per table in ICEBERG_TABLES_FILE, under its lock:</a:t>
            </a:r>
          </a:p>
          <a:p>
            <a:pPr algn="l">
              <a:lnSpc>
                <a:spcPct val="100000"/>
              </a:lnSpc>
            </a:pPr>
            <a:r>
              <a:rPr sz="1100" b="0" i="0">
                <a:solidFill>
                  <a:srgbClr val="E6EDF3"/>
                </a:solidFill>
                <a:latin typeface="Consolas"/>
              </a:rPr>
              <a:t>  # landing dumps → lake build --format iceberg \</a:t>
            </a:r>
          </a:p>
          <a:p>
            <a:pPr algn="l">
              <a:lnSpc>
                <a:spcPct val="100000"/>
              </a:lnSpc>
            </a:pPr>
            <a:r>
              <a:rPr sz="1100" b="0" i="0">
                <a:solidFill>
                  <a:srgbClr val="E6EDF3"/>
                </a:solidFill>
                <a:latin typeface="Consolas"/>
              </a:rPr>
              <a:t>  #   --lake s3://LAKE_BUCKET/iceberg</a:t>
            </a:r>
          </a:p>
          <a:p>
            <a:pPr algn="l">
              <a:lnSpc>
                <a:spcPct val="100000"/>
              </a:lnSpc>
            </a:pPr>
            <a:r>
              <a:rPr sz="1100" b="0" i="0">
                <a:solidFill>
                  <a:srgbClr val="E6EDF3"/>
                </a:solidFill>
                <a:latin typeface="Consolas"/>
              </a:rPr>
              <a:t>  # metrics: LoadSucceeded, LoadSeconds</a:t>
            </a:r>
          </a:p>
        </p:txBody>
      </p:sp>
      <p:sp>
        <p:nvSpPr>
          <p:cNvPr id="32" name="Rounded Rectangle 31"/>
          <p:cNvSpPr/>
          <p:nvPr/>
        </p:nvSpPr>
        <p:spPr>
          <a:xfrm>
            <a:off x="411480" y="5257800"/>
            <a:ext cx="11365992" cy="1051560"/>
          </a:xfrm>
          <a:prstGeom prst="roundRect">
            <a:avLst>
              <a:gd name="adj" fmla="val 6000"/>
            </a:avLst>
          </a:prstGeom>
          <a:solidFill>
            <a:srgbClr val="FFF4E6"/>
          </a:solidFill>
          <a:ln w="19050">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Rectangle 32"/>
          <p:cNvSpPr/>
          <p:nvPr/>
        </p:nvSpPr>
        <p:spPr>
          <a:xfrm>
            <a:off x="411480" y="5257800"/>
            <a:ext cx="82296" cy="105156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TextBox 33"/>
          <p:cNvSpPr txBox="1"/>
          <p:nvPr/>
        </p:nvSpPr>
        <p:spPr>
          <a:xfrm>
            <a:off x="640080" y="5312664"/>
            <a:ext cx="11000232" cy="941831"/>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Fewer moving parts on Iceberg:</a:t>
            </a:r>
            <a:r>
              <a:rPr sz="1300" b="0" i="0">
                <a:solidFill>
                  <a:srgbClr val="1C2433"/>
                </a:solidFill>
                <a:latin typeface="Calibri"/>
              </a:rPr>
              <a:t> no scratch table and no second sync; the loader holds the table's lock only while it writes. Keep the Delta scripts' rules: one table per lock, </a:t>
            </a:r>
            <a:r>
              <a:rPr sz="1200" b="0" i="0">
                <a:solidFill>
                  <a:srgbClr val="0E7C86"/>
                </a:solidFill>
                <a:latin typeface="Consolas"/>
              </a:rPr>
              <a:t>--dry-run</a:t>
            </a:r>
            <a:r>
              <a:rPr sz="1300" b="0" i="0">
                <a:solidFill>
                  <a:srgbClr val="1C2433"/>
                </a:solidFill>
                <a:latin typeface="Calibri"/>
              </a:rPr>
              <a:t>, exit codes, metrics to </a:t>
            </a:r>
            <a:r>
              <a:rPr sz="1200" b="0" i="0">
                <a:solidFill>
                  <a:srgbClr val="0E7C86"/>
                </a:solidFill>
                <a:latin typeface="Consolas"/>
              </a:rPr>
              <a:t>Drishti/Lake</a:t>
            </a:r>
            <a:r>
              <a:rPr sz="1300" b="0" i="0">
                <a:solidFill>
                  <a:srgbClr val="1C2433"/>
                </a:solidFill>
                <a:latin typeface="Calibri"/>
              </a:rPr>
              <a: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data-load signal</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6 · operating it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72</a:t>
            </a:r>
          </a:p>
        </p:txBody>
      </p:sp>
      <p:sp>
        <p:nvSpPr>
          <p:cNvPr id="10" name="Rounded Rectangle 9"/>
          <p:cNvSpPr/>
          <p:nvPr/>
        </p:nvSpPr>
        <p:spPr>
          <a:xfrm>
            <a:off x="411480" y="1188720"/>
            <a:ext cx="2606040" cy="109728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02920" y="123444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lake publish</a:t>
            </a:r>
          </a:p>
        </p:txBody>
      </p:sp>
      <p:sp>
        <p:nvSpPr>
          <p:cNvPr id="12" name="TextBox 11"/>
          <p:cNvSpPr txBox="1"/>
          <p:nvPr/>
        </p:nvSpPr>
        <p:spPr>
          <a:xfrm>
            <a:off x="502920" y="1554480"/>
            <a:ext cx="2423160" cy="68580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one commit on S3</a:t>
            </a:r>
          </a:p>
        </p:txBody>
      </p:sp>
      <p:cxnSp>
        <p:nvCxnSpPr>
          <p:cNvPr id="13" name="Connector 12"/>
          <p:cNvCxnSpPr/>
          <p:nvPr/>
        </p:nvCxnSpPr>
        <p:spPr>
          <a:xfrm>
            <a:off x="3017520" y="1828800"/>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28416" y="1188720"/>
            <a:ext cx="2606040" cy="109728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3419856" y="123444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POST /api/v1/packs/{pack}/loads</a:t>
            </a:r>
          </a:p>
        </p:txBody>
      </p:sp>
      <p:sp>
        <p:nvSpPr>
          <p:cNvPr id="16" name="TextBox 15"/>
          <p:cNvSpPr txBox="1"/>
          <p:nvPr/>
        </p:nvSpPr>
        <p:spPr>
          <a:xfrm>
            <a:off x="3419856" y="1554480"/>
            <a:ext cx="2423160" cy="68580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per date, a </a:t>
            </a:r>
            <a:r>
              <a:rPr sz="1100" b="0" i="0">
                <a:solidFill>
                  <a:srgbClr val="0E7C86"/>
                </a:solidFill>
                <a:latin typeface="Consolas"/>
              </a:rPr>
              <a:t>loads:write</a:t>
            </a:r>
            <a:r>
              <a:rPr sz="1200" b="0" i="0">
                <a:solidFill>
                  <a:srgbClr val="1C2433"/>
                </a:solidFill>
                <a:latin typeface="Calibri"/>
              </a:rPr>
              <a:t> token</a:t>
            </a:r>
          </a:p>
        </p:txBody>
      </p:sp>
      <p:cxnSp>
        <p:nvCxnSpPr>
          <p:cNvPr id="17" name="Connector 16"/>
          <p:cNvCxnSpPr/>
          <p:nvPr/>
        </p:nvCxnSpPr>
        <p:spPr>
          <a:xfrm>
            <a:off x="5934456" y="1828800"/>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45352" y="1188720"/>
            <a:ext cx="2606040" cy="109728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6336792" y="123444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the server</a:t>
            </a:r>
          </a:p>
        </p:txBody>
      </p:sp>
      <p:sp>
        <p:nvSpPr>
          <p:cNvPr id="20" name="TextBox 19"/>
          <p:cNvSpPr txBox="1"/>
          <p:nvPr/>
        </p:nvSpPr>
        <p:spPr>
          <a:xfrm>
            <a:off x="6336792" y="1554480"/>
            <a:ext cx="2423160" cy="68580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refresh, verify, alert (DATA_LOADS.md)</a:t>
            </a:r>
          </a:p>
        </p:txBody>
      </p:sp>
      <p:cxnSp>
        <p:nvCxnSpPr>
          <p:cNvPr id="21" name="Connector 20"/>
          <p:cNvCxnSpPr/>
          <p:nvPr/>
        </p:nvCxnSpPr>
        <p:spPr>
          <a:xfrm>
            <a:off x="8851392" y="1828800"/>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162288" y="1188720"/>
            <a:ext cx="2606040" cy="109728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9253728" y="123444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risk engines</a:t>
            </a:r>
          </a:p>
        </p:txBody>
      </p:sp>
      <p:sp>
        <p:nvSpPr>
          <p:cNvPr id="24" name="TextBox 23"/>
          <p:cNvSpPr txBox="1"/>
          <p:nvPr/>
        </p:nvSpPr>
        <p:spPr>
          <a:xfrm>
            <a:off x="9253728" y="1554480"/>
            <a:ext cx="2423160" cy="68580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VaR: reload + official capture</a:t>
            </a:r>
          </a:p>
          <a:p>
            <a:pPr algn="l" marL="201168" indent="-201168">
              <a:spcAft>
                <a:spcPts val="200"/>
              </a:spcAft>
              <a:buClr>
                <a:srgbClr val="E87A1E"/>
              </a:buClr>
              <a:buSzPct val="100000"/>
              <a:buFont typeface="Arial"/>
              <a:buChar char="•"/>
            </a:pPr>
            <a:r>
              <a:rPr sz="1200" b="0" i="0">
                <a:solidFill>
                  <a:srgbClr val="1C2433"/>
                </a:solidFill>
                <a:latin typeface="Calibri"/>
              </a:rPr>
              <a:t>exposure: reload</a:t>
            </a:r>
          </a:p>
        </p:txBody>
      </p:sp>
      <p:sp>
        <p:nvSpPr>
          <p:cNvPr id="25" name="TextBox 24"/>
          <p:cNvSpPr txBox="1"/>
          <p:nvPr/>
        </p:nvSpPr>
        <p:spPr>
          <a:xfrm>
            <a:off x="411480" y="2697480"/>
            <a:ext cx="11365992" cy="2743200"/>
          </a:xfrm>
          <a:prstGeom prst="rect">
            <a:avLst/>
          </a:prstGeom>
          <a:noFill/>
        </p:spPr>
        <p:txBody>
          <a:bodyPr wrap="square" lIns="0" rIns="0" tIns="0" bIns="0" anchor="t">
            <a:spAutoFit/>
          </a:bodyPr>
          <a:lstStyle/>
          <a:p>
            <a:pPr algn="l" marL="201168" indent="-201168">
              <a:spcAft>
                <a:spcPts val="500"/>
              </a:spcAft>
              <a:buClr>
                <a:srgbClr val="E87A1E"/>
              </a:buClr>
              <a:buSzPct val="100000"/>
              <a:buFont typeface="Arial"/>
              <a:buChar char="•"/>
            </a:pPr>
            <a:r>
              <a:rPr sz="1300" b="0" i="0">
                <a:solidFill>
                  <a:srgbClr val="1C2433"/>
                </a:solidFill>
                <a:latin typeface="Calibri"/>
              </a:rPr>
              <a:t>With </a:t>
            </a:r>
            <a:r>
              <a:rPr sz="1200" b="0" i="0">
                <a:solidFill>
                  <a:srgbClr val="0E7C86"/>
                </a:solidFill>
                <a:latin typeface="Consolas"/>
              </a:rPr>
              <a:t>DRISHTI_SIGNAL_URL</a:t>
            </a:r>
            <a:r>
              <a:rPr sz="1300" b="0" i="0">
                <a:solidFill>
                  <a:srgbClr val="1C2433"/>
                </a:solidFill>
                <a:latin typeface="Calibri"/>
              </a:rPr>
              <a:t> (a node's Cloud Map name) and </a:t>
            </a:r>
            <a:r>
              <a:rPr sz="1200" b="0" i="0">
                <a:solidFill>
                  <a:srgbClr val="0E7C86"/>
                </a:solidFill>
                <a:latin typeface="Consolas"/>
              </a:rPr>
              <a:t>DRISHTI_TOKEN_SECRET_ID</a:t>
            </a:r>
            <a:r>
              <a:rPr sz="1300" b="0" i="0">
                <a:solidFill>
                  <a:srgbClr val="1C2433"/>
                </a:solidFill>
                <a:latin typeface="Calibri"/>
              </a:rPr>
              <a:t> (an API token with </a:t>
            </a:r>
            <a:r>
              <a:rPr sz="1200" b="0" i="0">
                <a:solidFill>
                  <a:srgbClr val="0E7C86"/>
                </a:solidFill>
                <a:latin typeface="Consolas"/>
              </a:rPr>
              <a:t>loads:write</a:t>
            </a:r>
            <a:r>
              <a:rPr sz="1300" b="0" i="0">
                <a:solidFill>
                  <a:srgbClr val="1C2433"/>
                </a:solidFill>
                <a:latin typeface="Calibri"/>
              </a:rPr>
              <a:t>, read into a 0600 file)</a:t>
            </a:r>
          </a:p>
          <a:p>
            <a:pPr algn="l" marL="201168" indent="-201168">
              <a:spcAft>
                <a:spcPts val="500"/>
              </a:spcAft>
              <a:buClr>
                <a:srgbClr val="E87A1E"/>
              </a:buClr>
              <a:buSzPct val="100000"/>
              <a:buFont typeface="Arial"/>
              <a:buChar char="•"/>
            </a:pPr>
            <a:r>
              <a:rPr sz="1300" b="0" i="0">
                <a:solidFill>
                  <a:srgbClr val="1C2433"/>
                </a:solidFill>
                <a:latin typeface="Calibri"/>
              </a:rPr>
              <a:t>Without it, servers see the new table version at their next refresh (</a:t>
            </a:r>
            <a:r>
              <a:rPr sz="1200" b="0" i="0">
                <a:solidFill>
                  <a:srgbClr val="0E7C86"/>
                </a:solidFill>
                <a:latin typeface="Consolas"/>
              </a:rPr>
              <a:t>refresh-seconds</a:t>
            </a:r>
            <a:r>
              <a:rPr sz="1300" b="0" i="0">
                <a:solidFill>
                  <a:srgbClr val="1C2433"/>
                </a:solidFill>
                <a:latin typeface="Calibri"/>
              </a:rPr>
              <a:t>, 10)</a:t>
            </a:r>
          </a:p>
          <a:p>
            <a:pPr algn="l" marL="201168" indent="-201168">
              <a:spcAft>
                <a:spcPts val="500"/>
              </a:spcAft>
              <a:buClr>
                <a:srgbClr val="E87A1E"/>
              </a:buClr>
              <a:buSzPct val="100000"/>
              <a:buFont typeface="Arial"/>
              <a:buChar char="•"/>
            </a:pPr>
            <a:r>
              <a:rPr sz="1300" b="0" i="0">
                <a:solidFill>
                  <a:srgbClr val="1C2433"/>
                </a:solidFill>
                <a:latin typeface="Calibri"/>
              </a:rPr>
              <a:t>Either way readers switch at the commit; the signal makes it immediate and runs the load's expectations and alerts</a:t>
            </a:r>
          </a:p>
          <a:p>
            <a:pPr algn="l" marL="201168" indent="-201168">
              <a:spcAft>
                <a:spcPts val="500"/>
              </a:spcAft>
              <a:buClr>
                <a:srgbClr val="E87A1E"/>
              </a:buClr>
              <a:buSzPct val="100000"/>
              <a:buFont typeface="Arial"/>
              <a:buChar char="•"/>
            </a:pPr>
            <a:r>
              <a:rPr sz="1300" b="1" i="0">
                <a:solidFill>
                  <a:srgbClr val="1C2433"/>
                </a:solidFill>
                <a:latin typeface="Calibri"/>
              </a:rPr>
              <a:t>Risk kinds:</a:t>
            </a:r>
            <a:r>
              <a:rPr sz="1300" b="0" i="0">
                <a:solidFill>
                  <a:srgbClr val="1C2433"/>
                </a:solidFill>
                <a:latin typeface="Calibri"/>
              </a:rPr>
              <a:t> a </a:t>
            </a:r>
            <a:r>
              <a:rPr sz="1200" b="0" i="0">
                <a:solidFill>
                  <a:srgbClr val="0E7C86"/>
                </a:solidFill>
                <a:latin typeface="Consolas"/>
              </a:rPr>
              <a:t>pnl-vector</a:t>
            </a:r>
            <a:r>
              <a:rPr sz="1300" b="0" i="0">
                <a:solidFill>
                  <a:srgbClr val="1C2433"/>
                </a:solidFill>
                <a:latin typeface="Calibri"/>
              </a:rPr>
              <a:t>, </a:t>
            </a:r>
            <a:r>
              <a:rPr sz="1200" b="0" i="0">
                <a:solidFill>
                  <a:srgbClr val="0E7C86"/>
                </a:solidFill>
                <a:latin typeface="Consolas"/>
              </a:rPr>
              <a:t>scenario-pv</a:t>
            </a:r>
            <a:r>
              <a:rPr sz="1300" b="0" i="0">
                <a:solidFill>
                  <a:srgbClr val="1C2433"/>
                </a:solidFill>
                <a:latin typeface="Calibri"/>
              </a:rPr>
              <a:t>, </a:t>
            </a:r>
            <a:r>
              <a:rPr sz="1200" b="0" i="0">
                <a:solidFill>
                  <a:srgbClr val="0E7C86"/>
                </a:solidFill>
                <a:latin typeface="Consolas"/>
              </a:rPr>
              <a:t>scenario-set</a:t>
            </a:r>
            <a:r>
              <a:rPr sz="1300" b="0" i="0">
                <a:solidFill>
                  <a:srgbClr val="1C2433"/>
                </a:solidFill>
                <a:latin typeface="Calibri"/>
              </a:rPr>
              <a:t>, </a:t>
            </a:r>
            <a:r>
              <a:rPr sz="1200" b="0" i="0">
                <a:solidFill>
                  <a:srgbClr val="0E7C86"/>
                </a:solidFill>
                <a:latin typeface="Consolas"/>
              </a:rPr>
              <a:t>risk-hierarchy</a:t>
            </a:r>
            <a:r>
              <a:rPr sz="1300" b="0" i="0">
                <a:solidFill>
                  <a:srgbClr val="1C2433"/>
                </a:solidFill>
                <a:latin typeface="Calibri"/>
              </a:rPr>
              <a:t> or </a:t>
            </a:r>
            <a:r>
              <a:rPr sz="1200" b="0" i="0">
                <a:solidFill>
                  <a:srgbClr val="0E7C86"/>
                </a:solidFill>
                <a:latin typeface="Consolas"/>
              </a:rPr>
              <a:t>portfolio</a:t>
            </a:r>
            <a:r>
              <a:rPr sz="1300" b="0" i="0">
                <a:solidFill>
                  <a:srgbClr val="1C2433"/>
                </a:solidFill>
                <a:latin typeface="Calibri"/>
              </a:rPr>
              <a:t> signal reloads the VaR date and captures it officially; an intraday batch is applied on top; an </a:t>
            </a:r>
            <a:r>
              <a:rPr sz="1200" b="0" i="0">
                <a:solidFill>
                  <a:srgbClr val="0E7C86"/>
                </a:solidFill>
                <a:latin typeface="Consolas"/>
              </a:rPr>
              <a:t>exposure-path</a:t>
            </a:r>
            <a:r>
              <a:rPr sz="1300" b="0" i="0">
                <a:solidFill>
                  <a:srgbClr val="1C2433"/>
                </a:solidFill>
                <a:latin typeface="Calibri"/>
              </a:rPr>
              <a:t> signal reloads exposure</a:t>
            </a:r>
          </a:p>
          <a:p>
            <a:pPr algn="l" marL="201168" indent="-201168">
              <a:spcAft>
                <a:spcPts val="500"/>
              </a:spcAft>
              <a:buClr>
                <a:srgbClr val="E87A1E"/>
              </a:buClr>
              <a:buSzPct val="100000"/>
              <a:buFont typeface="Arial"/>
              <a:buChar char="•"/>
            </a:pPr>
            <a:r>
              <a:rPr sz="1300" b="1" i="0">
                <a:solidFill>
                  <a:srgbClr val="1C2433"/>
                </a:solidFill>
                <a:latin typeface="Calibri"/>
              </a:rPr>
              <a:t>Iceberg:</a:t>
            </a:r>
            <a:r>
              <a:rPr sz="1300" b="0" i="0">
                <a:solidFill>
                  <a:srgbClr val="1C2433"/>
                </a:solidFill>
                <a:latin typeface="Calibri"/>
              </a:rPr>
              <a:t> </a:t>
            </a:r>
            <a:r>
              <a:rPr sz="1200" b="0" i="0">
                <a:solidFill>
                  <a:srgbClr val="0E7C86"/>
                </a:solidFill>
                <a:latin typeface="Consolas"/>
              </a:rPr>
              <a:t>lake publish</a:t>
            </a:r>
            <a:r>
              <a:rPr sz="1300" b="0" i="0">
                <a:solidFill>
                  <a:srgbClr val="1C2433"/>
                </a:solidFill>
                <a:latin typeface="Calibri"/>
              </a:rPr>
              <a:t> sends it for Delta; for Iceberg a script sends it (</a:t>
            </a:r>
            <a:r>
              <a:rPr sz="1200" b="0" i="0">
                <a:solidFill>
                  <a:srgbClr val="0E7C86"/>
                </a:solidFill>
                <a:latin typeface="Consolas"/>
              </a:rPr>
              <a:t>build_demo_lakes.py --server</a:t>
            </a:r>
            <a:r>
              <a:rPr sz="1300" b="0" i="0">
                <a:solidFill>
                  <a:srgbClr val="1C2433"/>
                </a:solidFill>
                <a:latin typeface="Calibri"/>
              </a:rPr>
              <a:t> does so locally), else the servers see the new snapshot at the next refresh (10 s)</a:t>
            </a:r>
          </a:p>
        </p:txBody>
      </p:sp>
      <p:sp>
        <p:nvSpPr>
          <p:cNvPr id="26" name="Callout"/>
          <p:cNvSpPr/>
          <p:nvPr/>
        </p:nvSpPr>
        <p:spPr>
          <a:xfrm>
            <a:off x="411480" y="5532120"/>
            <a:ext cx="11365992" cy="77724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Callout edge"/>
          <p:cNvSpPr/>
          <p:nvPr/>
        </p:nvSpPr>
        <p:spPr>
          <a:xfrm>
            <a:off x="411480" y="5550407"/>
            <a:ext cx="82296" cy="7406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640080" y="5605272"/>
            <a:ext cx="11000232" cy="630936"/>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Signals are safe in bursts: reads queue at most </a:t>
            </a:r>
            <a:r>
              <a:rPr sz="1200" b="0" i="0">
                <a:solidFill>
                  <a:srgbClr val="0E7C86"/>
                </a:solidFill>
                <a:latin typeface="Consolas"/>
              </a:rPr>
              <a:t>max-queued-reads</a:t>
            </a:r>
            <a:r>
              <a:rPr sz="1300" b="0" i="0">
                <a:solidFill>
                  <a:srgbClr val="1C2433"/>
                </a:solidFill>
                <a:latin typeface="Calibri"/>
              </a:rPr>
              <a:t> (4,096) and a read whose caller has gone leaves the queue.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Backfill and restatement, Delta and Iceberg</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6 · operating it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73</a:t>
            </a:r>
          </a:p>
        </p:txBody>
      </p:sp>
      <p:sp>
        <p:nvSpPr>
          <p:cNvPr id="10" name="Code block"/>
          <p:cNvSpPr/>
          <p:nvPr/>
        </p:nvSpPr>
        <p:spPr>
          <a:xfrm>
            <a:off x="411480" y="1143000"/>
            <a:ext cx="11365992" cy="566928"/>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521208" y="1207008"/>
            <a:ext cx="11146536" cy="438912"/>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deploy/aws/delta-lake/backfill.sh --from 2026-01-02 --to 2026-10-16 --skip-missing        </a:t>
            </a:r>
            <a:r>
              <a:rPr sz="1100" b="0" i="0">
                <a:solidFill>
                  <a:srgbClr val="8B9BB4"/>
                </a:solidFill>
                <a:latin typeface="Consolas"/>
              </a:rPr>
              <a:t>  # weekdays; dates without dumps skipped</a:t>
            </a:r>
          </a:p>
          <a:p>
            <a:pPr>
              <a:spcAft>
                <a:spcPts val="0"/>
              </a:spcAft>
              <a:buNone/>
            </a:pPr>
            <a:r>
              <a:rPr sz="1100" b="0" i="0">
                <a:solidFill>
                  <a:srgbClr val="E6EDF3"/>
                </a:solidFill>
                <a:latin typeface="Consolas"/>
              </a:rPr>
              <a:t>deploy/aws/delta-lake/backfill.sh --from 2025-01-02 --to 2025-12-31 --from-dir /opt/drishti/data/history</a:t>
            </a:r>
          </a:p>
        </p:txBody>
      </p:sp>
      <p:graphicFrame>
        <p:nvGraphicFramePr>
          <p:cNvPr id="12" name="Table"/>
          <p:cNvGraphicFramePr>
            <a:graphicFrameLocks noGrp="1"/>
          </p:cNvGraphicFramePr>
          <p:nvPr/>
        </p:nvGraphicFramePr>
        <p:xfrm>
          <a:off x="411480" y="1828800"/>
          <a:ext cx="11365992" cy="2286000"/>
        </p:xfrm>
        <a:graphic>
          <a:graphicData uri="http://schemas.openxmlformats.org/drawingml/2006/table">
            <a:tbl>
              <a:tblPr firstRow="0" bandRow="0">
                <a:tableStyleId>{5940675A-B579-460E-94D1-54222C63F5DA}</a:tableStyleId>
              </a:tblPr>
              <a:tblGrid>
                <a:gridCol w="2011680"/>
                <a:gridCol w="5120640"/>
                <a:gridCol w="4233672"/>
              </a:tblGrid>
              <a:tr h="457200">
                <a:tc>
                  <a:txBody>
                    <a:bodyPr wrap="square"/>
                    <a:lstStyle/>
                    <a:p>
                      <a:r>
                        <a:rPr sz="1150" b="1" i="0">
                          <a:solidFill>
                            <a:srgbClr val="FFFFFF"/>
                          </a:solidFill>
                          <a:latin typeface="Calibri"/>
                        </a:rPr>
                        <a:t>A source re-sent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50" b="1" i="0">
                          <a:solidFill>
                            <a:srgbClr val="FFFFFF"/>
                          </a:solidFill>
                          <a:latin typeface="Calibri"/>
                        </a:rPr>
                        <a:t>Delta (</a:t>
                      </a:r>
                      <a:r>
                        <a:rPr sz="1050" b="1" i="0">
                          <a:solidFill>
                            <a:srgbClr val="FFD8A8"/>
                          </a:solidFill>
                          <a:latin typeface="Consolas"/>
                        </a:rPr>
                        <a:t>delta-lake/</a:t>
                      </a:r>
                      <a:r>
                        <a:rPr sz="1150" b="1" i="0">
                          <a:solidFill>
                            <a:srgbClr val="FFFFFF"/>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50" b="1" i="0">
                          <a:solidFill>
                            <a:srgbClr val="FFFFFF"/>
                          </a:solidFill>
                          <a:latin typeface="Calibri"/>
                        </a:rPr>
                        <a:t>Iceberg (</a:t>
                      </a:r>
                      <a:r>
                        <a:rPr sz="1050" b="1" i="0">
                          <a:solidFill>
                            <a:srgbClr val="FFD8A8"/>
                          </a:solidFill>
                          <a:latin typeface="Consolas"/>
                        </a:rPr>
                        <a:t>iceberg/</a:t>
                      </a:r>
                      <a:r>
                        <a:rPr sz="1150" b="1" i="0">
                          <a:solidFill>
                            <a:srgbClr val="FFFFFF"/>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57200">
                <a:tc>
                  <a:txBody>
                    <a:bodyPr wrap="square"/>
                    <a:lstStyle/>
                    <a:p>
                      <a:r>
                        <a:rPr sz="1150" b="1" i="0">
                          <a:solidFill>
                            <a:srgbClr val="1C2433"/>
                          </a:solidFill>
                          <a:latin typeface="Calibri"/>
                        </a:rPr>
                        <a:t>some whole days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050" b="0" i="0">
                          <a:solidFill>
                            <a:srgbClr val="0E7C86"/>
                          </a:solidFill>
                          <a:latin typeface="Consolas"/>
                        </a:rPr>
                        <a:t>backfill.sh --dates 2026-10-14,2026-10-15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load the days again: each replaces its partition in one commit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150" b="1" i="0">
                          <a:solidFill>
                            <a:srgbClr val="1C2433"/>
                          </a:solidFill>
                          <a:latin typeface="Calibri"/>
                        </a:rPr>
                        <a:t>one product type of a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050" b="0" i="0">
                          <a:solidFill>
                            <a:srgbClr val="0E7C86"/>
                          </a:solidFill>
                          <a:latin typeface="Consolas"/>
                        </a:rPr>
                        <a:t>load-day.sh --date 2026-10-15 --tables trading/trade_endur --mode overwrite-partitions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the whole day again (product type is not a partition)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150" b="1" i="0">
                          <a:solidFill>
                            <a:srgbClr val="1C2433"/>
                          </a:solidFill>
                          <a:latin typeface="Calibri"/>
                        </a:rPr>
                        <a:t>years of history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050" b="0" i="0">
                          <a:solidFill>
                            <a:srgbClr val="0E7C86"/>
                          </a:solidFill>
                          <a:latin typeface="Consolas"/>
                        </a:rPr>
                        <a:t>backfill.sh --from … --to …</a:t>
                      </a:r>
                      <a:r>
                        <a:rPr sz="1150" b="0" i="0">
                          <a:solidFill>
                            <a:srgbClr val="1C2433"/>
                          </a:solidFill>
                          <a:latin typeface="Calibri"/>
                        </a:rPr>
                        <a:t>, oldest first; stops at the first failing date and prints the command that resumes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050" b="0" i="0">
                          <a:solidFill>
                            <a:srgbClr val="0E7C86"/>
                          </a:solidFill>
                          <a:latin typeface="Consolas"/>
                        </a:rPr>
                        <a:t>backfill.sh --from … --to …</a:t>
                      </a:r>
                      <a:r>
                        <a:rPr sz="1150" b="0" i="0">
                          <a:solidFill>
                            <a:srgbClr val="1C2433"/>
                          </a:solidFill>
                          <a:latin typeface="Calibri"/>
                        </a:rPr>
                        <a:t>, oldest first; stops and says how to resume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150" b="1" i="0">
                          <a:solidFill>
                            <a:srgbClr val="1C2433"/>
                          </a:solidFill>
                          <a:latin typeface="Calibri"/>
                        </a:rPr>
                        <a:t>old days to drop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050" b="0" i="0">
                          <a:solidFill>
                            <a:srgbClr val="0E7C86"/>
                          </a:solidFill>
                          <a:latin typeface="Consolas"/>
                        </a:rPr>
                        <a:t>lake maintain</a:t>
                      </a:r>
                      <a:r>
                        <a:rPr sz="1150" b="0" i="0">
                          <a:solidFill>
                            <a:srgbClr val="1C2433"/>
                          </a:solidFill>
                          <a:latin typeface="Calibri"/>
                        </a:rPr>
                        <a:t> retention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050" b="0" i="0">
                          <a:solidFill>
                            <a:srgbClr val="0E7C86"/>
                          </a:solidFill>
                          <a:latin typeface="Consolas"/>
                        </a:rPr>
                        <a:t>lake maintain</a:t>
                      </a:r>
                      <a:r>
                        <a:rPr sz="1150" b="0" i="0">
                          <a:solidFill>
                            <a:srgbClr val="1C2433"/>
                          </a:solidFill>
                          <a:latin typeface="Calibri"/>
                        </a:rPr>
                        <a:t> retention (metadata only), 7-year floor for risk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3" name="TextBox 12"/>
          <p:cNvSpPr txBox="1"/>
          <p:nvPr/>
        </p:nvSpPr>
        <p:spPr>
          <a:xfrm>
            <a:off x="411480" y="4251960"/>
            <a:ext cx="11365992" cy="914400"/>
          </a:xfrm>
          <a:prstGeom prst="rect">
            <a:avLst/>
          </a:prstGeom>
          <a:noFill/>
        </p:spPr>
        <p:txBody>
          <a:bodyPr wrap="square" lIns="0" rIns="0" tIns="0" bIns="0" anchor="t">
            <a:spAutoFit/>
          </a:bodyPr>
          <a:lstStyle/>
          <a:p>
            <a:pPr algn="l" marL="201168" indent="-201168">
              <a:spcAft>
                <a:spcPts val="400"/>
              </a:spcAft>
              <a:buClr>
                <a:srgbClr val="E87A1E"/>
              </a:buClr>
              <a:buSzPct val="100000"/>
              <a:buFont typeface="Arial"/>
              <a:buChar char="•"/>
            </a:pPr>
            <a:r>
              <a:rPr sz="1200" b="0" i="0">
                <a:solidFill>
                  <a:srgbClr val="1C2433"/>
                </a:solidFill>
                <a:latin typeface="Calibri"/>
              </a:rPr>
              <a:t>Re-running a date replaces it: a backfill can always be run again; a large one runs several loader tasks side by side on different tables (</a:t>
            </a:r>
            <a:r>
              <a:rPr sz="1100" b="0" i="0">
                <a:solidFill>
                  <a:srgbClr val="0E7C86"/>
                </a:solidFill>
                <a:latin typeface="Consolas"/>
              </a:rPr>
              <a:t>--tables</a:t>
            </a:r>
            <a:r>
              <a:rPr sz="1200" b="0" i="0">
                <a:solidFill>
                  <a:srgbClr val="1C2433"/>
                </a:solidFill>
                <a:latin typeface="Calibri"/>
              </a:rPr>
              <a:t>), the per-table lock keeps two apart</a:t>
            </a:r>
          </a:p>
          <a:p>
            <a:pPr algn="l" marL="201168" indent="-201168">
              <a:spcAft>
                <a:spcPts val="400"/>
              </a:spcAft>
              <a:buClr>
                <a:srgbClr val="E87A1E"/>
              </a:buClr>
              <a:buSzPct val="100000"/>
              <a:buFont typeface="Arial"/>
              <a:buChar char="•"/>
            </a:pPr>
            <a:r>
              <a:rPr sz="1200" b="0" i="0">
                <a:solidFill>
                  <a:srgbClr val="1C2433"/>
                </a:solidFill>
                <a:latin typeface="Calibri"/>
              </a:rPr>
              <a:t>Readers switch at the commit, never a mixture; data files of an old restated day tier by their date prefix at the next lifecycle run (the rule is by date, not object age)</a:t>
            </a:r>
          </a:p>
        </p:txBody>
      </p:sp>
      <p:sp>
        <p:nvSpPr>
          <p:cNvPr id="14" name="Callout"/>
          <p:cNvSpPr/>
          <p:nvPr/>
        </p:nvSpPr>
        <p:spPr>
          <a:xfrm>
            <a:off x="411480" y="5257800"/>
            <a:ext cx="5577840" cy="109728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allout edge"/>
          <p:cNvSpPr/>
          <p:nvPr/>
        </p:nvSpPr>
        <p:spPr>
          <a:xfrm>
            <a:off x="411480" y="5276088"/>
            <a:ext cx="82296" cy="106070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640080" y="5330952"/>
            <a:ext cx="5212079" cy="950976"/>
          </a:xfrm>
          <a:prstGeom prst="rect">
            <a:avLst/>
          </a:prstGeom>
          <a:noFill/>
        </p:spPr>
        <p:txBody>
          <a:bodyPr wrap="square" lIns="0" rIns="0" tIns="0" bIns="0" anchor="ctr">
            <a:spAutoFit/>
          </a:bodyPr>
          <a:lstStyle/>
          <a:p>
            <a:pPr algn="l">
              <a:spcAft>
                <a:spcPts val="600"/>
              </a:spcAft>
              <a:buNone/>
            </a:pPr>
            <a:r>
              <a:rPr sz="1150" b="1" i="0">
                <a:solidFill>
                  <a:srgbClr val="1C2433"/>
                </a:solidFill>
                <a:latin typeface="Calibri"/>
              </a:rPr>
              <a:t>Restatement:</a:t>
            </a:r>
            <a:r>
              <a:rPr sz="1150" b="0" i="0">
                <a:solidFill>
                  <a:srgbClr val="1C2433"/>
                </a:solidFill>
                <a:latin typeface="Calibri"/>
              </a:rPr>
              <a:t> </a:t>
            </a:r>
            <a:r>
              <a:rPr sz="1150" b="0" i="1">
                <a:solidFill>
                  <a:srgbClr val="1C2433"/>
                </a:solidFill>
                <a:latin typeface="Calibri"/>
              </a:rPr>
              <a:t>known at</a:t>
            </a:r>
            <a:r>
              <a:rPr sz="1150" b="0" i="0">
                <a:solidFill>
                  <a:srgbClr val="1C2433"/>
                </a:solidFill>
                <a:latin typeface="Calibri"/>
              </a:rPr>
              <a:t> before it still shows the day as it was, until vacuum (</a:t>
            </a:r>
            <a:r>
              <a:rPr sz="1050" b="0" i="0">
                <a:solidFill>
                  <a:srgbClr val="0E7C86"/>
                </a:solidFill>
                <a:latin typeface="Consolas"/>
              </a:rPr>
              <a:t>LAKE_VACUUM_HOURS</a:t>
            </a:r>
            <a:r>
              <a:rPr sz="1150" b="0" i="0">
                <a:solidFill>
                  <a:srgbClr val="1C2433"/>
                </a:solidFill>
                <a:latin typeface="Calibri"/>
              </a:rPr>
              <a:t>; 7 years for risk) or snapshot expiry. A restated VaR or exposure date gets the next </a:t>
            </a:r>
            <a:r>
              <a:rPr sz="1050" b="0" i="0">
                <a:solidFill>
                  <a:srgbClr val="0E7C86"/>
                </a:solidFill>
                <a:latin typeface="Consolas"/>
              </a:rPr>
              <a:t>RESULT_VERSION</a:t>
            </a:r>
            <a:r>
              <a:rPr sz="1150" b="0" i="0">
                <a:solidFill>
                  <a:srgbClr val="1C2433"/>
                </a:solidFill>
                <a:latin typeface="Calibri"/>
              </a:rPr>
              <a:t>; the earlier one is kept.</a:t>
            </a:r>
          </a:p>
        </p:txBody>
      </p:sp>
      <p:sp>
        <p:nvSpPr>
          <p:cNvPr id="17" name="Callout"/>
          <p:cNvSpPr/>
          <p:nvPr/>
        </p:nvSpPr>
        <p:spPr>
          <a:xfrm>
            <a:off x="6199632" y="5257800"/>
            <a:ext cx="5577840" cy="109728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Callout edge"/>
          <p:cNvSpPr/>
          <p:nvPr/>
        </p:nvSpPr>
        <p:spPr>
          <a:xfrm>
            <a:off x="6199632" y="5276088"/>
            <a:ext cx="82296" cy="10607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6428232" y="5330952"/>
            <a:ext cx="5212079" cy="950976"/>
          </a:xfrm>
          <a:prstGeom prst="rect">
            <a:avLst/>
          </a:prstGeom>
          <a:noFill/>
        </p:spPr>
        <p:txBody>
          <a:bodyPr wrap="square" lIns="0" rIns="0" tIns="0" bIns="0" anchor="ctr">
            <a:spAutoFit/>
          </a:bodyPr>
          <a:lstStyle/>
          <a:p>
            <a:pPr algn="l">
              <a:spcAft>
                <a:spcPts val="600"/>
              </a:spcAft>
              <a:buNone/>
            </a:pPr>
            <a:r>
              <a:rPr sz="1150" b="1" i="0">
                <a:solidFill>
                  <a:srgbClr val="1C2433"/>
                </a:solidFill>
                <a:latin typeface="Calibri"/>
              </a:rPr>
              <a:t>Guarded:</a:t>
            </a:r>
            <a:r>
              <a:rPr sz="1150" b="0" i="0">
                <a:solidFill>
                  <a:srgbClr val="1C2433"/>
                </a:solidFill>
                <a:latin typeface="Calibri"/>
              </a:rPr>
              <a:t> removing more than half of a table's rows fails, removing nothing, unless </a:t>
            </a:r>
            <a:r>
              <a:rPr sz="1050" b="0" i="0">
                <a:solidFill>
                  <a:srgbClr val="0E7C86"/>
                </a:solidFill>
                <a:latin typeface="Consolas"/>
              </a:rPr>
              <a:t>--force-drop</a:t>
            </a:r>
            <a:r>
              <a:rPr sz="1150" b="0" i="0">
                <a:solidFill>
                  <a:srgbClr val="1C2433"/>
                </a:solidFill>
                <a:latin typeface="Calibri"/>
              </a:rPr>
              <a:t>; a row dated after tomorrow in the business zone is not loaded and the load ends with an error naming it.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What the nightly maintenance runs, Delta and Iceberg</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6 · operating it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74</a:t>
            </a:r>
          </a:p>
        </p:txBody>
      </p:sp>
      <p:sp>
        <p:nvSpPr>
          <p:cNvPr id="10" name="TextBox 9"/>
          <p:cNvSpPr txBox="1"/>
          <p:nvPr/>
        </p:nvSpPr>
        <p:spPr>
          <a:xfrm>
            <a:off x="411480" y="1097280"/>
            <a:ext cx="11365992" cy="365760"/>
          </a:xfrm>
          <a:prstGeom prst="rect">
            <a:avLst/>
          </a:prstGeom>
          <a:noFill/>
        </p:spPr>
        <p:txBody>
          <a:bodyPr wrap="square" lIns="0" rIns="0" tIns="0" bIns="0" anchor="t">
            <a:spAutoFit/>
          </a:bodyPr>
          <a:lstStyle/>
          <a:p>
            <a:pPr algn="l">
              <a:spcAft>
                <a:spcPts val="600"/>
              </a:spcAft>
              <a:buNone/>
            </a:pPr>
            <a:r>
              <a:rPr sz="1250" b="0" i="0">
                <a:solidFill>
                  <a:srgbClr val="1C2433"/>
                </a:solidFill>
                <a:latin typeface="Calibri"/>
              </a:rPr>
              <a:t>Nightly (</a:t>
            </a:r>
            <a:r>
              <a:rPr sz="1150" b="0" i="0">
                <a:solidFill>
                  <a:srgbClr val="0E7C86"/>
                </a:solidFill>
                <a:latin typeface="Consolas"/>
              </a:rPr>
              <a:t>MAINTAIN_SCHEDULE</a:t>
            </a:r>
            <a:r>
              <a:rPr sz="1250" b="0" i="0">
                <a:solidFill>
                  <a:srgbClr val="1C2433"/>
                </a:solidFill>
                <a:latin typeface="Calibri"/>
              </a:rPr>
              <a:t>, Tuesday to Saturday 02:30) as the maintenance task, per table under the table's lock; then setup-lifecycle.sh.</a:t>
            </a:r>
          </a:p>
        </p:txBody>
      </p:sp>
      <p:sp>
        <p:nvSpPr>
          <p:cNvPr id="11" name="Code block"/>
          <p:cNvSpPr/>
          <p:nvPr/>
        </p:nvSpPr>
        <p:spPr>
          <a:xfrm>
            <a:off x="411480" y="1508760"/>
            <a:ext cx="11365992" cy="566928"/>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
          <p:cNvSpPr txBox="1"/>
          <p:nvPr/>
        </p:nvSpPr>
        <p:spPr>
          <a:xfrm>
            <a:off x="521208" y="1572768"/>
            <a:ext cx="11146536" cy="438912"/>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drishti.py lake maintain --config &lt;lake-maintenance.s3.yaml rendered&gt; --once --force-foreign --tables trading/trade_endur</a:t>
            </a:r>
          </a:p>
          <a:p>
            <a:pPr>
              <a:spcAft>
                <a:spcPts val="0"/>
              </a:spcAft>
              <a:buNone/>
            </a:pPr>
            <a:r>
              <a:rPr sz="1100" b="0" i="0">
                <a:solidFill>
                  <a:srgbClr val="E6EDF3"/>
                </a:solidFill>
                <a:latin typeface="Consolas"/>
              </a:rPr>
              <a:t>deploy/aws/iceberg/maintain.sh   </a:t>
            </a:r>
            <a:r>
              <a:rPr sz="1100" b="0" i="0">
                <a:solidFill>
                  <a:srgbClr val="8B9BB4"/>
                </a:solidFill>
                <a:latin typeface="Consolas"/>
              </a:rPr>
              <a:t>  # IcebergMaintenance per table; every option: appendix</a:t>
            </a:r>
          </a:p>
        </p:txBody>
      </p:sp>
      <p:graphicFrame>
        <p:nvGraphicFramePr>
          <p:cNvPr id="13" name="Table"/>
          <p:cNvGraphicFramePr>
            <a:graphicFrameLocks noGrp="1"/>
          </p:cNvGraphicFramePr>
          <p:nvPr/>
        </p:nvGraphicFramePr>
        <p:xfrm>
          <a:off x="411480" y="2176272"/>
          <a:ext cx="11365992" cy="2743200"/>
        </p:xfrm>
        <a:graphic>
          <a:graphicData uri="http://schemas.openxmlformats.org/drawingml/2006/table">
            <a:tbl>
              <a:tblPr firstRow="0" bandRow="0">
                <a:tableStyleId>{5940675A-B579-460E-94D1-54222C63F5DA}</a:tableStyleId>
              </a:tblPr>
              <a:tblGrid>
                <a:gridCol w="2011680"/>
                <a:gridCol w="4663440"/>
                <a:gridCol w="4690872"/>
              </a:tblGrid>
              <a:tr h="457200">
                <a:tc>
                  <a:txBody>
                    <a:bodyPr wrap="square"/>
                    <a:lstStyle/>
                    <a:p>
                      <a:r>
                        <a:rPr sz="1100" b="1" i="0">
                          <a:solidFill>
                            <a:srgbClr val="FFFFFF"/>
                          </a:solidFill>
                          <a:latin typeface="Calibri"/>
                        </a:rPr>
                        <a:t>Step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Delta (</a:t>
                      </a:r>
                      <a:r>
                        <a:rPr sz="1100" b="1" i="0">
                          <a:solidFill>
                            <a:srgbClr val="FFD8A8"/>
                          </a:solidFill>
                          <a:latin typeface="Consolas"/>
                        </a:rPr>
                        <a:t>maintain.sh</a:t>
                      </a:r>
                      <a:r>
                        <a:rPr sz="1100" b="1" i="0">
                          <a:solidFill>
                            <a:srgbClr val="FFFFFF"/>
                          </a:solidFill>
                          <a:latin typeface="Calibri"/>
                        </a:rPr>
                        <a:t>, lake-maintenance.s3.yaml)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Iceberg (</a:t>
                      </a:r>
                      <a:r>
                        <a:rPr sz="1100" b="1" i="0">
                          <a:solidFill>
                            <a:srgbClr val="FFD8A8"/>
                          </a:solidFill>
                          <a:latin typeface="Consolas"/>
                        </a:rPr>
                        <a:t>iceberg/maintain.sh</a:t>
                      </a:r>
                      <a:r>
                        <a:rPr sz="1100" b="1" i="0">
                          <a:solidFill>
                            <a:srgbClr val="FFFFFF"/>
                          </a:solidFill>
                          <a:latin typeface="Calibri"/>
                        </a:rPr>
                        <a:t> → </a:t>
                      </a:r>
                      <a:r>
                        <a:rPr sz="1100" b="1" i="0">
                          <a:solidFill>
                            <a:srgbClr val="FFD8A8"/>
                          </a:solidFill>
                          <a:latin typeface="Consolas"/>
                        </a:rPr>
                        <a:t>IcebergMaintenance</a:t>
                      </a:r>
                      <a:r>
                        <a:rPr sz="1100" b="1" i="0">
                          <a:solidFill>
                            <a:srgbClr val="FFFFFF"/>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57200">
                <a:tc>
                  <a:txBody>
                    <a:bodyPr wrap="square"/>
                    <a:lstStyle/>
                    <a:p>
                      <a:r>
                        <a:rPr sz="1100" b="1" i="0">
                          <a:solidFill>
                            <a:srgbClr val="1C2433"/>
                          </a:solidFill>
                          <a:latin typeface="Calibri"/>
                        </a:rPr>
                        <a:t>Retention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keep-business-days</a:t>
                      </a:r>
                      <a:r>
                        <a:rPr sz="1100" b="0" i="0">
                          <a:solidFill>
                            <a:srgbClr val="1C2433"/>
                          </a:solidFill>
                          <a:latin typeface="Calibri"/>
                        </a:rPr>
                        <a:t> (</a:t>
                      </a:r>
                      <a:r>
                        <a:rPr sz="1100" b="0" i="0">
                          <a:solidFill>
                            <a:srgbClr val="0E7C86"/>
                          </a:solidFill>
                          <a:latin typeface="Consolas"/>
                        </a:rPr>
                        <a:t>LAKE_KEEP_BUSINESS_DAYS</a:t>
                      </a:r>
                      <a:r>
                        <a:rPr sz="1100" b="0" i="0">
                          <a:solidFill>
                            <a:srgbClr val="1C2433"/>
                          </a:solidFill>
                          <a:latin typeface="Calibri"/>
                        </a:rPr>
                        <a:t>, 1800): dates older than that, one commit; refuses to drop more than </a:t>
                      </a:r>
                      <a:r>
                        <a:rPr sz="1100" b="0" i="0">
                          <a:solidFill>
                            <a:srgbClr val="0E7C86"/>
                          </a:solidFill>
                          <a:latin typeface="Consolas"/>
                        </a:rPr>
                        <a:t>max-drop-share</a:t>
                      </a:r>
                      <a:r>
                        <a:rPr sz="1100" b="0" i="0">
                          <a:solidFill>
                            <a:srgbClr val="1C2433"/>
                          </a:solidFill>
                          <a:latin typeface="Calibri"/>
                        </a:rPr>
                        <a:t> (0.5)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--keep-days 1800</a:t>
                      </a:r>
                      <a:r>
                        <a:rPr sz="1100" b="0" i="0">
                          <a:solidFill>
                            <a:srgbClr val="1C2433"/>
                          </a:solidFill>
                          <a:latin typeface="Calibri"/>
                        </a:rPr>
                        <a:t>: days older than seven years, metadata only; more than half the rows needs </a:t>
                      </a:r>
                      <a:r>
                        <a:rPr sz="1100" b="0" i="0">
                          <a:solidFill>
                            <a:srgbClr val="0E7C86"/>
                          </a:solidFill>
                          <a:latin typeface="Consolas"/>
                        </a:rPr>
                        <a:t>--force-drop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100" b="1" i="0">
                          <a:solidFill>
                            <a:srgbClr val="1C2433"/>
                          </a:solidFill>
                          <a:latin typeface="Calibri"/>
                        </a:rPr>
                        <a:t>Checkpoint · manifests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checkpoint: true</a:t>
                      </a:r>
                      <a:r>
                        <a:rPr sz="1100" b="0" i="0">
                          <a:solidFill>
                            <a:srgbClr val="1C2433"/>
                          </a:solidFill>
                          <a:latin typeface="Calibri"/>
                        </a:rPr>
                        <a:t>; removes commit files past </a:t>
                      </a:r>
                      <a:r>
                        <a:rPr sz="1100" b="0" i="0">
                          <a:solidFill>
                            <a:srgbClr val="0E7C86"/>
                          </a:solidFill>
                          <a:latin typeface="Consolas"/>
                        </a:rPr>
                        <a:t>delta.logRetentionDuration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--rewrite-manifests</a:t>
                      </a:r>
                      <a:r>
                        <a:rPr sz="1100" b="0" i="0">
                          <a:solidFill>
                            <a:srgbClr val="1C2433"/>
                          </a:solidFill>
                          <a:latin typeface="Calibri"/>
                        </a:rPr>
                        <a:t>: one manifest per month; planning reads a few dozen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100" b="1" i="0">
                          <a:solidFill>
                            <a:srgbClr val="1C2433"/>
                          </a:solidFill>
                          <a:latin typeface="Calibri"/>
                        </a:rPr>
                        <a:t>Vacuum · expiry, orphans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vacuum-hours</a:t>
                      </a:r>
                      <a:r>
                        <a:rPr sz="1100" b="0" i="0">
                          <a:solidFill>
                            <a:srgbClr val="1C2433"/>
                          </a:solidFill>
                          <a:latin typeface="Calibri"/>
                        </a:rPr>
                        <a:t> (</a:t>
                      </a:r>
                      <a:r>
                        <a:rPr sz="1100" b="0" i="0">
                          <a:solidFill>
                            <a:srgbClr val="0E7C86"/>
                          </a:solidFill>
                          <a:latin typeface="Consolas"/>
                        </a:rPr>
                        <a:t>LAKE_VACUUM_HOURS</a:t>
                      </a:r>
                      <a:r>
                        <a:rPr sz="1100" b="0" i="0">
                          <a:solidFill>
                            <a:srgbClr val="1C2433"/>
                          </a:solidFill>
                          <a:latin typeface="Calibri"/>
                        </a:rPr>
                        <a:t>, 168): files no version uses; S3 keeps them 14 more days as noncurrent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--expire-hours 168</a:t>
                      </a:r>
                      <a:r>
                        <a:rPr sz="1100" b="0" i="0">
                          <a:solidFill>
                            <a:srgbClr val="1C2433"/>
                          </a:solidFill>
                          <a:latin typeface="Calibri"/>
                        </a:rPr>
                        <a:t>: keeps the metadata JSON small, bounds </a:t>
                      </a:r>
                      <a:r>
                        <a:rPr sz="1100" b="0" i="1">
                          <a:solidFill>
                            <a:srgbClr val="1C2433"/>
                          </a:solidFill>
                          <a:latin typeface="Calibri"/>
                        </a:rPr>
                        <a:t>known at</a:t>
                      </a:r>
                      <a:r>
                        <a:rPr sz="1100" b="0" i="0">
                          <a:solidFill>
                            <a:srgbClr val="1C2433"/>
                          </a:solidFill>
                          <a:latin typeface="Calibri"/>
                        </a:rPr>
                        <a:t>; </a:t>
                      </a:r>
                      <a:r>
                        <a:rPr sz="1100" b="0" i="0">
                          <a:solidFill>
                            <a:srgbClr val="0E7C86"/>
                          </a:solidFill>
                          <a:latin typeface="Consolas"/>
                        </a:rPr>
                        <a:t>--remove-orphans</a:t>
                      </a:r>
                      <a:r>
                        <a:rPr sz="1100" b="0" i="0">
                          <a:solidFill>
                            <a:srgbClr val="1C2433"/>
                          </a:solidFill>
                          <a:latin typeface="Calibri"/>
                        </a:rPr>
                        <a:t>: files no snapshot names, 72 h at least, a dry run lists them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100" b="1" i="0">
                          <a:solidFill>
                            <a:srgbClr val="1C2433"/>
                          </a:solidFill>
                          <a:latin typeface="Calibri"/>
                        </a:rPr>
                        <a:t>Compaction · relayout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compact: false</a:t>
                      </a:r>
                      <a:r>
                        <a:rPr sz="1100" b="0" i="0">
                          <a:solidFill>
                            <a:srgbClr val="1C2433"/>
                          </a:solidFill>
                          <a:latin typeface="Calibri"/>
                        </a:rPr>
                        <a:t> (slide 76)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--relayout</a:t>
                      </a:r>
                      <a:r>
                        <a:rPr sz="1100" b="0" i="0">
                          <a:solidFill>
                            <a:srgbClr val="1C2433"/>
                          </a:solidFill>
                          <a:latin typeface="Calibri"/>
                        </a:rPr>
                        <a:t>: re-sort days another writer appended out of order; fold delete files into data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100" b="1" i="0">
                          <a:solidFill>
                            <a:srgbClr val="1C2433"/>
                          </a:solidFill>
                          <a:latin typeface="Calibri"/>
                        </a:rPr>
                        <a:t>Risk floor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7 years: 1,827 days, 61,368 h; </a:t>
                      </a:r>
                      <a:r>
                        <a:rPr sz="1100" b="0" i="0">
                          <a:solidFill>
                            <a:srgbClr val="0E7C86"/>
                          </a:solidFill>
                          <a:latin typeface="Consolas"/>
                        </a:rPr>
                        <a:t>risk/</a:t>
                      </a:r>
                      <a:r>
                        <a:rPr sz="1100" b="0" i="0">
                          <a:solidFill>
                            <a:srgbClr val="1C2433"/>
                          </a:solidFill>
                          <a:latin typeface="Calibri"/>
                        </a:rPr>
                        <a:t>, </a:t>
                      </a:r>
                      <a:r>
                        <a:rPr sz="1100" b="0" i="0">
                          <a:solidFill>
                            <a:srgbClr val="0E7C86"/>
                          </a:solidFill>
                          <a:latin typeface="Consolas"/>
                        </a:rPr>
                        <a:t>risk-results/</a:t>
                      </a:r>
                      <a:r>
                        <a:rPr sz="1100" b="0" i="0">
                          <a:solidFill>
                            <a:srgbClr val="1C2433"/>
                          </a:solidFill>
                          <a:latin typeface="Calibri"/>
                        </a:rPr>
                        <a:t> never below it (</a:t>
                      </a:r>
                      <a:r>
                        <a:rPr sz="1100" b="0" i="0">
                          <a:solidFill>
                            <a:srgbClr val="0E7C86"/>
                          </a:solidFill>
                          <a:latin typeface="Consolas"/>
                        </a:rPr>
                        <a:t>retention-floor</a:t>
                      </a:r>
                      <a:r>
                        <a:rPr sz="11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--floor-days 2557</a:t>
                      </a:r>
                      <a:r>
                        <a:rPr sz="1100" b="0" i="0">
                          <a:solidFill>
                            <a:srgbClr val="1C2433"/>
                          </a:solidFill>
                          <a:latin typeface="Calibri"/>
                        </a:rPr>
                        <a:t>: no date dropped, no snapshot expired inside 7 years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4" name="TextBox 13"/>
          <p:cNvSpPr txBox="1"/>
          <p:nvPr/>
        </p:nvSpPr>
        <p:spPr>
          <a:xfrm>
            <a:off x="411480" y="5349240"/>
            <a:ext cx="11365992" cy="365760"/>
          </a:xfrm>
          <a:prstGeom prst="rect">
            <a:avLst/>
          </a:prstGeom>
          <a:noFill/>
        </p:spPr>
        <p:txBody>
          <a:bodyPr wrap="square" lIns="0" rIns="0" tIns="0" bIns="0" anchor="t">
            <a:spAutoFit/>
          </a:bodyPr>
          <a:lstStyle/>
          <a:p>
            <a:pPr algn="l">
              <a:spcAft>
                <a:spcPts val="600"/>
              </a:spcAft>
              <a:buNone/>
            </a:pPr>
            <a:r>
              <a:rPr sz="1150" b="0" i="0">
                <a:solidFill>
                  <a:srgbClr val="1C2433"/>
                </a:solidFill>
                <a:latin typeface="Calibri"/>
              </a:rPr>
              <a:t>Iceberg, measured: connector start on 1,800 daily commits 160 ms → 33 ms after manifests and expiry; 93 ms a commit; drift check 0.7 s, keep + rewrite + manifests + expiry 2.9 s (10,000 trades).</a:t>
            </a:r>
          </a:p>
        </p:txBody>
      </p:sp>
      <p:sp>
        <p:nvSpPr>
          <p:cNvPr id="15" name="Callout"/>
          <p:cNvSpPr/>
          <p:nvPr/>
        </p:nvSpPr>
        <p:spPr>
          <a:xfrm>
            <a:off x="411480" y="5760720"/>
            <a:ext cx="11365992" cy="603504"/>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Callout edge"/>
          <p:cNvSpPr/>
          <p:nvPr/>
        </p:nvSpPr>
        <p:spPr>
          <a:xfrm>
            <a:off x="411480" y="5779007"/>
            <a:ext cx="82296" cy="56692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640080" y="5833872"/>
            <a:ext cx="11000232" cy="457200"/>
          </a:xfrm>
          <a:prstGeom prst="rect">
            <a:avLst/>
          </a:prstGeom>
          <a:noFill/>
        </p:spPr>
        <p:txBody>
          <a:bodyPr wrap="square" lIns="0" rIns="0" tIns="0" bIns="0" anchor="ctr">
            <a:spAutoFit/>
          </a:bodyPr>
          <a:lstStyle/>
          <a:p>
            <a:pPr algn="l">
              <a:spcAft>
                <a:spcPts val="600"/>
              </a:spcAft>
              <a:buNone/>
            </a:pPr>
            <a:r>
              <a:rPr sz="1050" b="0" i="0">
                <a:solidFill>
                  <a:srgbClr val="0E7C86"/>
                </a:solidFill>
                <a:latin typeface="Consolas"/>
              </a:rPr>
              <a:t>--force-foreign</a:t>
            </a:r>
            <a:r>
              <a:rPr sz="1150" b="0" i="0">
                <a:solidFill>
                  <a:srgbClr val="1C2433"/>
                </a:solidFill>
                <a:latin typeface="Calibri"/>
              </a:rPr>
              <a:t>: the S3 Delta tables are Drishti's (lake publish wrote them), so the script overrides the ownership rule and marks the runs forced. A managed compaction must keep the id sort (PROPOSED rule).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Storage tiers by business date, for both formats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6 · operating it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75</a:t>
            </a:r>
          </a:p>
        </p:txBody>
      </p:sp>
      <p:sp>
        <p:nvSpPr>
          <p:cNvPr id="10" name="Rounded Rectangle 9"/>
          <p:cNvSpPr/>
          <p:nvPr/>
        </p:nvSpPr>
        <p:spPr>
          <a:xfrm>
            <a:off x="411480" y="1143000"/>
            <a:ext cx="2103120" cy="105156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21208" y="1188720"/>
            <a:ext cx="1883664" cy="365760"/>
          </a:xfrm>
          <a:prstGeom prst="rect">
            <a:avLst/>
          </a:prstGeom>
          <a:noFill/>
        </p:spPr>
        <p:txBody>
          <a:bodyPr wrap="square" lIns="0" rIns="0" tIns="0" bIns="0" anchor="t">
            <a:spAutoFit/>
          </a:bodyPr>
          <a:lstStyle/>
          <a:p>
            <a:pPr algn="l">
              <a:spcAft>
                <a:spcPts val="600"/>
              </a:spcAft>
              <a:buNone/>
            </a:pPr>
            <a:r>
              <a:rPr sz="1300" b="1" i="0">
                <a:solidFill>
                  <a:srgbClr val="0B1E3B"/>
                </a:solidFill>
                <a:latin typeface="Calibri"/>
              </a:rPr>
              <a:t>0 – 90 days</a:t>
            </a:r>
          </a:p>
        </p:txBody>
      </p:sp>
      <p:sp>
        <p:nvSpPr>
          <p:cNvPr id="12" name="TextBox 11"/>
          <p:cNvSpPr txBox="1"/>
          <p:nvPr/>
        </p:nvSpPr>
        <p:spPr>
          <a:xfrm>
            <a:off x="521208" y="1554480"/>
            <a:ext cx="1883664" cy="59436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S3 Standard</a:t>
            </a:r>
          </a:p>
        </p:txBody>
      </p:sp>
      <p:sp>
        <p:nvSpPr>
          <p:cNvPr id="13" name="Rounded Rectangle 12"/>
          <p:cNvSpPr/>
          <p:nvPr/>
        </p:nvSpPr>
        <p:spPr>
          <a:xfrm>
            <a:off x="2606040" y="1143000"/>
            <a:ext cx="2651760" cy="1051560"/>
          </a:xfrm>
          <a:prstGeom prst="roundRect">
            <a:avLst>
              <a:gd name="adj" fmla="val 6000"/>
            </a:avLst>
          </a:prstGeom>
          <a:solidFill>
            <a:srgbClr val="FCE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2715768" y="1188720"/>
            <a:ext cx="2432304" cy="365760"/>
          </a:xfrm>
          <a:prstGeom prst="rect">
            <a:avLst/>
          </a:prstGeom>
          <a:noFill/>
        </p:spPr>
        <p:txBody>
          <a:bodyPr wrap="square" lIns="0" rIns="0" tIns="0" bIns="0" anchor="t">
            <a:spAutoFit/>
          </a:bodyPr>
          <a:lstStyle/>
          <a:p>
            <a:pPr algn="l">
              <a:spcAft>
                <a:spcPts val="600"/>
              </a:spcAft>
              <a:buNone/>
            </a:pPr>
            <a:r>
              <a:rPr sz="1300" b="1" i="0">
                <a:solidFill>
                  <a:srgbClr val="0B1E3B"/>
                </a:solidFill>
                <a:latin typeface="Calibri"/>
              </a:rPr>
              <a:t>90 days – 2 years</a:t>
            </a:r>
          </a:p>
        </p:txBody>
      </p:sp>
      <p:sp>
        <p:nvSpPr>
          <p:cNvPr id="15" name="TextBox 14"/>
          <p:cNvSpPr txBox="1"/>
          <p:nvPr/>
        </p:nvSpPr>
        <p:spPr>
          <a:xfrm>
            <a:off x="2715768" y="1554480"/>
            <a:ext cx="2432304" cy="59436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Standard-IA (</a:t>
            </a:r>
            <a:r>
              <a:rPr sz="1100" b="0" i="0">
                <a:solidFill>
                  <a:srgbClr val="0E7C86"/>
                </a:solidFill>
                <a:latin typeface="Consolas"/>
              </a:rPr>
              <a:t>TIER_IA_AFTER_DAYS</a:t>
            </a:r>
            <a:r>
              <a:rPr sz="1200" b="0" i="0">
                <a:solidFill>
                  <a:srgbClr val="1C2433"/>
                </a:solidFill>
                <a:latin typeface="Calibri"/>
              </a:rPr>
              <a:t>)</a:t>
            </a:r>
          </a:p>
        </p:txBody>
      </p:sp>
      <p:sp>
        <p:nvSpPr>
          <p:cNvPr id="16" name="Rounded Rectangle 15"/>
          <p:cNvSpPr/>
          <p:nvPr/>
        </p:nvSpPr>
        <p:spPr>
          <a:xfrm>
            <a:off x="5349240" y="1143000"/>
            <a:ext cx="2743200" cy="105156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5458968" y="1188720"/>
            <a:ext cx="2523744" cy="365760"/>
          </a:xfrm>
          <a:prstGeom prst="rect">
            <a:avLst/>
          </a:prstGeom>
          <a:noFill/>
        </p:spPr>
        <p:txBody>
          <a:bodyPr wrap="square" lIns="0" rIns="0" tIns="0" bIns="0" anchor="t">
            <a:spAutoFit/>
          </a:bodyPr>
          <a:lstStyle/>
          <a:p>
            <a:pPr algn="l">
              <a:spcAft>
                <a:spcPts val="600"/>
              </a:spcAft>
              <a:buNone/>
            </a:pPr>
            <a:r>
              <a:rPr sz="1300" b="1" i="0">
                <a:solidFill>
                  <a:srgbClr val="0B1E3B"/>
                </a:solidFill>
                <a:latin typeface="Calibri"/>
              </a:rPr>
              <a:t>2 years – kept days</a:t>
            </a:r>
          </a:p>
        </p:txBody>
      </p:sp>
      <p:sp>
        <p:nvSpPr>
          <p:cNvPr id="18" name="TextBox 17"/>
          <p:cNvSpPr txBox="1"/>
          <p:nvPr/>
        </p:nvSpPr>
        <p:spPr>
          <a:xfrm>
            <a:off x="5458968" y="1554480"/>
            <a:ext cx="2523744" cy="59436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Glacier Instant Retrieval</a:t>
            </a:r>
          </a:p>
        </p:txBody>
      </p:sp>
      <p:sp>
        <p:nvSpPr>
          <p:cNvPr id="19" name="Rounded Rectangle 18"/>
          <p:cNvSpPr/>
          <p:nvPr/>
        </p:nvSpPr>
        <p:spPr>
          <a:xfrm>
            <a:off x="8183879" y="1143000"/>
            <a:ext cx="3502152" cy="1051560"/>
          </a:xfrm>
          <a:prstGeom prst="roundRect">
            <a:avLst>
              <a:gd name="adj" fmla="val 6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8293607" y="1188720"/>
            <a:ext cx="3282696" cy="365760"/>
          </a:xfrm>
          <a:prstGeom prst="rect">
            <a:avLst/>
          </a:prstGeom>
          <a:noFill/>
        </p:spPr>
        <p:txBody>
          <a:bodyPr wrap="square" lIns="0" rIns="0" tIns="0" bIns="0" anchor="t">
            <a:spAutoFit/>
          </a:bodyPr>
          <a:lstStyle/>
          <a:p>
            <a:pPr algn="l">
              <a:spcAft>
                <a:spcPts val="600"/>
              </a:spcAft>
              <a:buNone/>
            </a:pPr>
            <a:r>
              <a:rPr sz="1300" b="1" i="0">
                <a:solidFill>
                  <a:srgbClr val="0B1E3B"/>
                </a:solidFill>
                <a:latin typeface="Calibri"/>
              </a:rPr>
              <a:t>beyond</a:t>
            </a:r>
          </a:p>
        </p:txBody>
      </p:sp>
      <p:sp>
        <p:nvSpPr>
          <p:cNvPr id="21" name="TextBox 20"/>
          <p:cNvSpPr txBox="1"/>
          <p:nvPr/>
        </p:nvSpPr>
        <p:spPr>
          <a:xfrm>
            <a:off x="8293607" y="1554480"/>
            <a:ext cx="3282696" cy="59436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removed by </a:t>
            </a:r>
            <a:r>
              <a:rPr sz="1100" b="0" i="0">
                <a:solidFill>
                  <a:srgbClr val="0E7C86"/>
                </a:solidFill>
                <a:latin typeface="Consolas"/>
              </a:rPr>
              <a:t>lake maintain</a:t>
            </a:r>
            <a:r>
              <a:rPr sz="1200" b="0" i="0">
                <a:solidFill>
                  <a:srgbClr val="1C2433"/>
                </a:solidFill>
                <a:latin typeface="Calibri"/>
              </a:rPr>
              <a:t> / </a:t>
            </a:r>
            <a:r>
              <a:rPr sz="1100" b="0" i="0">
                <a:solidFill>
                  <a:srgbClr val="0E7C86"/>
                </a:solidFill>
                <a:latin typeface="Consolas"/>
              </a:rPr>
              <a:t>IcebergMaintenance</a:t>
            </a:r>
            <a:r>
              <a:rPr sz="1200" b="0" i="0">
                <a:solidFill>
                  <a:srgbClr val="1C2433"/>
                </a:solidFill>
                <a:latin typeface="Calibri"/>
              </a:rPr>
              <a:t> → noncurrent expiry</a:t>
            </a:r>
          </a:p>
        </p:txBody>
      </p:sp>
      <p:sp>
        <p:nvSpPr>
          <p:cNvPr id="22" name="TextBox 21"/>
          <p:cNvSpPr txBox="1"/>
          <p:nvPr/>
        </p:nvSpPr>
        <p:spPr>
          <a:xfrm>
            <a:off x="411480" y="2240280"/>
            <a:ext cx="11365992" cy="320040"/>
          </a:xfrm>
          <a:prstGeom prst="rect">
            <a:avLst/>
          </a:prstGeom>
          <a:noFill/>
        </p:spPr>
        <p:txBody>
          <a:bodyPr wrap="square" lIns="0" rIns="0" tIns="0" bIns="0" anchor="t">
            <a:spAutoFit/>
          </a:bodyPr>
          <a:lstStyle/>
          <a:p>
            <a:pPr algn="l">
              <a:spcAft>
                <a:spcPts val="600"/>
              </a:spcAft>
              <a:buNone/>
            </a:pPr>
            <a:r>
              <a:rPr sz="1200" b="0" i="0">
                <a:solidFill>
                  <a:srgbClr val="5B677A"/>
                </a:solidFill>
                <a:latin typeface="Calibri"/>
              </a:rPr>
              <a:t>business date age →   read latency: milliseconds in every tier</a:t>
            </a:r>
          </a:p>
        </p:txBody>
      </p:sp>
      <p:sp>
        <p:nvSpPr>
          <p:cNvPr id="23" name="Code block"/>
          <p:cNvSpPr/>
          <p:nvPr/>
        </p:nvSpPr>
        <p:spPr>
          <a:xfrm>
            <a:off x="411480" y="2560320"/>
            <a:ext cx="6309360" cy="137160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Code"/>
          <p:cNvSpPr txBox="1"/>
          <p:nvPr/>
        </p:nvSpPr>
        <p:spPr>
          <a:xfrm>
            <a:off x="521208" y="2624327"/>
            <a:ext cx="6089904" cy="124358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{"ID": "tier-trading-trade_endur-2026-03", "Status": "Enabled",</a:t>
            </a:r>
          </a:p>
          <a:p>
            <a:pPr>
              <a:spcAft>
                <a:spcPts val="0"/>
              </a:spcAft>
              <a:buNone/>
            </a:pPr>
            <a:r>
              <a:rPr sz="1100" b="0" i="0">
                <a:solidFill>
                  <a:srgbClr val="E6EDF3"/>
                </a:solidFill>
                <a:latin typeface="Consolas"/>
              </a:rPr>
              <a:t> "Filter": {"And": {"ObjectSizeGreaterThan": 131072,</a:t>
            </a:r>
          </a:p>
          <a:p>
            <a:pPr>
              <a:spcAft>
                <a:spcPts val="0"/>
              </a:spcAft>
              <a:buNone/>
            </a:pPr>
            <a:r>
              <a:rPr sz="1100" b="0" i="0">
                <a:solidFill>
                  <a:srgbClr val="E6EDF3"/>
                </a:solidFill>
                <a:latin typeface="Consolas"/>
              </a:rPr>
              <a:t>   "Prefix": "lake/trading/trade_endur/business_date=2026-03"}},</a:t>
            </a:r>
          </a:p>
          <a:p>
            <a:pPr>
              <a:spcAft>
                <a:spcPts val="0"/>
              </a:spcAft>
              <a:buNone/>
            </a:pPr>
            <a:r>
              <a:rPr sz="1100" b="0" i="0">
                <a:solidFill>
                  <a:srgbClr val="E6EDF3"/>
                </a:solidFill>
                <a:latin typeface="Consolas"/>
              </a:rPr>
              <a:t> "Transitions": [</a:t>
            </a:r>
          </a:p>
          <a:p>
            <a:pPr>
              <a:spcAft>
                <a:spcPts val="0"/>
              </a:spcAft>
              <a:buNone/>
            </a:pPr>
            <a:r>
              <a:rPr sz="1100" b="0" i="0">
                <a:solidFill>
                  <a:srgbClr val="E6EDF3"/>
                </a:solidFill>
                <a:latin typeface="Consolas"/>
              </a:rPr>
              <a:t>   {"Date": "2026-06-29T00:00:00Z", "StorageClass": "STANDARD_IA"},</a:t>
            </a:r>
          </a:p>
          <a:p>
            <a:pPr>
              <a:spcAft>
                <a:spcPts val="0"/>
              </a:spcAft>
              <a:buNone/>
            </a:pPr>
            <a:r>
              <a:rPr sz="1100" b="0" i="0">
                <a:solidFill>
                  <a:srgbClr val="E6EDF3"/>
                </a:solidFill>
                <a:latin typeface="Consolas"/>
              </a:rPr>
              <a:t>   {"Date": "2028-03-30T00:00:00Z", "StorageClass": "GLACIER_IR"}]}</a:t>
            </a:r>
          </a:p>
        </p:txBody>
      </p:sp>
      <p:sp>
        <p:nvSpPr>
          <p:cNvPr id="25" name="TextBox 24"/>
          <p:cNvSpPr txBox="1"/>
          <p:nvPr/>
        </p:nvSpPr>
        <p:spPr>
          <a:xfrm>
            <a:off x="6903720" y="2606040"/>
            <a:ext cx="4873752" cy="2194560"/>
          </a:xfrm>
          <a:prstGeom prst="rect">
            <a:avLst/>
          </a:prstGeom>
          <a:noFill/>
        </p:spPr>
        <p:txBody>
          <a:bodyPr wrap="square" lIns="0" rIns="0" tIns="0" bIns="0" anchor="t">
            <a:spAutoFit/>
          </a:bodyPr>
          <a:lstStyle/>
          <a:p>
            <a:pPr algn="l" marL="201168" indent="-201168">
              <a:spcAft>
                <a:spcPts val="400"/>
              </a:spcAft>
              <a:buClr>
                <a:srgbClr val="E87A1E"/>
              </a:buClr>
              <a:buSzPct val="100000"/>
              <a:buFont typeface="Arial"/>
              <a:buChar char="•"/>
            </a:pPr>
            <a:r>
              <a:rPr sz="1200" b="0" i="0">
                <a:solidFill>
                  <a:srgbClr val="1C2433"/>
                </a:solidFill>
                <a:latin typeface="Calibri"/>
              </a:rPr>
              <a:t>One rule per table per business month, with dates (age is wrong for restated days); three months ahead; rewritten nightly</a:t>
            </a:r>
          </a:p>
          <a:p>
            <a:pPr algn="l" marL="201168" indent="-201168">
              <a:spcAft>
                <a:spcPts val="400"/>
              </a:spcAft>
              <a:buClr>
                <a:srgbClr val="E87A1E"/>
              </a:buClr>
              <a:buSzPct val="100000"/>
              <a:buFont typeface="Arial"/>
              <a:buChar char="•"/>
            </a:pPr>
            <a:r>
              <a:rPr sz="1200" b="1" i="0">
                <a:solidFill>
                  <a:srgbClr val="1C2433"/>
                </a:solidFill>
                <a:latin typeface="Calibri"/>
              </a:rPr>
              <a:t>Iceberg:</a:t>
            </a:r>
            <a:r>
              <a:rPr sz="1200" b="0" i="0">
                <a:solidFill>
                  <a:srgbClr val="1C2433"/>
                </a:solidFill>
                <a:latin typeface="Calibri"/>
              </a:rPr>
              <a:t> the same rule, dates and tiers on </a:t>
            </a:r>
            <a:r>
              <a:rPr sz="1100" b="0" i="0">
                <a:solidFill>
                  <a:srgbClr val="0E7C86"/>
                </a:solidFill>
                <a:latin typeface="Consolas"/>
              </a:rPr>
              <a:t>iceberg/&lt;domain&gt;/&lt;table&gt;/data/business_date=YYYY-MM</a:t>
            </a:r>
          </a:p>
          <a:p>
            <a:pPr algn="l" marL="201168" indent="-201168">
              <a:spcAft>
                <a:spcPts val="400"/>
              </a:spcAft>
              <a:buClr>
                <a:srgbClr val="E87A1E"/>
              </a:buClr>
              <a:buSzPct val="100000"/>
              <a:buFont typeface="Arial"/>
              <a:buChar char="•"/>
            </a:pPr>
            <a:r>
              <a:rPr sz="1100" b="0" i="0">
                <a:solidFill>
                  <a:srgbClr val="0E7C86"/>
                </a:solidFill>
                <a:latin typeface="Consolas"/>
              </a:rPr>
              <a:t>_delta_log/</a:t>
            </a:r>
            <a:r>
              <a:rPr sz="1200" b="0" i="0">
                <a:solidFill>
                  <a:srgbClr val="1C2433"/>
                </a:solidFill>
                <a:latin typeface="Calibri"/>
              </a:rPr>
              <a:t> and </a:t>
            </a:r>
            <a:r>
              <a:rPr sz="1100" b="0" i="0">
                <a:solidFill>
                  <a:srgbClr val="0E7C86"/>
                </a:solidFill>
                <a:latin typeface="Consolas"/>
              </a:rPr>
              <a:t>metadata/</a:t>
            </a:r>
            <a:r>
              <a:rPr sz="1200" b="0" i="0">
                <a:solidFill>
                  <a:srgbClr val="1C2433"/>
                </a:solidFill>
                <a:latin typeface="Calibri"/>
              </a:rPr>
              <a:t> never match; objects under 128 KB stay</a:t>
            </a:r>
          </a:p>
          <a:p>
            <a:pPr algn="l" marL="201168" indent="-201168">
              <a:spcAft>
                <a:spcPts val="400"/>
              </a:spcAft>
              <a:buClr>
                <a:srgbClr val="E87A1E"/>
              </a:buClr>
              <a:buSzPct val="100000"/>
              <a:buFont typeface="Arial"/>
              <a:buChar char="•"/>
            </a:pPr>
            <a:r>
              <a:rPr sz="1200" b="0" i="0">
                <a:solidFill>
                  <a:srgbClr val="1C2433"/>
                </a:solidFill>
                <a:latin typeface="Calibri"/>
              </a:rPr>
              <a:t>S3 allows 1,000 rules; the script refuses more (≈ 30 tables over 7 years</a:t>
            </a:r>
            <a:r>
              <a:rPr sz="1200" b="1" i="0">
                <a:solidFill>
                  <a:srgbClr val="E87A1E"/>
                </a:solidFill>
                <a:latin typeface="Calibri"/>
              </a:rPr>
              <a:t>²</a:t>
            </a:r>
            <a:r>
              <a:rPr sz="1200" b="0" i="0">
                <a:solidFill>
                  <a:srgbClr val="1C2433"/>
                </a:solidFill>
                <a:latin typeface="Calibri"/>
              </a:rPr>
              <a:t>); each format's script keeps the other's rules</a:t>
            </a:r>
          </a:p>
        </p:txBody>
      </p:sp>
      <p:sp>
        <p:nvSpPr>
          <p:cNvPr id="26" name="TextBox 25"/>
          <p:cNvSpPr txBox="1"/>
          <p:nvPr/>
        </p:nvSpPr>
        <p:spPr>
          <a:xfrm>
            <a:off x="411480" y="4023360"/>
            <a:ext cx="6309360" cy="914400"/>
          </a:xfrm>
          <a:prstGeom prst="rect">
            <a:avLst/>
          </a:prstGeom>
          <a:noFill/>
        </p:spPr>
        <p:txBody>
          <a:bodyPr wrap="square" lIns="0" rIns="0" tIns="0" bIns="0" anchor="t">
            <a:spAutoFit/>
          </a:bodyPr>
          <a:lstStyle/>
          <a:p>
            <a:pPr algn="l" marL="201168" indent="-201168">
              <a:spcAft>
                <a:spcPts val="400"/>
              </a:spcAft>
              <a:buClr>
                <a:srgbClr val="E87A1E"/>
              </a:buClr>
              <a:buSzPct val="100000"/>
              <a:buFont typeface="Arial"/>
              <a:buChar char="•"/>
            </a:pPr>
            <a:r>
              <a:rPr sz="1200" b="1" i="0">
                <a:solidFill>
                  <a:srgbClr val="1C2433"/>
                </a:solidFill>
                <a:latin typeface="Calibri"/>
              </a:rPr>
              <a:t>Never</a:t>
            </a:r>
            <a:r>
              <a:rPr sz="1200" b="0" i="0">
                <a:solidFill>
                  <a:srgbClr val="1C2433"/>
                </a:solidFill>
                <a:latin typeface="Calibri"/>
              </a:rPr>
              <a:t> Glacier Flexible Retrieval or Deep Archive: a restore of hours before a read</a:t>
            </a:r>
          </a:p>
          <a:p>
            <a:pPr algn="l" marL="201168" indent="-201168">
              <a:spcAft>
                <a:spcPts val="400"/>
              </a:spcAft>
              <a:buClr>
                <a:srgbClr val="E87A1E"/>
              </a:buClr>
              <a:buSzPct val="100000"/>
              <a:buFont typeface="Arial"/>
              <a:buChar char="•"/>
            </a:pPr>
            <a:r>
              <a:rPr sz="1200" b="1" i="0">
                <a:solidFill>
                  <a:srgbClr val="1C2433"/>
                </a:solidFill>
                <a:latin typeface="Calibri"/>
              </a:rPr>
              <a:t>Never</a:t>
            </a:r>
            <a:r>
              <a:rPr sz="1200" b="0" i="0">
                <a:solidFill>
                  <a:srgbClr val="1C2433"/>
                </a:solidFill>
                <a:latin typeface="Calibri"/>
              </a:rPr>
              <a:t> an S3 expiry of current table files, in either format: it deletes files the log or a manifest still names; S3 keeps noncurrent versions 14 days</a:t>
            </a:r>
          </a:p>
        </p:txBody>
      </p:sp>
      <p:sp>
        <p:nvSpPr>
          <p:cNvPr id="27" name="Callout"/>
          <p:cNvSpPr/>
          <p:nvPr/>
        </p:nvSpPr>
        <p:spPr>
          <a:xfrm>
            <a:off x="411480" y="4983480"/>
            <a:ext cx="5577840" cy="118872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Callout edge"/>
          <p:cNvSpPr/>
          <p:nvPr/>
        </p:nvSpPr>
        <p:spPr>
          <a:xfrm>
            <a:off x="411480" y="5001768"/>
            <a:ext cx="82296" cy="115214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640080" y="5056632"/>
            <a:ext cx="5212079" cy="1042416"/>
          </a:xfrm>
          <a:prstGeom prst="rect">
            <a:avLst/>
          </a:prstGeom>
          <a:noFill/>
        </p:spPr>
        <p:txBody>
          <a:bodyPr wrap="square" lIns="0" rIns="0" tIns="0" bIns="0" anchor="ctr">
            <a:spAutoFit/>
          </a:bodyPr>
          <a:lstStyle/>
          <a:p>
            <a:pPr algn="l">
              <a:spcAft>
                <a:spcPts val="600"/>
              </a:spcAft>
              <a:buNone/>
            </a:pPr>
            <a:r>
              <a:rPr sz="1200" b="1" i="0">
                <a:solidFill>
                  <a:srgbClr val="1C2433"/>
                </a:solidFill>
                <a:latin typeface="Calibri"/>
              </a:rPr>
              <a:t>The risk lake:</a:t>
            </a:r>
            <a:r>
              <a:rPr sz="1200" b="0" i="0">
                <a:solidFill>
                  <a:srgbClr val="1C2433"/>
                </a:solidFill>
                <a:latin typeface="Calibri"/>
              </a:rPr>
              <a:t> </a:t>
            </a:r>
            <a:r>
              <a:rPr sz="1100" b="0" i="0">
                <a:solidFill>
                  <a:srgbClr val="0E7C86"/>
                </a:solidFill>
                <a:latin typeface="Consolas"/>
              </a:rPr>
              <a:t>risk/</a:t>
            </a:r>
            <a:r>
              <a:rPr sz="1200" b="0" i="0">
                <a:solidFill>
                  <a:srgbClr val="1C2433"/>
                </a:solidFill>
                <a:latin typeface="Calibri"/>
              </a:rPr>
              <a:t> and </a:t>
            </a:r>
            <a:r>
              <a:rPr sz="1100" b="0" i="0">
                <a:solidFill>
                  <a:srgbClr val="0E7C86"/>
                </a:solidFill>
                <a:latin typeface="Consolas"/>
              </a:rPr>
              <a:t>risk-results/</a:t>
            </a:r>
            <a:r>
              <a:rPr sz="1200" b="0" i="0">
                <a:solidFill>
                  <a:srgbClr val="1C2433"/>
                </a:solidFill>
                <a:latin typeface="Calibri"/>
              </a:rPr>
              <a:t> keep 7 years of dates and time travel; old months sit in Glacier IR, still read in milliseconds, so any official figure can be recomputed years later.</a:t>
            </a:r>
          </a:p>
        </p:txBody>
      </p:sp>
      <p:sp>
        <p:nvSpPr>
          <p:cNvPr id="30" name="Callout"/>
          <p:cNvSpPr/>
          <p:nvPr/>
        </p:nvSpPr>
        <p:spPr>
          <a:xfrm>
            <a:off x="6199632" y="4983480"/>
            <a:ext cx="5577840" cy="118872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Callout edge"/>
          <p:cNvSpPr/>
          <p:nvPr/>
        </p:nvSpPr>
        <p:spPr>
          <a:xfrm>
            <a:off x="6199632" y="5001768"/>
            <a:ext cx="82296" cy="115214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6428232" y="5056632"/>
            <a:ext cx="5212079" cy="1042416"/>
          </a:xfrm>
          <a:prstGeom prst="rect">
            <a:avLst/>
          </a:prstGeom>
          <a:noFill/>
        </p:spPr>
        <p:txBody>
          <a:bodyPr wrap="square" lIns="0" rIns="0" tIns="0" bIns="0" anchor="ctr">
            <a:spAutoFit/>
          </a:bodyPr>
          <a:lstStyle/>
          <a:p>
            <a:pPr algn="l">
              <a:spcAft>
                <a:spcPts val="600"/>
              </a:spcAft>
              <a:buNone/>
            </a:pPr>
            <a:r>
              <a:rPr sz="1200" b="1" i="0">
                <a:solidFill>
                  <a:srgbClr val="1C2433"/>
                </a:solidFill>
                <a:latin typeface="Calibri"/>
              </a:rPr>
              <a:t>Costs to know:</a:t>
            </a:r>
            <a:r>
              <a:rPr sz="1200" b="0" i="0">
                <a:solidFill>
                  <a:srgbClr val="1C2433"/>
                </a:solidFill>
                <a:latin typeface="Calibri"/>
              </a:rPr>
              <a:t> Standard-IA keeps an object at least 30 days, Glacier IR 90 days; a restatement of a tiered day pays the rest of that minimum. Reads: Standard-IA ≈ USD 0.01/GB</a:t>
            </a:r>
            <a:r>
              <a:rPr sz="1200" b="1" i="0">
                <a:solidFill>
                  <a:srgbClr val="E87A1E"/>
                </a:solidFill>
                <a:latin typeface="Calibri"/>
              </a:rPr>
              <a:t>¹</a:t>
            </a:r>
            <a:r>
              <a:rPr sz="1200" b="0" i="0">
                <a:solidFill>
                  <a:srgbClr val="1C2433"/>
                </a:solidFill>
                <a:latin typeface="Calibri"/>
              </a:rPr>
              <a:t>, Glacier IR ≈ USD 0.03/GB.</a:t>
            </a:r>
          </a:p>
        </p:txBody>
      </p:sp>
      <p:sp>
        <p:nvSpPr>
          <p:cNvPr id="33" name="Footnotes"/>
          <p:cNvSpPr txBox="1"/>
          <p:nvPr/>
        </p:nvSpPr>
        <p:spPr>
          <a:xfrm>
            <a:off x="411480" y="6377940"/>
            <a:ext cx="11365992" cy="169164"/>
          </a:xfrm>
          <a:prstGeom prst="rect">
            <a:avLst/>
          </a:prstGeom>
          <a:noFill/>
        </p:spPr>
        <p:txBody>
          <a:bodyPr wrap="square" lIns="0" rIns="0" tIns="0" bIns="0" anchor="t">
            <a:spAutoFit/>
          </a:bodyPr>
          <a:lstStyle/>
          <a:p>
            <a:pPr algn="l">
              <a:lnSpc>
                <a:spcPct val="100000"/>
              </a:lnSpc>
              <a:spcAft>
                <a:spcPts val="0"/>
              </a:spcAft>
              <a:buNone/>
            </a:pPr>
            <a:r>
              <a:rPr sz="900" b="0" i="0">
                <a:solidFill>
                  <a:srgbClr val="5B677A"/>
                </a:solidFill>
                <a:latin typeface="Calibri"/>
              </a:rPr>
              <a:t>¹ S3 retrieval list prices (one Region) as quoted in AWS_DELTA_LAKE.md 9.4; minimum durations: AWS's rules   ² 1,000 rules ÷ about 32 rules a table (5 whole years in Glacier IR + 27 months moving) ≈ 31</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Compaction: off for S3, and now safe to turn on</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6 · operating it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76</a:t>
            </a:r>
          </a:p>
        </p:txBody>
      </p:sp>
      <p:sp>
        <p:nvSpPr>
          <p:cNvPr id="10" name="TextBox 9"/>
          <p:cNvSpPr txBox="1"/>
          <p:nvPr/>
        </p:nvSpPr>
        <p:spPr>
          <a:xfrm>
            <a:off x="411480" y="1188720"/>
            <a:ext cx="6675120" cy="3108960"/>
          </a:xfrm>
          <a:prstGeom prst="rect">
            <a:avLst/>
          </a:prstGeom>
          <a:noFill/>
        </p:spPr>
        <p:txBody>
          <a:bodyPr wrap="square" lIns="0" rIns="0" tIns="0" bIns="0" anchor="t">
            <a:spAutoFit/>
          </a:bodyPr>
          <a:lstStyle/>
          <a:p>
            <a:pPr algn="l" marL="201168" indent="-201168">
              <a:spcAft>
                <a:spcPts val="800"/>
              </a:spcAft>
              <a:buClr>
                <a:srgbClr val="E87A1E"/>
              </a:buClr>
              <a:buSzPct val="100000"/>
              <a:buFont typeface="Arial"/>
              <a:buChar char="•"/>
            </a:pPr>
            <a:r>
              <a:rPr sz="1400" b="0" i="0">
                <a:solidFill>
                  <a:srgbClr val="1C2433"/>
                </a:solidFill>
                <a:latin typeface="Calibri"/>
              </a:rPr>
              <a:t>Each day arrives laid out: files of </a:t>
            </a:r>
            <a:r>
              <a:rPr sz="1300" b="0" i="0">
                <a:solidFill>
                  <a:srgbClr val="0E7C86"/>
                </a:solidFill>
                <a:latin typeface="Consolas"/>
              </a:rPr>
              <a:t>file-rows</a:t>
            </a:r>
            <a:r>
              <a:rPr sz="1400" b="0" i="0">
                <a:solidFill>
                  <a:srgbClr val="1C2433"/>
                </a:solidFill>
                <a:latin typeface="Calibri"/>
              </a:rPr>
              <a:t>, sorted by id, one commit ⇒ the S3 tables need no compaction</a:t>
            </a:r>
          </a:p>
          <a:p>
            <a:pPr algn="l" marL="201168" indent="-201168">
              <a:spcAft>
                <a:spcPts val="800"/>
              </a:spcAft>
              <a:buClr>
                <a:srgbClr val="E87A1E"/>
              </a:buClr>
              <a:buSzPct val="100000"/>
              <a:buFont typeface="Arial"/>
              <a:buChar char="•"/>
            </a:pPr>
            <a:r>
              <a:rPr sz="1400" b="0" i="0">
                <a:solidFill>
                  <a:srgbClr val="1C2433"/>
                </a:solidFill>
                <a:latin typeface="Calibri"/>
              </a:rPr>
              <a:t>A plain Delta compaction would merge files out of id order (single-entity reads would touch many row groups)</a:t>
            </a:r>
          </a:p>
          <a:p>
            <a:pPr algn="l" marL="201168" indent="-201168">
              <a:spcAft>
                <a:spcPts val="800"/>
              </a:spcAft>
              <a:buClr>
                <a:srgbClr val="E87A1E"/>
              </a:buClr>
              <a:buSzPct val="100000"/>
              <a:buFont typeface="Arial"/>
              <a:buChar char="•"/>
            </a:pPr>
            <a:r>
              <a:rPr sz="1300" b="0" i="0">
                <a:solidFill>
                  <a:srgbClr val="0E7C86"/>
                </a:solidFill>
                <a:latin typeface="Consolas"/>
              </a:rPr>
              <a:t>lake maintain</a:t>
            </a:r>
            <a:r>
              <a:rPr sz="1400" b="0" i="0">
                <a:solidFill>
                  <a:srgbClr val="1C2433"/>
                </a:solidFill>
                <a:latin typeface="Calibri"/>
              </a:rPr>
              <a:t> re-sorts (</a:t>
            </a:r>
            <a:r>
              <a:rPr sz="1400" b="1" i="0">
                <a:solidFill>
                  <a:srgbClr val="1C2433"/>
                </a:solidFill>
                <a:latin typeface="Calibri"/>
              </a:rPr>
              <a:t>relayout</a:t>
            </a:r>
            <a:r>
              <a:rPr sz="1400" b="0" i="0">
                <a:solidFill>
                  <a:srgbClr val="1C2433"/>
                </a:solidFill>
                <a:latin typeface="Calibri"/>
              </a:rPr>
              <a:t>) instead of compacting where the pack declares a layout</a:t>
            </a:r>
          </a:p>
          <a:p>
            <a:pPr algn="l" marL="201168" indent="-201168">
              <a:spcAft>
                <a:spcPts val="800"/>
              </a:spcAft>
              <a:buClr>
                <a:srgbClr val="E87A1E"/>
              </a:buClr>
              <a:buSzPct val="100000"/>
              <a:buFont typeface="Arial"/>
              <a:buChar char="•"/>
            </a:pPr>
            <a:r>
              <a:rPr sz="1400" b="0" i="0">
                <a:solidFill>
                  <a:srgbClr val="1C2433"/>
                </a:solidFill>
                <a:latin typeface="Calibri"/>
              </a:rPr>
              <a:t>So </a:t>
            </a:r>
            <a:r>
              <a:rPr sz="1300" b="0" i="0">
                <a:solidFill>
                  <a:srgbClr val="0E7C86"/>
                </a:solidFill>
                <a:latin typeface="Consolas"/>
              </a:rPr>
              <a:t>compact: false</a:t>
            </a:r>
            <a:r>
              <a:rPr sz="1400" b="0" i="0">
                <a:solidFill>
                  <a:srgbClr val="1C2433"/>
                </a:solidFill>
                <a:latin typeface="Calibri"/>
              </a:rPr>
              <a:t> stays the shipped S3 setting; a day that needs re-laying is restated (slide 113)</a:t>
            </a:r>
          </a:p>
        </p:txBody>
      </p:sp>
      <p:sp>
        <p:nvSpPr>
          <p:cNvPr id="11" name="Callout"/>
          <p:cNvSpPr/>
          <p:nvPr/>
        </p:nvSpPr>
        <p:spPr>
          <a:xfrm>
            <a:off x="7269480" y="1188720"/>
            <a:ext cx="4507992" cy="237744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allout edge"/>
          <p:cNvSpPr/>
          <p:nvPr/>
        </p:nvSpPr>
        <p:spPr>
          <a:xfrm>
            <a:off x="7269480" y="1207008"/>
            <a:ext cx="82296" cy="2340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7498079" y="1261872"/>
            <a:ext cx="4142231" cy="2231136"/>
          </a:xfrm>
          <a:prstGeom prst="rect">
            <a:avLst/>
          </a:prstGeom>
          <a:noFill/>
        </p:spPr>
        <p:txBody>
          <a:bodyPr wrap="square" lIns="0" rIns="0" tIns="0" bIns="0" anchor="t">
            <a:spAutoFit/>
          </a:bodyPr>
          <a:lstStyle/>
          <a:p>
            <a:pPr algn="l">
              <a:spcAft>
                <a:spcPts val="600"/>
              </a:spcAft>
              <a:buNone/>
            </a:pPr>
            <a:r>
              <a:rPr sz="1400" b="1" i="0">
                <a:solidFill>
                  <a:srgbClr val="1C2433"/>
                </a:solidFill>
                <a:latin typeface="Calibri"/>
              </a:rPr>
              <a:t>Fixed</a:t>
            </a:r>
          </a:p>
          <a:p>
            <a:pPr algn="l">
              <a:spcAft>
                <a:spcPts val="600"/>
              </a:spcAft>
              <a:buNone/>
            </a:pPr>
            <a:r>
              <a:rPr sz="1200" b="0" i="0">
                <a:solidFill>
                  <a:srgbClr val="0E7C86"/>
                </a:solidFill>
                <a:latin typeface="Consolas"/>
              </a:rPr>
              <a:t>lake maintain</a:t>
            </a:r>
            <a:r>
              <a:rPr sz="1300" b="0" i="0">
                <a:solidFill>
                  <a:srgbClr val="1C2433"/>
                </a:solidFill>
                <a:latin typeface="Calibri"/>
              </a:rPr>
              <a:t> finds the layout of the connector whose table it is, so </a:t>
            </a:r>
            <a:r>
              <a:rPr sz="1200" b="0" i="0">
                <a:solidFill>
                  <a:srgbClr val="0E7C86"/>
                </a:solidFill>
                <a:latin typeface="Consolas"/>
              </a:rPr>
              <a:t>trade_endur</a:t>
            </a:r>
            <a:r>
              <a:rPr sz="1300" b="0" i="0">
                <a:solidFill>
                  <a:srgbClr val="1C2433"/>
                </a:solidFill>
                <a:latin typeface="Calibri"/>
              </a:rPr>
              <a:t>, </a:t>
            </a:r>
            <a:r>
              <a:rPr sz="1200" b="0" i="0">
                <a:solidFill>
                  <a:srgbClr val="0E7C86"/>
                </a:solidFill>
                <a:latin typeface="Consolas"/>
              </a:rPr>
              <a:t>trade_calypso</a:t>
            </a:r>
            <a:r>
              <a:rPr sz="1300" b="0" i="0">
                <a:solidFill>
                  <a:srgbClr val="1C2433"/>
                </a:solidFill>
                <a:latin typeface="Calibri"/>
              </a:rPr>
              <a:t> and </a:t>
            </a:r>
            <a:r>
              <a:rPr sz="1200" b="0" i="0">
                <a:solidFill>
                  <a:srgbClr val="0E7C86"/>
                </a:solidFill>
                <a:latin typeface="Consolas"/>
              </a:rPr>
              <a:t>trade_murex</a:t>
            </a:r>
            <a:r>
              <a:rPr sz="1300" b="0" i="0">
                <a:solidFill>
                  <a:srgbClr val="1C2433"/>
                </a:solidFill>
                <a:latin typeface="Calibri"/>
              </a:rPr>
              <a:t> are re-laid out by id, not compacted out of order; relayout keeps </a:t>
            </a:r>
            <a:r>
              <a:rPr sz="1200" b="0" i="0">
                <a:solidFill>
                  <a:srgbClr val="0E7C86"/>
                </a:solidFill>
                <a:latin typeface="Consolas"/>
              </a:rPr>
              <a:t>business_date</a:t>
            </a:r>
            <a:r>
              <a:rPr sz="1300" b="0" i="0">
                <a:solidFill>
                  <a:srgbClr val="1C2433"/>
                </a:solidFill>
                <a:latin typeface="Calibri"/>
              </a:rPr>
              <a:t> and </a:t>
            </a:r>
            <a:r>
              <a:rPr sz="1200" b="0" i="0">
                <a:solidFill>
                  <a:srgbClr val="0E7C86"/>
                </a:solidFill>
                <a:latin typeface="Consolas"/>
              </a:rPr>
              <a:t>PRODUCT_TYPE</a:t>
            </a:r>
            <a:r>
              <a:rPr sz="1300" b="0" i="0">
                <a:solidFill>
                  <a:srgbClr val="1C2433"/>
                </a:solidFill>
                <a:latin typeface="Calibri"/>
              </a:rPr>
              <a:t> and checks each.</a:t>
            </a:r>
          </a:p>
        </p:txBody>
      </p:sp>
      <p:sp>
        <p:nvSpPr>
          <p:cNvPr id="14" name="Rounded Rectangle 13"/>
          <p:cNvSpPr/>
          <p:nvPr/>
        </p:nvSpPr>
        <p:spPr>
          <a:xfrm>
            <a:off x="411480" y="3931920"/>
            <a:ext cx="11365992" cy="1280160"/>
          </a:xfrm>
          <a:prstGeom prst="roundRect">
            <a:avLst>
              <a:gd name="adj" fmla="val 6000"/>
            </a:avLst>
          </a:prstGeom>
          <a:solidFill>
            <a:srgbClr val="FFF4E6"/>
          </a:solidFill>
          <a:ln w="952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502920" y="3977639"/>
            <a:ext cx="10040112"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Turn compaction on for S3 after a relayout test there</a:t>
            </a:r>
          </a:p>
        </p:txBody>
      </p:sp>
      <p:sp>
        <p:nvSpPr>
          <p:cNvPr id="16" name="Status PROPOSED"/>
          <p:cNvSpPr/>
          <p:nvPr/>
        </p:nvSpPr>
        <p:spPr>
          <a:xfrm>
            <a:off x="10634472" y="4023359"/>
            <a:ext cx="1051560" cy="237744"/>
          </a:xfrm>
          <a:prstGeom prst="roundRect">
            <a:avLst>
              <a:gd name="adj" fmla="val 50000"/>
            </a:avLst>
          </a:prstGeom>
          <a:solidFill>
            <a:srgbClr val="FFFFFF"/>
          </a:solidFill>
          <a:ln w="1587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E87A1E"/>
                </a:solidFill>
                <a:latin typeface="Calibri"/>
              </a:rPr>
              <a:t>PROPOSED</a:t>
            </a:r>
          </a:p>
        </p:txBody>
      </p:sp>
      <p:sp>
        <p:nvSpPr>
          <p:cNvPr id="17" name="TextBox 16"/>
          <p:cNvSpPr txBox="1"/>
          <p:nvPr/>
        </p:nvSpPr>
        <p:spPr>
          <a:xfrm>
            <a:off x="502920" y="4297680"/>
            <a:ext cx="11183112" cy="86868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300" b="0" i="0">
                <a:solidFill>
                  <a:srgbClr val="1C2433"/>
                </a:solidFill>
                <a:latin typeface="Calibri"/>
              </a:rPr>
              <a:t>the first edition's open finding is closed; AWS_DELTA_LAKE.md 9.3 and </a:t>
            </a:r>
            <a:r>
              <a:rPr sz="1200" b="0" i="0">
                <a:solidFill>
                  <a:srgbClr val="0E7C86"/>
                </a:solidFill>
                <a:latin typeface="Consolas"/>
              </a:rPr>
              <a:t>lake-maintenance.s3.yaml</a:t>
            </a:r>
            <a:r>
              <a:rPr sz="1300" b="0" i="0">
                <a:solidFill>
                  <a:srgbClr val="1C2433"/>
                </a:solidFill>
                <a:latin typeface="Calibri"/>
              </a:rPr>
              <a:t> still describe it as open</a:t>
            </a:r>
          </a:p>
          <a:p>
            <a:pPr algn="l" marL="201168" indent="-201168">
              <a:spcAft>
                <a:spcPts val="200"/>
              </a:spcAft>
              <a:buClr>
                <a:srgbClr val="E87A1E"/>
              </a:buClr>
              <a:buSzPct val="100000"/>
              <a:buFont typeface="Arial"/>
              <a:buChar char="•"/>
            </a:pPr>
            <a:r>
              <a:rPr sz="1300" b="0" i="0">
                <a:solidFill>
                  <a:srgbClr val="1C2433"/>
                </a:solidFill>
                <a:latin typeface="Calibri"/>
              </a:rPr>
              <a:t>run </a:t>
            </a:r>
            <a:r>
              <a:rPr sz="1200" b="0" i="0">
                <a:solidFill>
                  <a:srgbClr val="0E7C86"/>
                </a:solidFill>
                <a:latin typeface="Consolas"/>
              </a:rPr>
              <a:t>lake maintain --dry-run</a:t>
            </a:r>
            <a:r>
              <a:rPr sz="1300" b="0" i="0">
                <a:solidFill>
                  <a:srgbClr val="1C2433"/>
                </a:solidFill>
                <a:latin typeface="Calibri"/>
              </a:rPr>
              <a:t> with </a:t>
            </a:r>
            <a:r>
              <a:rPr sz="1200" b="0" i="0">
                <a:solidFill>
                  <a:srgbClr val="0E7C86"/>
                </a:solidFill>
                <a:latin typeface="Consolas"/>
              </a:rPr>
              <a:t>compact: true</a:t>
            </a:r>
            <a:r>
              <a:rPr sz="1300" b="0" i="0">
                <a:solidFill>
                  <a:srgbClr val="1C2433"/>
                </a:solidFill>
                <a:latin typeface="Calibri"/>
              </a:rPr>
              <a:t> on one S3 table, check id order per row group, then enable it nightly</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Admin → Lakes: the same engine in the console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6 · operating it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77</a:t>
            </a:r>
          </a:p>
        </p:txBody>
      </p:sp>
      <p:graphicFrame>
        <p:nvGraphicFramePr>
          <p:cNvPr id="10" name="Table"/>
          <p:cNvGraphicFramePr>
            <a:graphicFrameLocks noGrp="1"/>
          </p:cNvGraphicFramePr>
          <p:nvPr/>
        </p:nvGraphicFramePr>
        <p:xfrm>
          <a:off x="411480" y="1188720"/>
          <a:ext cx="6766560" cy="2834640"/>
        </p:xfrm>
        <a:graphic>
          <a:graphicData uri="http://schemas.openxmlformats.org/drawingml/2006/table">
            <a:tbl>
              <a:tblPr firstRow="0" bandRow="0">
                <a:tableStyleId>{5940675A-B579-460E-94D1-54222C63F5DA}</a:tableStyleId>
              </a:tblPr>
              <a:tblGrid>
                <a:gridCol w="1371600"/>
                <a:gridCol w="3931920"/>
                <a:gridCol w="1463040"/>
              </a:tblGrid>
              <a:tr h="566928">
                <a:tc>
                  <a:txBody>
                    <a:bodyPr wrap="square"/>
                    <a:lstStyle/>
                    <a:p>
                      <a:r>
                        <a:rPr sz="1200" b="1" i="0">
                          <a:solidFill>
                            <a:srgbClr val="FFFFFF"/>
                          </a:solidFill>
                          <a:latin typeface="Calibri"/>
                        </a:rPr>
                        <a:t>Step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What it does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Setting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66928">
                <a:tc>
                  <a:txBody>
                    <a:bodyPr wrap="square"/>
                    <a:lstStyle/>
                    <a:p>
                      <a:r>
                        <a:rPr sz="1200" b="1" i="0">
                          <a:solidFill>
                            <a:srgbClr val="1C2433"/>
                          </a:solidFill>
                          <a:latin typeface="Calibri"/>
                        </a:rPr>
                        <a:t>Retention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deletes business dates older than the window, counted from today; refuses to drop more than half a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keep-business-days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200" b="1" i="0">
                          <a:solidFill>
                            <a:srgbClr val="1C2433"/>
                          </a:solidFill>
                          <a:latin typeface="Calibri"/>
                        </a:rPr>
                        <a:t>Compaction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merges small files, or re-lays a table in its pack's layout (dates that drifted only)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target-file-mb</a:t>
                      </a:r>
                      <a:r>
                        <a:rPr sz="1200" b="0" i="0">
                          <a:solidFill>
                            <a:srgbClr val="1C2433"/>
                          </a:solidFill>
                          <a:latin typeface="Calibri"/>
                        </a:rPr>
                        <a:t> (128)</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200" b="1" i="0">
                          <a:solidFill>
                            <a:srgbClr val="1C2433"/>
                          </a:solidFill>
                          <a:latin typeface="Calibri"/>
                        </a:rPr>
                        <a:t>Checkpoint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readers replay a short log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checkpoint</a:t>
                      </a:r>
                      <a:r>
                        <a:rPr sz="1200" b="0" i="0">
                          <a:solidFill>
                            <a:srgbClr val="1C2433"/>
                          </a:solidFill>
                          <a:latin typeface="Calibri"/>
                        </a:rPr>
                        <a:t> (on)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200" b="1" i="0">
                          <a:solidFill>
                            <a:srgbClr val="1C2433"/>
                          </a:solidFill>
                          <a:latin typeface="Calibri"/>
                        </a:rPr>
                        <a:t>Vacuum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removes files no version uses, older than the window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vacuum-hours</a:t>
                      </a:r>
                      <a:r>
                        <a:rPr sz="1200" b="0" i="0">
                          <a:solidFill>
                            <a:srgbClr val="1C2433"/>
                          </a:solidFill>
                          <a:latin typeface="Calibri"/>
                        </a:rPr>
                        <a:t> (168)</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1" name="TextBox 10"/>
          <p:cNvSpPr txBox="1"/>
          <p:nvPr/>
        </p:nvSpPr>
        <p:spPr>
          <a:xfrm>
            <a:off x="411480" y="4206240"/>
            <a:ext cx="6766560" cy="2148840"/>
          </a:xfrm>
          <a:prstGeom prst="rect">
            <a:avLst/>
          </a:prstGeom>
          <a:noFill/>
        </p:spPr>
        <p:txBody>
          <a:bodyPr wrap="square" lIns="0" rIns="0" tIns="0" bIns="0" anchor="t">
            <a:spAutoFit/>
          </a:bodyPr>
          <a:lstStyle/>
          <a:p>
            <a:pPr algn="l" marL="201168" indent="-201168">
              <a:spcAft>
                <a:spcPts val="400"/>
              </a:spcAft>
              <a:buClr>
                <a:srgbClr val="E87A1E"/>
              </a:buClr>
              <a:buSzPct val="100000"/>
              <a:buFont typeface="Arial"/>
              <a:buChar char="•"/>
            </a:pPr>
            <a:r>
              <a:rPr sz="1250" b="1" i="0">
                <a:solidFill>
                  <a:srgbClr val="1C2433"/>
                </a:solidFill>
                <a:latin typeface="Calibri"/>
              </a:rPr>
              <a:t>Dry run</a:t>
            </a:r>
            <a:r>
              <a:rPr sz="1250" b="0" i="0">
                <a:solidFill>
                  <a:srgbClr val="1C2433"/>
                </a:solidFill>
                <a:latin typeface="Calibri"/>
              </a:rPr>
              <a:t> first: files and size before → after, dates retention would drop, what vacuum would delete</a:t>
            </a:r>
          </a:p>
          <a:p>
            <a:pPr algn="l" marL="201168" indent="-201168">
              <a:spcAft>
                <a:spcPts val="400"/>
              </a:spcAft>
              <a:buClr>
                <a:srgbClr val="E87A1E"/>
              </a:buClr>
              <a:buSzPct val="100000"/>
              <a:buFont typeface="Arial"/>
              <a:buChar char="•"/>
            </a:pPr>
            <a:r>
              <a:rPr sz="1250" b="1" i="0">
                <a:solidFill>
                  <a:srgbClr val="1C2433"/>
                </a:solidFill>
                <a:latin typeface="Calibri"/>
              </a:rPr>
              <a:t>Ownership rule:</a:t>
            </a:r>
            <a:r>
              <a:rPr sz="1250" b="0" i="0">
                <a:solidFill>
                  <a:srgbClr val="1C2433"/>
                </a:solidFill>
                <a:latin typeface="Calibri"/>
              </a:rPr>
              <a:t> only tables </a:t>
            </a:r>
            <a:r>
              <a:rPr sz="1150" b="0" i="0">
                <a:solidFill>
                  <a:srgbClr val="0E7C86"/>
                </a:solidFill>
                <a:latin typeface="Consolas"/>
              </a:rPr>
              <a:t>lake build</a:t>
            </a:r>
            <a:r>
              <a:rPr sz="1250" b="0" i="0">
                <a:solidFill>
                  <a:srgbClr val="1C2433"/>
                </a:solidFill>
                <a:latin typeface="Calibri"/>
              </a:rPr>
              <a:t> built; a foreign table is read-only</a:t>
            </a:r>
          </a:p>
          <a:p>
            <a:pPr algn="l" marL="201168" indent="-201168">
              <a:spcAft>
                <a:spcPts val="400"/>
              </a:spcAft>
              <a:buClr>
                <a:srgbClr val="E87A1E"/>
              </a:buClr>
              <a:buSzPct val="100000"/>
              <a:buFont typeface="Arial"/>
              <a:buChar char="•"/>
            </a:pPr>
            <a:r>
              <a:rPr sz="1250" b="0" i="0">
                <a:solidFill>
                  <a:srgbClr val="1C2433"/>
                </a:solidFill>
                <a:latin typeface="Calibri"/>
              </a:rPr>
              <a:t>Schedules at a time or after every build; history kept in </a:t>
            </a:r>
            <a:r>
              <a:rPr sz="1150" b="0" i="0">
                <a:solidFill>
                  <a:srgbClr val="0E7C86"/>
                </a:solidFill>
                <a:latin typeface="Consolas"/>
              </a:rPr>
              <a:t>maintenance-history.jsonl</a:t>
            </a:r>
          </a:p>
          <a:p>
            <a:pPr algn="l" marL="201168" indent="-201168">
              <a:spcAft>
                <a:spcPts val="400"/>
              </a:spcAft>
              <a:buClr>
                <a:srgbClr val="E87A1E"/>
              </a:buClr>
              <a:buSzPct val="100000"/>
              <a:buFont typeface="Arial"/>
              <a:buChar char="•"/>
            </a:pPr>
            <a:r>
              <a:rPr sz="1250" b="1" i="0">
                <a:solidFill>
                  <a:srgbClr val="1C2433"/>
                </a:solidFill>
                <a:latin typeface="Calibri"/>
              </a:rPr>
              <a:t>Iceberg tables</a:t>
            </a:r>
            <a:r>
              <a:rPr sz="1250" b="0" i="0">
                <a:solidFill>
                  <a:srgbClr val="1C2433"/>
                </a:solidFill>
                <a:latin typeface="Calibri"/>
              </a:rPr>
              <a:t> (</a:t>
            </a:r>
            <a:r>
              <a:rPr sz="1150" b="0" i="0">
                <a:solidFill>
                  <a:srgbClr val="0E7C86"/>
                </a:solidFill>
                <a:latin typeface="Consolas"/>
              </a:rPr>
              <a:t>format: iceberg</a:t>
            </a:r>
            <a:r>
              <a:rPr sz="1250" b="0" i="0">
                <a:solidFill>
                  <a:srgbClr val="1C2433"/>
                </a:solidFill>
                <a:latin typeface="Calibri"/>
              </a:rPr>
              <a:t>, or auto under a local root) go to </a:t>
            </a:r>
            <a:r>
              <a:rPr sz="1150" b="0" i="0">
                <a:solidFill>
                  <a:srgbClr val="0E7C86"/>
                </a:solidFill>
                <a:latin typeface="Consolas"/>
              </a:rPr>
              <a:t>IcebergMaintenance</a:t>
            </a:r>
            <a:r>
              <a:rPr sz="1250" b="0" i="0">
                <a:solidFill>
                  <a:srgbClr val="1C2433"/>
                </a:solidFill>
                <a:latin typeface="Calibri"/>
              </a:rPr>
              <a:t> under the same rules; the tables list has a Format column</a:t>
            </a:r>
          </a:p>
        </p:txBody>
      </p:sp>
      <p:sp>
        <p:nvSpPr>
          <p:cNvPr id="12" name="Callout"/>
          <p:cNvSpPr/>
          <p:nvPr/>
        </p:nvSpPr>
        <p:spPr>
          <a:xfrm>
            <a:off x="7452360" y="1188720"/>
            <a:ext cx="4325112" cy="512064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allout edge"/>
          <p:cNvSpPr/>
          <p:nvPr/>
        </p:nvSpPr>
        <p:spPr>
          <a:xfrm>
            <a:off x="7452360" y="1207008"/>
            <a:ext cx="82296" cy="50840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7680960" y="1261872"/>
            <a:ext cx="3959352" cy="4974336"/>
          </a:xfrm>
          <a:prstGeom prst="rect">
            <a:avLst/>
          </a:prstGeom>
          <a:noFill/>
        </p:spPr>
        <p:txBody>
          <a:bodyPr wrap="square" lIns="0" rIns="0" tIns="0" bIns="0" anchor="t">
            <a:spAutoFit/>
          </a:bodyPr>
          <a:lstStyle/>
          <a:p>
            <a:pPr algn="l">
              <a:spcAft>
                <a:spcPts val="600"/>
              </a:spcAft>
              <a:buNone/>
            </a:pPr>
            <a:r>
              <a:rPr sz="1400" b="1" i="0">
                <a:solidFill>
                  <a:srgbClr val="1C2433"/>
                </a:solidFill>
                <a:latin typeface="Calibri"/>
              </a:rPr>
              <a:t>On AWS: one scheduler</a:t>
            </a:r>
          </a:p>
          <a:p>
            <a:pPr algn="l">
              <a:spcAft>
                <a:spcPts val="600"/>
              </a:spcAft>
              <a:buNone/>
            </a:pPr>
            <a:r>
              <a:rPr sz="1300" b="0" i="0">
                <a:solidFill>
                  <a:srgbClr val="1C2433"/>
                </a:solidFill>
                <a:latin typeface="Calibri"/>
              </a:rPr>
              <a:t>EventBridge runs </a:t>
            </a:r>
            <a:r>
              <a:rPr sz="1200" b="0" i="0">
                <a:solidFill>
                  <a:srgbClr val="0E7C86"/>
                </a:solidFill>
                <a:latin typeface="Consolas"/>
              </a:rPr>
              <a:t>maintain.sh</a:t>
            </a:r>
            <a:r>
              <a:rPr sz="1300" b="0" i="0">
                <a:solidFill>
                  <a:srgbClr val="1C2433"/>
                </a:solidFill>
                <a:latin typeface="Calibri"/>
              </a:rPr>
              <a:t> nightly against </a:t>
            </a:r>
            <a:r>
              <a:rPr sz="1200" b="0" i="0">
                <a:solidFill>
                  <a:srgbClr val="0E7C86"/>
                </a:solidFill>
                <a:latin typeface="Consolas"/>
              </a:rPr>
              <a:t>s3://</a:t>
            </a:r>
            <a:r>
              <a:rPr sz="1300" b="0" i="0">
                <a:solidFill>
                  <a:srgbClr val="1C2433"/>
                </a:solidFill>
                <a:latin typeface="Calibri"/>
              </a:rPr>
              <a:t> with </a:t>
            </a:r>
            <a:r>
              <a:rPr sz="1200" b="0" i="0">
                <a:solidFill>
                  <a:srgbClr val="0E7C86"/>
                </a:solidFill>
                <a:latin typeface="Consolas"/>
              </a:rPr>
              <a:t>--force-foreign</a:t>
            </a:r>
            <a:r>
              <a:rPr sz="1300" b="0" i="0">
                <a:solidFill>
                  <a:srgbClr val="1C2433"/>
                </a:solidFill>
                <a:latin typeface="Calibri"/>
              </a:rPr>
              <a:t>.</a:t>
            </a:r>
          </a:p>
          <a:p>
            <a:pPr algn="l">
              <a:spcAft>
                <a:spcPts val="600"/>
              </a:spcAft>
              <a:buNone/>
            </a:pPr>
            <a:r>
              <a:rPr sz="1300" b="0" i="0">
                <a:solidFill>
                  <a:srgbClr val="1C2433"/>
                </a:solidFill>
                <a:latin typeface="Calibri"/>
              </a:rPr>
              <a:t>Admin → Lakes maintains the lakes listed in </a:t>
            </a:r>
            <a:r>
              <a:rPr sz="1200" b="0" i="0">
                <a:solidFill>
                  <a:srgbClr val="0E7C86"/>
                </a:solidFill>
                <a:latin typeface="Consolas"/>
              </a:rPr>
              <a:t>lakes.roots</a:t>
            </a:r>
            <a:r>
              <a:rPr sz="1300" b="0" i="0">
                <a:solidFill>
                  <a:srgbClr val="1C2433"/>
                </a:solidFill>
                <a:latin typeface="Calibri"/>
              </a:rPr>
              <a:t> and the file </a:t>
            </a:r>
            <a:r>
              <a:rPr sz="1200" b="0" i="0">
                <a:solidFill>
                  <a:srgbClr val="0E7C86"/>
                </a:solidFill>
                <a:latin typeface="Consolas"/>
              </a:rPr>
              <a:t>&lt;data&gt;/lakes/lake-maintenance.yaml</a:t>
            </a:r>
            <a:r>
              <a:rPr sz="1300" b="0" i="0">
                <a:solidFill>
                  <a:srgbClr val="1C2433"/>
                </a:solidFill>
                <a:latin typeface="Calibri"/>
              </a:rPr>
              <a:t>; dry runs and history work the same.</a:t>
            </a:r>
          </a:p>
          <a:p>
            <a:pPr algn="l">
              <a:spcAft>
                <a:spcPts val="600"/>
              </a:spcAft>
              <a:buNone/>
            </a:pPr>
            <a:r>
              <a:rPr sz="1300" b="0" i="0">
                <a:solidFill>
                  <a:srgbClr val="1C2433"/>
                </a:solidFill>
                <a:latin typeface="Calibri"/>
              </a:rPr>
              <a:t>Run schedules in </a:t>
            </a:r>
            <a:r>
              <a:rPr sz="1300" b="1" i="0">
                <a:solidFill>
                  <a:srgbClr val="1C2433"/>
                </a:solidFill>
                <a:latin typeface="Calibri"/>
              </a:rPr>
              <a:t>one</a:t>
            </a:r>
            <a:r>
              <a:rPr sz="1300" b="0" i="0">
                <a:solidFill>
                  <a:srgbClr val="1C2433"/>
                </a:solidFill>
                <a:latin typeface="Calibri"/>
              </a:rPr>
              <a:t> place: set </a:t>
            </a:r>
            <a:r>
              <a:rPr sz="1200" b="0" i="0">
                <a:solidFill>
                  <a:srgbClr val="0E7C86"/>
                </a:solidFill>
                <a:latin typeface="Consolas"/>
              </a:rPr>
              <a:t>DRISHTI_LAKE_MAINTENANCE_SCHEDULES=false</a:t>
            </a:r>
            <a:r>
              <a:rPr sz="1300" b="0" i="0">
                <a:solidFill>
                  <a:srgbClr val="1C2433"/>
                </a:solidFill>
                <a:latin typeface="Calibri"/>
              </a:rPr>
              <a:t> on the console when EventBridge or the daemon runs them.</a:t>
            </a:r>
          </a:p>
          <a:p>
            <a:pPr algn="l">
              <a:spcAft>
                <a:spcPts val="600"/>
              </a:spcAft>
              <a:buNone/>
            </a:pPr>
            <a:r>
              <a:rPr sz="1300" b="0" i="0">
                <a:solidFill>
                  <a:srgbClr val="1C2433"/>
                </a:solidFill>
                <a:latin typeface="Calibri"/>
              </a:rPr>
              <a:t>The risk floor applies in every place it runs.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What never scans the whole lake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6 · operating it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78</a:t>
            </a:r>
          </a:p>
        </p:txBody>
      </p:sp>
      <p:graphicFrame>
        <p:nvGraphicFramePr>
          <p:cNvPr id="10" name="Table"/>
          <p:cNvGraphicFramePr>
            <a:graphicFrameLocks noGrp="1"/>
          </p:cNvGraphicFramePr>
          <p:nvPr/>
        </p:nvGraphicFramePr>
        <p:xfrm>
          <a:off x="411480" y="1143000"/>
          <a:ext cx="11365991" cy="4626864"/>
        </p:xfrm>
        <a:graphic>
          <a:graphicData uri="http://schemas.openxmlformats.org/drawingml/2006/table">
            <a:tbl>
              <a:tblPr firstRow="0" bandRow="0">
                <a:tableStyleId>{5940675A-B579-460E-94D1-54222C63F5DA}</a:tableStyleId>
              </a:tblPr>
              <a:tblGrid>
                <a:gridCol w="3200399"/>
                <a:gridCol w="5669280"/>
                <a:gridCol w="2496312"/>
              </a:tblGrid>
              <a:tr h="420624">
                <a:tc>
                  <a:txBody>
                    <a:bodyPr wrap="square"/>
                    <a:lstStyle/>
                    <a:p>
                      <a:r>
                        <a:rPr sz="1100" b="1" i="0">
                          <a:solidFill>
                            <a:srgbClr val="FFFFFF"/>
                          </a:solidFill>
                          <a:latin typeface="Calibri"/>
                        </a:rPr>
                        <a:t>Request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Reads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Grows with history?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20624">
                <a:tc>
                  <a:txBody>
                    <a:bodyPr wrap="square"/>
                    <a:lstStyle/>
                    <a:p>
                      <a:r>
                        <a:rPr sz="1100" b="1" i="0">
                          <a:solidFill>
                            <a:srgbClr val="1C2433"/>
                          </a:solidFill>
                          <a:latin typeface="Calibri"/>
                        </a:rPr>
                        <a:t>Open one entity on a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snapshot or planned layout (in memory, refreshed every 10 s), the day's id map, one row group (≈ 1 MB)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no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0624">
                <a:tc>
                  <a:txBody>
                    <a:bodyPr wrap="square"/>
                    <a:lstStyle/>
                    <a:p>
                      <a:r>
                        <a:rPr sz="1100" b="1" i="0">
                          <a:solidFill>
                            <a:srgbClr val="1C2433"/>
                          </a:solidFill>
                          <a:latin typeface="Calibri"/>
                        </a:rPr>
                        <a:t>History of one entity over N days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days whose id map holds it; one read per day, eight at once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with N, not with the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0624">
                <a:tc>
                  <a:txBody>
                    <a:bodyPr wrap="square"/>
                    <a:lstStyle/>
                    <a:p>
                      <a:r>
                        <a:rPr sz="1100" b="1" i="0">
                          <a:solidFill>
                            <a:srgbClr val="1C2433"/>
                          </a:solidFill>
                          <a:latin typeface="Calibri"/>
                        </a:rPr>
                        <a:t>Type-ahead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newest day's ids and promoted names in memory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no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0624">
                <a:tc>
                  <a:txBody>
                    <a:bodyPr wrap="square"/>
                    <a:lstStyle/>
                    <a:p>
                      <a:r>
                        <a:rPr sz="1100" b="1" i="0">
                          <a:solidFill>
                            <a:srgbClr val="1C2433"/>
                          </a:solidFill>
                          <a:latin typeface="Calibri"/>
                        </a:rPr>
                        <a:t>Search, pick list, derived kind, impact, DATAMAP count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that day's column set (id + promoted, never documents); files and row groups skipped by bounds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no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0624">
                <a:tc>
                  <a:txBody>
                    <a:bodyPr wrap="square"/>
                    <a:lstStyle/>
                    <a:p>
                      <a:r>
                        <a:rPr sz="1100" b="1" i="0">
                          <a:solidFill>
                            <a:srgbClr val="1C2433"/>
                          </a:solidFill>
                          <a:latin typeface="Calibri"/>
                        </a:rPr>
                        <a:t>A VaR or exposure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one streamed pass over the date's vectors, then the hot file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no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0624">
                <a:tc>
                  <a:txBody>
                    <a:bodyPr wrap="square"/>
                    <a:lstStyle/>
                    <a:p>
                      <a:r>
                        <a:rPr sz="1100" b="1" i="0">
                          <a:solidFill>
                            <a:srgbClr val="1C2433"/>
                          </a:solidFill>
                          <a:latin typeface="Calibri"/>
                        </a:rPr>
                        <a:t>Refresh (Iceberg)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version-hint.text</a:t>
                      </a:r>
                      <a:r>
                        <a:rPr sz="1100" b="0" i="0">
                          <a:solidFill>
                            <a:srgbClr val="1C2433"/>
                          </a:solidFill>
                          <a:latin typeface="Calibri"/>
                        </a:rPr>
                        <a:t> (path) or </a:t>
                      </a:r>
                      <a:r>
                        <a:rPr sz="1100" b="0" i="0">
                          <a:solidFill>
                            <a:srgbClr val="0E7C86"/>
                          </a:solidFill>
                          <a:latin typeface="Consolas"/>
                        </a:rPr>
                        <a:t>loadTable</a:t>
                      </a:r>
                      <a:r>
                        <a:rPr sz="1100" b="0" i="0">
                          <a:solidFill>
                            <a:srgbClr val="1C2433"/>
                          </a:solidFill>
                          <a:latin typeface="Calibri"/>
                        </a:rPr>
                        <a:t> with ETag (REST); a changed snapshot's manifests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with live manifests: regroup monthly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0624">
                <a:tc>
                  <a:txBody>
                    <a:bodyPr wrap="square"/>
                    <a:lstStyle/>
                    <a:p>
                      <a:r>
                        <a:rPr sz="1100" b="1" i="0">
                          <a:solidFill>
                            <a:srgbClr val="1C2433"/>
                          </a:solidFill>
                          <a:latin typeface="Calibri"/>
                        </a:rPr>
                        <a:t>Load, restatement, intraday batch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one day's files and one commit (Iceberg rewrites the metadata JSON)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no (Iceberg: metadata JSON grows with snapshots kept)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0624">
                <a:tc>
                  <a:txBody>
                    <a:bodyPr wrap="square"/>
                    <a:lstStyle/>
                    <a:p>
                      <a:r>
                        <a:rPr sz="1100" b="1" i="0">
                          <a:solidFill>
                            <a:srgbClr val="1C2433"/>
                          </a:solidFill>
                          <a:latin typeface="Calibri"/>
                        </a:rPr>
                        <a:t>Retention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 delete by partition (the log or metadata only), one commit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no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0624">
                <a:tc>
                  <a:txBody>
                    <a:bodyPr wrap="square"/>
                    <a:lstStyle/>
                    <a:p>
                      <a:r>
                        <a:rPr sz="1100" b="1" i="0">
                          <a:solidFill>
                            <a:srgbClr val="1C2433"/>
                          </a:solidFill>
                          <a:latin typeface="Calibri"/>
                        </a:rPr>
                        <a:t>Vacuum (weekly is enough)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 listing of the table's prefix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with the file count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0624">
                <a:tc>
                  <a:txBody>
                    <a:bodyPr wrap="square"/>
                    <a:lstStyle/>
                    <a:p>
                      <a:r>
                        <a:rPr sz="1100" b="1" i="0">
                          <a:solidFill>
                            <a:srgbClr val="1C2433"/>
                          </a:solidFill>
                          <a:latin typeface="Calibri"/>
                        </a:rPr>
                        <a:t>Questions over all of history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not interactive: Athena, Trino or Spark on the same tables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1" name="Callout"/>
          <p:cNvSpPr/>
          <p:nvPr/>
        </p:nvSpPr>
        <p:spPr>
          <a:xfrm>
            <a:off x="411480" y="5806440"/>
            <a:ext cx="11365992" cy="54864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allout edge"/>
          <p:cNvSpPr/>
          <p:nvPr/>
        </p:nvSpPr>
        <p:spPr>
          <a:xfrm>
            <a:off x="411480" y="5824727"/>
            <a:ext cx="82296" cy="512063"/>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0080" y="5879592"/>
            <a:ext cx="11000232" cy="402335"/>
          </a:xfrm>
          <a:prstGeom prst="rect">
            <a:avLst/>
          </a:prstGeom>
          <a:noFill/>
        </p:spPr>
        <p:txBody>
          <a:bodyPr wrap="square" lIns="0" rIns="0" tIns="0" bIns="0" anchor="ctr">
            <a:spAutoFit/>
          </a:bodyPr>
          <a:lstStyle/>
          <a:p>
            <a:pPr algn="l">
              <a:spcAft>
                <a:spcPts val="600"/>
              </a:spcAft>
              <a:buNone/>
            </a:pPr>
            <a:r>
              <a:rPr sz="1150" b="1" i="0">
                <a:solidFill>
                  <a:srgbClr val="1C2433"/>
                </a:solidFill>
                <a:latin typeface="Calibri"/>
              </a:rPr>
              <a:t>The one Iceberg-specific growth:</a:t>
            </a:r>
            <a:r>
              <a:rPr sz="1150" b="0" i="0">
                <a:solidFill>
                  <a:srgbClr val="1C2433"/>
                </a:solidFill>
                <a:latin typeface="Calibri"/>
              </a:rPr>
              <a:t> each commit rewrites a metadata JSON listing every snapshot kept: expire snapshots (seven-year risk tables: slide 61) and regroup manifests monthly.</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History over the lake: TRD &lt;id&gt; 30</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6 · operating it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79</a:t>
            </a:r>
          </a:p>
        </p:txBody>
      </p:sp>
      <p:sp>
        <p:nvSpPr>
          <p:cNvPr id="10" name="Code block"/>
          <p:cNvSpPr/>
          <p:nvPr/>
        </p:nvSpPr>
        <p:spPr>
          <a:xfrm>
            <a:off x="411480" y="1188720"/>
            <a:ext cx="11365992" cy="86868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521208" y="1252728"/>
            <a:ext cx="11146536" cy="74066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TRD 1000015 30                  </a:t>
            </a:r>
            <a:r>
              <a:rPr sz="1100" b="0" i="0">
                <a:solidFill>
                  <a:srgbClr val="8B9BB4"/>
                </a:solidFill>
                <a:latin typeface="Consolas"/>
              </a:rPr>
              <a:t>  # the trade over its last 30 business days with data</a:t>
            </a:r>
          </a:p>
          <a:p>
            <a:pPr>
              <a:spcAft>
                <a:spcPts val="0"/>
              </a:spcAft>
              <a:buNone/>
            </a:pPr>
            <a:r>
              <a:rPr sz="1100" b="0" i="0">
                <a:solidFill>
                  <a:srgbClr val="E6EDF3"/>
                </a:solidFill>
                <a:latin typeface="Consolas"/>
              </a:rPr>
              <a:t>TRD 1000015 3M DIFF             </a:t>
            </a:r>
            <a:r>
              <a:rPr sz="1100" b="0" i="0">
                <a:solidFill>
                  <a:srgbClr val="8B9BB4"/>
                </a:solidFill>
                <a:latin typeface="Consolas"/>
              </a:rPr>
              <a:t>  # three months, each day's changes</a:t>
            </a:r>
          </a:p>
          <a:p>
            <a:pPr>
              <a:spcAft>
                <a:spcPts val="0"/>
              </a:spcAft>
              <a:buNone/>
            </a:pPr>
            <a:r>
              <a:rPr sz="1100" b="0" i="0">
                <a:solidFill>
                  <a:srgbClr val="E6EDF3"/>
                </a:solidFill>
                <a:latin typeface="Consolas"/>
              </a:rPr>
              <a:t>GET /api/v1/history/trade/1000015?days=30&amp;knownAt=2026-10-15T18:00:00Z  </a:t>
            </a:r>
            <a:r>
              <a:rPr sz="1100" b="0" i="0">
                <a:solidFill>
                  <a:srgbClr val="8B9BB4"/>
                </a:solidFill>
                <a:latin typeface="Consolas"/>
              </a:rPr>
              <a:t>  # as the lake stood then</a:t>
            </a:r>
          </a:p>
        </p:txBody>
      </p:sp>
      <p:sp>
        <p:nvSpPr>
          <p:cNvPr id="12" name="Rounded Rectangle 11"/>
          <p:cNvSpPr/>
          <p:nvPr/>
        </p:nvSpPr>
        <p:spPr>
          <a:xfrm>
            <a:off x="411480" y="2286000"/>
            <a:ext cx="2606040" cy="150876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502920" y="233172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days()</a:t>
            </a:r>
          </a:p>
        </p:txBody>
      </p:sp>
      <p:sp>
        <p:nvSpPr>
          <p:cNvPr id="14" name="TextBox 13"/>
          <p:cNvSpPr txBox="1"/>
          <p:nvPr/>
        </p:nvSpPr>
        <p:spPr>
          <a:xfrm>
            <a:off x="502920" y="2651760"/>
            <a:ext cx="2423160" cy="109728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the snapshot's </a:t>
            </a:r>
            <a:r>
              <a:rPr sz="1100" b="0" i="0">
                <a:solidFill>
                  <a:srgbClr val="0E7C86"/>
                </a:solidFill>
                <a:latin typeface="Consolas"/>
              </a:rPr>
              <a:t>business_date=</a:t>
            </a:r>
            <a:r>
              <a:rPr sz="1200" b="0" i="0">
                <a:solidFill>
                  <a:srgbClr val="1C2433"/>
                </a:solidFill>
                <a:latin typeface="Calibri"/>
              </a:rPr>
              <a:t> partitions whose id map holds the id</a:t>
            </a:r>
          </a:p>
        </p:txBody>
      </p:sp>
      <p:cxnSp>
        <p:nvCxnSpPr>
          <p:cNvPr id="15" name="Connector 14"/>
          <p:cNvCxnSpPr/>
          <p:nvPr/>
        </p:nvCxnSpPr>
        <p:spPr>
          <a:xfrm>
            <a:off x="3017520" y="3035808"/>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328416" y="2286000"/>
            <a:ext cx="2606040" cy="150876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3419856" y="233172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one read a day</a:t>
            </a:r>
          </a:p>
        </p:txBody>
      </p:sp>
      <p:sp>
        <p:nvSpPr>
          <p:cNvPr id="18" name="TextBox 17"/>
          <p:cNvSpPr txBox="1"/>
          <p:nvPr/>
        </p:nvSpPr>
        <p:spPr>
          <a:xfrm>
            <a:off x="3419856" y="2651760"/>
            <a:ext cx="2423160" cy="109728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id map → one row group; eight days at once</a:t>
            </a:r>
          </a:p>
        </p:txBody>
      </p:sp>
      <p:cxnSp>
        <p:nvCxnSpPr>
          <p:cNvPr id="19" name="Connector 18"/>
          <p:cNvCxnSpPr/>
          <p:nvPr/>
        </p:nvCxnSpPr>
        <p:spPr>
          <a:xfrm>
            <a:off x="5934456" y="3035808"/>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45352" y="2286000"/>
            <a:ext cx="2606040" cy="150876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6336792" y="233172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mask, then diff</a:t>
            </a:r>
          </a:p>
        </p:txBody>
      </p:sp>
      <p:sp>
        <p:nvSpPr>
          <p:cNvPr id="22" name="TextBox 21"/>
          <p:cNvSpPr txBox="1"/>
          <p:nvPr/>
        </p:nvSpPr>
        <p:spPr>
          <a:xfrm>
            <a:off x="6336792" y="2651760"/>
            <a:ext cx="2423160" cy="109728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each day masked for the caller; changed fields</a:t>
            </a:r>
          </a:p>
        </p:txBody>
      </p:sp>
      <p:cxnSp>
        <p:nvCxnSpPr>
          <p:cNvPr id="23" name="Connector 22"/>
          <p:cNvCxnSpPr/>
          <p:nvPr/>
        </p:nvCxnSpPr>
        <p:spPr>
          <a:xfrm>
            <a:off x="8851392" y="3035808"/>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162288" y="2286000"/>
            <a:ext cx="2606040" cy="150876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9253728" y="233172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answer, cached</a:t>
            </a:r>
          </a:p>
        </p:txBody>
      </p:sp>
      <p:sp>
        <p:nvSpPr>
          <p:cNvPr id="26" name="TextBox 25"/>
          <p:cNvSpPr txBox="1"/>
          <p:nvPr/>
        </p:nvSpPr>
        <p:spPr>
          <a:xfrm>
            <a:off x="9253728" y="2651760"/>
            <a:ext cx="2423160" cy="109728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by the kind's data version</a:t>
            </a:r>
          </a:p>
        </p:txBody>
      </p:sp>
      <p:sp>
        <p:nvSpPr>
          <p:cNvPr id="27" name="TextBox 26"/>
          <p:cNvSpPr txBox="1"/>
          <p:nvPr/>
        </p:nvSpPr>
        <p:spPr>
          <a:xfrm>
            <a:off x="411480" y="4023360"/>
            <a:ext cx="6949440" cy="2286000"/>
          </a:xfrm>
          <a:prstGeom prst="rect">
            <a:avLst/>
          </a:prstGeom>
          <a:noFill/>
        </p:spPr>
        <p:txBody>
          <a:bodyPr wrap="square" lIns="0" rIns="0" tIns="0" bIns="0" anchor="t">
            <a:spAutoFit/>
          </a:bodyPr>
          <a:lstStyle/>
          <a:p>
            <a:pPr algn="l" marL="201168" indent="-201168">
              <a:spcAft>
                <a:spcPts val="600"/>
              </a:spcAft>
              <a:buClr>
                <a:srgbClr val="E87A1E"/>
              </a:buClr>
              <a:buSzPct val="100000"/>
              <a:buFont typeface="Arial"/>
              <a:buChar char="•"/>
            </a:pPr>
            <a:r>
              <a:rPr sz="1300" b="0" i="0">
                <a:solidFill>
                  <a:srgbClr val="1C2433"/>
                </a:solidFill>
                <a:latin typeface="Calibri"/>
              </a:rPr>
              <a:t>A weekend, a holiday or a day the entity was not loaded costs nothing</a:t>
            </a:r>
          </a:p>
          <a:p>
            <a:pPr algn="l" marL="201168" indent="-201168">
              <a:spcAft>
                <a:spcPts val="600"/>
              </a:spcAft>
              <a:buClr>
                <a:srgbClr val="E87A1E"/>
              </a:buClr>
              <a:buSzPct val="100000"/>
              <a:buFont typeface="Arial"/>
              <a:buChar char="•"/>
            </a:pPr>
            <a:r>
              <a:rPr sz="1200" b="0" i="0">
                <a:solidFill>
                  <a:srgbClr val="0E7C86"/>
                </a:solidFill>
                <a:latin typeface="Consolas"/>
              </a:rPr>
              <a:t>knownAt</a:t>
            </a:r>
            <a:r>
              <a:rPr sz="1300" b="0" i="0">
                <a:solidFill>
                  <a:srgbClr val="1C2433"/>
                </a:solidFill>
                <a:latin typeface="Calibri"/>
              </a:rPr>
              <a:t> is Delta time travel: the day as the table stood then</a:t>
            </a:r>
          </a:p>
          <a:p>
            <a:pPr algn="l" marL="201168" indent="-201168">
              <a:spcAft>
                <a:spcPts val="600"/>
              </a:spcAft>
              <a:buClr>
                <a:srgbClr val="E87A1E"/>
              </a:buClr>
              <a:buSzPct val="100000"/>
              <a:buFont typeface="Arial"/>
              <a:buChar char="•"/>
            </a:pPr>
            <a:r>
              <a:rPr sz="1300" b="0" i="0">
                <a:solidFill>
                  <a:srgbClr val="1C2433"/>
                </a:solidFill>
                <a:latin typeface="Calibri"/>
              </a:rPr>
              <a:t>Across Drishti*net: one call to the peer that holds the data, masked on both sides</a:t>
            </a:r>
          </a:p>
          <a:p>
            <a:pPr algn="l" marL="201168" indent="-201168">
              <a:spcAft>
                <a:spcPts val="600"/>
              </a:spcAft>
              <a:buClr>
                <a:srgbClr val="E87A1E"/>
              </a:buClr>
              <a:buSzPct val="100000"/>
              <a:buFont typeface="Arial"/>
              <a:buChar char="•"/>
            </a:pPr>
            <a:r>
              <a:rPr sz="1300" b="0" i="0">
                <a:solidFill>
                  <a:srgbClr val="1C2433"/>
                </a:solidFill>
                <a:latin typeface="Calibri"/>
              </a:rPr>
              <a:t>Works the same on Iceberg (equality test) and on every connector (the contract's default)</a:t>
            </a:r>
          </a:p>
        </p:txBody>
      </p:sp>
      <p:sp>
        <p:nvSpPr>
          <p:cNvPr id="28" name="Callout"/>
          <p:cNvSpPr/>
          <p:nvPr/>
        </p:nvSpPr>
        <p:spPr>
          <a:xfrm>
            <a:off x="7635240" y="4023360"/>
            <a:ext cx="4142232" cy="228600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Callout edge"/>
          <p:cNvSpPr/>
          <p:nvPr/>
        </p:nvSpPr>
        <p:spPr>
          <a:xfrm>
            <a:off x="7635240" y="4041648"/>
            <a:ext cx="82296" cy="224942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7863840" y="4096512"/>
            <a:ext cx="3776472" cy="213969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Measured on 1,800 days</a:t>
            </a:r>
          </a:p>
          <a:p>
            <a:pPr algn="l">
              <a:spcAft>
                <a:spcPts val="600"/>
              </a:spcAft>
              <a:buNone/>
            </a:pPr>
            <a:r>
              <a:rPr sz="1300" b="0" i="0">
                <a:solidFill>
                  <a:srgbClr val="1C2433"/>
                </a:solidFill>
                <a:latin typeface="Calibri"/>
              </a:rPr>
              <a:t>a trade on 2019-12-05 in 22 ms; the history reads only the days that hold the entity, so 7 years of lake cost no more than the days asked.</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Spreading the work over Drishti*net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6 · operating it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80</a:t>
            </a:r>
          </a:p>
        </p:txBody>
      </p:sp>
      <p:sp>
        <p:nvSpPr>
          <p:cNvPr id="10" name="TextBox 9"/>
          <p:cNvSpPr txBox="1"/>
          <p:nvPr/>
        </p:nvSpPr>
        <p:spPr>
          <a:xfrm>
            <a:off x="411480" y="1188720"/>
            <a:ext cx="6675120" cy="3291840"/>
          </a:xfrm>
          <a:prstGeom prst="rect">
            <a:avLst/>
          </a:prstGeom>
          <a:noFill/>
        </p:spPr>
        <p:txBody>
          <a:bodyPr wrap="square" lIns="0" rIns="0" tIns="0" bIns="0" anchor="t">
            <a:spAutoFit/>
          </a:bodyPr>
          <a:lstStyle/>
          <a:p>
            <a:pPr algn="l" marL="201168" indent="-201168">
              <a:spcAft>
                <a:spcPts val="500"/>
              </a:spcAft>
              <a:buClr>
                <a:srgbClr val="E87A1E"/>
              </a:buClr>
              <a:buSzPct val="100000"/>
              <a:buFont typeface="Arial"/>
              <a:buChar char="•"/>
            </a:pPr>
            <a:r>
              <a:rPr sz="1300" b="1" i="0">
                <a:solidFill>
                  <a:srgbClr val="1C2433"/>
                </a:solidFill>
                <a:latin typeface="Calibri"/>
              </a:rPr>
              <a:t>Shards:</a:t>
            </a:r>
            <a:r>
              <a:rPr sz="1300" b="0" i="0">
                <a:solidFill>
                  <a:srgbClr val="1C2433"/>
                </a:solidFill>
                <a:latin typeface="Calibri"/>
              </a:rPr>
              <a:t> nodes whose connectors read different tables of a kind; a search asks every one; a read goes to the holder</a:t>
            </a:r>
          </a:p>
          <a:p>
            <a:pPr algn="l" marL="201168" indent="-201168">
              <a:spcAft>
                <a:spcPts val="500"/>
              </a:spcAft>
              <a:buClr>
                <a:srgbClr val="E87A1E"/>
              </a:buClr>
              <a:buSzPct val="100000"/>
              <a:buFont typeface="Arial"/>
              <a:buChar char="•"/>
            </a:pPr>
            <a:r>
              <a:rPr sz="1300" b="1" i="0">
                <a:solidFill>
                  <a:srgbClr val="1C2433"/>
                </a:solidFill>
                <a:latin typeface="Calibri"/>
              </a:rPr>
              <a:t>Replicas:</a:t>
            </a:r>
            <a:r>
              <a:rPr sz="1300" b="0" i="0">
                <a:solidFill>
                  <a:srgbClr val="1C2433"/>
                </a:solidFill>
                <a:latin typeface="Calibri"/>
              </a:rPr>
              <a:t> nodes on the same table; a forwarded read goes to the same node for the same entity (hash of its id)</a:t>
            </a:r>
          </a:p>
          <a:p>
            <a:pPr algn="l" marL="201168" indent="-201168">
              <a:spcAft>
                <a:spcPts val="500"/>
              </a:spcAft>
              <a:buClr>
                <a:srgbClr val="E87A1E"/>
              </a:buClr>
              <a:buSzPct val="100000"/>
              <a:buFont typeface="Arial"/>
              <a:buChar char="•"/>
            </a:pPr>
            <a:r>
              <a:rPr sz="1300" b="0" i="0">
                <a:solidFill>
                  <a:srgbClr val="1C2433"/>
                </a:solidFill>
                <a:latin typeface="Calibri"/>
              </a:rPr>
              <a:t>Every node can read every table from S3: a failed node costs speed, never answers</a:t>
            </a:r>
          </a:p>
          <a:p>
            <a:pPr algn="l" marL="201168" indent="-201168">
              <a:spcAft>
                <a:spcPts val="500"/>
              </a:spcAft>
              <a:buClr>
                <a:srgbClr val="E87A1E"/>
              </a:buClr>
              <a:buSzPct val="100000"/>
              <a:buFont typeface="Arial"/>
              <a:buChar char="•"/>
            </a:pPr>
            <a:r>
              <a:rPr sz="1300" b="0" i="0">
                <a:solidFill>
                  <a:srgbClr val="1C2433"/>
                </a:solidFill>
                <a:latin typeface="Calibri"/>
              </a:rPr>
              <a:t>Peer data over HTTP/2, one connection per peer; gossip on its own port; history across nodes</a:t>
            </a:r>
          </a:p>
          <a:p>
            <a:pPr algn="l" marL="201168" indent="-201168">
              <a:spcAft>
                <a:spcPts val="500"/>
              </a:spcAft>
              <a:buClr>
                <a:srgbClr val="E87A1E"/>
              </a:buClr>
              <a:buSzPct val="100000"/>
              <a:buFont typeface="Arial"/>
              <a:buChar char="•"/>
            </a:pPr>
            <a:r>
              <a:rPr sz="1300" b="1" i="0">
                <a:solidFill>
                  <a:srgbClr val="1C2433"/>
                </a:solidFill>
                <a:latin typeface="Calibri"/>
              </a:rPr>
              <a:t>VaR sharded:</a:t>
            </a:r>
            <a:r>
              <a:rPr sz="1300" b="0" i="0">
                <a:solidFill>
                  <a:srgbClr val="1C2433"/>
                </a:solidFill>
                <a:latin typeface="Calibri"/>
              </a:rPr>
              <a:t> each owner reads only its legal-entity and desk ranges of a date (slide 65)</a:t>
            </a:r>
          </a:p>
          <a:p>
            <a:pPr algn="l" marL="201168" indent="-201168">
              <a:spcAft>
                <a:spcPts val="500"/>
              </a:spcAft>
              <a:buClr>
                <a:srgbClr val="E87A1E"/>
              </a:buClr>
              <a:buSzPct val="100000"/>
              <a:buFont typeface="Arial"/>
              <a:buChar char="•"/>
            </a:pPr>
            <a:r>
              <a:rPr sz="1300" b="1" i="0">
                <a:solidFill>
                  <a:srgbClr val="1C2433"/>
                </a:solidFill>
                <a:latin typeface="Calibri"/>
              </a:rPr>
              <a:t>Iceberg tables too:</a:t>
            </a:r>
            <a:r>
              <a:rPr sz="1300" b="0" i="0">
                <a:solidFill>
                  <a:srgbClr val="1C2433"/>
                </a:solidFill>
                <a:latin typeface="Calibri"/>
              </a:rPr>
              <a:t> the plugin reports </a:t>
            </a:r>
            <a:r>
              <a:rPr sz="1200" b="0" i="0">
                <a:solidFill>
                  <a:srgbClr val="0E7C86"/>
                </a:solidFill>
                <a:latin typeface="Consolas"/>
              </a:rPr>
              <a:t>iceberg:&lt;table-uuid&gt;</a:t>
            </a:r>
            <a:r>
              <a:rPr sz="1300" b="0" i="0">
                <a:solidFill>
                  <a:srgbClr val="1C2433"/>
                </a:solidFill>
                <a:latin typeface="Calibri"/>
              </a:rPr>
              <a:t>, so two nodes on one Iceberg table are replicas (a search asks one), also after a copy read through </a:t>
            </a:r>
            <a:r>
              <a:rPr sz="1200" b="0" i="0">
                <a:solidFill>
                  <a:srgbClr val="0E7C86"/>
                </a:solidFill>
                <a:latin typeface="Consolas"/>
              </a:rPr>
              <a:t>relocate</a:t>
            </a:r>
          </a:p>
        </p:txBody>
      </p:sp>
      <p:sp>
        <p:nvSpPr>
          <p:cNvPr id="11" name="Rounded Rectangle 10"/>
          <p:cNvSpPr/>
          <p:nvPr/>
        </p:nvSpPr>
        <p:spPr>
          <a:xfrm>
            <a:off x="7315200" y="1188720"/>
            <a:ext cx="2176272" cy="11430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7406640" y="1234440"/>
            <a:ext cx="199339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drishti-a</a:t>
            </a:r>
          </a:p>
        </p:txBody>
      </p:sp>
      <p:sp>
        <p:nvSpPr>
          <p:cNvPr id="13" name="TextBox 12"/>
          <p:cNvSpPr txBox="1"/>
          <p:nvPr/>
        </p:nvSpPr>
        <p:spPr>
          <a:xfrm>
            <a:off x="7406640" y="1554480"/>
            <a:ext cx="1993391" cy="7315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trade_endur</a:t>
            </a:r>
          </a:p>
        </p:txBody>
      </p:sp>
      <p:sp>
        <p:nvSpPr>
          <p:cNvPr id="14" name="Rounded Rectangle 13"/>
          <p:cNvSpPr/>
          <p:nvPr/>
        </p:nvSpPr>
        <p:spPr>
          <a:xfrm>
            <a:off x="9582912" y="1188720"/>
            <a:ext cx="2176272" cy="11430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9674352" y="1234440"/>
            <a:ext cx="199339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drishti-b</a:t>
            </a:r>
          </a:p>
        </p:txBody>
      </p:sp>
      <p:sp>
        <p:nvSpPr>
          <p:cNvPr id="16" name="TextBox 15"/>
          <p:cNvSpPr txBox="1"/>
          <p:nvPr/>
        </p:nvSpPr>
        <p:spPr>
          <a:xfrm>
            <a:off x="9674352" y="1554480"/>
            <a:ext cx="1993391" cy="7315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trade_endur (replica)</a:t>
            </a:r>
          </a:p>
        </p:txBody>
      </p:sp>
      <p:sp>
        <p:nvSpPr>
          <p:cNvPr id="17" name="Rounded Rectangle 16"/>
          <p:cNvSpPr/>
          <p:nvPr/>
        </p:nvSpPr>
        <p:spPr>
          <a:xfrm>
            <a:off x="7315200" y="2514600"/>
            <a:ext cx="2176272" cy="11430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7406640" y="2560320"/>
            <a:ext cx="199339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drishti-c</a:t>
            </a:r>
          </a:p>
        </p:txBody>
      </p:sp>
      <p:sp>
        <p:nvSpPr>
          <p:cNvPr id="19" name="TextBox 18"/>
          <p:cNvSpPr txBox="1"/>
          <p:nvPr/>
        </p:nvSpPr>
        <p:spPr>
          <a:xfrm>
            <a:off x="7406640" y="2880360"/>
            <a:ext cx="1993391" cy="7315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trade_calypso, trade_murex</a:t>
            </a:r>
          </a:p>
        </p:txBody>
      </p:sp>
      <p:sp>
        <p:nvSpPr>
          <p:cNvPr id="20" name="Rounded Rectangle 19"/>
          <p:cNvSpPr/>
          <p:nvPr/>
        </p:nvSpPr>
        <p:spPr>
          <a:xfrm>
            <a:off x="9582912" y="2514600"/>
            <a:ext cx="2176272" cy="11430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9674352" y="2560320"/>
            <a:ext cx="199339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drishti-d</a:t>
            </a:r>
          </a:p>
        </p:txBody>
      </p:sp>
      <p:sp>
        <p:nvSpPr>
          <p:cNvPr id="22" name="TextBox 21"/>
          <p:cNvSpPr txBox="1"/>
          <p:nvPr/>
        </p:nvSpPr>
        <p:spPr>
          <a:xfrm>
            <a:off x="9674352" y="2880360"/>
            <a:ext cx="1993391" cy="7315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risk/ (VaR, exposure)</a:t>
            </a:r>
          </a:p>
        </p:txBody>
      </p:sp>
      <p:sp>
        <p:nvSpPr>
          <p:cNvPr id="23" name="Rounded Rectangle 22"/>
          <p:cNvSpPr/>
          <p:nvPr/>
        </p:nvSpPr>
        <p:spPr>
          <a:xfrm>
            <a:off x="7315200" y="3931920"/>
            <a:ext cx="4443984" cy="82296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xtBox 23"/>
          <p:cNvSpPr txBox="1"/>
          <p:nvPr/>
        </p:nvSpPr>
        <p:spPr>
          <a:xfrm>
            <a:off x="7406640" y="3977639"/>
            <a:ext cx="4261104"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S3 lake</a:t>
            </a:r>
          </a:p>
        </p:txBody>
      </p:sp>
      <p:sp>
        <p:nvSpPr>
          <p:cNvPr id="25" name="TextBox 24"/>
          <p:cNvSpPr txBox="1"/>
          <p:nvPr/>
        </p:nvSpPr>
        <p:spPr>
          <a:xfrm>
            <a:off x="7406640" y="4297680"/>
            <a:ext cx="4261104" cy="41148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every node can read every table</a:t>
            </a:r>
          </a:p>
        </p:txBody>
      </p:sp>
      <p:cxnSp>
        <p:nvCxnSpPr>
          <p:cNvPr id="26" name="Connector 25"/>
          <p:cNvCxnSpPr/>
          <p:nvPr/>
        </p:nvCxnSpPr>
        <p:spPr>
          <a:xfrm>
            <a:off x="9537192" y="3703320"/>
            <a:ext cx="0" cy="22860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Callout"/>
          <p:cNvSpPr/>
          <p:nvPr/>
        </p:nvSpPr>
        <p:spPr>
          <a:xfrm>
            <a:off x="411480" y="4892040"/>
            <a:ext cx="11365992" cy="141732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Callout edge"/>
          <p:cNvSpPr/>
          <p:nvPr/>
        </p:nvSpPr>
        <p:spPr>
          <a:xfrm>
            <a:off x="411480" y="4910327"/>
            <a:ext cx="82296" cy="138074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640080" y="4965192"/>
            <a:ext cx="11000232" cy="1271016"/>
          </a:xfrm>
          <a:prstGeom prst="rect">
            <a:avLst/>
          </a:prstGeom>
          <a:noFill/>
        </p:spPr>
        <p:txBody>
          <a:bodyPr wrap="square" lIns="0" rIns="0" tIns="0" bIns="0" anchor="ctr">
            <a:spAutoFit/>
          </a:bodyPr>
          <a:lstStyle/>
          <a:p>
            <a:pPr algn="l">
              <a:spcAft>
                <a:spcPts val="600"/>
              </a:spcAft>
              <a:buNone/>
            </a:pPr>
            <a:r>
              <a:rPr sz="1300" b="1" i="0">
                <a:solidFill>
                  <a:srgbClr val="1C2433"/>
                </a:solidFill>
                <a:latin typeface="Calibri"/>
              </a:rPr>
              <a:t>DESIGNED (SUPER_SCALE S5, S6):</a:t>
            </a:r>
          </a:p>
          <a:p>
            <a:pPr algn="l">
              <a:spcAft>
                <a:spcPts val="600"/>
              </a:spcAft>
              <a:buNone/>
            </a:pPr>
            <a:r>
              <a:rPr sz="1300" b="0" i="0">
                <a:solidFill>
                  <a:srgbClr val="1C2433"/>
                </a:solidFill>
                <a:latin typeface="Calibri"/>
              </a:rPr>
              <a:t>ownership of (table, day) slices of the documents' tables on the ring, so N servers on one table hold N × one server's working set. (The VaR date is already sharded by legal entity and desk, partial vectors added in shard order: built.)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numbers to watch: report.sh</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6 · operating it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81</a:t>
            </a:r>
          </a:p>
        </p:txBody>
      </p:sp>
      <p:sp>
        <p:nvSpPr>
          <p:cNvPr id="10" name="Code block"/>
          <p:cNvSpPr/>
          <p:nvPr/>
        </p:nvSpPr>
        <p:spPr>
          <a:xfrm>
            <a:off x="411480" y="1188720"/>
            <a:ext cx="11365992" cy="192024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521208" y="1252728"/>
            <a:ext cx="11146536" cy="1792224"/>
          </a:xfrm>
          <a:prstGeom prst="rect">
            <a:avLst/>
          </a:prstGeom>
          <a:noFill/>
        </p:spPr>
        <p:txBody>
          <a:bodyPr wrap="square" lIns="0" rIns="0" tIns="0" bIns="0" anchor="ctr">
            <a:spAutoFit/>
          </a:bodyPr>
          <a:lstStyle/>
          <a:p>
            <a:pPr>
              <a:spcAft>
                <a:spcPts val="0"/>
              </a:spcAft>
              <a:buNone/>
            </a:pPr>
            <a:r>
              <a:rPr sz="1200" b="0" i="0">
                <a:solidFill>
                  <a:srgbClr val="E6EDF3"/>
                </a:solidFill>
                <a:latin typeface="Consolas"/>
              </a:rPr>
              <a:t>bucket acme-drishti-prod-lake (CloudWatch daily storage metrics):</a:t>
            </a:r>
          </a:p>
          <a:p>
            <a:pPr>
              <a:spcAft>
                <a:spcPts val="0"/>
              </a:spcAft>
              <a:buNone/>
            </a:pPr>
            <a:r>
              <a:rPr sz="1200" b="0" i="0">
                <a:solidFill>
                  <a:srgbClr val="E6EDF3"/>
                </a:solidFill>
                <a:latin typeface="Consolas"/>
              </a:rPr>
              <a:t>  StandardStorage                         10412.3 GB</a:t>
            </a:r>
            <a:r>
              <a:rPr sz="1200" b="1" i="0">
                <a:solidFill>
                  <a:srgbClr val="E87A1E"/>
                </a:solidFill>
                <a:latin typeface="Consolas"/>
              </a:rPr>
              <a:t>¹</a:t>
            </a:r>
          </a:p>
          <a:p>
            <a:pPr>
              <a:spcAft>
                <a:spcPts val="0"/>
              </a:spcAft>
              <a:buNone/>
            </a:pPr>
            <a:r>
              <a:rPr sz="1200" b="0" i="0">
                <a:solidFill>
                  <a:srgbClr val="E6EDF3"/>
                </a:solidFill>
                <a:latin typeface="Consolas"/>
              </a:rPr>
              <a:t>  StandardIAStorage                       46120.8 GB</a:t>
            </a:r>
          </a:p>
          <a:p>
            <a:pPr>
              <a:spcAft>
                <a:spcPts val="0"/>
              </a:spcAft>
              <a:buNone/>
            </a:pPr>
            <a:r>
              <a:rPr sz="1200" b="0" i="0">
                <a:solidFill>
                  <a:srgbClr val="E6EDF3"/>
                </a:solidFill>
                <a:latin typeface="Consolas"/>
              </a:rPr>
              <a:t>  GlacierInstantRetrievalStorage         143998.1 GB</a:t>
            </a:r>
          </a:p>
          <a:p>
            <a:pPr>
              <a:spcAft>
                <a:spcPts val="0"/>
              </a:spcAft>
              <a:buNone/>
            </a:pPr>
            <a:r>
              <a:rPr sz="1200" b="0" i="0">
                <a:solidFill>
                  <a:srgbClr val="E6EDF3"/>
                </a:solidFill>
                <a:latin typeface="Consolas"/>
              </a:rPr>
              <a:t>  objects                          672310</a:t>
            </a:r>
          </a:p>
          <a:p>
            <a:pPr>
              <a:spcAft>
                <a:spcPts val="0"/>
              </a:spcAft>
              <a:buNone/>
            </a:pPr>
          </a:p>
          <a:p>
            <a:pPr>
              <a:spcAft>
                <a:spcPts val="0"/>
              </a:spcAft>
              <a:buNone/>
            </a:pPr>
            <a:r>
              <a:rPr sz="1200" b="0" i="0">
                <a:solidFill>
                  <a:srgbClr val="E6EDF3"/>
                </a:solidFill>
                <a:latin typeface="Consolas"/>
              </a:rPr>
              <a:t>table                        version  checkpoint  behind   dates       newest   files GB(newest)    &lt;32MB</a:t>
            </a:r>
          </a:p>
          <a:p>
            <a:pPr>
              <a:spcAft>
                <a:spcPts val="0"/>
              </a:spcAft>
              <a:buNone/>
            </a:pPr>
            <a:r>
              <a:rPr sz="1200" b="0" i="0">
                <a:solidFill>
                  <a:srgbClr val="E6EDF3"/>
                </a:solidFill>
                <a:latin typeface="Consolas"/>
              </a:rPr>
              <a:t>trading/trade_endur             4512        4510       2    1764   2026-10-20     128      41.37        0</a:t>
            </a:r>
          </a:p>
        </p:txBody>
      </p:sp>
      <p:sp>
        <p:nvSpPr>
          <p:cNvPr id="12" name="TextBox 11"/>
          <p:cNvSpPr txBox="1"/>
          <p:nvPr/>
        </p:nvSpPr>
        <p:spPr>
          <a:xfrm>
            <a:off x="411480" y="3383280"/>
            <a:ext cx="11365992" cy="2377440"/>
          </a:xfrm>
          <a:prstGeom prst="rect">
            <a:avLst/>
          </a:prstGeom>
          <a:noFill/>
        </p:spPr>
        <p:txBody>
          <a:bodyPr wrap="square" lIns="0" rIns="0" tIns="0" bIns="0" anchor="t">
            <a:spAutoFit/>
          </a:bodyPr>
          <a:lstStyle/>
          <a:p>
            <a:pPr algn="l" marL="201168" indent="-201168">
              <a:spcAft>
                <a:spcPts val="800"/>
              </a:spcAft>
              <a:buClr>
                <a:srgbClr val="E87A1E"/>
              </a:buClr>
              <a:buSzPct val="100000"/>
              <a:buFont typeface="Arial"/>
              <a:buChar char="•"/>
            </a:pPr>
            <a:r>
              <a:rPr sz="1300" b="0" i="0">
                <a:solidFill>
                  <a:srgbClr val="0E7C86"/>
                </a:solidFill>
                <a:latin typeface="Consolas"/>
              </a:rPr>
              <a:t>report.sh</a:t>
            </a:r>
            <a:r>
              <a:rPr sz="1400" b="0" i="0">
                <a:solidFill>
                  <a:srgbClr val="1C2433"/>
                </a:solidFill>
                <a:latin typeface="Calibri"/>
              </a:rPr>
              <a:t> is scheduled daily (</a:t>
            </a:r>
            <a:r>
              <a:rPr sz="1300" b="0" i="0">
                <a:solidFill>
                  <a:srgbClr val="0E7C86"/>
                </a:solidFill>
                <a:latin typeface="Consolas"/>
              </a:rPr>
              <a:t>REPORT_SCHEDULE</a:t>
            </a:r>
            <a:r>
              <a:rPr sz="1400" b="0" i="0">
                <a:solidFill>
                  <a:srgbClr val="1C2433"/>
                </a:solidFill>
                <a:latin typeface="Calibri"/>
              </a:rPr>
              <a:t>), prints these and sends them to CloudWatch; numbers illustrative for ≈ 200 TB</a:t>
            </a:r>
          </a:p>
          <a:p>
            <a:pPr algn="l" marL="201168" indent="-201168">
              <a:spcAft>
                <a:spcPts val="800"/>
              </a:spcAft>
              <a:buClr>
                <a:srgbClr val="E87A1E"/>
              </a:buClr>
              <a:buSzPct val="100000"/>
              <a:buFont typeface="Arial"/>
              <a:buChar char="•"/>
            </a:pPr>
            <a:r>
              <a:rPr sz="1400" b="1" i="0">
                <a:solidFill>
                  <a:srgbClr val="1C2433"/>
                </a:solidFill>
                <a:latin typeface="Calibri"/>
              </a:rPr>
              <a:t>behind</a:t>
            </a:r>
            <a:r>
              <a:rPr sz="1400" b="0" i="0">
                <a:solidFill>
                  <a:srgbClr val="1C2433"/>
                </a:solidFill>
                <a:latin typeface="Calibri"/>
              </a:rPr>
              <a:t> = commits since the last checkpoint: intraday risk tables add commits all day; checkpoints every 10 keep it short</a:t>
            </a:r>
          </a:p>
          <a:p>
            <a:pPr algn="l" marL="201168" indent="-201168">
              <a:spcAft>
                <a:spcPts val="800"/>
              </a:spcAft>
              <a:buClr>
                <a:srgbClr val="E87A1E"/>
              </a:buClr>
              <a:buSzPct val="100000"/>
              <a:buFont typeface="Arial"/>
              <a:buChar char="•"/>
            </a:pPr>
            <a:r>
              <a:rPr sz="1400" b="1" i="0">
                <a:solidFill>
                  <a:srgbClr val="1C2433"/>
                </a:solidFill>
                <a:latin typeface="Calibri"/>
              </a:rPr>
              <a:t>&lt;32MB</a:t>
            </a:r>
            <a:r>
              <a:rPr sz="1400" b="0" i="0">
                <a:solidFill>
                  <a:srgbClr val="1C2433"/>
                </a:solidFill>
                <a:latin typeface="Calibri"/>
              </a:rPr>
              <a:t> = small files of the newest day: should be 0 for the documents; intraday batches are small by nature (maintenance compacts them)</a:t>
            </a:r>
          </a:p>
        </p:txBody>
      </p:sp>
      <p:sp>
        <p:nvSpPr>
          <p:cNvPr id="13" name="Footnotes"/>
          <p:cNvSpPr txBox="1"/>
          <p:nvPr/>
        </p:nvSpPr>
        <p:spPr>
          <a:xfrm>
            <a:off x="411480" y="6377940"/>
            <a:ext cx="11365992" cy="169164"/>
          </a:xfrm>
          <a:prstGeom prst="rect">
            <a:avLst/>
          </a:prstGeom>
          <a:noFill/>
        </p:spPr>
        <p:txBody>
          <a:bodyPr wrap="square" lIns="0" rIns="0" tIns="0" bIns="0" anchor="t">
            <a:spAutoFit/>
          </a:bodyPr>
          <a:lstStyle/>
          <a:p>
            <a:pPr algn="l">
              <a:lnSpc>
                <a:spcPct val="100000"/>
              </a:lnSpc>
              <a:spcAft>
                <a:spcPts val="0"/>
              </a:spcAft>
              <a:buNone/>
            </a:pPr>
            <a:r>
              <a:rPr sz="900" b="0" i="0">
                <a:solidFill>
                  <a:srgbClr val="5B677A"/>
                </a:solidFill>
                <a:latin typeface="Calibri"/>
              </a:rPr>
              <a:t>¹ illustrative output for a lake of about 200 TB (AWS_DELTA_LAKE.md 11.3): 10.4 + 46.1 + 144.0 TB = 200.5 TB, the 10 / 46 / 144 TB tier split of 12.3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numbers to watch: healthy values and what to do</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6 · operating it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82</a:t>
            </a:r>
          </a:p>
        </p:txBody>
      </p:sp>
      <p:graphicFrame>
        <p:nvGraphicFramePr>
          <p:cNvPr id="10" name="Table"/>
          <p:cNvGraphicFramePr>
            <a:graphicFrameLocks noGrp="1"/>
          </p:cNvGraphicFramePr>
          <p:nvPr/>
        </p:nvGraphicFramePr>
        <p:xfrm>
          <a:off x="411480" y="1188720"/>
          <a:ext cx="11365992" cy="4937760"/>
        </p:xfrm>
        <a:graphic>
          <a:graphicData uri="http://schemas.openxmlformats.org/drawingml/2006/table">
            <a:tbl>
              <a:tblPr firstRow="0" bandRow="0">
                <a:tableStyleId>{5940675A-B579-460E-94D1-54222C63F5DA}</a:tableStyleId>
              </a:tblPr>
              <a:tblGrid>
                <a:gridCol w="3291840"/>
                <a:gridCol w="3108960"/>
                <a:gridCol w="4965192"/>
              </a:tblGrid>
              <a:tr h="548640">
                <a:tc>
                  <a:txBody>
                    <a:bodyPr wrap="square"/>
                    <a:lstStyle/>
                    <a:p>
                      <a:r>
                        <a:rPr sz="1200" b="1" i="0">
                          <a:solidFill>
                            <a:srgbClr val="FFFFFF"/>
                          </a:solidFill>
                          <a:latin typeface="Calibri"/>
                        </a:rPr>
                        <a:t>Number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Healthy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If not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48640">
                <a:tc>
                  <a:txBody>
                    <a:bodyPr wrap="square"/>
                    <a:lstStyle/>
                    <a:p>
                      <a:r>
                        <a:rPr sz="1200" b="1" i="0">
                          <a:solidFill>
                            <a:srgbClr val="1C2433"/>
                          </a:solidFill>
                          <a:latin typeface="Calibri"/>
                        </a:rPr>
                        <a:t>behind (commits since the checkpoint)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under 10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 checkpoint failed: run maintain.sh; alarm log-long above 50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files of the newest day, and &lt;32MB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 rows ÷ file-rows per partition; 0 small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tiny dumps or partitions too fine (slide 14)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200" b="1" i="0">
                          <a:solidFill>
                            <a:srgbClr val="1C2433"/>
                          </a:solidFill>
                          <a:latin typeface="Calibri"/>
                        </a:rPr>
                        <a:t>live files per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under ≈ 100,000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split the table (by source, or by year: S2, DESIGNED)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S3 5xx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rare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503 Slow Down on one prefix: spread with partitions; alarm lake-s3-5xx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200" b="1" i="0">
                          <a:solidFill>
                            <a:srgbClr val="1C2433"/>
                          </a:solidFill>
                          <a:latin typeface="Calibri"/>
                        </a:rPr>
                        <a:t>Admin → Health p50Ms, p99Ms, cold reads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p95 &lt; 300 ms newest days, &lt; 1 s any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footers and id maps not warm, or EFS latency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Admin → Caches: the one memory budget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under its cap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raise the heap (8 GB per million entities a day) or shard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200" b="1" i="0">
                          <a:solidFill>
                            <a:srgbClr val="1C2433"/>
                          </a:solidFill>
                          <a:latin typeface="Calibri"/>
                        </a:rPr>
                        <a:t>Admin → Health </a:t>
                      </a:r>
                      <a:r>
                        <a:rPr sz="1100" b="1" i="0">
                          <a:solidFill>
                            <a:srgbClr val="0E7C86"/>
                          </a:solidFill>
                          <a:latin typeface="Consolas"/>
                        </a:rPr>
                        <a:t>gossipPort</a:t>
                      </a:r>
                      <a:r>
                        <a:rPr sz="1200" b="1" i="0">
                          <a:solidFill>
                            <a:srgbClr val="1C2433"/>
                          </a:solidFill>
                          <a:latin typeface="Calibri"/>
                        </a:rPr>
                        <a:t>, </a:t>
                      </a:r>
                      <a:r>
                        <a:rPr sz="1100" b="1" i="0">
                          <a:solidFill>
                            <a:srgbClr val="0E7C86"/>
                          </a:solidFill>
                          <a:latin typeface="Consolas"/>
                        </a:rPr>
                        <a:t>peerProtocol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 port, </a:t>
                      </a:r>
                      <a:r>
                        <a:rPr sz="1100" b="0" i="0">
                          <a:solidFill>
                            <a:srgbClr val="0E7C86"/>
                          </a:solidFill>
                          <a:latin typeface="Consolas"/>
                        </a:rPr>
                        <a:t>http2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0: gossip on the server port (a firewall; slide 101)</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LoadSeconds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well inside the window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one loader task per table, or larger loader tasks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numbers to watch, for an Iceberg table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6 · operating it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83</a:t>
            </a:r>
          </a:p>
        </p:txBody>
      </p:sp>
      <p:sp>
        <p:nvSpPr>
          <p:cNvPr id="10" name="Rounded Rectangle 9"/>
          <p:cNvSpPr/>
          <p:nvPr/>
        </p:nvSpPr>
        <p:spPr>
          <a:xfrm>
            <a:off x="411480" y="1143000"/>
            <a:ext cx="11365992" cy="868680"/>
          </a:xfrm>
          <a:prstGeom prst="roundRect">
            <a:avLst>
              <a:gd name="adj" fmla="val 3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21208" y="1216152"/>
            <a:ext cx="11146536" cy="722375"/>
          </a:xfrm>
          <a:prstGeom prst="rect">
            <a:avLst/>
          </a:prstGeom>
          <a:noFill/>
        </p:spPr>
        <p:txBody>
          <a:bodyPr wrap="square" lIns="45720" rIns="45720" tIns="27432" bIns="27432" anchor="t">
            <a:spAutoFit/>
          </a:bodyPr>
          <a:lstStyle/>
          <a:p>
            <a:pPr algn="l">
              <a:lnSpc>
                <a:spcPct val="100000"/>
              </a:lnSpc>
            </a:pPr>
            <a:r>
              <a:rPr sz="1100" b="0" i="0">
                <a:solidFill>
                  <a:srgbClr val="E6EDF3"/>
                </a:solidFill>
                <a:latin typeface="Consolas"/>
              </a:rPr>
              <a:t>{"name": "trade-calypso", "health": "UP", "engine": "native",</a:t>
            </a:r>
          </a:p>
          <a:p>
            <a:pPr algn="l">
              <a:lnSpc>
                <a:spcPct val="100000"/>
              </a:lnSpc>
            </a:pPr>
            <a:r>
              <a:rPr sz="1100" b="0" i="0">
                <a:solidFill>
                  <a:srgbClr val="E6EDF3"/>
                </a:solidFill>
                <a:latin typeface="Consolas"/>
              </a:rPr>
              <a:t> "cache": {"tables": 1, "snapshots": 1, "idMaps": 2, "columnSets": 2, "documents": 2,</a:t>
            </a:r>
          </a:p>
          <a:p>
            <a:pPr algn="l">
              <a:lnSpc>
                <a:spcPct val="100000"/>
              </a:lnSpc>
            </a:pPr>
            <a:r>
              <a:rPr sz="1100" b="0" i="0">
                <a:solidFill>
                  <a:srgbClr val="E6EDF3"/>
                </a:solidFill>
                <a:latin typeface="Consolas"/>
              </a:rPr>
              <a:t>           "partitions": 0, "daysWithDeletes": 0, "ids": 10000}}</a:t>
            </a:r>
          </a:p>
        </p:txBody>
      </p:sp>
      <p:graphicFrame>
        <p:nvGraphicFramePr>
          <p:cNvPr id="12" name="Table 11"/>
          <p:cNvGraphicFramePr>
            <a:graphicFrameLocks noGrp="1"/>
          </p:cNvGraphicFramePr>
          <p:nvPr/>
        </p:nvGraphicFramePr>
        <p:xfrm>
          <a:off x="411480" y="2194560"/>
          <a:ext cx="11365992" cy="3686858"/>
        </p:xfrm>
        <a:graphic>
          <a:graphicData uri="http://schemas.openxmlformats.org/drawingml/2006/table">
            <a:tbl>
              <a:tblPr firstRow="1" bandRow="1">
                <a:tableStyleId>{5940675A-B579-460E-94D1-54222C63F5DA}</a:tableStyleId>
              </a:tblPr>
              <a:tblGrid>
                <a:gridCol w="3200400"/>
                <a:gridCol w="2103120"/>
                <a:gridCol w="4462272"/>
                <a:gridCol w="1600200"/>
              </a:tblGrid>
              <a:tr h="435254">
                <a:tc>
                  <a:txBody>
                    <a:bodyPr wrap="square"/>
                    <a:lstStyle/>
                    <a:p>
                      <a:pPr algn="l">
                        <a:lnSpc>
                          <a:spcPct val="100000"/>
                        </a:lnSpc>
                      </a:pPr>
                      <a:r>
                        <a:rPr sz="1200" b="1" i="0">
                          <a:solidFill>
                            <a:srgbClr val="FFFFFF"/>
                          </a:solidFill>
                          <a:latin typeface="Calibri"/>
                        </a:rPr>
                        <a:t>Number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Healthy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If not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Status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35254">
                <a:tc>
                  <a:txBody>
                    <a:bodyPr wrap="square"/>
                    <a:lstStyle/>
                    <a:p>
                      <a:pPr algn="l">
                        <a:lnSpc>
                          <a:spcPct val="100000"/>
                        </a:lnSpc>
                      </a:pPr>
                      <a:r>
                        <a:rPr sz="1100" b="1" i="0">
                          <a:solidFill>
                            <a:srgbClr val="0E7C86"/>
                          </a:solidFill>
                          <a:latin typeface="Consolas"/>
                        </a:rPr>
                        <a:t>daysWithDeletes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0 for Drishti's tables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single reads slow: </a:t>
                      </a:r>
                      <a:r>
                        <a:rPr sz="1100" b="0" i="0">
                          <a:solidFill>
                            <a:srgbClr val="0E7C86"/>
                          </a:solidFill>
                          <a:latin typeface="Consolas"/>
                        </a:rPr>
                        <a:t>IcebergMaintenance --relayout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8614">
                <a:tc>
                  <a:txBody>
                    <a:bodyPr wrap="square"/>
                    <a:lstStyle/>
                    <a:p>
                      <a:pPr algn="l">
                        <a:lnSpc>
                          <a:spcPct val="100000"/>
                        </a:lnSpc>
                      </a:pPr>
                      <a:r>
                        <a:rPr sz="1200" b="1" i="0">
                          <a:solidFill>
                            <a:srgbClr val="1C2433"/>
                          </a:solidFill>
                          <a:latin typeface="Calibri"/>
                        </a:rPr>
                        <a:t>Health: </a:t>
                      </a:r>
                      <a:r>
                        <a:rPr sz="1100" b="1" i="0">
                          <a:solidFill>
                            <a:srgbClr val="0E7C86"/>
                          </a:solidFill>
                          <a:latin typeface="Consolas"/>
                        </a:rPr>
                        <a:t>not laid out as the pack declares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absent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00" b="0" i="0">
                          <a:solidFill>
                            <a:srgbClr val="0E7C86"/>
                          </a:solidFill>
                          <a:latin typeface="Consolas"/>
                        </a:rPr>
                        <a:t>--columns trade:path,…</a:t>
                      </a:r>
                      <a:r>
                        <a:rPr sz="1200" b="0" i="0">
                          <a:solidFill>
                            <a:srgbClr val="1C2433"/>
                          </a:solidFill>
                          <a:latin typeface="Calibri"/>
                        </a:rPr>
                        <a:t> or reload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48614">
                <a:tc>
                  <a:txBody>
                    <a:bodyPr wrap="square"/>
                    <a:lstStyle/>
                    <a:p>
                      <a:pPr algn="l">
                        <a:lnSpc>
                          <a:spcPct val="100000"/>
                        </a:lnSpc>
                      </a:pPr>
                      <a:r>
                        <a:rPr sz="1100" b="1" i="0">
                          <a:solidFill>
                            <a:srgbClr val="0E7C86"/>
                          </a:solidFill>
                          <a:latin typeface="Consolas"/>
                        </a:rPr>
                        <a:t>DEGRADED: … names files that are not there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absent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 moved table: set the </a:t>
                      </a:r>
                      <a:r>
                        <a:rPr sz="1100" b="0" i="0">
                          <a:solidFill>
                            <a:srgbClr val="0E7C86"/>
                          </a:solidFill>
                          <a:latin typeface="Consolas"/>
                        </a:rPr>
                        <a:t>relocate</a:t>
                      </a:r>
                      <a:r>
                        <a:rPr sz="1200" b="0" i="0">
                          <a:solidFill>
                            <a:srgbClr val="1C2433"/>
                          </a:solidFill>
                          <a:latin typeface="Calibri"/>
                        </a:rPr>
                        <a:t> pair Health gives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8614">
                <a:tc>
                  <a:txBody>
                    <a:bodyPr wrap="square"/>
                    <a:lstStyle/>
                    <a:p>
                      <a:pPr algn="l">
                        <a:lnSpc>
                          <a:spcPct val="100000"/>
                        </a:lnSpc>
                      </a:pPr>
                      <a:r>
                        <a:rPr sz="1200" b="1" i="0">
                          <a:solidFill>
                            <a:srgbClr val="1C2433"/>
                          </a:solidFill>
                          <a:latin typeface="Calibri"/>
                        </a:rPr>
                        <a:t>snapshots kept (</a:t>
                      </a:r>
                      <a:r>
                        <a:rPr sz="1100" b="1" i="0">
                          <a:solidFill>
                            <a:srgbClr val="0E7C86"/>
                          </a:solidFill>
                          <a:latin typeface="Consolas"/>
                        </a:rPr>
                        <a:t>IcebergSnapshots</a:t>
                      </a:r>
                      <a:r>
                        <a:rPr sz="1200" b="1" i="0">
                          <a:solidFill>
                            <a:srgbClr val="1C2433"/>
                          </a:solidFill>
                          <a:latin typeface="Calibri"/>
                        </a:rPr>
                        <a:t>, alarm at 500)</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bounded by </a:t>
                      </a:r>
                      <a:r>
                        <a:rPr sz="1100" b="0" i="0">
                          <a:solidFill>
                            <a:srgbClr val="0E7C86"/>
                          </a:solidFill>
                          <a:latin typeface="Consolas"/>
                        </a:rPr>
                        <a:t>--expire-hours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commits and refreshes slow: expire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live manifests per table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 few dozen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planning slow: </a:t>
                      </a:r>
                      <a:r>
                        <a:rPr sz="1100" b="0" i="0">
                          <a:solidFill>
                            <a:srgbClr val="0E7C86"/>
                          </a:solidFill>
                          <a:latin typeface="Consolas"/>
                        </a:rPr>
                        <a:t>--rewrite-manifests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5B677A"/>
                          </a:solidFill>
                          <a:latin typeface="Calibri"/>
                        </a:rPr>
                        <a:t>PROPOSED</a:t>
                      </a:r>
                      <a:r>
                        <a:rPr sz="1200" b="0" i="0">
                          <a:solidFill>
                            <a:srgbClr val="1C2433"/>
                          </a:solidFill>
                          <a:latin typeface="Calibri"/>
                        </a:rPr>
                        <a:t> metric</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single-writer warning in the 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absent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store ignores </a:t>
                      </a:r>
                      <a:r>
                        <a:rPr sz="1100" b="0" i="0">
                          <a:solidFill>
                            <a:srgbClr val="0E7C86"/>
                          </a:solidFill>
                          <a:latin typeface="Consolas"/>
                        </a:rPr>
                        <a:t>If-None-Match</a:t>
                      </a:r>
                      <a:r>
                        <a:rPr sz="1200" b="0" i="0">
                          <a:solidFill>
                            <a:srgbClr val="1C2433"/>
                          </a:solidFill>
                          <a:latin typeface="Calibri"/>
                        </a:rPr>
                        <a:t>: one writer per table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What 200 TB is (seven years of Parquet)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6 · operating it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84</a:t>
            </a:r>
          </a:p>
        </p:txBody>
      </p:sp>
      <p:graphicFrame>
        <p:nvGraphicFramePr>
          <p:cNvPr id="10" name="Table"/>
          <p:cNvGraphicFramePr>
            <a:graphicFrameLocks noGrp="1"/>
          </p:cNvGraphicFramePr>
          <p:nvPr/>
        </p:nvGraphicFramePr>
        <p:xfrm>
          <a:off x="411480" y="1188720"/>
          <a:ext cx="11365992" cy="4114800"/>
        </p:xfrm>
        <a:graphic>
          <a:graphicData uri="http://schemas.openxmlformats.org/drawingml/2006/table">
            <a:tbl>
              <a:tblPr firstRow="0" bandRow="0">
                <a:tableStyleId>{5940675A-B579-460E-94D1-54222C63F5DA}</a:tableStyleId>
              </a:tblPr>
              <a:tblGrid>
                <a:gridCol w="2926080"/>
                <a:gridCol w="8439912"/>
              </a:tblGrid>
              <a:tr h="685800">
                <a:tc>
                  <a:txBody>
                    <a:bodyPr wrap="square"/>
                    <a:lstStyle/>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300" b="1" i="0">
                          <a:solidFill>
                            <a:srgbClr val="FFFFFF"/>
                          </a:solidFill>
                          <a:latin typeface="Calibri"/>
                        </a:rPr>
                        <a:t>Value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685800">
                <a:tc>
                  <a:txBody>
                    <a:bodyPr wrap="square"/>
                    <a:lstStyle/>
                    <a:p>
                      <a:r>
                        <a:rPr sz="1300" b="1" i="0">
                          <a:solidFill>
                            <a:srgbClr val="1C2433"/>
                          </a:solidFill>
                          <a:latin typeface="Calibri"/>
                        </a:rPr>
                        <a:t>Per business day (252 a year)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about 113 GB</a:t>
                      </a:r>
                      <a:r>
                        <a:rPr sz="1300" b="1" i="0">
                          <a:solidFill>
                            <a:srgbClr val="E87A1E"/>
                          </a:solidFill>
                          <a:latin typeface="Calibri"/>
                        </a:rPr>
                        <a:t>¹</a:t>
                      </a:r>
                      <a:r>
                        <a:rPr sz="1300" b="0" i="0">
                          <a:solidFill>
                            <a:srgbClr val="1C2433"/>
                          </a:solidFill>
                          <a:latin typeface="Calibri"/>
                        </a:rPr>
                        <a:t> of Parquet; about 100 million documents at about 1.1 KB each compressed (Snappy)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85800">
                <a:tc>
                  <a:txBody>
                    <a:bodyPr wrap="square"/>
                    <a:lstStyle/>
                    <a:p>
                      <a:r>
                        <a:rPr sz="1300" b="1" i="0">
                          <a:solidFill>
                            <a:srgbClr val="1C2433"/>
                          </a:solidFill>
                          <a:latin typeface="Calibri"/>
                        </a:rPr>
                        <a:t>Files per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300" b="0" i="0">
                          <a:solidFill>
                            <a:srgbClr val="1C2433"/>
                          </a:solidFill>
                          <a:latin typeface="Calibri"/>
                        </a:rPr>
                        <a:t>about 350 (330 MB each, 250,000 rows) over all tables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85800">
                <a:tc>
                  <a:txBody>
                    <a:bodyPr wrap="square"/>
                    <a:lstStyle/>
                    <a:p>
                      <a:r>
                        <a:rPr sz="1300" b="1" i="0">
                          <a:solidFill>
                            <a:srgbClr val="1C2433"/>
                          </a:solidFill>
                          <a:latin typeface="Calibri"/>
                        </a:rPr>
                        <a:t>Live files after seven years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about 620,000</a:t>
                      </a:r>
                      <a:r>
                        <a:rPr sz="1300" b="1" i="0">
                          <a:solidFill>
                            <a:srgbClr val="E87A1E"/>
                          </a:solidFill>
                          <a:latin typeface="Calibri"/>
                        </a:rPr>
                        <a:t>²</a:t>
                      </a:r>
                      <a:r>
                        <a:rPr sz="1300" b="0" i="0">
                          <a:solidFill>
                            <a:srgbClr val="1C2433"/>
                          </a:solidFill>
                          <a:latin typeface="Calibri"/>
                        </a:rPr>
                        <a:t> over all tables; three trade tables ≈ 200,000 each: above 100,000, so tables by year (S2) or more tables matter before year seven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85800">
                <a:tc>
                  <a:txBody>
                    <a:bodyPr wrap="square"/>
                    <a:lstStyle/>
                    <a:p>
                      <a:r>
                        <a:rPr sz="1300" b="1" i="0">
                          <a:solidFill>
                            <a:srgbClr val="1C2433"/>
                          </a:solidFill>
                          <a:latin typeface="Calibri"/>
                        </a:rPr>
                        <a:t>Commits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300" b="0" i="0">
                          <a:solidFill>
                            <a:srgbClr val="1C2433"/>
                          </a:solidFill>
                          <a:latin typeface="Calibri"/>
                        </a:rPr>
                        <a:t>one per table per day, plus maintenance: about 1,500 a year per table</a:t>
                      </a:r>
                      <a:r>
                        <a:rPr sz="1300" b="1" i="0">
                          <a:solidFill>
                            <a:srgbClr val="E87A1E"/>
                          </a:solidFill>
                          <a:latin typeface="Calibri"/>
                        </a:rPr>
                        <a:t>³</a:t>
                      </a:r>
                      <a:r>
                        <a:rPr sz="1300" b="0" i="0">
                          <a:solidFill>
                            <a:srgbClr val="1C2433"/>
                          </a:solidFill>
                          <a:latin typeface="Calibri"/>
                        </a:rPr>
                        <a:t> (intraday risk tables more)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85800">
                <a:tc>
                  <a:txBody>
                    <a:bodyPr wrap="square"/>
                    <a:lstStyle/>
                    <a:p>
                      <a:r>
                        <a:rPr sz="1300" b="1" i="0">
                          <a:solidFill>
                            <a:srgbClr val="1C2433"/>
                          </a:solidFill>
                          <a:latin typeface="Calibri"/>
                        </a:rPr>
                        <a:t>The risk lake at 2.3M positions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 7 GB of VaR vectors (Parquet) a date, ≈ 12.4 TB over 7 years (slide 60)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1" name="Status ESTIMATED"/>
          <p:cNvSpPr/>
          <p:nvPr/>
        </p:nvSpPr>
        <p:spPr>
          <a:xfrm>
            <a:off x="411480" y="5852160"/>
            <a:ext cx="1051560" cy="237744"/>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5B677A"/>
                </a:solidFill>
                <a:latin typeface="Calibri"/>
              </a:rPr>
              <a:t>ESTIMATED</a:t>
            </a:r>
          </a:p>
        </p:txBody>
      </p:sp>
      <p:sp>
        <p:nvSpPr>
          <p:cNvPr id="12" name="TextBox 11"/>
          <p:cNvSpPr txBox="1"/>
          <p:nvPr/>
        </p:nvSpPr>
        <p:spPr>
          <a:xfrm>
            <a:off x="1600200" y="5833872"/>
            <a:ext cx="10058400" cy="320040"/>
          </a:xfrm>
          <a:prstGeom prst="rect">
            <a:avLst/>
          </a:prstGeom>
          <a:noFill/>
        </p:spPr>
        <p:txBody>
          <a:bodyPr wrap="square" lIns="0" rIns="0" tIns="0" bIns="0" anchor="t">
            <a:spAutoFit/>
          </a:bodyPr>
          <a:lstStyle/>
          <a:p>
            <a:pPr algn="l">
              <a:spcAft>
                <a:spcPts val="600"/>
              </a:spcAft>
              <a:buNone/>
            </a:pPr>
            <a:r>
              <a:rPr sz="1200" b="0" i="0">
                <a:solidFill>
                  <a:srgbClr val="5B677A"/>
                </a:solidFill>
                <a:latin typeface="Calibri"/>
              </a:rPr>
              <a:t>Estimates, to be replaced by the measurements of SUPER_SCALE step S8.</a:t>
            </a:r>
          </a:p>
        </p:txBody>
      </p:sp>
      <p:sp>
        <p:nvSpPr>
          <p:cNvPr id="13" name="Footnotes"/>
          <p:cNvSpPr txBox="1"/>
          <p:nvPr/>
        </p:nvSpPr>
        <p:spPr>
          <a:xfrm>
            <a:off x="411480" y="6236208"/>
            <a:ext cx="11365992" cy="310896"/>
          </a:xfrm>
          <a:prstGeom prst="rect">
            <a:avLst/>
          </a:prstGeom>
          <a:noFill/>
        </p:spPr>
        <p:txBody>
          <a:bodyPr wrap="square" lIns="0" rIns="0" tIns="0" bIns="0" anchor="t">
            <a:spAutoFit/>
          </a:bodyPr>
          <a:lstStyle/>
          <a:p>
            <a:pPr algn="l">
              <a:lnSpc>
                <a:spcPct val="100000"/>
              </a:lnSpc>
              <a:spcAft>
                <a:spcPts val="0"/>
              </a:spcAft>
              <a:buNone/>
            </a:pPr>
            <a:r>
              <a:rPr sz="900" b="0" i="0">
                <a:solidFill>
                  <a:srgbClr val="5B677A"/>
                </a:solidFill>
                <a:latin typeface="Calibri"/>
              </a:rPr>
              <a:t>¹ 100 million documents × 1.1 KB (Snappy) = 110 GB, rounded up in AWS_DELTA_LAKE.md 12.1; 113 GB × 252 × 7 = 199 TB   ² 350 files a day × 1,764 dates = 617,400; 350 × 330 MB = 115.5 GB a day   ³ the doc's estimate: 252 load commits plus nightly maintenance commits; not broken down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deployment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6 · operating it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85</a:t>
            </a:r>
          </a:p>
        </p:txBody>
      </p:sp>
      <p:graphicFrame>
        <p:nvGraphicFramePr>
          <p:cNvPr id="10" name="Table"/>
          <p:cNvGraphicFramePr>
            <a:graphicFrameLocks noGrp="1"/>
          </p:cNvGraphicFramePr>
          <p:nvPr/>
        </p:nvGraphicFramePr>
        <p:xfrm>
          <a:off x="411480" y="1188720"/>
          <a:ext cx="11365992" cy="4389120"/>
        </p:xfrm>
        <a:graphic>
          <a:graphicData uri="http://schemas.openxmlformats.org/drawingml/2006/table">
            <a:tbl>
              <a:tblPr firstRow="0" bandRow="0">
                <a:tableStyleId>{5940675A-B579-460E-94D1-54222C63F5DA}</a:tableStyleId>
              </a:tblPr>
              <a:tblGrid>
                <a:gridCol w="2560320"/>
                <a:gridCol w="6583680"/>
                <a:gridCol w="2221992"/>
              </a:tblGrid>
              <a:tr h="731520">
                <a:tc>
                  <a:txBody>
                    <a:bodyPr wrap="square"/>
                    <a:lstStyle/>
                    <a:p>
                      <a:r>
                        <a:rPr sz="1300" b="1" i="0">
                          <a:solidFill>
                            <a:srgbClr val="FFFFFF"/>
                          </a:solidFill>
                          <a:latin typeface="Calibri"/>
                        </a:rPr>
                        <a:t>Part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300" b="1" i="0">
                          <a:solidFill>
                            <a:srgbClr val="FFFFFF"/>
                          </a:solidFill>
                          <a:latin typeface="Calibri"/>
                        </a:rPr>
                        <a:t>Size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300" b="1" i="0">
                          <a:solidFill>
                            <a:srgbClr val="FFFFFF"/>
                          </a:solidFill>
                          <a:latin typeface="Calibri"/>
                        </a:rPr>
                        <a:t>Count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731520">
                <a:tc>
                  <a:txBody>
                    <a:bodyPr wrap="square"/>
                    <a:lstStyle/>
                    <a:p>
                      <a:r>
                        <a:rPr sz="1300" b="1" i="0">
                          <a:solidFill>
                            <a:srgbClr val="1C2433"/>
                          </a:solidFill>
                          <a:latin typeface="Calibri"/>
                        </a:rPr>
                        <a:t>Server tasks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4 vCPU and 12 GB for the server (8 GB heap) in a 6 vCPU, 16 GB task with its console; 16 vCPU, 64 GB at SUPER_SCALE volumes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3 to 6, sharded by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731520">
                <a:tc>
                  <a:txBody>
                    <a:bodyPr wrap="square"/>
                    <a:lstStyle/>
                    <a:p>
                      <a:r>
                        <a:rPr sz="1300" b="1" i="0">
                          <a:solidFill>
                            <a:srgbClr val="1C2433"/>
                          </a:solidFill>
                          <a:latin typeface="Calibri"/>
                        </a:rPr>
                        <a:t>Loader task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300" b="0" i="0">
                          <a:solidFill>
                            <a:srgbClr val="1C2433"/>
                          </a:solidFill>
                          <a:latin typeface="Calibri"/>
                        </a:rPr>
                        <a:t>4 vCPU, 30 GB, 21 GB ephemeral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300" b="0" i="0">
                          <a:solidFill>
                            <a:srgbClr val="1C2433"/>
                          </a:solidFill>
                          <a:latin typeface="Calibri"/>
                        </a:rPr>
                        <a:t>one per table at load time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731520">
                <a:tc>
                  <a:txBody>
                    <a:bodyPr wrap="square"/>
                    <a:lstStyle/>
                    <a:p>
                      <a:r>
                        <a:rPr sz="1300" b="1" i="0">
                          <a:solidFill>
                            <a:srgbClr val="1C2433"/>
                          </a:solidFill>
                          <a:latin typeface="Calibri"/>
                        </a:rPr>
                        <a:t>Maintenance and report tasks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the same image and size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nightly, minutes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731520">
                <a:tc>
                  <a:txBody>
                    <a:bodyPr wrap="square"/>
                    <a:lstStyle/>
                    <a:p>
                      <a:r>
                        <a:rPr sz="1300" b="1" i="0">
                          <a:solidFill>
                            <a:srgbClr val="1C2433"/>
                          </a:solidFill>
                          <a:latin typeface="Calibri"/>
                        </a:rPr>
                        <a:t>EFS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300" b="0" i="0">
                          <a:solidFill>
                            <a:srgbClr val="1C2433"/>
                          </a:solidFill>
                          <a:latin typeface="Calibri"/>
                        </a:rPr>
                        <a:t>each node's state and caches: 50–300 GB; loader scratch: one day of one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300" b="0" i="0">
                          <a:solidFill>
                            <a:srgbClr val="1C2433"/>
                          </a:solidFill>
                          <a:latin typeface="Calibri"/>
                        </a:rPr>
                        <a:t>one file system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731520">
                <a:tc>
                  <a:txBody>
                    <a:bodyPr wrap="square"/>
                    <a:lstStyle/>
                    <a:p>
                      <a:r>
                        <a:rPr sz="1300" b="1" i="0">
                          <a:solidFill>
                            <a:srgbClr val="1C2433"/>
                          </a:solidFill>
                          <a:latin typeface="Calibri"/>
                        </a:rPr>
                        <a:t>A node reading the risk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heap ≈ 1.8 GB per open VaR date</a:t>
                      </a:r>
                      <a:r>
                        <a:rPr sz="1300" b="1" i="0">
                          <a:solidFill>
                            <a:srgbClr val="E87A1E"/>
                          </a:solidFill>
                          <a:latin typeface="Calibri"/>
                        </a:rPr>
                        <a:t>¹</a:t>
                      </a:r>
                      <a:r>
                        <a:rPr sz="1300" b="0" i="0">
                          <a:solidFill>
                            <a:srgbClr val="1C2433"/>
                          </a:solidFill>
                          <a:latin typeface="Calibri"/>
                        </a:rPr>
                        <a:t> at 2.3M; hot files ≈ 5.5 GB a date on local NVMe (EC2)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 1; whole dates each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1" name="Footnotes"/>
          <p:cNvSpPr txBox="1"/>
          <p:nvPr/>
        </p:nvSpPr>
        <p:spPr>
          <a:xfrm>
            <a:off x="411480" y="6377940"/>
            <a:ext cx="11365992" cy="169164"/>
          </a:xfrm>
          <a:prstGeom prst="rect">
            <a:avLst/>
          </a:prstGeom>
          <a:noFill/>
        </p:spPr>
        <p:txBody>
          <a:bodyPr wrap="square" lIns="0" rIns="0" tIns="0" bIns="0" anchor="t">
            <a:spAutoFit/>
          </a:bodyPr>
          <a:lstStyle/>
          <a:p>
            <a:pPr algn="l">
              <a:lnSpc>
                <a:spcPct val="100000"/>
              </a:lnSpc>
              <a:spcAft>
                <a:spcPts val="0"/>
              </a:spcAft>
              <a:buNone/>
            </a:pPr>
            <a:r>
              <a:rPr sz="900" b="0" i="0">
                <a:solidFill>
                  <a:srgbClr val="5B677A"/>
                </a:solidFill>
                <a:latin typeface="Calibri"/>
              </a:rPr>
              <a:t>¹ 80 MB × 23 and 237.7 MB × 23, from the measured 100,000-trade VarTierBenchmark</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Monthly cost: Delta, and what changes with Iceberg</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6 · operating it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86</a:t>
            </a:r>
          </a:p>
        </p:txBody>
      </p:sp>
      <p:graphicFrame>
        <p:nvGraphicFramePr>
          <p:cNvPr id="10" name="Table"/>
          <p:cNvGraphicFramePr>
            <a:graphicFrameLocks noGrp="1"/>
          </p:cNvGraphicFramePr>
          <p:nvPr/>
        </p:nvGraphicFramePr>
        <p:xfrm>
          <a:off x="411480" y="1097280"/>
          <a:ext cx="11365992" cy="4224528"/>
        </p:xfrm>
        <a:graphic>
          <a:graphicData uri="http://schemas.openxmlformats.org/drawingml/2006/table">
            <a:tbl>
              <a:tblPr firstRow="0" bandRow="0">
                <a:tableStyleId>{5940675A-B579-460E-94D1-54222C63F5DA}</a:tableStyleId>
              </a:tblPr>
              <a:tblGrid>
                <a:gridCol w="2834640"/>
                <a:gridCol w="3931920"/>
                <a:gridCol w="1737360"/>
                <a:gridCol w="2862072"/>
              </a:tblGrid>
              <a:tr h="384048">
                <a:tc>
                  <a:txBody>
                    <a:bodyPr wrap="square"/>
                    <a:lstStyle/>
                    <a:p>
                      <a:r>
                        <a:rPr sz="1100" b="1" i="0">
                          <a:solidFill>
                            <a:srgbClr val="FFFFFF"/>
                          </a:solidFill>
                          <a:latin typeface="Calibri"/>
                        </a:rPr>
                        <a:t>Item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Basis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About (Delta)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With 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384048">
                <a:tc>
                  <a:txBody>
                    <a:bodyPr wrap="square"/>
                    <a:lstStyle/>
                    <a:p>
                      <a:r>
                        <a:rPr sz="1100" b="1" i="0">
                          <a:solidFill>
                            <a:srgbClr val="1C2433"/>
                          </a:solidFill>
                          <a:latin typeface="Calibri"/>
                        </a:rPr>
                        <a:t>S3 storage, 200 TB tiered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10 TB Standard (USD 23/TB), 46 TB Standard-IA (12.5), 144 TB Glacier IR (4)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USD 1,400</a:t>
                      </a:r>
                      <a:r>
                        <a:rPr sz="1100" b="1" i="0">
                          <a:solidFill>
                            <a:srgbClr val="E87A1E"/>
                          </a:solidFill>
                          <a:latin typeface="Calibri"/>
                        </a:rPr>
                        <a:t>¹</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same tiers; zstd may store less (not measured side by side)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100" b="1" i="0">
                          <a:solidFill>
                            <a:srgbClr val="1C2433"/>
                          </a:solidFill>
                          <a:latin typeface="Calibri"/>
                        </a:rPr>
                        <a:t>S3 storage if all were Standard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200 TB × 23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USD 4,600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same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84048">
                <a:tc>
                  <a:txBody>
                    <a:bodyPr wrap="square"/>
                    <a:lstStyle/>
                    <a:p>
                      <a:r>
                        <a:rPr sz="1100" b="1" i="0">
                          <a:solidFill>
                            <a:srgbClr val="1C2433"/>
                          </a:solidFill>
                          <a:latin typeface="Calibri"/>
                        </a:rPr>
                        <a:t>S3 requests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250 reads a second, two GETs each, USD 0.40 per million; loads and lists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USD 500–700</a:t>
                      </a:r>
                      <a:r>
                        <a:rPr sz="1100" b="1" i="0">
                          <a:solidFill>
                            <a:srgbClr val="E87A1E"/>
                          </a:solidFill>
                          <a:latin typeface="Calibri"/>
                        </a:rPr>
                        <a:t>²</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about the same; a few more small objects per commit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100" b="1" i="0">
                          <a:solidFill>
                            <a:srgbClr val="1C2433"/>
                          </a:solidFill>
                          <a:latin typeface="Calibri"/>
                        </a:rPr>
                        <a:t>Retrievals from IA and Glacier IR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month-ends, audits, history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tens to a few hundred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same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84048">
                <a:tc>
                  <a:txBody>
                    <a:bodyPr wrap="square"/>
                    <a:lstStyle/>
                    <a:p>
                      <a:r>
                        <a:rPr sz="1100" b="1" i="0">
                          <a:solidFill>
                            <a:srgbClr val="1C2433"/>
                          </a:solidFill>
                          <a:latin typeface="Calibri"/>
                        </a:rPr>
                        <a:t>Versioning overhead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14 days of replaced and vacuumed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 few % of storage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same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100" b="1" i="0">
                          <a:solidFill>
                            <a:srgbClr val="1C2433"/>
                          </a:solidFill>
                          <a:latin typeface="Calibri"/>
                        </a:rPr>
                        <a:t>Catalog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none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none (path-based); Glue or S3 Tables: their charges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84048">
                <a:tc>
                  <a:txBody>
                    <a:bodyPr wrap="square"/>
                    <a:lstStyle/>
                    <a:p>
                      <a:r>
                        <a:rPr sz="1100" b="1" i="0">
                          <a:solidFill>
                            <a:srgbClr val="1C2433"/>
                          </a:solidFill>
                          <a:latin typeface="Calibri"/>
                        </a:rPr>
                        <a:t>Server nodes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3 tasks of 6 vCPU, 16 GB on Fargate, always 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USD 650–750</a:t>
                      </a:r>
                      <a:r>
                        <a:rPr sz="1100" b="1" i="0">
                          <a:solidFill>
                            <a:srgbClr val="E87A1E"/>
                          </a:solidFill>
                          <a:latin typeface="Calibri"/>
                        </a:rPr>
                        <a:t>³</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same tasks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100" b="1" i="0">
                          <a:solidFill>
                            <a:srgbClr val="1C2433"/>
                          </a:solidFill>
                          <a:latin typeface="Calibri"/>
                        </a:rPr>
                        <a:t>Loader, maintenance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about an hour a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USD 50–150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fewer steps; managed optimizers charged apart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84048">
                <a:tc>
                  <a:txBody>
                    <a:bodyPr wrap="square"/>
                    <a:lstStyle/>
                    <a:p>
                      <a:r>
                        <a:rPr sz="1100" b="1" i="0">
                          <a:solidFill>
                            <a:srgbClr val="1C2433"/>
                          </a:solidFill>
                          <a:latin typeface="Calibri"/>
                        </a:rPr>
                        <a:t>EFS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1 TB Standard, Elastic throughput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USD 300 + throughput</a:t>
                      </a:r>
                      <a:r>
                        <a:rPr sz="1100" b="1" i="0">
                          <a:solidFill>
                            <a:srgbClr val="E87A1E"/>
                          </a:solidFill>
                          <a:latin typeface="Calibri"/>
                        </a:rPr>
                        <a:t>⁴</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same (the same disk caches)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100" b="1" i="0">
                          <a:solidFill>
                            <a:srgbClr val="1C2433"/>
                          </a:solidFill>
                          <a:latin typeface="Calibri"/>
                        </a:rPr>
                        <a:t>CloudWatch, Secrets Manager, Cloud Map, endpoints, load balancer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USD 200–400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 a Glue interface endpoint if Glue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1" name="Callout"/>
          <p:cNvSpPr/>
          <p:nvPr/>
        </p:nvSpPr>
        <p:spPr>
          <a:xfrm>
            <a:off x="411480" y="5532120"/>
            <a:ext cx="11365992" cy="59436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allout edge"/>
          <p:cNvSpPr/>
          <p:nvPr/>
        </p:nvSpPr>
        <p:spPr>
          <a:xfrm>
            <a:off x="411480" y="5550407"/>
            <a:ext cx="82296" cy="55778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0080" y="5605272"/>
            <a:ext cx="11000232" cy="448056"/>
          </a:xfrm>
          <a:prstGeom prst="rect">
            <a:avLst/>
          </a:prstGeom>
          <a:noFill/>
        </p:spPr>
        <p:txBody>
          <a:bodyPr wrap="square" lIns="0" rIns="0" tIns="0" bIns="0" anchor="ctr">
            <a:spAutoFit/>
          </a:bodyPr>
          <a:lstStyle/>
          <a:p>
            <a:pPr algn="l">
              <a:spcAft>
                <a:spcPts val="600"/>
              </a:spcAft>
              <a:buNone/>
            </a:pPr>
            <a:r>
              <a:rPr sz="1150" b="0" i="0">
                <a:solidFill>
                  <a:srgbClr val="1C2433"/>
                </a:solidFill>
                <a:latin typeface="Calibri"/>
              </a:rPr>
              <a:t>The same 200 TB on EFS: USD 60,000 a month</a:t>
            </a:r>
            <a:r>
              <a:rPr sz="1150" b="1" i="0">
                <a:solidFill>
                  <a:srgbClr val="E87A1E"/>
                </a:solidFill>
                <a:latin typeface="Calibri"/>
              </a:rPr>
              <a:t>⁵</a:t>
            </a:r>
            <a:r>
              <a:rPr sz="1150" b="0" i="0">
                <a:solidFill>
                  <a:srgbClr val="1C2433"/>
                </a:solidFill>
                <a:latin typeface="Calibri"/>
              </a:rPr>
              <a:t> in Standard; about USD 3,200 in IA plus USD 0.03 per GB read. </a:t>
            </a:r>
            <a:r>
              <a:rPr sz="1150" b="1" i="0">
                <a:solidFill>
                  <a:srgbClr val="1C2433"/>
                </a:solidFill>
                <a:latin typeface="Calibri"/>
              </a:rPr>
              <a:t>Either format, the same order of magnitude:</a:t>
            </a:r>
            <a:r>
              <a:rPr sz="1150" b="0" i="0">
                <a:solidFill>
                  <a:srgbClr val="1C2433"/>
                </a:solidFill>
                <a:latin typeface="Calibri"/>
              </a:rPr>
              <a:t> storage dominates; the choice is about capability and operations, not cost.</a:t>
            </a:r>
          </a:p>
        </p:txBody>
      </p:sp>
      <p:sp>
        <p:nvSpPr>
          <p:cNvPr id="14" name="Footnotes"/>
          <p:cNvSpPr txBox="1"/>
          <p:nvPr/>
        </p:nvSpPr>
        <p:spPr>
          <a:xfrm>
            <a:off x="411480" y="6236208"/>
            <a:ext cx="11365992" cy="310896"/>
          </a:xfrm>
          <a:prstGeom prst="rect">
            <a:avLst/>
          </a:prstGeom>
          <a:noFill/>
        </p:spPr>
        <p:txBody>
          <a:bodyPr wrap="square" lIns="0" rIns="0" tIns="0" bIns="0" anchor="t">
            <a:spAutoFit/>
          </a:bodyPr>
          <a:lstStyle/>
          <a:p>
            <a:pPr algn="l">
              <a:lnSpc>
                <a:spcPct val="100000"/>
              </a:lnSpc>
              <a:spcAft>
                <a:spcPts val="0"/>
              </a:spcAft>
              <a:buNone/>
            </a:pPr>
            <a:r>
              <a:rPr sz="900" b="0" i="0">
                <a:solidFill>
                  <a:srgbClr val="5B677A"/>
                </a:solidFill>
                <a:latin typeface="Calibri"/>
              </a:rPr>
              <a:t>¹ tier split × S3 list prices   ² 250 reads/s × 2 GETs × a month × USD 0.40/M   ³ 3 Fargate tasks × list prices × 730 h   ⁴ 1,000 GB × USD 0.30   ⁵ 200,000 GB × USD 0.30 (EFS Standard)  Full derivations: slides 119–121.</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Disaster recovery, Delta and Iceberg</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6 · operating it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87</a:t>
            </a:r>
          </a:p>
        </p:txBody>
      </p:sp>
      <p:graphicFrame>
        <p:nvGraphicFramePr>
          <p:cNvPr id="10" name="Table"/>
          <p:cNvGraphicFramePr>
            <a:graphicFrameLocks noGrp="1"/>
          </p:cNvGraphicFramePr>
          <p:nvPr/>
        </p:nvGraphicFramePr>
        <p:xfrm>
          <a:off x="411480" y="1143000"/>
          <a:ext cx="11365992" cy="4389120"/>
        </p:xfrm>
        <a:graphic>
          <a:graphicData uri="http://schemas.openxmlformats.org/drawingml/2006/table">
            <a:tbl>
              <a:tblPr firstRow="0" bandRow="0">
                <a:tableStyleId>{5940675A-B579-460E-94D1-54222C63F5DA}</a:tableStyleId>
              </a:tblPr>
              <a:tblGrid>
                <a:gridCol w="2743200"/>
                <a:gridCol w="4434840"/>
                <a:gridCol w="4187952"/>
              </a:tblGrid>
              <a:tr h="548640">
                <a:tc>
                  <a:txBody>
                    <a:bodyPr wrap="square"/>
                    <a:lstStyle/>
                    <a:p>
                      <a:r>
                        <a:rPr sz="1100" b="1" i="0">
                          <a:solidFill>
                            <a:srgbClr val="FFFFFF"/>
                          </a:solidFill>
                          <a:latin typeface="Calibri"/>
                        </a:rPr>
                        <a:t>Event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Delta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48640">
                <a:tc>
                  <a:txBody>
                    <a:bodyPr wrap="square"/>
                    <a:lstStyle/>
                    <a:p>
                      <a:r>
                        <a:rPr sz="1100" b="1" i="0">
                          <a:solidFill>
                            <a:srgbClr val="1C2433"/>
                          </a:solidFill>
                          <a:latin typeface="Calibri"/>
                        </a:rPr>
                        <a:t>A wrong commit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time travel: the previous version is readable until vacuum (7 years for risk); restate the days from the landing bucket (30 days)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1">
                          <a:solidFill>
                            <a:srgbClr val="1C2433"/>
                          </a:solidFill>
                          <a:latin typeface="Calibri"/>
                        </a:rPr>
                        <a:t>known at</a:t>
                      </a:r>
                      <a:r>
                        <a:rPr sz="1100" b="0" i="0">
                          <a:solidFill>
                            <a:srgbClr val="1C2433"/>
                          </a:solidFill>
                          <a:latin typeface="Calibri"/>
                        </a:rPr>
                        <a:t> reads the snapshot before it; restate the days from the landing bucket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100" b="1" i="0">
                          <a:solidFill>
                            <a:srgbClr val="1C2433"/>
                          </a:solidFill>
                          <a:latin typeface="Calibri"/>
                        </a:rPr>
                        <a:t>Files deleted by mistake (a wrong vacuum, a script on the wrong prefix)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S3 versioning: restore noncurrent versions within </a:t>
                      </a:r>
                      <a:r>
                        <a:rPr sz="1100" b="0" i="0">
                          <a:solidFill>
                            <a:srgbClr val="0E7C86"/>
                          </a:solidFill>
                          <a:latin typeface="Consolas"/>
                        </a:rPr>
                        <a:t>NONCURRENT_KEEP_DAYS</a:t>
                      </a:r>
                      <a:r>
                        <a:rPr sz="1100" b="0" i="0">
                          <a:solidFill>
                            <a:srgbClr val="1C2433"/>
                          </a:solidFill>
                          <a:latin typeface="Calibri"/>
                        </a:rPr>
                        <a:t> (14) (list-object-versions, copy-object)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same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100" b="1" i="0">
                          <a:solidFill>
                            <a:srgbClr val="1C2433"/>
                          </a:solidFill>
                          <a:latin typeface="Calibri"/>
                        </a:rPr>
                        <a:t>A table moved or copied (a laptop, another bucket)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relocate: '&lt;old&gt; -&gt; &lt;new&gt;'</a:t>
                      </a:r>
                      <a:r>
                        <a:rPr sz="1100" b="0" i="0">
                          <a:solidFill>
                            <a:srgbClr val="1C2433"/>
                          </a:solidFill>
                          <a:latin typeface="Calibri"/>
                        </a:rPr>
                        <a:t>, the pair Health gives (the library engine ignores it); the table identity stays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100" b="1" i="0">
                          <a:solidFill>
                            <a:srgbClr val="1C2433"/>
                          </a:solidFill>
                          <a:latin typeface="Calibri"/>
                        </a:rPr>
                        <a:t>A Region lost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S3 Cross-Region Replication with RTC, EFS and ECR replication; fail over once the backlog is empty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CRR; read the replica with </a:t>
                      </a:r>
                      <a:r>
                        <a:rPr sz="1100" b="0" i="0">
                          <a:solidFill>
                            <a:srgbClr val="0E7C86"/>
                          </a:solidFill>
                          <a:latin typeface="Consolas"/>
                        </a:rPr>
                        <a:t>relocate: 's3://prod/… -&gt; s3://dr/…'</a:t>
                      </a:r>
                      <a:r>
                        <a:rPr sz="1100" b="0" i="0">
                          <a:solidFill>
                            <a:srgbClr val="1C2433"/>
                          </a:solidFill>
                          <a:latin typeface="Calibri"/>
                        </a:rPr>
                        <a:t> (PROPOSED: test it); repoint a REST catalog's metadata location too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100" b="1" i="0">
                          <a:solidFill>
                            <a:srgbClr val="1C2433"/>
                          </a:solidFill>
                          <a:latin typeface="Calibri"/>
                        </a:rPr>
                        <a:t>A commit arrived before its files (replication)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that day fails (Health DEGRADED) until the file arrives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same; a </a:t>
                      </a:r>
                      <a:r>
                        <a:rPr sz="1100" b="0" i="0">
                          <a:solidFill>
                            <a:srgbClr val="0E7C86"/>
                          </a:solidFill>
                          <a:latin typeface="Consolas"/>
                        </a:rPr>
                        <a:t>version-hint.text</a:t>
                      </a:r>
                      <a:r>
                        <a:rPr sz="1100" b="0" i="0">
                          <a:solidFill>
                            <a:srgbClr val="1C2433"/>
                          </a:solidFill>
                          <a:latin typeface="Calibri"/>
                        </a:rPr>
                        <a:t> ahead of its metadata reads NoSuchTable until it arrives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100" b="1" i="0">
                          <a:solidFill>
                            <a:srgbClr val="1C2433"/>
                          </a:solidFill>
                          <a:latin typeface="Calibri"/>
                        </a:rPr>
                        <a:t>Node state lost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AWS Backup of EFS; caches and hot files rebuild from the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same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100" b="1" i="0">
                          <a:solidFill>
                            <a:srgbClr val="1C2433"/>
                          </a:solidFill>
                          <a:latin typeface="Calibri"/>
                        </a:rPr>
                        <a:t>Cluster state (content store)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s3 backend: the bucket's versioning and replication; filesystem on EFS: AWS Backup and EFS replication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same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1" name="Callout"/>
          <p:cNvSpPr/>
          <p:nvPr/>
        </p:nvSpPr>
        <p:spPr>
          <a:xfrm>
            <a:off x="411480" y="5669280"/>
            <a:ext cx="11365992" cy="685800"/>
          </a:xfrm>
          <a:prstGeom prst="roundRect">
            <a:avLst>
              <a:gd name="adj" fmla="val 6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allout edge"/>
          <p:cNvSpPr/>
          <p:nvPr/>
        </p:nvSpPr>
        <p:spPr>
          <a:xfrm>
            <a:off x="411480" y="5687568"/>
            <a:ext cx="82296" cy="649224"/>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0080" y="5742432"/>
            <a:ext cx="11000232" cy="539496"/>
          </a:xfrm>
          <a:prstGeom prst="rect">
            <a:avLst/>
          </a:prstGeom>
          <a:noFill/>
        </p:spPr>
        <p:txBody>
          <a:bodyPr wrap="square" lIns="0" rIns="0" tIns="0" bIns="0" anchor="ctr">
            <a:spAutoFit/>
          </a:bodyPr>
          <a:lstStyle/>
          <a:p>
            <a:pPr algn="l">
              <a:spcAft>
                <a:spcPts val="600"/>
              </a:spcAft>
              <a:buNone/>
            </a:pPr>
            <a:r>
              <a:rPr sz="1200" b="1" i="0">
                <a:solidFill>
                  <a:srgbClr val="1C2433"/>
                </a:solidFill>
                <a:latin typeface="Calibri"/>
              </a:rPr>
              <a:t>The Iceberg-specific DR rule:</a:t>
            </a:r>
            <a:r>
              <a:rPr sz="1200" b="0" i="0">
                <a:solidFill>
                  <a:srgbClr val="1C2433"/>
                </a:solidFill>
                <a:latin typeface="Calibri"/>
              </a:rPr>
              <a:t> absolute paths make a copy a different table until </a:t>
            </a:r>
            <a:r>
              <a:rPr sz="1100" b="0" i="0">
                <a:solidFill>
                  <a:srgbClr val="0E7C86"/>
                </a:solidFill>
                <a:latin typeface="Consolas"/>
              </a:rPr>
              <a:t>relocate</a:t>
            </a:r>
            <a:r>
              <a:rPr sz="1200" b="0" i="0">
                <a:solidFill>
                  <a:srgbClr val="1C2433"/>
                </a:solidFill>
                <a:latin typeface="Calibri"/>
              </a:rPr>
              <a:t> maps it; with a REST catalog, the catalog's metadata location must be repointed in the recovery Region too.</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07</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What comes next</a:t>
            </a:r>
          </a:p>
        </p:txBody>
      </p:sp>
      <p:pic>
        <p:nvPicPr>
          <p:cNvPr id="5" name="Drishti mark" descr="Drishti logo: an eye between curly brackets"/>
          <p:cNvPicPr>
            <a:picLocks noChangeAspect="1"/>
          </p:cNvPicPr>
          <p:nvPr/>
        </p:nvPicPr>
        <p:blipFill>
          <a:blip r:embed="rId2"/>
          <a:stretch>
            <a:fillRect/>
          </a:stretch>
        </p:blipFill>
        <p:spPr>
          <a:xfrm>
            <a:off x="822960" y="6236208"/>
            <a:ext cx="430911" cy="237744"/>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Designed: the super-scale scale-out of the lake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7 · what comes next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89</a:t>
            </a:r>
          </a:p>
        </p:txBody>
      </p:sp>
      <p:graphicFrame>
        <p:nvGraphicFramePr>
          <p:cNvPr id="10" name="Table"/>
          <p:cNvGraphicFramePr>
            <a:graphicFrameLocks noGrp="1"/>
          </p:cNvGraphicFramePr>
          <p:nvPr/>
        </p:nvGraphicFramePr>
        <p:xfrm>
          <a:off x="411480" y="1143000"/>
          <a:ext cx="11365992" cy="3840480"/>
        </p:xfrm>
        <a:graphic>
          <a:graphicData uri="http://schemas.openxmlformats.org/drawingml/2006/table">
            <a:tbl>
              <a:tblPr firstRow="0" bandRow="0">
                <a:tableStyleId>{5940675A-B579-460E-94D1-54222C63F5DA}</a:tableStyleId>
              </a:tblPr>
              <a:tblGrid>
                <a:gridCol w="1737360"/>
                <a:gridCol w="5486400"/>
                <a:gridCol w="4142232"/>
              </a:tblGrid>
              <a:tr h="548640">
                <a:tc>
                  <a:txBody>
                    <a:bodyPr wrap="square"/>
                    <a:lstStyle/>
                    <a:p>
                      <a:r>
                        <a:rPr sz="1200" b="1" i="0">
                          <a:solidFill>
                            <a:srgbClr val="FFFFFF"/>
                          </a:solidFill>
                          <a:latin typeface="Calibri"/>
                        </a:rPr>
                        <a:t>Item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What it adds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Why it matters at scale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48640">
                <a:tc>
                  <a:txBody>
                    <a:bodyPr wrap="square"/>
                    <a:lstStyle/>
                    <a:p>
                      <a:r>
                        <a:rPr sz="1200" b="1" i="0">
                          <a:solidFill>
                            <a:srgbClr val="1C2433"/>
                          </a:solidFill>
                          <a:latin typeface="Calibri"/>
                        </a:rPr>
                        <a:t>S1</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Range maps from the log's per-file id statistics; Parquet Bloom filters on id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find an id without building a day's id map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S2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Tables by year (</a:t>
                      </a:r>
                      <a:r>
                        <a:rPr sz="1100" b="0" i="0">
                          <a:solidFill>
                            <a:srgbClr val="0E7C86"/>
                          </a:solidFill>
                          <a:latin typeface="Consolas"/>
                        </a:rPr>
                        <a:t>root: …/{year}</a:t>
                      </a:r>
                      <a:r>
                        <a:rPr sz="1200" b="0" i="0">
                          <a:solidFill>
                            <a:srgbClr val="1C2433"/>
                          </a:solidFill>
                          <a:latin typeface="Calibri"/>
                        </a:rPr>
                        <a:t>), closing a year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 table's checkpoint stops growing with seven years of live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200" b="1" i="0">
                          <a:solidFill>
                            <a:srgbClr val="1C2433"/>
                          </a:solidFill>
                          <a:latin typeface="Calibri"/>
                        </a:rPr>
                        <a:t>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 loader fleet writing slices of one table at once; a day register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loads of very large days finish in the window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S4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Products (link indexes, group totals, rollups, id lists) written with the data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aggregates and links without scanning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200" b="1" i="0">
                          <a:solidFill>
                            <a:srgbClr val="1C2433"/>
                          </a:solidFill>
                          <a:latin typeface="Calibri"/>
                        </a:rPr>
                        <a:t>S5, S6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Each server owns a share of (table, day) slices on the ring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N servers hold N × one server's working set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S7, S8</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Warm tier of memory-mapped column files; benchmark at scale in AWS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hot days from memory; measured numbers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1" name="TextBox 10"/>
          <p:cNvSpPr txBox="1"/>
          <p:nvPr/>
        </p:nvSpPr>
        <p:spPr>
          <a:xfrm>
            <a:off x="411480" y="5532120"/>
            <a:ext cx="9875520" cy="502920"/>
          </a:xfrm>
          <a:prstGeom prst="rect">
            <a:avLst/>
          </a:prstGeom>
          <a:noFill/>
        </p:spPr>
        <p:txBody>
          <a:bodyPr wrap="square" lIns="0" rIns="0" tIns="0" bIns="0" anchor="ctr">
            <a:spAutoFit/>
          </a:bodyPr>
          <a:lstStyle/>
          <a:p>
            <a:pPr algn="l">
              <a:spcAft>
                <a:spcPts val="600"/>
              </a:spcAft>
              <a:buNone/>
            </a:pPr>
            <a:r>
              <a:rPr sz="1200" b="0" i="0">
                <a:solidFill>
                  <a:srgbClr val="5B677A"/>
                </a:solidFill>
                <a:latin typeface="Calibri"/>
              </a:rPr>
              <a:t>Built, so not in this table: VaR sharded across servers (each owner holds only its ranges of a date; partial vectors added in shard order) and Drishti*net shards by table.</a:t>
            </a:r>
          </a:p>
        </p:txBody>
      </p:sp>
      <p:sp>
        <p:nvSpPr>
          <p:cNvPr id="12" name="Status DESIGNED"/>
          <p:cNvSpPr/>
          <p:nvPr/>
        </p:nvSpPr>
        <p:spPr>
          <a:xfrm>
            <a:off x="10698480" y="5897880"/>
            <a:ext cx="1051560" cy="237744"/>
          </a:xfrm>
          <a:prstGeom prst="roundRect">
            <a:avLst>
              <a:gd name="adj" fmla="val 50000"/>
            </a:avLst>
          </a:prstGeom>
          <a:solidFill>
            <a:srgbClr val="FFFFFF"/>
          </a:solidFill>
          <a:ln w="15875">
            <a:solidFill>
              <a:srgbClr val="0B1E3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0B1E3B"/>
                </a:solidFill>
                <a:latin typeface="Calibri"/>
              </a:rPr>
              <a:t>DESIGNED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Proposed by this deck: not yet in the docs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7 · what comes next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90</a:t>
            </a:r>
          </a:p>
        </p:txBody>
      </p:sp>
      <p:graphicFrame>
        <p:nvGraphicFramePr>
          <p:cNvPr id="10" name="Table"/>
          <p:cNvGraphicFramePr>
            <a:graphicFrameLocks noGrp="1"/>
          </p:cNvGraphicFramePr>
          <p:nvPr/>
        </p:nvGraphicFramePr>
        <p:xfrm>
          <a:off x="411480" y="1097280"/>
          <a:ext cx="11365991" cy="4754880"/>
        </p:xfrm>
        <a:graphic>
          <a:graphicData uri="http://schemas.openxmlformats.org/drawingml/2006/table">
            <a:tbl>
              <a:tblPr firstRow="0" bandRow="0">
                <a:tableStyleId>{5940675A-B579-460E-94D1-54222C63F5DA}</a:tableStyleId>
              </a:tblPr>
              <a:tblGrid>
                <a:gridCol w="457200"/>
                <a:gridCol w="6309359"/>
                <a:gridCol w="4599432"/>
              </a:tblGrid>
              <a:tr h="475488">
                <a:tc>
                  <a:txBody>
                    <a:bodyPr wrap="square"/>
                    <a:lstStyle/>
                    <a:p>
                      <a:r>
                        <a:rPr sz="1150" b="1" i="0">
                          <a:solidFill>
                            <a:srgbClr val="FFFFFF"/>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50" b="1" i="0">
                          <a:solidFill>
                            <a:srgbClr val="FFFFFF"/>
                          </a:solidFill>
                          <a:latin typeface="Calibri"/>
                        </a:rPr>
                        <a:t>Proposal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50" b="1" i="0">
                          <a:solidFill>
                            <a:srgbClr val="FFFFFF"/>
                          </a:solidFill>
                          <a:latin typeface="Calibri"/>
                        </a:rPr>
                        <a:t>Why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75488">
                <a:tc>
                  <a:txBody>
                    <a:bodyPr wrap="square"/>
                    <a:lstStyle/>
                    <a:p>
                      <a:r>
                        <a:rPr sz="1150" b="1" i="0">
                          <a:solidFill>
                            <a:srgbClr val="1C2433"/>
                          </a:solidFill>
                          <a:latin typeface="Calibri"/>
                        </a:rPr>
                        <a:t>1</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Set node.yaml </a:t>
                      </a:r>
                      <a:r>
                        <a:rPr sz="1050" b="0" i="0">
                          <a:solidFill>
                            <a:srgbClr val="0E7C86"/>
                          </a:solidFill>
                          <a:latin typeface="Consolas"/>
                        </a:rPr>
                        <a:t>gossip-port</a:t>
                      </a:r>
                      <a:r>
                        <a:rPr sz="1150" b="0" i="0">
                          <a:solidFill>
                            <a:srgbClr val="1C2433"/>
                          </a:solidFill>
                          <a:latin typeface="Calibri"/>
                        </a:rPr>
                        <a:t> to a fixed number on ECS and open it in the </a:t>
                      </a:r>
                      <a:r>
                        <a:rPr sz="1050" b="0" i="0">
                          <a:solidFill>
                            <a:srgbClr val="0E7C86"/>
                          </a:solidFill>
                          <a:latin typeface="Consolas"/>
                        </a:rPr>
                        <a:t>drishti-node</a:t>
                      </a:r>
                      <a:r>
                        <a:rPr sz="1150" b="0" i="0">
                          <a:solidFill>
                            <a:srgbClr val="1C2433"/>
                          </a:solidFill>
                          <a:latin typeface="Calibri"/>
                        </a:rPr>
                        <a:t> security group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050" b="0" i="0">
                          <a:solidFill>
                            <a:srgbClr val="0E7C86"/>
                          </a:solidFill>
                          <a:latin typeface="Consolas"/>
                        </a:rPr>
                        <a:t>auto</a:t>
                      </a:r>
                      <a:r>
                        <a:rPr sz="1150" b="0" i="0">
                          <a:solidFill>
                            <a:srgbClr val="1C2433"/>
                          </a:solidFill>
                          <a:latin typeface="Calibri"/>
                        </a:rPr>
                        <a:t> changes the port at each start; behind a security group gossip falls back to 18480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150" b="1" i="0">
                          <a:solidFill>
                            <a:srgbClr val="1C2433"/>
                          </a:solidFill>
                          <a:latin typeface="Calibri"/>
                        </a:rPr>
                        <a:t>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Kafka windows written to an EFS lake, then copied to S3 by </a:t>
                      </a:r>
                      <a:r>
                        <a:rPr sz="1050" b="0" i="0">
                          <a:solidFill>
                            <a:srgbClr val="0E7C86"/>
                          </a:solidFill>
                          <a:latin typeface="Consolas"/>
                        </a:rPr>
                        <a:t>lake publish --mode append</a:t>
                      </a:r>
                      <a:r>
                        <a:rPr sz="1150" b="0" i="0">
                          <a:solidFill>
                            <a:srgbClr val="1C2433"/>
                          </a:solidFill>
                          <a:latin typeface="Calibri"/>
                        </a:rPr>
                        <a:t> after each window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the stream appends to a lake path, not </a:t>
                      </a:r>
                      <a:r>
                        <a:rPr sz="1050" b="0" i="0">
                          <a:solidFill>
                            <a:srgbClr val="0E7C86"/>
                          </a:solidFill>
                          <a:latin typeface="Consolas"/>
                        </a:rPr>
                        <a:t>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75488">
                <a:tc>
                  <a:txBody>
                    <a:bodyPr wrap="square"/>
                    <a:lstStyle/>
                    <a:p>
                      <a:r>
                        <a:rPr sz="1150" b="1" i="0">
                          <a:solidFill>
                            <a:srgbClr val="1C2433"/>
                          </a:solidFill>
                          <a:latin typeface="Calibri"/>
                        </a:rPr>
                        <a:t>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Re-enable </a:t>
                      </a:r>
                      <a:r>
                        <a:rPr sz="1050" b="0" i="0">
                          <a:solidFill>
                            <a:srgbClr val="0E7C86"/>
                          </a:solidFill>
                          <a:latin typeface="Consolas"/>
                        </a:rPr>
                        <a:t>compact</a:t>
                      </a:r>
                      <a:r>
                        <a:rPr sz="1150" b="0" i="0">
                          <a:solidFill>
                            <a:srgbClr val="1C2433"/>
                          </a:solidFill>
                          <a:latin typeface="Calibri"/>
                        </a:rPr>
                        <a:t> for the S3 trade tables after a relayout test on 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050" b="0" i="0">
                          <a:solidFill>
                            <a:srgbClr val="0E7C86"/>
                          </a:solidFill>
                          <a:latin typeface="Consolas"/>
                        </a:rPr>
                        <a:t>lake maintain</a:t>
                      </a:r>
                      <a:r>
                        <a:rPr sz="1150" b="0" i="0">
                          <a:solidFill>
                            <a:srgbClr val="1C2433"/>
                          </a:solidFill>
                          <a:latin typeface="Calibri"/>
                        </a:rPr>
                        <a:t> now lays out per-source tables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150" b="1" i="0">
                          <a:solidFill>
                            <a:srgbClr val="1C2433"/>
                          </a:solidFill>
                          <a:latin typeface="Calibri"/>
                        </a:rPr>
                        <a:t>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050" b="0" i="0">
                          <a:solidFill>
                            <a:srgbClr val="0E7C86"/>
                          </a:solidFill>
                          <a:latin typeface="Consolas"/>
                        </a:rPr>
                        <a:t>exposure-path</a:t>
                      </a:r>
                      <a:r>
                        <a:rPr sz="1150" b="0" i="0">
                          <a:solidFill>
                            <a:srgbClr val="1C2433"/>
                          </a:solidFill>
                          <a:latin typeface="Calibri"/>
                        </a:rPr>
                        <a:t> partitioned by date and run, sorted by netting set (as EXPOSURE_GUIDE.md proposes)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a netting set in one streaming pass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75488">
                <a:tc>
                  <a:txBody>
                    <a:bodyPr wrap="square"/>
                    <a:lstStyle/>
                    <a:p>
                      <a:r>
                        <a:rPr sz="1150" b="1" i="0">
                          <a:solidFill>
                            <a:srgbClr val="1C2433"/>
                          </a:solidFill>
                          <a:latin typeface="Calibri"/>
                        </a:rPr>
                        <a:t>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A published table of node and portfolio vectors per currency (from the VaR deck)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BI and peers read sums, not 2.3M rows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150" b="1" i="0">
                          <a:solidFill>
                            <a:srgbClr val="1C2433"/>
                          </a:solidFill>
                          <a:latin typeface="Calibri"/>
                        </a:rPr>
                        <a:t>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Change data feed on the risk input tables; Z-order or liquid clustering by book and portfolio (VaR deck)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followers see intraday deltas; a desk's read skips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75488">
                <a:tc>
                  <a:txBody>
                    <a:bodyPr wrap="square"/>
                    <a:lstStyle/>
                    <a:p>
                      <a:r>
                        <a:rPr sz="1150" b="1" i="0">
                          <a:solidFill>
                            <a:srgbClr val="1C2433"/>
                          </a:solidFill>
                          <a:latin typeface="Calibri"/>
                        </a:rPr>
                        <a:t>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Load the risk lake with the parallel Java loader (</a:t>
                      </a:r>
                      <a:r>
                        <a:rPr sz="1050" b="0" i="0">
                          <a:solidFill>
                            <a:srgbClr val="0E7C86"/>
                          </a:solidFill>
                          <a:latin typeface="Consolas"/>
                        </a:rPr>
                        <a:t>lake build --engine java</a:t>
                      </a:r>
                      <a:r>
                        <a:rPr sz="1150" b="0" i="0">
                          <a:solidFill>
                            <a:srgbClr val="1C2433"/>
                          </a:solidFill>
                          <a:latin typeface="Calibri"/>
                        </a:rPr>
                        <a:t>), not the Python path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its files are sorted by legal entity and desk, BSS + ZSTD: a node is a run of rows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150" b="1" i="0">
                          <a:solidFill>
                            <a:srgbClr val="1C2433"/>
                          </a:solidFill>
                          <a:latin typeface="Calibri"/>
                        </a:rPr>
                        <a:t>8</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Iceberg: path-based tables first; Glue's REST endpoint when Athena or Spark must share a table; S3 Tables after a proof</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the same commit safety as Delta with no extra service (slide 37)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75488">
                <a:tc>
                  <a:txBody>
                    <a:bodyPr wrap="square"/>
                    <a:lstStyle/>
                    <a:p>
                      <a:r>
                        <a:rPr sz="1150" b="1" i="0">
                          <a:solidFill>
                            <a:srgbClr val="1C2433"/>
                          </a:solidFill>
                          <a:latin typeface="Calibri"/>
                        </a:rPr>
                        <a:t>9</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Iceberg format v3 reading (deletion vectors, new types), named branches and tags; a </a:t>
                      </a:r>
                      <a:r>
                        <a:rPr sz="1150" b="0" i="1">
                          <a:solidFill>
                            <a:srgbClr val="1C2433"/>
                          </a:solidFill>
                          <a:latin typeface="Calibri"/>
                        </a:rPr>
                        <a:t>Make a pack</a:t>
                      </a:r>
                      <a:r>
                        <a:rPr sz="1150" b="0" i="0">
                          <a:solidFill>
                            <a:srgbClr val="1C2433"/>
                          </a:solidFill>
                          <a:latin typeface="Calibri"/>
                        </a:rPr>
                        <a:t> button for </a:t>
                      </a:r>
                      <a:r>
                        <a:rPr sz="1050" b="0" i="0">
                          <a:solidFill>
                            <a:srgbClr val="0E7C86"/>
                          </a:solidFill>
                          <a:latin typeface="Consolas"/>
                        </a:rPr>
                        <a:t>iceberg-external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listed as later in the Iceberg docs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1" name="Status PROPOSED"/>
          <p:cNvSpPr/>
          <p:nvPr/>
        </p:nvSpPr>
        <p:spPr>
          <a:xfrm>
            <a:off x="10698480" y="6172200"/>
            <a:ext cx="1051560" cy="237744"/>
          </a:xfrm>
          <a:prstGeom prst="roundRect">
            <a:avLst>
              <a:gd name="adj" fmla="val 50000"/>
            </a:avLst>
          </a:prstGeom>
          <a:solidFill>
            <a:srgbClr val="FFFFFF"/>
          </a:solidFill>
          <a:ln w="1587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E87A1E"/>
                </a:solidFill>
                <a:latin typeface="Calibri"/>
              </a:rPr>
              <a:t>PROPOSED</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Limits and what comes next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7 · what comes next</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91</a:t>
            </a:r>
          </a:p>
        </p:txBody>
      </p:sp>
      <p:graphicFrame>
        <p:nvGraphicFramePr>
          <p:cNvPr id="10" name="Table"/>
          <p:cNvGraphicFramePr>
            <a:graphicFrameLocks noGrp="1"/>
          </p:cNvGraphicFramePr>
          <p:nvPr/>
        </p:nvGraphicFramePr>
        <p:xfrm>
          <a:off x="411480" y="1097280"/>
          <a:ext cx="11365992" cy="4992624"/>
        </p:xfrm>
        <a:graphic>
          <a:graphicData uri="http://schemas.openxmlformats.org/drawingml/2006/table">
            <a:tbl>
              <a:tblPr firstRow="0" bandRow="0">
                <a:tableStyleId>{5940675A-B579-460E-94D1-54222C63F5DA}</a:tableStyleId>
              </a:tblPr>
              <a:tblGrid>
                <a:gridCol w="7315200"/>
                <a:gridCol w="1737360"/>
                <a:gridCol w="2313432"/>
              </a:tblGrid>
              <a:tr h="384048">
                <a:tc>
                  <a:txBody>
                    <a:bodyPr wrap="square"/>
                    <a:lstStyle/>
                    <a:p>
                      <a:r>
                        <a:rPr sz="1100" b="1" i="0">
                          <a:solidFill>
                            <a:srgbClr val="FFFFFF"/>
                          </a:solidFill>
                          <a:latin typeface="Calibri"/>
                        </a:rPr>
                        <a:t>Limit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Status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Source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384048">
                <a:tc>
                  <a:txBody>
                    <a:bodyPr wrap="square"/>
                    <a:lstStyle/>
                    <a:p>
                      <a:r>
                        <a:rPr sz="1100" b="1" i="0">
                          <a:solidFill>
                            <a:srgbClr val="1C2433"/>
                          </a:solidFill>
                          <a:latin typeface="Calibri"/>
                        </a:rPr>
                        <a:t>Not yet run in a real AWS account (steps 0–11, runbooks); no Iceberg table written to a real bucket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to do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AWS_DELTA_LAKE.md §15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100" b="1" i="0">
                          <a:solidFill>
                            <a:srgbClr val="1C2433"/>
                          </a:solidFill>
                          <a:latin typeface="Calibri"/>
                        </a:rPr>
                        <a:t>The Glue and S3 Tables live runs (code and </a:t>
                      </a:r>
                      <a:r>
                        <a:rPr sz="1100" b="1" i="0">
                          <a:solidFill>
                            <a:srgbClr val="0E7C86"/>
                          </a:solidFill>
                          <a:latin typeface="Consolas"/>
                        </a:rPr>
                        <a:t>check-glue.sh</a:t>
                      </a:r>
                      <a:r>
                        <a:rPr sz="1100" b="1" i="0">
                          <a:solidFill>
                            <a:srgbClr val="1C2433"/>
                          </a:solidFill>
                          <a:latin typeface="Calibri"/>
                        </a:rPr>
                        <a:t> written)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NOT RUN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AWS_DEPLOYMENT.md §22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84048">
                <a:tc>
                  <a:txBody>
                    <a:bodyPr wrap="square"/>
                    <a:lstStyle/>
                    <a:p>
                      <a:r>
                        <a:rPr sz="1100" b="1" i="0">
                          <a:solidFill>
                            <a:srgbClr val="1C2433"/>
                          </a:solidFill>
                          <a:latin typeface="Calibri"/>
                        </a:rPr>
                        <a:t>The benchmark: 200K positions, one server against three sharded, both formats; 2.3M extrapolated; demo figures are demo only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PLANNED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IMPLEMENTATION_PLAN.md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100" b="1" i="0">
                          <a:solidFill>
                            <a:srgbClr val="1C2433"/>
                          </a:solidFill>
                          <a:latin typeface="Calibri"/>
                        </a:rPr>
                        <a:t>Delta in-place schema evolution; Delta↔Iceberg conversion of any table; Unity Catalog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PLANNED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IMPLEMENTATION_PLAN.md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84048">
                <a:tc>
                  <a:txBody>
                    <a:bodyPr wrap="square"/>
                    <a:lstStyle/>
                    <a:p>
                      <a:r>
                        <a:rPr sz="1100" b="1" i="0">
                          <a:solidFill>
                            <a:srgbClr val="1C2433"/>
                          </a:solidFill>
                          <a:latin typeface="Calibri"/>
                        </a:rPr>
                        <a:t>Kafka windows are appended to a lake path (local or EFS), not </a:t>
                      </a:r>
                      <a:r>
                        <a:rPr sz="1100" b="1" i="0">
                          <a:solidFill>
                            <a:srgbClr val="0E7C86"/>
                          </a:solidFill>
                          <a:latin typeface="Consolas"/>
                        </a:rPr>
                        <a:t>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limit; to S3 PROPOSED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VAR_GUIDE.md §8.4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100" b="1" i="0">
                          <a:solidFill>
                            <a:srgbClr val="1C2433"/>
                          </a:solidFill>
                          <a:latin typeface="Calibri"/>
                        </a:rPr>
                        <a:t>More than 100,000 hierarchy nodes or portfolios from a connector that cannot list a date whole (15,000 portfolios fit)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limit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VAR_GUIDE.md §20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84048">
                <a:tc>
                  <a:txBody>
                    <a:bodyPr wrap="square"/>
                    <a:lstStyle/>
                    <a:p>
                      <a:r>
                        <a:rPr sz="1100" b="1" i="0">
                          <a:solidFill>
                            <a:srgbClr val="1C2433"/>
                          </a:solidFill>
                          <a:latin typeface="Calibri"/>
                        </a:rPr>
                        <a:t>Tables by year, range maps, slice ownership (S1–S8: scale-out)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DESIGNED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SUPER_SCALE.md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100" b="1" i="0">
                          <a:solidFill>
                            <a:srgbClr val="0E7C86"/>
                          </a:solidFill>
                          <a:latin typeface="Consolas"/>
                        </a:rPr>
                        <a:t>lake build</a:t>
                      </a:r>
                      <a:r>
                        <a:rPr sz="1100" b="1" i="0">
                          <a:solidFill>
                            <a:srgbClr val="1C2433"/>
                          </a:solidFill>
                          <a:latin typeface="Calibri"/>
                        </a:rPr>
                        <a:t> sorts a partition only when it fits a batch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limit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AWS_DELTA_LAKE.md §7.2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84048">
                <a:tc>
                  <a:txBody>
                    <a:bodyPr wrap="square"/>
                    <a:lstStyle/>
                    <a:p>
                      <a:r>
                        <a:rPr sz="1100" b="1" i="0">
                          <a:solidFill>
                            <a:srgbClr val="1C2433"/>
                          </a:solidFill>
                          <a:latin typeface="Calibri"/>
                        </a:rPr>
                        <a:t>A bucket without conditional writes: one writer per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limit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AWS_DELTA_LAKE.md §8.2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100" b="1" i="0">
                          <a:solidFill>
                            <a:srgbClr val="1C2433"/>
                          </a:solidFill>
                          <a:latin typeface="Calibri"/>
                        </a:rPr>
                        <a:t>Iceberg spec gaps, refused by name: format v3 (deletion vectors, new types), encrypted tables, ORC and Avro data files, branches and tags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limit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DRISHTI_ICEBERG.md §5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84048">
                <a:tc>
                  <a:txBody>
                    <a:bodyPr wrap="square"/>
                    <a:lstStyle/>
                    <a:p>
                      <a:r>
                        <a:rPr sz="1100" b="1" i="0">
                          <a:solidFill>
                            <a:srgbClr val="1C2433"/>
                          </a:solidFill>
                          <a:latin typeface="Calibri"/>
                        </a:rPr>
                        <a:t>The native Iceberg engine reaches local disk and S3 only; Azure, GCS, HDFS need </a:t>
                      </a:r>
                      <a:r>
                        <a:rPr sz="1100" b="1" i="0">
                          <a:solidFill>
                            <a:srgbClr val="0E7C86"/>
                          </a:solidFill>
                          <a:latin typeface="Consolas"/>
                        </a:rPr>
                        <a:t>engine: library</a:t>
                      </a:r>
                      <a:r>
                        <a:rPr sz="1100" b="1" i="0">
                          <a:solidFill>
                            <a:srgbClr val="1C2433"/>
                          </a:solidFill>
                          <a:latin typeface="Calibri"/>
                        </a:rPr>
                        <a:t> (Hadoop)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limit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ICEBERG_CONNECTOR.md §17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100" b="1" i="0">
                          <a:solidFill>
                            <a:srgbClr val="1C2433"/>
                          </a:solidFill>
                          <a:latin typeface="Calibri"/>
                        </a:rPr>
                        <a:t>Doc fix: ICEBERG_CONNECTOR.md §4 says path tables on S3 'need a single writer' (true only of the library engine)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to do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ICEBERG_CONNECTOR.md §4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Decisions and actions for the product owner</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summary</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92</a:t>
            </a:r>
          </a:p>
        </p:txBody>
      </p:sp>
      <p:graphicFrame>
        <p:nvGraphicFramePr>
          <p:cNvPr id="10" name="Table"/>
          <p:cNvGraphicFramePr>
            <a:graphicFrameLocks noGrp="1"/>
          </p:cNvGraphicFramePr>
          <p:nvPr/>
        </p:nvGraphicFramePr>
        <p:xfrm>
          <a:off x="411480" y="1143000"/>
          <a:ext cx="11365992" cy="5230368"/>
        </p:xfrm>
        <a:graphic>
          <a:graphicData uri="http://schemas.openxmlformats.org/drawingml/2006/table">
            <a:tbl>
              <a:tblPr firstRow="0" bandRow="0">
                <a:tableStyleId>{5940675A-B579-460E-94D1-54222C63F5DA}</a:tableStyleId>
              </a:tblPr>
              <a:tblGrid>
                <a:gridCol w="457200"/>
                <a:gridCol w="4480560"/>
                <a:gridCol w="6428232"/>
              </a:tblGrid>
              <a:tr h="475488">
                <a:tc>
                  <a:txBody>
                    <a:bodyPr wrap="square"/>
                    <a:lstStyle/>
                    <a:p>
                      <a:r>
                        <a:rPr sz="1100" b="1" i="0">
                          <a:solidFill>
                            <a:srgbClr val="FFFFFF"/>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Decision or action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Recommendation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75488">
                <a:tc>
                  <a:txBody>
                    <a:bodyPr wrap="square"/>
                    <a:lstStyle/>
                    <a:p>
                      <a:r>
                        <a:rPr sz="1100" b="1" i="0">
                          <a:solidFill>
                            <a:srgbClr val="1C2433"/>
                          </a:solidFill>
                          <a:latin typeface="Calibri"/>
                        </a:rPr>
                        <a:t>1</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Disk caches and VaR/exposure hot files on local NVMe (breaks the identical-path rule) or EFS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Hot files on NVMe from the start (the guides ask for fast local disk); connector caches on EFS until p99Ms shows EFS latency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100" b="1" i="0">
                          <a:solidFill>
                            <a:srgbClr val="1C2433"/>
                          </a:solidFill>
                          <a:latin typeface="Calibri"/>
                        </a:rPr>
                        <a:t>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First real run in a development AWS account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Before any production commitment: steps 0–11 and the runbooks; </a:t>
                      </a:r>
                      <a:r>
                        <a:rPr sz="1100" b="0" i="0">
                          <a:solidFill>
                            <a:srgbClr val="0E7C86"/>
                          </a:solidFill>
                          <a:latin typeface="Consolas"/>
                        </a:rPr>
                        <a:t>check-conditional-writes.sh</a:t>
                      </a:r>
                      <a:r>
                        <a:rPr sz="1100" b="0" i="0">
                          <a:solidFill>
                            <a:srgbClr val="1C2433"/>
                          </a:solidFill>
                          <a:latin typeface="Calibri"/>
                        </a:rPr>
                        <a:t>, </a:t>
                      </a:r>
                      <a:r>
                        <a:rPr sz="1100" b="0" i="0">
                          <a:solidFill>
                            <a:srgbClr val="0E7C86"/>
                          </a:solidFill>
                          <a:latin typeface="Consolas"/>
                        </a:rPr>
                        <a:t>check-glue.sh</a:t>
                      </a:r>
                      <a:r>
                        <a:rPr sz="1100" b="0" i="0">
                          <a:solidFill>
                            <a:srgbClr val="1C2433"/>
                          </a:solidFill>
                          <a:latin typeface="Calibri"/>
                        </a:rPr>
                        <a:t> (Glue and </a:t>
                      </a:r>
                      <a:r>
                        <a:rPr sz="1100" b="0" i="0">
                          <a:solidFill>
                            <a:srgbClr val="0E7C86"/>
                          </a:solidFill>
                          <a:latin typeface="Consolas"/>
                        </a:rPr>
                        <a:t>--s3-tables</a:t>
                      </a:r>
                      <a:r>
                        <a:rPr sz="1100" b="0" i="0">
                          <a:solidFill>
                            <a:srgbClr val="1C2433"/>
                          </a:solidFill>
                          <a:latin typeface="Calibri"/>
                        </a:rPr>
                        <a:t>), one Iceberg load and read; record the outputs in the guide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75488">
                <a:tc>
                  <a:txBody>
                    <a:bodyPr wrap="square"/>
                    <a:lstStyle/>
                    <a:p>
                      <a:r>
                        <a:rPr sz="1100" b="1" i="0">
                          <a:solidFill>
                            <a:srgbClr val="1C2433"/>
                          </a:solidFill>
                          <a:latin typeface="Calibri"/>
                        </a:rPr>
                        <a:t>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Official results straight to </a:t>
                      </a:r>
                      <a:r>
                        <a:rPr sz="1100" b="0" i="0">
                          <a:solidFill>
                            <a:srgbClr val="0E7C86"/>
                          </a:solidFill>
                          <a:latin typeface="Consolas"/>
                        </a:rPr>
                        <a:t>s3://</a:t>
                      </a:r>
                      <a:r>
                        <a:rPr sz="1100" b="0" i="0">
                          <a:solidFill>
                            <a:srgbClr val="1C2433"/>
                          </a:solidFill>
                          <a:latin typeface="Calibri"/>
                        </a:rPr>
                        <a:t>; how Kafka windows reach 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Official: </a:t>
                      </a:r>
                      <a:r>
                        <a:rPr sz="1100" b="0" i="0">
                          <a:solidFill>
                            <a:srgbClr val="0E7C86"/>
                          </a:solidFill>
                          <a:latin typeface="Consolas"/>
                        </a:rPr>
                        <a:t>s3://</a:t>
                      </a:r>
                      <a:r>
                        <a:rPr sz="1100" b="0" i="0">
                          <a:solidFill>
                            <a:srgbClr val="1C2433"/>
                          </a:solidFill>
                          <a:latin typeface="Calibri"/>
                        </a:rPr>
                        <a:t> root, add </a:t>
                      </a:r>
                      <a:r>
                        <a:rPr sz="1100" b="0" i="0">
                          <a:solidFill>
                            <a:srgbClr val="0E7C86"/>
                          </a:solidFill>
                          <a:latin typeface="Consolas"/>
                        </a:rPr>
                        <a:t>s3:PutObject</a:t>
                      </a:r>
                      <a:r>
                        <a:rPr sz="1100" b="0" i="0">
                          <a:solidFill>
                            <a:srgbClr val="1C2433"/>
                          </a:solidFill>
                          <a:latin typeface="Calibri"/>
                        </a:rPr>
                        <a:t> to the server role. Kafka: EFS lake, then </a:t>
                      </a:r>
                      <a:r>
                        <a:rPr sz="1100" b="0" i="0">
                          <a:solidFill>
                            <a:srgbClr val="0E7C86"/>
                          </a:solidFill>
                          <a:latin typeface="Consolas"/>
                        </a:rPr>
                        <a:t>lake publish --mode append</a:t>
                      </a:r>
                      <a:r>
                        <a:rPr sz="1100" b="0" i="0">
                          <a:solidFill>
                            <a:srgbClr val="1C2433"/>
                          </a:solidFill>
                          <a:latin typeface="Calibri"/>
                        </a:rPr>
                        <a:t>, 7-year retention (PROPOSED)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100" b="1" i="0">
                          <a:solidFill>
                            <a:srgbClr val="1C2433"/>
                          </a:solidFill>
                          <a:latin typeface="Calibri"/>
                        </a:rPr>
                        <a:t>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 fixed gossip port on ECS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 number in node.yaml and a security-group rule node to node (PROPOSED)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75488">
                <a:tc>
                  <a:txBody>
                    <a:bodyPr wrap="square"/>
                    <a:lstStyle/>
                    <a:p>
                      <a:r>
                        <a:rPr sz="1100" b="1" i="0">
                          <a:solidFill>
                            <a:srgbClr val="1C2433"/>
                          </a:solidFill>
                          <a:latin typeface="Calibri"/>
                        </a:rPr>
                        <a:t>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Compaction on 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Re-enable after a relayout test on one S3 table; update AWS_DELTA_LAKE.md 9.3 (PROPOSED)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100" b="1" i="0">
                          <a:solidFill>
                            <a:srgbClr val="1C2433"/>
                          </a:solidFill>
                          <a:latin typeface="Calibri"/>
                        </a:rPr>
                        <a:t>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Tables by year (S2); range maps, Bloom filters (S1); slice ownership (S5, S6); VaR sharding 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When live files near 100,000 per table, or one server's working set or one VaR date becomes the limit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75488">
                <a:tc>
                  <a:txBody>
                    <a:bodyPr wrap="square"/>
                    <a:lstStyle/>
                    <a:p>
                      <a:r>
                        <a:rPr sz="1100" b="1" i="0">
                          <a:solidFill>
                            <a:srgbClr val="1C2433"/>
                          </a:solidFill>
                          <a:latin typeface="Calibri"/>
                        </a:rPr>
                        <a:t>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Which format for the </a:t>
                      </a:r>
                      <a:r>
                        <a:rPr sz="1100" b="1" i="0">
                          <a:solidFill>
                            <a:srgbClr val="1C2433"/>
                          </a:solidFill>
                          <a:latin typeface="Calibri"/>
                        </a:rPr>
                        <a:t>risk domain</a:t>
                      </a:r>
                      <a:r>
                        <a:rPr sz="1100" b="0" i="0">
                          <a:solidFill>
                            <a:srgbClr val="1C2433"/>
                          </a:solidFill>
                          <a:latin typeface="Calibri"/>
                        </a:rPr>
                        <a:t> (vectors, official results)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Delta by default; Iceberg where the bank standardises on it (equal to the cent); decide at bank scale on the planned benchmark's measured figures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100" b="1" i="0">
                          <a:solidFill>
                            <a:srgbClr val="1C2433"/>
                          </a:solidFill>
                          <a:latin typeface="Calibri"/>
                        </a:rPr>
                        <a:t>8</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Which format for </a:t>
                      </a:r>
                      <a:r>
                        <a:rPr sz="1100" b="1" i="0">
                          <a:solidFill>
                            <a:srgbClr val="1C2433"/>
                          </a:solidFill>
                          <a:latin typeface="Calibri"/>
                        </a:rPr>
                        <a:t>trades and reference data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Either, per source system; Iceberg where the bank's pipelines already write 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75488">
                <a:tc>
                  <a:txBody>
                    <a:bodyPr wrap="square"/>
                    <a:lstStyle/>
                    <a:p>
                      <a:r>
                        <a:rPr sz="1100" b="1" i="0">
                          <a:solidFill>
                            <a:srgbClr val="1C2433"/>
                          </a:solidFill>
                          <a:latin typeface="Calibri"/>
                        </a:rPr>
                        <a:t>9</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a:t>
                      </a:r>
                      <a:r>
                        <a:rPr sz="1100" b="1" i="0">
                          <a:solidFill>
                            <a:srgbClr val="1C2433"/>
                          </a:solidFill>
                          <a:latin typeface="Calibri"/>
                        </a:rPr>
                        <a:t>catalog</a:t>
                      </a:r>
                      <a:r>
                        <a:rPr sz="1100" b="0" i="0">
                          <a:solidFill>
                            <a:srgbClr val="1C2433"/>
                          </a:solidFill>
                          <a:latin typeface="Calibri"/>
                        </a:rPr>
                        <a:t> on AWS for 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Path-based first; Glue's REST endpoint when Athena or Spark must share the tables; S3 Tables only after a proof</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100" b="1" i="0">
                          <a:solidFill>
                            <a:srgbClr val="1C2433"/>
                          </a:solidFill>
                          <a:latin typeface="Calibri"/>
                        </a:rPr>
                        <a:t>10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Seven-year history on 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floor is built; keep full-run snapshots, compact intraday; measure metadata at 2,000+ snapshots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A</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Appendix</a:t>
            </a:r>
          </a:p>
        </p:txBody>
      </p:sp>
      <p:pic>
        <p:nvPicPr>
          <p:cNvPr id="5" name="Drishti mark" descr="Drishti logo: an eye between curly brackets"/>
          <p:cNvPicPr>
            <a:picLocks noChangeAspect="1"/>
          </p:cNvPicPr>
          <p:nvPr/>
        </p:nvPicPr>
        <p:blipFill>
          <a:blip r:embed="rId2"/>
          <a:stretch>
            <a:fillRect/>
          </a:stretch>
        </p:blipFill>
        <p:spPr>
          <a:xfrm>
            <a:off x="822960" y="6236208"/>
            <a:ext cx="430911" cy="237744"/>
          </a:xfrm>
          <a:prstGeom prst="rect">
            <a:avLst/>
          </a:prstGeom>
        </p:spPr>
      </p:pic>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0: prerequisites (the platform team's templates)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 · step 0</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94</a:t>
            </a:r>
          </a:p>
        </p:txBody>
      </p:sp>
      <p:sp>
        <p:nvSpPr>
          <p:cNvPr id="10" name="TextBox 9"/>
          <p:cNvSpPr txBox="1"/>
          <p:nvPr/>
        </p:nvSpPr>
        <p:spPr>
          <a:xfrm>
            <a:off x="411480" y="1188720"/>
            <a:ext cx="6949440" cy="5120640"/>
          </a:xfrm>
          <a:prstGeom prst="rect">
            <a:avLst/>
          </a:prstGeom>
          <a:noFill/>
        </p:spPr>
        <p:txBody>
          <a:bodyPr wrap="square" lIns="0" rIns="0" tIns="0" bIns="0" anchor="t">
            <a:spAutoFit/>
          </a:bodyPr>
          <a:lstStyle/>
          <a:p>
            <a:pPr algn="l" marL="201168" indent="-201168">
              <a:spcAft>
                <a:spcPts val="700"/>
              </a:spcAft>
              <a:buClr>
                <a:srgbClr val="E87A1E"/>
              </a:buClr>
              <a:buSzPct val="100000"/>
              <a:buFont typeface="Arial"/>
              <a:buChar char="•"/>
            </a:pPr>
            <a:r>
              <a:rPr sz="1400" b="0" i="0">
                <a:solidFill>
                  <a:srgbClr val="1C2433"/>
                </a:solidFill>
                <a:latin typeface="Calibri"/>
              </a:rPr>
              <a:t>A VPC with private subnets in three Availability Zones</a:t>
            </a:r>
          </a:p>
          <a:p>
            <a:pPr algn="l" marL="201168" indent="-201168">
              <a:spcAft>
                <a:spcPts val="700"/>
              </a:spcAft>
              <a:buClr>
                <a:srgbClr val="E87A1E"/>
              </a:buClr>
              <a:buSzPct val="100000"/>
              <a:buFont typeface="Arial"/>
              <a:buChar char="•"/>
            </a:pPr>
            <a:r>
              <a:rPr sz="1400" b="0" i="0">
                <a:solidFill>
                  <a:srgbClr val="1C2433"/>
                </a:solidFill>
                <a:latin typeface="Calibri"/>
              </a:rPr>
              <a:t>A gateway VPC endpoint for S3 on their route tables (lake traffic never leaves the VPC; the bucket policy requires it)</a:t>
            </a:r>
          </a:p>
          <a:p>
            <a:pPr algn="l" marL="201168" indent="-201168">
              <a:spcAft>
                <a:spcPts val="700"/>
              </a:spcAft>
              <a:buClr>
                <a:srgbClr val="E87A1E"/>
              </a:buClr>
              <a:buSzPct val="100000"/>
              <a:buFont typeface="Arial"/>
              <a:buChar char="•"/>
            </a:pPr>
            <a:r>
              <a:rPr sz="1400" b="0" i="0">
                <a:solidFill>
                  <a:srgbClr val="1C2433"/>
                </a:solidFill>
                <a:latin typeface="Calibri"/>
              </a:rPr>
              <a:t>Interface endpoints for ECR, CloudWatch Logs, Secrets Manager and STS</a:t>
            </a:r>
          </a:p>
          <a:p>
            <a:pPr algn="l" marL="201168" indent="-201168">
              <a:spcAft>
                <a:spcPts val="700"/>
              </a:spcAft>
              <a:buClr>
                <a:srgbClr val="E87A1E"/>
              </a:buClr>
              <a:buSzPct val="100000"/>
              <a:buFont typeface="Arial"/>
              <a:buChar char="•"/>
            </a:pPr>
            <a:r>
              <a:rPr sz="1400" b="0" i="0">
                <a:solidFill>
                  <a:srgbClr val="1C2433"/>
                </a:solidFill>
                <a:latin typeface="Calibri"/>
              </a:rPr>
              <a:t>An EFS file system: Regional, encrypted, Elastic throughput, a mount target per subnet</a:t>
            </a:r>
          </a:p>
          <a:p>
            <a:pPr algn="l" marL="201168" indent="-201168">
              <a:spcAft>
                <a:spcPts val="700"/>
              </a:spcAft>
              <a:buClr>
                <a:srgbClr val="E87A1E"/>
              </a:buClr>
              <a:buSzPct val="100000"/>
              <a:buFont typeface="Arial"/>
              <a:buChar char="•"/>
            </a:pPr>
            <a:r>
              <a:rPr sz="1400" b="0" i="0">
                <a:solidFill>
                  <a:srgbClr val="1C2433"/>
                </a:solidFill>
                <a:latin typeface="Calibri"/>
              </a:rPr>
              <a:t>A KMS key for the lake; its key policy allows the roles of step 3</a:t>
            </a:r>
          </a:p>
          <a:p>
            <a:pPr algn="l" marL="201168" indent="-201168">
              <a:spcAft>
                <a:spcPts val="700"/>
              </a:spcAft>
              <a:buClr>
                <a:srgbClr val="E87A1E"/>
              </a:buClr>
              <a:buSzPct val="100000"/>
              <a:buFont typeface="Arial"/>
              <a:buChar char="•"/>
            </a:pPr>
            <a:r>
              <a:rPr sz="1400" b="0" i="0">
                <a:solidFill>
                  <a:srgbClr val="1C2433"/>
                </a:solidFill>
                <a:latin typeface="Calibri"/>
              </a:rPr>
              <a:t>An ECS cluster</a:t>
            </a:r>
          </a:p>
          <a:p>
            <a:pPr algn="l" marL="201168" indent="-201168">
              <a:spcAft>
                <a:spcPts val="700"/>
              </a:spcAft>
              <a:buClr>
                <a:srgbClr val="E87A1E"/>
              </a:buClr>
              <a:buSzPct val="100000"/>
              <a:buFont typeface="Arial"/>
              <a:buChar char="•"/>
            </a:pPr>
            <a:r>
              <a:rPr sz="1400" b="0" i="0">
                <a:solidFill>
                  <a:srgbClr val="1C2433"/>
                </a:solidFill>
                <a:latin typeface="Calibri"/>
              </a:rPr>
              <a:t>An Application Load Balancer with a target group for the consoles on port 17480</a:t>
            </a:r>
          </a:p>
          <a:p>
            <a:pPr algn="l" marL="201168" indent="-201168">
              <a:spcAft>
                <a:spcPts val="700"/>
              </a:spcAft>
              <a:buClr>
                <a:srgbClr val="E87A1E"/>
              </a:buClr>
              <a:buSzPct val="100000"/>
              <a:buFont typeface="Arial"/>
              <a:buChar char="•"/>
            </a:pPr>
            <a:r>
              <a:rPr sz="1400" b="0" i="0">
                <a:solidFill>
                  <a:srgbClr val="1C2433"/>
                </a:solidFill>
                <a:latin typeface="Calibri"/>
              </a:rPr>
              <a:t>An SNS topic for alarms</a:t>
            </a:r>
          </a:p>
          <a:p>
            <a:pPr algn="l" marL="201168" indent="-201168">
              <a:spcAft>
                <a:spcPts val="700"/>
              </a:spcAft>
              <a:buClr>
                <a:srgbClr val="E87A1E"/>
              </a:buClr>
              <a:buSzPct val="100000"/>
              <a:buFont typeface="Arial"/>
              <a:buChar char="•"/>
            </a:pPr>
            <a:r>
              <a:rPr sz="1400" b="0" i="0">
                <a:solidFill>
                  <a:srgbClr val="1C2433"/>
                </a:solidFill>
                <a:latin typeface="Calibri"/>
              </a:rPr>
              <a:t>The four secrets of AWS_DEPLOYMENT.md §11.3 (token secret, session secret, cluster key, admin seed)</a:t>
            </a:r>
          </a:p>
        </p:txBody>
      </p:sp>
      <p:sp>
        <p:nvSpPr>
          <p:cNvPr id="11" name="Callout"/>
          <p:cNvSpPr/>
          <p:nvPr/>
        </p:nvSpPr>
        <p:spPr>
          <a:xfrm>
            <a:off x="7635240" y="1188720"/>
            <a:ext cx="4142232" cy="237744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allout edge"/>
          <p:cNvSpPr/>
          <p:nvPr/>
        </p:nvSpPr>
        <p:spPr>
          <a:xfrm>
            <a:off x="7635240" y="1207008"/>
            <a:ext cx="82296" cy="234086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7863840" y="1261872"/>
            <a:ext cx="3776472" cy="223113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Who builds these?</a:t>
            </a:r>
          </a:p>
          <a:p>
            <a:pPr algn="l">
              <a:spcAft>
                <a:spcPts val="600"/>
              </a:spcAft>
              <a:buNone/>
            </a:pPr>
            <a:r>
              <a:rPr sz="1300" b="0" i="0">
                <a:solidFill>
                  <a:srgbClr val="1C2433"/>
                </a:solidFill>
                <a:latin typeface="Calibri"/>
              </a:rPr>
              <a:t>The platform team, with its own CloudFormation or Terraform templates. The Drishti scripts take their ids (subnets, file system, key ARN, cluster, target group, topic) from </a:t>
            </a:r>
            <a:r>
              <a:rPr sz="1200" b="0" i="0">
                <a:solidFill>
                  <a:srgbClr val="0E7C86"/>
                </a:solidFill>
                <a:latin typeface="Consolas"/>
              </a:rPr>
              <a:t>deploy/aws/env</a:t>
            </a:r>
            <a:r>
              <a:rPr sz="1300" b="0" i="0">
                <a:solidFill>
                  <a:srgbClr val="1C2433"/>
                </a:solidFill>
                <a:latin typeface="Calibri"/>
              </a:rPr>
              <a:t>.</a:t>
            </a:r>
          </a:p>
        </p:txBody>
      </p:sp>
      <p:sp>
        <p:nvSpPr>
          <p:cNvPr id="14" name="Callout"/>
          <p:cNvSpPr/>
          <p:nvPr/>
        </p:nvSpPr>
        <p:spPr>
          <a:xfrm>
            <a:off x="7635240" y="3794760"/>
            <a:ext cx="4142232" cy="251460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allout edge"/>
          <p:cNvSpPr/>
          <p:nvPr/>
        </p:nvSpPr>
        <p:spPr>
          <a:xfrm>
            <a:off x="7635240" y="3813048"/>
            <a:ext cx="82296" cy="247802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7863840" y="3867912"/>
            <a:ext cx="3776472" cy="236829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Run the scripts from</a:t>
            </a:r>
          </a:p>
          <a:p>
            <a:pPr algn="l">
              <a:spcAft>
                <a:spcPts val="600"/>
              </a:spcAft>
              <a:buNone/>
            </a:pPr>
            <a:r>
              <a:rPr sz="1300" b="0" i="0">
                <a:solidFill>
                  <a:srgbClr val="1C2433"/>
                </a:solidFill>
                <a:latin typeface="Calibri"/>
              </a:rPr>
              <a:t>a workstation or admin host with AWS CLI v2, the repository, Java 21 and </a:t>
            </a:r>
            <a:r>
              <a:rPr sz="1200" b="0" i="0">
                <a:solidFill>
                  <a:srgbClr val="0E7C86"/>
                </a:solidFill>
                <a:latin typeface="Consolas"/>
              </a:rPr>
              <a:t>drishti-console/.venv</a:t>
            </a:r>
            <a:r>
              <a:rPr sz="1300" b="0" i="0">
                <a:solidFill>
                  <a:srgbClr val="1C2433"/>
                </a:solidFill>
                <a:latin typeface="Calibri"/>
              </a:rPr>
              <a:t>.</a:t>
            </a:r>
          </a:p>
          <a:p>
            <a:pPr algn="l">
              <a:spcAft>
                <a:spcPts val="600"/>
              </a:spcAft>
              <a:buNone/>
            </a:pPr>
            <a:r>
              <a:rPr sz="1300" b="0" i="0">
                <a:solidFill>
                  <a:srgbClr val="1C2433"/>
                </a:solidFill>
                <a:latin typeface="Calibri"/>
              </a:rPr>
              <a:t>Content store on S3 (optional): its bucket needs conditional writes too (step 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1: the settings file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 · step 1</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95</a:t>
            </a:r>
          </a:p>
        </p:txBody>
      </p:sp>
      <p:sp>
        <p:nvSpPr>
          <p:cNvPr id="10" name="Code block"/>
          <p:cNvSpPr/>
          <p:nvPr/>
        </p:nvSpPr>
        <p:spPr>
          <a:xfrm>
            <a:off x="411480" y="1188720"/>
            <a:ext cx="11365992" cy="91440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521208" y="1252728"/>
            <a:ext cx="11146536" cy="78638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cp deploy/aws/env.example deploy/aws/env      </a:t>
            </a:r>
            <a:r>
              <a:rPr sz="1100" b="0" i="0">
                <a:solidFill>
                  <a:srgbClr val="8B9BB4"/>
                </a:solidFill>
                <a:latin typeface="Consolas"/>
              </a:rPr>
              <a:t>  # git-ignored; holds account ids and names, never a secret</a:t>
            </a:r>
          </a:p>
          <a:p>
            <a:pPr>
              <a:spcAft>
                <a:spcPts val="0"/>
              </a:spcAft>
              <a:buNone/>
            </a:pPr>
            <a:r>
              <a:rPr sz="1100" b="0" i="0">
                <a:solidFill>
                  <a:srgbClr val="E6EDF3"/>
                </a:solidFill>
                <a:latin typeface="Consolas"/>
              </a:rPr>
              <a:t>$EDITOR deploy/aws/env                        </a:t>
            </a:r>
            <a:r>
              <a:rPr sz="1100" b="0" i="0">
                <a:solidFill>
                  <a:srgbClr val="8B9BB4"/>
                </a:solidFill>
                <a:latin typeface="Consolas"/>
              </a:rPr>
              <a:t>  # replace every &lt;placeholder&gt;</a:t>
            </a:r>
          </a:p>
          <a:p>
            <a:pPr>
              <a:spcAft>
                <a:spcPts val="0"/>
              </a:spcAft>
              <a:buNone/>
            </a:pPr>
            <a:r>
              <a:rPr sz="1100" b="0" i="0">
                <a:solidFill>
                  <a:srgbClr val="E6EDF3"/>
                </a:solidFill>
                <a:latin typeface="Consolas"/>
              </a:rPr>
              <a:t>cp deploy/aws/delta-lake/tables.example deploy/aws/delta-lake/tables.conf </a:t>
            </a:r>
            <a:r>
              <a:rPr sz="1100" b="0" i="0">
                <a:solidFill>
                  <a:srgbClr val="8B9BB4"/>
                </a:solidFill>
                <a:latin typeface="Consolas"/>
              </a:rPr>
              <a:t>  # your tables; set LAKE_TABLES_FILE</a:t>
            </a:r>
          </a:p>
        </p:txBody>
      </p:sp>
      <p:sp>
        <p:nvSpPr>
          <p:cNvPr id="12" name="TextBox 11"/>
          <p:cNvSpPr txBox="1"/>
          <p:nvPr/>
        </p:nvSpPr>
        <p:spPr>
          <a:xfrm>
            <a:off x="411480" y="2240280"/>
            <a:ext cx="11365992" cy="640080"/>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You should see:</a:t>
            </a:r>
            <a:r>
              <a:rPr sz="1300" b="0" i="0">
                <a:solidFill>
                  <a:srgbClr val="1C2433"/>
                </a:solidFill>
                <a:latin typeface="Calibri"/>
              </a:rPr>
              <a:t> nothing yet. A script run with a placeholder left names it: </a:t>
            </a:r>
            <a:r>
              <a:rPr sz="1200" b="0" i="0">
                <a:solidFill>
                  <a:srgbClr val="0E7C86"/>
                </a:solidFill>
                <a:latin typeface="Consolas"/>
              </a:rPr>
              <a:t>setup-buckets.sh: LAKE_KMS_KEY_ARN is still a placeholder (&lt;arn:aws:kms:…&gt;) in deploy/aws/env</a:t>
            </a:r>
          </a:p>
        </p:txBody>
      </p:sp>
      <p:sp>
        <p:nvSpPr>
          <p:cNvPr id="13" name="Code block"/>
          <p:cNvSpPr/>
          <p:nvPr/>
        </p:nvSpPr>
        <p:spPr>
          <a:xfrm>
            <a:off x="411480" y="2926080"/>
            <a:ext cx="11365992" cy="41148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Code"/>
          <p:cNvSpPr txBox="1"/>
          <p:nvPr/>
        </p:nvSpPr>
        <p:spPr>
          <a:xfrm>
            <a:off x="521208" y="2990088"/>
            <a:ext cx="11146536" cy="28346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trading/trade_endur      trade   config/packs/trading   trade-endur     {date}/endur/           -      PRODUCT_TYPE</a:t>
            </a:r>
          </a:p>
        </p:txBody>
      </p:sp>
      <p:graphicFrame>
        <p:nvGraphicFramePr>
          <p:cNvPr id="15" name="Table"/>
          <p:cNvGraphicFramePr>
            <a:graphicFrameLocks noGrp="1"/>
          </p:cNvGraphicFramePr>
          <p:nvPr/>
        </p:nvGraphicFramePr>
        <p:xfrm>
          <a:off x="411480" y="3474720"/>
          <a:ext cx="11365990" cy="2852928"/>
        </p:xfrm>
        <a:graphic>
          <a:graphicData uri="http://schemas.openxmlformats.org/drawingml/2006/table">
            <a:tbl>
              <a:tblPr firstRow="0" bandRow="0">
                <a:tableStyleId>{5940675A-B579-460E-94D1-54222C63F5DA}</a:tableStyleId>
              </a:tblPr>
              <a:tblGrid>
                <a:gridCol w="2016546"/>
                <a:gridCol w="2933159"/>
                <a:gridCol w="6416285"/>
              </a:tblGrid>
              <a:tr h="356616">
                <a:tc>
                  <a:txBody>
                    <a:bodyPr wrap="square"/>
                    <a:lstStyle/>
                    <a:p>
                      <a:r>
                        <a:rPr sz="1200" b="1" i="0">
                          <a:solidFill>
                            <a:srgbClr val="FFFFFF"/>
                          </a:solidFill>
                          <a:latin typeface="Calibri"/>
                        </a:rPr>
                        <a:t>Field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Example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Meaning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356616">
                <a:tc>
                  <a:txBody>
                    <a:bodyPr wrap="square"/>
                    <a:lstStyle/>
                    <a:p>
                      <a:r>
                        <a:rPr sz="1200" b="1" i="0">
                          <a:solidFill>
                            <a:srgbClr val="1C2433"/>
                          </a:solidFill>
                          <a:latin typeface="Calibri"/>
                        </a:rPr>
                        <a:t>folder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trading/trade_endur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table's folder under the lake prefix (domain /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56616">
                <a:tc>
                  <a:txBody>
                    <a:bodyPr wrap="square"/>
                    <a:lstStyle/>
                    <a:p>
                      <a:r>
                        <a:rPr sz="1200" b="1" i="0">
                          <a:solidFill>
                            <a:srgbClr val="1C2433"/>
                          </a:solidFill>
                          <a:latin typeface="Calibri"/>
                        </a:rPr>
                        <a:t>kind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trade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Drishti kind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56616">
                <a:tc>
                  <a:txBody>
                    <a:bodyPr wrap="square"/>
                    <a:lstStyle/>
                    <a:p>
                      <a:r>
                        <a:rPr sz="1200" b="1" i="0">
                          <a:solidFill>
                            <a:srgbClr val="1C2433"/>
                          </a:solidFill>
                          <a:latin typeface="Calibri"/>
                        </a:rPr>
                        <a:t>pack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config/packs/trading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pack whose layout (key, promoted and vector columns) is used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56616">
                <a:tc>
                  <a:txBody>
                    <a:bodyPr wrap="square"/>
                    <a:lstStyle/>
                    <a:p>
                      <a:r>
                        <a:rPr sz="1200" b="1" i="0">
                          <a:solidFill>
                            <a:srgbClr val="1C2433"/>
                          </a:solidFill>
                          <a:latin typeface="Calibri"/>
                        </a:rPr>
                        <a:t>connector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trade-endur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pack's connector that reads this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56616">
                <a:tc>
                  <a:txBody>
                    <a:bodyPr wrap="square"/>
                    <a:lstStyle/>
                    <a:p>
                      <a:r>
                        <a:rPr sz="1200" b="1" i="0">
                          <a:solidFill>
                            <a:srgbClr val="1C2433"/>
                          </a:solidFill>
                          <a:latin typeface="Calibri"/>
                        </a:rPr>
                        <a:t>landing prefix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{date}/endur/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where the JSON Lines dumps are; </a:t>
                      </a:r>
                      <a:r>
                        <a:rPr sz="1100" b="0" i="0">
                          <a:solidFill>
                            <a:srgbClr val="0E7C86"/>
                          </a:solidFill>
                          <a:latin typeface="Consolas"/>
                        </a:rPr>
                        <a:t>{date}</a:t>
                      </a:r>
                      <a:r>
                        <a:rPr sz="1200" b="0" i="0">
                          <a:solidFill>
                            <a:srgbClr val="1C2433"/>
                          </a:solidFill>
                          <a:latin typeface="Calibri"/>
                        </a:rPr>
                        <a:t> is the business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56616">
                <a:tc>
                  <a:txBody>
                    <a:bodyPr wrap="square"/>
                    <a:lstStyle/>
                    <a:p>
                      <a:r>
                        <a:rPr sz="1200" b="1" i="0">
                          <a:solidFill>
                            <a:srgbClr val="1C2433"/>
                          </a:solidFill>
                          <a:latin typeface="Calibri"/>
                        </a:rPr>
                        <a:t>business-date field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field holding the date, or - for the day being loaded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56616">
                <a:tc>
                  <a:txBody>
                    <a:bodyPr wrap="square"/>
                    <a:lstStyle/>
                    <a:p>
                      <a:r>
                        <a:rPr sz="1200" b="1" i="0">
                          <a:solidFill>
                            <a:srgbClr val="1C2433"/>
                          </a:solidFill>
                          <a:latin typeface="Calibri"/>
                        </a:rPr>
                        <a:t>partition column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PRODUCT_TYPE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second partition key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2: the buckets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 · step 2</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96</a:t>
            </a:r>
          </a:p>
        </p:txBody>
      </p:sp>
      <p:sp>
        <p:nvSpPr>
          <p:cNvPr id="10" name="Code block"/>
          <p:cNvSpPr/>
          <p:nvPr/>
        </p:nvSpPr>
        <p:spPr>
          <a:xfrm>
            <a:off x="411480" y="1188720"/>
            <a:ext cx="11365992" cy="196596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521208" y="1252728"/>
            <a:ext cx="11146536" cy="1837943"/>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deploy/aws/delta-lake/setup-buckets.sh --dry-run</a:t>
            </a:r>
          </a:p>
          <a:p>
            <a:pPr>
              <a:spcAft>
                <a:spcPts val="0"/>
              </a:spcAft>
              <a:buNone/>
            </a:pPr>
            <a:r>
              <a:rPr sz="1100" b="0" i="0">
                <a:solidFill>
                  <a:srgbClr val="E6EDF3"/>
                </a:solidFill>
                <a:latin typeface="Consolas"/>
              </a:rPr>
              <a:t>deploy/aws/delta-lake/setup-buckets.sh</a:t>
            </a:r>
          </a:p>
          <a:p>
            <a:pPr>
              <a:spcAft>
                <a:spcPts val="0"/>
              </a:spcAft>
              <a:buNone/>
            </a:pPr>
            <a:r>
              <a:rPr sz="1100" b="0" i="0">
                <a:solidFill>
                  <a:srgbClr val="E6EDF3"/>
                </a:solidFill>
                <a:latin typeface="Consolas"/>
              </a:rPr>
              <a:t>+ aws s3api create-bucket --bucket acme-drishti-prod-lake --object-ownership BucketOwnerEnforced \</a:t>
            </a:r>
          </a:p>
          <a:p>
            <a:pPr>
              <a:spcAft>
                <a:spcPts val="0"/>
              </a:spcAft>
              <a:buNone/>
            </a:pPr>
            <a:r>
              <a:rPr sz="1100" b="0" i="0">
                <a:solidFill>
                  <a:srgbClr val="E6EDF3"/>
                </a:solidFill>
                <a:latin typeface="Consolas"/>
              </a:rPr>
              <a:t>      --create-bucket-configuration LocationConstraint=eu-west-2</a:t>
            </a:r>
          </a:p>
          <a:p>
            <a:pPr>
              <a:spcAft>
                <a:spcPts val="0"/>
              </a:spcAft>
              <a:buNone/>
            </a:pPr>
            <a:r>
              <a:rPr sz="1100" b="0" i="0">
                <a:solidFill>
                  <a:srgbClr val="E6EDF3"/>
                </a:solidFill>
                <a:latin typeface="Consolas"/>
              </a:rPr>
              <a:t>+ aws s3api put-bucket-versioning --bucket acme-drishti-prod-lake --versioning-configuration Status=Enabled</a:t>
            </a:r>
          </a:p>
          <a:p>
            <a:pPr>
              <a:spcAft>
                <a:spcPts val="0"/>
              </a:spcAft>
              <a:buNone/>
            </a:pPr>
            <a:r>
              <a:rPr sz="1100" b="0" i="0">
                <a:solidFill>
                  <a:srgbClr val="E6EDF3"/>
                </a:solidFill>
                <a:latin typeface="Consolas"/>
              </a:rPr>
              <a:t>+ aws s3api put-bucket-encryption --bucket acme-drishti-prod-lake --server-side-encryption-configuration file://…</a:t>
            </a:r>
          </a:p>
          <a:p>
            <a:pPr>
              <a:spcAft>
                <a:spcPts val="0"/>
              </a:spcAft>
              <a:buNone/>
            </a:pPr>
            <a:r>
              <a:rPr sz="1100" b="0" i="0">
                <a:solidFill>
                  <a:srgbClr val="E6EDF3"/>
                </a:solidFill>
                <a:latin typeface="Consolas"/>
              </a:rPr>
              <a:t>+ aws s3api put-bucket-policy --bucket acme-drishti-prod-lake --policy file://…/policy-….json</a:t>
            </a:r>
          </a:p>
          <a:p>
            <a:pPr>
              <a:spcAft>
                <a:spcPts val="0"/>
              </a:spcAft>
              <a:buNone/>
            </a:pPr>
            <a:r>
              <a:rPr sz="1100" b="0" i="0">
                <a:solidFill>
                  <a:srgbClr val="E6EDF3"/>
                </a:solidFill>
                <a:latin typeface="Consolas"/>
              </a:rPr>
              <a:t>setup-buckets.sh: done: acme-drishti-prod-lake, acme-drishti-prod-landing, acme-drishti-prod-logs</a:t>
            </a:r>
          </a:p>
        </p:txBody>
      </p:sp>
      <p:sp>
        <p:nvSpPr>
          <p:cNvPr id="12" name="TextBox 11"/>
          <p:cNvSpPr txBox="1"/>
          <p:nvPr/>
        </p:nvSpPr>
        <p:spPr>
          <a:xfrm>
            <a:off x="411480" y="3337560"/>
            <a:ext cx="11365992" cy="3017520"/>
          </a:xfrm>
          <a:prstGeom prst="rect">
            <a:avLst/>
          </a:prstGeom>
          <a:noFill/>
        </p:spPr>
        <p:txBody>
          <a:bodyPr wrap="square" lIns="0" rIns="0" tIns="0" bIns="0" anchor="t">
            <a:spAutoFit/>
          </a:bodyPr>
          <a:lstStyle/>
          <a:p>
            <a:pPr algn="l" marL="201168" indent="-201168">
              <a:spcAft>
                <a:spcPts val="700"/>
              </a:spcAft>
              <a:buClr>
                <a:srgbClr val="E87A1E"/>
              </a:buClr>
              <a:buSzPct val="100000"/>
              <a:buFont typeface="Arial"/>
              <a:buChar char="•"/>
            </a:pPr>
            <a:r>
              <a:rPr sz="1400" b="1" i="0">
                <a:solidFill>
                  <a:srgbClr val="1C2433"/>
                </a:solidFill>
                <a:latin typeface="Calibri"/>
              </a:rPr>
              <a:t>Three buckets:</a:t>
            </a:r>
            <a:r>
              <a:rPr sz="1400" b="0" i="0">
                <a:solidFill>
                  <a:srgbClr val="1C2433"/>
                </a:solidFill>
                <a:latin typeface="Calibri"/>
              </a:rPr>
              <a:t> </a:t>
            </a:r>
            <a:r>
              <a:rPr sz="1300" b="0" i="0">
                <a:solidFill>
                  <a:srgbClr val="0E7C86"/>
                </a:solidFill>
                <a:latin typeface="Consolas"/>
              </a:rPr>
              <a:t>-lake</a:t>
            </a:r>
            <a:r>
              <a:rPr sz="1400" b="0" i="0">
                <a:solidFill>
                  <a:srgbClr val="1C2433"/>
                </a:solidFill>
                <a:latin typeface="Calibri"/>
              </a:rPr>
              <a:t> (every Delta table, the risk lake included), </a:t>
            </a:r>
            <a:r>
              <a:rPr sz="1300" b="0" i="0">
                <a:solidFill>
                  <a:srgbClr val="0E7C86"/>
                </a:solidFill>
                <a:latin typeface="Consolas"/>
              </a:rPr>
              <a:t>-landing</a:t>
            </a:r>
            <a:r>
              <a:rPr sz="1400" b="0" i="0">
                <a:solidFill>
                  <a:srgbClr val="1C2433"/>
                </a:solidFill>
                <a:latin typeface="Calibri"/>
              </a:rPr>
              <a:t> (JSON Lines dumps, 30 days), </a:t>
            </a:r>
            <a:r>
              <a:rPr sz="1300" b="0" i="0">
                <a:solidFill>
                  <a:srgbClr val="0E7C86"/>
                </a:solidFill>
                <a:latin typeface="Consolas"/>
              </a:rPr>
              <a:t>-logs</a:t>
            </a:r>
            <a:r>
              <a:rPr sz="1400" b="0" i="0">
                <a:solidFill>
                  <a:srgbClr val="1C2433"/>
                </a:solidFill>
                <a:latin typeface="Calibri"/>
              </a:rPr>
              <a:t> (access logs, 400 days)</a:t>
            </a:r>
          </a:p>
          <a:p>
            <a:pPr algn="l" marL="201168" indent="-201168">
              <a:spcAft>
                <a:spcPts val="700"/>
              </a:spcAft>
              <a:buClr>
                <a:srgbClr val="E87A1E"/>
              </a:buClr>
              <a:buSzPct val="100000"/>
              <a:buFont typeface="Arial"/>
              <a:buChar char="•"/>
            </a:pPr>
            <a:r>
              <a:rPr sz="1400" b="1" i="0">
                <a:solidFill>
                  <a:srgbClr val="1C2433"/>
                </a:solidFill>
                <a:latin typeface="Calibri"/>
              </a:rPr>
              <a:t>On the lake:</a:t>
            </a:r>
            <a:r>
              <a:rPr sz="1400" b="0" i="0">
                <a:solidFill>
                  <a:srgbClr val="1C2433"/>
                </a:solidFill>
                <a:latin typeface="Calibri"/>
              </a:rPr>
              <a:t> versioning on; SSE-KMS with S3 Bucket Keys; Block Public Access; bucket-owner-enforced ownership; TLS only; VPC endpoint only (plus </a:t>
            </a:r>
            <a:r>
              <a:rPr sz="1300" b="0" i="0">
                <a:solidFill>
                  <a:srgbClr val="0E7C86"/>
                </a:solidFill>
                <a:latin typeface="Consolas"/>
              </a:rPr>
              <a:t>drishti-&lt;env&gt;-admin*</a:t>
            </a:r>
            <a:r>
              <a:rPr sz="1400" b="0" i="0">
                <a:solidFill>
                  <a:srgbClr val="1C2433"/>
                </a:solidFill>
                <a:latin typeface="Calibri"/>
              </a:rPr>
              <a:t> roles); access logs; request metrics on </a:t>
            </a:r>
            <a:r>
              <a:rPr sz="1300" b="0" i="0">
                <a:solidFill>
                  <a:srgbClr val="0E7C86"/>
                </a:solidFill>
                <a:latin typeface="Consolas"/>
              </a:rPr>
              <a:t>lake/</a:t>
            </a:r>
          </a:p>
          <a:p>
            <a:pPr algn="l" marL="201168" indent="-201168">
              <a:spcAft>
                <a:spcPts val="700"/>
              </a:spcAft>
              <a:buClr>
                <a:srgbClr val="E87A1E"/>
              </a:buClr>
              <a:buSzPct val="100000"/>
              <a:buFont typeface="Arial"/>
              <a:buChar char="•"/>
            </a:pPr>
            <a:r>
              <a:rPr sz="1400" b="1" i="0">
                <a:solidFill>
                  <a:srgbClr val="1C2433"/>
                </a:solidFill>
                <a:latin typeface="Calibri"/>
              </a:rPr>
              <a:t>Safety net:</a:t>
            </a:r>
            <a:r>
              <a:rPr sz="1400" b="0" i="0">
                <a:solidFill>
                  <a:srgbClr val="1C2433"/>
                </a:solidFill>
                <a:latin typeface="Calibri"/>
              </a:rPr>
              <a:t> noncurrent versions expire after 14 days; incomplete multipart uploads abort after 2 days</a:t>
            </a:r>
          </a:p>
          <a:p>
            <a:pPr algn="l" marL="201168" indent="-201168">
              <a:spcAft>
                <a:spcPts val="700"/>
              </a:spcAft>
              <a:buClr>
                <a:srgbClr val="E87A1E"/>
              </a:buClr>
              <a:buSzPct val="100000"/>
              <a:buFont typeface="Arial"/>
              <a:buChar char="•"/>
            </a:pPr>
            <a:r>
              <a:rPr sz="1400" b="1" i="0">
                <a:solidFill>
                  <a:srgbClr val="1C2433"/>
                </a:solidFill>
                <a:latin typeface="Calibri"/>
              </a:rPr>
              <a:t>Idempotent:</a:t>
            </a:r>
            <a:r>
              <a:rPr sz="1400" b="0" i="0">
                <a:solidFill>
                  <a:srgbClr val="1C2433"/>
                </a:solidFill>
                <a:latin typeface="Calibri"/>
              </a:rPr>
              <a:t> run again, it says </a:t>
            </a:r>
            <a:r>
              <a:rPr sz="1300" b="0" i="0">
                <a:solidFill>
                  <a:srgbClr val="0E7C86"/>
                </a:solidFill>
                <a:latin typeface="Consolas"/>
              </a:rPr>
              <a:t>acme-drishti-prod-lake exists: kept, settings applied again</a:t>
            </a:r>
          </a:p>
          <a:p>
            <a:pPr algn="l" marL="201168" indent="-201168">
              <a:spcAft>
                <a:spcPts val="700"/>
              </a:spcAft>
              <a:buClr>
                <a:srgbClr val="E87A1E"/>
              </a:buClr>
              <a:buSzPct val="100000"/>
              <a:buFont typeface="Arial"/>
              <a:buChar char="•"/>
            </a:pPr>
            <a:r>
              <a:rPr sz="1300" b="0" i="0">
                <a:solidFill>
                  <a:srgbClr val="0E7C86"/>
                </a:solidFill>
                <a:latin typeface="Consolas"/>
              </a:rPr>
              <a:t>--dry-run</a:t>
            </a:r>
            <a:r>
              <a:rPr sz="1400" b="0" i="0">
                <a:solidFill>
                  <a:srgbClr val="1C2433"/>
                </a:solidFill>
                <a:latin typeface="Calibri"/>
              </a:rPr>
              <a:t> prints each changing call as </a:t>
            </a:r>
            <a:r>
              <a:rPr sz="1300" b="0" i="0">
                <a:solidFill>
                  <a:srgbClr val="0E7C86"/>
                </a:solidFill>
                <a:latin typeface="Consolas"/>
              </a:rPr>
              <a:t>+ aws …</a:t>
            </a:r>
            <a:r>
              <a:rPr sz="1400" b="0" i="0">
                <a:solidFill>
                  <a:srgbClr val="1C2433"/>
                </a:solidFill>
                <a:latin typeface="Calibri"/>
              </a:rPr>
              <a:t> and each read as </a:t>
            </a:r>
            <a:r>
              <a:rPr sz="1300" b="0" i="0">
                <a:solidFill>
                  <a:srgbClr val="0E7C86"/>
                </a:solidFill>
                <a:latin typeface="Consolas"/>
              </a:rPr>
              <a:t>? aws …</a:t>
            </a:r>
            <a:r>
              <a:rPr sz="1400" b="0" i="0">
                <a:solidFill>
                  <a:srgbClr val="1C2433"/>
                </a:solidFill>
                <a:latin typeface="Calibri"/>
              </a:rPr>
              <a:t>; none is made</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3: who may do what (IAM)</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 · step 3</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97</a:t>
            </a:r>
          </a:p>
        </p:txBody>
      </p:sp>
      <p:sp>
        <p:nvSpPr>
          <p:cNvPr id="10" name="Code block"/>
          <p:cNvSpPr/>
          <p:nvPr/>
        </p:nvSpPr>
        <p:spPr>
          <a:xfrm>
            <a:off x="411480" y="1188720"/>
            <a:ext cx="11365992" cy="54864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521208" y="1252728"/>
            <a:ext cx="11146536" cy="420623"/>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deploy/aws/delta-lake/setup-iam.sh --dry-run</a:t>
            </a:r>
          </a:p>
          <a:p>
            <a:pPr>
              <a:spcAft>
                <a:spcPts val="0"/>
              </a:spcAft>
              <a:buNone/>
            </a:pPr>
            <a:r>
              <a:rPr sz="1100" b="0" i="0">
                <a:solidFill>
                  <a:srgbClr val="E6EDF3"/>
                </a:solidFill>
                <a:latin typeface="Consolas"/>
              </a:rPr>
              <a:t>deploy/aws/delta-lake/setup-iam.sh</a:t>
            </a:r>
          </a:p>
        </p:txBody>
      </p:sp>
      <p:graphicFrame>
        <p:nvGraphicFramePr>
          <p:cNvPr id="12" name="Table"/>
          <p:cNvGraphicFramePr>
            <a:graphicFrameLocks noGrp="1"/>
          </p:cNvGraphicFramePr>
          <p:nvPr/>
        </p:nvGraphicFramePr>
        <p:xfrm>
          <a:off x="411480" y="1920240"/>
          <a:ext cx="11365990" cy="3401568"/>
        </p:xfrm>
        <a:graphic>
          <a:graphicData uri="http://schemas.openxmlformats.org/drawingml/2006/table">
            <a:tbl>
              <a:tblPr firstRow="0" bandRow="0">
                <a:tableStyleId>{5940675A-B579-460E-94D1-54222C63F5DA}</a:tableStyleId>
              </a:tblPr>
              <a:tblGrid>
                <a:gridCol w="2933159"/>
                <a:gridCol w="3574787"/>
                <a:gridCol w="4858044"/>
              </a:tblGrid>
              <a:tr h="566928">
                <a:tc>
                  <a:txBody>
                    <a:bodyPr wrap="square"/>
                    <a:lstStyle/>
                    <a:p>
                      <a:r>
                        <a:rPr sz="1200" b="1" i="0">
                          <a:solidFill>
                            <a:srgbClr val="FFFFFF"/>
                          </a:solidFill>
                          <a:latin typeface="Calibri"/>
                        </a:rPr>
                        <a:t>Role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Policy (deploy/aws/delta-lake/iam/)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May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66928">
                <a:tc>
                  <a:txBody>
                    <a:bodyPr wrap="square"/>
                    <a:lstStyle/>
                    <a:p>
                      <a:r>
                        <a:rPr sz="1100" b="0" i="0">
                          <a:solidFill>
                            <a:srgbClr val="0E7C86"/>
                          </a:solidFill>
                          <a:latin typeface="Consolas"/>
                        </a:rPr>
                        <a:t>drishti-&lt;env&gt;-server-task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server-policy.json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read the lake prefix (GET, LIST), decrypt; mount EFS through access points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100" b="0" i="0">
                          <a:solidFill>
                            <a:srgbClr val="0E7C86"/>
                          </a:solidFill>
                          <a:latin typeface="Consolas"/>
                        </a:rPr>
                        <a:t>drishti-&lt;env&gt;-loader-task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loader-policy.json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read the landing bucket; write data files and commits; never delete (an explicit deny)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100" b="0" i="0">
                          <a:solidFill>
                            <a:srgbClr val="0E7C86"/>
                          </a:solidFill>
                          <a:latin typeface="Consolas"/>
                        </a:rPr>
                        <a:t>drishti-&lt;env&gt;-maintenance-task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maintenance-policy.json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checkpoints, retention and vacuum: the only role that deletes; the lifecycle rules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100" b="0" i="0">
                          <a:solidFill>
                            <a:srgbClr val="0E7C86"/>
                          </a:solidFill>
                          <a:latin typeface="Consolas"/>
                        </a:rPr>
                        <a:t>drishti-&lt;env&gt;-execution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AmazonECSTaskExecutionRolePolicy + </a:t>
                      </a:r>
                      <a:r>
                        <a:rPr sz="1100" b="0" i="0">
                          <a:solidFill>
                            <a:srgbClr val="0E7C86"/>
                          </a:solidFill>
                          <a:latin typeface="Consolas"/>
                        </a:rPr>
                        <a:t>drishti/&lt;env&gt;/*</a:t>
                      </a:r>
                      <a:r>
                        <a:rPr sz="1200" b="0" i="0">
                          <a:solidFill>
                            <a:srgbClr val="1C2433"/>
                          </a:solidFill>
                          <a:latin typeface="Calibri"/>
                        </a:rPr>
                        <a:t> secrets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ECS pulls images, writes logs, injects secrets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100" b="0" i="0">
                          <a:solidFill>
                            <a:srgbClr val="0E7C86"/>
                          </a:solidFill>
                          <a:latin typeface="Consolas"/>
                        </a:rPr>
                        <a:t>drishti-&lt;env&gt;-scheduler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inline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EventBridge Scheduler runs the lake tasks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3" name="Callout"/>
          <p:cNvSpPr/>
          <p:nvPr/>
        </p:nvSpPr>
        <p:spPr>
          <a:xfrm>
            <a:off x="411480" y="5486400"/>
            <a:ext cx="11365992" cy="82296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Callout edge"/>
          <p:cNvSpPr/>
          <p:nvPr/>
        </p:nvSpPr>
        <p:spPr>
          <a:xfrm>
            <a:off x="411480" y="5504688"/>
            <a:ext cx="82296" cy="78638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640080" y="5559552"/>
            <a:ext cx="11000232" cy="676656"/>
          </a:xfrm>
          <a:prstGeom prst="rect">
            <a:avLst/>
          </a:prstGeom>
          <a:noFill/>
        </p:spPr>
        <p:txBody>
          <a:bodyPr wrap="square" lIns="0" rIns="0" tIns="0" bIns="0" anchor="ctr">
            <a:spAutoFit/>
          </a:bodyPr>
          <a:lstStyle/>
          <a:p>
            <a:pPr algn="l">
              <a:spcAft>
                <a:spcPts val="600"/>
              </a:spcAft>
              <a:buNone/>
            </a:pPr>
            <a:r>
              <a:rPr sz="1300" b="1" i="0">
                <a:solidFill>
                  <a:srgbClr val="1C2433"/>
                </a:solidFill>
                <a:latin typeface="Calibri"/>
              </a:rPr>
              <a:t>You should see</a:t>
            </a:r>
            <a:r>
              <a:rPr sz="1300" b="0" i="0">
                <a:solidFill>
                  <a:srgbClr val="1C2433"/>
                </a:solidFill>
                <a:latin typeface="Calibri"/>
              </a:rPr>
              <a:t> </a:t>
            </a:r>
            <a:r>
              <a:rPr sz="1200" b="0" i="0">
                <a:solidFill>
                  <a:srgbClr val="0E7C86"/>
                </a:solidFill>
                <a:latin typeface="Consolas"/>
              </a:rPr>
              <a:t>setup-iam.sh: done: three policies, five roles (…)</a:t>
            </a:r>
            <a:r>
              <a:rPr sz="1300" b="0" i="0">
                <a:solidFill>
                  <a:srgbClr val="1C2433"/>
                </a:solidFill>
                <a:latin typeface="Calibri"/>
              </a:rPr>
              <a:t>. The shipped server policy only reads; for official results to S3 add </a:t>
            </a:r>
            <a:r>
              <a:rPr sz="1200" b="0" i="0">
                <a:solidFill>
                  <a:srgbClr val="0E7C86"/>
                </a:solidFill>
                <a:latin typeface="Consolas"/>
              </a:rPr>
              <a:t>s3:PutObject</a:t>
            </a:r>
            <a:r>
              <a:rPr sz="1300" b="0" i="0">
                <a:solidFill>
                  <a:srgbClr val="1C2433"/>
                </a:solidFill>
                <a:latin typeface="Calibri"/>
              </a:rPr>
              <a:t> on their prefix, no delete (AWS_DEPLOYMENT.md §22; slide 49).</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4: prove that commits are safe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 · step 4</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98</a:t>
            </a:r>
          </a:p>
        </p:txBody>
      </p:sp>
      <p:sp>
        <p:nvSpPr>
          <p:cNvPr id="10" name="Code block"/>
          <p:cNvSpPr/>
          <p:nvPr/>
        </p:nvSpPr>
        <p:spPr>
          <a:xfrm>
            <a:off x="411480" y="1188720"/>
            <a:ext cx="11365992" cy="68580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521208" y="1252728"/>
            <a:ext cx="11146536" cy="55778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deploy/aws/delta-lake/check-conditional-writes.sh</a:t>
            </a:r>
          </a:p>
          <a:p>
            <a:pPr>
              <a:spcAft>
                <a:spcPts val="0"/>
              </a:spcAft>
              <a:buNone/>
            </a:pPr>
            <a:r>
              <a:rPr sz="1100" b="0" i="0">
                <a:solidFill>
                  <a:srgbClr val="E6EDF3"/>
                </a:solidFill>
                <a:latin typeface="Consolas"/>
              </a:rPr>
              <a:t>check-conditional-writes.sh: ok: the second create was refused (412 PreconditionFailed): concurrent commits are safe</a:t>
            </a:r>
          </a:p>
        </p:txBody>
      </p:sp>
      <p:sp>
        <p:nvSpPr>
          <p:cNvPr id="12" name="TextBox 11"/>
          <p:cNvSpPr txBox="1"/>
          <p:nvPr/>
        </p:nvSpPr>
        <p:spPr>
          <a:xfrm>
            <a:off x="411480" y="2103120"/>
            <a:ext cx="6949440" cy="4206240"/>
          </a:xfrm>
          <a:prstGeom prst="rect">
            <a:avLst/>
          </a:prstGeom>
          <a:noFill/>
        </p:spPr>
        <p:txBody>
          <a:bodyPr wrap="square" lIns="0" rIns="0" tIns="0" bIns="0" anchor="t">
            <a:spAutoFit/>
          </a:bodyPr>
          <a:lstStyle/>
          <a:p>
            <a:pPr algn="l" marL="201168" indent="-201168">
              <a:spcAft>
                <a:spcPts val="800"/>
              </a:spcAft>
              <a:buClr>
                <a:srgbClr val="E87A1E"/>
              </a:buClr>
              <a:buSzPct val="100000"/>
              <a:buFont typeface="Arial"/>
              <a:buChar char="•"/>
            </a:pPr>
            <a:r>
              <a:rPr sz="1400" b="1" i="0">
                <a:solidFill>
                  <a:srgbClr val="1C2433"/>
                </a:solidFill>
                <a:latin typeface="Calibri"/>
              </a:rPr>
              <a:t>What it does:</a:t>
            </a:r>
            <a:r>
              <a:rPr sz="1400" b="0" i="0">
                <a:solidFill>
                  <a:srgbClr val="1C2433"/>
                </a:solidFill>
                <a:latin typeface="Calibri"/>
              </a:rPr>
              <a:t> creates a test object with </a:t>
            </a:r>
            <a:r>
              <a:rPr sz="1300" b="0" i="0">
                <a:solidFill>
                  <a:srgbClr val="0E7C86"/>
                </a:solidFill>
                <a:latin typeface="Consolas"/>
              </a:rPr>
              <a:t>If-None-Match: *</a:t>
            </a:r>
            <a:r>
              <a:rPr sz="1400" b="0" i="0">
                <a:solidFill>
                  <a:srgbClr val="1C2433"/>
                </a:solidFill>
                <a:latin typeface="Calibri"/>
              </a:rPr>
              <a:t>, then tries again; S3 must refuse the second with 412</a:t>
            </a:r>
          </a:p>
          <a:p>
            <a:pPr algn="l" marL="201168" indent="-201168">
              <a:spcAft>
                <a:spcPts val="800"/>
              </a:spcAft>
              <a:buClr>
                <a:srgbClr val="E87A1E"/>
              </a:buClr>
              <a:buSzPct val="100000"/>
              <a:buFont typeface="Arial"/>
              <a:buChar char="•"/>
            </a:pPr>
            <a:r>
              <a:rPr sz="1400" b="1" i="0">
                <a:solidFill>
                  <a:srgbClr val="1C2433"/>
                </a:solidFill>
                <a:latin typeface="Calibri"/>
              </a:rPr>
              <a:t>Why it matters:</a:t>
            </a:r>
            <a:r>
              <a:rPr sz="1400" b="0" i="0">
                <a:solidFill>
                  <a:srgbClr val="1C2433"/>
                </a:solidFill>
                <a:latin typeface="Calibri"/>
              </a:rPr>
              <a:t> a Delta commit is the creation of </a:t>
            </a:r>
            <a:r>
              <a:rPr sz="1300" b="0" i="0">
                <a:solidFill>
                  <a:srgbClr val="0E7C86"/>
                </a:solidFill>
                <a:latin typeface="Consolas"/>
              </a:rPr>
              <a:t>_delta_log/&lt;version&gt;.json</a:t>
            </a:r>
            <a:r>
              <a:rPr sz="1400" b="0" i="0">
                <a:solidFill>
                  <a:srgbClr val="1C2433"/>
                </a:solidFill>
                <a:latin typeface="Calibri"/>
              </a:rPr>
              <a:t>; two writers must never both create one version</a:t>
            </a:r>
          </a:p>
          <a:p>
            <a:pPr algn="l" marL="201168" indent="-201168">
              <a:spcAft>
                <a:spcPts val="800"/>
              </a:spcAft>
              <a:buClr>
                <a:srgbClr val="E87A1E"/>
              </a:buClr>
              <a:buSzPct val="100000"/>
              <a:buFont typeface="Arial"/>
              <a:buChar char="•"/>
            </a:pPr>
            <a:r>
              <a:rPr sz="1400" b="1" i="0">
                <a:solidFill>
                  <a:srgbClr val="1C2433"/>
                </a:solidFill>
                <a:latin typeface="Calibri"/>
              </a:rPr>
              <a:t>Any other answer: stop.</a:t>
            </a:r>
            <a:r>
              <a:rPr sz="1400" b="0" i="0">
                <a:solidFill>
                  <a:srgbClr val="1C2433"/>
                </a:solidFill>
                <a:latin typeface="Calibri"/>
              </a:rPr>
              <a:t> A store or proxy that drops the header cannot guarantee safe concurrent commits; then only one writer per table (the scripts' per-table locks give that if nothing else writes)</a:t>
            </a:r>
          </a:p>
          <a:p>
            <a:pPr algn="l" marL="201168" indent="-201168">
              <a:spcAft>
                <a:spcPts val="800"/>
              </a:spcAft>
              <a:buClr>
                <a:srgbClr val="E87A1E"/>
              </a:buClr>
              <a:buSzPct val="100000"/>
              <a:buFont typeface="Arial"/>
              <a:buChar char="•"/>
            </a:pPr>
            <a:r>
              <a:rPr sz="1400" b="1" i="0">
                <a:solidFill>
                  <a:srgbClr val="1C2433"/>
                </a:solidFill>
                <a:latin typeface="Calibri"/>
              </a:rPr>
              <a:t>No DynamoDB lock table:</a:t>
            </a:r>
            <a:r>
              <a:rPr sz="1400" b="0" i="0">
                <a:solidFill>
                  <a:srgbClr val="1C2433"/>
                </a:solidFill>
                <a:latin typeface="Calibri"/>
              </a:rPr>
              <a:t> deltalake 1.x commits with conditional PUT</a:t>
            </a:r>
          </a:p>
        </p:txBody>
      </p:sp>
      <p:sp>
        <p:nvSpPr>
          <p:cNvPr id="13" name="Callout"/>
          <p:cNvSpPr/>
          <p:nvPr/>
        </p:nvSpPr>
        <p:spPr>
          <a:xfrm>
            <a:off x="7635240" y="2103120"/>
            <a:ext cx="4142232" cy="420624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Callout edge"/>
          <p:cNvSpPr/>
          <p:nvPr/>
        </p:nvSpPr>
        <p:spPr>
          <a:xfrm>
            <a:off x="7635240" y="2121408"/>
            <a:ext cx="82296" cy="4169663"/>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7863840" y="2176272"/>
            <a:ext cx="3776472" cy="4059935"/>
          </a:xfrm>
          <a:prstGeom prst="rect">
            <a:avLst/>
          </a:prstGeom>
          <a:noFill/>
        </p:spPr>
        <p:txBody>
          <a:bodyPr wrap="square" lIns="0" rIns="0" tIns="0" bIns="0" anchor="t">
            <a:spAutoFit/>
          </a:bodyPr>
          <a:lstStyle/>
          <a:p>
            <a:pPr algn="l">
              <a:spcAft>
                <a:spcPts val="600"/>
              </a:spcAft>
              <a:buNone/>
            </a:pPr>
            <a:r>
              <a:rPr sz="1400" b="1" i="0">
                <a:solidFill>
                  <a:srgbClr val="1C2433"/>
                </a:solidFill>
                <a:latin typeface="Calibri"/>
              </a:rPr>
              <a:t>The same guarantee, used three times</a:t>
            </a:r>
          </a:p>
          <a:p>
            <a:pPr algn="l" marL="201168" indent="-201168">
              <a:spcAft>
                <a:spcPts val="600"/>
              </a:spcAft>
              <a:buClr>
                <a:srgbClr val="E87A1E"/>
              </a:buClr>
              <a:buSzPct val="100000"/>
              <a:buFont typeface="Arial"/>
              <a:buChar char="•"/>
            </a:pPr>
            <a:r>
              <a:rPr sz="1300" b="1" i="0">
                <a:solidFill>
                  <a:srgbClr val="1C2433"/>
                </a:solidFill>
                <a:latin typeface="Calibri"/>
              </a:rPr>
              <a:t>Delta commits:</a:t>
            </a:r>
            <a:r>
              <a:rPr sz="1300" b="0" i="0">
                <a:solidFill>
                  <a:srgbClr val="1C2433"/>
                </a:solidFill>
                <a:latin typeface="Calibri"/>
              </a:rPr>
              <a:t> </a:t>
            </a:r>
            <a:r>
              <a:rPr sz="1200" b="0" i="0">
                <a:solidFill>
                  <a:srgbClr val="0E7C86"/>
                </a:solidFill>
                <a:latin typeface="Consolas"/>
              </a:rPr>
              <a:t>lake publish</a:t>
            </a:r>
            <a:r>
              <a:rPr sz="1300" b="0" i="0">
                <a:solidFill>
                  <a:srgbClr val="1C2433"/>
                </a:solidFill>
                <a:latin typeface="Calibri"/>
              </a:rPr>
              <a:t>, </a:t>
            </a:r>
            <a:r>
              <a:rPr sz="1200" b="0" i="0">
                <a:solidFill>
                  <a:srgbClr val="0E7C86"/>
                </a:solidFill>
                <a:latin typeface="Consolas"/>
              </a:rPr>
              <a:t>lake maintain</a:t>
            </a:r>
            <a:r>
              <a:rPr sz="1300" b="0" i="0">
                <a:solidFill>
                  <a:srgbClr val="1C2433"/>
                </a:solidFill>
                <a:latin typeface="Calibri"/>
              </a:rPr>
              <a:t> (deltalake 1.x)</a:t>
            </a:r>
          </a:p>
          <a:p>
            <a:pPr algn="l" marL="201168" indent="-201168">
              <a:spcAft>
                <a:spcPts val="600"/>
              </a:spcAft>
              <a:buClr>
                <a:srgbClr val="E87A1E"/>
              </a:buClr>
              <a:buSzPct val="100000"/>
              <a:buFont typeface="Arial"/>
              <a:buChar char="•"/>
            </a:pPr>
            <a:r>
              <a:rPr sz="1300" b="1" i="0">
                <a:solidFill>
                  <a:srgbClr val="1C2433"/>
                </a:solidFill>
                <a:latin typeface="Calibri"/>
              </a:rPr>
              <a:t>Iceberg commits:</a:t>
            </a:r>
            <a:r>
              <a:rPr sz="1300" b="0" i="0">
                <a:solidFill>
                  <a:srgbClr val="1C2433"/>
                </a:solidFill>
                <a:latin typeface="Calibri"/>
              </a:rPr>
              <a:t> drishti-lakeio's conditional PUT, probed at start (a store without it: single writer)</a:t>
            </a:r>
          </a:p>
          <a:p>
            <a:pPr algn="l" marL="201168" indent="-201168">
              <a:spcAft>
                <a:spcPts val="600"/>
              </a:spcAft>
              <a:buClr>
                <a:srgbClr val="E87A1E"/>
              </a:buClr>
              <a:buSzPct val="100000"/>
              <a:buFont typeface="Arial"/>
              <a:buChar char="•"/>
            </a:pPr>
            <a:r>
              <a:rPr sz="1300" b="1" i="0">
                <a:solidFill>
                  <a:srgbClr val="1C2433"/>
                </a:solidFill>
                <a:latin typeface="Calibri"/>
              </a:rPr>
              <a:t>Content store on S3:</a:t>
            </a:r>
            <a:r>
              <a:rPr sz="1300" b="0" i="0">
                <a:solidFill>
                  <a:srgbClr val="1C2433"/>
                </a:solidFill>
                <a:latin typeface="Calibri"/>
              </a:rPr>
              <a:t> create </a:t>
            </a:r>
            <a:r>
              <a:rPr sz="1200" b="0" i="0">
                <a:solidFill>
                  <a:srgbClr val="0E7C86"/>
                </a:solidFill>
                <a:latin typeface="Consolas"/>
              </a:rPr>
              <a:t>If-None-Match: *</a:t>
            </a:r>
            <a:r>
              <a:rPr sz="1300" b="0" i="0">
                <a:solidFill>
                  <a:srgbClr val="1C2433"/>
                </a:solidFill>
                <a:latin typeface="Calibri"/>
              </a:rPr>
              <a:t>, update </a:t>
            </a:r>
            <a:r>
              <a:rPr sz="1200" b="0" i="0">
                <a:solidFill>
                  <a:srgbClr val="0E7C86"/>
                </a:solidFill>
                <a:latin typeface="Consolas"/>
              </a:rPr>
              <a:t>If-Match: &lt;ETag&gt;</a:t>
            </a:r>
            <a:r>
              <a:rPr sz="1300" b="0" i="0">
                <a:solidFill>
                  <a:srgbClr val="1C2433"/>
                </a:solidFill>
                <a:latin typeface="Calibri"/>
              </a:rPr>
              <a:t>; a lost race is </a:t>
            </a:r>
            <a:r>
              <a:rPr sz="1200" b="0" i="0">
                <a:solidFill>
                  <a:srgbClr val="0E7C86"/>
                </a:solidFill>
                <a:latin typeface="Consolas"/>
              </a:rPr>
              <a:t>409 DRS-5057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5: storage tiers by business date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 · step 5</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99</a:t>
            </a:r>
          </a:p>
        </p:txBody>
      </p:sp>
      <p:sp>
        <p:nvSpPr>
          <p:cNvPr id="10" name="Code block"/>
          <p:cNvSpPr/>
          <p:nvPr/>
        </p:nvSpPr>
        <p:spPr>
          <a:xfrm>
            <a:off x="411480" y="1188720"/>
            <a:ext cx="11365992" cy="59436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521208" y="1252728"/>
            <a:ext cx="11146536" cy="46634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deploy/aws/delta-lake/setup-lifecycle.sh --print | head -20   </a:t>
            </a:r>
            <a:r>
              <a:rPr sz="1100" b="0" i="0">
                <a:solidFill>
                  <a:srgbClr val="8B9BB4"/>
                </a:solidFill>
                <a:latin typeface="Consolas"/>
              </a:rPr>
              <a:t>  # the rules, no AWS call</a:t>
            </a:r>
          </a:p>
          <a:p>
            <a:pPr>
              <a:spcAft>
                <a:spcPts val="0"/>
              </a:spcAft>
              <a:buNone/>
            </a:pPr>
            <a:r>
              <a:rPr sz="1100" b="0" i="0">
                <a:solidFill>
                  <a:srgbClr val="E6EDF3"/>
                </a:solidFill>
                <a:latin typeface="Consolas"/>
              </a:rPr>
              <a:t>deploy/aws/delta-lake/setup-lifecycle.sh</a:t>
            </a:r>
          </a:p>
        </p:txBody>
      </p:sp>
      <p:sp>
        <p:nvSpPr>
          <p:cNvPr id="12" name="TextBox 11"/>
          <p:cNvSpPr txBox="1"/>
          <p:nvPr/>
        </p:nvSpPr>
        <p:spPr>
          <a:xfrm>
            <a:off x="411480" y="1920240"/>
            <a:ext cx="11365992" cy="411480"/>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You should see</a:t>
            </a:r>
            <a:r>
              <a:rPr sz="1300" b="0" i="0">
                <a:solidFill>
                  <a:srgbClr val="1C2433"/>
                </a:solidFill>
                <a:latin typeface="Calibri"/>
              </a:rPr>
              <a:t> </a:t>
            </a:r>
            <a:r>
              <a:rPr sz="1200" b="0" i="0">
                <a:solidFill>
                  <a:srgbClr val="0E7C86"/>
                </a:solidFill>
                <a:latin typeface="Consolas"/>
              </a:rPr>
              <a:t>setup-lifecycle.sh: 129 rules</a:t>
            </a:r>
            <a:r>
              <a:rPr sz="1200" b="1" i="0">
                <a:solidFill>
                  <a:srgbClr val="E87A1E"/>
                </a:solidFill>
                <a:latin typeface="Consolas"/>
              </a:rPr>
              <a:t>¹</a:t>
            </a:r>
            <a:r>
              <a:rPr sz="1200" b="0" i="0">
                <a:solidFill>
                  <a:srgbClr val="0E7C86"/>
                </a:solidFill>
                <a:latin typeface="Consolas"/>
              </a:rPr>
              <a:t> for acme-drishti-prod-lake</a:t>
            </a:r>
            <a:r>
              <a:rPr sz="1300" b="0" i="0">
                <a:solidFill>
                  <a:srgbClr val="1C2433"/>
                </a:solidFill>
                <a:latin typeface="Calibri"/>
              </a:rPr>
              <a:t> (three tables from 2019).</a:t>
            </a:r>
          </a:p>
        </p:txBody>
      </p:sp>
      <p:sp>
        <p:nvSpPr>
          <p:cNvPr id="13" name="TextBox 12"/>
          <p:cNvSpPr txBox="1"/>
          <p:nvPr/>
        </p:nvSpPr>
        <p:spPr>
          <a:xfrm>
            <a:off x="411480" y="2423160"/>
            <a:ext cx="11365992" cy="3931920"/>
          </a:xfrm>
          <a:prstGeom prst="rect">
            <a:avLst/>
          </a:prstGeom>
          <a:noFill/>
        </p:spPr>
        <p:txBody>
          <a:bodyPr wrap="square" lIns="0" rIns="0" tIns="0" bIns="0" anchor="t">
            <a:spAutoFit/>
          </a:bodyPr>
          <a:lstStyle/>
          <a:p>
            <a:pPr algn="l" marL="201168" indent="-201168">
              <a:spcAft>
                <a:spcPts val="700"/>
              </a:spcAft>
              <a:buClr>
                <a:srgbClr val="E87A1E"/>
              </a:buClr>
              <a:buSzPct val="100000"/>
              <a:buFont typeface="Arial"/>
              <a:buChar char="•"/>
            </a:pPr>
            <a:r>
              <a:rPr sz="1400" b="1" i="0">
                <a:solidFill>
                  <a:srgbClr val="1C2433"/>
                </a:solidFill>
                <a:latin typeface="Calibri"/>
              </a:rPr>
              <a:t>By date, not by age:</a:t>
            </a:r>
            <a:r>
              <a:rPr sz="1400" b="0" i="0">
                <a:solidFill>
                  <a:srgbClr val="1C2433"/>
                </a:solidFill>
                <a:latin typeface="Calibri"/>
              </a:rPr>
              <a:t> age is the time since an object was written, wrong for a restated or backfilled day; one rule per table per business month, with transition dates</a:t>
            </a:r>
          </a:p>
          <a:p>
            <a:pPr algn="l" marL="201168" indent="-201168">
              <a:spcAft>
                <a:spcPts val="700"/>
              </a:spcAft>
              <a:buClr>
                <a:srgbClr val="E87A1E"/>
              </a:buClr>
              <a:buSzPct val="100000"/>
              <a:buFont typeface="Arial"/>
              <a:buChar char="•"/>
            </a:pPr>
            <a:r>
              <a:rPr sz="1400" b="0" i="0">
                <a:solidFill>
                  <a:srgbClr val="1C2433"/>
                </a:solidFill>
                <a:latin typeface="Calibri"/>
              </a:rPr>
              <a:t>Standard → Standard-IA when the month's last day is 90 days old (</a:t>
            </a:r>
            <a:r>
              <a:rPr sz="1300" b="0" i="0">
                <a:solidFill>
                  <a:srgbClr val="0E7C86"/>
                </a:solidFill>
                <a:latin typeface="Consolas"/>
              </a:rPr>
              <a:t>TIER_IA_AFTER_DAYS</a:t>
            </a:r>
            <a:r>
              <a:rPr sz="1400" b="0" i="0">
                <a:solidFill>
                  <a:srgbClr val="1C2433"/>
                </a:solidFill>
                <a:latin typeface="Calibri"/>
              </a:rPr>
              <a:t>); → Glacier Instant Retrieval at two years (</a:t>
            </a:r>
            <a:r>
              <a:rPr sz="1300" b="0" i="0">
                <a:solidFill>
                  <a:srgbClr val="0E7C86"/>
                </a:solidFill>
                <a:latin typeface="Consolas"/>
              </a:rPr>
              <a:t>TIER_GLACIER_IR_AFTER_DAYS</a:t>
            </a:r>
            <a:r>
              <a:rPr sz="1400" b="0" i="0">
                <a:solidFill>
                  <a:srgbClr val="1C2433"/>
                </a:solidFill>
                <a:latin typeface="Calibri"/>
              </a:rPr>
              <a:t>)</a:t>
            </a:r>
          </a:p>
          <a:p>
            <a:pPr algn="l" marL="201168" indent="-201168">
              <a:spcAft>
                <a:spcPts val="700"/>
              </a:spcAft>
              <a:buClr>
                <a:srgbClr val="E87A1E"/>
              </a:buClr>
              <a:buSzPct val="100000"/>
              <a:buFont typeface="Arial"/>
              <a:buChar char="•"/>
            </a:pPr>
            <a:r>
              <a:rPr sz="1400" b="0" i="0">
                <a:solidFill>
                  <a:srgbClr val="1C2433"/>
                </a:solidFill>
                <a:latin typeface="Calibri"/>
              </a:rPr>
              <a:t>Never Glacier Flexible Retrieval or Deep Archive (hours to restore); never an S3 expiry of current lake objects</a:t>
            </a:r>
          </a:p>
          <a:p>
            <a:pPr algn="l" marL="201168" indent="-201168">
              <a:spcAft>
                <a:spcPts val="700"/>
              </a:spcAft>
              <a:buClr>
                <a:srgbClr val="E87A1E"/>
              </a:buClr>
              <a:buSzPct val="100000"/>
              <a:buFont typeface="Arial"/>
              <a:buChar char="•"/>
            </a:pPr>
            <a:r>
              <a:rPr sz="1300" b="0" i="0">
                <a:solidFill>
                  <a:srgbClr val="0E7C86"/>
                </a:solidFill>
                <a:latin typeface="Consolas"/>
              </a:rPr>
              <a:t>_delta_log/</a:t>
            </a:r>
            <a:r>
              <a:rPr sz="1400" b="0" i="0">
                <a:solidFill>
                  <a:srgbClr val="1C2433"/>
                </a:solidFill>
                <a:latin typeface="Calibri"/>
              </a:rPr>
              <a:t> never matches: commits and checkpoints stay in Standard; objects under 128 KB stay where they are</a:t>
            </a:r>
          </a:p>
          <a:p>
            <a:pPr algn="l" marL="201168" indent="-201168">
              <a:spcAft>
                <a:spcPts val="700"/>
              </a:spcAft>
              <a:buClr>
                <a:srgbClr val="E87A1E"/>
              </a:buClr>
              <a:buSzPct val="100000"/>
              <a:buFont typeface="Arial"/>
              <a:buChar char="•"/>
            </a:pPr>
            <a:r>
              <a:rPr sz="1400" b="0" i="0">
                <a:solidFill>
                  <a:srgbClr val="1C2433"/>
                </a:solidFill>
                <a:latin typeface="Calibri"/>
              </a:rPr>
              <a:t>Rules exist three months ahead; maintain.sh rewrites them nightly; S3 allows 1,000 rules and the script refuses more</a:t>
            </a:r>
          </a:p>
          <a:p>
            <a:pPr algn="l" marL="201168" indent="-201168">
              <a:spcAft>
                <a:spcPts val="700"/>
              </a:spcAft>
              <a:buClr>
                <a:srgbClr val="E87A1E"/>
              </a:buClr>
              <a:buSzPct val="100000"/>
              <a:buFont typeface="Arial"/>
              <a:buChar char="•"/>
            </a:pPr>
            <a:r>
              <a:rPr sz="1400" b="1" i="0">
                <a:solidFill>
                  <a:srgbClr val="1C2433"/>
                </a:solidFill>
                <a:latin typeface="Calibri"/>
              </a:rPr>
              <a:t>Risk tables:</a:t>
            </a:r>
            <a:r>
              <a:rPr sz="1400" b="0" i="0">
                <a:solidFill>
                  <a:srgbClr val="1C2433"/>
                </a:solidFill>
                <a:latin typeface="Calibri"/>
              </a:rPr>
              <a:t> 7 years kept, old months in Glacier IR, still read in milliseconds (official numbers stay reproducible)</a:t>
            </a:r>
          </a:p>
        </p:txBody>
      </p:sp>
      <p:sp>
        <p:nvSpPr>
          <p:cNvPr id="14" name="Footnotes"/>
          <p:cNvSpPr txBox="1"/>
          <p:nvPr/>
        </p:nvSpPr>
        <p:spPr>
          <a:xfrm>
            <a:off x="411480" y="6377940"/>
            <a:ext cx="11365992" cy="169164"/>
          </a:xfrm>
          <a:prstGeom prst="rect">
            <a:avLst/>
          </a:prstGeom>
          <a:noFill/>
        </p:spPr>
        <p:txBody>
          <a:bodyPr wrap="square" lIns="0" rIns="0" tIns="0" bIns="0" anchor="t">
            <a:spAutoFit/>
          </a:bodyPr>
          <a:lstStyle/>
          <a:p>
            <a:pPr algn="l">
              <a:lnSpc>
                <a:spcPct val="100000"/>
              </a:lnSpc>
              <a:spcAft>
                <a:spcPts val="0"/>
              </a:spcAft>
              <a:buNone/>
            </a:pPr>
            <a:r>
              <a:rPr sz="900" b="0" i="0">
                <a:solidFill>
                  <a:srgbClr val="5B677A"/>
                </a:solidFill>
                <a:latin typeface="Calibri"/>
              </a:rPr>
              <a:t>¹ 3 tables × (5 whole years 2019–2023 already in Glacier IR + 37 months 2024-01 to 2027-01, three months ahead) + 3 base rules = 129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6: EFS access points, one per node per path</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 · step 6</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100</a:t>
            </a:r>
          </a:p>
        </p:txBody>
      </p:sp>
      <p:sp>
        <p:nvSpPr>
          <p:cNvPr id="10" name="Code block"/>
          <p:cNvSpPr/>
          <p:nvPr/>
        </p:nvSpPr>
        <p:spPr>
          <a:xfrm>
            <a:off x="411480" y="1188720"/>
            <a:ext cx="11365992" cy="54864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521208" y="1252728"/>
            <a:ext cx="11146536" cy="420623"/>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deploy/aws/ecs/setup-efs.sh --dry-run</a:t>
            </a:r>
          </a:p>
          <a:p>
            <a:pPr>
              <a:spcAft>
                <a:spcPts val="0"/>
              </a:spcAft>
              <a:buNone/>
            </a:pPr>
            <a:r>
              <a:rPr sz="1100" b="0" i="0">
                <a:solidFill>
                  <a:srgbClr val="E6EDF3"/>
                </a:solidFill>
                <a:latin typeface="Consolas"/>
              </a:rPr>
              <a:t>deploy/aws/ecs/setup-efs.sh</a:t>
            </a:r>
          </a:p>
        </p:txBody>
      </p:sp>
      <p:sp>
        <p:nvSpPr>
          <p:cNvPr id="12" name="TextBox 11"/>
          <p:cNvSpPr txBox="1"/>
          <p:nvPr/>
        </p:nvSpPr>
        <p:spPr>
          <a:xfrm>
            <a:off x="411480" y="1874519"/>
            <a:ext cx="11365992" cy="411480"/>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You should see</a:t>
            </a:r>
            <a:r>
              <a:rPr sz="1300" b="0" i="0">
                <a:solidFill>
                  <a:srgbClr val="1C2433"/>
                </a:solidFill>
                <a:latin typeface="Calibri"/>
              </a:rPr>
              <a:t> one access point id per line (</a:t>
            </a:r>
            <a:r>
              <a:rPr sz="1200" b="0" i="0">
                <a:solidFill>
                  <a:srgbClr val="0E7C86"/>
                </a:solidFill>
                <a:latin typeface="Consolas"/>
              </a:rPr>
              <a:t>fsap-0a1b…</a:t>
            </a:r>
            <a:r>
              <a:rPr sz="1300" b="0" i="0">
                <a:solidFill>
                  <a:srgbClr val="1C2433"/>
                </a:solidFill>
                <a:latin typeface="Calibri"/>
              </a:rPr>
              <a:t>) and </a:t>
            </a:r>
            <a:r>
              <a:rPr sz="1200" b="0" i="0">
                <a:solidFill>
                  <a:srgbClr val="0E7C86"/>
                </a:solidFill>
                <a:latin typeface="Consolas"/>
              </a:rPr>
              <a:t>setup-efs.sh: 14 access points on fs-… for three nodes</a:t>
            </a:r>
            <a:r>
              <a:rPr sz="1300" b="0" i="0">
                <a:solidFill>
                  <a:srgbClr val="1C2433"/>
                </a:solidFill>
                <a:latin typeface="Calibri"/>
              </a:rPr>
              <a:t>.</a:t>
            </a:r>
          </a:p>
        </p:txBody>
      </p:sp>
      <p:graphicFrame>
        <p:nvGraphicFramePr>
          <p:cNvPr id="13" name="Table"/>
          <p:cNvGraphicFramePr>
            <a:graphicFrameLocks noGrp="1"/>
          </p:cNvGraphicFramePr>
          <p:nvPr/>
        </p:nvGraphicFramePr>
        <p:xfrm>
          <a:off x="411480" y="2423160"/>
          <a:ext cx="11365990" cy="2286000"/>
        </p:xfrm>
        <a:graphic>
          <a:graphicData uri="http://schemas.openxmlformats.org/drawingml/2006/table">
            <a:tbl>
              <a:tblPr firstRow="0" bandRow="0">
                <a:tableStyleId>{5940675A-B579-460E-94D1-54222C63F5DA}</a:tableStyleId>
              </a:tblPr>
              <a:tblGrid>
                <a:gridCol w="2749836"/>
                <a:gridCol w="2199869"/>
                <a:gridCol w="6416285"/>
              </a:tblGrid>
              <a:tr h="457200">
                <a:tc>
                  <a:txBody>
                    <a:bodyPr wrap="square"/>
                    <a:lstStyle/>
                    <a:p>
                      <a:r>
                        <a:rPr sz="1200" b="1" i="0">
                          <a:solidFill>
                            <a:srgbClr val="FFFFFF"/>
                          </a:solidFill>
                          <a:latin typeface="Calibri"/>
                        </a:rPr>
                        <a:t>Owner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Access points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Root (identical path inside the container)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57200">
                <a:tc>
                  <a:txBody>
                    <a:bodyPr wrap="square"/>
                    <a:lstStyle/>
                    <a:p>
                      <a:r>
                        <a:rPr sz="1200" b="1" i="0">
                          <a:solidFill>
                            <a:srgbClr val="1C2433"/>
                          </a:solidFill>
                          <a:latin typeface="Calibri"/>
                        </a:rPr>
                        <a:t>each node (drishti-a, -b, -c)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data, config, sutras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/drishti/&lt;env&gt;/&lt;node&gt;/opt/drishti/&lt;path&gt;</a:t>
                      </a:r>
                      <a:r>
                        <a:rPr sz="1200" b="0" i="0">
                          <a:solidFill>
                            <a:srgbClr val="1C2433"/>
                          </a:solidFill>
                          <a:latin typeface="Calibri"/>
                        </a:rPr>
                        <a:t> → </a:t>
                      </a:r>
                      <a:r>
                        <a:rPr sz="1100" b="0" i="0">
                          <a:solidFill>
                            <a:srgbClr val="0E7C86"/>
                          </a:solidFill>
                          <a:latin typeface="Consolas"/>
                        </a:rPr>
                        <a:t>/opt/drishti/&lt;path&gt;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consoles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data, config, sutras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/drishti/&lt;env&gt;/consoles/opt/drishti/&lt;path&gt;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200" b="1" i="0">
                          <a:solidFill>
                            <a:srgbClr val="1C2433"/>
                          </a:solidFill>
                          <a:latin typeface="Calibri"/>
                        </a:rPr>
                        <a:t>loader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data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/drishti/&lt;env&gt;/loader/opt/drishti/data</a:t>
                      </a:r>
                      <a:r>
                        <a:rPr sz="1200" b="0" i="0">
                          <a:solidFill>
                            <a:srgbClr val="1C2433"/>
                          </a:solidFill>
                          <a:latin typeface="Calibri"/>
                        </a:rPr>
                        <a:t> (scratch lakes, table locks)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maintenance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data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/drishti/&lt;env&gt;/maintenance/opt/drishti/data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4" name="TextBox 13"/>
          <p:cNvSpPr txBox="1"/>
          <p:nvPr/>
        </p:nvSpPr>
        <p:spPr>
          <a:xfrm>
            <a:off x="411480" y="4892040"/>
            <a:ext cx="11365992" cy="1463040"/>
          </a:xfrm>
          <a:prstGeom prst="rect">
            <a:avLst/>
          </a:prstGeom>
          <a:noFill/>
        </p:spPr>
        <p:txBody>
          <a:bodyPr wrap="square" lIns="0" rIns="0" tIns="0" bIns="0" anchor="t">
            <a:spAutoFit/>
          </a:bodyPr>
          <a:lstStyle/>
          <a:p>
            <a:pPr algn="l" marL="201168" indent="-201168">
              <a:spcAft>
                <a:spcPts val="500"/>
              </a:spcAft>
              <a:buClr>
                <a:srgbClr val="E87A1E"/>
              </a:buClr>
              <a:buSzPct val="100000"/>
              <a:buFont typeface="Arial"/>
              <a:buChar char="•"/>
            </a:pPr>
            <a:r>
              <a:rPr sz="1400" b="0" i="0">
                <a:solidFill>
                  <a:srgbClr val="1C2433"/>
                </a:solidFill>
                <a:latin typeface="Calibri"/>
              </a:rPr>
              <a:t>Every access point runs as uid/gid 10001 (the image's user); 3 × 3 + 3 + 1 + 1 = 14</a:t>
            </a:r>
          </a:p>
          <a:p>
            <a:pPr algn="l" marL="201168" indent="-201168">
              <a:spcAft>
                <a:spcPts val="500"/>
              </a:spcAft>
              <a:buClr>
                <a:srgbClr val="E87A1E"/>
              </a:buClr>
              <a:buSzPct val="100000"/>
              <a:buFont typeface="Arial"/>
              <a:buChar char="•"/>
            </a:pPr>
            <a:r>
              <a:rPr sz="1400" b="0" i="0">
                <a:solidFill>
                  <a:srgbClr val="1C2433"/>
                </a:solidFill>
                <a:latin typeface="Calibri"/>
              </a:rPr>
              <a:t>Idempotent: the access point's name is its client token, so running again returns the same ids</a:t>
            </a:r>
          </a:p>
          <a:p>
            <a:pPr algn="l" marL="201168" indent="-201168">
              <a:spcAft>
                <a:spcPts val="500"/>
              </a:spcAft>
              <a:buClr>
                <a:srgbClr val="E87A1E"/>
              </a:buClr>
              <a:buSzPct val="100000"/>
              <a:buFont typeface="Arial"/>
              <a:buChar char="•"/>
            </a:pPr>
            <a:r>
              <a:rPr sz="1400" b="0" i="0">
                <a:solidFill>
                  <a:srgbClr val="1C2433"/>
                </a:solidFill>
                <a:latin typeface="Calibri"/>
              </a:rPr>
              <a:t>The rule from AWS_DEPLOYMENT.md: every path a container writes maps to the identical path on EFS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7: Cloud Map seeds and the Drishti*net transport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 · step 7</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101</a:t>
            </a:r>
          </a:p>
        </p:txBody>
      </p:sp>
      <p:sp>
        <p:nvSpPr>
          <p:cNvPr id="10" name="Code block"/>
          <p:cNvSpPr/>
          <p:nvPr/>
        </p:nvSpPr>
        <p:spPr>
          <a:xfrm>
            <a:off x="411480" y="1188720"/>
            <a:ext cx="11365992" cy="54864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521208" y="1252728"/>
            <a:ext cx="11146536" cy="420623"/>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deploy/aws/ecs/setup-cloud-map.sh      </a:t>
            </a:r>
            <a:r>
              <a:rPr sz="1100" b="0" i="0">
                <a:solidFill>
                  <a:srgbClr val="8B9BB4"/>
                </a:solidFill>
                <a:latin typeface="Consolas"/>
              </a:rPr>
              <a:t>  # once for the namespace (it takes a minute) …</a:t>
            </a:r>
          </a:p>
          <a:p>
            <a:pPr>
              <a:spcAft>
                <a:spcPts val="0"/>
              </a:spcAft>
              <a:buNone/>
            </a:pPr>
            <a:r>
              <a:rPr sz="1100" b="0" i="0">
                <a:solidFill>
                  <a:srgbClr val="E6EDF3"/>
                </a:solidFill>
                <a:latin typeface="Consolas"/>
              </a:rPr>
              <a:t>deploy/aws/ecs/setup-cloud-map.sh      </a:t>
            </a:r>
            <a:r>
              <a:rPr sz="1100" b="0" i="0">
                <a:solidFill>
                  <a:srgbClr val="8B9BB4"/>
                </a:solidFill>
                <a:latin typeface="Consolas"/>
              </a:rPr>
              <a:t>  # … and again for one service per node</a:t>
            </a:r>
          </a:p>
        </p:txBody>
      </p:sp>
      <p:sp>
        <p:nvSpPr>
          <p:cNvPr id="12" name="TextBox 11"/>
          <p:cNvSpPr txBox="1"/>
          <p:nvPr/>
        </p:nvSpPr>
        <p:spPr>
          <a:xfrm>
            <a:off x="411480" y="1920240"/>
            <a:ext cx="5669280" cy="4389120"/>
          </a:xfrm>
          <a:prstGeom prst="rect">
            <a:avLst/>
          </a:prstGeom>
          <a:noFill/>
        </p:spPr>
        <p:txBody>
          <a:bodyPr wrap="square" lIns="0" rIns="0" tIns="0" bIns="0" anchor="t">
            <a:spAutoFit/>
          </a:bodyPr>
          <a:lstStyle/>
          <a:p>
            <a:pPr algn="l" marL="201168" indent="-201168">
              <a:spcAft>
                <a:spcPts val="800"/>
              </a:spcAft>
              <a:buClr>
                <a:srgbClr val="E87A1E"/>
              </a:buClr>
              <a:buSzPct val="100000"/>
              <a:buFont typeface="Arial"/>
              <a:buChar char="•"/>
            </a:pPr>
            <a:r>
              <a:rPr sz="1400" b="0" i="0">
                <a:solidFill>
                  <a:srgbClr val="1C2433"/>
                </a:solidFill>
                <a:latin typeface="Calibri"/>
              </a:rPr>
              <a:t>ECS registers each node's task under </a:t>
            </a:r>
            <a:r>
              <a:rPr sz="1300" b="0" i="0">
                <a:solidFill>
                  <a:srgbClr val="0E7C86"/>
                </a:solidFill>
                <a:latin typeface="Consolas"/>
              </a:rPr>
              <a:t>drishti-a.drishti.local</a:t>
            </a:r>
            <a:r>
              <a:rPr sz="1400" b="0" i="0">
                <a:solidFill>
                  <a:srgbClr val="1C2433"/>
                </a:solidFill>
                <a:latin typeface="Calibri"/>
              </a:rPr>
              <a:t> with the task's own address</a:t>
            </a:r>
          </a:p>
          <a:p>
            <a:pPr algn="l" marL="201168" indent="-201168">
              <a:spcAft>
                <a:spcPts val="800"/>
              </a:spcAft>
              <a:buClr>
                <a:srgbClr val="E87A1E"/>
              </a:buClr>
              <a:buSzPct val="100000"/>
              <a:buFont typeface="Arial"/>
              <a:buChar char="•"/>
            </a:pPr>
            <a:r>
              <a:rPr sz="1400" b="0" i="0">
                <a:solidFill>
                  <a:srgbClr val="1C2433"/>
                </a:solidFill>
                <a:latin typeface="Calibri"/>
              </a:rPr>
              <a:t>Servers advertise </a:t>
            </a:r>
            <a:r>
              <a:rPr sz="1300" b="0" i="0">
                <a:solidFill>
                  <a:srgbClr val="0E7C86"/>
                </a:solidFill>
                <a:latin typeface="Consolas"/>
              </a:rPr>
              <a:t>http://&lt;task IP&gt;:18480</a:t>
            </a:r>
            <a:r>
              <a:rPr sz="1400" b="0" i="0">
                <a:solidFill>
                  <a:srgbClr val="1C2433"/>
                </a:solidFill>
                <a:latin typeface="Calibri"/>
              </a:rPr>
              <a:t>, never loopback (refused)</a:t>
            </a:r>
          </a:p>
          <a:p>
            <a:pPr algn="l" marL="201168" indent="-201168">
              <a:spcAft>
                <a:spcPts val="800"/>
              </a:spcAft>
              <a:buClr>
                <a:srgbClr val="E87A1E"/>
              </a:buClr>
              <a:buSzPct val="100000"/>
              <a:buFont typeface="Arial"/>
              <a:buChar char="•"/>
            </a:pPr>
            <a:r>
              <a:rPr sz="1400" b="0" i="0">
                <a:solidFill>
                  <a:srgbClr val="1C2433"/>
                </a:solidFill>
                <a:latin typeface="Calibri"/>
              </a:rPr>
              <a:t>A new node finds the cluster through its seed's Cloud Map name, then learns the rest by gossip</a:t>
            </a:r>
          </a:p>
          <a:p>
            <a:pPr algn="l" marL="201168" indent="-201168">
              <a:spcAft>
                <a:spcPts val="800"/>
              </a:spcAft>
              <a:buClr>
                <a:srgbClr val="E87A1E"/>
              </a:buClr>
              <a:buSzPct val="100000"/>
              <a:buFont typeface="Arial"/>
              <a:buChar char="•"/>
            </a:pPr>
            <a:r>
              <a:rPr sz="1400" b="0" i="0">
                <a:solidFill>
                  <a:srgbClr val="1C2433"/>
                </a:solidFill>
                <a:latin typeface="Calibri"/>
              </a:rPr>
              <a:t>The loader's data-load signal (</a:t>
            </a:r>
            <a:r>
              <a:rPr sz="1300" b="0" i="0">
                <a:solidFill>
                  <a:srgbClr val="0E7C86"/>
                </a:solidFill>
                <a:latin typeface="Consolas"/>
              </a:rPr>
              <a:t>DRISHTI_SIGNAL_URL</a:t>
            </a:r>
            <a:r>
              <a:rPr sz="1400" b="0" i="0">
                <a:solidFill>
                  <a:srgbClr val="1C2433"/>
                </a:solidFill>
                <a:latin typeface="Calibri"/>
              </a:rPr>
              <a:t>) also uses a node's Cloud Map name</a:t>
            </a:r>
          </a:p>
        </p:txBody>
      </p:sp>
      <p:sp>
        <p:nvSpPr>
          <p:cNvPr id="13" name="Rounded Rectangle 12"/>
          <p:cNvSpPr/>
          <p:nvPr/>
        </p:nvSpPr>
        <p:spPr>
          <a:xfrm>
            <a:off x="6355080" y="1920240"/>
            <a:ext cx="5422392" cy="13716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6446520" y="1965960"/>
            <a:ext cx="5239512"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Gossip on its own port</a:t>
            </a:r>
          </a:p>
        </p:txBody>
      </p:sp>
      <p:sp>
        <p:nvSpPr>
          <p:cNvPr id="15" name="TextBox 14"/>
          <p:cNvSpPr txBox="1"/>
          <p:nvPr/>
        </p:nvSpPr>
        <p:spPr>
          <a:xfrm>
            <a:off x="6446520" y="2286000"/>
            <a:ext cx="5239512" cy="9601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node.yaml </a:t>
            </a:r>
            <a:r>
              <a:rPr sz="1100" b="0" i="0">
                <a:solidFill>
                  <a:srgbClr val="0E7C86"/>
                </a:solidFill>
                <a:latin typeface="Consolas"/>
              </a:rPr>
              <a:t>gossip-port</a:t>
            </a:r>
            <a:r>
              <a:rPr sz="1200" b="0" i="0">
                <a:solidFill>
                  <a:srgbClr val="1C2433"/>
                </a:solidFill>
                <a:latin typeface="Calibri"/>
              </a:rPr>
              <a:t>: auto · a number · off</a:t>
            </a:r>
          </a:p>
          <a:p>
            <a:pPr algn="l" marL="201168" indent="-201168">
              <a:spcAft>
                <a:spcPts val="200"/>
              </a:spcAft>
              <a:buClr>
                <a:srgbClr val="E87A1E"/>
              </a:buClr>
              <a:buSzPct val="100000"/>
              <a:buFont typeface="Arial"/>
              <a:buChar char="•"/>
            </a:pPr>
            <a:r>
              <a:rPr sz="1200" b="0" i="0">
                <a:solidFill>
                  <a:srgbClr val="1C2433"/>
                </a:solidFill>
                <a:latin typeface="Calibri"/>
              </a:rPr>
              <a:t>busy nodes never suspected: 12 s saturated, no suspicion</a:t>
            </a:r>
          </a:p>
        </p:txBody>
      </p:sp>
      <p:sp>
        <p:nvSpPr>
          <p:cNvPr id="16" name="Rounded Rectangle 15"/>
          <p:cNvSpPr/>
          <p:nvPr/>
        </p:nvSpPr>
        <p:spPr>
          <a:xfrm>
            <a:off x="6355080" y="3429000"/>
            <a:ext cx="5422392" cy="13716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6446520" y="3474720"/>
            <a:ext cx="5239512"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HTTP/2 between nodes</a:t>
            </a:r>
          </a:p>
        </p:txBody>
      </p:sp>
      <p:sp>
        <p:nvSpPr>
          <p:cNvPr id="18" name="TextBox 17"/>
          <p:cNvSpPr txBox="1"/>
          <p:nvPr/>
        </p:nvSpPr>
        <p:spPr>
          <a:xfrm>
            <a:off x="6446520" y="3794760"/>
            <a:ext cx="5239512" cy="9601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routing.yaml </a:t>
            </a:r>
            <a:r>
              <a:rPr sz="1100" b="0" i="0">
                <a:solidFill>
                  <a:srgbClr val="0E7C86"/>
                </a:solidFill>
                <a:latin typeface="Consolas"/>
              </a:rPr>
              <a:t>peer-protocol: http2</a:t>
            </a:r>
            <a:r>
              <a:rPr sz="1200" b="0" i="0">
                <a:solidFill>
                  <a:srgbClr val="1C2433"/>
                </a:solidFill>
                <a:latin typeface="Calibri"/>
              </a:rPr>
              <a:t> (h2c), one connection per peer</a:t>
            </a:r>
          </a:p>
          <a:p>
            <a:pPr algn="l" marL="201168" indent="-201168">
              <a:spcAft>
                <a:spcPts val="200"/>
              </a:spcAft>
              <a:buClr>
                <a:srgbClr val="E87A1E"/>
              </a:buClr>
              <a:buSzPct val="100000"/>
              <a:buFont typeface="Arial"/>
              <a:buChar char="•"/>
            </a:pPr>
            <a:r>
              <a:rPr sz="1200" b="0" i="0">
                <a:solidFill>
                  <a:srgbClr val="1C2433"/>
                </a:solidFill>
                <a:latin typeface="Calibri"/>
              </a:rPr>
              <a:t>1 connection instead of 227; p99 117 ms vs 370 ms</a:t>
            </a:r>
          </a:p>
        </p:txBody>
      </p:sp>
      <p:sp>
        <p:nvSpPr>
          <p:cNvPr id="19" name="Rounded Rectangle 18"/>
          <p:cNvSpPr/>
          <p:nvPr/>
        </p:nvSpPr>
        <p:spPr>
          <a:xfrm>
            <a:off x="6355080" y="4937760"/>
            <a:ext cx="5422392" cy="1371600"/>
          </a:xfrm>
          <a:prstGeom prst="roundRect">
            <a:avLst>
              <a:gd name="adj" fmla="val 6000"/>
            </a:avLst>
          </a:prstGeom>
          <a:solidFill>
            <a:srgbClr val="FFF4E6"/>
          </a:solidFill>
          <a:ln w="952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6446520" y="4983480"/>
            <a:ext cx="409651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On ECS: a fixed gossip port</a:t>
            </a:r>
          </a:p>
        </p:txBody>
      </p:sp>
      <p:sp>
        <p:nvSpPr>
          <p:cNvPr id="21" name="Status PROPOSED"/>
          <p:cNvSpPr/>
          <p:nvPr/>
        </p:nvSpPr>
        <p:spPr>
          <a:xfrm>
            <a:off x="10634472" y="5029200"/>
            <a:ext cx="1051560" cy="237744"/>
          </a:xfrm>
          <a:prstGeom prst="roundRect">
            <a:avLst>
              <a:gd name="adj" fmla="val 50000"/>
            </a:avLst>
          </a:prstGeom>
          <a:solidFill>
            <a:srgbClr val="FFFFFF"/>
          </a:solidFill>
          <a:ln w="1587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E87A1E"/>
                </a:solidFill>
                <a:latin typeface="Calibri"/>
              </a:rPr>
              <a:t>PROPOSED</a:t>
            </a:r>
          </a:p>
        </p:txBody>
      </p:sp>
      <p:sp>
        <p:nvSpPr>
          <p:cNvPr id="22" name="TextBox 21"/>
          <p:cNvSpPr txBox="1"/>
          <p:nvPr/>
        </p:nvSpPr>
        <p:spPr>
          <a:xfrm>
            <a:off x="6446520" y="5303520"/>
            <a:ext cx="5239512" cy="9601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set </a:t>
            </a:r>
            <a:r>
              <a:rPr sz="1100" b="0" i="0">
                <a:solidFill>
                  <a:srgbClr val="0E7C86"/>
                </a:solidFill>
                <a:latin typeface="Consolas"/>
              </a:rPr>
              <a:t>gossip-port</a:t>
            </a:r>
            <a:r>
              <a:rPr sz="1200" b="0" i="0">
                <a:solidFill>
                  <a:srgbClr val="1C2433"/>
                </a:solidFill>
                <a:latin typeface="Calibri"/>
              </a:rPr>
              <a:t> to a number (e.g. 18490) on every node</a:t>
            </a:r>
          </a:p>
          <a:p>
            <a:pPr algn="l" marL="201168" indent="-201168">
              <a:spcAft>
                <a:spcPts val="200"/>
              </a:spcAft>
              <a:buClr>
                <a:srgbClr val="E87A1E"/>
              </a:buClr>
              <a:buSzPct val="100000"/>
              <a:buFont typeface="Arial"/>
              <a:buChar char="•"/>
            </a:pPr>
            <a:r>
              <a:rPr sz="1200" b="0" i="0">
                <a:solidFill>
                  <a:srgbClr val="1C2433"/>
                </a:solidFill>
                <a:latin typeface="Calibri"/>
              </a:rPr>
              <a:t>open it node to node in the </a:t>
            </a:r>
            <a:r>
              <a:rPr sz="1100" b="0" i="0">
                <a:solidFill>
                  <a:srgbClr val="0E7C86"/>
                </a:solidFill>
                <a:latin typeface="Consolas"/>
              </a:rPr>
              <a:t>drishti-node</a:t>
            </a:r>
            <a:r>
              <a:rPr sz="1200" b="0" i="0">
                <a:solidFill>
                  <a:srgbClr val="1C2433"/>
                </a:solidFill>
                <a:latin typeface="Calibri"/>
              </a:rPr>
              <a:t> security group</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8: the images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 · step 8</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102</a:t>
            </a:r>
          </a:p>
        </p:txBody>
      </p:sp>
      <p:sp>
        <p:nvSpPr>
          <p:cNvPr id="10" name="Code block"/>
          <p:cNvSpPr/>
          <p:nvPr/>
        </p:nvSpPr>
        <p:spPr>
          <a:xfrm>
            <a:off x="411480" y="1188720"/>
            <a:ext cx="11365992" cy="114300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521208" y="1252728"/>
            <a:ext cx="11146536" cy="1014983"/>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./mvnw -q clean package -DskipTests</a:t>
            </a:r>
          </a:p>
          <a:p>
            <a:pPr>
              <a:spcAft>
                <a:spcPts val="0"/>
              </a:spcAft>
              <a:buNone/>
            </a:pPr>
            <a:r>
              <a:rPr sz="1100" b="0" i="0">
                <a:solidFill>
                  <a:srgbClr val="E6EDF3"/>
                </a:solidFill>
                <a:latin typeface="Consolas"/>
              </a:rPr>
              <a:t>docker build -f deploy/docker/ecs/server.Dockerfile  -t "$ECR_REGISTRY/drishti-server-ecs:&lt;version&gt;" .</a:t>
            </a:r>
          </a:p>
          <a:p>
            <a:pPr>
              <a:spcAft>
                <a:spcPts val="0"/>
              </a:spcAft>
              <a:buNone/>
            </a:pPr>
            <a:r>
              <a:rPr sz="1100" b="0" i="0">
                <a:solidFill>
                  <a:srgbClr val="E6EDF3"/>
                </a:solidFill>
                <a:latin typeface="Consolas"/>
              </a:rPr>
              <a:t>docker build -f deploy/docker/ecs/console.Dockerfile -t "$ECR_REGISTRY/drishti-console-ecs:&lt;version&gt;" .</a:t>
            </a:r>
          </a:p>
          <a:p>
            <a:pPr>
              <a:spcAft>
                <a:spcPts val="0"/>
              </a:spcAft>
              <a:buNone/>
            </a:pPr>
            <a:r>
              <a:rPr sz="1100" b="0" i="0">
                <a:solidFill>
                  <a:srgbClr val="E6EDF3"/>
                </a:solidFill>
                <a:latin typeface="Consolas"/>
              </a:rPr>
              <a:t>docker build -f deploy/docker/ecs/loader.Dockerfile  -t "$ECR_REGISTRY/drishti-loader-ecs:&lt;version&gt;" .</a:t>
            </a:r>
            <a:r>
              <a:rPr sz="1100" b="0" i="0">
                <a:solidFill>
                  <a:srgbClr val="8B9BB4"/>
                </a:solidFill>
                <a:latin typeface="Consolas"/>
              </a:rPr>
              <a:t>  # carries env</a:t>
            </a:r>
          </a:p>
          <a:p>
            <a:pPr>
              <a:spcAft>
                <a:spcPts val="0"/>
              </a:spcAft>
              <a:buNone/>
            </a:pPr>
            <a:r>
              <a:rPr sz="1100" b="0" i="0">
                <a:solidFill>
                  <a:srgbClr val="E6EDF3"/>
                </a:solidFill>
                <a:latin typeface="Consolas"/>
              </a:rPr>
              <a:t>docker push …                                       </a:t>
            </a:r>
            <a:r>
              <a:rPr sz="1100" b="0" i="0">
                <a:solidFill>
                  <a:srgbClr val="8B9BB4"/>
                </a:solidFill>
                <a:latin typeface="Consolas"/>
              </a:rPr>
              <a:t>  # each of the three, after aws ecr get-login-password</a:t>
            </a:r>
          </a:p>
        </p:txBody>
      </p:sp>
      <p:graphicFrame>
        <p:nvGraphicFramePr>
          <p:cNvPr id="12" name="Table"/>
          <p:cNvGraphicFramePr>
            <a:graphicFrameLocks noGrp="1"/>
          </p:cNvGraphicFramePr>
          <p:nvPr/>
        </p:nvGraphicFramePr>
        <p:xfrm>
          <a:off x="411480" y="2514600"/>
          <a:ext cx="11365991" cy="2267712"/>
        </p:xfrm>
        <a:graphic>
          <a:graphicData uri="http://schemas.openxmlformats.org/drawingml/2006/table">
            <a:tbl>
              <a:tblPr firstRow="0" bandRow="0">
                <a:tableStyleId>{5940675A-B579-460E-94D1-54222C63F5DA}</a:tableStyleId>
              </a:tblPr>
              <a:tblGrid>
                <a:gridCol w="2199869"/>
                <a:gridCol w="3299804"/>
                <a:gridCol w="5866318"/>
              </a:tblGrid>
              <a:tr h="566928">
                <a:tc>
                  <a:txBody>
                    <a:bodyPr wrap="square"/>
                    <a:lstStyle/>
                    <a:p>
                      <a:r>
                        <a:rPr sz="1200" b="1" i="0">
                          <a:solidFill>
                            <a:srgbClr val="FFFFFF"/>
                          </a:solidFill>
                          <a:latin typeface="Calibri"/>
                        </a:rPr>
                        <a:t>Image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Built from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Entry point checks / role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66928">
                <a:tc>
                  <a:txBody>
                    <a:bodyPr wrap="square"/>
                    <a:lstStyle/>
                    <a:p>
                      <a:r>
                        <a:rPr sz="1100" b="0" i="0">
                          <a:solidFill>
                            <a:srgbClr val="0E7C86"/>
                          </a:solidFill>
                          <a:latin typeface="Consolas"/>
                        </a:rPr>
                        <a:t>drishti-server-ecs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deploy/docker/ecs/server.Dockerfile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server-entrypoint.sh: EFS mounted and writable, real IPv4 (never loopback), first-start node.yaml and peers; health check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100" b="0" i="0">
                          <a:solidFill>
                            <a:srgbClr val="0E7C86"/>
                          </a:solidFill>
                          <a:latin typeface="Consolas"/>
                        </a:rPr>
                        <a:t>drishti-console-ecs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deploy/docker/ecs/console.Dockerfile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console-entrypoint.sh: the console, a separate container from the server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100" b="0" i="0">
                          <a:solidFill>
                            <a:srgbClr val="0E7C86"/>
                          </a:solidFill>
                          <a:latin typeface="Consolas"/>
                        </a:rPr>
                        <a:t>drishti-loader-ecs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deploy/docker/ecs/loader.Dockerfile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loader-entrypoint.sh: EFS mounted and writable; runs the lake scripts; copies deploy/aws/ with your env (no secret)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3" name="TextBox 12"/>
          <p:cNvSpPr txBox="1"/>
          <p:nvPr/>
        </p:nvSpPr>
        <p:spPr>
          <a:xfrm>
            <a:off x="411480" y="4983480"/>
            <a:ext cx="11365992" cy="1371600"/>
          </a:xfrm>
          <a:prstGeom prst="rect">
            <a:avLst/>
          </a:prstGeom>
          <a:noFill/>
        </p:spPr>
        <p:txBody>
          <a:bodyPr wrap="square" lIns="0" rIns="0" tIns="0" bIns="0" anchor="t">
            <a:spAutoFit/>
          </a:bodyPr>
          <a:lstStyle/>
          <a:p>
            <a:pPr algn="l" marL="201168" indent="-201168">
              <a:spcAft>
                <a:spcPts val="400"/>
              </a:spcAft>
              <a:buClr>
                <a:srgbClr val="E87A1E"/>
              </a:buClr>
              <a:buSzPct val="100000"/>
              <a:buFont typeface="Arial"/>
              <a:buChar char="•"/>
            </a:pPr>
            <a:r>
              <a:rPr sz="1300" b="0" i="0">
                <a:solidFill>
                  <a:srgbClr val="1C2433"/>
                </a:solidFill>
                <a:latin typeface="Calibri"/>
              </a:rPr>
              <a:t>Loader tasks read the same settings: </a:t>
            </a:r>
            <a:r>
              <a:rPr sz="1200" b="0" i="0">
                <a:solidFill>
                  <a:srgbClr val="0E7C86"/>
                </a:solidFill>
                <a:latin typeface="Consolas"/>
              </a:rPr>
              <a:t>DRISHTI_AWS_ENV=/opt/drishti/app/deploy/aws/env</a:t>
            </a:r>
            <a:r>
              <a:rPr sz="1300" b="0" i="0">
                <a:solidFill>
                  <a:srgbClr val="1C2433"/>
                </a:solidFill>
                <a:latin typeface="Calibri"/>
              </a:rPr>
              <a:t>; rebuild the loader image when they change</a:t>
            </a:r>
          </a:p>
          <a:p>
            <a:pPr algn="l" marL="201168" indent="-201168">
              <a:spcAft>
                <a:spcPts val="400"/>
              </a:spcAft>
              <a:buClr>
                <a:srgbClr val="E87A1E"/>
              </a:buClr>
              <a:buSzPct val="100000"/>
              <a:buFont typeface="Arial"/>
              <a:buChar char="•"/>
            </a:pPr>
            <a:r>
              <a:rPr sz="1300" b="0" i="0">
                <a:solidFill>
                  <a:srgbClr val="1C2433"/>
                </a:solidFill>
                <a:latin typeface="Calibri"/>
              </a:rPr>
              <a:t>The loader image carries the Python lake tools (</a:t>
            </a:r>
            <a:r>
              <a:rPr sz="1200" b="0" i="0">
                <a:solidFill>
                  <a:srgbClr val="0E7C86"/>
                </a:solidFill>
                <a:latin typeface="Consolas"/>
              </a:rPr>
              <a:t>lake build</a:t>
            </a:r>
            <a:r>
              <a:rPr sz="1300" b="0" i="0">
                <a:solidFill>
                  <a:srgbClr val="1C2433"/>
                </a:solidFill>
                <a:latin typeface="Calibri"/>
              </a:rPr>
              <a:t>, </a:t>
            </a:r>
            <a:r>
              <a:rPr sz="1200" b="0" i="0">
                <a:solidFill>
                  <a:srgbClr val="0E7C86"/>
                </a:solidFill>
                <a:latin typeface="Consolas"/>
              </a:rPr>
              <a:t>lake publish</a:t>
            </a:r>
            <a:r>
              <a:rPr sz="1300" b="0" i="0">
                <a:solidFill>
                  <a:srgbClr val="1C2433"/>
                </a:solidFill>
                <a:latin typeface="Calibri"/>
              </a:rPr>
              <a:t>, </a:t>
            </a:r>
            <a:r>
              <a:rPr sz="1200" b="0" i="0">
                <a:solidFill>
                  <a:srgbClr val="0E7C86"/>
                </a:solidFill>
                <a:latin typeface="Consolas"/>
              </a:rPr>
              <a:t>lake maintain</a:t>
            </a:r>
            <a:r>
              <a:rPr sz="1300" b="0" i="0">
                <a:solidFill>
                  <a:srgbClr val="1C2433"/>
                </a:solidFill>
                <a:latin typeface="Calibri"/>
              </a:rPr>
              <a:t>, </a:t>
            </a:r>
            <a:r>
              <a:rPr sz="1200" b="0" i="0">
                <a:solidFill>
                  <a:srgbClr val="0E7C86"/>
                </a:solidFill>
                <a:latin typeface="Consolas"/>
              </a:rPr>
              <a:t>drishti.py convert</a:t>
            </a:r>
            <a:r>
              <a:rPr sz="1300" b="0" i="0">
                <a:solidFill>
                  <a:srgbClr val="1C2433"/>
                </a:solidFill>
                <a:latin typeface="Calibri"/>
              </a:rPr>
              <a:t>)</a:t>
            </a:r>
          </a:p>
          <a:p>
            <a:pPr algn="l" marL="201168" indent="-201168">
              <a:spcAft>
                <a:spcPts val="400"/>
              </a:spcAft>
              <a:buClr>
                <a:srgbClr val="E87A1E"/>
              </a:buClr>
              <a:buSzPct val="100000"/>
              <a:buFont typeface="Arial"/>
              <a:buChar char="•"/>
            </a:pPr>
            <a:r>
              <a:rPr sz="1300" b="0" i="0">
                <a:solidFill>
                  <a:srgbClr val="1C2433"/>
                </a:solidFill>
                <a:latin typeface="Calibri"/>
              </a:rPr>
              <a:t>The build context is the repository root; nothing is built or run on a developer laptop by the scripts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9: task definitions, services and schedules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 · step 9</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103</a:t>
            </a:r>
          </a:p>
        </p:txBody>
      </p:sp>
      <p:sp>
        <p:nvSpPr>
          <p:cNvPr id="10" name="Code block"/>
          <p:cNvSpPr/>
          <p:nvPr/>
        </p:nvSpPr>
        <p:spPr>
          <a:xfrm>
            <a:off x="411480" y="1188720"/>
            <a:ext cx="11365992" cy="86868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521208" y="1252728"/>
            <a:ext cx="11146536" cy="74066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deploy/aws/ecs/register.sh --dry-run</a:t>
            </a:r>
          </a:p>
          <a:p>
            <a:pPr>
              <a:spcAft>
                <a:spcPts val="0"/>
              </a:spcAft>
              <a:buNone/>
            </a:pPr>
            <a:r>
              <a:rPr sz="1100" b="0" i="0">
                <a:solidFill>
                  <a:srgbClr val="E6EDF3"/>
                </a:solidFill>
                <a:latin typeface="Consolas"/>
              </a:rPr>
              <a:t>deploy/aws/ecs/register.sh                        </a:t>
            </a:r>
            <a:r>
              <a:rPr sz="1100" b="0" i="0">
                <a:solidFill>
                  <a:srgbClr val="8B9BB4"/>
                </a:solidFill>
                <a:latin typeface="Consolas"/>
              </a:rPr>
              <a:t>  # --nodes --lake-jobs</a:t>
            </a:r>
          </a:p>
          <a:p>
            <a:pPr>
              <a:spcAft>
                <a:spcPts val="0"/>
              </a:spcAft>
              <a:buNone/>
            </a:pPr>
            <a:r>
              <a:rPr sz="1100" b="0" i="0">
                <a:solidFill>
                  <a:srgbClr val="E6EDF3"/>
                </a:solidFill>
                <a:latin typeface="Consolas"/>
              </a:rPr>
              <a:t>deploy/aws/ecs/register.sh --consoles 4           </a:t>
            </a:r>
            <a:r>
              <a:rPr sz="1100" b="0" i="0">
                <a:solidFill>
                  <a:srgbClr val="8B9BB4"/>
                </a:solidFill>
                <a:latin typeface="Consolas"/>
              </a:rPr>
              <a:t>  # optional: a console service of its own</a:t>
            </a:r>
          </a:p>
        </p:txBody>
      </p:sp>
      <p:sp>
        <p:nvSpPr>
          <p:cNvPr id="12" name="TextBox 11"/>
          <p:cNvSpPr txBox="1"/>
          <p:nvPr/>
        </p:nvSpPr>
        <p:spPr>
          <a:xfrm>
            <a:off x="411480" y="2194560"/>
            <a:ext cx="11365992" cy="640080"/>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You should see:</a:t>
            </a:r>
            <a:r>
              <a:rPr sz="1300" b="0" i="0">
                <a:solidFill>
                  <a:srgbClr val="1C2433"/>
                </a:solidFill>
                <a:latin typeface="Calibri"/>
              </a:rPr>
              <a:t> a task definition and a service per node (</a:t>
            </a:r>
            <a:r>
              <a:rPr sz="1200" b="0" i="0">
                <a:solidFill>
                  <a:srgbClr val="0E7C86"/>
                </a:solidFill>
                <a:latin typeface="Consolas"/>
              </a:rPr>
              <a:t>drishti-prod-drishti-a</a:t>
            </a:r>
            <a:r>
              <a:rPr sz="1300" b="0" i="0">
                <a:solidFill>
                  <a:srgbClr val="1C2433"/>
                </a:solidFill>
                <a:latin typeface="Calibri"/>
              </a:rPr>
              <a:t>, …), the loader, maintenance and report task definitions, three schedules (</a:t>
            </a:r>
            <a:r>
              <a:rPr sz="1200" b="0" i="0">
                <a:solidFill>
                  <a:srgbClr val="0E7C86"/>
                </a:solidFill>
                <a:latin typeface="Consolas"/>
              </a:rPr>
              <a:t>drishti-prod-load-day</a:t>
            </a:r>
            <a:r>
              <a:rPr sz="1300" b="0" i="0">
                <a:solidFill>
                  <a:srgbClr val="1C2433"/>
                </a:solidFill>
                <a:latin typeface="Calibri"/>
              </a:rPr>
              <a:t>, </a:t>
            </a:r>
            <a:r>
              <a:rPr sz="1200" b="0" i="0">
                <a:solidFill>
                  <a:srgbClr val="0E7C86"/>
                </a:solidFill>
                <a:latin typeface="Consolas"/>
              </a:rPr>
              <a:t>-maintain</a:t>
            </a:r>
            <a:r>
              <a:rPr sz="1300" b="0" i="0">
                <a:solidFill>
                  <a:srgbClr val="1C2433"/>
                </a:solidFill>
                <a:latin typeface="Calibri"/>
              </a:rPr>
              <a:t>, </a:t>
            </a:r>
            <a:r>
              <a:rPr sz="1200" b="0" i="0">
                <a:solidFill>
                  <a:srgbClr val="0E7C86"/>
                </a:solidFill>
                <a:latin typeface="Consolas"/>
              </a:rPr>
              <a:t>-report</a:t>
            </a:r>
            <a:r>
              <a:rPr sz="1300" b="0" i="0">
                <a:solidFill>
                  <a:srgbClr val="1C2433"/>
                </a:solidFill>
                <a:latin typeface="Calibri"/>
              </a:rPr>
              <a:t>), then </a:t>
            </a:r>
            <a:r>
              <a:rPr sz="1200" b="0" i="0">
                <a:solidFill>
                  <a:srgbClr val="0E7C86"/>
                </a:solidFill>
                <a:latin typeface="Consolas"/>
              </a:rPr>
              <a:t>register.sh: done</a:t>
            </a:r>
            <a:r>
              <a:rPr sz="1300" b="0" i="0">
                <a:solidFill>
                  <a:srgbClr val="1C2433"/>
                </a:solidFill>
                <a:latin typeface="Calibri"/>
              </a:rPr>
              <a:t>.</a:t>
            </a:r>
          </a:p>
        </p:txBody>
      </p:sp>
      <p:sp>
        <p:nvSpPr>
          <p:cNvPr id="13" name="TextBox 12"/>
          <p:cNvSpPr txBox="1"/>
          <p:nvPr/>
        </p:nvSpPr>
        <p:spPr>
          <a:xfrm>
            <a:off x="411480" y="2971800"/>
            <a:ext cx="11365992" cy="3383280"/>
          </a:xfrm>
          <a:prstGeom prst="rect">
            <a:avLst/>
          </a:prstGeom>
          <a:noFill/>
        </p:spPr>
        <p:txBody>
          <a:bodyPr wrap="square" lIns="0" rIns="0" tIns="0" bIns="0" anchor="t">
            <a:spAutoFit/>
          </a:bodyPr>
          <a:lstStyle/>
          <a:p>
            <a:pPr algn="l" marL="201168" indent="-201168">
              <a:spcAft>
                <a:spcPts val="700"/>
              </a:spcAft>
              <a:buClr>
                <a:srgbClr val="E87A1E"/>
              </a:buClr>
              <a:buSzPct val="100000"/>
              <a:buFont typeface="Arial"/>
              <a:buChar char="•"/>
            </a:pPr>
            <a:r>
              <a:rPr sz="1400" b="0" i="0">
                <a:solidFill>
                  <a:srgbClr val="1C2433"/>
                </a:solidFill>
                <a:latin typeface="Calibri"/>
              </a:rPr>
              <a:t>The node task sets </a:t>
            </a:r>
            <a:r>
              <a:rPr sz="1300" b="0" i="0">
                <a:solidFill>
                  <a:srgbClr val="0E7C86"/>
                </a:solidFill>
                <a:latin typeface="Consolas"/>
              </a:rPr>
              <a:t>DRISHTI_DELTA_ROOT=s3://&lt;lake bucket&gt;/lake</a:t>
            </a:r>
            <a:r>
              <a:rPr sz="1400" b="0" i="0">
                <a:solidFill>
                  <a:srgbClr val="1C2433"/>
                </a:solidFill>
                <a:latin typeface="Calibri"/>
              </a:rPr>
              <a:t>: every shipped Delta connector reads the lake in S3 with no edit, </a:t>
            </a:r>
            <a:r>
              <a:rPr sz="1400" b="1" i="0">
                <a:solidFill>
                  <a:srgbClr val="1C2433"/>
                </a:solidFill>
                <a:latin typeface="Calibri"/>
              </a:rPr>
              <a:t>the risk lake's</a:t>
            </a:r>
            <a:r>
              <a:rPr sz="1400" b="0" i="0">
                <a:solidFill>
                  <a:srgbClr val="1C2433"/>
                </a:solidFill>
                <a:latin typeface="Calibri"/>
              </a:rPr>
              <a:t> </a:t>
            </a:r>
            <a:r>
              <a:rPr sz="1300" b="0" i="0">
                <a:solidFill>
                  <a:srgbClr val="0E7C86"/>
                </a:solidFill>
                <a:latin typeface="Consolas"/>
              </a:rPr>
              <a:t>risk-store</a:t>
            </a:r>
            <a:r>
              <a:rPr sz="1400" b="0" i="0">
                <a:solidFill>
                  <a:srgbClr val="1C2433"/>
                </a:solidFill>
                <a:latin typeface="Calibri"/>
              </a:rPr>
              <a:t>, </a:t>
            </a:r>
            <a:r>
              <a:rPr sz="1300" b="0" i="0">
                <a:solidFill>
                  <a:srgbClr val="0E7C86"/>
                </a:solidFill>
                <a:latin typeface="Consolas"/>
              </a:rPr>
              <a:t>exposure-store</a:t>
            </a:r>
            <a:r>
              <a:rPr sz="1400" b="0" i="0">
                <a:solidFill>
                  <a:srgbClr val="1C2433"/>
                </a:solidFill>
                <a:latin typeface="Calibri"/>
              </a:rPr>
              <a:t>, </a:t>
            </a:r>
            <a:r>
              <a:rPr sz="1300" b="0" i="0">
                <a:solidFill>
                  <a:srgbClr val="0E7C86"/>
                </a:solidFill>
                <a:latin typeface="Consolas"/>
              </a:rPr>
              <a:t>var-results</a:t>
            </a:r>
            <a:r>
              <a:rPr sz="1400" b="0" i="0">
                <a:solidFill>
                  <a:srgbClr val="1C2433"/>
                </a:solidFill>
                <a:latin typeface="Calibri"/>
              </a:rPr>
              <a:t> and </a:t>
            </a:r>
            <a:r>
              <a:rPr sz="1300" b="0" i="0">
                <a:solidFill>
                  <a:srgbClr val="0E7C86"/>
                </a:solidFill>
                <a:latin typeface="Consolas"/>
              </a:rPr>
              <a:t>exposure-results</a:t>
            </a:r>
            <a:r>
              <a:rPr sz="1400" b="0" i="0">
                <a:solidFill>
                  <a:srgbClr val="1C2433"/>
                </a:solidFill>
                <a:latin typeface="Calibri"/>
              </a:rPr>
              <a:t> included</a:t>
            </a:r>
          </a:p>
          <a:p>
            <a:pPr algn="l" marL="201168" indent="-201168">
              <a:spcAft>
                <a:spcPts val="700"/>
              </a:spcAft>
              <a:buClr>
                <a:srgbClr val="E87A1E"/>
              </a:buClr>
              <a:buSzPct val="100000"/>
              <a:buFont typeface="Arial"/>
              <a:buChar char="•"/>
            </a:pPr>
            <a:r>
              <a:rPr sz="1400" b="0" i="0">
                <a:solidFill>
                  <a:srgbClr val="1C2433"/>
                </a:solidFill>
                <a:latin typeface="Calibri"/>
              </a:rPr>
              <a:t>The official-results publishers default to the same root and write it on </a:t>
            </a:r>
            <a:r>
              <a:rPr sz="1300" b="0" i="0">
                <a:solidFill>
                  <a:srgbClr val="0E7C86"/>
                </a:solidFill>
                <a:latin typeface="Consolas"/>
              </a:rPr>
              <a:t>s3://</a:t>
            </a:r>
            <a:r>
              <a:rPr sz="1400" b="0" i="0">
                <a:solidFill>
                  <a:srgbClr val="1C2433"/>
                </a:solidFill>
                <a:latin typeface="Calibri"/>
              </a:rPr>
              <a:t> (Delta, or Iceberg); the task role needs </a:t>
            </a:r>
            <a:r>
              <a:rPr sz="1300" b="0" i="0">
                <a:solidFill>
                  <a:srgbClr val="0E7C86"/>
                </a:solidFill>
                <a:latin typeface="Consolas"/>
              </a:rPr>
              <a:t>s3:PutObject</a:t>
            </a:r>
            <a:r>
              <a:rPr sz="1400" b="0" i="0">
                <a:solidFill>
                  <a:srgbClr val="1C2433"/>
                </a:solidFill>
                <a:latin typeface="Calibri"/>
              </a:rPr>
              <a:t> there (slide 49)</a:t>
            </a:r>
          </a:p>
          <a:p>
            <a:pPr algn="l" marL="201168" indent="-201168">
              <a:spcAft>
                <a:spcPts val="700"/>
              </a:spcAft>
              <a:buClr>
                <a:srgbClr val="E87A1E"/>
              </a:buClr>
              <a:buSzPct val="100000"/>
              <a:buFont typeface="Arial"/>
              <a:buChar char="•"/>
            </a:pPr>
            <a:r>
              <a:rPr sz="1400" b="0" i="0">
                <a:solidFill>
                  <a:srgbClr val="1C2433"/>
                </a:solidFill>
                <a:latin typeface="Calibri"/>
              </a:rPr>
              <a:t>Templates: </a:t>
            </a:r>
            <a:r>
              <a:rPr sz="1300" b="0" i="0">
                <a:solidFill>
                  <a:srgbClr val="0E7C86"/>
                </a:solidFill>
                <a:latin typeface="Consolas"/>
              </a:rPr>
              <a:t>deploy/aws/ecs/templates/</a:t>
            </a:r>
            <a:r>
              <a:rPr sz="1400" b="0" i="0">
                <a:solidFill>
                  <a:srgbClr val="1C2433"/>
                </a:solidFill>
                <a:latin typeface="Calibri"/>
              </a:rPr>
              <a:t> → node-task, node-service, console-task, console-service, lake-task, schedule-target</a:t>
            </a:r>
          </a:p>
          <a:p>
            <a:pPr algn="l" marL="201168" indent="-201168">
              <a:spcAft>
                <a:spcPts val="700"/>
              </a:spcAft>
              <a:buClr>
                <a:srgbClr val="E87A1E"/>
              </a:buClr>
              <a:buSzPct val="100000"/>
              <a:buFont typeface="Arial"/>
              <a:buChar char="•"/>
            </a:pPr>
            <a:r>
              <a:rPr sz="1300" b="0" i="0">
                <a:solidFill>
                  <a:srgbClr val="0E7C86"/>
                </a:solidFill>
                <a:latin typeface="Consolas"/>
              </a:rPr>
              <a:t>--cache nvme</a:t>
            </a:r>
            <a:r>
              <a:rPr sz="1400" b="0" i="0">
                <a:solidFill>
                  <a:srgbClr val="1C2433"/>
                </a:solidFill>
                <a:latin typeface="Calibri"/>
              </a:rPr>
              <a:t> (EC2 launch type) mounts the host's </a:t>
            </a:r>
            <a:r>
              <a:rPr sz="1300" b="0" i="0">
                <a:solidFill>
                  <a:srgbClr val="0E7C86"/>
                </a:solidFill>
                <a:latin typeface="Consolas"/>
              </a:rPr>
              <a:t>/mnt/nvme/drishti/&lt;node&gt;</a:t>
            </a:r>
            <a:r>
              <a:rPr sz="1400" b="0" i="0">
                <a:solidFill>
                  <a:srgbClr val="1C2433"/>
                </a:solidFill>
                <a:latin typeface="Calibri"/>
              </a:rPr>
              <a:t> at </a:t>
            </a:r>
            <a:r>
              <a:rPr sz="1300" b="0" i="0">
                <a:solidFill>
                  <a:srgbClr val="0E7C86"/>
                </a:solidFill>
                <a:latin typeface="Consolas"/>
              </a:rPr>
              <a:t>/opt/drishti/nvme</a:t>
            </a:r>
            <a:r>
              <a:rPr sz="1400" b="0" i="0">
                <a:solidFill>
                  <a:srgbClr val="1C2433"/>
                </a:solidFill>
                <a:latin typeface="Calibri"/>
              </a:rPr>
              <a:t> (slide 22)</a:t>
            </a:r>
          </a:p>
          <a:p>
            <a:pPr algn="l" marL="201168" indent="-201168">
              <a:spcAft>
                <a:spcPts val="700"/>
              </a:spcAft>
              <a:buClr>
                <a:srgbClr val="E87A1E"/>
              </a:buClr>
              <a:buSzPct val="100000"/>
              <a:buFont typeface="Arial"/>
              <a:buChar char="•"/>
            </a:pPr>
            <a:r>
              <a:rPr sz="1400" b="0" i="0">
                <a:solidFill>
                  <a:srgbClr val="1C2433"/>
                </a:solidFill>
                <a:latin typeface="Calibri"/>
              </a:rPr>
              <a:t>Schedules: </a:t>
            </a:r>
            <a:r>
              <a:rPr sz="1300" b="0" i="0">
                <a:solidFill>
                  <a:srgbClr val="0E7C86"/>
                </a:solidFill>
                <a:latin typeface="Consolas"/>
              </a:rPr>
              <a:t>LOAD_SCHEDULE</a:t>
            </a:r>
            <a:r>
              <a:rPr sz="1400" b="0" i="0">
                <a:solidFill>
                  <a:srgbClr val="1C2433"/>
                </a:solidFill>
                <a:latin typeface="Calibri"/>
              </a:rPr>
              <a:t> (22:30 Mon–Fri), </a:t>
            </a:r>
            <a:r>
              <a:rPr sz="1300" b="0" i="0">
                <a:solidFill>
                  <a:srgbClr val="0E7C86"/>
                </a:solidFill>
                <a:latin typeface="Consolas"/>
              </a:rPr>
              <a:t>MAINTAIN_SCHEDULE</a:t>
            </a:r>
            <a:r>
              <a:rPr sz="1400" b="0" i="0">
                <a:solidFill>
                  <a:srgbClr val="1C2433"/>
                </a:solidFill>
                <a:latin typeface="Calibri"/>
              </a:rPr>
              <a:t> (Tue–Sat 02:30), </a:t>
            </a:r>
            <a:r>
              <a:rPr sz="1300" b="0" i="0">
                <a:solidFill>
                  <a:srgbClr val="0E7C86"/>
                </a:solidFill>
                <a:latin typeface="Consolas"/>
              </a:rPr>
              <a:t>REPORT_SCHEDULE</a:t>
            </a:r>
            <a:r>
              <a:rPr sz="1400" b="0" i="0">
                <a:solidFill>
                  <a:srgbClr val="1C2433"/>
                </a:solidFill>
                <a:latin typeface="Calibri"/>
              </a:rPr>
              <a:t> (daily)</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10: the first load</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 · step 10</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104</a:t>
            </a:r>
          </a:p>
        </p:txBody>
      </p:sp>
      <p:sp>
        <p:nvSpPr>
          <p:cNvPr id="10" name="Code block"/>
          <p:cNvSpPr/>
          <p:nvPr/>
        </p:nvSpPr>
        <p:spPr>
          <a:xfrm>
            <a:off x="411480" y="1188720"/>
            <a:ext cx="11365992" cy="59436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521208" y="1252728"/>
            <a:ext cx="11146536" cy="46634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deploy/aws/delta-lake/load-day.sh --dry-run --date 2026-10-20 --tables trading/trade_endur</a:t>
            </a:r>
          </a:p>
          <a:p>
            <a:pPr>
              <a:spcAft>
                <a:spcPts val="0"/>
              </a:spcAft>
              <a:buNone/>
            </a:pPr>
            <a:r>
              <a:rPr sz="1100" b="0" i="0">
                <a:solidFill>
                  <a:srgbClr val="E6EDF3"/>
                </a:solidFill>
                <a:latin typeface="Consolas"/>
              </a:rPr>
              <a:t>deploy/aws/delta-lake/load-day.sh --date 2026-10-20 --tables trading/trade_endur</a:t>
            </a:r>
          </a:p>
        </p:txBody>
      </p:sp>
      <p:sp>
        <p:nvSpPr>
          <p:cNvPr id="12" name="TextBox 11"/>
          <p:cNvSpPr txBox="1"/>
          <p:nvPr/>
        </p:nvSpPr>
        <p:spPr>
          <a:xfrm>
            <a:off x="411480" y="1920240"/>
            <a:ext cx="11365992" cy="320040"/>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You should see</a:t>
            </a:r>
            <a:r>
              <a:rPr sz="1300" b="0" i="0">
                <a:solidFill>
                  <a:srgbClr val="1C2433"/>
                </a:solidFill>
                <a:latin typeface="Calibri"/>
              </a:rPr>
              <a:t> the steps of the daily load (slide 111), then:</a:t>
            </a:r>
          </a:p>
        </p:txBody>
      </p:sp>
      <p:sp>
        <p:nvSpPr>
          <p:cNvPr id="13" name="Code block"/>
          <p:cNvSpPr/>
          <p:nvPr/>
        </p:nvSpPr>
        <p:spPr>
          <a:xfrm>
            <a:off x="411480" y="2286000"/>
            <a:ext cx="11365992" cy="59436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Code"/>
          <p:cNvSpPr txBox="1"/>
          <p:nvPr/>
        </p:nvSpPr>
        <p:spPr>
          <a:xfrm>
            <a:off x="521208" y="2350008"/>
            <a:ext cx="11146536" cy="46634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lake publish: ok exit=0 published &lt;n&gt; file(s), &lt;bytes&gt; bytes, dates 2026-10-20 to s3://…/trade_endur version=0 (new table)</a:t>
            </a:r>
          </a:p>
          <a:p>
            <a:pPr>
              <a:spcAft>
                <a:spcPts val="0"/>
              </a:spcAft>
              <a:buNone/>
            </a:pPr>
            <a:r>
              <a:rPr sz="1100" b="0" i="0">
                <a:solidFill>
                  <a:srgbClr val="E6EDF3"/>
                </a:solidFill>
                <a:latin typeface="Consolas"/>
              </a:rPr>
              <a:t>load-day.sh: business date 2026-10-20: exit 0</a:t>
            </a:r>
          </a:p>
        </p:txBody>
      </p:sp>
      <p:sp>
        <p:nvSpPr>
          <p:cNvPr id="15" name="TextBox 14"/>
          <p:cNvSpPr txBox="1"/>
          <p:nvPr/>
        </p:nvSpPr>
        <p:spPr>
          <a:xfrm>
            <a:off x="411480" y="3017520"/>
            <a:ext cx="11365992" cy="320040"/>
          </a:xfrm>
          <a:prstGeom prst="rect">
            <a:avLst/>
          </a:prstGeom>
          <a:noFill/>
        </p:spPr>
        <p:txBody>
          <a:bodyPr wrap="square" lIns="0" rIns="0" tIns="0" bIns="0" anchor="t">
            <a:spAutoFit/>
          </a:bodyPr>
          <a:lstStyle/>
          <a:p>
            <a:pPr algn="l">
              <a:spcAft>
                <a:spcPts val="600"/>
              </a:spcAft>
              <a:buNone/>
            </a:pPr>
            <a:r>
              <a:rPr sz="1300" b="0" i="0">
                <a:solidFill>
                  <a:srgbClr val="1C2433"/>
                </a:solidFill>
                <a:latin typeface="Calibri"/>
              </a:rPr>
              <a:t>On ECS the same runs as the loader task:</a:t>
            </a:r>
          </a:p>
        </p:txBody>
      </p:sp>
      <p:sp>
        <p:nvSpPr>
          <p:cNvPr id="16" name="Code block"/>
          <p:cNvSpPr/>
          <p:nvPr/>
        </p:nvSpPr>
        <p:spPr>
          <a:xfrm>
            <a:off x="411480" y="3383280"/>
            <a:ext cx="11365992" cy="59436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Code"/>
          <p:cNvSpPr txBox="1"/>
          <p:nvPr/>
        </p:nvSpPr>
        <p:spPr>
          <a:xfrm>
            <a:off x="521208" y="3447288"/>
            <a:ext cx="11146536" cy="46634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aws ecs run-task --task-definition drishti-prod-loader \</a:t>
            </a:r>
          </a:p>
          <a:p>
            <a:pPr>
              <a:spcAft>
                <a:spcPts val="0"/>
              </a:spcAft>
              <a:buNone/>
            </a:pPr>
            <a:r>
              <a:rPr sz="1100" b="0" i="0">
                <a:solidFill>
                  <a:srgbClr val="E6EDF3"/>
                </a:solidFill>
                <a:latin typeface="Consolas"/>
              </a:rPr>
              <a:t>  --overrides '{"containerOverrides":[{"name":"loader","command":["deploy/aws/delta-lake/load-day.sh","--date","2026-10-20"]}]}' …</a:t>
            </a:r>
          </a:p>
        </p:txBody>
      </p:sp>
      <p:sp>
        <p:nvSpPr>
          <p:cNvPr id="18" name="Callout"/>
          <p:cNvSpPr/>
          <p:nvPr/>
        </p:nvSpPr>
        <p:spPr>
          <a:xfrm>
            <a:off x="411480" y="4206240"/>
            <a:ext cx="5486400" cy="210312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Callout edge"/>
          <p:cNvSpPr/>
          <p:nvPr/>
        </p:nvSpPr>
        <p:spPr>
          <a:xfrm>
            <a:off x="411480" y="4224527"/>
            <a:ext cx="82296" cy="2066543"/>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640080" y="4279392"/>
            <a:ext cx="5120640" cy="1956815"/>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In the console</a:t>
            </a:r>
          </a:p>
          <a:p>
            <a:pPr algn="l">
              <a:spcAft>
                <a:spcPts val="600"/>
              </a:spcAft>
              <a:buNone/>
            </a:pPr>
            <a:r>
              <a:rPr sz="1200" b="0" i="0">
                <a:solidFill>
                  <a:srgbClr val="0E7C86"/>
                </a:solidFill>
                <a:latin typeface="Consolas"/>
              </a:rPr>
              <a:t>TRD &lt;id&gt;</a:t>
            </a:r>
            <a:r>
              <a:rPr sz="1300" b="0" i="0">
                <a:solidFill>
                  <a:srgbClr val="1C2433"/>
                </a:solidFill>
                <a:latin typeface="Calibri"/>
              </a:rPr>
              <a:t> on 2026-10-20 opens the trade; </a:t>
            </a:r>
            <a:r>
              <a:rPr sz="1300" b="1" i="0">
                <a:solidFill>
                  <a:srgbClr val="1C2433"/>
                </a:solidFill>
                <a:latin typeface="Calibri"/>
              </a:rPr>
              <a:t>Admin → Health</a:t>
            </a:r>
            <a:r>
              <a:rPr sz="1300" b="0" i="0">
                <a:solidFill>
                  <a:srgbClr val="1C2433"/>
                </a:solidFill>
                <a:latin typeface="Calibri"/>
              </a:rPr>
              <a:t> shows </a:t>
            </a:r>
            <a:r>
              <a:rPr sz="1200" b="0" i="0">
                <a:solidFill>
                  <a:srgbClr val="0E7C86"/>
                </a:solidFill>
                <a:latin typeface="Consolas"/>
              </a:rPr>
              <a:t>trade-endur UP (engine: native)</a:t>
            </a:r>
            <a:r>
              <a:rPr sz="1300" b="0" i="0">
                <a:solidFill>
                  <a:srgbClr val="1C2433"/>
                </a:solidFill>
                <a:latin typeface="Calibri"/>
              </a:rPr>
              <a:t>; </a:t>
            </a:r>
            <a:r>
              <a:rPr sz="1200" b="0" i="0">
                <a:solidFill>
                  <a:srgbClr val="0E7C86"/>
                </a:solidFill>
                <a:latin typeface="Consolas"/>
              </a:rPr>
              <a:t>DATAMAP trade</a:t>
            </a:r>
            <a:r>
              <a:rPr sz="1300" b="0" i="0">
                <a:solidFill>
                  <a:srgbClr val="1C2433"/>
                </a:solidFill>
                <a:latin typeface="Calibri"/>
              </a:rPr>
              <a:t> counts the day's trades and checks their joins against the lake.</a:t>
            </a:r>
          </a:p>
        </p:txBody>
      </p:sp>
      <p:sp>
        <p:nvSpPr>
          <p:cNvPr id="21" name="Callout"/>
          <p:cNvSpPr/>
          <p:nvPr/>
        </p:nvSpPr>
        <p:spPr>
          <a:xfrm>
            <a:off x="6172200" y="4206240"/>
            <a:ext cx="5605272" cy="210312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Callout edge"/>
          <p:cNvSpPr/>
          <p:nvPr/>
        </p:nvSpPr>
        <p:spPr>
          <a:xfrm>
            <a:off x="6172200" y="4224527"/>
            <a:ext cx="82296" cy="2066543"/>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6400800" y="4279392"/>
            <a:ext cx="5239512" cy="1956815"/>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The dumps are JSON Lines</a:t>
            </a:r>
          </a:p>
          <a:p>
            <a:pPr algn="l">
              <a:spcAft>
                <a:spcPts val="600"/>
              </a:spcAft>
              <a:buNone/>
            </a:pPr>
            <a:r>
              <a:rPr sz="1300" b="0" i="0">
                <a:solidFill>
                  <a:srgbClr val="1C2433"/>
                </a:solidFill>
                <a:latin typeface="Calibri"/>
              </a:rPr>
              <a:t>One object a line, </a:t>
            </a:r>
            <a:r>
              <a:rPr sz="1200" b="0" i="0">
                <a:solidFill>
                  <a:srgbClr val="0E7C86"/>
                </a:solidFill>
                <a:latin typeface="Consolas"/>
              </a:rPr>
              <a:t>.jsonl.gz</a:t>
            </a:r>
            <a:r>
              <a:rPr sz="1300" b="0" i="0">
                <a:solidFill>
                  <a:srgbClr val="1C2433"/>
                </a:solidFill>
                <a:latin typeface="Calibri"/>
              </a:rPr>
              <a:t>. JSON arrays still load; a CSV export is converted first: </a:t>
            </a:r>
            <a:r>
              <a:rPr sz="1200" b="0" i="0">
                <a:solidFill>
                  <a:srgbClr val="0E7C86"/>
                </a:solidFill>
                <a:latin typeface="Consolas"/>
              </a:rPr>
              <a:t>drishti.py convert trades.csv</a:t>
            </a:r>
            <a:r>
              <a:rPr sz="1300" b="0" i="0">
                <a:solidFill>
                  <a:srgbClr val="1C2433"/>
                </a:solidFill>
                <a:latin typeface="Calibri"/>
              </a:rPr>
              <a:t> (CSV input is deprecated).</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11: alarms and the report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 · step 11</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105</a:t>
            </a:r>
          </a:p>
        </p:txBody>
      </p:sp>
      <p:sp>
        <p:nvSpPr>
          <p:cNvPr id="10" name="Code block"/>
          <p:cNvSpPr/>
          <p:nvPr/>
        </p:nvSpPr>
        <p:spPr>
          <a:xfrm>
            <a:off x="411480" y="1143000"/>
            <a:ext cx="11365992" cy="566928"/>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521208" y="1207008"/>
            <a:ext cx="11146536" cy="438912"/>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deploy/aws/delta-lake/setup-alarms.sh; deploy/aws/delta-lake/report.sh</a:t>
            </a:r>
          </a:p>
          <a:p>
            <a:pPr>
              <a:spcAft>
                <a:spcPts val="0"/>
              </a:spcAft>
              <a:buNone/>
            </a:pPr>
            <a:r>
              <a:rPr sz="1100" b="0" i="0">
                <a:solidFill>
                  <a:srgbClr val="E6EDF3"/>
                </a:solidFill>
                <a:latin typeface="Consolas"/>
              </a:rPr>
              <a:t>deploy/aws/iceberg/setup-alarms.sh;    deploy/aws/iceberg/report.sh</a:t>
            </a:r>
          </a:p>
        </p:txBody>
      </p:sp>
      <p:sp>
        <p:nvSpPr>
          <p:cNvPr id="12" name="TextBox 11"/>
          <p:cNvSpPr txBox="1"/>
          <p:nvPr/>
        </p:nvSpPr>
        <p:spPr>
          <a:xfrm>
            <a:off x="411480" y="1783080"/>
            <a:ext cx="11365992" cy="365760"/>
          </a:xfrm>
          <a:prstGeom prst="rect">
            <a:avLst/>
          </a:prstGeom>
          <a:noFill/>
        </p:spPr>
        <p:txBody>
          <a:bodyPr wrap="square" lIns="0" rIns="0" tIns="0" bIns="0" anchor="t">
            <a:spAutoFit/>
          </a:bodyPr>
          <a:lstStyle/>
          <a:p>
            <a:pPr algn="l">
              <a:spcAft>
                <a:spcPts val="600"/>
              </a:spcAft>
              <a:buNone/>
            </a:pPr>
            <a:r>
              <a:rPr sz="1200" b="1" i="0">
                <a:solidFill>
                  <a:srgbClr val="1C2433"/>
                </a:solidFill>
                <a:latin typeface="Calibri"/>
              </a:rPr>
              <a:t>You should see</a:t>
            </a:r>
            <a:r>
              <a:rPr sz="1200" b="0" i="0">
                <a:solidFill>
                  <a:srgbClr val="1C2433"/>
                </a:solidFill>
                <a:latin typeface="Calibri"/>
              </a:rPr>
              <a:t> </a:t>
            </a:r>
            <a:r>
              <a:rPr sz="1100" b="0" i="0">
                <a:solidFill>
                  <a:srgbClr val="0E7C86"/>
                </a:solidFill>
                <a:latin typeface="Consolas"/>
              </a:rPr>
              <a:t>setup-alarms.sh: 17 alarms put</a:t>
            </a:r>
            <a:r>
              <a:rPr sz="1100" b="1" i="0">
                <a:solidFill>
                  <a:srgbClr val="E87A1E"/>
                </a:solidFill>
                <a:latin typeface="Consolas"/>
              </a:rPr>
              <a:t>¹</a:t>
            </a:r>
            <a:r>
              <a:rPr sz="1200" b="0" i="0">
                <a:solidFill>
                  <a:srgbClr val="1C2433"/>
                </a:solidFill>
                <a:latin typeface="Calibri"/>
              </a:rPr>
              <a:t> for three Delta tables (four per table, two for the bucket and EFS, one per node), and the report (slide 81).</a:t>
            </a:r>
          </a:p>
        </p:txBody>
      </p:sp>
      <p:graphicFrame>
        <p:nvGraphicFramePr>
          <p:cNvPr id="13" name="Table"/>
          <p:cNvGraphicFramePr>
            <a:graphicFrameLocks noGrp="1"/>
          </p:cNvGraphicFramePr>
          <p:nvPr/>
        </p:nvGraphicFramePr>
        <p:xfrm>
          <a:off x="411480" y="2240280"/>
          <a:ext cx="11365992" cy="3456432"/>
        </p:xfrm>
        <a:graphic>
          <a:graphicData uri="http://schemas.openxmlformats.org/drawingml/2006/table">
            <a:tbl>
              <a:tblPr firstRow="0" bandRow="0">
                <a:tableStyleId>{5940675A-B579-460E-94D1-54222C63F5DA}</a:tableStyleId>
              </a:tblPr>
              <a:tblGrid>
                <a:gridCol w="4206240"/>
                <a:gridCol w="7159752"/>
              </a:tblGrid>
              <a:tr h="384048">
                <a:tc>
                  <a:txBody>
                    <a:bodyPr wrap="square"/>
                    <a:lstStyle/>
                    <a:p>
                      <a:r>
                        <a:rPr sz="1150" b="1" i="0">
                          <a:solidFill>
                            <a:srgbClr val="FFFFFF"/>
                          </a:solidFill>
                          <a:latin typeface="Calibri"/>
                        </a:rPr>
                        <a:t>Alarm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50" b="1" i="0">
                          <a:solidFill>
                            <a:srgbClr val="FFFFFF"/>
                          </a:solidFill>
                          <a:latin typeface="Calibri"/>
                        </a:rPr>
                        <a:t>Fires when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384048">
                <a:tc>
                  <a:txBody>
                    <a:bodyPr wrap="square"/>
                    <a:lstStyle/>
                    <a:p>
                      <a:r>
                        <a:rPr sz="1050" b="1" i="0">
                          <a:solidFill>
                            <a:srgbClr val="0E7C86"/>
                          </a:solidFill>
                          <a:latin typeface="Consolas"/>
                        </a:rPr>
                        <a:t>drishti-&lt;env&gt;-&lt;table&gt;-load-failed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a load of the table failed (nothing of it was published)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050" b="1" i="0">
                          <a:solidFill>
                            <a:srgbClr val="0E7C86"/>
                          </a:solidFill>
                          <a:latin typeface="Consolas"/>
                        </a:rPr>
                        <a:t>drishti-&lt;env&gt;-&lt;table&gt;-not-loaded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no successful load for three days running (a weekend is two)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84048">
                <a:tc>
                  <a:txBody>
                    <a:bodyPr wrap="square"/>
                    <a:lstStyle/>
                    <a:p>
                      <a:r>
                        <a:rPr sz="1050" b="1" i="0">
                          <a:solidFill>
                            <a:srgbClr val="0E7C86"/>
                          </a:solidFill>
                          <a:latin typeface="Consolas"/>
                        </a:rPr>
                        <a:t>drishti-&lt;env&gt;-&lt;table&gt;-load-slow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a load took longer than </a:t>
                      </a:r>
                      <a:r>
                        <a:rPr sz="1050" b="0" i="0">
                          <a:solidFill>
                            <a:srgbClr val="0E7C86"/>
                          </a:solidFill>
                          <a:latin typeface="Consolas"/>
                        </a:rPr>
                        <a:t>ALARM_PUBLISH_DEADLINE_HOURS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050" b="1" i="0">
                          <a:solidFill>
                            <a:srgbClr val="0E7C86"/>
                          </a:solidFill>
                          <a:latin typeface="Consolas"/>
                        </a:rPr>
                        <a:t>drishti-&lt;env&gt;-&lt;table&gt;-log-long</a:t>
                      </a:r>
                      <a:r>
                        <a:rPr sz="1150" b="1" i="0">
                          <a:solidFill>
                            <a:srgbClr val="1C2433"/>
                          </a:solidFill>
                          <a:latin typeface="Calibri"/>
                        </a:rPr>
                        <a:t> (Delta)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readers replay more than </a:t>
                      </a:r>
                      <a:r>
                        <a:rPr sz="1050" b="0" i="0">
                          <a:solidFill>
                            <a:srgbClr val="0E7C86"/>
                          </a:solidFill>
                          <a:latin typeface="Consolas"/>
                        </a:rPr>
                        <a:t>ALARM_COMMITS_SINCE_CHECKPOINT</a:t>
                      </a:r>
                      <a:r>
                        <a:rPr sz="1150" b="0" i="0">
                          <a:solidFill>
                            <a:srgbClr val="1C2433"/>
                          </a:solidFill>
                          <a:latin typeface="Calibri"/>
                        </a:rPr>
                        <a:t> commits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84048">
                <a:tc>
                  <a:txBody>
                    <a:bodyPr wrap="square"/>
                    <a:lstStyle/>
                    <a:p>
                      <a:r>
                        <a:rPr sz="1150" b="1" i="0">
                          <a:solidFill>
                            <a:srgbClr val="1C2433"/>
                          </a:solidFill>
                          <a:latin typeface="Calibri"/>
                        </a:rPr>
                        <a:t>snapshots (Iceberg)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more than </a:t>
                      </a:r>
                      <a:r>
                        <a:rPr sz="1050" b="0" i="0">
                          <a:solidFill>
                            <a:srgbClr val="0E7C86"/>
                          </a:solidFill>
                          <a:latin typeface="Consolas"/>
                        </a:rPr>
                        <a:t>ALARM_ICEBERG_SNAPSHOTS</a:t>
                      </a:r>
                      <a:r>
                        <a:rPr sz="1150" b="0" i="0">
                          <a:solidFill>
                            <a:srgbClr val="1C2433"/>
                          </a:solidFill>
                          <a:latin typeface="Calibri"/>
                        </a:rPr>
                        <a:t> (500) snapshots kept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050" b="1" i="0">
                          <a:solidFill>
                            <a:srgbClr val="0E7C86"/>
                          </a:solidFill>
                          <a:latin typeface="Consolas"/>
                        </a:rPr>
                        <a:t>drishti-&lt;env&gt;-lake-s3-5xx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more than </a:t>
                      </a:r>
                      <a:r>
                        <a:rPr sz="1050" b="0" i="0">
                          <a:solidFill>
                            <a:srgbClr val="0E7C86"/>
                          </a:solidFill>
                          <a:latin typeface="Consolas"/>
                        </a:rPr>
                        <a:t>ALARM_S3_5XX_PER_5MIN</a:t>
                      </a:r>
                      <a:r>
                        <a:rPr sz="1150" b="0" i="0">
                          <a:solidFill>
                            <a:srgbClr val="1C2433"/>
                          </a:solidFill>
                          <a:latin typeface="Calibri"/>
                        </a:rPr>
                        <a:t> server errors in 5 minutes, twice in 15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84048">
                <a:tc>
                  <a:txBody>
                    <a:bodyPr wrap="square"/>
                    <a:lstStyle/>
                    <a:p>
                      <a:r>
                        <a:rPr sz="1050" b="1" i="0">
                          <a:solidFill>
                            <a:srgbClr val="0E7C86"/>
                          </a:solidFill>
                          <a:latin typeface="Consolas"/>
                        </a:rPr>
                        <a:t>drishti-&lt;env&gt;-efs-io-limit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EFS PercentIOLimit above 80 %</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050" b="1" i="0">
                          <a:solidFill>
                            <a:srgbClr val="0E7C86"/>
                          </a:solidFill>
                          <a:latin typeface="Consolas"/>
                        </a:rPr>
                        <a:t>drishti-&lt;env&gt;-&lt;node&gt;-down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a node's service has no running task for 5 minutes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4" name="TextBox 13"/>
          <p:cNvSpPr txBox="1"/>
          <p:nvPr/>
        </p:nvSpPr>
        <p:spPr>
          <a:xfrm>
            <a:off x="411480" y="5760720"/>
            <a:ext cx="11365992" cy="594360"/>
          </a:xfrm>
          <a:prstGeom prst="rect">
            <a:avLst/>
          </a:prstGeom>
          <a:noFill/>
        </p:spPr>
        <p:txBody>
          <a:bodyPr wrap="square" lIns="0" rIns="0" tIns="0" bIns="0" anchor="t">
            <a:spAutoFit/>
          </a:bodyPr>
          <a:lstStyle/>
          <a:p>
            <a:pPr algn="l">
              <a:spcAft>
                <a:spcPts val="600"/>
              </a:spcAft>
              <a:buNone/>
            </a:pPr>
            <a:r>
              <a:rPr sz="1150" b="0" i="0">
                <a:solidFill>
                  <a:srgbClr val="1C2433"/>
                </a:solidFill>
                <a:latin typeface="Calibri"/>
              </a:rPr>
              <a:t>All notify </a:t>
            </a:r>
            <a:r>
              <a:rPr sz="1050" b="0" i="0">
                <a:solidFill>
                  <a:srgbClr val="0E7C86"/>
                </a:solidFill>
                <a:latin typeface="Consolas"/>
              </a:rPr>
              <a:t>ALARM_SNS_TOPIC_ARN</a:t>
            </a:r>
            <a:r>
              <a:rPr sz="1150" b="0" i="0">
                <a:solidFill>
                  <a:srgbClr val="1C2433"/>
                </a:solidFill>
                <a:latin typeface="Calibri"/>
              </a:rPr>
              <a:t>; </a:t>
            </a:r>
            <a:r>
              <a:rPr sz="1050" b="0" i="0">
                <a:solidFill>
                  <a:srgbClr val="0E7C86"/>
                </a:solidFill>
                <a:latin typeface="Consolas"/>
              </a:rPr>
              <a:t>report.sh</a:t>
            </a:r>
            <a:r>
              <a:rPr sz="1150" b="0" i="0">
                <a:solidFill>
                  <a:srgbClr val="1C2433"/>
                </a:solidFill>
                <a:latin typeface="Calibri"/>
              </a:rPr>
              <a:t> is scheduled daily (</a:t>
            </a:r>
            <a:r>
              <a:rPr sz="1050" b="0" i="0">
                <a:solidFill>
                  <a:srgbClr val="0E7C86"/>
                </a:solidFill>
                <a:latin typeface="Consolas"/>
              </a:rPr>
              <a:t>REPORT_SCHEDULE</a:t>
            </a:r>
            <a:r>
              <a:rPr sz="1150" b="0" i="0">
                <a:solidFill>
                  <a:srgbClr val="1C2433"/>
                </a:solidFill>
                <a:latin typeface="Calibri"/>
              </a:rPr>
              <a:t>) and sends its numbers to CloudWatch (Iceberg: </a:t>
            </a:r>
            <a:r>
              <a:rPr sz="1050" b="0" i="0">
                <a:solidFill>
                  <a:srgbClr val="0E7C86"/>
                </a:solidFill>
                <a:latin typeface="Consolas"/>
              </a:rPr>
              <a:t>IcebergSnapshots</a:t>
            </a:r>
            <a:r>
              <a:rPr sz="1150" b="0" i="0">
                <a:solidFill>
                  <a:srgbClr val="1C2433"/>
                </a:solidFill>
                <a:latin typeface="Calibri"/>
              </a:rPr>
              <a:t>, </a:t>
            </a:r>
            <a:r>
              <a:rPr sz="1050" b="0" i="0">
                <a:solidFill>
                  <a:srgbClr val="0E7C86"/>
                </a:solidFill>
                <a:latin typeface="Consolas"/>
              </a:rPr>
              <a:t>NewestBusinessDate</a:t>
            </a:r>
            <a:r>
              <a:rPr sz="1150" b="0" i="0">
                <a:solidFill>
                  <a:srgbClr val="1C2433"/>
                </a:solidFill>
                <a:latin typeface="Calibri"/>
              </a:rPr>
              <a:t>). Heap, Drishti*net member dead and backup failed come with the platform's agent; Drishti*net health is on </a:t>
            </a:r>
            <a:r>
              <a:rPr sz="1150" b="1" i="0">
                <a:solidFill>
                  <a:srgbClr val="1C2433"/>
                </a:solidFill>
                <a:latin typeface="Calibri"/>
              </a:rPr>
              <a:t>Admin → Health</a:t>
            </a:r>
            <a:r>
              <a:rPr sz="1150" b="0" i="0">
                <a:solidFill>
                  <a:srgbClr val="1C2433"/>
                </a:solidFill>
                <a:latin typeface="Calibri"/>
              </a:rPr>
              <a:t> and </a:t>
            </a:r>
            <a:r>
              <a:rPr sz="1150" b="1" i="0">
                <a:solidFill>
                  <a:srgbClr val="1C2433"/>
                </a:solidFill>
                <a:latin typeface="Calibri"/>
              </a:rPr>
              <a:t>Admin → Net</a:t>
            </a:r>
            <a:r>
              <a:rPr sz="1150" b="0" i="0">
                <a:solidFill>
                  <a:srgbClr val="1C2433"/>
                </a:solidFill>
                <a:latin typeface="Calibri"/>
              </a:rPr>
              <a:t>.</a:t>
            </a:r>
          </a:p>
        </p:txBody>
      </p:sp>
      <p:sp>
        <p:nvSpPr>
          <p:cNvPr id="15" name="Footnotes"/>
          <p:cNvSpPr txBox="1"/>
          <p:nvPr/>
        </p:nvSpPr>
        <p:spPr>
          <a:xfrm>
            <a:off x="411480" y="6377940"/>
            <a:ext cx="11365992" cy="169164"/>
          </a:xfrm>
          <a:prstGeom prst="rect">
            <a:avLst/>
          </a:prstGeom>
          <a:noFill/>
        </p:spPr>
        <p:txBody>
          <a:bodyPr wrap="square" lIns="0" rIns="0" tIns="0" bIns="0" anchor="t">
            <a:spAutoFit/>
          </a:bodyPr>
          <a:lstStyle/>
          <a:p>
            <a:pPr algn="l">
              <a:lnSpc>
                <a:spcPct val="100000"/>
              </a:lnSpc>
              <a:spcAft>
                <a:spcPts val="0"/>
              </a:spcAft>
              <a:buNone/>
            </a:pPr>
            <a:r>
              <a:rPr sz="900" b="0" i="0">
                <a:solidFill>
                  <a:srgbClr val="5B677A"/>
                </a:solidFill>
                <a:latin typeface="Calibri"/>
              </a:rPr>
              <a:t>¹ 4 per table × 3 tables + 2 (bucket, EFS) + 1 per node × 3 = 17</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IAM, KMS and the network for Iceberg</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106</a:t>
            </a:r>
          </a:p>
        </p:txBody>
      </p:sp>
      <p:graphicFrame>
        <p:nvGraphicFramePr>
          <p:cNvPr id="10" name="Table 9"/>
          <p:cNvGraphicFramePr>
            <a:graphicFrameLocks noGrp="1"/>
          </p:cNvGraphicFramePr>
          <p:nvPr/>
        </p:nvGraphicFramePr>
        <p:xfrm>
          <a:off x="411480" y="1143000"/>
          <a:ext cx="11365992" cy="2891332"/>
        </p:xfrm>
        <a:graphic>
          <a:graphicData uri="http://schemas.openxmlformats.org/drawingml/2006/table">
            <a:tbl>
              <a:tblPr firstRow="1" bandRow="1">
                <a:tableStyleId>{5940675A-B579-460E-94D1-54222C63F5DA}</a:tableStyleId>
              </a:tblPr>
              <a:tblGrid>
                <a:gridCol w="1737360"/>
                <a:gridCol w="3840480"/>
                <a:gridCol w="5788152"/>
              </a:tblGrid>
              <a:tr h="419386">
                <a:tc>
                  <a:txBody>
                    <a:bodyPr wrap="square"/>
                    <a:lstStyle/>
                    <a:p>
                      <a:pPr algn="l">
                        <a:lnSpc>
                          <a:spcPct val="100000"/>
                        </a:lnSpc>
                      </a:pPr>
                      <a:r>
                        <a:rPr sz="1150" b="1" i="0">
                          <a:solidFill>
                            <a:srgbClr val="FFFFFF"/>
                          </a:solidFill>
                          <a:latin typeface="Calibri"/>
                        </a:rPr>
                        <a:t>Role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Delta lake (built policies)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Iceberg lake (</a:t>
                      </a:r>
                      <a:r>
                        <a:rPr sz="1050" b="1" i="0">
                          <a:solidFill>
                            <a:srgbClr val="C9D3E3"/>
                          </a:solidFill>
                          <a:latin typeface="Consolas"/>
                        </a:rPr>
                        <a:t>iceberg/iam/*.json</a:t>
                      </a:r>
                      <a:r>
                        <a:rPr sz="1150" b="1" i="0">
                          <a:solidFill>
                            <a:srgbClr val="FFFFFF"/>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19386">
                <a:tc>
                  <a:txBody>
                    <a:bodyPr wrap="square"/>
                    <a:lstStyle/>
                    <a:p>
                      <a:pPr algn="l">
                        <a:lnSpc>
                          <a:spcPct val="100000"/>
                        </a:lnSpc>
                      </a:pPr>
                      <a:r>
                        <a:rPr sz="1150" b="1" i="0">
                          <a:solidFill>
                            <a:srgbClr val="1C2433"/>
                          </a:solidFill>
                          <a:latin typeface="Calibri"/>
                        </a:rPr>
                        <a:t>server task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GET, LIST on </a:t>
                      </a:r>
                      <a:r>
                        <a:rPr sz="1050" b="0" i="0">
                          <a:solidFill>
                            <a:srgbClr val="0E7C86"/>
                          </a:solidFill>
                          <a:latin typeface="Consolas"/>
                        </a:rPr>
                        <a:t>lake/</a:t>
                      </a:r>
                      <a:r>
                        <a:rPr sz="1150" b="0" i="0">
                          <a:solidFill>
                            <a:srgbClr val="1C2433"/>
                          </a:solidFill>
                          <a:latin typeface="Calibri"/>
                        </a:rPr>
                        <a:t>; </a:t>
                      </a:r>
                      <a:r>
                        <a:rPr sz="1050" b="0" i="0">
                          <a:solidFill>
                            <a:srgbClr val="0E7C86"/>
                          </a:solidFill>
                          <a:latin typeface="Consolas"/>
                        </a:rPr>
                        <a:t>kms:Decrypt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the same on </a:t>
                      </a:r>
                      <a:r>
                        <a:rPr sz="1050" b="0" i="0">
                          <a:solidFill>
                            <a:srgbClr val="0E7C86"/>
                          </a:solidFill>
                          <a:latin typeface="Consolas"/>
                        </a:rPr>
                        <a:t>iceberg/</a:t>
                      </a:r>
                      <a:r>
                        <a:rPr sz="1150" b="0" i="0">
                          <a:solidFill>
                            <a:srgbClr val="1C2433"/>
                          </a:solidFill>
                          <a:latin typeface="Calibri"/>
                        </a:rPr>
                        <a:t>; with Glue: </a:t>
                      </a:r>
                      <a:r>
                        <a:rPr sz="1050" b="0" i="0">
                          <a:solidFill>
                            <a:srgbClr val="0E7C86"/>
                          </a:solidFill>
                          <a:latin typeface="Consolas"/>
                        </a:rPr>
                        <a:t>glue:GetCatalog</a:t>
                      </a:r>
                      <a:r>
                        <a:rPr sz="1150" b="0" i="0">
                          <a:solidFill>
                            <a:srgbClr val="1C2433"/>
                          </a:solidFill>
                          <a:latin typeface="Calibri"/>
                        </a:rPr>
                        <a:t>, </a:t>
                      </a:r>
                      <a:r>
                        <a:rPr sz="1050" b="0" i="0">
                          <a:solidFill>
                            <a:srgbClr val="0E7C86"/>
                          </a:solidFill>
                          <a:latin typeface="Consolas"/>
                        </a:rPr>
                        <a:t>GetDatabase</a:t>
                      </a:r>
                      <a:r>
                        <a:rPr sz="1150" b="0" i="0">
                          <a:solidFill>
                            <a:srgbClr val="1C2433"/>
                          </a:solidFill>
                          <a:latin typeface="Calibri"/>
                        </a:rPr>
                        <a:t>, </a:t>
                      </a:r>
                      <a:r>
                        <a:rPr sz="1050" b="0" i="0">
                          <a:solidFill>
                            <a:srgbClr val="0E7C86"/>
                          </a:solidFill>
                          <a:latin typeface="Consolas"/>
                        </a:rPr>
                        <a:t>GetTable</a:t>
                      </a:r>
                      <a:r>
                        <a:rPr sz="1150" b="0" i="0">
                          <a:solidFill>
                            <a:srgbClr val="1C2433"/>
                          </a:solidFill>
                          <a:latin typeface="Calibri"/>
                        </a:rPr>
                        <a:t> (read)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844426">
                <a:tc>
                  <a:txBody>
                    <a:bodyPr wrap="square"/>
                    <a:lstStyle/>
                    <a:p>
                      <a:pPr algn="l">
                        <a:lnSpc>
                          <a:spcPct val="100000"/>
                        </a:lnSpc>
                      </a:pPr>
                      <a:r>
                        <a:rPr sz="1150" b="1" i="0">
                          <a:solidFill>
                            <a:srgbClr val="1C2433"/>
                          </a:solidFill>
                          <a:latin typeface="Calibri"/>
                        </a:rPr>
                        <a:t>loader task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PUT data files and commits; </a:t>
                      </a:r>
                      <a:r>
                        <a:rPr sz="1150" b="1" i="0">
                          <a:solidFill>
                            <a:srgbClr val="1C2433"/>
                          </a:solidFill>
                          <a:latin typeface="Calibri"/>
                        </a:rPr>
                        <a:t>never delete</a:t>
                      </a:r>
                      <a:r>
                        <a:rPr sz="1150" b="0" i="0">
                          <a:solidFill>
                            <a:srgbClr val="1C2433"/>
                          </a:solidFill>
                          <a:latin typeface="Calibri"/>
                        </a:rPr>
                        <a:t> (explicit deny)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PUT data, manifests, </a:t>
                      </a:r>
                      <a:r>
                        <a:rPr sz="1050" b="0" i="0">
                          <a:solidFill>
                            <a:srgbClr val="0E7C86"/>
                          </a:solidFill>
                          <a:latin typeface="Consolas"/>
                        </a:rPr>
                        <a:t>vN.metadata.json</a:t>
                      </a:r>
                      <a:r>
                        <a:rPr sz="1150" b="0" i="0">
                          <a:solidFill>
                            <a:srgbClr val="1C2433"/>
                          </a:solidFill>
                          <a:latin typeface="Calibri"/>
                        </a:rPr>
                        <a:t>, </a:t>
                      </a:r>
                      <a:r>
                        <a:rPr sz="1050" b="0" i="0">
                          <a:solidFill>
                            <a:srgbClr val="0E7C86"/>
                          </a:solidFill>
                          <a:latin typeface="Consolas"/>
                        </a:rPr>
                        <a:t>version-hint.text</a:t>
                      </a:r>
                      <a:r>
                        <a:rPr sz="1150" b="0" i="0">
                          <a:solidFill>
                            <a:srgbClr val="1C2433"/>
                          </a:solidFill>
                          <a:latin typeface="Calibri"/>
                        </a:rPr>
                        <a:t>; the deny can stay (old metadata removal is best effort); no </a:t>
                      </a:r>
                      <a:r>
                        <a:rPr sz="1050" b="0" i="0">
                          <a:solidFill>
                            <a:srgbClr val="0E7C86"/>
                          </a:solidFill>
                          <a:latin typeface="Consolas"/>
                        </a:rPr>
                        <a:t>--keep-days</a:t>
                      </a:r>
                      <a:r>
                        <a:rPr sz="1150" b="0" i="0">
                          <a:solidFill>
                            <a:srgbClr val="1C2433"/>
                          </a:solidFill>
                          <a:latin typeface="Calibri"/>
                        </a:rPr>
                        <a:t> in the loader; with Glue: </a:t>
                      </a:r>
                      <a:r>
                        <a:rPr sz="1050" b="0" i="0">
                          <a:solidFill>
                            <a:srgbClr val="0E7C86"/>
                          </a:solidFill>
                          <a:latin typeface="Consolas"/>
                        </a:rPr>
                        <a:t>glue:UpdateTable</a:t>
                      </a:r>
                      <a:r>
                        <a:rPr sz="1150" b="0" i="0">
                          <a:solidFill>
                            <a:srgbClr val="1C2433"/>
                          </a:solidFill>
                          <a:latin typeface="Calibri"/>
                        </a:rPr>
                        <a:t>, </a:t>
                      </a:r>
                      <a:r>
                        <a:rPr sz="1050" b="0" i="0">
                          <a:solidFill>
                            <a:srgbClr val="0E7C86"/>
                          </a:solidFill>
                          <a:latin typeface="Consolas"/>
                        </a:rPr>
                        <a:t>CreateTable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04067">
                <a:tc>
                  <a:txBody>
                    <a:bodyPr wrap="square"/>
                    <a:lstStyle/>
                    <a:p>
                      <a:pPr algn="l">
                        <a:lnSpc>
                          <a:spcPct val="100000"/>
                        </a:lnSpc>
                      </a:pPr>
                      <a:r>
                        <a:rPr sz="1150" b="1" i="0">
                          <a:solidFill>
                            <a:srgbClr val="1C2433"/>
                          </a:solidFill>
                          <a:latin typeface="Calibri"/>
                        </a:rPr>
                        <a:t>maintenance task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retention, checkpoints, vacuum: the only role that deletes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050" b="0" i="0">
                          <a:solidFill>
                            <a:srgbClr val="0E7C86"/>
                          </a:solidFill>
                          <a:latin typeface="Consolas"/>
                        </a:rPr>
                        <a:t>--keep-days</a:t>
                      </a:r>
                      <a:r>
                        <a:rPr sz="1150" b="0" i="0">
                          <a:solidFill>
                            <a:srgbClr val="1C2433"/>
                          </a:solidFill>
                          <a:latin typeface="Calibri"/>
                        </a:rPr>
                        <a:t>, </a:t>
                      </a:r>
                      <a:r>
                        <a:rPr sz="1050" b="0" i="0">
                          <a:solidFill>
                            <a:srgbClr val="0E7C86"/>
                          </a:solidFill>
                          <a:latin typeface="Consolas"/>
                        </a:rPr>
                        <a:t>--expire-hours</a:t>
                      </a:r>
                      <a:r>
                        <a:rPr sz="1150" b="0" i="0">
                          <a:solidFill>
                            <a:srgbClr val="1C2433"/>
                          </a:solidFill>
                          <a:latin typeface="Calibri"/>
                        </a:rPr>
                        <a:t>, </a:t>
                      </a:r>
                      <a:r>
                        <a:rPr sz="1050" b="0" i="0">
                          <a:solidFill>
                            <a:srgbClr val="0E7C86"/>
                          </a:solidFill>
                          <a:latin typeface="Consolas"/>
                        </a:rPr>
                        <a:t>--relayout</a:t>
                      </a:r>
                      <a:r>
                        <a:rPr sz="1150" b="0" i="0">
                          <a:solidFill>
                            <a:srgbClr val="1C2433"/>
                          </a:solidFill>
                          <a:latin typeface="Calibri"/>
                        </a:rPr>
                        <a:t>: deletes data, manifests, old metadata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04067">
                <a:tc>
                  <a:txBody>
                    <a:bodyPr wrap="square"/>
                    <a:lstStyle/>
                    <a:p>
                      <a:pPr algn="l">
                        <a:lnSpc>
                          <a:spcPct val="100000"/>
                        </a:lnSpc>
                      </a:pPr>
                      <a:r>
                        <a:rPr sz="1150" b="1" i="0">
                          <a:solidFill>
                            <a:srgbClr val="1C2433"/>
                          </a:solidFill>
                          <a:latin typeface="Calibri"/>
                        </a:rPr>
                        <a:t>KMS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SSE-KMS bucket default, S3 Bucket Keys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unchanged: the native writer sends no SSE header; bucket default applies. Iceberg table encryption: refused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
        <p:nvSpPr>
          <p:cNvPr id="11" name="TextBox 10"/>
          <p:cNvSpPr txBox="1"/>
          <p:nvPr/>
        </p:nvSpPr>
        <p:spPr>
          <a:xfrm>
            <a:off x="411480" y="4206240"/>
            <a:ext cx="5486400" cy="36576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Network</a:t>
            </a:r>
          </a:p>
        </p:txBody>
      </p:sp>
      <p:sp>
        <p:nvSpPr>
          <p:cNvPr id="12" name="TextBox 11"/>
          <p:cNvSpPr txBox="1"/>
          <p:nvPr/>
        </p:nvSpPr>
        <p:spPr>
          <a:xfrm>
            <a:off x="411480" y="4572000"/>
            <a:ext cx="5577840" cy="1737360"/>
          </a:xfrm>
          <a:prstGeom prst="rect">
            <a:avLst/>
          </a:prstGeom>
          <a:noFill/>
        </p:spPr>
        <p:txBody>
          <a:bodyPr wrap="square" lIns="45720" rIns="45720" tIns="27432" bIns="27432" anchor="t">
            <a:spAutoFit/>
          </a:bodyPr>
          <a:lstStyle/>
          <a:p>
            <a:pPr algn="l">
              <a:lnSpc>
                <a:spcPct val="105000"/>
              </a:lnSpc>
              <a:spcAft>
                <a:spcPts val="500"/>
              </a:spcAft>
            </a:pPr>
            <a:r>
              <a:rPr sz="1250" b="0" i="0">
                <a:solidFill>
                  <a:srgbClr val="E87A1E"/>
                </a:solidFill>
                <a:latin typeface="Calibri"/>
              </a:rPr>
              <a:t>•  </a:t>
            </a:r>
            <a:r>
              <a:rPr sz="1250" b="0" i="0">
                <a:solidFill>
                  <a:srgbClr val="1C2433"/>
                </a:solidFill>
                <a:latin typeface="Calibri"/>
              </a:rPr>
              <a:t>S3 gateway endpoint, bucket policy allowing only it (as Delta): unchanged</a:t>
            </a:r>
          </a:p>
          <a:p>
            <a:pPr algn="l">
              <a:lnSpc>
                <a:spcPct val="105000"/>
              </a:lnSpc>
              <a:spcAft>
                <a:spcPts val="500"/>
              </a:spcAft>
            </a:pPr>
            <a:r>
              <a:rPr sz="1250" b="0" i="0">
                <a:solidFill>
                  <a:srgbClr val="E87A1E"/>
                </a:solidFill>
                <a:latin typeface="Calibri"/>
              </a:rPr>
              <a:t>•  </a:t>
            </a:r>
            <a:r>
              <a:rPr sz="1250" b="0" i="0">
                <a:solidFill>
                  <a:srgbClr val="1C2433"/>
                </a:solidFill>
                <a:latin typeface="Calibri"/>
              </a:rPr>
              <a:t>Path-based tables need nothing else</a:t>
            </a:r>
          </a:p>
          <a:p>
            <a:pPr algn="l">
              <a:lnSpc>
                <a:spcPct val="105000"/>
              </a:lnSpc>
              <a:spcAft>
                <a:spcPts val="500"/>
              </a:spcAft>
            </a:pPr>
            <a:r>
              <a:rPr sz="1250" b="0" i="0">
                <a:solidFill>
                  <a:srgbClr val="E87A1E"/>
                </a:solidFill>
                <a:latin typeface="Calibri"/>
              </a:rPr>
              <a:t>•  </a:t>
            </a:r>
            <a:r>
              <a:rPr sz="1250" b="0" i="0">
                <a:solidFill>
                  <a:srgbClr val="1C2433"/>
                </a:solidFill>
                <a:latin typeface="Calibri"/>
              </a:rPr>
              <a:t>Glue catalog: an interface endpoint for Glue, or traffic to the Glue endpoint through the proxy settings</a:t>
            </a:r>
          </a:p>
          <a:p>
            <a:pPr algn="l">
              <a:lnSpc>
                <a:spcPct val="105000"/>
              </a:lnSpc>
              <a:spcAft>
                <a:spcPts val="500"/>
              </a:spcAft>
            </a:pPr>
            <a:r>
              <a:rPr sz="1250" b="0" i="0">
                <a:solidFill>
                  <a:srgbClr val="E87A1E"/>
                </a:solidFill>
                <a:latin typeface="Calibri"/>
              </a:rPr>
              <a:t>•  </a:t>
            </a:r>
            <a:r>
              <a:rPr sz="1250" b="0" i="0">
                <a:solidFill>
                  <a:srgbClr val="1C2433"/>
                </a:solidFill>
                <a:latin typeface="Calibri"/>
              </a:rPr>
              <a:t>Vended credentials: STS endpoint (already among the Delta prerequisites)</a:t>
            </a:r>
          </a:p>
        </p:txBody>
      </p:sp>
      <p:sp>
        <p:nvSpPr>
          <p:cNvPr id="13" name="Rounded Rectangle 12"/>
          <p:cNvSpPr/>
          <p:nvPr/>
        </p:nvSpPr>
        <p:spPr>
          <a:xfrm>
            <a:off x="6217920" y="4206240"/>
            <a:ext cx="5559552" cy="2103120"/>
          </a:xfrm>
          <a:prstGeom prst="roundRect">
            <a:avLst>
              <a:gd name="adj" fmla="val 6000"/>
            </a:avLst>
          </a:prstGeom>
          <a:solidFill>
            <a:srgbClr val="E8F4F5"/>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ectangle 13"/>
          <p:cNvSpPr/>
          <p:nvPr/>
        </p:nvSpPr>
        <p:spPr>
          <a:xfrm>
            <a:off x="6217920" y="4206240"/>
            <a:ext cx="82296" cy="21031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6446520" y="4261103"/>
            <a:ext cx="5193792" cy="1993391"/>
          </a:xfrm>
          <a:prstGeom prst="rect">
            <a:avLst/>
          </a:prstGeom>
          <a:noFill/>
        </p:spPr>
        <p:txBody>
          <a:bodyPr wrap="square" lIns="45720" rIns="45720" tIns="27432" bIns="27432" anchor="ctr">
            <a:spAutoFit/>
          </a:bodyPr>
          <a:lstStyle/>
          <a:p>
            <a:pPr algn="l">
              <a:lnSpc>
                <a:spcPct val="105000"/>
              </a:lnSpc>
            </a:pPr>
            <a:r>
              <a:rPr sz="1250" b="1" i="0">
                <a:solidFill>
                  <a:srgbClr val="1C2433"/>
                </a:solidFill>
                <a:latin typeface="Calibri"/>
              </a:rPr>
              <a:t>The proxy and TLS settings carry over:</a:t>
            </a:r>
            <a:r>
              <a:rPr sz="1250" b="0" i="0">
                <a:solidFill>
                  <a:srgbClr val="1C2433"/>
                </a:solidFill>
                <a:latin typeface="Calibri"/>
              </a:rPr>
              <a:t> </a:t>
            </a:r>
            <a:r>
              <a:rPr sz="1150" b="0" i="0">
                <a:solidFill>
                  <a:srgbClr val="0E7C86"/>
                </a:solidFill>
                <a:latin typeface="Consolas"/>
              </a:rPr>
              <a:t>proxy.*</a:t>
            </a:r>
            <a:r>
              <a:rPr sz="1250" b="0" i="0">
                <a:solidFill>
                  <a:srgbClr val="1C2433"/>
                </a:solidFill>
                <a:latin typeface="Calibri"/>
              </a:rPr>
              <a:t> and </a:t>
            </a:r>
            <a:r>
              <a:rPr sz="1150" b="0" i="0">
                <a:solidFill>
                  <a:srgbClr val="0E7C86"/>
                </a:solidFill>
                <a:latin typeface="Consolas"/>
              </a:rPr>
              <a:t>tls.*</a:t>
            </a:r>
            <a:r>
              <a:rPr sz="1250" b="0" i="0">
                <a:solidFill>
                  <a:srgbClr val="1C2433"/>
                </a:solidFill>
                <a:latin typeface="Calibri"/>
              </a:rPr>
              <a:t> apply to the REST catalog's client and to the object store (ICEBERG_CONNECTOR.md: Security; Outbound proxy).</a:t>
            </a:r>
          </a:p>
          <a:p>
            <a:pPr algn="l">
              <a:lnSpc>
                <a:spcPct val="105000"/>
              </a:lnSpc>
            </a:pPr>
            <a:r>
              <a:rPr sz="1250" b="0" i="0">
                <a:solidFill>
                  <a:srgbClr val="1C2433"/>
                </a:solidFill>
                <a:latin typeface="Calibri"/>
              </a:rPr>
              <a:t>Private CA for the catalog's own HTTPS: import into the JVM truststore.</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Columns of every table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107</a:t>
            </a:r>
          </a:p>
        </p:txBody>
      </p:sp>
      <p:graphicFrame>
        <p:nvGraphicFramePr>
          <p:cNvPr id="10" name="Table"/>
          <p:cNvGraphicFramePr>
            <a:graphicFrameLocks noGrp="1"/>
          </p:cNvGraphicFramePr>
          <p:nvPr/>
        </p:nvGraphicFramePr>
        <p:xfrm>
          <a:off x="411480" y="1188720"/>
          <a:ext cx="11365990" cy="3200400"/>
        </p:xfrm>
        <a:graphic>
          <a:graphicData uri="http://schemas.openxmlformats.org/drawingml/2006/table">
            <a:tbl>
              <a:tblPr firstRow="0" bandRow="0">
                <a:tableStyleId>{5940675A-B579-460E-94D1-54222C63F5DA}</a:tableStyleId>
              </a:tblPr>
              <a:tblGrid>
                <a:gridCol w="2383191"/>
                <a:gridCol w="2658175"/>
                <a:gridCol w="6324624"/>
              </a:tblGrid>
              <a:tr h="457200">
                <a:tc>
                  <a:txBody>
                    <a:bodyPr wrap="square"/>
                    <a:lstStyle/>
                    <a:p>
                      <a:r>
                        <a:rPr sz="1200" b="1" i="0">
                          <a:solidFill>
                            <a:srgbClr val="FFFFFF"/>
                          </a:solidFill>
                          <a:latin typeface="Calibri"/>
                        </a:rPr>
                        <a:t>Column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Type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Content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57200">
                <a:tc>
                  <a:txBody>
                    <a:bodyPr wrap="square"/>
                    <a:lstStyle/>
                    <a:p>
                      <a:r>
                        <a:rPr sz="1100" b="1" i="0">
                          <a:solidFill>
                            <a:srgbClr val="0E7C86"/>
                          </a:solidFill>
                          <a:latin typeface="Consolas"/>
                        </a:rPr>
                        <a:t>id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string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entity's id (the pack's key: </a:t>
                      </a:r>
                      <a:r>
                        <a:rPr sz="1100" b="0" i="0">
                          <a:solidFill>
                            <a:srgbClr val="0E7C86"/>
                          </a:solidFill>
                          <a:latin typeface="Consolas"/>
                        </a:rPr>
                        <a:t>TRADE_ID</a:t>
                      </a:r>
                      <a:r>
                        <a:rPr sz="1200" b="0" i="0">
                          <a:solidFill>
                            <a:srgbClr val="1C2433"/>
                          </a:solidFill>
                          <a:latin typeface="Calibri"/>
                        </a:rPr>
                        <a:t>, </a:t>
                      </a:r>
                      <a:r>
                        <a:rPr sz="1100" b="0" i="0">
                          <a:solidFill>
                            <a:srgbClr val="0E7C86"/>
                          </a:solidFill>
                          <a:latin typeface="Consolas"/>
                        </a:rPr>
                        <a:t>VECTOR_ID</a:t>
                      </a:r>
                      <a:r>
                        <a:rPr sz="1200" b="0" i="0">
                          <a:solidFill>
                            <a:srgbClr val="1C2433"/>
                          </a:solidFill>
                          <a:latin typeface="Calibri"/>
                        </a:rPr>
                        <a:t>, …)</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100" b="1" i="0">
                          <a:solidFill>
                            <a:srgbClr val="0E7C86"/>
                          </a:solidFill>
                          <a:latin typeface="Consolas"/>
                        </a:rPr>
                        <a:t>doc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string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whole JSON document as the source sent it (a vector replaced by a marker)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100" b="1" i="0">
                          <a:solidFill>
                            <a:srgbClr val="0E7C86"/>
                          </a:solidFill>
                          <a:latin typeface="Consolas"/>
                        </a:rPr>
                        <a:t>business_date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partition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partition columns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string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PRODUCT_TYPE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200" b="1" i="0">
                          <a:solidFill>
                            <a:srgbClr val="1C2433"/>
                          </a:solidFill>
                          <a:latin typeface="Calibri"/>
                        </a:rPr>
                        <a:t>promoted columns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string or double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copies of the fields searches, lists, links and BI read: </a:t>
                      </a:r>
                      <a:r>
                        <a:rPr sz="1100" b="0" i="0">
                          <a:solidFill>
                            <a:srgbClr val="0E7C86"/>
                          </a:solidFill>
                          <a:latin typeface="Consolas"/>
                        </a:rPr>
                        <a:t>layout.&lt;kind&gt;.columns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vector columns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list&lt;double&gt;</a:t>
                      </a:r>
                      <a:r>
                        <a:rPr sz="1200" b="0" i="0">
                          <a:solidFill>
                            <a:srgbClr val="1C2433"/>
                          </a:solidFill>
                          <a:latin typeface="Calibri"/>
                        </a:rPr>
                        <a:t> (or </a:t>
                      </a:r>
                      <a:r>
                        <a:rPr sz="1100" b="0" i="0">
                          <a:solidFill>
                            <a:srgbClr val="0E7C86"/>
                          </a:solidFill>
                          <a:latin typeface="Consolas"/>
                        </a:rPr>
                        <a:t>list&lt;float&gt;</a:t>
                      </a:r>
                      <a:r>
                        <a:rPr sz="12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layout.&lt;kind&gt;.vectors</a:t>
                      </a:r>
                      <a:r>
                        <a:rPr sz="1200" b="0" i="0">
                          <a:solidFill>
                            <a:srgbClr val="1C2433"/>
                          </a:solidFill>
                          <a:latin typeface="Calibri"/>
                        </a:rPr>
                        <a:t>: </a:t>
                      </a:r>
                      <a:r>
                        <a:rPr sz="1100" b="0" i="0">
                          <a:solidFill>
                            <a:srgbClr val="0E7C86"/>
                          </a:solidFill>
                          <a:latin typeface="Consolas"/>
                        </a:rPr>
                        <a:t>PNL</a:t>
                      </a:r>
                      <a:r>
                        <a:rPr sz="1200" b="0" i="0">
                          <a:solidFill>
                            <a:srgbClr val="1C2433"/>
                          </a:solidFill>
                          <a:latin typeface="Calibri"/>
                        </a:rPr>
                        <a:t>, </a:t>
                      </a:r>
                      <a:r>
                        <a:rPr sz="1100" b="0" i="0">
                          <a:solidFill>
                            <a:srgbClr val="0E7C86"/>
                          </a:solidFill>
                          <a:latin typeface="Consolas"/>
                        </a:rPr>
                        <a:t>SCENARIO_PV</a:t>
                      </a:r>
                      <a:r>
                        <a:rPr sz="1200" b="0" i="0">
                          <a:solidFill>
                            <a:srgbClr val="1C2433"/>
                          </a:solidFill>
                          <a:latin typeface="Calibri"/>
                        </a:rPr>
                        <a:t>, </a:t>
                      </a:r>
                      <a:r>
                        <a:rPr sz="1100" b="0" i="0">
                          <a:solidFill>
                            <a:srgbClr val="0E7C86"/>
                          </a:solidFill>
                          <a:latin typeface="Consolas"/>
                        </a:rPr>
                        <a:t>MTM</a:t>
                      </a:r>
                      <a:r>
                        <a:rPr sz="1200" b="0" i="0">
                          <a:solidFill>
                            <a:srgbClr val="1C2433"/>
                          </a:solidFill>
                          <a:latin typeface="Calibri"/>
                        </a:rPr>
                        <a:t>; one column, the length is data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1" name="TextBox 10"/>
          <p:cNvSpPr txBox="1"/>
          <p:nvPr/>
        </p:nvSpPr>
        <p:spPr>
          <a:xfrm>
            <a:off x="411480" y="4572000"/>
            <a:ext cx="11365992" cy="1783080"/>
          </a:xfrm>
          <a:prstGeom prst="rect">
            <a:avLst/>
          </a:prstGeom>
          <a:noFill/>
        </p:spPr>
        <p:txBody>
          <a:bodyPr wrap="square" lIns="0" rIns="0" tIns="0" bIns="0" anchor="t">
            <a:spAutoFit/>
          </a:bodyPr>
          <a:lstStyle/>
          <a:p>
            <a:pPr algn="l" marL="201168" indent="-201168">
              <a:spcAft>
                <a:spcPts val="600"/>
              </a:spcAft>
              <a:buClr>
                <a:srgbClr val="E87A1E"/>
              </a:buClr>
              <a:buSzPct val="100000"/>
              <a:buFont typeface="Arial"/>
              <a:buChar char="•"/>
            </a:pPr>
            <a:r>
              <a:rPr sz="1300" b="0" i="0">
                <a:solidFill>
                  <a:srgbClr val="1C2433"/>
                </a:solidFill>
                <a:latin typeface="Calibri"/>
              </a:rPr>
              <a:t>Choosing what to promote is a pack decision (DELTA_CONNECTOR.md §4); </a:t>
            </a:r>
            <a:r>
              <a:rPr sz="1200" b="0" i="0">
                <a:solidFill>
                  <a:srgbClr val="0E7C86"/>
                </a:solidFill>
                <a:latin typeface="Consolas"/>
              </a:rPr>
              <a:t>layout.&lt;kind&gt;.type-ahead</a:t>
            </a:r>
            <a:r>
              <a:rPr sz="1300" b="0" i="0">
                <a:solidFill>
                  <a:srgbClr val="1C2433"/>
                </a:solidFill>
                <a:latin typeface="Calibri"/>
              </a:rPr>
              <a:t> adds promoted names to the type-ahead (</a:t>
            </a:r>
            <a:r>
              <a:rPr sz="1200" b="0" i="0">
                <a:solidFill>
                  <a:srgbClr val="0E7C86"/>
                </a:solidFill>
                <a:latin typeface="Consolas"/>
              </a:rPr>
              <a:t>USEQ Ford</a:t>
            </a:r>
            <a:r>
              <a:rPr sz="1300" b="0" i="0">
                <a:solidFill>
                  <a:srgbClr val="1C2433"/>
                </a:solidFill>
                <a:latin typeface="Calibri"/>
              </a:rPr>
              <a:t> finds </a:t>
            </a:r>
            <a:r>
              <a:rPr sz="1200" b="0" i="0">
                <a:solidFill>
                  <a:srgbClr val="0E7C86"/>
                </a:solidFill>
                <a:latin typeface="Consolas"/>
              </a:rPr>
              <a:t>F</a:t>
            </a:r>
            <a:r>
              <a:rPr sz="1300" b="0" i="0">
                <a:solidFill>
                  <a:srgbClr val="1C2433"/>
                </a:solidFill>
                <a:latin typeface="Calibri"/>
              </a:rPr>
              <a:t>)</a:t>
            </a:r>
          </a:p>
          <a:p>
            <a:pPr algn="l" marL="201168" indent="-201168">
              <a:spcAft>
                <a:spcPts val="600"/>
              </a:spcAft>
              <a:buClr>
                <a:srgbClr val="E87A1E"/>
              </a:buClr>
              <a:buSzPct val="100000"/>
              <a:buFont typeface="Arial"/>
              <a:buChar char="•"/>
            </a:pPr>
            <a:r>
              <a:rPr sz="1300" b="0" i="0">
                <a:solidFill>
                  <a:srgbClr val="1C2433"/>
                </a:solidFill>
                <a:latin typeface="Calibri"/>
              </a:rPr>
              <a:t>Adding a promoted column changes the table's columns: </a:t>
            </a:r>
            <a:r>
              <a:rPr sz="1200" b="0" i="0">
                <a:solidFill>
                  <a:srgbClr val="0E7C86"/>
                </a:solidFill>
                <a:latin typeface="Consolas"/>
              </a:rPr>
              <a:t>lake publish</a:t>
            </a:r>
            <a:r>
              <a:rPr sz="1300" b="0" i="0">
                <a:solidFill>
                  <a:srgbClr val="1C2433"/>
                </a:solidFill>
                <a:latin typeface="Calibri"/>
              </a:rPr>
              <a:t> refuses a day whose columns differ → runbook (slide 113); in place: planned, not built</a:t>
            </a:r>
          </a:p>
          <a:p>
            <a:pPr algn="l" marL="201168" indent="-201168">
              <a:spcAft>
                <a:spcPts val="600"/>
              </a:spcAft>
              <a:buClr>
                <a:srgbClr val="E87A1E"/>
              </a:buClr>
              <a:buSzPct val="100000"/>
              <a:buFont typeface="Arial"/>
              <a:buChar char="•"/>
            </a:pPr>
            <a:r>
              <a:rPr sz="1300" b="0" i="0">
                <a:solidFill>
                  <a:srgbClr val="1C2433"/>
                </a:solidFill>
                <a:latin typeface="Calibri"/>
              </a:rPr>
              <a:t>Vectors are never stored twice: the document keeps </a:t>
            </a:r>
            <a:r>
              <a:rPr sz="1200" b="0" i="0">
                <a:solidFill>
                  <a:srgbClr val="0E7C86"/>
                </a:solidFill>
                <a:latin typeface="Consolas"/>
              </a:rPr>
              <a:t>{"$vector": "PNL"}</a:t>
            </a:r>
            <a:r>
              <a:rPr sz="1300" b="0" i="0">
                <a:solidFill>
                  <a:srgbClr val="1C2433"/>
                </a:solidFill>
                <a:latin typeface="Calibri"/>
              </a:rPr>
              <a:t> and a fetched document gets the vector back</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Columns and table properties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108</a:t>
            </a:r>
          </a:p>
        </p:txBody>
      </p:sp>
      <p:graphicFrame>
        <p:nvGraphicFramePr>
          <p:cNvPr id="10" name="Table 9"/>
          <p:cNvGraphicFramePr>
            <a:graphicFrameLocks noGrp="1"/>
          </p:cNvGraphicFramePr>
          <p:nvPr/>
        </p:nvGraphicFramePr>
        <p:xfrm>
          <a:off x="411480" y="1143000"/>
          <a:ext cx="11365992" cy="1870860"/>
        </p:xfrm>
        <a:graphic>
          <a:graphicData uri="http://schemas.openxmlformats.org/drawingml/2006/table">
            <a:tbl>
              <a:tblPr firstRow="1" bandRow="1">
                <a:tableStyleId>{5940675A-B579-460E-94D1-54222C63F5DA}</a:tableStyleId>
              </a:tblPr>
              <a:tblGrid>
                <a:gridCol w="3017520"/>
                <a:gridCol w="1737360"/>
                <a:gridCol w="6611112"/>
              </a:tblGrid>
              <a:tr h="374172">
                <a:tc>
                  <a:txBody>
                    <a:bodyPr wrap="square"/>
                    <a:lstStyle/>
                    <a:p>
                      <a:pPr algn="l">
                        <a:lnSpc>
                          <a:spcPct val="100000"/>
                        </a:lnSpc>
                      </a:pPr>
                      <a:r>
                        <a:rPr sz="1200" b="1" i="0">
                          <a:solidFill>
                            <a:srgbClr val="FFFFFF"/>
                          </a:solidFill>
                          <a:latin typeface="Calibri"/>
                        </a:rPr>
                        <a:t>Column (field id)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Type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Content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374172">
                <a:tc>
                  <a:txBody>
                    <a:bodyPr wrap="square"/>
                    <a:lstStyle/>
                    <a:p>
                      <a:pPr algn="l">
                        <a:lnSpc>
                          <a:spcPct val="100000"/>
                        </a:lnSpc>
                      </a:pPr>
                      <a:r>
                        <a:rPr sz="1100" b="1" i="0">
                          <a:solidFill>
                            <a:srgbClr val="0E7C86"/>
                          </a:solidFill>
                          <a:latin typeface="Consolas"/>
                        </a:rPr>
                        <a:t>id</a:t>
                      </a:r>
                      <a:r>
                        <a:rPr sz="1200" b="1" i="0">
                          <a:solidFill>
                            <a:srgbClr val="1C2433"/>
                          </a:solidFill>
                          <a:latin typeface="Calibri"/>
                        </a:rPr>
                        <a:t> (1)</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string, required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entity's id: </a:t>
                      </a:r>
                      <a:r>
                        <a:rPr sz="1100" b="0" i="0">
                          <a:solidFill>
                            <a:srgbClr val="0E7C86"/>
                          </a:solidFill>
                          <a:latin typeface="Consolas"/>
                        </a:rPr>
                        <a:t>MX-20000001</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74172">
                <a:tc>
                  <a:txBody>
                    <a:bodyPr wrap="square"/>
                    <a:lstStyle/>
                    <a:p>
                      <a:pPr algn="l">
                        <a:lnSpc>
                          <a:spcPct val="100000"/>
                        </a:lnSpc>
                      </a:pPr>
                      <a:r>
                        <a:rPr sz="1100" b="1" i="0">
                          <a:solidFill>
                            <a:srgbClr val="0E7C86"/>
                          </a:solidFill>
                          <a:latin typeface="Consolas"/>
                        </a:rPr>
                        <a:t>doc</a:t>
                      </a:r>
                      <a:r>
                        <a:rPr sz="1200" b="1" i="0">
                          <a:solidFill>
                            <a:srgbClr val="1C2433"/>
                          </a:solidFill>
                          <a:latin typeface="Calibri"/>
                        </a:rPr>
                        <a:t> (2)</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string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whole JSON document, exactly what a view shows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74172">
                <a:tc>
                  <a:txBody>
                    <a:bodyPr wrap="square"/>
                    <a:lstStyle/>
                    <a:p>
                      <a:pPr algn="l">
                        <a:lnSpc>
                          <a:spcPct val="100000"/>
                        </a:lnSpc>
                      </a:pPr>
                      <a:r>
                        <a:rPr sz="1100" b="1" i="0">
                          <a:solidFill>
                            <a:srgbClr val="0E7C86"/>
                          </a:solidFill>
                          <a:latin typeface="Consolas"/>
                        </a:rPr>
                        <a:t>business_date</a:t>
                      </a:r>
                      <a:r>
                        <a:rPr sz="1200" b="1" i="0">
                          <a:solidFill>
                            <a:srgbClr val="1C2433"/>
                          </a:solidFill>
                          <a:latin typeface="Calibri"/>
                        </a:rPr>
                        <a:t> (3)</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date, required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identity partition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74172">
                <a:tc>
                  <a:txBody>
                    <a:bodyPr wrap="square"/>
                    <a:lstStyle/>
                    <a:p>
                      <a:pPr algn="l">
                        <a:lnSpc>
                          <a:spcPct val="100000"/>
                        </a:lnSpc>
                      </a:pPr>
                      <a:r>
                        <a:rPr sz="1200" b="1" i="0">
                          <a:solidFill>
                            <a:srgbClr val="1C2433"/>
                          </a:solidFill>
                          <a:latin typeface="Calibri"/>
                        </a:rPr>
                        <a:t>promoted (</a:t>
                      </a:r>
                      <a:r>
                        <a:rPr sz="1100" b="1" i="0">
                          <a:solidFill>
                            <a:srgbClr val="0E7C86"/>
                          </a:solidFill>
                          <a:latin typeface="Consolas"/>
                        </a:rPr>
                        <a:t>TRADE_ID</a:t>
                      </a:r>
                      <a:r>
                        <a:rPr sz="1200" b="1" i="0">
                          <a:solidFill>
                            <a:srgbClr val="1C2433"/>
                          </a:solidFill>
                          <a:latin typeface="Calibri"/>
                        </a:rPr>
                        <a:t>, </a:t>
                      </a:r>
                      <a:r>
                        <a:rPr sz="1100" b="1" i="0">
                          <a:solidFill>
                            <a:srgbClr val="0E7C86"/>
                          </a:solidFill>
                          <a:latin typeface="Consolas"/>
                        </a:rPr>
                        <a:t>PORTFOLIO</a:t>
                      </a:r>
                      <a:r>
                        <a:rPr sz="1200" b="1" i="0">
                          <a:solidFill>
                            <a:srgbClr val="1C2433"/>
                          </a:solidFill>
                          <a:latin typeface="Calibri"/>
                        </a:rPr>
                        <a:t>, …)</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string / double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pack's </a:t>
                      </a:r>
                      <a:r>
                        <a:rPr sz="1100" b="0" i="0">
                          <a:solidFill>
                            <a:srgbClr val="0E7C86"/>
                          </a:solidFill>
                          <a:latin typeface="Consolas"/>
                        </a:rPr>
                        <a:t>layout.&lt;kind&gt;.columns</a:t>
                      </a:r>
                      <a:r>
                        <a:rPr sz="1200" b="0" i="0">
                          <a:solidFill>
                            <a:srgbClr val="1C2433"/>
                          </a:solidFill>
                          <a:latin typeface="Calibri"/>
                        </a:rPr>
                        <a:t>; </a:t>
                      </a:r>
                      <a:r>
                        <a:rPr sz="1100" b="0" i="0">
                          <a:solidFill>
                            <a:srgbClr val="0E7C86"/>
                          </a:solidFill>
                          <a:latin typeface="Consolas"/>
                        </a:rPr>
                        <a:t>LEGS.CURRENCY</a:t>
                      </a:r>
                      <a:r>
                        <a:rPr sz="1200" b="0" i="0">
                          <a:solidFill>
                            <a:srgbClr val="1C2433"/>
                          </a:solidFill>
                          <a:latin typeface="Calibri"/>
                        </a:rPr>
                        <a:t> → </a:t>
                      </a:r>
                      <a:r>
                        <a:rPr sz="1100" b="0" i="0">
                          <a:solidFill>
                            <a:srgbClr val="0E7C86"/>
                          </a:solidFill>
                          <a:latin typeface="Consolas"/>
                        </a:rPr>
                        <a:t>LEGS__CURRENCY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graphicFrame>
        <p:nvGraphicFramePr>
          <p:cNvPr id="11" name="Table 10"/>
          <p:cNvGraphicFramePr>
            <a:graphicFrameLocks noGrp="1"/>
          </p:cNvGraphicFramePr>
          <p:nvPr/>
        </p:nvGraphicFramePr>
        <p:xfrm>
          <a:off x="411480" y="3337560"/>
          <a:ext cx="11365992" cy="2806290"/>
        </p:xfrm>
        <a:graphic>
          <a:graphicData uri="http://schemas.openxmlformats.org/drawingml/2006/table">
            <a:tbl>
              <a:tblPr firstRow="1" bandRow="1">
                <a:tableStyleId>{5940675A-B579-460E-94D1-54222C63F5DA}</a:tableStyleId>
              </a:tblPr>
              <a:tblGrid>
                <a:gridCol w="3566160"/>
                <a:gridCol w="2651760"/>
                <a:gridCol w="5148072"/>
              </a:tblGrid>
              <a:tr h="311810">
                <a:tc>
                  <a:txBody>
                    <a:bodyPr wrap="square"/>
                    <a:lstStyle/>
                    <a:p>
                      <a:pPr algn="l">
                        <a:lnSpc>
                          <a:spcPct val="100000"/>
                        </a:lnSpc>
                      </a:pPr>
                      <a:r>
                        <a:rPr sz="1150" b="1" i="0">
                          <a:solidFill>
                            <a:srgbClr val="FFFFFF"/>
                          </a:solidFill>
                          <a:latin typeface="Calibri"/>
                        </a:rPr>
                        <a:t>Property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Value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Why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311810">
                <a:tc>
                  <a:txBody>
                    <a:bodyPr wrap="square"/>
                    <a:lstStyle/>
                    <a:p>
                      <a:pPr algn="l">
                        <a:lnSpc>
                          <a:spcPct val="100000"/>
                        </a:lnSpc>
                      </a:pPr>
                      <a:r>
                        <a:rPr sz="1150" b="1" i="0">
                          <a:solidFill>
                            <a:srgbClr val="1C2433"/>
                          </a:solidFill>
                          <a:latin typeface="Calibri"/>
                        </a:rPr>
                        <a:t>partition spec / sort order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050" b="0" i="0">
                          <a:solidFill>
                            <a:srgbClr val="0E7C86"/>
                          </a:solidFill>
                          <a:latin typeface="Consolas"/>
                        </a:rPr>
                        <a:t>identity(business_date)</a:t>
                      </a:r>
                      <a:r>
                        <a:rPr sz="1150" b="0" i="0">
                          <a:solidFill>
                            <a:srgbClr val="1C2433"/>
                          </a:solidFill>
                          <a:latin typeface="Calibri"/>
                        </a:rPr>
                        <a:t> / </a:t>
                      </a:r>
                      <a:r>
                        <a:rPr sz="1050" b="0" i="0">
                          <a:solidFill>
                            <a:srgbClr val="0E7C86"/>
                          </a:solidFill>
                          <a:latin typeface="Consolas"/>
                        </a:rPr>
                        <a:t>id ASC</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a day is a unit; engines that honour the sort order keep 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11810">
                <a:tc>
                  <a:txBody>
                    <a:bodyPr wrap="square"/>
                    <a:lstStyle/>
                    <a:p>
                      <a:pPr algn="l">
                        <a:lnSpc>
                          <a:spcPct val="100000"/>
                        </a:lnSpc>
                      </a:pPr>
                      <a:r>
                        <a:rPr sz="1050" b="1" i="0">
                          <a:solidFill>
                            <a:srgbClr val="0E7C86"/>
                          </a:solidFill>
                          <a:latin typeface="Consolas"/>
                        </a:rPr>
                        <a:t>format-version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2</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position and equality deletes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11810">
                <a:tc>
                  <a:txBody>
                    <a:bodyPr wrap="square"/>
                    <a:lstStyle/>
                    <a:p>
                      <a:pPr algn="l">
                        <a:lnSpc>
                          <a:spcPct val="100000"/>
                        </a:lnSpc>
                      </a:pPr>
                      <a:r>
                        <a:rPr sz="1050" b="1" i="0">
                          <a:solidFill>
                            <a:srgbClr val="0E7C86"/>
                          </a:solidFill>
                          <a:latin typeface="Consolas"/>
                        </a:rPr>
                        <a:t>write.parquet.row-group-size-bytes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1,048,576</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one read decodes about 3 MB of documents (sized compressed)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11810">
                <a:tc>
                  <a:txBody>
                    <a:bodyPr wrap="square"/>
                    <a:lstStyle/>
                    <a:p>
                      <a:pPr algn="l">
                        <a:lnSpc>
                          <a:spcPct val="100000"/>
                        </a:lnSpc>
                      </a:pPr>
                      <a:r>
                        <a:rPr sz="1050" b="1" i="0">
                          <a:solidFill>
                            <a:srgbClr val="0E7C86"/>
                          </a:solidFill>
                          <a:latin typeface="Consolas"/>
                        </a:rPr>
                        <a:t>write.parquet.compression-codec</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zstd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about 0.7 KB per 6.5 KB trade (measured)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11810">
                <a:tc>
                  <a:txBody>
                    <a:bodyPr wrap="square"/>
                    <a:lstStyle/>
                    <a:p>
                      <a:pPr algn="l">
                        <a:lnSpc>
                          <a:spcPct val="100000"/>
                        </a:lnSpc>
                      </a:pPr>
                      <a:r>
                        <a:rPr sz="1050" b="1" i="0">
                          <a:solidFill>
                            <a:srgbClr val="0E7C86"/>
                          </a:solidFill>
                          <a:latin typeface="Consolas"/>
                        </a:rPr>
                        <a:t>write.metadata.metrics.column.doc</a:t>
                      </a:r>
                      <a:r>
                        <a:rPr sz="1150" b="1" i="0">
                          <a:solidFill>
                            <a:srgbClr val="1C2433"/>
                          </a:solidFill>
                          <a:latin typeface="Calibri"/>
                        </a:rPr>
                        <a:t> / </a:t>
                      </a:r>
                      <a:r>
                        <a:rPr sz="1050" b="1" i="0">
                          <a:solidFill>
                            <a:srgbClr val="0E7C86"/>
                          </a:solidFill>
                          <a:latin typeface="Consolas"/>
                        </a:rPr>
                        <a:t>.id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none / full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no bounds of documents; exact id bounds per file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11810">
                <a:tc>
                  <a:txBody>
                    <a:bodyPr wrap="square"/>
                    <a:lstStyle/>
                    <a:p>
                      <a:pPr algn="l">
                        <a:lnSpc>
                          <a:spcPct val="100000"/>
                        </a:lnSpc>
                      </a:pPr>
                      <a:r>
                        <a:rPr sz="1050" b="1" i="0">
                          <a:solidFill>
                            <a:srgbClr val="0E7C86"/>
                          </a:solidFill>
                          <a:latin typeface="Consolas"/>
                        </a:rPr>
                        <a:t>write.metadata.previous-versions-max</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50 (delete after commit)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old metadata files removed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11810">
                <a:tc>
                  <a:txBody>
                    <a:bodyPr wrap="square"/>
                    <a:lstStyle/>
                    <a:p>
                      <a:pPr algn="l">
                        <a:lnSpc>
                          <a:spcPct val="100000"/>
                        </a:lnSpc>
                      </a:pPr>
                      <a:r>
                        <a:rPr sz="1050" b="1" i="0">
                          <a:solidFill>
                            <a:srgbClr val="0E7C86"/>
                          </a:solidFill>
                          <a:latin typeface="Consolas"/>
                        </a:rPr>
                        <a:t>commit.retry.num-retries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10</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concurrent day commits retry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11810">
                <a:tc>
                  <a:txBody>
                    <a:bodyPr wrap="square"/>
                    <a:lstStyle/>
                    <a:p>
                      <a:pPr algn="l">
                        <a:lnSpc>
                          <a:spcPct val="100000"/>
                        </a:lnSpc>
                      </a:pPr>
                      <a:r>
                        <a:rPr sz="1050" b="1" i="0">
                          <a:solidFill>
                            <a:srgbClr val="0E7C86"/>
                          </a:solidFill>
                          <a:latin typeface="Consolas"/>
                        </a:rPr>
                        <a:t>drishti.layout.file-rows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250,000</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rows per file; maintenance re-cuts drifted days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What of the Iceberg specification is covered</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109</a:t>
            </a:r>
          </a:p>
        </p:txBody>
      </p:sp>
      <p:graphicFrame>
        <p:nvGraphicFramePr>
          <p:cNvPr id="10" name="Table 9"/>
          <p:cNvGraphicFramePr>
            <a:graphicFrameLocks noGrp="1"/>
          </p:cNvGraphicFramePr>
          <p:nvPr/>
        </p:nvGraphicFramePr>
        <p:xfrm>
          <a:off x="411480" y="1143000"/>
          <a:ext cx="11365992" cy="4932264"/>
        </p:xfrm>
        <a:graphic>
          <a:graphicData uri="http://schemas.openxmlformats.org/drawingml/2006/table">
            <a:tbl>
              <a:tblPr firstRow="1" bandRow="1">
                <a:tableStyleId>{5940675A-B579-460E-94D1-54222C63F5DA}</a:tableStyleId>
              </a:tblPr>
              <a:tblGrid>
                <a:gridCol w="2011680"/>
                <a:gridCol w="6035040"/>
                <a:gridCol w="3319272"/>
              </a:tblGrid>
              <a:tr h="390144">
                <a:tc>
                  <a:txBody>
                    <a:bodyPr wrap="square"/>
                    <a:lstStyle/>
                    <a:p>
                      <a:pPr algn="l">
                        <a:lnSpc>
                          <a:spcPct val="100000"/>
                        </a:lnSpc>
                      </a:pPr>
                      <a:r>
                        <a:rPr sz="1150" b="1" i="0">
                          <a:solidFill>
                            <a:srgbClr val="FFFFFF"/>
                          </a:solidFill>
                          <a:latin typeface="Calibri"/>
                        </a:rPr>
                        <a:t>Area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Covered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Refused or later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390144">
                <a:tc>
                  <a:txBody>
                    <a:bodyPr wrap="square"/>
                    <a:lstStyle/>
                    <a:p>
                      <a:pPr algn="l">
                        <a:lnSpc>
                          <a:spcPct val="100000"/>
                        </a:lnSpc>
                      </a:pPr>
                      <a:r>
                        <a:rPr sz="1150" b="1" i="0">
                          <a:solidFill>
                            <a:srgbClr val="1C2433"/>
                          </a:solidFill>
                          <a:latin typeface="Calibri"/>
                        </a:rPr>
                        <a:t>Table metadata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every v1/v2 field; unknown fields kept when it writes the next version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format version 3 (refused)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61948">
                <a:tc>
                  <a:txBody>
                    <a:bodyPr wrap="square"/>
                    <a:lstStyle/>
                    <a:p>
                      <a:pPr algn="l">
                        <a:lnSpc>
                          <a:spcPct val="100000"/>
                        </a:lnSpc>
                      </a:pPr>
                      <a:r>
                        <a:rPr sz="1150" b="1" i="0">
                          <a:solidFill>
                            <a:srgbClr val="1C2433"/>
                          </a:solidFill>
                          <a:latin typeface="Calibri"/>
                        </a:rPr>
                        <a:t>Types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boolean, int, long, float, double, decimal, date, time, timestamp(tz), string, uuid, fixed, binary, struct, list, map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v3 types: timestamp_ns, variant, geometry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61948">
                <a:tc>
                  <a:txBody>
                    <a:bodyPr wrap="square"/>
                    <a:lstStyle/>
                    <a:p>
                      <a:pPr algn="l">
                        <a:lnSpc>
                          <a:spcPct val="100000"/>
                        </a:lnSpc>
                      </a:pPr>
                      <a:r>
                        <a:rPr sz="1150" b="1" i="0">
                          <a:solidFill>
                            <a:srgbClr val="1C2433"/>
                          </a:solidFill>
                          <a:latin typeface="Calibri"/>
                        </a:rPr>
                        <a:t>Schema evolution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by field id: add, drop, rename, reorder, int→long, float→double, decimal widening; name mapping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61948">
                <a:tc>
                  <a:txBody>
                    <a:bodyPr wrap="square"/>
                    <a:lstStyle/>
                    <a:p>
                      <a:pPr algn="l">
                        <a:lnSpc>
                          <a:spcPct val="100000"/>
                        </a:lnSpc>
                      </a:pPr>
                      <a:r>
                        <a:rPr sz="1150" b="1" i="0">
                          <a:solidFill>
                            <a:srgbClr val="1C2433"/>
                          </a:solidFill>
                          <a:latin typeface="Calibri"/>
                        </a:rPr>
                        <a:t>Partitioning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identity, bucket (Murmur3), truncate, year, month, day, hour, void; several specs (evolution)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61948">
                <a:tc>
                  <a:txBody>
                    <a:bodyPr wrap="square"/>
                    <a:lstStyle/>
                    <a:p>
                      <a:pPr algn="l">
                        <a:lnSpc>
                          <a:spcPct val="100000"/>
                        </a:lnSpc>
                      </a:pPr>
                      <a:r>
                        <a:rPr sz="1150" b="1" i="0">
                          <a:solidFill>
                            <a:srgbClr val="1C2433"/>
                          </a:solidFill>
                          <a:latin typeface="Calibri"/>
                        </a:rPr>
                        <a:t>Manifests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lists and manifests (Avro), data and delete manifests, inherited ids and sequence numbers, bounds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90144">
                <a:tc>
                  <a:txBody>
                    <a:bodyPr wrap="square"/>
                    <a:lstStyle/>
                    <a:p>
                      <a:pPr algn="l">
                        <a:lnSpc>
                          <a:spcPct val="100000"/>
                        </a:lnSpc>
                      </a:pPr>
                      <a:r>
                        <a:rPr sz="1150" b="1" i="0">
                          <a:solidFill>
                            <a:srgbClr val="1C2433"/>
                          </a:solidFill>
                          <a:latin typeface="Calibri"/>
                        </a:rPr>
                        <a:t>Deletes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position and equality deletes, by the sequence-number rules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v3 deletion vectors (Puffin): later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90144">
                <a:tc>
                  <a:txBody>
                    <a:bodyPr wrap="square"/>
                    <a:lstStyle/>
                    <a:p>
                      <a:pPr algn="l">
                        <a:lnSpc>
                          <a:spcPct val="100000"/>
                        </a:lnSpc>
                      </a:pPr>
                      <a:r>
                        <a:rPr sz="1150" b="1" i="0">
                          <a:solidFill>
                            <a:srgbClr val="1C2433"/>
                          </a:solidFill>
                          <a:latin typeface="Calibri"/>
                        </a:rPr>
                        <a:t>Snapshots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current snapshot, snapshot log (time travel by </a:t>
                      </a:r>
                      <a:r>
                        <a:rPr sz="1150" b="0" i="1">
                          <a:solidFill>
                            <a:srgbClr val="1C2433"/>
                          </a:solidFill>
                          <a:latin typeface="Calibri"/>
                        </a:rPr>
                        <a:t>known at</a:t>
                      </a:r>
                      <a:r>
                        <a:rPr sz="1150" b="0" i="0">
                          <a:solidFill>
                            <a:srgbClr val="1C2433"/>
                          </a:solidFill>
                          <a:latin typeface="Calibri"/>
                        </a:rPr>
                        <a:t>), the </a:t>
                      </a:r>
                      <a:r>
                        <a:rPr sz="1050" b="0" i="0">
                          <a:solidFill>
                            <a:srgbClr val="0E7C86"/>
                          </a:solidFill>
                          <a:latin typeface="Consolas"/>
                        </a:rPr>
                        <a:t>main</a:t>
                      </a:r>
                      <a:r>
                        <a:rPr sz="1150" b="0" i="0">
                          <a:solidFill>
                            <a:srgbClr val="1C2433"/>
                          </a:solidFill>
                          <a:latin typeface="Calibri"/>
                        </a:rPr>
                        <a:t> ref</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named branches and tags: later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61948">
                <a:tc>
                  <a:txBody>
                    <a:bodyPr wrap="square"/>
                    <a:lstStyle/>
                    <a:p>
                      <a:pPr algn="l">
                        <a:lnSpc>
                          <a:spcPct val="100000"/>
                        </a:lnSpc>
                      </a:pPr>
                      <a:r>
                        <a:rPr sz="1150" b="1" i="0">
                          <a:solidFill>
                            <a:srgbClr val="1C2433"/>
                          </a:solidFill>
                          <a:latin typeface="Calibri"/>
                        </a:rPr>
                        <a:t>Data files, encryption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Parquet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ORC, Avro data files; encrypted tables (refused)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61948">
                <a:tc>
                  <a:txBody>
                    <a:bodyPr wrap="square"/>
                    <a:lstStyle/>
                    <a:p>
                      <a:pPr algn="l">
                        <a:lnSpc>
                          <a:spcPct val="100000"/>
                        </a:lnSpc>
                      </a:pPr>
                      <a:r>
                        <a:rPr sz="1150" b="1" i="0">
                          <a:solidFill>
                            <a:srgbClr val="1C2433"/>
                          </a:solidFill>
                          <a:latin typeface="Calibri"/>
                        </a:rPr>
                        <a:t>Catalogs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path-based, a metadata file named directly, REST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Hive metastore, JDBC (only behind a REST 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Maintenance as built: IcebergMaintenance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110</a:t>
            </a:r>
          </a:p>
        </p:txBody>
      </p:sp>
      <p:graphicFrame>
        <p:nvGraphicFramePr>
          <p:cNvPr id="10" name="Table 9"/>
          <p:cNvGraphicFramePr>
            <a:graphicFrameLocks noGrp="1"/>
          </p:cNvGraphicFramePr>
          <p:nvPr/>
        </p:nvGraphicFramePr>
        <p:xfrm>
          <a:off x="411480" y="1143000"/>
          <a:ext cx="11365992" cy="3996837"/>
        </p:xfrm>
        <a:graphic>
          <a:graphicData uri="http://schemas.openxmlformats.org/drawingml/2006/table">
            <a:tbl>
              <a:tblPr firstRow="1" bandRow="1">
                <a:tableStyleId>{5940675A-B579-460E-94D1-54222C63F5DA}</a:tableStyleId>
              </a:tblPr>
              <a:tblGrid>
                <a:gridCol w="2514600"/>
                <a:gridCol w="8851392"/>
              </a:tblGrid>
              <a:tr h="387250">
                <a:tc>
                  <a:txBody>
                    <a:bodyPr wrap="square"/>
                    <a:lstStyle/>
                    <a:p>
                      <a:pPr algn="l">
                        <a:lnSpc>
                          <a:spcPct val="100000"/>
                        </a:lnSpc>
                      </a:pPr>
                      <a:r>
                        <a:rPr sz="1150" b="1" i="0">
                          <a:solidFill>
                            <a:srgbClr val="FFFFFF"/>
                          </a:solidFill>
                          <a:latin typeface="Calibri"/>
                        </a:rPr>
                        <a:t>Option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What it does (one Iceberg commit each)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387250">
                <a:tc>
                  <a:txBody>
                    <a:bodyPr wrap="square"/>
                    <a:lstStyle/>
                    <a:p>
                      <a:pPr algn="l">
                        <a:lnSpc>
                          <a:spcPct val="100000"/>
                        </a:lnSpc>
                      </a:pPr>
                      <a:r>
                        <a:rPr sz="1050" b="1" i="0">
                          <a:solidFill>
                            <a:srgbClr val="0E7C86"/>
                          </a:solidFill>
                          <a:latin typeface="Consolas"/>
                        </a:rPr>
                        <a:t>--keep-days 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deletes business days older than the newest N on or before </a:t>
                      </a:r>
                      <a:r>
                        <a:rPr sz="1050" b="0" i="0">
                          <a:solidFill>
                            <a:srgbClr val="0E7C86"/>
                          </a:solidFill>
                          <a:latin typeface="Consolas"/>
                        </a:rPr>
                        <a:t>--as-of</a:t>
                      </a:r>
                      <a:r>
                        <a:rPr sz="1150" b="0" i="0">
                          <a:solidFill>
                            <a:srgbClr val="1C2433"/>
                          </a:solidFill>
                          <a:latin typeface="Calibri"/>
                        </a:rPr>
                        <a:t>: metadata only; &gt; 50 % of rows needs </a:t>
                      </a:r>
                      <a:r>
                        <a:rPr sz="1050" b="0" i="0">
                          <a:solidFill>
                            <a:srgbClr val="0E7C86"/>
                          </a:solidFill>
                          <a:latin typeface="Consolas"/>
                        </a:rPr>
                        <a:t>--force-drop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57779">
                <a:tc>
                  <a:txBody>
                    <a:bodyPr wrap="square"/>
                    <a:lstStyle/>
                    <a:p>
                      <a:pPr algn="l">
                        <a:lnSpc>
                          <a:spcPct val="100000"/>
                        </a:lnSpc>
                      </a:pPr>
                      <a:r>
                        <a:rPr sz="1050" b="1" i="0">
                          <a:solidFill>
                            <a:srgbClr val="0E7C86"/>
                          </a:solidFill>
                          <a:latin typeface="Consolas"/>
                        </a:rPr>
                        <a:t>--relayout</a:t>
                      </a:r>
                      <a:r>
                        <a:rPr sz="1150" b="1" i="0">
                          <a:solidFill>
                            <a:srgbClr val="1C2433"/>
                          </a:solidFill>
                          <a:latin typeface="Calibri"/>
                        </a:rPr>
                        <a:t> (</a:t>
                      </a:r>
                      <a:r>
                        <a:rPr sz="1050" b="1" i="0">
                          <a:solidFill>
                            <a:srgbClr val="0E7C86"/>
                          </a:solidFill>
                          <a:latin typeface="Consolas"/>
                        </a:rPr>
                        <a:t>--force</a:t>
                      </a:r>
                      <a:r>
                        <a:rPr sz="1150" b="1"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rewrites only days that drifted (overlapping id ranges, oversized files, delete files, missing columns), sorted, validated against the snapshot read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87250">
                <a:tc>
                  <a:txBody>
                    <a:bodyPr wrap="square"/>
                    <a:lstStyle/>
                    <a:p>
                      <a:pPr algn="l">
                        <a:lnSpc>
                          <a:spcPct val="100000"/>
                        </a:lnSpc>
                      </a:pPr>
                      <a:r>
                        <a:rPr sz="1050" b="1" i="0">
                          <a:solidFill>
                            <a:srgbClr val="0E7C86"/>
                          </a:solidFill>
                          <a:latin typeface="Consolas"/>
                        </a:rPr>
                        <a:t>--columns kind:path,…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adds promoted columns and rewrites every day, filling them from the documents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87250">
                <a:tc>
                  <a:txBody>
                    <a:bodyPr wrap="square"/>
                    <a:lstStyle/>
                    <a:p>
                      <a:pPr algn="l">
                        <a:lnSpc>
                          <a:spcPct val="100000"/>
                        </a:lnSpc>
                      </a:pPr>
                      <a:r>
                        <a:rPr sz="1050" b="1" i="0">
                          <a:solidFill>
                            <a:srgbClr val="0E7C86"/>
                          </a:solidFill>
                          <a:latin typeface="Consolas"/>
                        </a:rPr>
                        <a:t>--rewrite-manifests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regroups manifests, one per month of business dates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87250">
                <a:tc>
                  <a:txBody>
                    <a:bodyPr wrap="square"/>
                    <a:lstStyle/>
                    <a:p>
                      <a:pPr algn="l">
                        <a:lnSpc>
                          <a:spcPct val="100000"/>
                        </a:lnSpc>
                      </a:pPr>
                      <a:r>
                        <a:rPr sz="1050" b="1" i="0">
                          <a:solidFill>
                            <a:srgbClr val="0E7C86"/>
                          </a:solidFill>
                          <a:latin typeface="Consolas"/>
                        </a:rPr>
                        <a:t>--expire-hours 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expires snapshots older than H (168), keeps the current, deletes files only they referenced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57779">
                <a:tc>
                  <a:txBody>
                    <a:bodyPr wrap="square"/>
                    <a:lstStyle/>
                    <a:p>
                      <a:pPr algn="l">
                        <a:lnSpc>
                          <a:spcPct val="100000"/>
                        </a:lnSpc>
                      </a:pPr>
                      <a:r>
                        <a:rPr sz="1050" b="1" i="0">
                          <a:solidFill>
                            <a:srgbClr val="0E7C86"/>
                          </a:solidFill>
                          <a:latin typeface="Consolas"/>
                        </a:rPr>
                        <a:t>--remove-orphans --older-than-hours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files no snapshot references (a load that died before its commit), 72 h at least, with a dry run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87250">
                <a:tc>
                  <a:txBody>
                    <a:bodyPr wrap="square"/>
                    <a:lstStyle/>
                    <a:p>
                      <a:pPr algn="l">
                        <a:lnSpc>
                          <a:spcPct val="100000"/>
                        </a:lnSpc>
                      </a:pPr>
                      <a:r>
                        <a:rPr sz="1150" b="1" i="0">
                          <a:solidFill>
                            <a:srgbClr val="1C2433"/>
                          </a:solidFill>
                          <a:latin typeface="Calibri"/>
                        </a:rPr>
                        <a:t>Admin → Lakes, </a:t>
                      </a:r>
                      <a:r>
                        <a:rPr sz="1050" b="1" i="0">
                          <a:solidFill>
                            <a:srgbClr val="0E7C86"/>
                          </a:solidFill>
                          <a:latin typeface="Consolas"/>
                        </a:rPr>
                        <a:t>lake maintain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an Iceberg table maintained as a Delta one: ownership rule, lock, schedules, history, a Format column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57779">
                <a:tc>
                  <a:txBody>
                    <a:bodyPr wrap="square"/>
                    <a:lstStyle/>
                    <a:p>
                      <a:pPr algn="l">
                        <a:lnSpc>
                          <a:spcPct val="100000"/>
                        </a:lnSpc>
                      </a:pPr>
                      <a:r>
                        <a:rPr sz="1150" b="1" i="0">
                          <a:solidFill>
                            <a:srgbClr val="1C2433"/>
                          </a:solidFill>
                          <a:latin typeface="Calibri"/>
                        </a:rPr>
                        <a:t>The 7-year floor of the risk domains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050" b="0" i="0">
                          <a:solidFill>
                            <a:srgbClr val="0E7C86"/>
                          </a:solidFill>
                          <a:latin typeface="Consolas"/>
                        </a:rPr>
                        <a:t>--floor-days 2557</a:t>
                      </a:r>
                      <a:r>
                        <a:rPr sz="1150" b="0" i="0">
                          <a:solidFill>
                            <a:srgbClr val="1C2433"/>
                          </a:solidFill>
                          <a:latin typeface="Calibri"/>
                        </a:rPr>
                        <a:t> for </a:t>
                      </a:r>
                      <a:r>
                        <a:rPr sz="1050" b="0" i="0">
                          <a:solidFill>
                            <a:srgbClr val="0E7C86"/>
                          </a:solidFill>
                          <a:latin typeface="Consolas"/>
                        </a:rPr>
                        <a:t>risk</a:t>
                      </a:r>
                      <a:r>
                        <a:rPr sz="1150" b="0" i="0">
                          <a:solidFill>
                            <a:srgbClr val="1C2433"/>
                          </a:solidFill>
                          <a:latin typeface="Calibri"/>
                        </a:rPr>
                        <a:t> and </a:t>
                      </a:r>
                      <a:r>
                        <a:rPr sz="1050" b="0" i="0">
                          <a:solidFill>
                            <a:srgbClr val="0E7C86"/>
                          </a:solidFill>
                          <a:latin typeface="Consolas"/>
                        </a:rPr>
                        <a:t>risk-results</a:t>
                      </a:r>
                      <a:r>
                        <a:rPr sz="1150" b="0" i="0">
                          <a:solidFill>
                            <a:srgbClr val="1C2433"/>
                          </a:solidFill>
                          <a:latin typeface="Calibri"/>
                        </a:rPr>
                        <a:t>: no date dropped, no snapshot expired inside 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
        <p:nvSpPr>
          <p:cNvPr id="11" name="Rounded Rectangle 10"/>
          <p:cNvSpPr/>
          <p:nvPr/>
        </p:nvSpPr>
        <p:spPr>
          <a:xfrm>
            <a:off x="411480" y="5669280"/>
            <a:ext cx="11365992" cy="685800"/>
          </a:xfrm>
          <a:prstGeom prst="roundRect">
            <a:avLst>
              <a:gd name="adj" fmla="val 6000"/>
            </a:avLst>
          </a:prstGeom>
          <a:solidFill>
            <a:srgbClr val="FDECEA"/>
          </a:solidFill>
          <a:ln w="1905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411480" y="5669280"/>
            <a:ext cx="82296" cy="68580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0080" y="5724144"/>
            <a:ext cx="11000232" cy="576072"/>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Never</a:t>
            </a:r>
            <a:r>
              <a:rPr sz="1300" b="0" i="0">
                <a:solidFill>
                  <a:srgbClr val="1C2433"/>
                </a:solidFill>
                <a:latin typeface="Calibri"/>
              </a:rPr>
              <a:t> apply S3 lifecycle </a:t>
            </a:r>
            <a:r>
              <a:rPr sz="1300" b="1" i="0">
                <a:solidFill>
                  <a:srgbClr val="1C2433"/>
                </a:solidFill>
                <a:latin typeface="Calibri"/>
              </a:rPr>
              <a:t>expiry</a:t>
            </a:r>
            <a:r>
              <a:rPr sz="1300" b="0" i="0">
                <a:solidFill>
                  <a:srgbClr val="1C2433"/>
                </a:solidFill>
                <a:latin typeface="Calibri"/>
              </a:rPr>
              <a:t> to a table's files, in either format: they delete files the metadata still names.</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Delta daily load in detail, and its runbook</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 · runbook</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111</a:t>
            </a:r>
          </a:p>
        </p:txBody>
      </p:sp>
      <p:sp>
        <p:nvSpPr>
          <p:cNvPr id="10" name="Code block"/>
          <p:cNvSpPr/>
          <p:nvPr/>
        </p:nvSpPr>
        <p:spPr>
          <a:xfrm>
            <a:off x="411480" y="1143000"/>
            <a:ext cx="11365992" cy="251460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521208" y="1207008"/>
            <a:ext cx="11146536" cy="238658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 EventBridge Scheduler (LOAD_SCHEDULE, LOAD_SCHEDULE_ZONE)</a:t>
            </a:r>
          </a:p>
          <a:p>
            <a:pPr>
              <a:spcAft>
                <a:spcPts val="0"/>
              </a:spcAft>
              <a:buNone/>
            </a:pPr>
            <a:r>
              <a:rPr sz="1100" b="0" i="0">
                <a:solidFill>
                  <a:srgbClr val="E6EDF3"/>
                </a:solidFill>
                <a:latin typeface="Consolas"/>
              </a:rPr>
              <a:t>   └─► ECS RunTask drishti-&lt;env&gt;-loader ─► loader-entrypoint.sh (EFS mounted? writable?) ─► load-day.sh</a:t>
            </a:r>
          </a:p>
          <a:p>
            <a:pPr>
              <a:spcAft>
                <a:spcPts val="0"/>
              </a:spcAft>
              <a:buNone/>
            </a:pPr>
            <a:r>
              <a:rPr sz="1100" b="0" i="0">
                <a:solidFill>
                  <a:srgbClr val="E6EDF3"/>
                </a:solidFill>
                <a:latin typeface="Consolas"/>
              </a:rPr>
              <a:t>          for each table of LAKE_TABLES_FILE:</a:t>
            </a:r>
          </a:p>
          <a:p>
            <a:pPr>
              <a:spcAft>
                <a:spcPts val="0"/>
              </a:spcAft>
              <a:buNone/>
            </a:pPr>
            <a:r>
              <a:rPr sz="1100" b="0" i="0">
                <a:solidFill>
                  <a:srgbClr val="E6EDF3"/>
                </a:solidFill>
                <a:latin typeface="Consolas"/>
              </a:rPr>
              <a:t>            flock  /opt/drishti/data/lake-locks/&lt;domain&gt;--&lt;table&gt;.lock   (held: exit 3)</a:t>
            </a:r>
          </a:p>
          <a:p>
            <a:pPr>
              <a:spcAft>
                <a:spcPts val="0"/>
              </a:spcAft>
              <a:buNone/>
            </a:pPr>
            <a:r>
              <a:rPr sz="1100" b="0" i="0">
                <a:solidFill>
                  <a:srgbClr val="E6EDF3"/>
                </a:solidFill>
                <a:latin typeface="Consolas"/>
              </a:rPr>
              <a:t>            aws s3 sync   s3://landing/&lt;date&gt;/&lt;source&gt;/  →  scratch/in/&lt;table&gt;/      (JSON Lines)</a:t>
            </a:r>
          </a:p>
          <a:p>
            <a:pPr>
              <a:spcAft>
                <a:spcPts val="0"/>
              </a:spcAft>
              <a:buNone/>
            </a:pPr>
            <a:r>
              <a:rPr sz="1100" b="0" i="0">
                <a:solidFill>
                  <a:srgbClr val="E6EDF3"/>
                </a:solidFill>
                <a:latin typeface="Consolas"/>
              </a:rPr>
              <a:t>            drishti.py lake build   --from scratch/in/&lt;table&gt; -r --kind trade --pack config/packs/trading</a:t>
            </a:r>
          </a:p>
          <a:p>
            <a:pPr>
              <a:spcAft>
                <a:spcPts val="0"/>
              </a:spcAft>
              <a:buNone/>
            </a:pPr>
            <a:r>
              <a:rPr sz="1100" b="0" i="0">
                <a:solidFill>
                  <a:srgbClr val="E6EDF3"/>
                </a:solidFill>
                <a:latin typeface="Consolas"/>
              </a:rPr>
              <a:t>                                    --mode overwrite-dates --batch-rows 250000 --partition-by PRODUCT_TYPE …</a:t>
            </a:r>
          </a:p>
          <a:p>
            <a:pPr>
              <a:spcAft>
                <a:spcPts val="0"/>
              </a:spcAft>
              <a:buNone/>
            </a:pPr>
            <a:r>
              <a:rPr sz="1100" b="0" i="0">
                <a:solidFill>
                  <a:srgbClr val="E6EDF3"/>
                </a:solidFill>
                <a:latin typeface="Consolas"/>
              </a:rPr>
              <a:t>            aws s3 sync   scratch/lake/trading/trade_endur/ → s3://lake/…/trade_endur/  --exclude "_delta_log/*"</a:t>
            </a:r>
          </a:p>
          <a:p>
            <a:pPr>
              <a:spcAft>
                <a:spcPts val="0"/>
              </a:spcAft>
              <a:buNone/>
            </a:pPr>
            <a:r>
              <a:rPr sz="1100" b="0" i="0">
                <a:solidFill>
                  <a:srgbClr val="E6EDF3"/>
                </a:solidFill>
                <a:latin typeface="Consolas"/>
              </a:rPr>
              <a:t>            drishti.py lake publish --from scratch/lake/… --to s3://…/trade_endur --dates &lt;date&gt; [--signal …]</a:t>
            </a:r>
          </a:p>
          <a:p>
            <a:pPr>
              <a:spcAft>
                <a:spcPts val="0"/>
              </a:spcAft>
              <a:buNone/>
            </a:pPr>
            <a:r>
              <a:rPr sz="1100" b="0" i="0">
                <a:solidFill>
                  <a:srgbClr val="E6EDF3"/>
                </a:solidFill>
                <a:latin typeface="Consolas"/>
              </a:rPr>
              <a:t>            CloudWatch Drishti/Lake: LoadSucceeded, PublishedBusinessDate, LoadSeconds</a:t>
            </a:r>
          </a:p>
          <a:p>
            <a:pPr>
              <a:spcAft>
                <a:spcPts val="0"/>
              </a:spcAft>
              <a:buNone/>
            </a:pPr>
            <a:r>
              <a:rPr sz="1100" b="0" i="0">
                <a:solidFill>
                  <a:srgbClr val="E6EDF3"/>
                </a:solidFill>
                <a:latin typeface="Consolas"/>
              </a:rPr>
              <a:t>          scratch removed (always)</a:t>
            </a:r>
          </a:p>
        </p:txBody>
      </p:sp>
      <p:graphicFrame>
        <p:nvGraphicFramePr>
          <p:cNvPr id="12" name="Table"/>
          <p:cNvGraphicFramePr>
            <a:graphicFrameLocks noGrp="1"/>
          </p:cNvGraphicFramePr>
          <p:nvPr/>
        </p:nvGraphicFramePr>
        <p:xfrm>
          <a:off x="411480" y="3794760"/>
          <a:ext cx="11365992" cy="2194560"/>
        </p:xfrm>
        <a:graphic>
          <a:graphicData uri="http://schemas.openxmlformats.org/drawingml/2006/table">
            <a:tbl>
              <a:tblPr firstRow="0" bandRow="0">
                <a:tableStyleId>{5940675A-B579-460E-94D1-54222C63F5DA}</a:tableStyleId>
              </a:tblPr>
              <a:tblGrid>
                <a:gridCol w="640080"/>
                <a:gridCol w="3474720"/>
                <a:gridCol w="7251192"/>
              </a:tblGrid>
              <a:tr h="438912">
                <a:tc>
                  <a:txBody>
                    <a:bodyPr wrap="square"/>
                    <a:lstStyle/>
                    <a:p>
                      <a:r>
                        <a:rPr sz="1150" b="1" i="0">
                          <a:solidFill>
                            <a:srgbClr val="FFFFFF"/>
                          </a:solidFill>
                          <a:latin typeface="Calibri"/>
                        </a:rPr>
                        <a:t>Exit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50" b="1" i="0">
                          <a:solidFill>
                            <a:srgbClr val="FFFFFF"/>
                          </a:solidFill>
                          <a:latin typeface="Calibri"/>
                        </a:rPr>
                        <a:t>Meaning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50" b="1" i="0">
                          <a:solidFill>
                            <a:srgbClr val="FFFFFF"/>
                          </a:solidFill>
                          <a:latin typeface="Calibri"/>
                        </a:rPr>
                        <a:t>What to do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38912">
                <a:tc>
                  <a:txBody>
                    <a:bodyPr wrap="square"/>
                    <a:lstStyle/>
                    <a:p>
                      <a:r>
                        <a:rPr sz="1150" b="1" i="0">
                          <a:solidFill>
                            <a:srgbClr val="1C2433"/>
                          </a:solidFill>
                          <a:latin typeface="Calibri"/>
                        </a:rPr>
                        <a:t>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every table published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check: CloudWatch Logs </a:t>
                      </a:r>
                      <a:r>
                        <a:rPr sz="1050" b="0" i="0">
                          <a:solidFill>
                            <a:srgbClr val="0E7C86"/>
                          </a:solidFill>
                          <a:latin typeface="Consolas"/>
                        </a:rPr>
                        <a:t>/drishti/&lt;env&gt;</a:t>
                      </a:r>
                      <a:r>
                        <a:rPr sz="1150" b="0" i="0">
                          <a:solidFill>
                            <a:srgbClr val="1C2433"/>
                          </a:solidFill>
                          <a:latin typeface="Calibri"/>
                        </a:rPr>
                        <a:t>, stream prefix loader, </a:t>
                      </a:r>
                      <a:r>
                        <a:rPr sz="1050" b="0" i="0">
                          <a:solidFill>
                            <a:srgbClr val="0E7C86"/>
                          </a:solidFill>
                          <a:latin typeface="Consolas"/>
                        </a:rPr>
                        <a:t>LoadSucceeded</a:t>
                      </a:r>
                      <a:r>
                        <a:rPr sz="1150" b="0" i="0">
                          <a:solidFill>
                            <a:srgbClr val="1C2433"/>
                          </a:solidFill>
                          <a:latin typeface="Calibri"/>
                        </a:rPr>
                        <a:t> 1 per table; </a:t>
                      </a:r>
                      <a:r>
                        <a:rPr sz="1050" b="0" i="0">
                          <a:solidFill>
                            <a:srgbClr val="0E7C86"/>
                          </a:solidFill>
                          <a:latin typeface="Consolas"/>
                        </a:rPr>
                        <a:t>report.sh --tables &lt;table&gt;</a:t>
                      </a:r>
                      <a:r>
                        <a:rPr sz="1150" b="0" i="0">
                          <a:solidFill>
                            <a:srgbClr val="1C2433"/>
                          </a:solidFill>
                          <a:latin typeface="Calibri"/>
                        </a:rPr>
                        <a:t>: newest is today; </a:t>
                      </a:r>
                      <a:r>
                        <a:rPr sz="1050" b="0" i="0">
                          <a:solidFill>
                            <a:srgbClr val="0E7C86"/>
                          </a:solidFill>
                          <a:latin typeface="Consolas"/>
                        </a:rPr>
                        <a:t>TRD &lt;id&gt;</a:t>
                      </a:r>
                      <a:r>
                        <a:rPr sz="1150" b="0" i="0">
                          <a:solidFill>
                            <a:srgbClr val="1C2433"/>
                          </a:solidFill>
                          <a:latin typeface="Calibri"/>
                        </a:rPr>
                        <a:t> on today's date; </a:t>
                      </a:r>
                      <a:r>
                        <a:rPr sz="1050" b="0" i="0">
                          <a:solidFill>
                            <a:srgbClr val="0E7C86"/>
                          </a:solidFill>
                          <a:latin typeface="Consolas"/>
                        </a:rPr>
                        <a:t>DATAMAP</a:t>
                      </a:r>
                      <a:r>
                        <a:rPr sz="1150" b="0" i="0">
                          <a:solidFill>
                            <a:srgbClr val="1C2433"/>
                          </a:solidFill>
                          <a:latin typeface="Calibri"/>
                        </a:rPr>
                        <a:t> counts the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38912">
                <a:tc>
                  <a:txBody>
                    <a:bodyPr wrap="square"/>
                    <a:lstStyle/>
                    <a:p>
                      <a:r>
                        <a:rPr sz="1150" b="1" i="0">
                          <a:solidFill>
                            <a:srgbClr val="1C2433"/>
                          </a:solidFill>
                          <a:latin typeface="Calibri"/>
                        </a:rPr>
                        <a:t>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published with rejected documents (the summary says which)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the build summary names the reasons; fix the source and restate the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38912">
                <a:tc>
                  <a:txBody>
                    <a:bodyPr wrap="square"/>
                    <a:lstStyle/>
                    <a:p>
                      <a:r>
                        <a:rPr sz="1150" b="1" i="0">
                          <a:solidFill>
                            <a:srgbClr val="1C2433"/>
                          </a:solidFill>
                          <a:latin typeface="Calibri"/>
                        </a:rPr>
                        <a:t>1</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50" b="0" i="0">
                          <a:solidFill>
                            <a:srgbClr val="1C2433"/>
                          </a:solidFill>
                          <a:latin typeface="Calibri"/>
                        </a:rPr>
                        <a:t>a table failed: its S3 table is unchanged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050" b="0" i="0">
                          <a:solidFill>
                            <a:srgbClr val="0E7C86"/>
                          </a:solidFill>
                          <a:latin typeface="Consolas"/>
                        </a:rPr>
                        <a:t>lake build failed</a:t>
                      </a:r>
                      <a:r>
                        <a:rPr sz="1150" b="0" i="0">
                          <a:solidFill>
                            <a:srgbClr val="1C2433"/>
                          </a:solidFill>
                          <a:latin typeface="Calibri"/>
                        </a:rPr>
                        <a:t> or </a:t>
                      </a:r>
                      <a:r>
                        <a:rPr sz="1050" b="0" i="0">
                          <a:solidFill>
                            <a:srgbClr val="0E7C86"/>
                          </a:solidFill>
                          <a:latin typeface="Consolas"/>
                        </a:rPr>
                        <a:t>lake publish failed</a:t>
                      </a:r>
                      <a:r>
                        <a:rPr sz="1150" b="0" i="0">
                          <a:solidFill>
                            <a:srgbClr val="1C2433"/>
                          </a:solidFill>
                          <a:latin typeface="Calibri"/>
                        </a:rPr>
                        <a:t> says why; fix, then </a:t>
                      </a:r>
                      <a:r>
                        <a:rPr sz="1050" b="0" i="0">
                          <a:solidFill>
                            <a:srgbClr val="0E7C86"/>
                          </a:solidFill>
                          <a:latin typeface="Consolas"/>
                        </a:rPr>
                        <a:t>load-day.sh --date &lt;d&gt; --tables &lt;t&gt;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38912">
                <a:tc>
                  <a:txBody>
                    <a:bodyPr wrap="square"/>
                    <a:lstStyle/>
                    <a:p>
                      <a:r>
                        <a:rPr sz="1150" b="1" i="0">
                          <a:solidFill>
                            <a:srgbClr val="1C2433"/>
                          </a:solidFill>
                          <a:latin typeface="Calibri"/>
                        </a:rPr>
                        <a:t>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a table was locked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50" b="0" i="0">
                          <a:solidFill>
                            <a:srgbClr val="1C2433"/>
                          </a:solidFill>
                          <a:latin typeface="Calibri"/>
                        </a:rPr>
                        <a:t>maintenance or a backfill held the table's lock; the next run loads it, or run it by hand after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3" name="TextBox 12"/>
          <p:cNvSpPr txBox="1"/>
          <p:nvPr/>
        </p:nvSpPr>
        <p:spPr>
          <a:xfrm>
            <a:off x="411480" y="5989320"/>
            <a:ext cx="11365992" cy="365760"/>
          </a:xfrm>
          <a:prstGeom prst="rect">
            <a:avLst/>
          </a:prstGeom>
          <a:noFill/>
        </p:spPr>
        <p:txBody>
          <a:bodyPr wrap="square" lIns="0" rIns="0" tIns="0" bIns="0" anchor="t">
            <a:spAutoFit/>
          </a:bodyPr>
          <a:lstStyle/>
          <a:p>
            <a:pPr algn="l">
              <a:spcAft>
                <a:spcPts val="600"/>
              </a:spcAft>
              <a:buNone/>
            </a:pPr>
            <a:r>
              <a:rPr sz="1150" b="0" i="0">
                <a:solidFill>
                  <a:srgbClr val="5B677A"/>
                </a:solidFill>
                <a:latin typeface="Calibri"/>
              </a:rPr>
              <a:t>The date defaults to today in </a:t>
            </a:r>
            <a:r>
              <a:rPr sz="1050" b="0" i="0">
                <a:solidFill>
                  <a:srgbClr val="0E7C86"/>
                </a:solidFill>
                <a:latin typeface="Consolas"/>
              </a:rPr>
              <a:t>LOAD_SCHEDULE_ZONE</a:t>
            </a:r>
            <a:r>
              <a:rPr sz="1150" b="0" i="0">
                <a:solidFill>
                  <a:srgbClr val="5B677A"/>
                </a:solidFill>
                <a:latin typeface="Calibri"/>
              </a:rPr>
              <a:t>: an evening load in New York is already the next day in UTC.</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A backfill and a restatement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112</a:t>
            </a:r>
          </a:p>
        </p:txBody>
      </p:sp>
      <p:sp>
        <p:nvSpPr>
          <p:cNvPr id="10" name="Callout"/>
          <p:cNvSpPr/>
          <p:nvPr/>
        </p:nvSpPr>
        <p:spPr>
          <a:xfrm>
            <a:off x="411480" y="1188720"/>
            <a:ext cx="5532120" cy="329184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allout edge"/>
          <p:cNvSpPr/>
          <p:nvPr/>
        </p:nvSpPr>
        <p:spPr>
          <a:xfrm>
            <a:off x="411480" y="1207008"/>
            <a:ext cx="82296" cy="325526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080" y="1261872"/>
            <a:ext cx="5166359" cy="3145536"/>
          </a:xfrm>
          <a:prstGeom prst="rect">
            <a:avLst/>
          </a:prstGeom>
          <a:noFill/>
        </p:spPr>
        <p:txBody>
          <a:bodyPr wrap="square" lIns="0" rIns="0" tIns="0" bIns="0" anchor="t">
            <a:spAutoFit/>
          </a:bodyPr>
          <a:lstStyle/>
          <a:p>
            <a:pPr algn="l">
              <a:spcAft>
                <a:spcPts val="600"/>
              </a:spcAft>
              <a:buNone/>
            </a:pPr>
            <a:r>
              <a:rPr sz="1500" b="1" i="0">
                <a:solidFill>
                  <a:srgbClr val="1C2433"/>
                </a:solidFill>
                <a:latin typeface="Calibri"/>
              </a:rPr>
              <a:t>A backfill</a:t>
            </a:r>
          </a:p>
          <a:p>
            <a:pPr algn="l">
              <a:spcAft>
                <a:spcPts val="600"/>
              </a:spcAft>
              <a:buNone/>
            </a:pPr>
            <a:r>
              <a:rPr sz="1400" b="0" i="0">
                <a:solidFill>
                  <a:srgbClr val="1C2433"/>
                </a:solidFill>
                <a:latin typeface="Calibri"/>
              </a:rPr>
              <a:t>1. </a:t>
            </a:r>
            <a:r>
              <a:rPr sz="1300" b="0" i="0">
                <a:solidFill>
                  <a:srgbClr val="0E7C86"/>
                </a:solidFill>
                <a:latin typeface="Consolas"/>
              </a:rPr>
              <a:t>backfill.sh --dry-run --from … --to … --tables &lt;t&gt;</a:t>
            </a:r>
            <a:r>
              <a:rPr sz="1400" b="0" i="0">
                <a:solidFill>
                  <a:srgbClr val="1C2433"/>
                </a:solidFill>
                <a:latin typeface="Calibri"/>
              </a:rPr>
              <a:t>: check the dates and commands</a:t>
            </a:r>
          </a:p>
          <a:p>
            <a:pPr algn="l">
              <a:spcAft>
                <a:spcPts val="600"/>
              </a:spcAft>
              <a:buNone/>
            </a:pPr>
            <a:r>
              <a:rPr sz="1400" b="0" i="0">
                <a:solidFill>
                  <a:srgbClr val="1C2433"/>
                </a:solidFill>
                <a:latin typeface="Calibri"/>
              </a:rPr>
              <a:t>2. Run it as a loader task per table (</a:t>
            </a:r>
            <a:r>
              <a:rPr sz="1300" b="0" i="0">
                <a:solidFill>
                  <a:srgbClr val="0E7C86"/>
                </a:solidFill>
                <a:latin typeface="Consolas"/>
              </a:rPr>
              <a:t>aws ecs run-task … --overrides</a:t>
            </a:r>
            <a:r>
              <a:rPr sz="1400" b="0" i="0">
                <a:solidFill>
                  <a:srgbClr val="1C2433"/>
                </a:solidFill>
                <a:latin typeface="Calibri"/>
              </a:rPr>
              <a:t> with </a:t>
            </a:r>
            <a:r>
              <a:rPr sz="1300" b="0" i="0">
                <a:solidFill>
                  <a:srgbClr val="0E7C86"/>
                </a:solidFill>
                <a:latin typeface="Consolas"/>
              </a:rPr>
              <a:t>backfill.sh …</a:t>
            </a:r>
            <a:r>
              <a:rPr sz="1400" b="0" i="0">
                <a:solidFill>
                  <a:srgbClr val="1C2433"/>
                </a:solidFill>
                <a:latin typeface="Calibri"/>
              </a:rPr>
              <a:t>)</a:t>
            </a:r>
          </a:p>
          <a:p>
            <a:pPr algn="l">
              <a:spcAft>
                <a:spcPts val="600"/>
              </a:spcAft>
              <a:buNone/>
            </a:pPr>
            <a:r>
              <a:rPr sz="1400" b="0" i="0">
                <a:solidFill>
                  <a:srgbClr val="1C2433"/>
                </a:solidFill>
                <a:latin typeface="Calibri"/>
              </a:rPr>
              <a:t>3. It stops at a failing date with the resume command; fix and resume</a:t>
            </a:r>
          </a:p>
          <a:p>
            <a:pPr algn="l">
              <a:spcAft>
                <a:spcPts val="600"/>
              </a:spcAft>
              <a:buNone/>
            </a:pPr>
            <a:r>
              <a:rPr sz="1400" b="0" i="0">
                <a:solidFill>
                  <a:srgbClr val="1C2433"/>
                </a:solidFill>
                <a:latin typeface="Calibri"/>
              </a:rPr>
              <a:t>4. </a:t>
            </a:r>
            <a:r>
              <a:rPr sz="1300" b="0" i="0">
                <a:solidFill>
                  <a:srgbClr val="0E7C86"/>
                </a:solidFill>
                <a:latin typeface="Consolas"/>
              </a:rPr>
              <a:t>setup-lifecycle.sh</a:t>
            </a:r>
            <a:r>
              <a:rPr sz="1400" b="0" i="0">
                <a:solidFill>
                  <a:srgbClr val="1C2433"/>
                </a:solidFill>
                <a:latin typeface="Calibri"/>
              </a:rPr>
              <a:t> (or the next maintain.sh) moves the backfilled years to their tiers</a:t>
            </a:r>
          </a:p>
        </p:txBody>
      </p:sp>
      <p:sp>
        <p:nvSpPr>
          <p:cNvPr id="13" name="Callout"/>
          <p:cNvSpPr/>
          <p:nvPr/>
        </p:nvSpPr>
        <p:spPr>
          <a:xfrm>
            <a:off x="6245352" y="1188720"/>
            <a:ext cx="5532120" cy="329184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Callout edge"/>
          <p:cNvSpPr/>
          <p:nvPr/>
        </p:nvSpPr>
        <p:spPr>
          <a:xfrm>
            <a:off x="6245352" y="1207008"/>
            <a:ext cx="82296" cy="32552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6473952" y="1261872"/>
            <a:ext cx="5166359" cy="3145536"/>
          </a:xfrm>
          <a:prstGeom prst="rect">
            <a:avLst/>
          </a:prstGeom>
          <a:noFill/>
        </p:spPr>
        <p:txBody>
          <a:bodyPr wrap="square" lIns="0" rIns="0" tIns="0" bIns="0" anchor="t">
            <a:spAutoFit/>
          </a:bodyPr>
          <a:lstStyle/>
          <a:p>
            <a:pPr algn="l">
              <a:spcAft>
                <a:spcPts val="600"/>
              </a:spcAft>
              <a:buNone/>
            </a:pPr>
            <a:r>
              <a:rPr sz="1500" b="1" i="0">
                <a:solidFill>
                  <a:srgbClr val="1C2433"/>
                </a:solidFill>
                <a:latin typeface="Calibri"/>
              </a:rPr>
              <a:t>A restatement</a:t>
            </a:r>
          </a:p>
          <a:p>
            <a:pPr algn="l">
              <a:spcAft>
                <a:spcPts val="600"/>
              </a:spcAft>
              <a:buNone/>
            </a:pPr>
            <a:r>
              <a:rPr sz="1400" b="0" i="0">
                <a:solidFill>
                  <a:srgbClr val="1C2433"/>
                </a:solidFill>
                <a:latin typeface="Calibri"/>
              </a:rPr>
              <a:t>1. The source re-sends the JSON Lines dumps under the landing prefix of the day</a:t>
            </a:r>
          </a:p>
          <a:p>
            <a:pPr algn="l">
              <a:spcAft>
                <a:spcPts val="600"/>
              </a:spcAft>
              <a:buNone/>
            </a:pPr>
            <a:r>
              <a:rPr sz="1400" b="0" i="0">
                <a:solidFill>
                  <a:srgbClr val="1C2433"/>
                </a:solidFill>
                <a:latin typeface="Calibri"/>
              </a:rPr>
              <a:t>2. </a:t>
            </a:r>
            <a:r>
              <a:rPr sz="1300" b="0" i="0">
                <a:solidFill>
                  <a:srgbClr val="0E7C86"/>
                </a:solidFill>
                <a:latin typeface="Consolas"/>
              </a:rPr>
              <a:t>backfill.sh --dates &lt;d&gt;</a:t>
            </a:r>
            <a:r>
              <a:rPr sz="1400" b="0" i="0">
                <a:solidFill>
                  <a:srgbClr val="1C2433"/>
                </a:solidFill>
                <a:latin typeface="Calibri"/>
              </a:rPr>
              <a:t> (whole day) or </a:t>
            </a:r>
            <a:r>
              <a:rPr sz="1300" b="0" i="0">
                <a:solidFill>
                  <a:srgbClr val="0E7C86"/>
                </a:solidFill>
                <a:latin typeface="Consolas"/>
              </a:rPr>
              <a:t>load-day.sh --date &lt;d&gt; --tables &lt;t&gt; --mode overwrite-partitions</a:t>
            </a:r>
          </a:p>
          <a:p>
            <a:pPr algn="l">
              <a:spcAft>
                <a:spcPts val="600"/>
              </a:spcAft>
              <a:buNone/>
            </a:pPr>
            <a:r>
              <a:rPr sz="1400" b="0" i="0">
                <a:solidFill>
                  <a:srgbClr val="1C2433"/>
                </a:solidFill>
                <a:latin typeface="Calibri"/>
              </a:rPr>
              <a:t>3. Readers switch at the commit; the data-load signal (if set) refreshes the servers at once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A slow table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113</a:t>
            </a:r>
          </a:p>
        </p:txBody>
      </p:sp>
      <p:graphicFrame>
        <p:nvGraphicFramePr>
          <p:cNvPr id="10" name="Table"/>
          <p:cNvGraphicFramePr>
            <a:graphicFrameLocks noGrp="1"/>
          </p:cNvGraphicFramePr>
          <p:nvPr/>
        </p:nvGraphicFramePr>
        <p:xfrm>
          <a:off x="411480" y="1188720"/>
          <a:ext cx="11365992" cy="4608576"/>
        </p:xfrm>
        <a:graphic>
          <a:graphicData uri="http://schemas.openxmlformats.org/drawingml/2006/table">
            <a:tbl>
              <a:tblPr firstRow="0" bandRow="0">
                <a:tableStyleId>{5940675A-B579-460E-94D1-54222C63F5DA}</a:tableStyleId>
              </a:tblPr>
              <a:tblGrid>
                <a:gridCol w="2651760"/>
                <a:gridCol w="3291840"/>
                <a:gridCol w="5422392"/>
              </a:tblGrid>
              <a:tr h="658368">
                <a:tc>
                  <a:txBody>
                    <a:bodyPr wrap="square"/>
                    <a:lstStyle/>
                    <a:p>
                      <a:r>
                        <a:rPr sz="1200" b="1" i="0">
                          <a:solidFill>
                            <a:srgbClr val="FFFFFF"/>
                          </a:solidFill>
                          <a:latin typeface="Calibri"/>
                        </a:rPr>
                        <a:t>Symptom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Cause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Fix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658368">
                <a:tc>
                  <a:txBody>
                    <a:bodyPr wrap="square"/>
                    <a:lstStyle/>
                    <a:p>
                      <a:r>
                        <a:rPr sz="1200" b="1" i="0">
                          <a:solidFill>
                            <a:srgbClr val="1C2433"/>
                          </a:solidFill>
                          <a:latin typeface="Calibri"/>
                        </a:rPr>
                        <a:t>first read of a day slow, then fast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id map not yet on disk; footers cold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normal; </a:t>
                      </a:r>
                      <a:r>
                        <a:rPr sz="1100" b="0" i="0">
                          <a:solidFill>
                            <a:srgbClr val="0E7C86"/>
                          </a:solidFill>
                          <a:latin typeface="Consolas"/>
                        </a:rPr>
                        <a:t>warm-dates</a:t>
                      </a:r>
                      <a:r>
                        <a:rPr sz="1200" b="0" i="0">
                          <a:solidFill>
                            <a:srgbClr val="1C2433"/>
                          </a:solidFill>
                          <a:latin typeface="Calibri"/>
                        </a:rPr>
                        <a:t> (3) warms the newest days at start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58368">
                <a:tc>
                  <a:txBody>
                    <a:bodyPr wrap="square"/>
                    <a:lstStyle/>
                    <a:p>
                      <a:r>
                        <a:rPr sz="1200" b="1" i="0">
                          <a:solidFill>
                            <a:srgbClr val="1C2433"/>
                          </a:solidFill>
                          <a:latin typeface="Calibri"/>
                        </a:rPr>
                        <a:t>every read of a day slow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day is not sorted by id, or row groups are large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restate the day after fixing the order (slide 17)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58368">
                <a:tc>
                  <a:txBody>
                    <a:bodyPr wrap="square"/>
                    <a:lstStyle/>
                    <a:p>
                      <a:r>
                        <a:rPr sz="1200" b="1" i="0">
                          <a:solidFill>
                            <a:srgbClr val="1C2433"/>
                          </a:solidFill>
                          <a:latin typeface="Calibri"/>
                        </a:rPr>
                        <a:t>searches slow or partial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 field the search uses is not promoted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promote it; publish then refuses the next day: backfill into </a:t>
                      </a:r>
                      <a:r>
                        <a:rPr sz="1100" b="0" i="0">
                          <a:solidFill>
                            <a:srgbClr val="0E7C86"/>
                          </a:solidFill>
                          <a:latin typeface="Consolas"/>
                        </a:rPr>
                        <a:t>trade_endur_v2</a:t>
                      </a:r>
                      <a:r>
                        <a:rPr sz="1200" b="0" i="0">
                          <a:solidFill>
                            <a:srgbClr val="1C2433"/>
                          </a:solidFill>
                          <a:latin typeface="Calibri"/>
                        </a:rPr>
                        <a:t> and switch </a:t>
                      </a:r>
                      <a:r>
                        <a:rPr sz="1100" b="0" i="0">
                          <a:solidFill>
                            <a:srgbClr val="0E7C86"/>
                          </a:solidFill>
                          <a:latin typeface="Consolas"/>
                        </a:rPr>
                        <a:t>table.trade</a:t>
                      </a:r>
                      <a:r>
                        <a:rPr sz="1200" b="0" i="0">
                          <a:solidFill>
                            <a:srgbClr val="1C2433"/>
                          </a:solidFill>
                          <a:latin typeface="Calibri"/>
                        </a:rPr>
                        <a:t> (in place: not built)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58368">
                <a:tc>
                  <a:txBody>
                    <a:bodyPr wrap="square"/>
                    <a:lstStyle/>
                    <a:p>
                      <a:r>
                        <a:rPr sz="1200" b="1" i="0">
                          <a:solidFill>
                            <a:srgbClr val="1C2433"/>
                          </a:solidFill>
                          <a:latin typeface="Calibri"/>
                        </a:rPr>
                        <a:t>the snapshot refresh slow (Health)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many live files or a long log (intraday commits)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report.sh: behind and file counts; run maintain.sh; split the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58368">
                <a:tc>
                  <a:txBody>
                    <a:bodyPr wrap="square"/>
                    <a:lstStyle/>
                    <a:p>
                      <a:r>
                        <a:rPr sz="1200" b="1" i="0">
                          <a:solidFill>
                            <a:srgbClr val="1C2433"/>
                          </a:solidFill>
                          <a:latin typeface="Calibri"/>
                        </a:rPr>
                        <a:t>503 Slow Down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one prefix overloaded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partition by </a:t>
                      </a:r>
                      <a:r>
                        <a:rPr sz="1100" b="0" i="0">
                          <a:solidFill>
                            <a:srgbClr val="0E7C86"/>
                          </a:solidFill>
                          <a:latin typeface="Consolas"/>
                        </a:rPr>
                        <a:t>PRODUCT_TYPE</a:t>
                      </a:r>
                      <a:r>
                        <a:rPr sz="1200" b="0" i="0">
                          <a:solidFill>
                            <a:srgbClr val="1C2433"/>
                          </a:solidFill>
                          <a:latin typeface="Calibri"/>
                        </a:rPr>
                        <a:t> (or finer); S3 scales a prefix within minutes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58368">
                <a:tc>
                  <a:txBody>
                    <a:bodyPr wrap="square"/>
                    <a:lstStyle/>
                    <a:p>
                      <a:r>
                        <a:rPr sz="1200" b="1" i="0">
                          <a:solidFill>
                            <a:srgbClr val="1C2433"/>
                          </a:solidFill>
                          <a:latin typeface="Calibri"/>
                        </a:rPr>
                        <a:t>searches read documents on one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deletion vectors in its files (written by Spark)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compaction rewrites the files without them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A restated risk date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114</a:t>
            </a:r>
          </a:p>
        </p:txBody>
      </p:sp>
      <p:sp>
        <p:nvSpPr>
          <p:cNvPr id="10" name="Oval 9"/>
          <p:cNvSpPr/>
          <p:nvPr/>
        </p:nvSpPr>
        <p:spPr>
          <a:xfrm>
            <a:off x="411480" y="1234440"/>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400" b="1" i="0">
                <a:solidFill>
                  <a:srgbClr val="FFFFFF"/>
                </a:solidFill>
                <a:latin typeface="Calibri"/>
              </a:rPr>
              <a:t>1</a:t>
            </a:r>
          </a:p>
        </p:txBody>
      </p:sp>
      <p:sp>
        <p:nvSpPr>
          <p:cNvPr id="11" name="TextBox 10"/>
          <p:cNvSpPr txBox="1"/>
          <p:nvPr/>
        </p:nvSpPr>
        <p:spPr>
          <a:xfrm>
            <a:off x="1051560" y="1188720"/>
            <a:ext cx="6400800" cy="566928"/>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The risk batch rewrites the whole date (a new </a:t>
            </a:r>
            <a:r>
              <a:rPr sz="1200" b="0" i="0">
                <a:solidFill>
                  <a:srgbClr val="0E7C86"/>
                </a:solidFill>
                <a:latin typeface="Consolas"/>
              </a:rPr>
              <a:t>BATCH_ID</a:t>
            </a:r>
            <a:r>
              <a:rPr sz="1300" b="0" i="0">
                <a:solidFill>
                  <a:srgbClr val="1C2433"/>
                </a:solidFill>
                <a:latin typeface="Calibri"/>
              </a:rPr>
              <a:t>, </a:t>
            </a:r>
            <a:r>
              <a:rPr sz="1200" b="0" i="0">
                <a:solidFill>
                  <a:srgbClr val="0E7C86"/>
                </a:solidFill>
                <a:latin typeface="Consolas"/>
              </a:rPr>
              <a:t>RESTATEMENT</a:t>
            </a:r>
            <a:r>
              <a:rPr sz="1300" b="0" i="0">
                <a:solidFill>
                  <a:srgbClr val="1C2433"/>
                </a:solidFill>
                <a:latin typeface="Calibri"/>
              </a:rPr>
              <a:t> + 1) as JSON Lines</a:t>
            </a:r>
          </a:p>
        </p:txBody>
      </p:sp>
      <p:sp>
        <p:nvSpPr>
          <p:cNvPr id="12" name="Oval 11"/>
          <p:cNvSpPr/>
          <p:nvPr/>
        </p:nvSpPr>
        <p:spPr>
          <a:xfrm>
            <a:off x="411480" y="1984248"/>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400" b="1" i="0">
                <a:solidFill>
                  <a:srgbClr val="FFFFFF"/>
                </a:solidFill>
                <a:latin typeface="Calibri"/>
              </a:rPr>
              <a:t>2</a:t>
            </a:r>
          </a:p>
        </p:txBody>
      </p:sp>
      <p:sp>
        <p:nvSpPr>
          <p:cNvPr id="13" name="TextBox 12"/>
          <p:cNvSpPr txBox="1"/>
          <p:nvPr/>
        </p:nvSpPr>
        <p:spPr>
          <a:xfrm>
            <a:off x="1051560" y="1938528"/>
            <a:ext cx="6400800" cy="566928"/>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Load it like any table: </a:t>
            </a:r>
            <a:r>
              <a:rPr sz="1200" b="0" i="0">
                <a:solidFill>
                  <a:srgbClr val="0E7C86"/>
                </a:solidFill>
                <a:latin typeface="Consolas"/>
              </a:rPr>
              <a:t>load-day.sh --date &lt;d&gt; --tables risk/pnl-vector</a:t>
            </a:r>
            <a:r>
              <a:rPr sz="1300" b="0" i="0">
                <a:solidFill>
                  <a:srgbClr val="1C2433"/>
                </a:solidFill>
                <a:latin typeface="Calibri"/>
              </a:rPr>
              <a:t> (overwrite-dates)</a:t>
            </a:r>
          </a:p>
        </p:txBody>
      </p:sp>
      <p:sp>
        <p:nvSpPr>
          <p:cNvPr id="14" name="Oval 13"/>
          <p:cNvSpPr/>
          <p:nvPr/>
        </p:nvSpPr>
        <p:spPr>
          <a:xfrm>
            <a:off x="411480" y="2734056"/>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400" b="1" i="0">
                <a:solidFill>
                  <a:srgbClr val="FFFFFF"/>
                </a:solidFill>
                <a:latin typeface="Calibri"/>
              </a:rPr>
              <a:t>3</a:t>
            </a:r>
          </a:p>
        </p:txBody>
      </p:sp>
      <p:sp>
        <p:nvSpPr>
          <p:cNvPr id="15" name="TextBox 14"/>
          <p:cNvSpPr txBox="1"/>
          <p:nvPr/>
        </p:nvSpPr>
        <p:spPr>
          <a:xfrm>
            <a:off x="1051560" y="2688336"/>
            <a:ext cx="6400800" cy="566928"/>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The data-load signal reloads the date: a new hot file (new inputs' digest); the intraday layer is dropped</a:t>
            </a:r>
          </a:p>
        </p:txBody>
      </p:sp>
      <p:sp>
        <p:nvSpPr>
          <p:cNvPr id="16" name="Oval 15"/>
          <p:cNvSpPr/>
          <p:nvPr/>
        </p:nvSpPr>
        <p:spPr>
          <a:xfrm>
            <a:off x="411480" y="3483863"/>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400" b="1" i="0">
                <a:solidFill>
                  <a:srgbClr val="FFFFFF"/>
                </a:solidFill>
                <a:latin typeface="Calibri"/>
              </a:rPr>
              <a:t>4</a:t>
            </a:r>
          </a:p>
        </p:txBody>
      </p:sp>
      <p:sp>
        <p:nvSpPr>
          <p:cNvPr id="17" name="TextBox 16"/>
          <p:cNvSpPr txBox="1"/>
          <p:nvPr/>
        </p:nvSpPr>
        <p:spPr>
          <a:xfrm>
            <a:off x="1051560" y="3438144"/>
            <a:ext cx="6400800" cy="566928"/>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The official capture runs again: the next </a:t>
            </a:r>
            <a:r>
              <a:rPr sz="1200" b="0" i="0">
                <a:solidFill>
                  <a:srgbClr val="0E7C86"/>
                </a:solidFill>
                <a:latin typeface="Consolas"/>
              </a:rPr>
              <a:t>RESULT_VERSION</a:t>
            </a:r>
            <a:r>
              <a:rPr sz="1300" b="0" i="0">
                <a:solidFill>
                  <a:srgbClr val="1C2433"/>
                </a:solidFill>
                <a:latin typeface="Calibri"/>
              </a:rPr>
              <a:t>, appended; the earlier version is kept</a:t>
            </a:r>
          </a:p>
        </p:txBody>
      </p:sp>
      <p:sp>
        <p:nvSpPr>
          <p:cNvPr id="18" name="Oval 17"/>
          <p:cNvSpPr/>
          <p:nvPr/>
        </p:nvSpPr>
        <p:spPr>
          <a:xfrm>
            <a:off x="411480" y="4233672"/>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400" b="1" i="0">
                <a:solidFill>
                  <a:srgbClr val="FFFFFF"/>
                </a:solidFill>
                <a:latin typeface="Calibri"/>
              </a:rPr>
              <a:t>5</a:t>
            </a:r>
          </a:p>
        </p:txBody>
      </p:sp>
      <p:sp>
        <p:nvSpPr>
          <p:cNvPr id="19" name="TextBox 18"/>
          <p:cNvSpPr txBox="1"/>
          <p:nvPr/>
        </p:nvSpPr>
        <p:spPr>
          <a:xfrm>
            <a:off x="1051560" y="4187952"/>
            <a:ext cx="6400800" cy="566928"/>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Check: </a:t>
            </a:r>
            <a:r>
              <a:rPr sz="1200" b="0" i="0">
                <a:solidFill>
                  <a:srgbClr val="0E7C86"/>
                </a:solidFill>
                <a:latin typeface="Consolas"/>
              </a:rPr>
              <a:t>drishti.py var official</a:t>
            </a:r>
            <a:r>
              <a:rPr sz="1300" b="0" i="0">
                <a:solidFill>
                  <a:srgbClr val="1C2433"/>
                </a:solidFill>
                <a:latin typeface="Calibri"/>
              </a:rPr>
              <a:t> lists both versions; BI shows the latest; </a:t>
            </a:r>
            <a:r>
              <a:rPr sz="1200" b="0" i="0">
                <a:solidFill>
                  <a:srgbClr val="0E7C86"/>
                </a:solidFill>
                <a:latin typeface="Consolas"/>
              </a:rPr>
              <a:t>publishError</a:t>
            </a:r>
            <a:r>
              <a:rPr sz="1300" b="0" i="0">
                <a:solidFill>
                  <a:srgbClr val="1C2433"/>
                </a:solidFill>
                <a:latin typeface="Calibri"/>
              </a:rPr>
              <a:t> empty</a:t>
            </a:r>
          </a:p>
        </p:txBody>
      </p:sp>
      <p:sp>
        <p:nvSpPr>
          <p:cNvPr id="20" name="Callout"/>
          <p:cNvSpPr/>
          <p:nvPr/>
        </p:nvSpPr>
        <p:spPr>
          <a:xfrm>
            <a:off x="7635240" y="1188720"/>
            <a:ext cx="4142232" cy="2286000"/>
          </a:xfrm>
          <a:prstGeom prst="roundRect">
            <a:avLst>
              <a:gd name="adj" fmla="val 6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Callout edge"/>
          <p:cNvSpPr/>
          <p:nvPr/>
        </p:nvSpPr>
        <p:spPr>
          <a:xfrm>
            <a:off x="7635240" y="1207008"/>
            <a:ext cx="82296" cy="2249424"/>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7863840" y="1261872"/>
            <a:ext cx="3776472" cy="213969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If the date did not load</a:t>
            </a:r>
          </a:p>
          <a:p>
            <a:pPr algn="l">
              <a:spcAft>
                <a:spcPts val="600"/>
              </a:spcAft>
              <a:buNone/>
            </a:pPr>
            <a:r>
              <a:rPr sz="1200" b="0" i="0">
                <a:solidFill>
                  <a:srgbClr val="0E7C86"/>
                </a:solidFill>
                <a:latin typeface="Consolas"/>
              </a:rPr>
              <a:t>DRS-5203</a:t>
            </a:r>
            <a:r>
              <a:rPr sz="1300" b="0" i="0">
                <a:solidFill>
                  <a:srgbClr val="1C2433"/>
                </a:solidFill>
                <a:latin typeface="Calibri"/>
              </a:rPr>
              <a:t> (two runs or scenario sets on one date): the engine answers the date before, with a warning. Fix the batch, rewrite the date whole.</a:t>
            </a:r>
          </a:p>
        </p:txBody>
      </p:sp>
      <p:sp>
        <p:nvSpPr>
          <p:cNvPr id="23" name="Callout"/>
          <p:cNvSpPr/>
          <p:nvPr/>
        </p:nvSpPr>
        <p:spPr>
          <a:xfrm>
            <a:off x="7635240" y="3657600"/>
            <a:ext cx="4142232" cy="265176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Callout edge"/>
          <p:cNvSpPr/>
          <p:nvPr/>
        </p:nvSpPr>
        <p:spPr>
          <a:xfrm>
            <a:off x="7635240" y="3675887"/>
            <a:ext cx="82296" cy="261518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7863840" y="3730752"/>
            <a:ext cx="3776472" cy="250545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Nothing is lost</a:t>
            </a:r>
          </a:p>
          <a:p>
            <a:pPr algn="l">
              <a:spcAft>
                <a:spcPts val="600"/>
              </a:spcAft>
              <a:buNone/>
            </a:pPr>
            <a:r>
              <a:rPr sz="1300" b="0" i="0">
                <a:solidFill>
                  <a:srgbClr val="1C2433"/>
                </a:solidFill>
                <a:latin typeface="Calibri"/>
              </a:rPr>
              <a:t>Time travel keeps the old inputs 7 years; the official table keeps every result version; a capture keeps its vector. "What did we report?" and "what is the corrected number?" both stay answerable.</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An upgrade: the connector files follow the pack</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115</a:t>
            </a:r>
          </a:p>
        </p:txBody>
      </p:sp>
      <p:sp>
        <p:nvSpPr>
          <p:cNvPr id="10" name="Rounded Rectangle 9"/>
          <p:cNvSpPr/>
          <p:nvPr/>
        </p:nvSpPr>
        <p:spPr>
          <a:xfrm>
            <a:off x="411480" y="1188720"/>
            <a:ext cx="6949440" cy="96012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02920" y="1234440"/>
            <a:ext cx="676655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A file nobody edited</a:t>
            </a:r>
          </a:p>
        </p:txBody>
      </p:sp>
      <p:sp>
        <p:nvSpPr>
          <p:cNvPr id="12" name="TextBox 11"/>
          <p:cNvSpPr txBox="1"/>
          <p:nvPr/>
        </p:nvSpPr>
        <p:spPr>
          <a:xfrm>
            <a:off x="502920" y="1554480"/>
            <a:ext cx="6766559" cy="5486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replaced in full by the pack's new template; the old one kept as </a:t>
            </a:r>
            <a:r>
              <a:rPr sz="1100" b="0" i="0">
                <a:solidFill>
                  <a:srgbClr val="0E7C86"/>
                </a:solidFill>
                <a:latin typeface="Consolas"/>
              </a:rPr>
              <a:t>.before-upgrade-….bak</a:t>
            </a:r>
            <a:r>
              <a:rPr sz="1200" b="0" i="0">
                <a:solidFill>
                  <a:srgbClr val="1C2433"/>
                </a:solidFill>
                <a:latin typeface="Calibri"/>
              </a:rPr>
              <a:t>; audited </a:t>
            </a:r>
            <a:r>
              <a:rPr sz="1100" b="0" i="0">
                <a:solidFill>
                  <a:srgbClr val="0E7C86"/>
                </a:solidFill>
                <a:latin typeface="Consolas"/>
              </a:rPr>
              <a:t>connector-template-upgrade</a:t>
            </a:r>
          </a:p>
        </p:txBody>
      </p:sp>
      <p:sp>
        <p:nvSpPr>
          <p:cNvPr id="13" name="Rounded Rectangle 12"/>
          <p:cNvSpPr/>
          <p:nvPr/>
        </p:nvSpPr>
        <p:spPr>
          <a:xfrm>
            <a:off x="411480" y="2286000"/>
            <a:ext cx="6949440" cy="96012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02920" y="2331720"/>
            <a:ext cx="676655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A file you edited</a:t>
            </a:r>
          </a:p>
        </p:txBody>
      </p:sp>
      <p:sp>
        <p:nvSpPr>
          <p:cNvPr id="15" name="TextBox 14"/>
          <p:cNvSpPr txBox="1"/>
          <p:nvPr/>
        </p:nvSpPr>
        <p:spPr>
          <a:xfrm>
            <a:off x="502920" y="2651760"/>
            <a:ext cx="6766559" cy="5486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gains every key the template has, at any depth; your values stay; lists keep their order</a:t>
            </a:r>
          </a:p>
        </p:txBody>
      </p:sp>
      <p:sp>
        <p:nvSpPr>
          <p:cNvPr id="16" name="Rounded Rectangle 15"/>
          <p:cNvSpPr/>
          <p:nvPr/>
        </p:nvSpPr>
        <p:spPr>
          <a:xfrm>
            <a:off x="411480" y="3383280"/>
            <a:ext cx="6949440" cy="96012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502920" y="3429000"/>
            <a:ext cx="676655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A value that differs</a:t>
            </a:r>
          </a:p>
        </p:txBody>
      </p:sp>
      <p:sp>
        <p:nvSpPr>
          <p:cNvPr id="18" name="TextBox 17"/>
          <p:cNvSpPr txBox="1"/>
          <p:nvPr/>
        </p:nvSpPr>
        <p:spPr>
          <a:xfrm>
            <a:off x="502920" y="3749040"/>
            <a:ext cx="6766559" cy="5486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listed in Admin → Connectors → Template updates, with </a:t>
            </a:r>
            <a:r>
              <a:rPr sz="1200" b="1" i="0">
                <a:solidFill>
                  <a:srgbClr val="1C2433"/>
                </a:solidFill>
                <a:latin typeface="Calibri"/>
              </a:rPr>
              <a:t>Use the pack's value</a:t>
            </a:r>
            <a:r>
              <a:rPr sz="1200" b="0" i="0">
                <a:solidFill>
                  <a:srgbClr val="1C2433"/>
                </a:solidFill>
                <a:latin typeface="Calibri"/>
              </a:rPr>
              <a:t> per key</a:t>
            </a:r>
          </a:p>
        </p:txBody>
      </p:sp>
      <p:sp>
        <p:nvSpPr>
          <p:cNvPr id="19" name="TextBox 18"/>
          <p:cNvSpPr txBox="1"/>
          <p:nvPr/>
        </p:nvSpPr>
        <p:spPr>
          <a:xfrm>
            <a:off x="411480" y="4480560"/>
            <a:ext cx="6949440" cy="457200"/>
          </a:xfrm>
          <a:prstGeom prst="rect">
            <a:avLst/>
          </a:prstGeom>
          <a:noFill/>
        </p:spPr>
        <p:txBody>
          <a:bodyPr wrap="square" lIns="0" rIns="0" tIns="0" bIns="0" anchor="ctr">
            <a:spAutoFit/>
          </a:bodyPr>
          <a:lstStyle/>
          <a:p>
            <a:pPr algn="l">
              <a:spcAft>
                <a:spcPts val="600"/>
              </a:spcAft>
              <a:buNone/>
            </a:pPr>
            <a:r>
              <a:rPr sz="1200" b="0" i="0">
                <a:solidFill>
                  <a:srgbClr val="5B677A"/>
                </a:solidFill>
                <a:latin typeface="Calibri"/>
              </a:rPr>
              <a:t>the stamp is in the file's text: </a:t>
            </a:r>
            <a:r>
              <a:rPr sz="1100" b="0" i="0">
                <a:solidFill>
                  <a:srgbClr val="0E7C86"/>
                </a:solidFill>
                <a:latin typeface="Consolas"/>
              </a:rPr>
              <a:t># drishti-template: pack=… template=…</a:t>
            </a:r>
          </a:p>
        </p:txBody>
      </p:sp>
      <p:sp>
        <p:nvSpPr>
          <p:cNvPr id="20" name="Callout"/>
          <p:cNvSpPr/>
          <p:nvPr/>
        </p:nvSpPr>
        <p:spPr>
          <a:xfrm>
            <a:off x="7635240" y="1188720"/>
            <a:ext cx="4142232" cy="201168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Callout edge"/>
          <p:cNvSpPr/>
          <p:nvPr/>
        </p:nvSpPr>
        <p:spPr>
          <a:xfrm>
            <a:off x="7635240" y="1207008"/>
            <a:ext cx="82296" cy="19751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7863840" y="1261872"/>
            <a:ext cx="3776472" cy="1865376"/>
          </a:xfrm>
          <a:prstGeom prst="rect">
            <a:avLst/>
          </a:prstGeom>
          <a:noFill/>
        </p:spPr>
        <p:txBody>
          <a:bodyPr wrap="square" lIns="0" rIns="0" tIns="0" bIns="0" anchor="t">
            <a:spAutoFit/>
          </a:bodyPr>
          <a:lstStyle/>
          <a:p>
            <a:pPr algn="l">
              <a:spcAft>
                <a:spcPts val="600"/>
              </a:spcAft>
              <a:buNone/>
            </a:pPr>
            <a:r>
              <a:rPr sz="1200" b="1" i="0">
                <a:solidFill>
                  <a:srgbClr val="1C2433"/>
                </a:solidFill>
                <a:latin typeface="Calibri"/>
              </a:rPr>
              <a:t>Tested on the real files</a:t>
            </a:r>
          </a:p>
          <a:p>
            <a:pPr algn="l">
              <a:spcAft>
                <a:spcPts val="600"/>
              </a:spcAft>
              <a:buNone/>
            </a:pPr>
            <a:r>
              <a:rPr sz="1100" b="0" i="0">
                <a:solidFill>
                  <a:srgbClr val="0E7C86"/>
                </a:solidFill>
                <a:latin typeface="Consolas"/>
              </a:rPr>
              <a:t>ConnectorUpgradeTest</a:t>
            </a:r>
            <a:r>
              <a:rPr sz="1200" b="0" i="0">
                <a:solidFill>
                  <a:srgbClr val="1C2433"/>
                </a:solidFill>
                <a:latin typeface="Calibri"/>
              </a:rPr>
              <a:t> starts a server on an earlier release's generated files, an edited </a:t>
            </a:r>
            <a:r>
              <a:rPr sz="1100" b="0" i="0">
                <a:solidFill>
                  <a:srgbClr val="0E7C86"/>
                </a:solidFill>
                <a:latin typeface="Consolas"/>
              </a:rPr>
              <a:t>risk-store</a:t>
            </a:r>
            <a:r>
              <a:rPr sz="1200" b="0" i="0">
                <a:solidFill>
                  <a:srgbClr val="1C2433"/>
                </a:solidFill>
                <a:latin typeface="Calibri"/>
              </a:rPr>
              <a:t> and an edited older </a:t>
            </a:r>
            <a:r>
              <a:rPr sz="1100" b="0" i="0">
                <a:solidFill>
                  <a:srgbClr val="0E7C86"/>
                </a:solidFill>
                <a:latin typeface="Consolas"/>
              </a:rPr>
              <a:t>var-whatif</a:t>
            </a:r>
            <a:r>
              <a:rPr sz="1200" b="0" i="0">
                <a:solidFill>
                  <a:srgbClr val="1C2433"/>
                </a:solidFill>
                <a:latin typeface="Calibri"/>
              </a:rPr>
              <a:t>: unedited files equal the new templates, edits stay, VaR, what-if and exposure answer.</a:t>
            </a:r>
          </a:p>
        </p:txBody>
      </p:sp>
      <p:sp>
        <p:nvSpPr>
          <p:cNvPr id="23" name="Callout"/>
          <p:cNvSpPr/>
          <p:nvPr/>
        </p:nvSpPr>
        <p:spPr>
          <a:xfrm>
            <a:off x="7635240" y="3383280"/>
            <a:ext cx="4142232" cy="160020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Callout edge"/>
          <p:cNvSpPr/>
          <p:nvPr/>
        </p:nvSpPr>
        <p:spPr>
          <a:xfrm>
            <a:off x="7635240" y="3401568"/>
            <a:ext cx="82296" cy="156362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7863840" y="3456432"/>
            <a:ext cx="3776472" cy="1453896"/>
          </a:xfrm>
          <a:prstGeom prst="rect">
            <a:avLst/>
          </a:prstGeom>
          <a:noFill/>
        </p:spPr>
        <p:txBody>
          <a:bodyPr wrap="square" lIns="0" rIns="0" tIns="0" bIns="0" anchor="t">
            <a:spAutoFit/>
          </a:bodyPr>
          <a:lstStyle/>
          <a:p>
            <a:pPr algn="l">
              <a:spcAft>
                <a:spcPts val="600"/>
              </a:spcAft>
              <a:buNone/>
            </a:pPr>
            <a:r>
              <a:rPr sz="1200" b="1" i="0">
                <a:solidFill>
                  <a:srgbClr val="1C2433"/>
                </a:solidFill>
                <a:latin typeface="Calibri"/>
              </a:rPr>
              <a:t>On ECS</a:t>
            </a:r>
          </a:p>
          <a:p>
            <a:pPr algn="l">
              <a:spcAft>
                <a:spcPts val="600"/>
              </a:spcAft>
              <a:buNone/>
            </a:pPr>
            <a:r>
              <a:rPr sz="1200" b="0" i="0">
                <a:solidFill>
                  <a:srgbClr val="1C2433"/>
                </a:solidFill>
                <a:latin typeface="Calibri"/>
              </a:rPr>
              <a:t>Deploy the new images; at start each node brings its connector files (EFS or the content store) in step. Check </a:t>
            </a:r>
            <a:r>
              <a:rPr sz="1200" b="1" i="0">
                <a:solidFill>
                  <a:srgbClr val="1C2433"/>
                </a:solidFill>
                <a:latin typeface="Calibri"/>
              </a:rPr>
              <a:t>Template updates</a:t>
            </a:r>
            <a:r>
              <a:rPr sz="1200" b="0" i="0">
                <a:solidFill>
                  <a:srgbClr val="1C2433"/>
                </a:solidFill>
                <a:latin typeface="Calibri"/>
              </a:rPr>
              <a:t> after the first start.</a:t>
            </a:r>
          </a:p>
        </p:txBody>
      </p:sp>
      <p:sp>
        <p:nvSpPr>
          <p:cNvPr id="26" name="TextBox 25"/>
          <p:cNvSpPr txBox="1"/>
          <p:nvPr/>
        </p:nvSpPr>
        <p:spPr>
          <a:xfrm>
            <a:off x="411480" y="5349240"/>
            <a:ext cx="11365992" cy="73152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Data written before a new column (the limit letters' </a:t>
            </a:r>
            <a:r>
              <a:rPr sz="1100" b="0" i="0">
                <a:solidFill>
                  <a:srgbClr val="0E7C86"/>
                </a:solidFill>
                <a:latin typeface="Consolas"/>
              </a:rPr>
              <a:t>LIMIT_LETTER</a:t>
            </a:r>
            <a:r>
              <a:rPr sz="1200" b="0" i="0">
                <a:solidFill>
                  <a:srgbClr val="1C2433"/>
                </a:solidFill>
                <a:latin typeface="Calibri"/>
              </a:rPr>
              <a:t>) skips that hierarchy alone with a </a:t>
            </a:r>
            <a:r>
              <a:rPr sz="1100" b="0" i="0">
                <a:solidFill>
                  <a:srgbClr val="0E7C86"/>
                </a:solidFill>
                <a:latin typeface="Consolas"/>
              </a:rPr>
              <a:t>DRS-5211</a:t>
            </a:r>
            <a:r>
              <a:rPr sz="1200" b="0" i="0">
                <a:solidFill>
                  <a:srgbClr val="1C2433"/>
                </a:solidFill>
                <a:latin typeface="Calibri"/>
              </a:rPr>
              <a:t> warning; MGMT, LEGAL and exposure answer as before (</a:t>
            </a:r>
            <a:r>
              <a:rPr sz="1100" b="0" i="0">
                <a:solidFill>
                  <a:srgbClr val="0E7C86"/>
                </a:solidFill>
                <a:latin typeface="Consolas"/>
              </a:rPr>
              <a:t>HierarchyUpgradeWithoutLettersTest</a:t>
            </a:r>
            <a:r>
              <a:rPr sz="1200" b="0" i="0">
                <a:solidFill>
                  <a:srgbClr val="1C2433"/>
                </a:solidFill>
                <a:latin typeface="Calibri"/>
              </a:rPr>
              <a: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Runbooks: symptoms, causes, fixes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116</a:t>
            </a:r>
          </a:p>
        </p:txBody>
      </p:sp>
      <p:graphicFrame>
        <p:nvGraphicFramePr>
          <p:cNvPr id="10" name="Table 9"/>
          <p:cNvGraphicFramePr>
            <a:graphicFrameLocks noGrp="1"/>
          </p:cNvGraphicFramePr>
          <p:nvPr/>
        </p:nvGraphicFramePr>
        <p:xfrm>
          <a:off x="411480" y="1143000"/>
          <a:ext cx="11365991" cy="4889748"/>
        </p:xfrm>
        <a:graphic>
          <a:graphicData uri="http://schemas.openxmlformats.org/drawingml/2006/table">
            <a:tbl>
              <a:tblPr firstRow="1" bandRow="1">
                <a:tableStyleId>{5940675A-B579-460E-94D1-54222C63F5DA}</a:tableStyleId>
              </a:tblPr>
              <a:tblGrid>
                <a:gridCol w="3749039"/>
                <a:gridCol w="3840480"/>
                <a:gridCol w="3776472"/>
              </a:tblGrid>
              <a:tr h="415744">
                <a:tc>
                  <a:txBody>
                    <a:bodyPr wrap="square"/>
                    <a:lstStyle/>
                    <a:p>
                      <a:pPr algn="l">
                        <a:lnSpc>
                          <a:spcPct val="100000"/>
                        </a:lnSpc>
                      </a:pPr>
                      <a:r>
                        <a:rPr sz="1150" b="1" i="0">
                          <a:solidFill>
                            <a:srgbClr val="FFFFFF"/>
                          </a:solidFill>
                          <a:latin typeface="Calibri"/>
                        </a:rPr>
                        <a:t>Symptom</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Likely cause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Fix</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15744">
                <a:tc>
                  <a:txBody>
                    <a:bodyPr wrap="square"/>
                    <a:lstStyle/>
                    <a:p>
                      <a:pPr algn="l">
                        <a:lnSpc>
                          <a:spcPct val="100000"/>
                        </a:lnSpc>
                      </a:pPr>
                      <a:r>
                        <a:rPr sz="1050" b="1" i="0">
                          <a:solidFill>
                            <a:srgbClr val="0E7C86"/>
                          </a:solidFill>
                          <a:latin typeface="Consolas"/>
                        </a:rPr>
                        <a:t>DOWN: cannot reach …</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root, bucket or catalog namespace not reachable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check </a:t>
                      </a:r>
                      <a:r>
                        <a:rPr sz="1050" b="0" i="0">
                          <a:solidFill>
                            <a:srgbClr val="0E7C86"/>
                          </a:solidFill>
                          <a:latin typeface="Consolas"/>
                        </a:rPr>
                        <a:t>root</a:t>
                      </a:r>
                      <a:r>
                        <a:rPr sz="1150" b="0" i="0">
                          <a:solidFill>
                            <a:srgbClr val="1C2433"/>
                          </a:solidFill>
                          <a:latin typeface="Calibri"/>
                        </a:rPr>
                        <a:t> / </a:t>
                      </a:r>
                      <a:r>
                        <a:rPr sz="1050" b="0" i="0">
                          <a:solidFill>
                            <a:srgbClr val="0E7C86"/>
                          </a:solidFill>
                          <a:latin typeface="Consolas"/>
                        </a:rPr>
                        <a:t>uri</a:t>
                      </a:r>
                      <a:r>
                        <a:rPr sz="1150" b="0" i="0">
                          <a:solidFill>
                            <a:srgbClr val="1C2433"/>
                          </a:solidFill>
                          <a:latin typeface="Calibri"/>
                        </a:rPr>
                        <a:t>, the task role, </a:t>
                      </a:r>
                      <a:r>
                        <a:rPr sz="1050" b="0" i="0">
                          <a:solidFill>
                            <a:srgbClr val="0E7C86"/>
                          </a:solidFill>
                          <a:latin typeface="Consolas"/>
                        </a:rPr>
                        <a:t>s3.*</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98821">
                <a:tc>
                  <a:txBody>
                    <a:bodyPr wrap="square"/>
                    <a:lstStyle/>
                    <a:p>
                      <a:pPr algn="l">
                        <a:lnSpc>
                          <a:spcPct val="100000"/>
                        </a:lnSpc>
                      </a:pPr>
                      <a:r>
                        <a:rPr sz="1050" b="1" i="0">
                          <a:solidFill>
                            <a:srgbClr val="0E7C86"/>
                          </a:solidFill>
                          <a:latin typeface="Consolas"/>
                        </a:rPr>
                        <a:t>DOWN: no Iceberg tables under …</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nothing loaded in that domain, or the wrong </a:t>
                      </a:r>
                      <a:r>
                        <a:rPr sz="1050" b="0" i="0">
                          <a:solidFill>
                            <a:srgbClr val="0E7C86"/>
                          </a:solidFill>
                          <a:latin typeface="Consolas"/>
                        </a:rPr>
                        <a:t>domain</a:t>
                      </a:r>
                      <a:r>
                        <a:rPr sz="1150" b="0" i="0">
                          <a:solidFill>
                            <a:srgbClr val="1C2433"/>
                          </a:solidFill>
                          <a:latin typeface="Calibri"/>
                        </a:rPr>
                        <a:t> / </a:t>
                      </a:r>
                      <a:r>
                        <a:rPr sz="1050" b="0" i="0">
                          <a:solidFill>
                            <a:srgbClr val="0E7C86"/>
                          </a:solidFill>
                          <a:latin typeface="Consolas"/>
                        </a:rPr>
                        <a:t>namespace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load it; check the domain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98821">
                <a:tc>
                  <a:txBody>
                    <a:bodyPr wrap="square"/>
                    <a:lstStyle/>
                    <a:p>
                      <a:pPr algn="l">
                        <a:lnSpc>
                          <a:spcPct val="100000"/>
                        </a:lnSpc>
                      </a:pPr>
                      <a:r>
                        <a:rPr sz="1150" b="1" i="0">
                          <a:solidFill>
                            <a:srgbClr val="1C2433"/>
                          </a:solidFill>
                          <a:latin typeface="Calibri"/>
                        </a:rPr>
                        <a:t>new data not visible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the refresh has not run yet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wait </a:t>
                      </a:r>
                      <a:r>
                        <a:rPr sz="1050" b="0" i="0">
                          <a:solidFill>
                            <a:srgbClr val="0E7C86"/>
                          </a:solidFill>
                          <a:latin typeface="Consolas"/>
                        </a:rPr>
                        <a:t>refresh-seconds</a:t>
                      </a:r>
                      <a:r>
                        <a:rPr sz="1150" b="0" i="0">
                          <a:solidFill>
                            <a:srgbClr val="1C2433"/>
                          </a:solidFill>
                          <a:latin typeface="Calibri"/>
                        </a:rPr>
                        <a:t> (10) or send the data-load signal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15744">
                <a:tc>
                  <a:txBody>
                    <a:bodyPr wrap="square"/>
                    <a:lstStyle/>
                    <a:p>
                      <a:pPr algn="l">
                        <a:lnSpc>
                          <a:spcPct val="100000"/>
                        </a:lnSpc>
                      </a:pPr>
                      <a:r>
                        <a:rPr sz="1150" b="1" i="0">
                          <a:solidFill>
                            <a:srgbClr val="1C2433"/>
                          </a:solidFill>
                          <a:latin typeface="Calibri"/>
                        </a:rPr>
                        <a:t>single reads slow, </a:t>
                      </a:r>
                      <a:r>
                        <a:rPr sz="1050" b="1" i="0">
                          <a:solidFill>
                            <a:srgbClr val="0E7C86"/>
                          </a:solidFill>
                          <a:latin typeface="Consolas"/>
                        </a:rPr>
                        <a:t>daysWithDeletes</a:t>
                      </a:r>
                      <a:r>
                        <a:rPr sz="1150" b="1" i="0">
                          <a:solidFill>
                            <a:srgbClr val="1C2433"/>
                          </a:solidFill>
                          <a:latin typeface="Calibri"/>
                        </a:rPr>
                        <a:t> &gt; 0</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another engine's equality deletes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050" b="0" i="0">
                          <a:solidFill>
                            <a:srgbClr val="0E7C86"/>
                          </a:solidFill>
                          <a:latin typeface="Consolas"/>
                        </a:rPr>
                        <a:t>IcebergMaintenance --relayout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98821">
                <a:tc>
                  <a:txBody>
                    <a:bodyPr wrap="square"/>
                    <a:lstStyle/>
                    <a:p>
                      <a:pPr algn="l">
                        <a:lnSpc>
                          <a:spcPct val="100000"/>
                        </a:lnSpc>
                      </a:pPr>
                      <a:r>
                        <a:rPr sz="1150" b="1" i="0">
                          <a:solidFill>
                            <a:srgbClr val="1C2433"/>
                          </a:solidFill>
                          <a:latin typeface="Calibri"/>
                        </a:rPr>
                        <a:t>single reads slow on another engine's table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large row groups or unsorted days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050" b="0" i="0">
                          <a:solidFill>
                            <a:srgbClr val="0E7C86"/>
                          </a:solidFill>
                          <a:latin typeface="Consolas"/>
                        </a:rPr>
                        <a:t>--relayout --force</a:t>
                      </a:r>
                      <a:r>
                        <a:rPr sz="1150" b="0" i="0">
                          <a:solidFill>
                            <a:srgbClr val="1C2433"/>
                          </a:solidFill>
                          <a:latin typeface="Calibri"/>
                        </a:rPr>
                        <a:t>, or that engine's sorted rewrite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15744">
                <a:tc>
                  <a:txBody>
                    <a:bodyPr wrap="square"/>
                    <a:lstStyle/>
                    <a:p>
                      <a:pPr algn="l">
                        <a:lnSpc>
                          <a:spcPct val="100000"/>
                        </a:lnSpc>
                      </a:pPr>
                      <a:r>
                        <a:rPr sz="1150" b="1" i="0">
                          <a:solidFill>
                            <a:srgbClr val="1C2433"/>
                          </a:solidFill>
                          <a:latin typeface="Calibri"/>
                        </a:rPr>
                        <a:t>searches say </a:t>
                      </a:r>
                      <a:r>
                        <a:rPr sz="1050" b="1" i="0">
                          <a:solidFill>
                            <a:srgbClr val="0E7C86"/>
                          </a:solidFill>
                          <a:latin typeface="Consolas"/>
                        </a:rPr>
                        <a:t>partial: true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 field the query reads is not promoted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add it to the layout, then </a:t>
                      </a:r>
                      <a:r>
                        <a:rPr sz="1050" b="0" i="0">
                          <a:solidFill>
                            <a:srgbClr val="0E7C86"/>
                          </a:solidFill>
                          <a:latin typeface="Consolas"/>
                        </a:rPr>
                        <a:t>--columns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15744">
                <a:tc>
                  <a:txBody>
                    <a:bodyPr wrap="square"/>
                    <a:lstStyle/>
                    <a:p>
                      <a:pPr algn="l">
                        <a:lnSpc>
                          <a:spcPct val="100000"/>
                        </a:lnSpc>
                      </a:pPr>
                      <a:r>
                        <a:rPr sz="1150" b="1" i="1">
                          <a:solidFill>
                            <a:srgbClr val="1C2433"/>
                          </a:solidFill>
                          <a:latin typeface="Calibri"/>
                        </a:rPr>
                        <a:t>known at</a:t>
                      </a:r>
                      <a:r>
                        <a:rPr sz="1150" b="1" i="0">
                          <a:solidFill>
                            <a:srgbClr val="1C2433"/>
                          </a:solidFill>
                          <a:latin typeface="Calibri"/>
                        </a:rPr>
                        <a:t> finds nothing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the snapshots of that time were expired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keep more history (</a:t>
                      </a:r>
                      <a:r>
                        <a:rPr sz="1050" b="0" i="0">
                          <a:solidFill>
                            <a:srgbClr val="0E7C86"/>
                          </a:solidFill>
                          <a:latin typeface="Consolas"/>
                        </a:rPr>
                        <a:t>--expire-hours</a:t>
                      </a:r>
                      <a:r>
                        <a:rPr sz="115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98821">
                <a:tc>
                  <a:txBody>
                    <a:bodyPr wrap="square"/>
                    <a:lstStyle/>
                    <a:p>
                      <a:pPr algn="l">
                        <a:lnSpc>
                          <a:spcPct val="100000"/>
                        </a:lnSpc>
                      </a:pPr>
                      <a:r>
                        <a:rPr sz="1150" b="1" i="0">
                          <a:solidFill>
                            <a:srgbClr val="1C2433"/>
                          </a:solidFill>
                          <a:latin typeface="Calibri"/>
                        </a:rPr>
                        <a:t>log: </a:t>
                      </a:r>
                      <a:r>
                        <a:rPr sz="1050" b="1" i="0">
                          <a:solidFill>
                            <a:srgbClr val="0E7C86"/>
                          </a:solidFill>
                          <a:latin typeface="Consolas"/>
                        </a:rPr>
                        <a:t>… does not honour conditional writes … single-writer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the store ignores </a:t>
                      </a:r>
                      <a:r>
                        <a:rPr sz="1050" b="0" i="0">
                          <a:solidFill>
                            <a:srgbClr val="0E7C86"/>
                          </a:solidFill>
                          <a:latin typeface="Consolas"/>
                        </a:rPr>
                        <a:t>If-None-Match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one writer per table, or a REST 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15744">
                <a:tc>
                  <a:txBody>
                    <a:bodyPr wrap="square"/>
                    <a:lstStyle/>
                    <a:p>
                      <a:pPr algn="l">
                        <a:lnSpc>
                          <a:spcPct val="100000"/>
                        </a:lnSpc>
                      </a:pPr>
                      <a:r>
                        <a:rPr sz="1150" b="1" i="0">
                          <a:solidFill>
                            <a:srgbClr val="1C2433"/>
                          </a:solidFill>
                          <a:latin typeface="Calibri"/>
                        </a:rPr>
                        <a:t>loader: </a:t>
                      </a:r>
                      <a:r>
                        <a:rPr sz="1050" b="1" i="0">
                          <a:solidFill>
                            <a:srgbClr val="0E7C86"/>
                          </a:solidFill>
                          <a:latin typeface="Consolas"/>
                        </a:rPr>
                        <a:t>iceberg: the load failed: &lt;why&gt;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the first reason in the failure's chain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fix and load the day again (idempotent)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deploy/ and tools/lake/: the files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117</a:t>
            </a:r>
          </a:p>
        </p:txBody>
      </p:sp>
      <p:sp>
        <p:nvSpPr>
          <p:cNvPr id="10" name="Code block"/>
          <p:cNvSpPr/>
          <p:nvPr/>
        </p:nvSpPr>
        <p:spPr>
          <a:xfrm>
            <a:off x="411480" y="1188720"/>
            <a:ext cx="6675120" cy="292608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521208" y="1252728"/>
            <a:ext cx="6455664" cy="279806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t>
            </a:r>
          </a:p>
          <a:p>
            <a:pPr>
              <a:spcAft>
                <a:spcPts val="0"/>
              </a:spcAft>
              <a:buNone/>
            </a:pPr>
            <a:r>
              <a:rPr sz="1100" b="0" i="0">
                <a:solidFill>
                  <a:srgbClr val="E6EDF3"/>
                </a:solidFill>
                <a:latin typeface="Consolas"/>
              </a:rPr>
              <a:t>├── docker/            compose, server and console Dockerfiles</a:t>
            </a:r>
          </a:p>
          <a:p>
            <a:pPr>
              <a:spcAft>
                <a:spcPts val="0"/>
              </a:spcAft>
              <a:buNone/>
            </a:pPr>
            <a:r>
              <a:rPr sz="1100" b="0" i="0">
                <a:solidFill>
                  <a:srgbClr val="E6EDF3"/>
                </a:solidFill>
                <a:latin typeface="Consolas"/>
              </a:rPr>
              <a:t>│   └── ecs/           server, console, loader images + entry points</a:t>
            </a:r>
          </a:p>
          <a:p>
            <a:pPr>
              <a:spcAft>
                <a:spcPts val="0"/>
              </a:spcAft>
              <a:buNone/>
            </a:pPr>
            <a:r>
              <a:rPr sz="1100" b="0" i="0">
                <a:solidFill>
                  <a:srgbClr val="E6EDF3"/>
                </a:solidFill>
                <a:latin typeface="Consolas"/>
              </a:rPr>
              <a:t>├── aws/</a:t>
            </a:r>
          </a:p>
          <a:p>
            <a:pPr>
              <a:spcAft>
                <a:spcPts val="0"/>
              </a:spcAft>
              <a:buNone/>
            </a:pPr>
            <a:r>
              <a:rPr sz="1100" b="0" i="0">
                <a:solidFill>
                  <a:srgbClr val="E6EDF3"/>
                </a:solidFill>
                <a:latin typeface="Consolas"/>
              </a:rPr>
              <a:t>│   ├── env.example    every setting; copy to deploy/aws/env</a:t>
            </a:r>
          </a:p>
          <a:p>
            <a:pPr>
              <a:spcAft>
                <a:spcPts val="0"/>
              </a:spcAft>
              <a:buNone/>
            </a:pPr>
            <a:r>
              <a:rPr sz="1100" b="0" i="0">
                <a:solidFill>
                  <a:srgbClr val="E6EDF3"/>
                </a:solidFill>
                <a:latin typeface="Consolas"/>
              </a:rPr>
              <a:t>│   ├── lib/common.sh  --help, --dry-run, --env, templates</a:t>
            </a:r>
          </a:p>
          <a:p>
            <a:pPr>
              <a:spcAft>
                <a:spcPts val="0"/>
              </a:spcAft>
              <a:buNone/>
            </a:pPr>
            <a:r>
              <a:rPr sz="1100" b="0" i="0">
                <a:solidFill>
                  <a:srgbClr val="E6EDF3"/>
                </a:solidFill>
                <a:latin typeface="Consolas"/>
              </a:rPr>
              <a:t>│   ├── delta-lake/    setup-buckets, setup-iam,</a:t>
            </a:r>
          </a:p>
          <a:p>
            <a:pPr>
              <a:spcAft>
                <a:spcPts val="0"/>
              </a:spcAft>
              <a:buNone/>
            </a:pPr>
            <a:r>
              <a:rPr sz="1100" b="0" i="0">
                <a:solidFill>
                  <a:srgbClr val="E6EDF3"/>
                </a:solidFill>
                <a:latin typeface="Consolas"/>
              </a:rPr>
              <a:t>│   │                  check-conditional-writes, setup-lifecycle,</a:t>
            </a:r>
          </a:p>
          <a:p>
            <a:pPr>
              <a:spcAft>
                <a:spcPts val="0"/>
              </a:spcAft>
              <a:buNone/>
            </a:pPr>
            <a:r>
              <a:rPr sz="1100" b="0" i="0">
                <a:solidFill>
                  <a:srgbClr val="E6EDF3"/>
                </a:solidFill>
                <a:latin typeface="Consolas"/>
              </a:rPr>
              <a:t>│   │                  setup-alarms, load-day, backfill, maintain,</a:t>
            </a:r>
          </a:p>
          <a:p>
            <a:pPr>
              <a:spcAft>
                <a:spcPts val="0"/>
              </a:spcAft>
              <a:buNone/>
            </a:pPr>
            <a:r>
              <a:rPr sz="1100" b="0" i="0">
                <a:solidFill>
                  <a:srgbClr val="E6EDF3"/>
                </a:solidFill>
                <a:latin typeface="Consolas"/>
              </a:rPr>
              <a:t>│   │                  report, lake-maintenance.s3.yaml, iam/</a:t>
            </a:r>
          </a:p>
          <a:p>
            <a:pPr>
              <a:spcAft>
                <a:spcPts val="0"/>
              </a:spcAft>
              <a:buNone/>
            </a:pPr>
            <a:r>
              <a:rPr sz="1100" b="0" i="0">
                <a:solidFill>
                  <a:srgbClr val="E6EDF3"/>
                </a:solidFill>
                <a:latin typeface="Consolas"/>
              </a:rPr>
              <a:t>│   ├── iceberg/       the same set for Iceberg</a:t>
            </a:r>
          </a:p>
          <a:p>
            <a:pPr>
              <a:spcAft>
                <a:spcPts val="0"/>
              </a:spcAft>
              <a:buNone/>
            </a:pPr>
            <a:r>
              <a:rPr sz="1100" b="0" i="0">
                <a:solidFill>
                  <a:srgbClr val="E6EDF3"/>
                </a:solidFill>
                <a:latin typeface="Consolas"/>
              </a:rPr>
              <a:t>│   └── ecs/           setup-efs, setup-cloud-map, register,</a:t>
            </a:r>
          </a:p>
          <a:p>
            <a:pPr>
              <a:spcAft>
                <a:spcPts val="0"/>
              </a:spcAft>
              <a:buNone/>
            </a:pPr>
            <a:r>
              <a:rPr sz="1100" b="0" i="0">
                <a:solidFill>
                  <a:srgbClr val="E6EDF3"/>
                </a:solidFill>
                <a:latin typeface="Consolas"/>
              </a:rPr>
              <a:t>│                      templates/*.json</a:t>
            </a:r>
          </a:p>
          <a:p>
            <a:pPr>
              <a:spcAft>
                <a:spcPts val="0"/>
              </a:spcAft>
              <a:buNone/>
            </a:pPr>
            <a:r>
              <a:rPr sz="1100" b="0" i="0">
                <a:solidFill>
                  <a:srgbClr val="E6EDF3"/>
                </a:solidFill>
                <a:latin typeface="Consolas"/>
              </a:rPr>
              <a:t>├── grafana/           the Grafana dashboard</a:t>
            </a:r>
          </a:p>
          <a:p>
            <a:pPr>
              <a:spcAft>
                <a:spcPts val="0"/>
              </a:spcAft>
              <a:buNone/>
            </a:pPr>
            <a:r>
              <a:rPr sz="1100" b="0" i="0">
                <a:solidFill>
                  <a:srgbClr val="E6EDF3"/>
                </a:solidFill>
                <a:latin typeface="Consolas"/>
              </a:rPr>
              <a:t>└── lake-maintenance.yaml   lake maintain's local example</a:t>
            </a:r>
          </a:p>
        </p:txBody>
      </p:sp>
      <p:sp>
        <p:nvSpPr>
          <p:cNvPr id="12" name="Code block"/>
          <p:cNvSpPr/>
          <p:nvPr/>
        </p:nvSpPr>
        <p:spPr>
          <a:xfrm>
            <a:off x="7315200" y="1188720"/>
            <a:ext cx="4462272" cy="219456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
          <p:cNvSpPr txBox="1"/>
          <p:nvPr/>
        </p:nvSpPr>
        <p:spPr>
          <a:xfrm>
            <a:off x="7424927" y="1252728"/>
            <a:ext cx="4242816" cy="2066543"/>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tools/lake/</a:t>
            </a:r>
          </a:p>
          <a:p>
            <a:pPr>
              <a:spcAft>
                <a:spcPts val="0"/>
              </a:spcAft>
              <a:buNone/>
            </a:pPr>
            <a:r>
              <a:rPr sz="1100" b="0" i="0">
                <a:solidFill>
                  <a:srgbClr val="E6EDF3"/>
                </a:solidFill>
                <a:latin typeface="Consolas"/>
              </a:rPr>
              <a:t>├── build.py  publish.py  maintain.py</a:t>
            </a:r>
          </a:p>
          <a:p>
            <a:pPr>
              <a:spcAft>
                <a:spcPts val="0"/>
              </a:spcAft>
              <a:buNone/>
            </a:pPr>
            <a:r>
              <a:rPr sz="1100" b="0" i="0">
                <a:solidFill>
                  <a:srgbClr val="E6EDF3"/>
                </a:solidFill>
                <a:latin typeface="Consolas"/>
              </a:rPr>
              <a:t>├── demo.py   stage.py  writers.py</a:t>
            </a:r>
          </a:p>
          <a:p>
            <a:pPr>
              <a:spcAft>
                <a:spcPts val="0"/>
              </a:spcAft>
              <a:buNone/>
            </a:pPr>
            <a:r>
              <a:rPr sz="1100" b="0" i="0">
                <a:solidFill>
                  <a:srgbClr val="E6EDF3"/>
                </a:solidFill>
                <a:latin typeface="Consolas"/>
              </a:rPr>
              <a:t>├── stores.py  stores_equality.py</a:t>
            </a:r>
          </a:p>
          <a:p>
            <a:pPr>
              <a:spcAft>
                <a:spcPts val="0"/>
              </a:spcAft>
              <a:buNone/>
            </a:pPr>
            <a:r>
              <a:rPr sz="1100" b="0" i="0">
                <a:solidFill>
                  <a:srgbClr val="E6EDF3"/>
                </a:solidFill>
                <a:latin typeface="Consolas"/>
              </a:rPr>
              <a:t>├── s3sim.py   javaload.py (--engine java)</a:t>
            </a:r>
          </a:p>
          <a:p>
            <a:pPr>
              <a:spcAft>
                <a:spcPts val="0"/>
              </a:spcAft>
              <a:buNone/>
            </a:pPr>
            <a:r>
              <a:rPr sz="1100" b="0" i="0">
                <a:solidFill>
                  <a:srgbClr val="E6EDF3"/>
                </a:solidFill>
                <a:latin typeface="Consolas"/>
              </a:rPr>
              <a:t>└── test_publish  test_maintain</a:t>
            </a:r>
          </a:p>
          <a:p>
            <a:pPr>
              <a:spcAft>
                <a:spcPts val="0"/>
              </a:spcAft>
              <a:buNone/>
            </a:pPr>
            <a:r>
              <a:rPr sz="1100" b="0" i="0">
                <a:solidFill>
                  <a:srgbClr val="E6EDF3"/>
                </a:solidFill>
                <a:latin typeface="Consolas"/>
              </a:rPr>
              <a:t>    test_s3_simulators  test_vectors</a:t>
            </a:r>
          </a:p>
          <a:p>
            <a:pPr>
              <a:spcAft>
                <a:spcPts val="0"/>
              </a:spcAft>
              <a:buNone/>
            </a:pPr>
            <a:r>
              <a:rPr sz="1100" b="0" i="0">
                <a:solidFill>
                  <a:srgbClr val="E6EDF3"/>
                </a:solidFill>
                <a:latin typeface="Consolas"/>
              </a:rPr>
              <a:t>    test_retention  test_names</a:t>
            </a:r>
          </a:p>
          <a:p>
            <a:pPr>
              <a:spcAft>
                <a:spcPts val="0"/>
              </a:spcAft>
              <a:buNone/>
            </a:pPr>
            <a:r>
              <a:rPr sz="1100" b="0" i="0">
                <a:solidFill>
                  <a:srgbClr val="E6EDF3"/>
                </a:solidFill>
                <a:latin typeface="Consolas"/>
              </a:rPr>
              <a:t>tools/samplegen/load_rows.py</a:t>
            </a:r>
          </a:p>
          <a:p>
            <a:pPr>
              <a:spcAft>
                <a:spcPts val="0"/>
              </a:spcAft>
              <a:buNone/>
            </a:pPr>
            <a:r>
              <a:rPr sz="1100" b="0" i="0">
                <a:solidFill>
                  <a:srgbClr val="E6EDF3"/>
                </a:solidFill>
                <a:latin typeface="Consolas"/>
              </a:rPr>
              <a:t>tools/convertcmd.py   drishti.py convert</a:t>
            </a:r>
          </a:p>
        </p:txBody>
      </p:sp>
      <p:sp>
        <p:nvSpPr>
          <p:cNvPr id="14" name="Callout"/>
          <p:cNvSpPr/>
          <p:nvPr/>
        </p:nvSpPr>
        <p:spPr>
          <a:xfrm>
            <a:off x="7315200" y="3566160"/>
            <a:ext cx="4462272" cy="128016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allout edge"/>
          <p:cNvSpPr/>
          <p:nvPr/>
        </p:nvSpPr>
        <p:spPr>
          <a:xfrm>
            <a:off x="7315200" y="3584448"/>
            <a:ext cx="82296" cy="124358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7543800" y="3639312"/>
            <a:ext cx="4096511" cy="1133856"/>
          </a:xfrm>
          <a:prstGeom prst="rect">
            <a:avLst/>
          </a:prstGeom>
          <a:noFill/>
        </p:spPr>
        <p:txBody>
          <a:bodyPr wrap="square" lIns="0" rIns="0" tIns="0" bIns="0" anchor="ctr">
            <a:spAutoFit/>
          </a:bodyPr>
          <a:lstStyle/>
          <a:p>
            <a:pPr algn="l">
              <a:spcAft>
                <a:spcPts val="600"/>
              </a:spcAft>
              <a:buNone/>
            </a:pPr>
            <a:r>
              <a:rPr sz="1100" b="0" i="0">
                <a:solidFill>
                  <a:srgbClr val="0E7C86"/>
                </a:solidFill>
                <a:latin typeface="Consolas"/>
              </a:rPr>
              <a:t>drishti.py lake publish</a:t>
            </a:r>
            <a:r>
              <a:rPr sz="1200" b="0" i="0">
                <a:solidFill>
                  <a:srgbClr val="1C2433"/>
                </a:solidFill>
                <a:latin typeface="Calibri"/>
              </a:rPr>
              <a:t> (TOOLS.md §4.11) and the S3 tests (§4.12) run in the drill; </a:t>
            </a:r>
            <a:r>
              <a:rPr sz="1100" b="0" i="0">
                <a:solidFill>
                  <a:srgbClr val="0E7C86"/>
                </a:solidFill>
                <a:latin typeface="Consolas"/>
              </a:rPr>
              <a:t>tools/test_deploy_aws.py</a:t>
            </a:r>
            <a:r>
              <a:rPr sz="1200" b="0" i="0">
                <a:solidFill>
                  <a:srgbClr val="1C2433"/>
                </a:solidFill>
                <a:latin typeface="Calibri"/>
              </a:rPr>
              <a:t> runs every script with --help and --dry-run.</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Conventions every script follows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118</a:t>
            </a:r>
          </a:p>
        </p:txBody>
      </p:sp>
      <p:sp>
        <p:nvSpPr>
          <p:cNvPr id="10" name="TextBox 9"/>
          <p:cNvSpPr txBox="1"/>
          <p:nvPr/>
        </p:nvSpPr>
        <p:spPr>
          <a:xfrm>
            <a:off x="411480" y="1188720"/>
            <a:ext cx="11365992" cy="5120640"/>
          </a:xfrm>
          <a:prstGeom prst="rect">
            <a:avLst/>
          </a:prstGeom>
          <a:noFill/>
        </p:spPr>
        <p:txBody>
          <a:bodyPr wrap="square" lIns="0" rIns="0" tIns="0" bIns="0" anchor="t">
            <a:spAutoFit/>
          </a:bodyPr>
          <a:lstStyle/>
          <a:p>
            <a:pPr algn="l" marL="201168" indent="-201168">
              <a:spcAft>
                <a:spcPts val="800"/>
              </a:spcAft>
              <a:buClr>
                <a:srgbClr val="E87A1E"/>
              </a:buClr>
              <a:buSzPct val="100000"/>
              <a:buFont typeface="Arial"/>
              <a:buChar char="•"/>
            </a:pPr>
            <a:r>
              <a:rPr sz="1400" b="0" i="0">
                <a:solidFill>
                  <a:srgbClr val="1C2433"/>
                </a:solidFill>
                <a:latin typeface="Calibri"/>
              </a:rPr>
              <a:t>bash with </a:t>
            </a:r>
            <a:r>
              <a:rPr sz="1300" b="0" i="0">
                <a:solidFill>
                  <a:srgbClr val="0E7C86"/>
                </a:solidFill>
                <a:latin typeface="Consolas"/>
              </a:rPr>
              <a:t>set -euo pipefail</a:t>
            </a:r>
            <a:r>
              <a:rPr sz="1400" b="0" i="0">
                <a:solidFill>
                  <a:srgbClr val="1C2433"/>
                </a:solidFill>
                <a:latin typeface="Calibri"/>
              </a:rPr>
              <a:t> and the licence header</a:t>
            </a:r>
          </a:p>
          <a:p>
            <a:pPr algn="l" marL="201168" indent="-201168">
              <a:spcAft>
                <a:spcPts val="800"/>
              </a:spcAft>
              <a:buClr>
                <a:srgbClr val="E87A1E"/>
              </a:buClr>
              <a:buSzPct val="100000"/>
              <a:buFont typeface="Arial"/>
              <a:buChar char="•"/>
            </a:pPr>
            <a:r>
              <a:rPr sz="1400" b="0" i="0">
                <a:solidFill>
                  <a:srgbClr val="1C2433"/>
                </a:solidFill>
                <a:latin typeface="Calibri"/>
              </a:rPr>
              <a:t>AWS CLI v2 and nothing else; Python only through </a:t>
            </a:r>
            <a:r>
              <a:rPr sz="1300" b="0" i="0">
                <a:solidFill>
                  <a:srgbClr val="0E7C86"/>
                </a:solidFill>
                <a:latin typeface="Consolas"/>
              </a:rPr>
              <a:t>tools/drishti.py</a:t>
            </a:r>
          </a:p>
          <a:p>
            <a:pPr algn="l" marL="201168" indent="-201168">
              <a:spcAft>
                <a:spcPts val="800"/>
              </a:spcAft>
              <a:buClr>
                <a:srgbClr val="E87A1E"/>
              </a:buClr>
              <a:buSzPct val="100000"/>
              <a:buFont typeface="Arial"/>
              <a:buChar char="•"/>
            </a:pPr>
            <a:r>
              <a:rPr sz="1300" b="0" i="0">
                <a:solidFill>
                  <a:srgbClr val="0E7C86"/>
                </a:solidFill>
                <a:latin typeface="Consolas"/>
              </a:rPr>
              <a:t>--help</a:t>
            </a:r>
            <a:r>
              <a:rPr sz="1400" b="0" i="0">
                <a:solidFill>
                  <a:srgbClr val="1C2433"/>
                </a:solidFill>
                <a:latin typeface="Calibri"/>
              </a:rPr>
              <a:t> on every script; </a:t>
            </a:r>
            <a:r>
              <a:rPr sz="1300" b="0" i="0">
                <a:solidFill>
                  <a:srgbClr val="0E7C86"/>
                </a:solidFill>
                <a:latin typeface="Consolas"/>
              </a:rPr>
              <a:t>--dry-run</a:t>
            </a:r>
            <a:r>
              <a:rPr sz="1400" b="0" i="0">
                <a:solidFill>
                  <a:srgbClr val="1C2433"/>
                </a:solidFill>
                <a:latin typeface="Calibri"/>
              </a:rPr>
              <a:t>: each changing call printed as </a:t>
            </a:r>
            <a:r>
              <a:rPr sz="1300" b="0" i="0">
                <a:solidFill>
                  <a:srgbClr val="0E7C86"/>
                </a:solidFill>
                <a:latin typeface="Consolas"/>
              </a:rPr>
              <a:t>+ aws …</a:t>
            </a:r>
            <a:r>
              <a:rPr sz="1400" b="0" i="0">
                <a:solidFill>
                  <a:srgbClr val="1C2433"/>
                </a:solidFill>
                <a:latin typeface="Calibri"/>
              </a:rPr>
              <a:t>, each read as </a:t>
            </a:r>
            <a:r>
              <a:rPr sz="1300" b="0" i="0">
                <a:solidFill>
                  <a:srgbClr val="0E7C86"/>
                </a:solidFill>
                <a:latin typeface="Consolas"/>
              </a:rPr>
              <a:t>? aws …</a:t>
            </a:r>
            <a:r>
              <a:rPr sz="1400" b="0" i="0">
                <a:solidFill>
                  <a:srgbClr val="1C2433"/>
                </a:solidFill>
                <a:latin typeface="Calibri"/>
              </a:rPr>
              <a:t>, none made</a:t>
            </a:r>
          </a:p>
          <a:p>
            <a:pPr algn="l" marL="201168" indent="-201168">
              <a:spcAft>
                <a:spcPts val="800"/>
              </a:spcAft>
              <a:buClr>
                <a:srgbClr val="E87A1E"/>
              </a:buClr>
              <a:buSzPct val="100000"/>
              <a:buFont typeface="Arial"/>
              <a:buChar char="•"/>
            </a:pPr>
            <a:r>
              <a:rPr sz="1400" b="0" i="0">
                <a:solidFill>
                  <a:srgbClr val="1C2433"/>
                </a:solidFill>
                <a:latin typeface="Calibri"/>
              </a:rPr>
              <a:t>Settings from one file: </a:t>
            </a:r>
            <a:r>
              <a:rPr sz="1300" b="0" i="0">
                <a:solidFill>
                  <a:srgbClr val="0E7C86"/>
                </a:solidFill>
                <a:latin typeface="Consolas"/>
              </a:rPr>
              <a:t>deploy/aws/env</a:t>
            </a:r>
            <a:r>
              <a:rPr sz="1400" b="0" i="0">
                <a:solidFill>
                  <a:srgbClr val="1C2433"/>
                </a:solidFill>
                <a:latin typeface="Calibri"/>
              </a:rPr>
              <a:t> (from env.example; placeholders only; git-ignored), or </a:t>
            </a:r>
            <a:r>
              <a:rPr sz="1300" b="0" i="0">
                <a:solidFill>
                  <a:srgbClr val="0E7C86"/>
                </a:solidFill>
                <a:latin typeface="Consolas"/>
              </a:rPr>
              <a:t>--env &lt;file&gt;</a:t>
            </a:r>
          </a:p>
          <a:p>
            <a:pPr algn="l" marL="201168" indent="-201168">
              <a:spcAft>
                <a:spcPts val="800"/>
              </a:spcAft>
              <a:buClr>
                <a:srgbClr val="E87A1E"/>
              </a:buClr>
              <a:buSzPct val="100000"/>
              <a:buFont typeface="Arial"/>
              <a:buChar char="•"/>
            </a:pPr>
            <a:r>
              <a:rPr sz="1400" b="0" i="0">
                <a:solidFill>
                  <a:srgbClr val="1C2433"/>
                </a:solidFill>
                <a:latin typeface="Calibri"/>
              </a:rPr>
              <a:t>Safe to run again (idempotent): buckets, policies, access points and rules are kept and their settings applied again</a:t>
            </a:r>
          </a:p>
          <a:p>
            <a:pPr algn="l" marL="201168" indent="-201168">
              <a:spcAft>
                <a:spcPts val="800"/>
              </a:spcAft>
              <a:buClr>
                <a:srgbClr val="E87A1E"/>
              </a:buClr>
              <a:buSzPct val="100000"/>
              <a:buFont typeface="Arial"/>
              <a:buChar char="•"/>
            </a:pPr>
            <a:r>
              <a:rPr sz="1400" b="0" i="0">
                <a:solidFill>
                  <a:srgbClr val="1C2433"/>
                </a:solidFill>
                <a:latin typeface="Calibri"/>
              </a:rPr>
              <a:t>A placeholder left stops the script and names it</a:t>
            </a:r>
          </a:p>
          <a:p>
            <a:pPr algn="l" marL="201168" indent="-201168">
              <a:spcAft>
                <a:spcPts val="800"/>
              </a:spcAft>
              <a:buClr>
                <a:srgbClr val="E87A1E"/>
              </a:buClr>
              <a:buSzPct val="100000"/>
              <a:buFont typeface="Arial"/>
              <a:buChar char="•"/>
            </a:pPr>
            <a:r>
              <a:rPr sz="1400" b="0" i="0">
                <a:solidFill>
                  <a:srgbClr val="1C2433"/>
                </a:solidFill>
                <a:latin typeface="Calibri"/>
              </a:rPr>
              <a:t>Locks: load, backfill and maintenance take the table's flock on EFS; a held lock exits 3</a:t>
            </a:r>
          </a:p>
          <a:p>
            <a:pPr algn="l" marL="201168" indent="-201168">
              <a:spcAft>
                <a:spcPts val="800"/>
              </a:spcAft>
              <a:buClr>
                <a:srgbClr val="E87A1E"/>
              </a:buClr>
              <a:buSzPct val="100000"/>
              <a:buFont typeface="Arial"/>
              <a:buChar char="•"/>
            </a:pPr>
            <a:r>
              <a:rPr sz="1400" b="0" i="0">
                <a:solidFill>
                  <a:srgbClr val="1C2433"/>
                </a:solidFill>
                <a:latin typeface="Calibri"/>
              </a:rPr>
              <a:t>Data in is JSON Lines; a CSV source is converted first with </a:t>
            </a:r>
            <a:r>
              <a:rPr sz="1300" b="0" i="0">
                <a:solidFill>
                  <a:srgbClr val="0E7C86"/>
                </a:solidFill>
                <a:latin typeface="Consolas"/>
              </a:rPr>
              <a:t>drishti.py convert</a:t>
            </a:r>
          </a:p>
          <a:p>
            <a:pPr algn="l" marL="201168" indent="-201168">
              <a:spcAft>
                <a:spcPts val="800"/>
              </a:spcAft>
              <a:buClr>
                <a:srgbClr val="E87A1E"/>
              </a:buClr>
              <a:buSzPct val="100000"/>
              <a:buFont typeface="Arial"/>
              <a:buChar char="•"/>
            </a:pPr>
            <a:r>
              <a:rPr sz="1400" b="0" i="0">
                <a:solidFill>
                  <a:srgbClr val="1C2433"/>
                </a:solidFill>
                <a:latin typeface="Calibri"/>
              </a:rPr>
              <a:t>Tested: </a:t>
            </a:r>
            <a:r>
              <a:rPr sz="1300" b="0" i="0">
                <a:solidFill>
                  <a:srgbClr val="0E7C86"/>
                </a:solidFill>
                <a:latin typeface="Consolas"/>
              </a:rPr>
              <a:t>tools/test_deploy_aws.py</a:t>
            </a:r>
            <a:r>
              <a:rPr sz="1400" b="0" i="0">
                <a:solidFill>
                  <a:srgbClr val="1C2433"/>
                </a:solidFill>
                <a:latin typeface="Calibri"/>
              </a:rPr>
              <a:t> (every script with --help and --dry-run against a fake settings file and an aws that fails if called; every template rendered; lifecycle rules; env git-ignored); </a:t>
            </a:r>
            <a:r>
              <a:rPr sz="1300" b="0" i="0">
                <a:solidFill>
                  <a:srgbClr val="0E7C86"/>
                </a:solidFill>
                <a:latin typeface="Consolas"/>
              </a:rPr>
              <a:t>test_publish.py</a:t>
            </a:r>
            <a:r>
              <a:rPr sz="1400" b="0" i="0">
                <a:solidFill>
                  <a:srgbClr val="1C2433"/>
                </a:solidFill>
                <a:latin typeface="Calibri"/>
              </a:rPr>
              <a:t> and the S3 simulator tests run in the drill</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How the numbers were derived (1/3)</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119</a:t>
            </a:r>
          </a:p>
        </p:txBody>
      </p:sp>
      <p:graphicFrame>
        <p:nvGraphicFramePr>
          <p:cNvPr id="10" name="Table"/>
          <p:cNvGraphicFramePr>
            <a:graphicFrameLocks noGrp="1"/>
          </p:cNvGraphicFramePr>
          <p:nvPr/>
        </p:nvGraphicFramePr>
        <p:xfrm>
          <a:off x="411480" y="1143000"/>
          <a:ext cx="11365992" cy="4352544"/>
        </p:xfrm>
        <a:graphic>
          <a:graphicData uri="http://schemas.openxmlformats.org/drawingml/2006/table">
            <a:tbl>
              <a:tblPr firstRow="0" bandRow="0">
                <a:tableStyleId>{5940675A-B579-460E-94D1-54222C63F5DA}</a:tableStyleId>
              </a:tblPr>
              <a:tblGrid>
                <a:gridCol w="2743200"/>
                <a:gridCol w="548640"/>
                <a:gridCol w="8074152"/>
              </a:tblGrid>
              <a:tr h="621792">
                <a:tc>
                  <a:txBody>
                    <a:bodyPr wrap="square"/>
                    <a:lstStyle/>
                    <a:p>
                      <a:r>
                        <a:rPr sz="1100" b="1" i="0">
                          <a:solidFill>
                            <a:srgbClr val="FFFFFF"/>
                          </a:solidFill>
                          <a:latin typeface="Calibri"/>
                        </a:rPr>
                        <a:t>Slide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How it was arrived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621792">
                <a:tc>
                  <a:txBody>
                    <a:bodyPr wrap="square"/>
                    <a:lstStyle/>
                    <a:p>
                      <a:r>
                        <a:rPr sz="1100" b="1" i="0">
                          <a:solidFill>
                            <a:srgbClr val="1C2433"/>
                          </a:solidFill>
                          <a:latin typeface="Calibri"/>
                        </a:rPr>
                        <a:t>2: Executive summary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1</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10 TB × USD 23 + 46 TB × 12.5 + 144 TB × 4 a TB-month = USD 1,381; the tier split by business date and the S3 list prices (one Region) from AWS_DELTA_LAKE.md 12.3; EFS: 200,000 GB × USD 0.30 a GB-month (EFS Standard list price) = USD 60,000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21792">
                <a:tc>
                  <a:txBody>
                    <a:bodyPr wrap="square"/>
                    <a:lstStyle/>
                    <a:p>
                      <a:r>
                        <a:rPr sz="1100" b="1" i="0">
                          <a:solidFill>
                            <a:srgbClr val="1C2433"/>
                          </a:solidFill>
                          <a:latin typeface="Calibri"/>
                        </a:rPr>
                        <a:t>2: Executive summary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2,300,000 positions × 509 scenarios × 8 B = 9.37 GB a date (float64; × 4 B = 4.68 GB float32); positions: the product owner's bank scale; 509: the scenario set (VAR_GUIDE.md). 9.37 GB × 0.75 (Parquet against raw, VAR_GUIDE.md 27.4: 'about 70–80 % of raw') = 7.02 GB a date; × 252 business dates = 1.77 TB a year; × 1,764 dates (7 years) = 12.4 TB; ESTIMATED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21792">
                <a:tc>
                  <a:txBody>
                    <a:bodyPr wrap="square"/>
                    <a:lstStyle/>
                    <a:p>
                      <a:r>
                        <a:rPr sz="1100" b="1" i="0">
                          <a:solidFill>
                            <a:srgbClr val="1C2433"/>
                          </a:solidFill>
                          <a:latin typeface="Calibri"/>
                        </a:rPr>
                        <a:t>6: Why S3 and not EFS: the comparison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1</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10 TB × USD 23 + 46 TB × 12.5 + 144 TB × 4 a TB-month = USD 1,381; the tier split by business date and the S3 list prices (one Region) from AWS_DELTA_LAKE.md 12.3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21792">
                <a:tc>
                  <a:txBody>
                    <a:bodyPr wrap="square"/>
                    <a:lstStyle/>
                    <a:p>
                      <a:r>
                        <a:rPr sz="1100" b="1" i="0">
                          <a:solidFill>
                            <a:srgbClr val="1C2433"/>
                          </a:solidFill>
                          <a:latin typeface="Calibri"/>
                        </a:rPr>
                        <a:t>6: Why S3 and not EFS: the comparison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AWS_DELTA_LAKE.md §2's figure for EFS Infrequent Access; it implies USD 0.016 a GB-month over 200,000 GB; to be confirmed against the current EFS price list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21792">
                <a:tc>
                  <a:txBody>
                    <a:bodyPr wrap="square"/>
                    <a:lstStyle/>
                    <a:p>
                      <a:r>
                        <a:rPr sz="1100" b="1" i="0">
                          <a:solidFill>
                            <a:srgbClr val="1C2433"/>
                          </a:solidFill>
                          <a:latin typeface="Calibri"/>
                        </a:rPr>
                        <a:t>52: Exposure paths: the large table, and what is kept for 7 years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1</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trades × P paths × G grid dates × 4 B: 1,000,000 × 2,000 × 50 × 4 = 400 GB; × 5,000 × 100 = 2.0 TB; float64 doubles them; 100,000 sets × P × G × 4 B for the V matrices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21792">
                <a:tc>
                  <a:txBody>
                    <a:bodyPr wrap="square"/>
                    <a:lstStyle/>
                    <a:p>
                      <a:r>
                        <a:rPr sz="1100" b="1" i="0">
                          <a:solidFill>
                            <a:srgbClr val="1C2433"/>
                          </a:solidFill>
                          <a:latin typeface="Calibri"/>
                        </a:rPr>
                        <a:t>52: Exposure paths: the large table, and what is kept for 7 years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2.0 TB × 1,764 dates = 3.53 PB; kept tiers (EXPOSURE_GUIDE.md 27.3): 32 dates × 2.0 TB = 64 TB + 50 TB (a year of set matrices) + 17 TB (84 month-ends) + 0.85 TB (statistics, contributions, captures) = 132 TB; the guide says about 150 TB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How the numbers were derived (2/3)</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120</a:t>
            </a:r>
          </a:p>
        </p:txBody>
      </p:sp>
      <p:graphicFrame>
        <p:nvGraphicFramePr>
          <p:cNvPr id="10" name="Table"/>
          <p:cNvGraphicFramePr>
            <a:graphicFrameLocks noGrp="1"/>
          </p:cNvGraphicFramePr>
          <p:nvPr/>
        </p:nvGraphicFramePr>
        <p:xfrm>
          <a:off x="411480" y="1143000"/>
          <a:ext cx="11365992" cy="4352544"/>
        </p:xfrm>
        <a:graphic>
          <a:graphicData uri="http://schemas.openxmlformats.org/drawingml/2006/table">
            <a:tbl>
              <a:tblPr firstRow="0" bandRow="0">
                <a:tableStyleId>{5940675A-B579-460E-94D1-54222C63F5DA}</a:tableStyleId>
              </a:tblPr>
              <a:tblGrid>
                <a:gridCol w="2743200"/>
                <a:gridCol w="548640"/>
                <a:gridCol w="8074152"/>
              </a:tblGrid>
              <a:tr h="621792">
                <a:tc>
                  <a:txBody>
                    <a:bodyPr wrap="square"/>
                    <a:lstStyle/>
                    <a:p>
                      <a:r>
                        <a:rPr sz="1100" b="1" i="0">
                          <a:solidFill>
                            <a:srgbClr val="FFFFFF"/>
                          </a:solidFill>
                          <a:latin typeface="Calibri"/>
                        </a:rPr>
                        <a:t>Slide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How it was arrived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621792">
                <a:tc>
                  <a:txBody>
                    <a:bodyPr wrap="square"/>
                    <a:lstStyle/>
                    <a:p>
                      <a:r>
                        <a:rPr sz="1100" b="1" i="0">
                          <a:solidFill>
                            <a:srgbClr val="1C2433"/>
                          </a:solidFill>
                          <a:latin typeface="Calibri"/>
                        </a:rPr>
                        <a:t>60: What 2.3 million positions put in the lake each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1</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2,300,000 positions × 509 scenarios × 8 B = 9.37 GB a date (float64; × 4 B = 4.68 GB float32); positions: the product owner's bank scale; 509: the scenario set (VAR_GUIDE.md)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21792">
                <a:tc>
                  <a:txBody>
                    <a:bodyPr wrap="square"/>
                    <a:lstStyle/>
                    <a:p>
                      <a:r>
                        <a:rPr sz="1100" b="1" i="0">
                          <a:solidFill>
                            <a:srgbClr val="1C2433"/>
                          </a:solidFill>
                          <a:latin typeface="Calibri"/>
                        </a:rPr>
                        <a:t>60: What 2.3 million positions put in the lake each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9.37 GB × 0.75 (Parquet against raw, VAR_GUIDE.md 27.4: 'about 70–80 % of raw') = 7.02 GB a date; × 252 business dates = 1.77 TB a year; × 1,764 dates (7 years) = 12.4 TB; ESTIMATED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21792">
                <a:tc>
                  <a:txBody>
                    <a:bodyPr wrap="square"/>
                    <a:lstStyle/>
                    <a:p>
                      <a:r>
                        <a:rPr sz="1100" b="1" i="0">
                          <a:solidFill>
                            <a:srgbClr val="1C2433"/>
                          </a:solidFill>
                          <a:latin typeface="Calibri"/>
                        </a:rPr>
                        <a:t>60: What 2.3 million positions put in the lake each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7.02 GB ÷ 0.512 GB = 13.7; ÷ 0.25 GB = 28.1</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21792">
                <a:tc>
                  <a:txBody>
                    <a:bodyPr wrap="square"/>
                    <a:lstStyle/>
                    <a:p>
                      <a:r>
                        <a:rPr sz="1100" b="1" i="0">
                          <a:solidFill>
                            <a:srgbClr val="1C2433"/>
                          </a:solidFill>
                          <a:latin typeface="Calibri"/>
                        </a:rPr>
                        <a:t>60: What 2.3 million positions put in the lake each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7.02 GB ÷ 1 MB = 7,024 ranged GETs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21792">
                <a:tc>
                  <a:txBody>
                    <a:bodyPr wrap="square"/>
                    <a:lstStyle/>
                    <a:p>
                      <a:r>
                        <a:rPr sz="1100" b="1" i="0">
                          <a:solidFill>
                            <a:srgbClr val="1C2433"/>
                          </a:solidFill>
                          <a:latin typeface="Calibri"/>
                        </a:rPr>
                        <a:t>60: What 2.3 million positions put in the lake each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15,000 × 509 × 8 B = 61.1 MB a date a currency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21792">
                <a:tc>
                  <a:txBody>
                    <a:bodyPr wrap="square"/>
                    <a:lstStyle/>
                    <a:p>
                      <a:r>
                        <a:rPr sz="1100" b="1" i="0">
                          <a:solidFill>
                            <a:srgbClr val="1C2433"/>
                          </a:solidFill>
                          <a:latin typeface="Calibri"/>
                        </a:rPr>
                        <a:t>63: Reading one VaR date at bank scale: lake, hot file, memory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1</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guide's 10–40 s for a pass over about 4 GB of Parquet × 7.02 ÷ 4 = 18–70 s (VAR_GUIDE.md 27.4); ESTIMATED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How the numbers were derived (3/3)</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121</a:t>
            </a:r>
          </a:p>
        </p:txBody>
      </p:sp>
      <p:graphicFrame>
        <p:nvGraphicFramePr>
          <p:cNvPr id="10" name="Table"/>
          <p:cNvGraphicFramePr>
            <a:graphicFrameLocks noGrp="1"/>
          </p:cNvGraphicFramePr>
          <p:nvPr/>
        </p:nvGraphicFramePr>
        <p:xfrm>
          <a:off x="411480" y="1143000"/>
          <a:ext cx="11365992" cy="3730752"/>
        </p:xfrm>
        <a:graphic>
          <a:graphicData uri="http://schemas.openxmlformats.org/drawingml/2006/table">
            <a:tbl>
              <a:tblPr firstRow="0" bandRow="0">
                <a:tableStyleId>{5940675A-B579-460E-94D1-54222C63F5DA}</a:tableStyleId>
              </a:tblPr>
              <a:tblGrid>
                <a:gridCol w="2743200"/>
                <a:gridCol w="548640"/>
                <a:gridCol w="8074152"/>
              </a:tblGrid>
              <a:tr h="621792">
                <a:tc>
                  <a:txBody>
                    <a:bodyPr wrap="square"/>
                    <a:lstStyle/>
                    <a:p>
                      <a:r>
                        <a:rPr sz="1100" b="1" i="0">
                          <a:solidFill>
                            <a:srgbClr val="FFFFFF"/>
                          </a:solidFill>
                          <a:latin typeface="Calibri"/>
                        </a:rPr>
                        <a:t>Slide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How it was arrived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621792">
                <a:tc>
                  <a:txBody>
                    <a:bodyPr wrap="square"/>
                    <a:lstStyle/>
                    <a:p>
                      <a:r>
                        <a:rPr sz="1100" b="1" i="0">
                          <a:solidFill>
                            <a:srgbClr val="1C2433"/>
                          </a:solidFill>
                          <a:latin typeface="Calibri"/>
                        </a:rPr>
                        <a:t>63: Reading one VaR date at bank scale: lake, hot file, memory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 23 = 2,300,000 ÷ 100,000: linear from VarTierBenchmark, measured at 100,000 trades × 5 dates on one workstation (VAR_GUIDE.md 27.3): 237.7 MB × 23 = 5.47 GB; × 60 disk-dates = 328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21792">
                <a:tc>
                  <a:txBody>
                    <a:bodyPr wrap="square"/>
                    <a:lstStyle/>
                    <a:p>
                      <a:r>
                        <a:rPr sz="1100" b="1" i="0">
                          <a:solidFill>
                            <a:srgbClr val="1C2433"/>
                          </a:solidFill>
                          <a:latin typeface="Calibri"/>
                        </a:rPr>
                        <a:t>63: Reading one VaR date at bank scale: lake, hot file, memory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80 MB × 23 = 1.84 GB; whole bank 4.68 GB float32 ÷ 60 GB/s (measured rate) = 78 ms; ÷ 3 GB/s NVMe (assumed, the VaR deck's figure) = 1.6 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21792">
                <a:tc>
                  <a:txBody>
                    <a:bodyPr wrap="square"/>
                    <a:lstStyle/>
                    <a:p>
                      <a:r>
                        <a:rPr sz="1100" b="1" i="0">
                          <a:solidFill>
                            <a:srgbClr val="1C2433"/>
                          </a:solidFill>
                          <a:latin typeface="Calibri"/>
                        </a:rPr>
                        <a:t>86: Monthly cost: Delta, and what changes with 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1</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10 TB × USD 23 + 46 TB × 12.5 + 144 TB × 4 a TB-month = USD 1,381; the tier split by business date and the S3 list prices (one Region) from AWS_DELTA_LAKE.md 12.3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21792">
                <a:tc>
                  <a:txBody>
                    <a:bodyPr wrap="square"/>
                    <a:lstStyle/>
                    <a:p>
                      <a:r>
                        <a:rPr sz="1100" b="1" i="0">
                          <a:solidFill>
                            <a:srgbClr val="1C2433"/>
                          </a:solidFill>
                          <a:latin typeface="Calibri"/>
                        </a:rPr>
                        <a:t>86: Monthly cost: Delta, and what changes with 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250 reads/s × 2 GETs × 2,592,000 s = 1.30 billion GETs × USD 0.40 a million = USD 518, plus loads and lists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21792">
                <a:tc>
                  <a:txBody>
                    <a:bodyPr wrap="square"/>
                    <a:lstStyle/>
                    <a:p>
                      <a:r>
                        <a:rPr sz="1100" b="1" i="0">
                          <a:solidFill>
                            <a:srgbClr val="1C2433"/>
                          </a:solidFill>
                          <a:latin typeface="Calibri"/>
                        </a:rPr>
                        <a:t>86: Monthly cost: Delta, and what changes with 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3 tasks × (6 vCPU × USD 0.04048 + 16 GB × USD 0.004445) × 730 h = USD 688 (Fargate list prices, us-east-1, Linux/x86; the Region is an assumption)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Glossary</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appendix</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122</a:t>
            </a:r>
          </a:p>
        </p:txBody>
      </p:sp>
      <p:graphicFrame>
        <p:nvGraphicFramePr>
          <p:cNvPr id="10" name="Table"/>
          <p:cNvGraphicFramePr>
            <a:graphicFrameLocks noGrp="1"/>
          </p:cNvGraphicFramePr>
          <p:nvPr/>
        </p:nvGraphicFramePr>
        <p:xfrm>
          <a:off x="411480" y="1143000"/>
          <a:ext cx="5586984" cy="4773168"/>
        </p:xfrm>
        <a:graphic>
          <a:graphicData uri="http://schemas.openxmlformats.org/drawingml/2006/table">
            <a:tbl>
              <a:tblPr firstRow="0" bandRow="0">
                <a:tableStyleId>{5940675A-B579-460E-94D1-54222C63F5DA}</a:tableStyleId>
              </a:tblPr>
              <a:tblGrid>
                <a:gridCol w="1737360"/>
                <a:gridCol w="3849624"/>
              </a:tblGrid>
              <a:tr h="530352">
                <a:tc>
                  <a:txBody>
                    <a:bodyPr wrap="square"/>
                    <a:lstStyle/>
                    <a:p>
                      <a:r>
                        <a:rPr sz="1100" b="1" i="0">
                          <a:solidFill>
                            <a:srgbClr val="FFFFFF"/>
                          </a:solidFill>
                          <a:latin typeface="Calibri"/>
                        </a:rPr>
                        <a:t>Term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Meaning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30352">
                <a:tc>
                  <a:txBody>
                    <a:bodyPr wrap="square"/>
                    <a:lstStyle/>
                    <a:p>
                      <a:r>
                        <a:rPr sz="1100" b="1" i="0">
                          <a:solidFill>
                            <a:srgbClr val="1C2433"/>
                          </a:solidFill>
                          <a:latin typeface="Calibri"/>
                        </a:rPr>
                        <a:t>Delta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 table format: Parquet data files plus </a:t>
                      </a:r>
                      <a:r>
                        <a:rPr sz="1100" b="0" i="0">
                          <a:solidFill>
                            <a:srgbClr val="0E7C86"/>
                          </a:solidFill>
                          <a:latin typeface="Consolas"/>
                        </a:rPr>
                        <a:t>_delta_log/</a:t>
                      </a:r>
                      <a:r>
                        <a:rPr sz="1100" b="0" i="0">
                          <a:solidFill>
                            <a:srgbClr val="1C2433"/>
                          </a:solidFill>
                          <a:latin typeface="Calibri"/>
                        </a:rPr>
                        <a:t>, an ordered log of JSON commits and Parquet checkpoints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30352">
                <a:tc>
                  <a:txBody>
                    <a:bodyPr wrap="square"/>
                    <a:lstStyle/>
                    <a:p>
                      <a:r>
                        <a:rPr sz="1100" b="1" i="0">
                          <a:solidFill>
                            <a:srgbClr val="1C2433"/>
                          </a:solidFill>
                          <a:latin typeface="Calibri"/>
                        </a:rPr>
                        <a:t>Apache 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 table format: Parquet data files plus </a:t>
                      </a:r>
                      <a:r>
                        <a:rPr sz="1100" b="0" i="0">
                          <a:solidFill>
                            <a:srgbClr val="0E7C86"/>
                          </a:solidFill>
                          <a:latin typeface="Consolas"/>
                        </a:rPr>
                        <a:t>metadata/</a:t>
                      </a:r>
                      <a:r>
                        <a:rPr sz="1100" b="0" i="0">
                          <a:solidFill>
                            <a:srgbClr val="1C2433"/>
                          </a:solidFill>
                          <a:latin typeface="Calibri"/>
                        </a:rPr>
                        <a:t>: a metadata JSON, a manifest list per snapshot, manifests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30352">
                <a:tc>
                  <a:txBody>
                    <a:bodyPr wrap="square"/>
                    <a:lstStyle/>
                    <a:p>
                      <a:r>
                        <a:rPr sz="1100" b="1" i="0">
                          <a:solidFill>
                            <a:srgbClr val="1C2433"/>
                          </a:solidFill>
                          <a:latin typeface="Calibri"/>
                        </a:rPr>
                        <a:t>Snapshot / version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table as one commit left it; time travel reads an earlier one until expiry or vacuum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30352">
                <a:tc>
                  <a:txBody>
                    <a:bodyPr wrap="square"/>
                    <a:lstStyle/>
                    <a:p>
                      <a:r>
                        <a:rPr sz="1100" b="1" i="0">
                          <a:solidFill>
                            <a:srgbClr val="1C2433"/>
                          </a:solidFill>
                          <a:latin typeface="Calibri"/>
                        </a:rPr>
                        <a:t>Catalog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where an engine finds a table's current metadata: path-based (</a:t>
                      </a:r>
                      <a:r>
                        <a:rPr sz="1100" b="0" i="0">
                          <a:solidFill>
                            <a:srgbClr val="0E7C86"/>
                          </a:solidFill>
                          <a:latin typeface="Consolas"/>
                        </a:rPr>
                        <a:t>version-hint.text</a:t>
                      </a:r>
                      <a:r>
                        <a:rPr sz="1100" b="0" i="0">
                          <a:solidFill>
                            <a:srgbClr val="1C2433"/>
                          </a:solidFill>
                          <a:latin typeface="Calibri"/>
                        </a:rPr>
                        <a:t>) or a REST service (Glue, Polaris)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30352">
                <a:tc>
                  <a:txBody>
                    <a:bodyPr wrap="square"/>
                    <a:lstStyle/>
                    <a:p>
                      <a:r>
                        <a:rPr sz="1100" b="1" i="0">
                          <a:solidFill>
                            <a:srgbClr val="1C2433"/>
                          </a:solidFill>
                          <a:latin typeface="Calibri"/>
                        </a:rPr>
                        <a:t>Conditional PUT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an S3 create with </a:t>
                      </a:r>
                      <a:r>
                        <a:rPr sz="1100" b="0" i="0">
                          <a:solidFill>
                            <a:srgbClr val="0E7C86"/>
                          </a:solidFill>
                          <a:latin typeface="Consolas"/>
                        </a:rPr>
                        <a:t>If-None-Match: *</a:t>
                      </a:r>
                      <a:r>
                        <a:rPr sz="1100" b="0" i="0">
                          <a:solidFill>
                            <a:srgbClr val="1C2433"/>
                          </a:solidFill>
                          <a:latin typeface="Calibri"/>
                        </a:rPr>
                        <a:t>: a second create of the same key is refused (412); commits rely on 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30352">
                <a:tc>
                  <a:txBody>
                    <a:bodyPr wrap="square"/>
                    <a:lstStyle/>
                    <a:p>
                      <a:r>
                        <a:rPr sz="1100" b="1" i="1">
                          <a:solidFill>
                            <a:srgbClr val="1C2433"/>
                          </a:solidFill>
                          <a:latin typeface="Calibri"/>
                        </a:rPr>
                        <a:t>Known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 view as the data stood at an instant (</a:t>
                      </a:r>
                      <a:r>
                        <a:rPr sz="1100" b="0" i="0">
                          <a:solidFill>
                            <a:srgbClr val="0E7C86"/>
                          </a:solidFill>
                          <a:latin typeface="Consolas"/>
                        </a:rPr>
                        <a:t>X-Drishti-Known-At</a:t>
                      </a:r>
                      <a:r>
                        <a:rPr sz="1100" b="0" i="0">
                          <a:solidFill>
                            <a:srgbClr val="1C2433"/>
                          </a:solidFill>
                          <a:latin typeface="Calibri"/>
                        </a:rPr>
                        <a:t>, </a:t>
                      </a:r>
                      <a:r>
                        <a:rPr sz="1100" b="0" i="0">
                          <a:solidFill>
                            <a:srgbClr val="0E7C86"/>
                          </a:solidFill>
                          <a:latin typeface="Consolas"/>
                        </a:rPr>
                        <a:t>knownAt</a:t>
                      </a:r>
                      <a:r>
                        <a:rPr sz="1100" b="0" i="0">
                          <a:solidFill>
                            <a:srgbClr val="1C2433"/>
                          </a:solidFill>
                          <a:latin typeface="Calibri"/>
                        </a:rPr>
                        <a:t>), read through time travel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30352">
                <a:tc>
                  <a:txBody>
                    <a:bodyPr wrap="square"/>
                    <a:lstStyle/>
                    <a:p>
                      <a:r>
                        <a:rPr sz="1100" b="1" i="0">
                          <a:solidFill>
                            <a:srgbClr val="1C2433"/>
                          </a:solidFill>
                          <a:latin typeface="Calibri"/>
                        </a:rPr>
                        <a:t>Promoted column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 field copied out of the document into a column so searches, lists and BI never read documents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30352">
                <a:tc>
                  <a:txBody>
                    <a:bodyPr wrap="square"/>
                    <a:lstStyle/>
                    <a:p>
                      <a:r>
                        <a:rPr sz="1100" b="1" i="0">
                          <a:solidFill>
                            <a:srgbClr val="1C2433"/>
                          </a:solidFill>
                          <a:latin typeface="Calibri"/>
                        </a:rPr>
                        <a:t>Vector column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list&lt;double&gt;</a:t>
                      </a:r>
                      <a:r>
                        <a:rPr sz="1100" b="0" i="0">
                          <a:solidFill>
                            <a:srgbClr val="1C2433"/>
                          </a:solidFill>
                          <a:latin typeface="Calibri"/>
                        </a:rPr>
                        <a:t>: a trade's P&amp;L over the scenarios, its scenario PVs, or an exposure path, in one column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graphicFrame>
        <p:nvGraphicFramePr>
          <p:cNvPr id="11" name="Table"/>
          <p:cNvGraphicFramePr>
            <a:graphicFrameLocks noGrp="1"/>
          </p:cNvGraphicFramePr>
          <p:nvPr/>
        </p:nvGraphicFramePr>
        <p:xfrm>
          <a:off x="6190488" y="1143000"/>
          <a:ext cx="5586984" cy="4773168"/>
        </p:xfrm>
        <a:graphic>
          <a:graphicData uri="http://schemas.openxmlformats.org/drawingml/2006/table">
            <a:tbl>
              <a:tblPr firstRow="0" bandRow="0">
                <a:tableStyleId>{5940675A-B579-460E-94D1-54222C63F5DA}</a:tableStyleId>
              </a:tblPr>
              <a:tblGrid>
                <a:gridCol w="1737360"/>
                <a:gridCol w="3849624"/>
              </a:tblGrid>
              <a:tr h="530352">
                <a:tc>
                  <a:txBody>
                    <a:bodyPr wrap="square"/>
                    <a:lstStyle/>
                    <a:p>
                      <a:r>
                        <a:rPr sz="1100" b="1" i="0">
                          <a:solidFill>
                            <a:srgbClr val="FFFFFF"/>
                          </a:solidFill>
                          <a:latin typeface="Calibri"/>
                        </a:rPr>
                        <a:t>Term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Meaning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30352">
                <a:tc>
                  <a:txBody>
                    <a:bodyPr wrap="square"/>
                    <a:lstStyle/>
                    <a:p>
                      <a:r>
                        <a:rPr sz="1100" b="1" i="0">
                          <a:solidFill>
                            <a:srgbClr val="1C2433"/>
                          </a:solidFill>
                          <a:latin typeface="Calibri"/>
                        </a:rPr>
                        <a:t>Id map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per-day map from an entity's id to its file and row group; on disk, memory-mapped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30352">
                <a:tc>
                  <a:txBody>
                    <a:bodyPr wrap="square"/>
                    <a:lstStyle/>
                    <a:p>
                      <a:r>
                        <a:rPr sz="1100" b="1" i="0">
                          <a:solidFill>
                            <a:srgbClr val="1C2433"/>
                          </a:solidFill>
                          <a:latin typeface="Calibri"/>
                        </a:rPr>
                        <a:t>Hot file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 VaR or exposure date in memory-mapped float32 form on local disk, rebuilt from the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30352">
                <a:tc>
                  <a:txBody>
                    <a:bodyPr wrap="square"/>
                    <a:lstStyle/>
                    <a:p>
                      <a:r>
                        <a:rPr sz="1100" b="1" i="0">
                          <a:solidFill>
                            <a:srgbClr val="1C2433"/>
                          </a:solidFill>
                          <a:latin typeface="Calibri"/>
                        </a:rPr>
                        <a:t>Landing bucket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where the sources drop their JSON Lines dumps, by date and source, for 30 days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30352">
                <a:tc>
                  <a:txBody>
                    <a:bodyPr wrap="square"/>
                    <a:lstStyle/>
                    <a:p>
                      <a:r>
                        <a:rPr sz="1100" b="1" i="0">
                          <a:solidFill>
                            <a:srgbClr val="1C2433"/>
                          </a:solidFill>
                          <a:latin typeface="Calibri"/>
                        </a:rPr>
                        <a:t>lake build / publish / maintain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lake tools: JSON Lines to a table; a built day committed into S3; retention, checkpoints, vacuum, relayout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30352">
                <a:tc>
                  <a:txBody>
                    <a:bodyPr wrap="square"/>
                    <a:lstStyle/>
                    <a:p>
                      <a:r>
                        <a:rPr sz="1100" b="1" i="0">
                          <a:solidFill>
                            <a:srgbClr val="1C2433"/>
                          </a:solidFill>
                          <a:latin typeface="Calibri"/>
                        </a:rPr>
                        <a:t>IcebergLoader / IcebergMaintenance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Drishti's Java loader and maintenance for Iceberg tables, in the server's exec jar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30352">
                <a:tc>
                  <a:txBody>
                    <a:bodyPr wrap="square"/>
                    <a:lstStyle/>
                    <a:p>
                      <a:r>
                        <a:rPr sz="1100" b="1" i="0">
                          <a:solidFill>
                            <a:srgbClr val="1C2433"/>
                          </a:solidFill>
                          <a:latin typeface="Calibri"/>
                        </a:rPr>
                        <a:t>Retention floor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7 years the </a:t>
                      </a:r>
                      <a:r>
                        <a:rPr sz="1100" b="0" i="0">
                          <a:solidFill>
                            <a:srgbClr val="0E7C86"/>
                          </a:solidFill>
                          <a:latin typeface="Consolas"/>
                        </a:rPr>
                        <a:t>risk</a:t>
                      </a:r>
                      <a:r>
                        <a:rPr sz="1100" b="0" i="0">
                          <a:solidFill>
                            <a:srgbClr val="1C2433"/>
                          </a:solidFill>
                          <a:latin typeface="Calibri"/>
                        </a:rPr>
                        <a:t> and </a:t>
                      </a:r>
                      <a:r>
                        <a:rPr sz="1100" b="0" i="0">
                          <a:solidFill>
                            <a:srgbClr val="0E7C86"/>
                          </a:solidFill>
                          <a:latin typeface="Consolas"/>
                        </a:rPr>
                        <a:t>risk-results</a:t>
                      </a:r>
                      <a:r>
                        <a:rPr sz="1100" b="0" i="0">
                          <a:solidFill>
                            <a:srgbClr val="1C2433"/>
                          </a:solidFill>
                          <a:latin typeface="Calibri"/>
                        </a:rPr>
                        <a:t> domains always keep, whatever the settings say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30352">
                <a:tc>
                  <a:txBody>
                    <a:bodyPr wrap="square"/>
                    <a:lstStyle/>
                    <a:p>
                      <a:r>
                        <a:rPr sz="1100" b="1" i="0">
                          <a:solidFill>
                            <a:srgbClr val="1C2433"/>
                          </a:solidFill>
                          <a:latin typeface="Calibri"/>
                        </a:rPr>
                        <a:t>Drishti*net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several Drishti servers as one: gossip, routing, replicas and shards, HTTP/2 between nodes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30352">
                <a:tc>
                  <a:txBody>
                    <a:bodyPr wrap="square"/>
                    <a:lstStyle/>
                    <a:p>
                      <a:r>
                        <a:rPr sz="1100" b="1" i="0">
                          <a:solidFill>
                            <a:srgbClr val="1C2433"/>
                          </a:solidFill>
                          <a:latin typeface="Calibri"/>
                        </a:rPr>
                        <a:t>Data-load signal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POST /api/v1/packs/{pack}/loads</a:t>
                      </a:r>
                      <a:r>
                        <a:rPr sz="1100" b="0" i="0">
                          <a:solidFill>
                            <a:srgbClr val="1C2433"/>
                          </a:solidFill>
                          <a:latin typeface="Calibri"/>
                        </a:rPr>
                        <a:t>: tells the servers a date has landed; they refresh and check 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Related documents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references</a:t>
            </a:r>
          </a:p>
        </p:txBody>
      </p:sp>
      <p:pic>
        <p:nvPicPr>
          <p:cNvPr id="7" name="Drishti mark" descr="Drishti logo: an eye between curly brackets"/>
          <p:cNvPicPr>
            <a:picLocks noChangeAspect="1"/>
          </p:cNvPicPr>
          <p:nvPr/>
        </p:nvPicPr>
        <p:blipFill>
          <a:blip r:embed="rId2"/>
          <a:stretch>
            <a:fillRect/>
          </a:stretch>
        </p:blipFill>
        <p:spPr>
          <a:xfrm>
            <a:off x="411480" y="6606540"/>
            <a:ext cx="281749" cy="155448"/>
          </a:xfrm>
          <a:prstGeom prst="rect">
            <a:avLst/>
          </a:prstGeom>
        </p:spPr>
      </p:pic>
      <p:sp>
        <p:nvSpPr>
          <p:cNvPr id="8" name="Footer"/>
          <p:cNvSpPr txBox="1"/>
          <p:nvPr/>
        </p:nvSpPr>
        <p:spPr>
          <a:xfrm>
            <a:off x="766381" y="6565392"/>
            <a:ext cx="9692640" cy="237744"/>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on AWS: the lake, Delta or Iceberg · sources: AWS_DELTA_LAKE.md, AWS_DEPLOYMENT.md, ICEBERG_CONNECTOR.md and the docs in the notes</a:t>
            </a:r>
          </a:p>
        </p:txBody>
      </p:sp>
      <p:sp>
        <p:nvSpPr>
          <p:cNvPr id="9" name="Slide number"/>
          <p:cNvSpPr txBox="1"/>
          <p:nvPr/>
        </p:nvSpPr>
        <p:spPr>
          <a:xfrm>
            <a:off x="11091672" y="6565392"/>
            <a:ext cx="731520" cy="237744"/>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123</a:t>
            </a:r>
          </a:p>
        </p:txBody>
      </p:sp>
      <p:graphicFrame>
        <p:nvGraphicFramePr>
          <p:cNvPr id="10" name="Table"/>
          <p:cNvGraphicFramePr>
            <a:graphicFrameLocks noGrp="1"/>
          </p:cNvGraphicFramePr>
          <p:nvPr/>
        </p:nvGraphicFramePr>
        <p:xfrm>
          <a:off x="411480" y="1188720"/>
          <a:ext cx="11365991" cy="5111496"/>
        </p:xfrm>
        <a:graphic>
          <a:graphicData uri="http://schemas.openxmlformats.org/drawingml/2006/table">
            <a:tbl>
              <a:tblPr firstRow="0" bandRow="0">
                <a:tableStyleId>{5940675A-B579-460E-94D1-54222C63F5DA}</a:tableStyleId>
              </a:tblPr>
              <a:tblGrid>
                <a:gridCol w="4846319"/>
                <a:gridCol w="6519672"/>
              </a:tblGrid>
              <a:tr h="393192">
                <a:tc>
                  <a:txBody>
                    <a:bodyPr wrap="square"/>
                    <a:lstStyle/>
                    <a:p>
                      <a:r>
                        <a:rPr sz="1200" b="1" i="0">
                          <a:solidFill>
                            <a:srgbClr val="FFFFFF"/>
                          </a:solidFill>
                          <a:latin typeface="Calibri"/>
                        </a:rPr>
                        <a:t>Document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What it holds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393192">
                <a:tc>
                  <a:txBody>
                    <a:bodyPr wrap="square"/>
                    <a:lstStyle/>
                    <a:p>
                      <a:r>
                        <a:rPr sz="1200" b="1" i="0">
                          <a:solidFill>
                            <a:srgbClr val="1C2433"/>
                          </a:solidFill>
                          <a:latin typeface="Calibri"/>
                        </a:rPr>
                        <a:t>docs/architecture/AWS_DELTA_LAKE.md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Delta lake on AWS: every section, command and number of the scripts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93192">
                <a:tc>
                  <a:txBody>
                    <a:bodyPr wrap="square"/>
                    <a:lstStyle/>
                    <a:p>
                      <a:r>
                        <a:rPr sz="1200" b="1" i="0">
                          <a:solidFill>
                            <a:srgbClr val="1C2433"/>
                          </a:solidFill>
                          <a:latin typeface="Calibri"/>
                        </a:rPr>
                        <a:t>docs/architecture/AWS_DEPLOYMENT.md · SUPER_SCALE.md · SCALE_STRATEGY.md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ECS, EFS, the identical-path rule, DR; §22: Iceberg on AWS and official results to S3; S1–S8</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93192">
                <a:tc>
                  <a:txBody>
                    <a:bodyPr wrap="square"/>
                    <a:lstStyle/>
                    <a:p>
                      <a:r>
                        <a:rPr sz="1200" b="1" i="0">
                          <a:solidFill>
                            <a:srgbClr val="1C2433"/>
                          </a:solidFill>
                          <a:latin typeface="Calibri"/>
                        </a:rPr>
                        <a:t>docs/architecture/DRISHTI_ICEBERG.md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native Iceberg engine: protocol coverage, catalogs, commits, two connectors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93192">
                <a:tc>
                  <a:txBody>
                    <a:bodyPr wrap="square"/>
                    <a:lstStyle/>
                    <a:p>
                      <a:r>
                        <a:rPr sz="1200" b="1" i="0">
                          <a:solidFill>
                            <a:srgbClr val="1C2433"/>
                          </a:solidFill>
                          <a:latin typeface="Calibri"/>
                        </a:rPr>
                        <a:t>docs/connectors/ICEBERG_CONNECTOR.md · ICEBERG_EXTERNAL_CONNECTOR.md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a:t>
                      </a:r>
                      <a:r>
                        <a:rPr sz="1100" b="0" i="0">
                          <a:solidFill>
                            <a:srgbClr val="0E7C86"/>
                          </a:solidFill>
                          <a:latin typeface="Consolas"/>
                        </a:rPr>
                        <a:t>iceberg</a:t>
                      </a:r>
                      <a:r>
                        <a:rPr sz="1200" b="0" i="0">
                          <a:solidFill>
                            <a:srgbClr val="1C2433"/>
                          </a:solidFill>
                          <a:latin typeface="Calibri"/>
                        </a:rPr>
                        <a:t> connector, loader, maintenance; </a:t>
                      </a:r>
                      <a:r>
                        <a:rPr sz="1100" b="0" i="0">
                          <a:solidFill>
                            <a:srgbClr val="0E7C86"/>
                          </a:solidFill>
                          <a:latin typeface="Consolas"/>
                        </a:rPr>
                        <a:t>iceberg-external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93192">
                <a:tc>
                  <a:txBody>
                    <a:bodyPr wrap="square"/>
                    <a:lstStyle/>
                    <a:p>
                      <a:r>
                        <a:rPr sz="1200" b="1" i="0">
                          <a:solidFill>
                            <a:srgbClr val="1C2433"/>
                          </a:solidFill>
                          <a:latin typeface="Calibri"/>
                        </a:rPr>
                        <a:t>docs/connectors/DELTA_CONNECTOR.md · CONNECTOR_FILES.md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how Drishti reads Delta; layout, vectors, history; connector upgrades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93192">
                <a:tc>
                  <a:txBody>
                    <a:bodyPr wrap="square"/>
                    <a:lstStyle/>
                    <a:p>
                      <a:r>
                        <a:rPr sz="1200" b="1" i="0">
                          <a:solidFill>
                            <a:srgbClr val="1C2433"/>
                          </a:solidFill>
                          <a:latin typeface="Calibri"/>
                        </a:rPr>
                        <a:t>docs/admin/LAKE_MAINTENANCE.md · docs/guides/TOOLS.md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lake maintain, Admin → Lakes, the 7-year floor; lake build, publish, the S3 tests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93192">
                <a:tc>
                  <a:txBody>
                    <a:bodyPr wrap="square"/>
                    <a:lstStyle/>
                    <a:p>
                      <a:r>
                        <a:rPr sz="1200" b="1" i="0">
                          <a:solidFill>
                            <a:srgbClr val="1C2433"/>
                          </a:solidFill>
                          <a:latin typeface="Calibri"/>
                        </a:rPr>
                        <a:t>docs/admin/NET.md · DRISHTI_NET.md · CONTENT_STORE.md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Drishti*net: gossip port, HTTP/2, replicas and shards; the content store on 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93192">
                <a:tc>
                  <a:txBody>
                    <a:bodyPr wrap="square"/>
                    <a:lstStyle/>
                    <a:p>
                      <a:r>
                        <a:rPr sz="1200" b="1" i="0">
                          <a:solidFill>
                            <a:srgbClr val="1C2433"/>
                          </a:solidFill>
                          <a:latin typeface="Calibri"/>
                        </a:rPr>
                        <a:t>docs/guides/DATA_FORMATS.md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JSON Lines is the standard; CSV deprecated; official results as JSONL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93192">
                <a:tc>
                  <a:txBody>
                    <a:bodyPr wrap="square"/>
                    <a:lstStyle/>
                    <a:p>
                      <a:r>
                        <a:rPr sz="1200" b="1" i="0">
                          <a:solidFill>
                            <a:srgbClr val="1C2433"/>
                          </a:solidFill>
                          <a:latin typeface="Calibri"/>
                        </a:rPr>
                        <a:t>docs/guides/VAR_GUIDE.md · EXPOSURE_GUIDE.md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risk lake: inputs, vectors, intraday, official results, sizes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93192">
                <a:tc>
                  <a:txBody>
                    <a:bodyPr wrap="square"/>
                    <a:lstStyle/>
                    <a:p>
                      <a:r>
                        <a:rPr sz="1200" b="1" i="0">
                          <a:solidFill>
                            <a:srgbClr val="1C2433"/>
                          </a:solidFill>
                          <a:latin typeface="Calibri"/>
                        </a:rPr>
                        <a:t>docs/architecture/VAR_SHARDING.md · PARALLEL_LOADER.md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VaR sharded across servers, Fargate drain; the parallel Java loader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93192">
                <a:tc>
                  <a:txBody>
                    <a:bodyPr wrap="square"/>
                    <a:lstStyle/>
                    <a:p>
                      <a:r>
                        <a:rPr sz="1200" b="1" i="0">
                          <a:solidFill>
                            <a:srgbClr val="1C2433"/>
                          </a:solidFill>
                          <a:latin typeface="Calibri"/>
                        </a:rPr>
                        <a:t>docs/connectors/DEMO_DATA.md · docs/guides/PUBLIC_DATA.md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85-table demo lake, mixed storage; the public-data packs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93192">
                <a:tc>
                  <a:txBody>
                    <a:bodyPr wrap="square"/>
                    <a:lstStyle/>
                    <a:p>
                      <a:r>
                        <a:rPr sz="1200" b="1" i="0">
                          <a:solidFill>
                            <a:srgbClr val="1C2433"/>
                          </a:solidFill>
                          <a:latin typeface="Calibri"/>
                        </a:rPr>
                        <a:t>Drishti-VaR-Engine.pptx · Drishti-Design-and-Evidence.pptx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companion decks: the VaR engine; the whole product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 name="Drishti logo" descr="Drishti logo: an eye between curly brackets"/>
          <p:cNvPicPr>
            <a:picLocks noChangeAspect="1"/>
          </p:cNvPicPr>
          <p:nvPr/>
        </p:nvPicPr>
        <p:blipFill>
          <a:blip r:embed="rId2"/>
          <a:stretch>
            <a:fillRect/>
          </a:stretch>
        </p:blipFill>
        <p:spPr>
          <a:xfrm>
            <a:off x="4647438" y="1325880"/>
            <a:ext cx="2896819" cy="502920"/>
          </a:xfrm>
          <a:prstGeom prst="rect">
            <a:avLst/>
          </a:prstGeom>
        </p:spPr>
      </p:pic>
      <p:sp>
        <p:nvSpPr>
          <p:cNvPr id="4" name="TextBox 3"/>
          <p:cNvSpPr txBox="1"/>
          <p:nvPr/>
        </p:nvSpPr>
        <p:spPr>
          <a:xfrm>
            <a:off x="914400" y="2514600"/>
            <a:ext cx="10362895" cy="914400"/>
          </a:xfrm>
          <a:prstGeom prst="rect">
            <a:avLst/>
          </a:prstGeom>
          <a:noFill/>
        </p:spPr>
        <p:txBody>
          <a:bodyPr wrap="square" lIns="0" rIns="0" tIns="0" bIns="0" anchor="ctr">
            <a:spAutoFit/>
          </a:bodyPr>
          <a:lstStyle/>
          <a:p>
            <a:pPr algn="ctr">
              <a:spcAft>
                <a:spcPts val="600"/>
              </a:spcAft>
              <a:buNone/>
            </a:pPr>
            <a:r>
              <a:rPr sz="4400" b="1" i="0">
                <a:solidFill>
                  <a:srgbClr val="FFFFFF"/>
                </a:solidFill>
                <a:latin typeface="Calibri"/>
              </a:rPr>
              <a:t>Thank you</a:t>
            </a:r>
          </a:p>
        </p:txBody>
      </p:sp>
      <p:sp>
        <p:nvSpPr>
          <p:cNvPr id="5" name="Closing rule"/>
          <p:cNvSpPr/>
          <p:nvPr/>
        </p:nvSpPr>
        <p:spPr>
          <a:xfrm>
            <a:off x="5410047" y="3611880"/>
            <a:ext cx="1371600" cy="45720"/>
          </a:xfrm>
          <a:prstGeom prst="rect">
            <a:avLst/>
          </a:prstGeom>
          <a:solidFill>
            <a:srgbClr val="E39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Slogan"/>
          <p:cNvSpPr txBox="1"/>
          <p:nvPr/>
        </p:nvSpPr>
        <p:spPr>
          <a:xfrm>
            <a:off x="914400" y="3822191"/>
            <a:ext cx="10362895" cy="457200"/>
          </a:xfrm>
          <a:prstGeom prst="rect">
            <a:avLst/>
          </a:prstGeom>
          <a:noFill/>
        </p:spPr>
        <p:txBody>
          <a:bodyPr wrap="square" lIns="0" rIns="0" tIns="0" bIns="0" anchor="ctr">
            <a:spAutoFit/>
          </a:bodyPr>
          <a:lstStyle/>
          <a:p>
            <a:pPr algn="ctr">
              <a:spcAft>
                <a:spcPts val="0"/>
              </a:spcAft>
              <a:buNone/>
            </a:pPr>
            <a:r>
              <a:rPr sz="2400" b="0" i="1">
                <a:solidFill>
                  <a:srgbClr val="FFFFFF"/>
                </a:solidFill>
                <a:latin typeface="Calibri"/>
              </a:rPr>
              <a:t>See what your data </a:t>
            </a:r>
            <a:r>
              <a:rPr sz="2400" b="0" i="1">
                <a:solidFill>
                  <a:srgbClr val="E39B2D"/>
                </a:solidFill>
                <a:latin typeface="Calibri"/>
              </a:rPr>
              <a:t>hasn't told you yet.</a:t>
            </a:r>
          </a:p>
        </p:txBody>
      </p:sp>
      <p:sp>
        <p:nvSpPr>
          <p:cNvPr id="7" name="Tagline"/>
          <p:cNvSpPr txBox="1"/>
          <p:nvPr/>
        </p:nvSpPr>
        <p:spPr>
          <a:xfrm>
            <a:off x="914400" y="4325112"/>
            <a:ext cx="10362895" cy="274320"/>
          </a:xfrm>
          <a:prstGeom prst="rect">
            <a:avLst/>
          </a:prstGeom>
          <a:noFill/>
        </p:spPr>
        <p:txBody>
          <a:bodyPr wrap="square" lIns="0" rIns="0" tIns="0" bIns="0" anchor="ctr">
            <a:spAutoFit/>
          </a:bodyPr>
          <a:lstStyle/>
          <a:p>
            <a:pPr algn="ctr">
              <a:spcAft>
                <a:spcPts val="0"/>
              </a:spcAft>
              <a:buNone/>
            </a:pPr>
            <a:r>
              <a:rPr sz="1100" b="1" i="0" spc="300">
                <a:solidFill>
                  <a:srgbClr val="E39B2D"/>
                </a:solidFill>
                <a:latin typeface="Calibri"/>
              </a:rPr>
              <a:t>ANY DATA. ANY DOMAIN. ONE GRAMMAR.</a:t>
            </a:r>
          </a:p>
        </p:txBody>
      </p:sp>
      <p:sp>
        <p:nvSpPr>
          <p:cNvPr id="8" name="TextBox 7"/>
          <p:cNvSpPr txBox="1"/>
          <p:nvPr/>
        </p:nvSpPr>
        <p:spPr>
          <a:xfrm>
            <a:off x="914400" y="4937760"/>
            <a:ext cx="10362895" cy="329184"/>
          </a:xfrm>
          <a:prstGeom prst="rect">
            <a:avLst/>
          </a:prstGeom>
          <a:noFill/>
        </p:spPr>
        <p:txBody>
          <a:bodyPr wrap="square" lIns="0" rIns="0" tIns="0" bIns="0" anchor="ctr">
            <a:spAutoFit/>
          </a:bodyPr>
          <a:lstStyle/>
          <a:p>
            <a:pPr algn="ctr">
              <a:spcAft>
                <a:spcPts val="600"/>
              </a:spcAft>
              <a:buNone/>
            </a:pPr>
            <a:r>
              <a:rPr sz="1400" b="0" i="0">
                <a:solidFill>
                  <a:srgbClr val="C9D3E3"/>
                </a:solidFill>
                <a:latin typeface="Calibri"/>
              </a:rPr>
              <a:t>Drishti on AWS: the lake, Delta or Iceberg</a:t>
            </a:r>
          </a:p>
        </p:txBody>
      </p:sp>
      <p:sp>
        <p:nvSpPr>
          <p:cNvPr id="9" name="TextBox 8"/>
          <p:cNvSpPr txBox="1"/>
          <p:nvPr/>
        </p:nvSpPr>
        <p:spPr>
          <a:xfrm>
            <a:off x="914400" y="5394960"/>
            <a:ext cx="10362895" cy="329184"/>
          </a:xfrm>
          <a:prstGeom prst="rect">
            <a:avLst/>
          </a:prstGeom>
          <a:noFill/>
        </p:spPr>
        <p:txBody>
          <a:bodyPr wrap="square" lIns="0" rIns="0" tIns="0" bIns="0" anchor="ctr">
            <a:spAutoFit/>
          </a:bodyPr>
          <a:lstStyle/>
          <a:p>
            <a:pPr algn="ctr">
              <a:spcAft>
                <a:spcPts val="600"/>
              </a:spcAft>
              <a:buNone/>
            </a:pPr>
            <a:r>
              <a:rPr sz="1200" b="0" i="0">
                <a:solidFill>
                  <a:srgbClr val="A9B6CB"/>
                </a:solidFill>
                <a:latin typeface="Calibri"/>
              </a:rPr>
              <a:t>Ashutosh Sinha ·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Drishti on AWS: the lake, Delta or Iceberg</dc:title>
  <dc:subject>Drishti on AWS for platform and infrastructure teams: the lake in S3, Delta or Iceberg per connector, the risk lake, bank scale, setup, operations</dc:subject>
  <dc:creator>Ashutosh Sinha</dc:creator>
  <cp:keywords/>
  <dc:description/>
  <cp:lastModifiedBy>Steve Canny</cp:lastModifiedBy>
  <cp:revision>1</cp:revision>
  <dcterms:created xsi:type="dcterms:W3CDTF">2013-01-27T09:14:16Z</dcterms:created>
  <dcterms:modified xsi:type="dcterms:W3CDTF">2013-01-27T09:15:58Z</dcterms:modified>
  <cp:category/>
</cp:coreProperties>
</file>
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media/image-17-2.jpg" ContentType="image/jpg"/>
  <Override PartName="/ppt/media/image-18-1.jpg" ContentType="image/jpg"/>
  <Override PartName="/ppt/media/image-19-1.jpg" ContentType="image/jpg"/>
  <Override PartName="/ppt/media/image-20-2.jpg" ContentType="image/jpg"/>
  <Override PartName="/ppt/media/image-21-1.jpg" ContentType="image/jpg"/>
  <Override PartName="/ppt/media/image-21-2.jpg" ContentType="image/jpg"/>
  <Override PartName="/ppt/media/image-22-1.jpg" ContentType="image/jpg"/>
  <Override PartName="/ppt/media/image-23-1.jpg" ContentType="image/jpg"/>
  <Override PartName="/ppt/media/image-26-2.jpg" ContentType="image/jpg"/>
  <Override PartName="/ppt/media/image-26-3.jpg" ContentType="image/jpg"/>
  <Override PartName="/ppt/media/image-26-4.jpg" ContentType="image/jpg"/>
  <Override PartName="/ppt/media/image-45-1.jpg" ContentType="image/jpg"/>
  <Override PartName="/ppt/media/image-4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99" r:id="rId50"/>
    <p:sldId id="300" r:id="rId51"/>
    <p:sldId id="301" r:id="rId52"/>
    <p:sldId id="275" r:id="rId21"/>
    <p:sldId id="276" r:id="rId22"/>
    <p:sldId id="277" r:id="rId23"/>
    <p:sldId id="278" r:id="rId24"/>
    <p:sldId id="279" r:id="rId25"/>
    <p:sldId id="280" r:id="rId26"/>
    <p:sldId id="302" r:id="rId53"/>
    <p:sldId id="281" r:id="rId27"/>
    <p:sldId id="282" r:id="rId28"/>
    <p:sldId id="283" r:id="rId29"/>
    <p:sldId id="284" r:id="rId30"/>
    <p:sldId id="285" r:id="rId31"/>
    <p:sldId id="286" r:id="rId32"/>
    <p:sldId id="287" r:id="rId33"/>
    <p:sldId id="288" r:id="rId34"/>
    <p:sldId id="289" r:id="rId35"/>
    <p:sldId id="290" r:id="rId36"/>
    <p:sldId id="291" r:id="rId37"/>
    <p:sldId id="303" r:id="rId54"/>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5.xml"/><Relationship Id="rId33" Type="http://schemas.openxmlformats.org/officeDocument/2006/relationships/slide" Target="slides/slide36.xml"/><Relationship Id="rId34" Type="http://schemas.openxmlformats.org/officeDocument/2006/relationships/slide" Target="slides/slide37.xml"/><Relationship Id="rId35" Type="http://schemas.openxmlformats.org/officeDocument/2006/relationships/slide" Target="slides/slide38.xml"/><Relationship Id="rId36" Type="http://schemas.openxmlformats.org/officeDocument/2006/relationships/slide" Target="slides/slide39.xml"/><Relationship Id="rId37" Type="http://schemas.openxmlformats.org/officeDocument/2006/relationships/slide" Target="slides/slide40.xml"/><Relationship Id="rId38" Type="http://schemas.openxmlformats.org/officeDocument/2006/relationships/slide" Target="slides/slide42.xml"/><Relationship Id="rId39" Type="http://schemas.openxmlformats.org/officeDocument/2006/relationships/slide" Target="slides/slide43.xml"/><Relationship Id="rId40" Type="http://schemas.openxmlformats.org/officeDocument/2006/relationships/slide" Target="slides/slide44.xml"/><Relationship Id="rId41" Type="http://schemas.openxmlformats.org/officeDocument/2006/relationships/slide" Target="slides/slide45.xml"/><Relationship Id="rId42" Type="http://schemas.openxmlformats.org/officeDocument/2006/relationships/slide" Target="slides/slide46.xml"/><Relationship Id="rId43" Type="http://schemas.openxmlformats.org/officeDocument/2006/relationships/slide" Target="slides/slide47.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openxmlformats.org/officeDocument/2006/relationships/slide" Target="slides/slide20.xml"/><Relationship Id="rId51" Type="http://schemas.openxmlformats.org/officeDocument/2006/relationships/slide" Target="slides/slide21.xml"/><Relationship Id="rId52" Type="http://schemas.openxmlformats.org/officeDocument/2006/relationships/slide" Target="slides/slide22.xml"/><Relationship Id="rId53" Type="http://schemas.openxmlformats.org/officeDocument/2006/relationships/slide" Target="slides/slide29.xml"/><Relationship Id="rId54" Type="http://schemas.openxmlformats.org/officeDocument/2006/relationships/slide" Target="slides/slide4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Milliseconds, lower is better</a:t>
            </a:r>
          </a:p>
        </c:rich>
      </c:tx>
      <c:layout/>
      <c:overlay val="0"/>
    </c:title>
    <c:autoTitleDeleted val="0"/>
    <c:plotArea>
      <c:layout/>
      <c:barChart>
        <c:barDir val="bar"/>
        <c:grouping val="clustered"/>
        <c:varyColors val="0"/>
        <c:ser>
          <c:idx val="0"/>
          <c:order val="0"/>
          <c:tx>
            <c:strRef>
              <c:f>Sheet1!$B$1</c:f>
              <c:strCache>
                <c:ptCount val="1"/>
                <c:pt idx="0">
                  <c:v>Milliseconds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Warm view, p99 (HTTP)</c:v>
                  </c:pt>
                  <c:pt idx="1">
                    <c:v>Live tick to frame, p99</c:v>
                  </c:pt>
                  <c:pt idx="2">
                    <c:v>Type-ahead at 1M/day</c:v>
                  </c:pt>
                  <c:pt idx="3">
                    <c:v>Open a cached trade at 1M/day</c:v>
                  </c:pt>
                  <c:pt idx="4">
                    <c:v>Search all 1M trades</c:v>
                  </c:pt>
                  <c:pt idx="5">
                    <c:v>P&amp;L of every desk, 1M trades</c:v>
                  </c:pt>
                </c:lvl>
              </c:multiLvlStrCache>
            </c:multiLvlStrRef>
          </c:cat>
          <c:val>
            <c:numRef>
              <c:f>Sheet1!$B$2:$B$7</c:f>
              <c:numCache>
                <c:formatCode>General</c:formatCode>
                <c:ptCount val="6"/>
                <c:pt idx="0">
                  <c:v>3</c:v>
                </c:pt>
                <c:pt idx="1">
                  <c:v>11.2</c:v>
                </c:pt>
                <c:pt idx="2">
                  <c:v>29</c:v>
                </c:pt>
                <c:pt idx="3">
                  <c:v>48</c:v>
                </c:pt>
                <c:pt idx="4">
                  <c:v>134</c:v>
                </c:pt>
                <c:pt idx="5">
                  <c:v>327</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1666E"/>
                </a:solidFill>
                <a:latin typeface="+mn-lt"/>
              </a:defRPr>
            </a:pPr>
            <a:r>
              <a:rPr sz="1200" b="0" i="0" u="none" strike="noStrike">
                <a:solidFill>
                  <a:srgbClr val="61666E"/>
                </a:solidFill>
                <a:latin typeface="+mn-lt"/>
              </a:rPr>
              <a:t>Lines tracked in git</a:t>
            </a:r>
          </a:p>
        </c:rich>
      </c:tx>
      <c:layout/>
      <c:overlay val="0"/>
    </c:title>
    <c:autoTitleDeleted val="0"/>
    <c:plotArea>
      <c:layout/>
      <c:barChart>
        <c:barDir val="bar"/>
        <c:grouping val="clustered"/>
        <c:varyColors val="0"/>
        <c:ser>
          <c:idx val="0"/>
          <c:order val="0"/>
          <c:tx>
            <c:strRef>
              <c:f>Sheet1!$B$1</c:f>
              <c:strCache>
                <c:ptCount val="1"/>
                <c:pt idx="0">
                  <c:v>Lines</c:v>
                </c:pt>
              </c:strCache>
            </c:strRef>
          </c:tx>
          <c:spPr>
            <a:solidFill>
              <a:srgbClr val="A51C30"/>
            </a:solidFill>
            <a:effectLst/>
          </c:spPr>
          <c:invertIfNegative val="0"/>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Java (main)</c:v>
                  </c:pt>
                  <c:pt idx="1">
                    <c:v>Java (tests)</c:v>
                  </c:pt>
                  <c:pt idx="2">
                    <c:v>Python</c:v>
                  </c:pt>
                  <c:pt idx="3">
                    <c:v>Markdown docs</c:v>
                  </c:pt>
                  <c:pt idx="4">
                    <c:v>YAML</c:v>
                  </c:pt>
                  <c:pt idx="5">
                    <c:v>JavaScript</c:v>
                  </c:pt>
                  <c:pt idx="6">
                    <c:v>CSS + HTML</c:v>
                  </c:pt>
                </c:lvl>
              </c:multiLvlStrCache>
            </c:multiLvlStrRef>
          </c:cat>
          <c:val>
            <c:numRef>
              <c:f>Sheet1!$B$2:$B$8</c:f>
              <c:numCache>
                <c:formatCode>General</c:formatCode>
                <c:ptCount val="7"/>
                <c:pt idx="0">
                  <c:v>201646</c:v>
                </c:pt>
                <c:pt idx="1">
                  <c:v>77123</c:v>
                </c:pt>
                <c:pt idx="2">
                  <c:v>133784</c:v>
                </c:pt>
                <c:pt idx="3">
                  <c:v>96765</c:v>
                </c:pt>
                <c:pt idx="4">
                  <c:v>44521</c:v>
                </c:pt>
                <c:pt idx="5">
                  <c:v>38584</c:v>
                </c:pt>
                <c:pt idx="6">
                  <c:v>16450</c:v>
                </c:pt>
              </c:numCache>
            </c:numRef>
          </c:val>
        </c:ser>
        <c:dLbls>
          <c:numFmt formatCode="#,##0" sourceLinked="0"/>
          <c:txPr>
            <a:bodyPr/>
            <a:lstStyle/>
            <a:p>
              <a:pPr>
                <a:defRPr b="0" i="0" strike="noStrike" sz="1100" u="none">
                  <a:solidFill>
                    <a:srgbClr val="1A1A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4A505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(name, 'sight', the tagline 'Any data. Any domain. One grammar.'); CHANGELOG.md 2.5.0 and Unreleased (2.6.0); RELEASE_NOTES.md 2.5.0; pom.xml (Java 21 bytecode).
Talk track: Drishti is Sanskrit for sight. The promise is in the tagline: any record from any system, in any domain, shown through one grammar instead of a screen written per product. The deck runs idea, product, security, evidence and roadmap; every number in it is measured or counted from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ARCHITECTURE.md §1; CHANGELOG.md 2.4.0 and 2.5.0; docs/admin/PERFORMANCE.md (35.7 million trades, 50 users, 179 requests/s); BI_DESIGN.md §12.2 (release order); counts from git ls-files on 20 October 2026 (plugins/: 18 source plugins with Cassandra).
Talk track: If you remember one slide, make it this one. Five questions and five short answers; the rest of the deck earns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drishti-console/web/templates/landing.html ('A screen is a paragraph, not a project'); ARCHITECTURE.md §1.
Talk track: Before the product, the idea: screens as data,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first line; ARCHITECTURE.md §1 and §1.1 goals; landing.html.
Talk track: Define the words once. One entity, one dense screen, live, linked and explained. Read-only by design: trade capture and pricing are non-goals.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'Problem and intent'; drishti-console/config/competitive.yaml (rows any-entity, no-coded-screens, inference).
Talk track: These are the problem statements from the architecture and the competitive analysis in the repository, not invented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('A screen is not code'); HOW_IT_FITS.md §1; competitive.yaml.
Talk track: Top row is the world today: each product type waits for a developer. Bottom row is Drishti: a Sutra is a paragraph of YAML, and inference covers what nobody has described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§1.1 Goals G1–G6; README 'Contributing rules'.
Talk track: These six are the acceptance test for every feature. Keyboard first is literal: mnemonic, id, GO, as on a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drishti-console/config/competitive.yaml (as of September 2026; categories, not vendors), served at /about/competitive.
Talk track: Four families put entities on a screen. The pattern on the last line is the whole argument for Drishti.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RACHANA_REFERENCE.md; PANELS.md (twenty-two kinds); INFERENCE.md; ADR-004; LIVE.md; config/packs (7 packs, 197 Sutra files, 19 October 2026).
Talk track: Everything else in the product is built from these eight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'How it is built'; pom.xml modules (drishti-net, drishti-deltalake); ARCHITECTURE.md §2, §13 and §13a; NET.md; CASSANDRA_CONNECTOR.md (the Cassandra plugin, 2.6.0).
Talk track: Modules depend one way only, and an architecture test enforces it. The plugin interface is Spring-free so connectors stay small. With Drishti*net on, several such servers act as one: each keeps its own sources, and any of them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landing.html (pipeline stages); HOW_IT_FITS.md §1; docs/admin/PERFORMANCE.md (warm view p99 3.0 ms over HTTP, gate p99 &lt; 50 ms).
Talk track: Read left to right. The layout is cached by the shape's fingerprint, so a warm view costs well under a millisecond of server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config/packs/trading/sutras/murex/irs-fixfloat.v1.sutra.yaml (41 lines, its shared blocks in sutras/common); RACHANA_REFERENCE.md; ADR-013 (Sutras go live through review); CHANGELOG 2.3.0 (UPPER_SNAKE production-shaped trades, shared blocks).
Talk track: This is the real file, trimmed. When it applies, what the title says, the strip, and the panels, which here are shared blocks every product type reuses. Everything it does not mention, inference lays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docs/architecture/LIVE.md (live path); docs/admin/PERFORMANCE.md (tick to frame p50 2.4 ms, p99 11.2 ms, gate 40 ms).
Talk track: A source change fans out through one topic per entity; each open view rebuilds with its cached layout, and only the difference is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ARCHITECTURE.md §1; competitive.yaml; PANELS.md; README.
Talk track: Five benefits, each tied to something built and shown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RELEASE_NOTES.md; CHANGELOG.md 2.5.0; USER_GUIDE.md 'The pages at a glance'.
Talk track: Now the product as it stands at 2.5, page by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config/packs (7 packs, 197 Sutra files); PANELS.md (22 kinds); plugins/ (18, with Cassandra in 2.6.0); CHANGELOG 2.3.0 to 2.5.0.
Talk track: The numbers are counted from the repository on 19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docs/tutorials/img/t01/04-trade.jpg (TRD MX-20000001 on the demo lakes, 2.4.0); USER_GUIDE 'A deep trade'.
Talk track: Headline strip, then panels by F-key: the deal ticket, legs, the cash-flow schedule, events and netted payments. Since 2.3.0 a trade is static and its valuations tick (TVAL); the footer lists every panel's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docs/architecture/CONTEXT_HELP.md; USER_GUIDE 'About this page'; capture docs/guides/img/about/01-var-drawer.jpg.
Talk track: Press ? on any view. The drawer reads the same trace the server used to build the page, so it cannot drift from what you see. Ask, the optional language-model answer,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docs/guides/BUILD_WORKBENCH_TUTORIAL.md; SCREEN_DESIGNER.md; capture designer/02-workbench.jpg.
Talk track: The workbench writes the Sutra for you. Every design has tests, versions and a rebase; publishing needs a second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search, plain words and pivot; QUERY_BY_FORM.md; capture docs/tutorials/img/t01/06-search.jpg; PERFORMANCE.md (1M trades/day: 134 ms search, 29 ms type-ahead; 35.7 million trades: form search p50 0.21 s).
Talk track: The plain-words parser is deterministic: no AI service is involved. Searches across a million trades a day come back in about a seventh of a second; a form search over 35.7 million trades in about a fifth.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docs/architecture/COLLABORATION.md; captures collab/01-share-dialog.jpg and collab/07-discussion-author.jpg.
Talk track: A share reopens the view as the sender saw it, pinned to that data generation. Emails and chat bridges carry values, masked for each recipient.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docs/guides/DATA_LOADS.md; CHANGELOG 1.18.0; capture loads/01-data-loads-history.jpg.
Talk track: Drishti does not ingest data; your ETL does. One call says a batch landed, and Drishti refreshes, verifies, evaluates alerts and tells people. Expectations flag late or missing data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'Quickest path: pack make'; OPERATIONALISING.md; RELEASE_NOTES 1.17.0; ADR-018; capture deploy/02-deploy-preview.jpg.
Talk track: One command makes a deployable folder: pack, Sutras per product type, data laid out by date, a bundle and a README. An admin uploads the bundle and sees a preview of what breaks before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docs/guides/CLI_GUIDE.md; tools/drishti.py --help (fourteen groups: sutra, pack, data, server, connector, net, design, docs, doctor, bi, view, lake, testdata, completion).
Talk track: Production runs Java 21 and every build activity is scriptable. Exit codes are a contract: 0 ok, 1 problems found, 2 usage.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docs/guides/ELEMENTS.md (Elements 1.4.2: view, panel, report, about, search); docs/architecture/ELEMENTS.md; Admin → Embedding.
Talk track: A host page adds one tag, pinned to an exact version with SRI. The console sends HTML over the wire into a Shadow DOM, so styles never leak either way, and one live connection serves every view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USER_GUIDE 'On a phone'; tests/test_page_widths_browser.py (390 px touch sweep: content, 44 px targets, no clipping); captures about/03-var-phone.jpg, collab/06-shared-phone.jpg, loads/06-phone.jpg, fresh phone-trade.png.
Talk track: Every page is tested at a 390-pixel phone width with touch: real content, finger-sized controls and nothing clipped. A desktop with a mouse keeps its compact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docs/admin/USER_MANAGEMENT.md; OPERATIONS.md §8; ELEMENTS.md §8.
Talk track: Security as flows, not as a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§2, §5, §6; OPERATIONS.md §8.
Talk track: The rule: every value that leaves the server is checked against the reader's roles at the moment it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§5–6; OPERATIONS.md §8.4 (CSRF, cookies); ADR-014; NET.md section 7 and NetLastAdminTest (the last-administrator rule repaired across nodes, audited last-admin-kept).
Talk track: The console holds no credential of its own; the server decides, and re-checks every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USER_MANAGEMENT.md 'Personal API tokens' (write scopes design:write, design:approve, packs:admin, bi:write, bi:approve, bi:admin, ai:use, ai:admin, loads:write).
Talk track: A token is a person's key for scripts and notebooks. It is read-only unless a write scope is named, and write scopes expire.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ELEMENTS.md §8 and steps 1–3, 7 as built; RFC 8693; DRS-8001 to 8006.
Talk track: No plain user name is ever accepted. The host app authenticates, presents a signed statement of who the user is, and gets a short-lived, origin-bound, read-only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COLLABORATION.md 'Retention, legal hold and export' and 'Tamper evidence'; docs/qa/2026-10-05/BEHAVIOUR.md (8,300-comment export).
Talk track: Collaboration is regulated communication in many firms, so it is built as a record: chained, sealed, held and exportable.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Commands and files cited on each slide.
Talk track: Claims are cheap; these are counts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drishti-common ErrorCode enum (187 codes); docs/guides/API_GUIDE.md 'Error code table' (187 rows); RACHANA_REFERENCE.md 'Problem codes' (42), 19 October 2026.
Talk track: Every error is RFC 7807 problem+json with a stable DRS code, and every code has a row that says what it means and what to do. Sutra problems have their own 42 codes.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grep on 19 October 2026: 2,396 Java @Test (+36 parameterised), 1,759 console pytest functions (520 in *_browser.py), 280 tools pytest; tests/test_embed_elements_browser.py; tests/test_page_widths_browser.py; tools/drill.sh.
Talk track: Counts are test methods, before parameterised expansion. The console's browser tests run in Chromium; embedded views in Chromium, Firefox and WebKit.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(24-core workstation, 2026-09-30 and 10-01); SCALE_BENCHMARK.md (extrapolations labelled as such).
Talk track: All measured on one workstation. At a million trades a day, opening a trade from the cache is 48 ms and a whole-book search is 134 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docs/qa/2026-10-01/README.md; docs/qa/2026-10-03/README.md; docs/qa/2026-10-05/DATA_SAFETY.md and BEHAVIOUR.md.
Talk track: Each round set out to break specific promises. The first round's headline is the strongest evidence: thousands of randomised searches agreed exactly with an independent brute-force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tools/drill.sh; git tag (32 releases, v1.0.0 to v2.4.0); git rev-list --count (1,421 commits, 19 October 2026); pom.xml enforcer (bytecode 21).
Talk track: One command verifies and only then pushes. Production runs Java 21; the same commit is also verified on Java 25 so upgrades are not a surprise. A failed console test is re-run from the run's own summary, one file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git ls-files | wc -l by language, 20 October 2026 (vendored and built assets left out); docs/ (162 Markdown documents outside qa/).
Talk track: Packs are mostly sample data and Sutras. The Java is split into small modules that depend one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(the release order agreed on 2026-10-19 and changed on 2026-10-20); IMPLEMENTATION_PLAN.md 'Roadmap'.
Talk track: What is left,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docs/architecture/BI_DESIGN.md §12.2 (waves D, W, I, E; after E, 3.0; send and push and integration after 3.0.0, product owner 2026-10-20); WRITE_BACK.md; IMPLEMENTATION_PLAN.md 'Roadmap'; GENUI.md; AI_MANAGEMENT.md; QUANT_SERVICE.md.
Talk track: 2.5.0 is built and in its release testing. Then sharing and integration, then AI, then the product owner's real-life QA, whose findings lead 2.8.0, then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docs/guides/GETTING_STARTED.md (the demo lakes in one command, -Djava.io.tmpdir); IDE_GUIDE.md; CLI_GUIDE.md; USER_GUIDE.md; README 'Try it'.
Talk track: GETTING_STARTED is the ten-minute path: build, the console's Python, the demo lakes from the committed test data, then the server and the console; IDE_GUIDE runs both halves in IntelliJ and PyCharm; CLI_GUIDE starts with pack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README.md.
Talk track: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DATASETS.md; EXPRESSIONS.md; SQL.md; BI_DESIGN.md (principles, the one logical plan); CHANGELOG 2.2.0 to 2.4.0.
Talk track: Rūpaka is BI inside Drishti, not beside it: models are rooted in the packs, three languages compile to one plan, and the servers compute every number for the person looking.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docs/guides/BI_GUIDE.md §26; REPORTS.md §5; BOARDS.md; CHANGELOG 2.4.0 (R6, R7, BI Studio); capture docs/guides/img/bistudio/studio.jpg.
Talk track: The report, model and theme designers share one shell, as Power BI's do. A Power BI author built a desk pack in it without the YAML tab: that is the browser test of the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docs/guides/PYTHON_BI.md §17; ANALYSE.md §16; CHANGELOG 2.4.0; capture docs/guides/img/bi-transform/05-browser-console.png.
Talk track: Every BI page computes nothing in the browser. Python data prep runs on the console's sandbox, step by step with a preview; the Python console is the one place your own code runs in the browser, on rows already masked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CHANGELOG.md 2.5.0 (N1 to N7: three servers in one JVM converge 52 ms after the third starts; five nodes, fake clock: dead everywhere within 40 s; a pack in the others' tables 1.0 s later; 13,542 signed calls through the rotation); docs/admin/NET.md; DRISHTI_NET.md §19.
Talk track: Off by default. Switched on, servers gossip over HTTP with calls signed by a rotating cluster key. A request goes whole to a node that renders the kind, or the document is fetched from the node that holds it; a search is scattered and merged; the console fails over with no new sign-in. Since 2.6.0 a member advertises only a real address (localhost, 127.x, ::1, 0.0.0.0 and :: are refused in node.yaml, peers and gossip), and a peer's change that would leave no enabled administrator is repaired where it is applied, audited last-admin-kept (NET.md sections 2 and 7; NetLastAdminTest).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docs/admin/PERFORMANCE.md (2026-10-18: 35.7 million trades, 50 users, 179 requests/s, heap 3.7 GB of 8 GB; form search p50 5.8 s to 0.21 s; console 182 pages/s; a restated day of 400,000 trades in 2 min 54 s at 202 requests/s); README 'Performance at scale'; SCALE_STRATEGY.md (8.2 million trades).
Talk track: Three source systems, 300,000 to 500,000 trades a day each for 30 days, loaded in random date order while 50 users read. No failures; the slowest figures are single seconds, not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2.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4.xml"/></Relationships>
</file>

<file path=ppt/slides/_rels/slide21.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99" Type="http://schemas.openxmlformats.org/officeDocument/2006/relationships/notesSlide" Target="../notesSlides/notesSlide45.xml"/></Relationships>
</file>

<file path=ppt/slides/_rels/slide22.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99" Type="http://schemas.openxmlformats.org/officeDocument/2006/relationships/notesSlide" Target="../notesSlides/notesSlide46.xml"/></Relationships>
</file>

<file path=ppt/slides/_rels/slide23.xml.rels><?xml version='1.0' encoding='UTF-8' standalone='yes'?>
<Relationships xmlns="http://schemas.openxmlformats.org/package/2006/relationships"><Relationship Id="rId1" Type="http://schemas.openxmlformats.org/officeDocument/2006/relationships/image" Target="../media/image-20-2.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4" Type="http://schemas.openxmlformats.org/officeDocument/2006/relationships/image" Target="../media/image1.jpg"/><Relationship Id="rId99" Type="http://schemas.openxmlformats.org/officeDocument/2006/relationships/notesSlide" Target="../notesSlides/notesSlide47.xml"/></Relationships>
</file>

<file path=ppt/slides/_rels/slide30.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slideLayout" Target="../slideLayouts/slideLayout2.xml"/><Relationship Id="rId6"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99" Type="http://schemas.openxmlformats.org/officeDocument/2006/relationships/notesSlide" Target="../notesSlides/notesSlide4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a:t>
            </a:r>
            <a:endParaRPr lang="en-US" sz="3400" dirty="0"/>
          </a:p>
          <a:p>
            <a:pPr indent="0" marL="0">
              <a:buNone/>
            </a:pPr>
            <a:r>
              <a:rPr lang="en-US" sz="3400" b="1" dirty="0">
                <a:solidFill>
                  <a:srgbClr val="FFFFFF"/>
                </a:solidFill>
              </a:rPr>
              <a:t>A live terminal for any record, without a screen per product</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data. Any domain. One grammar.</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2.5.0, 2.6.0 under way · Java 21 or later · console on any device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The idea: a screen is a paragraph</a:t>
            </a:r>
            <a:endParaRPr lang="en-US" sz="1200" dirty="0"/>
          </a:p>
          <a:p>
            <a:pPr indent="0" marL="0">
              <a:spcAft>
                <a:spcPts val="600"/>
              </a:spcAft>
              <a:buNone/>
            </a:pPr>
            <a:r>
              <a:rPr lang="en-US" sz="1200" b="1" dirty="0">
                <a:solidFill>
                  <a:srgbClr val="A51C30"/>
                </a:solidFill>
              </a:rPr>
              <a:t>2  Drishti 2.5: the product</a:t>
            </a:r>
            <a:endParaRPr lang="en-US" sz="1200" dirty="0"/>
          </a:p>
          <a:p>
            <a:pPr indent="0" marL="0">
              <a:spcAft>
                <a:spcPts val="600"/>
              </a:spcAft>
              <a:buNone/>
            </a:pPr>
            <a:r>
              <a:rPr lang="en-US" sz="1200" b="1" dirty="0">
                <a:solidFill>
                  <a:srgbClr val="A51C30"/>
                </a:solidFill>
              </a:rPr>
              <a:t>3  Security, drawn as flows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Evidence, by the numbers</a:t>
            </a:r>
            <a:endParaRPr lang="en-US" sz="1200" dirty="0"/>
          </a:p>
          <a:p>
            <a:pPr indent="0" marL="0">
              <a:spcAft>
                <a:spcPts val="600"/>
              </a:spcAft>
              <a:buNone/>
            </a:pPr>
            <a:r>
              <a:rPr lang="en-US" sz="1200" b="1" dirty="0">
                <a:solidFill>
                  <a:srgbClr val="A51C30"/>
                </a:solidFill>
              </a:rPr>
              <a:t>5  Where it is going</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TL;DR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Executive summary</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08176"/>
            <a:ext cx="10634472" cy="868680"/>
          </a:xfrm>
          <a:prstGeom prst="rect">
            <a:avLst/>
          </a:prstGeom>
          <a:solidFill>
            <a:srgbClr val="F7F5F2"/>
          </a:solidFill>
          <a:ln/>
        </p:spPr>
        <p:txBody>
          <a:bodyPr/>
          <a:p/>
        </p:txBody>
      </p:sp>
      <p:sp>
        <p:nvSpPr>
          <p:cNvPr id="7" name="Shape 4"/>
          <p:cNvSpPr/>
          <p:nvPr/>
        </p:nvSpPr>
        <p:spPr>
          <a:xfrm>
            <a:off x="777240" y="1408176"/>
            <a:ext cx="2651760" cy="868680"/>
          </a:xfrm>
          <a:prstGeom prst="rect">
            <a:avLst/>
          </a:prstGeom>
          <a:solidFill>
            <a:srgbClr val="F6E6E9"/>
          </a:solidFill>
          <a:ln/>
        </p:spPr>
        <p:txBody>
          <a:bodyPr/>
          <a:p/>
        </p:txBody>
      </p:sp>
      <p:sp>
        <p:nvSpPr>
          <p:cNvPr id="8" name="Shape 5"/>
          <p:cNvSpPr/>
          <p:nvPr/>
        </p:nvSpPr>
        <p:spPr>
          <a:xfrm>
            <a:off x="777240" y="1408176"/>
            <a:ext cx="54864" cy="868680"/>
          </a:xfrm>
          <a:prstGeom prst="rect">
            <a:avLst/>
          </a:prstGeom>
          <a:solidFill>
            <a:srgbClr val="A51C30"/>
          </a:solidFill>
          <a:ln/>
        </p:spPr>
        <p:txBody>
          <a:bodyPr/>
          <a:p/>
        </p:txBody>
      </p:sp>
      <p:sp>
        <p:nvSpPr>
          <p:cNvPr id="9" name="Text 6"/>
          <p:cNvSpPr txBox="1"/>
          <p:nvPr/>
        </p:nvSpPr>
        <p:spPr>
          <a:xfrm>
            <a:off x="1005840" y="1408176"/>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a live entity terminal?</a:t>
            </a:r>
            <a:endParaRPr lang="en-US" sz="1500" dirty="0"/>
          </a:p>
        </p:txBody>
      </p:sp>
      <p:sp>
        <p:nvSpPr>
          <p:cNvPr id="10" name="Text 7"/>
          <p:cNvSpPr txBox="1"/>
          <p:nvPr/>
        </p:nvSpPr>
        <p:spPr>
          <a:xfrm>
            <a:off x="3703320" y="1408176"/>
            <a:ext cx="7543800" cy="868680"/>
          </a:xfrm>
          <a:prstGeom prst="rect">
            <a:avLst/>
          </a:prstGeom>
          <a:noFill/>
          <a:ln/>
        </p:spPr>
        <p:txBody>
          <a:bodyPr wrap="square" lIns="0" tIns="0" rIns="0" bIns="0" rtlCol="0" anchor="ctr"/>
          <a:lstStyle/>
          <a:p>
            <a:pPr indent="0" marL="0">
              <a:buNone/>
            </a:pPr>
            <a:r>
              <a:rPr lang="en-US" sz="1300" dirty="0">
                <a:solidFill>
                  <a:srgbClr val="1A1A1A"/>
                </a:solidFill>
              </a:rPr>
              <a:t>One dense, keyboard-driven, ticking screen for any single record — a swap, an FX trade, a netting set, a gene variant — linked to everything it touches, with its provenance shown.</a:t>
            </a:r>
            <a:endParaRPr lang="en-US" sz="1300" dirty="0"/>
          </a:p>
        </p:txBody>
      </p:sp>
      <p:sp>
        <p:nvSpPr>
          <p:cNvPr id="11" name="Shape 8"/>
          <p:cNvSpPr/>
          <p:nvPr/>
        </p:nvSpPr>
        <p:spPr>
          <a:xfrm>
            <a:off x="777240" y="2395728"/>
            <a:ext cx="10634472" cy="868680"/>
          </a:xfrm>
          <a:prstGeom prst="rect">
            <a:avLst/>
          </a:prstGeom>
          <a:solidFill>
            <a:srgbClr val="F7F5F2"/>
          </a:solidFill>
          <a:ln/>
        </p:spPr>
        <p:txBody>
          <a:bodyPr/>
          <a:p/>
        </p:txBody>
      </p:sp>
      <p:sp>
        <p:nvSpPr>
          <p:cNvPr id="12" name="Shape 9"/>
          <p:cNvSpPr/>
          <p:nvPr/>
        </p:nvSpPr>
        <p:spPr>
          <a:xfrm>
            <a:off x="777240" y="2395728"/>
            <a:ext cx="2651760" cy="868680"/>
          </a:xfrm>
          <a:prstGeom prst="rect">
            <a:avLst/>
          </a:prstGeom>
          <a:solidFill>
            <a:srgbClr val="F6E6E9"/>
          </a:solidFill>
          <a:ln/>
        </p:spPr>
        <p:txBody>
          <a:bodyPr/>
          <a:p/>
        </p:txBody>
      </p:sp>
      <p:sp>
        <p:nvSpPr>
          <p:cNvPr id="13" name="Shape 10"/>
          <p:cNvSpPr/>
          <p:nvPr/>
        </p:nvSpPr>
        <p:spPr>
          <a:xfrm>
            <a:off x="777240" y="2395728"/>
            <a:ext cx="54864" cy="868680"/>
          </a:xfrm>
          <a:prstGeom prst="rect">
            <a:avLst/>
          </a:prstGeom>
          <a:solidFill>
            <a:srgbClr val="A51C30"/>
          </a:solidFill>
          <a:ln/>
        </p:spPr>
        <p:txBody>
          <a:bodyPr/>
          <a:p/>
        </p:txBody>
      </p:sp>
      <p:sp>
        <p:nvSpPr>
          <p:cNvPr id="14" name="Text 11"/>
          <p:cNvSpPr txBox="1"/>
          <p:nvPr/>
        </p:nvSpPr>
        <p:spPr>
          <a:xfrm>
            <a:off x="1005840" y="2395728"/>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is Drishti?</a:t>
            </a:r>
            <a:endParaRPr lang="en-US" sz="1500" dirty="0"/>
          </a:p>
        </p:txBody>
      </p:sp>
      <p:sp>
        <p:nvSpPr>
          <p:cNvPr id="15" name="Text 12"/>
          <p:cNvSpPr txBox="1"/>
          <p:nvPr/>
        </p:nvSpPr>
        <p:spPr>
          <a:xfrm>
            <a:off x="3703320" y="2395728"/>
            <a:ext cx="7543800" cy="868680"/>
          </a:xfrm>
          <a:prstGeom prst="rect">
            <a:avLst/>
          </a:prstGeom>
          <a:noFill/>
          <a:ln/>
        </p:spPr>
        <p:txBody>
          <a:bodyPr wrap="square" lIns="0" tIns="0" rIns="0" bIns="0" rtlCol="0" anchor="ctr"/>
          <a:lstStyle/>
          <a:p>
            <a:pPr indent="0" marL="0">
              <a:buNone/>
            </a:pPr>
            <a:r>
              <a:rPr lang="en-US" sz="1300" dirty="0">
                <a:solidFill>
                  <a:srgbClr val="1A1A1A"/>
                </a:solidFill>
              </a:rPr>
              <a:t>A Java 21 server and a web console that turn any record from any system into that screen, with BI on the same data and masks. A short YAML Sutra describes the view; inference fills the rest.</a:t>
            </a:r>
            <a:endParaRPr lang="en-US" sz="1300" dirty="0"/>
          </a:p>
        </p:txBody>
      </p:sp>
      <p:sp>
        <p:nvSpPr>
          <p:cNvPr id="16" name="Shape 13"/>
          <p:cNvSpPr/>
          <p:nvPr/>
        </p:nvSpPr>
        <p:spPr>
          <a:xfrm>
            <a:off x="777240" y="3383280"/>
            <a:ext cx="10634472" cy="868680"/>
          </a:xfrm>
          <a:prstGeom prst="rect">
            <a:avLst/>
          </a:prstGeom>
          <a:solidFill>
            <a:srgbClr val="F7F5F2"/>
          </a:solidFill>
          <a:ln/>
        </p:spPr>
        <p:txBody>
          <a:bodyPr/>
          <a:p/>
        </p:txBody>
      </p:sp>
      <p:sp>
        <p:nvSpPr>
          <p:cNvPr id="17" name="Shape 14"/>
          <p:cNvSpPr/>
          <p:nvPr/>
        </p:nvSpPr>
        <p:spPr>
          <a:xfrm>
            <a:off x="777240" y="3383280"/>
            <a:ext cx="2651760" cy="868680"/>
          </a:xfrm>
          <a:prstGeom prst="rect">
            <a:avLst/>
          </a:prstGeom>
          <a:solidFill>
            <a:srgbClr val="F6E6E9"/>
          </a:solidFill>
          <a:ln/>
        </p:spPr>
        <p:txBody>
          <a:bodyPr/>
          <a:p/>
        </p:txBody>
      </p:sp>
      <p:sp>
        <p:nvSpPr>
          <p:cNvPr id="18" name="Shape 15"/>
          <p:cNvSpPr/>
          <p:nvPr/>
        </p:nvSpPr>
        <p:spPr>
          <a:xfrm>
            <a:off x="777240" y="3383280"/>
            <a:ext cx="54864" cy="868680"/>
          </a:xfrm>
          <a:prstGeom prst="rect">
            <a:avLst/>
          </a:prstGeom>
          <a:solidFill>
            <a:srgbClr val="A51C30"/>
          </a:solidFill>
          <a:ln/>
        </p:spPr>
        <p:txBody>
          <a:bodyPr/>
          <a:p/>
        </p:txBody>
      </p:sp>
      <p:sp>
        <p:nvSpPr>
          <p:cNvPr id="19" name="Text 16"/>
          <p:cNvSpPr txBox="1"/>
          <p:nvPr/>
        </p:nvSpPr>
        <p:spPr>
          <a:xfrm>
            <a:off x="1005840" y="3383280"/>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Why does it matter?</a:t>
            </a:r>
            <a:endParaRPr lang="en-US" sz="1500" dirty="0"/>
          </a:p>
        </p:txBody>
      </p:sp>
      <p:sp>
        <p:nvSpPr>
          <p:cNvPr id="20" name="Text 17"/>
          <p:cNvSpPr txBox="1"/>
          <p:nvPr/>
        </p:nvSpPr>
        <p:spPr>
          <a:xfrm>
            <a:off x="3703320" y="3383280"/>
            <a:ext cx="7543800" cy="868680"/>
          </a:xfrm>
          <a:prstGeom prst="rect">
            <a:avLst/>
          </a:prstGeom>
          <a:noFill/>
          <a:ln/>
        </p:spPr>
        <p:txBody>
          <a:bodyPr wrap="square" lIns="0" tIns="0" rIns="0" bIns="0" rtlCol="0" anchor="ctr"/>
          <a:lstStyle/>
          <a:p>
            <a:pPr indent="0" marL="0">
              <a:buNone/>
            </a:pPr>
            <a:r>
              <a:rPr lang="en-US" sz="1300" dirty="0">
                <a:solidFill>
                  <a:srgbClr val="1A1A1A"/>
                </a:solidFill>
              </a:rPr>
              <a:t>Every entity kind traditionally gets a bespoke screen, written once and rotting for ever. Drishti makes a screen a paragraph, not a project — and day one is never raw JSON.</a:t>
            </a:r>
            <a:endParaRPr lang="en-US" sz="1300" dirty="0"/>
          </a:p>
        </p:txBody>
      </p:sp>
      <p:sp>
        <p:nvSpPr>
          <p:cNvPr id="21" name="Shape 18"/>
          <p:cNvSpPr/>
          <p:nvPr/>
        </p:nvSpPr>
        <p:spPr>
          <a:xfrm>
            <a:off x="777240" y="4370832"/>
            <a:ext cx="10634472" cy="868680"/>
          </a:xfrm>
          <a:prstGeom prst="rect">
            <a:avLst/>
          </a:prstGeom>
          <a:solidFill>
            <a:srgbClr val="F7F5F2"/>
          </a:solidFill>
          <a:ln/>
        </p:spPr>
        <p:txBody>
          <a:bodyPr/>
          <a:p/>
        </p:txBody>
      </p:sp>
      <p:sp>
        <p:nvSpPr>
          <p:cNvPr id="22" name="Shape 19"/>
          <p:cNvSpPr/>
          <p:nvPr/>
        </p:nvSpPr>
        <p:spPr>
          <a:xfrm>
            <a:off x="777240" y="4370832"/>
            <a:ext cx="2651760" cy="868680"/>
          </a:xfrm>
          <a:prstGeom prst="rect">
            <a:avLst/>
          </a:prstGeom>
          <a:solidFill>
            <a:srgbClr val="F6E6E9"/>
          </a:solidFill>
          <a:ln/>
        </p:spPr>
        <p:txBody>
          <a:bodyPr/>
          <a:p/>
        </p:txBody>
      </p:sp>
      <p:sp>
        <p:nvSpPr>
          <p:cNvPr id="23" name="Shape 20"/>
          <p:cNvSpPr/>
          <p:nvPr/>
        </p:nvSpPr>
        <p:spPr>
          <a:xfrm>
            <a:off x="777240" y="4370832"/>
            <a:ext cx="54864" cy="868680"/>
          </a:xfrm>
          <a:prstGeom prst="rect">
            <a:avLst/>
          </a:prstGeom>
          <a:solidFill>
            <a:srgbClr val="A51C30"/>
          </a:solidFill>
          <a:ln/>
        </p:spPr>
        <p:txBody>
          <a:bodyPr/>
          <a:p/>
        </p:txBody>
      </p:sp>
      <p:sp>
        <p:nvSpPr>
          <p:cNvPr id="24" name="Text 21"/>
          <p:cNvSpPr txBox="1"/>
          <p:nvPr/>
        </p:nvSpPr>
        <p:spPr>
          <a:xfrm>
            <a:off x="1005840" y="4370832"/>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What can it do today?</a:t>
            </a:r>
            <a:endParaRPr lang="en-US" sz="1500" dirty="0"/>
          </a:p>
        </p:txBody>
      </p:sp>
      <p:sp>
        <p:nvSpPr>
          <p:cNvPr id="25" name="Text 22"/>
          <p:cNvSpPr txBox="1"/>
          <p:nvPr/>
        </p:nvSpPr>
        <p:spPr>
          <a:xfrm>
            <a:off x="3703320" y="4370832"/>
            <a:ext cx="7543800" cy="868680"/>
          </a:xfrm>
          <a:prstGeom prst="rect">
            <a:avLst/>
          </a:prstGeom>
          <a:noFill/>
          <a:ln/>
        </p:spPr>
        <p:txBody>
          <a:bodyPr wrap="square" lIns="0" tIns="0" rIns="0" bIns="0" rtlCol="0" anchor="ctr"/>
          <a:lstStyle/>
          <a:p>
            <a:pPr indent="0" marL="0">
              <a:buNone/>
            </a:pPr>
            <a:r>
              <a:rPr lang="en-US" sz="1300" dirty="0">
                <a:solidFill>
                  <a:srgbClr val="1A1A1A"/>
                </a:solidFill>
              </a:rPr>
              <a:t>Release 2.5 and 2.6 so far: 7 packs, 197 Sutras, 22 panel kinds, 19 source plugins, BI Studio with statements, Python data prep, several servers as one (Drishti*net); 35.7 million trades served to 50 users at 179 requests/s.</a:t>
            </a:r>
            <a:endParaRPr lang="en-US" sz="1300" dirty="0"/>
          </a:p>
        </p:txBody>
      </p:sp>
      <p:sp>
        <p:nvSpPr>
          <p:cNvPr id="26" name="Shape 23"/>
          <p:cNvSpPr/>
          <p:nvPr/>
        </p:nvSpPr>
        <p:spPr>
          <a:xfrm>
            <a:off x="777240" y="5358384"/>
            <a:ext cx="10634472" cy="868680"/>
          </a:xfrm>
          <a:prstGeom prst="rect">
            <a:avLst/>
          </a:prstGeom>
          <a:solidFill>
            <a:srgbClr val="F7F5F2"/>
          </a:solidFill>
          <a:ln/>
        </p:spPr>
        <p:txBody>
          <a:bodyPr/>
          <a:p/>
        </p:txBody>
      </p:sp>
      <p:sp>
        <p:nvSpPr>
          <p:cNvPr id="27" name="Shape 24"/>
          <p:cNvSpPr/>
          <p:nvPr/>
        </p:nvSpPr>
        <p:spPr>
          <a:xfrm>
            <a:off x="777240" y="5358384"/>
            <a:ext cx="2651760" cy="868680"/>
          </a:xfrm>
          <a:prstGeom prst="rect">
            <a:avLst/>
          </a:prstGeom>
          <a:solidFill>
            <a:srgbClr val="F6E6E9"/>
          </a:solidFill>
          <a:ln/>
        </p:spPr>
        <p:txBody>
          <a:bodyPr/>
          <a:p/>
        </p:txBody>
      </p:sp>
      <p:sp>
        <p:nvSpPr>
          <p:cNvPr id="28" name="Shape 25"/>
          <p:cNvSpPr/>
          <p:nvPr/>
        </p:nvSpPr>
        <p:spPr>
          <a:xfrm>
            <a:off x="777240" y="5358384"/>
            <a:ext cx="54864" cy="868680"/>
          </a:xfrm>
          <a:prstGeom prst="rect">
            <a:avLst/>
          </a:prstGeom>
          <a:solidFill>
            <a:srgbClr val="A51C30"/>
          </a:solidFill>
          <a:ln/>
        </p:spPr>
        <p:txBody>
          <a:bodyPr/>
          <a:p/>
        </p:txBody>
      </p:sp>
      <p:sp>
        <p:nvSpPr>
          <p:cNvPr id="29" name="Text 26"/>
          <p:cNvSpPr txBox="1"/>
          <p:nvPr/>
        </p:nvSpPr>
        <p:spPr>
          <a:xfrm>
            <a:off x="1005840" y="5358384"/>
            <a:ext cx="2331720" cy="868680"/>
          </a:xfrm>
          <a:prstGeom prst="rect">
            <a:avLst/>
          </a:prstGeom>
          <a:noFill/>
          <a:ln/>
        </p:spPr>
        <p:txBody>
          <a:bodyPr wrap="square" lIns="0" tIns="0" rIns="0" bIns="0" rtlCol="0" anchor="ctr"/>
          <a:lstStyle/>
          <a:p>
            <a:pPr indent="0" marL="0">
              <a:buNone/>
            </a:pPr>
            <a:r>
              <a:rPr lang="en-US" sz="1500" b="1" dirty="0">
                <a:solidFill>
                  <a:srgbClr val="8A1626"/>
                </a:solidFill>
              </a:rPr>
              <a:t>Where is it going?</a:t>
            </a:r>
            <a:endParaRPr lang="en-US" sz="1500" dirty="0"/>
          </a:p>
        </p:txBody>
      </p:sp>
      <p:sp>
        <p:nvSpPr>
          <p:cNvPr id="30" name="Text 27"/>
          <p:cNvSpPr txBox="1"/>
          <p:nvPr/>
        </p:nvSpPr>
        <p:spPr>
          <a:xfrm>
            <a:off x="3703320" y="5358384"/>
            <a:ext cx="7543800" cy="868680"/>
          </a:xfrm>
          <a:prstGeom prst="rect">
            <a:avLst/>
          </a:prstGeom>
          <a:noFill/>
          <a:ln/>
        </p:spPr>
        <p:txBody>
          <a:bodyPr wrap="square" lIns="0" tIns="0" rIns="0" bIns="0" rtlCol="0" anchor="ctr"/>
          <a:lstStyle/>
          <a:p>
            <a:pPr indent="0" marL="0">
              <a:buNone/>
            </a:pPr>
            <a:r>
              <a:rPr lang="en-US" sz="1300" dirty="0">
                <a:solidFill>
                  <a:srgbClr val="1A1A1A"/>
                </a:solidFill>
              </a:rPr>
              <a:t>2.6.0 statements, field parameters, Cassandra, Iceberg without Hadoop; 2.7.0 write-back; 2.8.0 AI and GenUI; a real-life QA; 2.9.0 production readiness; then 3.0.</a:t>
            </a:r>
            <a:endParaRPr lang="en-US" sz="13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01</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The idea: a screen is a paragraph</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Describe the view once, in a grammar. Let the data's shape fill the rest.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CATEGORY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is a live entity terminal?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Text 3"/>
          <p:cNvSpPr txBox="1"/>
          <p:nvPr/>
        </p:nvSpPr>
        <p:spPr>
          <a:xfrm>
            <a:off x="777240" y="1508760"/>
            <a:ext cx="10634472" cy="3931920"/>
          </a:xfrm>
          <a:prstGeom prst="rect">
            <a:avLst/>
          </a:prstGeom>
          <a:noFill/>
          <a:ln/>
        </p:spPr>
        <p:txBody>
          <a:bodyPr wrap="square" lIns="0" tIns="0" rIns="0" bIns="0" rtlCol="0" anchor="t"/>
          <a:lstStyle/>
          <a:p>
            <a:pPr indent="0" marL="0">
              <a:buNone/>
            </a:pPr>
            <a:r>
              <a:rPr lang="en-US" sz="1900" b="1" dirty="0">
                <a:solidFill>
                  <a:srgbClr val="A51C30"/>
                </a:solidFill>
              </a:rPr>
              <a:t>▪  One record, one dense screen</a:t>
            </a:r>
            <a:endParaRPr lang="en-US" sz="1900" dirty="0"/>
          </a:p>
          <a:p>
            <a:pPr indent="0" marL="0">
              <a:spcAft>
                <a:spcPts val="1800"/>
              </a:spcAft>
              <a:buNone/>
            </a:pPr>
            <a:r>
              <a:rPr lang="en-US" sz="1600" dirty="0">
                <a:solidFill>
                  <a:srgbClr val="4A5058"/>
                </a:solidFill>
              </a:rPr>
              <a:t>A swap, an FX trade, a netting set, a ticket or a gene variant, with its headline figures in a strip and its detail in up to twenty-two kinds of panel.</a:t>
            </a:r>
            <a:endParaRPr lang="en-US" sz="1900" dirty="0"/>
          </a:p>
          <a:p>
            <a:pPr indent="0" marL="0">
              <a:buNone/>
            </a:pPr>
            <a:r>
              <a:rPr lang="en-US" sz="1900" b="1" dirty="0">
                <a:solidFill>
                  <a:srgbClr val="A51C30"/>
                </a:solidFill>
              </a:rPr>
              <a:t>▪  Live, not refreshed</a:t>
            </a:r>
            <a:endParaRPr lang="en-US" sz="1900" dirty="0"/>
          </a:p>
          <a:p>
            <a:pPr indent="0" marL="0">
              <a:spcAft>
                <a:spcPts val="1800"/>
              </a:spcAft>
              <a:buNone/>
            </a:pPr>
            <a:r>
              <a:rPr lang="en-US" sz="1600" dirty="0">
                <a:solidFill>
                  <a:srgbClr val="4A5058"/>
                </a:solidFill>
              </a:rPr>
              <a:t>When the source changes, the open screen changes: only the changed figures are sent, measured at p99 11 ms from tick to frame.</a:t>
            </a:r>
            <a:endParaRPr lang="en-US" sz="1900" dirty="0"/>
          </a:p>
          <a:p>
            <a:pPr indent="0" marL="0">
              <a:buNone/>
            </a:pPr>
            <a:r>
              <a:rPr lang="en-US" sz="1900" b="1" dirty="0">
                <a:solidFill>
                  <a:srgbClr val="A51C30"/>
                </a:solidFill>
              </a:rPr>
              <a:t>▪  Linked</a:t>
            </a:r>
            <a:endParaRPr lang="en-US" sz="1900" dirty="0"/>
          </a:p>
          <a:p>
            <a:pPr indent="0" marL="0">
              <a:spcAft>
                <a:spcPts val="1800"/>
              </a:spcAft>
              <a:buNone/>
            </a:pPr>
            <a:r>
              <a:rPr lang="en-US" sz="1600" dirty="0">
                <a:solidFill>
                  <a:srgbClr val="4A5058"/>
                </a:solidFill>
              </a:rPr>
              <a:t>Every id on the screen is a link: a trade's counterparty, its netting set, its curve — one keystroke away, across systems.</a:t>
            </a:r>
            <a:endParaRPr lang="en-US" sz="1900" dirty="0"/>
          </a:p>
          <a:p>
            <a:pPr indent="0" marL="0">
              <a:buNone/>
            </a:pPr>
            <a:r>
              <a:rPr lang="en-US" sz="1900" b="1" dirty="0">
                <a:solidFill>
                  <a:srgbClr val="A51C30"/>
                </a:solidFill>
              </a:rPr>
              <a:t>▪  Explained</a:t>
            </a:r>
            <a:endParaRPr lang="en-US" sz="1900" dirty="0"/>
          </a:p>
          <a:p>
            <a:pPr indent="0" marL="0">
              <a:spcAft>
                <a:spcPts val="1800"/>
              </a:spcAft>
              <a:buNone/>
            </a:pPr>
            <a:r>
              <a:rPr lang="en-US" sz="1600" dirty="0">
                <a:solidFill>
                  <a:srgbClr val="4A5058"/>
                </a:solidFill>
              </a:rPr>
              <a:t>Every view says where its data came from, how fresh it is, and why it is laid out the way it is.</a:t>
            </a:r>
            <a:endParaRPr lang="en-US" sz="1900" dirty="0"/>
          </a:p>
        </p:txBody>
      </p:sp>
      <p:sp>
        <p:nvSpPr>
          <p:cNvPr id="7" name="Shape 4"/>
          <p:cNvSpPr/>
          <p:nvPr/>
        </p:nvSpPr>
        <p:spPr>
          <a:xfrm>
            <a:off x="777240" y="5550408"/>
            <a:ext cx="10634472" cy="694944"/>
          </a:xfrm>
          <a:prstGeom prst="rect">
            <a:avLst/>
          </a:prstGeom>
          <a:solidFill>
            <a:srgbClr val="F6E6E9"/>
          </a:solidFill>
          <a:ln/>
        </p:spPr>
        <p:txBody>
          <a:bodyPr/>
          <a:p/>
        </p:txBody>
      </p:sp>
      <p:sp>
        <p:nvSpPr>
          <p:cNvPr id="8" name="Shape 5"/>
          <p:cNvSpPr/>
          <p:nvPr/>
        </p:nvSpPr>
        <p:spPr>
          <a:xfrm>
            <a:off x="777240" y="5550408"/>
            <a:ext cx="54864" cy="694944"/>
          </a:xfrm>
          <a:prstGeom prst="rect">
            <a:avLst/>
          </a:prstGeom>
          <a:solidFill>
            <a:srgbClr val="A51C30"/>
          </a:solidFill>
          <a:ln/>
        </p:spPr>
        <p:txBody>
          <a:bodyPr/>
          <a:p/>
        </p:txBody>
      </p:sp>
      <p:sp>
        <p:nvSpPr>
          <p:cNvPr id="9"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terminal is the standard for dense, live screens — Drishti makes one for any record you have, not only the vendor's.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PROBLEM</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entity kind gets a bespoke screen — and the screen rots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44752"/>
            <a:ext cx="5166360" cy="384048"/>
          </a:xfrm>
          <a:prstGeom prst="rect">
            <a:avLst/>
          </a:prstGeom>
          <a:solidFill>
            <a:srgbClr val="F6E6E9"/>
          </a:solidFill>
          <a:ln/>
        </p:spPr>
        <p:txBody>
          <a:bodyPr/>
          <a:p/>
        </p:txBody>
      </p:sp>
      <p:sp>
        <p:nvSpPr>
          <p:cNvPr id="7" name="Text 4"/>
          <p:cNvSpPr txBox="1"/>
          <p:nvPr/>
        </p:nvSpPr>
        <p:spPr>
          <a:xfrm>
            <a:off x="941832"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 screen per product, in the documents' own words</a:t>
            </a:r>
            <a:endParaRPr lang="en-US" sz="1300" dirty="0"/>
          </a:p>
        </p:txBody>
      </p:sp>
      <p:sp>
        <p:nvSpPr>
          <p:cNvPr id="8" name="Text 5"/>
          <p:cNvSpPr txBox="1"/>
          <p:nvPr/>
        </p:nvSpPr>
        <p:spPr>
          <a:xfrm>
            <a:off x="868680"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Hundreds of entity kinds</a:t>
            </a:r>
            <a:endParaRPr lang="en-US" sz="1500" dirty="0"/>
          </a:p>
          <a:p>
            <a:pPr indent="0" marL="0">
              <a:spcAft>
                <a:spcPts val="900"/>
              </a:spcAft>
              <a:buNone/>
            </a:pPr>
            <a:r>
              <a:rPr lang="en-US" sz="1300" dirty="0">
                <a:solidFill>
                  <a:srgbClr val="4A5058"/>
                </a:solidFill>
              </a:rPr>
              <a:t>“Front-office, risk and operations staff look at hundreds of entity kinds.”</a:t>
            </a:r>
            <a:endParaRPr lang="en-US" sz="1500" dirty="0"/>
          </a:p>
          <a:p>
            <a:pPr indent="0" marL="0">
              <a:buNone/>
            </a:pPr>
            <a:r>
              <a:rPr lang="en-US" sz="1500" b="1" dirty="0">
                <a:solidFill>
                  <a:srgbClr val="A51C30"/>
                </a:solidFill>
              </a:rPr>
              <a:t>▪  Written once, rotting for ever</a:t>
            </a:r>
            <a:endParaRPr lang="en-US" sz="1500" dirty="0"/>
          </a:p>
          <a:p>
            <a:pPr indent="0" marL="0">
              <a:spcAft>
                <a:spcPts val="900"/>
              </a:spcAft>
              <a:buNone/>
            </a:pPr>
            <a:r>
              <a:rPr lang="en-US" sz="1300" dirty="0">
                <a:solidFill>
                  <a:srgbClr val="4A5058"/>
                </a:solidFill>
              </a:rPr>
              <a:t>“Each one traditionally gets a bespoke screen, written once and rotting forever.”</a:t>
            </a:r>
            <a:endParaRPr lang="en-US" sz="1500" dirty="0"/>
          </a:p>
          <a:p>
            <a:pPr indent="0" marL="0">
              <a:buNone/>
            </a:pPr>
            <a:r>
              <a:rPr lang="en-US" sz="1500" b="1" dirty="0">
                <a:solidFill>
                  <a:srgbClr val="A51C30"/>
                </a:solidFill>
              </a:rPr>
              <a:t>▪  Data outruns screens</a:t>
            </a:r>
            <a:endParaRPr lang="en-US" sz="1500" dirty="0"/>
          </a:p>
          <a:p>
            <a:pPr indent="0" marL="0">
              <a:spcAft>
                <a:spcPts val="900"/>
              </a:spcAft>
              <a:buNone/>
            </a:pPr>
            <a:r>
              <a:rPr lang="en-US" sz="1300" dirty="0">
                <a:solidFill>
                  <a:srgbClr val="4A5058"/>
                </a:solidFill>
              </a:rPr>
              <a:t>“The data changes shape faster than screens can be rebuilt.”</a:t>
            </a:r>
            <a:endParaRPr lang="en-US" sz="1500" dirty="0"/>
          </a:p>
        </p:txBody>
      </p:sp>
      <p:sp>
        <p:nvSpPr>
          <p:cNvPr id="9" name="Shape 6"/>
          <p:cNvSpPr/>
          <p:nvPr/>
        </p:nvSpPr>
        <p:spPr>
          <a:xfrm>
            <a:off x="6245352" y="1444752"/>
            <a:ext cx="5166360" cy="384048"/>
          </a:xfrm>
          <a:prstGeom prst="rect">
            <a:avLst/>
          </a:prstGeom>
          <a:solidFill>
            <a:srgbClr val="F6E6E9"/>
          </a:solidFill>
          <a:ln/>
        </p:spPr>
        <p:txBody>
          <a:bodyPr/>
          <a:p/>
        </p:txBody>
      </p:sp>
      <p:sp>
        <p:nvSpPr>
          <p:cNvPr id="10" name="Text 7"/>
          <p:cNvSpPr txBox="1"/>
          <p:nvPr/>
        </p:nvSpPr>
        <p:spPr>
          <a:xfrm>
            <a:off x="6409944" y="1444752"/>
            <a:ext cx="4846320" cy="384048"/>
          </a:xfrm>
          <a:prstGeom prst="rect">
            <a:avLst/>
          </a:prstGeom>
          <a:noFill/>
          <a:ln/>
        </p:spPr>
        <p:txBody>
          <a:bodyPr wrap="square" lIns="0" tIns="0" rIns="0" bIns="0" rtlCol="0" anchor="ctr"/>
          <a:lstStyle/>
          <a:p>
            <a:pPr indent="0" marL="0">
              <a:buNone/>
            </a:pPr>
            <a:r>
              <a:rPr lang="en-US" sz="1300" b="1" dirty="0">
                <a:solidFill>
                  <a:srgbClr val="8A1626"/>
                </a:solidFill>
              </a:rPr>
              <a:t>And what people do in the meantime</a:t>
            </a:r>
            <a:endParaRPr lang="en-US" sz="1300" dirty="0"/>
          </a:p>
        </p:txBody>
      </p:sp>
      <p:sp>
        <p:nvSpPr>
          <p:cNvPr id="11" name="Text 8"/>
          <p:cNvSpPr txBox="1"/>
          <p:nvPr/>
        </p:nvSpPr>
        <p:spPr>
          <a:xfrm>
            <a:off x="6336792" y="1965960"/>
            <a:ext cx="4983480" cy="3474720"/>
          </a:xfrm>
          <a:prstGeom prst="rect">
            <a:avLst/>
          </a:prstGeom>
          <a:noFill/>
          <a:ln/>
        </p:spPr>
        <p:txBody>
          <a:bodyPr wrap="square" lIns="0" tIns="0" rIns="0" bIns="0" rtlCol="0" anchor="t"/>
          <a:lstStyle/>
          <a:p>
            <a:pPr indent="0" marL="0">
              <a:buNone/>
            </a:pPr>
            <a:r>
              <a:rPr lang="en-US" sz="1500" b="1" dirty="0">
                <a:solidFill>
                  <a:srgbClr val="A51C30"/>
                </a:solidFill>
              </a:rPr>
              <a:t>▪  Tab between systems</a:t>
            </a:r>
            <a:endParaRPr lang="en-US" sz="1500" dirty="0"/>
          </a:p>
          <a:p>
            <a:pPr indent="0" marL="0">
              <a:spcAft>
                <a:spcPts val="900"/>
              </a:spcAft>
              <a:buNone/>
            </a:pPr>
            <a:r>
              <a:rPr lang="en-US" sz="1300" dirty="0">
                <a:solidFill>
                  <a:srgbClr val="4A5058"/>
                </a:solidFill>
              </a:rPr>
              <a:t>“A trade lives in one system, its netting set in another, its curve in a third … the desk tabs between them.”</a:t>
            </a:r>
            <a:endParaRPr lang="en-US" sz="1500" dirty="0"/>
          </a:p>
          <a:p>
            <a:pPr indent="0" marL="0">
              <a:buNone/>
            </a:pPr>
            <a:r>
              <a:rPr lang="en-US" sz="1500" b="1" dirty="0">
                <a:solidFill>
                  <a:srgbClr val="A51C30"/>
                </a:solidFill>
              </a:rPr>
              <a:t>▪  Wait for a screen</a:t>
            </a:r>
            <a:endParaRPr lang="en-US" sz="1500" dirty="0"/>
          </a:p>
          <a:p>
            <a:pPr indent="0" marL="0">
              <a:spcAft>
                <a:spcPts val="900"/>
              </a:spcAft>
              <a:buNone/>
            </a:pPr>
            <a:r>
              <a:rPr lang="en-US" sz="1300" dirty="0">
                <a:solidFill>
                  <a:srgbClr val="4A5058"/>
                </a:solidFill>
              </a:rPr>
              <a:t>“Every new product type waits for a screen.”</a:t>
            </a:r>
            <a:endParaRPr lang="en-US" sz="1500" dirty="0"/>
          </a:p>
          <a:p>
            <a:pPr indent="0" marL="0">
              <a:buNone/>
            </a:pPr>
            <a:r>
              <a:rPr lang="en-US" sz="1500" b="1" dirty="0">
                <a:solidFill>
                  <a:srgbClr val="A51C30"/>
                </a:solidFill>
              </a:rPr>
              <a:t>▪  Read raw JSON</a:t>
            </a:r>
            <a:endParaRPr lang="en-US" sz="1500" dirty="0"/>
          </a:p>
          <a:p>
            <a:pPr indent="0" marL="0">
              <a:spcAft>
                <a:spcPts val="900"/>
              </a:spcAft>
              <a:buNone/>
            </a:pPr>
            <a:r>
              <a:rPr lang="en-US" sz="1300" dirty="0">
                <a:solidFill>
                  <a:srgbClr val="4A5058"/>
                </a:solidFill>
              </a:rPr>
              <a:t>“A new feed or product has no screen at all, so on day one people read raw JSON or wait.”</a:t>
            </a:r>
            <a:endParaRPr lang="en-US" sz="1500" dirty="0"/>
          </a:p>
        </p:txBody>
      </p:sp>
      <p:sp>
        <p:nvSpPr>
          <p:cNvPr id="12" name="Shape 9"/>
          <p:cNvSpPr/>
          <p:nvPr/>
        </p:nvSpPr>
        <p:spPr>
          <a:xfrm>
            <a:off x="777240" y="5550408"/>
            <a:ext cx="10634472" cy="694944"/>
          </a:xfrm>
          <a:prstGeom prst="rect">
            <a:avLst/>
          </a:prstGeom>
          <a:solidFill>
            <a:srgbClr val="F6E6E9"/>
          </a:solidFill>
          <a:ln/>
        </p:spPr>
        <p:txBody>
          <a:bodyPr/>
          <a:p/>
        </p:txBody>
      </p:sp>
      <p:sp>
        <p:nvSpPr>
          <p:cNvPr id="13" name="Shape 10"/>
          <p:cNvSpPr/>
          <p:nvPr/>
        </p:nvSpPr>
        <p:spPr>
          <a:xfrm>
            <a:off x="777240" y="5550408"/>
            <a:ext cx="54864" cy="694944"/>
          </a:xfrm>
          <a:prstGeom prst="rect">
            <a:avLst/>
          </a:prstGeom>
          <a:solidFill>
            <a:srgbClr val="A51C30"/>
          </a:solidFill>
          <a:ln/>
        </p:spPr>
        <p:txBody>
          <a:bodyPr/>
          <a:p/>
        </p:txBody>
      </p:sp>
      <p:sp>
        <p:nvSpPr>
          <p:cNvPr id="14"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Nobody here is short of data — they are short of a screen for it that is dense, live and linked.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SHAPE OF THE FIX</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coded screen per product — to one grammar and inference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8" name="Text 5"/>
          <p:cNvSpPr txBox="1"/>
          <p:nvPr/>
        </p:nvSpPr>
        <p:spPr>
          <a:xfrm>
            <a:off x="914400" y="2057400"/>
            <a:ext cx="1828800" cy="713232"/>
          </a:xfrm>
          <a:prstGeom prst="rect">
            <a:avLst/>
          </a:prstGeom>
          <a:noFill/>
          <a:ln/>
        </p:spPr>
        <p:txBody>
          <a:bodyPr wrap="square" lIns="0" tIns="0" rIns="0" bIns="0" rtlCol="0" anchor="t"/>
          <a:lstStyle/>
          <a:p>
            <a:pPr indent="0" marL="0">
              <a:buNone/>
            </a:pPr>
            <a:r>
              <a:rPr lang="en-US" sz="1150" dirty="0">
                <a:solidFill>
                  <a:srgbClr val="4A5058"/>
                </a:solidFill>
              </a:rPr>
              <a:t>Trades, curves, tickets, variants</a:t>
            </a:r>
            <a:endParaRPr lang="en-US" sz="1150" dirty="0"/>
          </a:p>
        </p:txBody>
      </p:sp>
      <p:sp>
        <p:nvSpPr>
          <p:cNvPr id="9" name="Shape 6"/>
          <p:cNvSpPr/>
          <p:nvPr/>
        </p:nvSpPr>
        <p:spPr>
          <a:xfrm>
            <a:off x="32461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3832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screen per kind</a:t>
            </a:r>
            <a:endParaRPr lang="en-US" sz="1500" dirty="0"/>
          </a:p>
        </p:txBody>
      </p:sp>
      <p:sp>
        <p:nvSpPr>
          <p:cNvPr id="11" name="Text 8"/>
          <p:cNvSpPr txBox="1"/>
          <p:nvPr/>
        </p:nvSpPr>
        <p:spPr>
          <a:xfrm>
            <a:off x="33832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Coded by a developer, per product</a:t>
            </a:r>
            <a:endParaRPr lang="en-US" sz="1150" dirty="0"/>
          </a:p>
        </p:txBody>
      </p:sp>
      <p:sp>
        <p:nvSpPr>
          <p:cNvPr id="12" name="Shape 9"/>
          <p:cNvSpPr/>
          <p:nvPr/>
        </p:nvSpPr>
        <p:spPr>
          <a:xfrm>
            <a:off x="5989320" y="1600200"/>
            <a:ext cx="237744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6126480" y="1709928"/>
            <a:ext cx="2103120" cy="329184"/>
          </a:xfrm>
          <a:prstGeom prst="rect">
            <a:avLst/>
          </a:prstGeom>
          <a:noFill/>
          <a:ln/>
        </p:spPr>
        <p:txBody>
          <a:bodyPr wrap="square" lIns="0" tIns="0" rIns="0" bIns="0" rtlCol="0" anchor="t"/>
          <a:lstStyle/>
          <a:p>
            <a:pPr indent="0" marL="0">
              <a:buNone/>
            </a:pPr>
            <a:r>
              <a:rPr lang="en-US" sz="1500" b="1" dirty="0">
                <a:solidFill>
                  <a:srgbClr val="1A1A1A"/>
                </a:solidFill>
              </a:rPr>
              <a:t>A backlog</a:t>
            </a:r>
            <a:endParaRPr lang="en-US" sz="1500" dirty="0"/>
          </a:p>
        </p:txBody>
      </p:sp>
      <p:sp>
        <p:nvSpPr>
          <p:cNvPr id="14" name="Text 11"/>
          <p:cNvSpPr txBox="1"/>
          <p:nvPr/>
        </p:nvSpPr>
        <p:spPr>
          <a:xfrm>
            <a:off x="6126480" y="2057400"/>
            <a:ext cx="2103120" cy="713232"/>
          </a:xfrm>
          <a:prstGeom prst="rect">
            <a:avLst/>
          </a:prstGeom>
          <a:noFill/>
          <a:ln/>
        </p:spPr>
        <p:txBody>
          <a:bodyPr wrap="square" lIns="0" tIns="0" rIns="0" bIns="0" rtlCol="0" anchor="t"/>
          <a:lstStyle/>
          <a:p>
            <a:pPr indent="0" marL="0">
              <a:buNone/>
            </a:pPr>
            <a:r>
              <a:rPr lang="en-US" sz="1150" dirty="0">
                <a:solidFill>
                  <a:srgbClr val="4A5058"/>
                </a:solidFill>
              </a:rPr>
              <a:t>New products wait for a screen</a:t>
            </a:r>
            <a:endParaRPr lang="en-US" sz="1150" dirty="0"/>
          </a:p>
        </p:txBody>
      </p:sp>
      <p:sp>
        <p:nvSpPr>
          <p:cNvPr id="15" name="Shape 12"/>
          <p:cNvSpPr/>
          <p:nvPr/>
        </p:nvSpPr>
        <p:spPr>
          <a:xfrm>
            <a:off x="8732520" y="160020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8869680" y="170992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Drift</a:t>
            </a:r>
            <a:endParaRPr lang="en-US" sz="1500" dirty="0"/>
          </a:p>
        </p:txBody>
      </p:sp>
      <p:sp>
        <p:nvSpPr>
          <p:cNvPr id="17" name="Text 14"/>
          <p:cNvSpPr txBox="1"/>
          <p:nvPr/>
        </p:nvSpPr>
        <p:spPr>
          <a:xfrm>
            <a:off x="8869680" y="2057400"/>
            <a:ext cx="2404872" cy="713232"/>
          </a:xfrm>
          <a:prstGeom prst="rect">
            <a:avLst/>
          </a:prstGeom>
          <a:noFill/>
          <a:ln/>
        </p:spPr>
        <p:txBody>
          <a:bodyPr wrap="square" lIns="0" tIns="0" rIns="0" bIns="0" rtlCol="0" anchor="t"/>
          <a:lstStyle/>
          <a:p>
            <a:pPr indent="0" marL="0">
              <a:buNone/>
            </a:pPr>
            <a:r>
              <a:rPr lang="en-US" sz="1150" dirty="0">
                <a:solidFill>
                  <a:srgbClr val="4A5058"/>
                </a:solidFill>
              </a:rPr>
              <a:t>The data changes; the screen does not</a:t>
            </a:r>
            <a:endParaRPr lang="en-US" sz="1150" dirty="0"/>
          </a:p>
        </p:txBody>
      </p:sp>
      <p:sp>
        <p:nvSpPr>
          <p:cNvPr id="18" name="Shape 15"/>
          <p:cNvSpPr/>
          <p:nvPr/>
        </p:nvSpPr>
        <p:spPr>
          <a:xfrm>
            <a:off x="2880360" y="2217420"/>
            <a:ext cx="365760" cy="914"/>
          </a:xfrm>
          <a:prstGeom prst="line">
            <a:avLst/>
          </a:prstGeom>
          <a:noFill/>
          <a:ln w="22225">
            <a:solidFill>
              <a:srgbClr val="A51C30"/>
            </a:solidFill>
            <a:prstDash val="solid"/>
            <a:tailEnd type="triangle"/>
          </a:ln>
        </p:spPr>
        <p:txBody>
          <a:bodyPr/>
          <a:p/>
        </p:txBody>
      </p:sp>
      <p:sp>
        <p:nvSpPr>
          <p:cNvPr id="19" name="Shape 16"/>
          <p:cNvSpPr/>
          <p:nvPr/>
        </p:nvSpPr>
        <p:spPr>
          <a:xfrm>
            <a:off x="5623560" y="2217420"/>
            <a:ext cx="365760" cy="914"/>
          </a:xfrm>
          <a:prstGeom prst="line">
            <a:avLst/>
          </a:prstGeom>
          <a:noFill/>
          <a:ln w="22225">
            <a:solidFill>
              <a:srgbClr val="A51C30"/>
            </a:solidFill>
            <a:prstDash val="solid"/>
            <a:tailEnd type="triangle"/>
          </a:ln>
        </p:spPr>
        <p:txBody>
          <a:bodyPr/>
          <a:p/>
        </p:txBody>
      </p:sp>
      <p:sp>
        <p:nvSpPr>
          <p:cNvPr id="20" name="Shape 17"/>
          <p:cNvSpPr/>
          <p:nvPr/>
        </p:nvSpPr>
        <p:spPr>
          <a:xfrm>
            <a:off x="8366760" y="2217420"/>
            <a:ext cx="365760" cy="914"/>
          </a:xfrm>
          <a:prstGeom prst="line">
            <a:avLst/>
          </a:prstGeom>
          <a:noFill/>
          <a:ln w="22225">
            <a:solidFill>
              <a:srgbClr val="A51C30"/>
            </a:solidFill>
            <a:prstDash val="solid"/>
            <a:tailEnd type="triangle"/>
          </a:ln>
        </p:spPr>
        <p:txBody>
          <a:bodyPr/>
          <a:p/>
        </p:txBody>
      </p:sp>
      <p:sp>
        <p:nvSpPr>
          <p:cNvPr id="21" name="Shape 18"/>
          <p:cNvSpPr/>
          <p:nvPr/>
        </p:nvSpPr>
        <p:spPr>
          <a:xfrm>
            <a:off x="777240" y="3520440"/>
            <a:ext cx="2103120"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14400" y="3630168"/>
            <a:ext cx="1828800" cy="329184"/>
          </a:xfrm>
          <a:prstGeom prst="rect">
            <a:avLst/>
          </a:prstGeom>
          <a:noFill/>
          <a:ln/>
        </p:spPr>
        <p:txBody>
          <a:bodyPr wrap="square" lIns="0" tIns="0" rIns="0" bIns="0" rtlCol="0" anchor="t"/>
          <a:lstStyle/>
          <a:p>
            <a:pPr indent="0" marL="0">
              <a:buNone/>
            </a:pPr>
            <a:r>
              <a:rPr lang="en-US" sz="1500" b="1" dirty="0">
                <a:solidFill>
                  <a:srgbClr val="1A1A1A"/>
                </a:solidFill>
              </a:rPr>
              <a:t>Your systems</a:t>
            </a:r>
            <a:endParaRPr lang="en-US" sz="1500" dirty="0"/>
          </a:p>
        </p:txBody>
      </p:sp>
      <p:sp>
        <p:nvSpPr>
          <p:cNvPr id="23" name="Text 20"/>
          <p:cNvSpPr txBox="1"/>
          <p:nvPr/>
        </p:nvSpPr>
        <p:spPr>
          <a:xfrm>
            <a:off x="914400" y="3977640"/>
            <a:ext cx="1828800" cy="713232"/>
          </a:xfrm>
          <a:prstGeom prst="rect">
            <a:avLst/>
          </a:prstGeom>
          <a:noFill/>
          <a:ln/>
        </p:spPr>
        <p:txBody>
          <a:bodyPr wrap="square" lIns="0" tIns="0" rIns="0" bIns="0" rtlCol="0" anchor="t"/>
          <a:lstStyle/>
          <a:p>
            <a:pPr indent="0" marL="0">
              <a:buNone/>
            </a:pPr>
            <a:r>
              <a:rPr lang="en-US" sz="1150" dirty="0">
                <a:solidFill>
                  <a:srgbClr val="4A5058"/>
                </a:solidFill>
              </a:rPr>
              <a:t>Read where they are, through plugins</a:t>
            </a:r>
            <a:endParaRPr lang="en-US" sz="1150" dirty="0"/>
          </a:p>
        </p:txBody>
      </p:sp>
      <p:sp>
        <p:nvSpPr>
          <p:cNvPr id="24" name="Shape 21"/>
          <p:cNvSpPr/>
          <p:nvPr/>
        </p:nvSpPr>
        <p:spPr>
          <a:xfrm>
            <a:off x="3246120" y="3520440"/>
            <a:ext cx="5120640" cy="123444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5" name="Text 22"/>
          <p:cNvSpPr txBox="1"/>
          <p:nvPr/>
        </p:nvSpPr>
        <p:spPr>
          <a:xfrm>
            <a:off x="3383280" y="3611880"/>
            <a:ext cx="4846320" cy="201168"/>
          </a:xfrm>
          <a:prstGeom prst="rect">
            <a:avLst/>
          </a:prstGeom>
          <a:noFill/>
          <a:ln/>
        </p:spPr>
        <p:txBody>
          <a:bodyPr wrap="square" lIns="0" tIns="0" rIns="0" bIns="0" rtlCol="0" anchor="ctr"/>
          <a:lstStyle/>
          <a:p>
            <a:pPr indent="0" marL="0">
              <a:buNone/>
            </a:pPr>
            <a:r>
              <a:rPr lang="en-US" sz="950" b="1" dirty="0">
                <a:solidFill>
                  <a:srgbClr val="A51C30"/>
                </a:solidFill>
              </a:rPr>
              <a:t>DRISHTI</a:t>
            </a:r>
            <a:endParaRPr lang="en-US" sz="950" dirty="0"/>
          </a:p>
        </p:txBody>
      </p:sp>
      <p:sp>
        <p:nvSpPr>
          <p:cNvPr id="26" name="Text 23"/>
          <p:cNvSpPr txBox="1"/>
          <p:nvPr/>
        </p:nvSpPr>
        <p:spPr>
          <a:xfrm>
            <a:off x="3383280" y="3831336"/>
            <a:ext cx="4846320" cy="329184"/>
          </a:xfrm>
          <a:prstGeom prst="rect">
            <a:avLst/>
          </a:prstGeom>
          <a:noFill/>
          <a:ln/>
        </p:spPr>
        <p:txBody>
          <a:bodyPr wrap="square" lIns="0" tIns="0" rIns="0" bIns="0" rtlCol="0" anchor="t"/>
          <a:lstStyle/>
          <a:p>
            <a:pPr indent="0" marL="0">
              <a:buNone/>
            </a:pPr>
            <a:r>
              <a:rPr lang="en-US" sz="1500" b="1" dirty="0">
                <a:solidFill>
                  <a:srgbClr val="1A1A1A"/>
                </a:solidFill>
              </a:rPr>
              <a:t>Sutra ⊕ inference</a:t>
            </a:r>
            <a:endParaRPr lang="en-US" sz="1500" dirty="0"/>
          </a:p>
        </p:txBody>
      </p:sp>
      <p:sp>
        <p:nvSpPr>
          <p:cNvPr id="27" name="Text 24"/>
          <p:cNvSpPr txBox="1"/>
          <p:nvPr/>
        </p:nvSpPr>
        <p:spPr>
          <a:xfrm>
            <a:off x="3383280" y="4178808"/>
            <a:ext cx="4846320" cy="512064"/>
          </a:xfrm>
          <a:prstGeom prst="rect">
            <a:avLst/>
          </a:prstGeom>
          <a:noFill/>
          <a:ln/>
        </p:spPr>
        <p:txBody>
          <a:bodyPr wrap="square" lIns="0" tIns="0" rIns="0" bIns="0" rtlCol="0" anchor="t"/>
          <a:lstStyle/>
          <a:p>
            <a:pPr indent="0" marL="0">
              <a:buNone/>
            </a:pPr>
            <a:r>
              <a:rPr lang="en-US" sz="1150" dirty="0">
                <a:solidFill>
                  <a:srgbClr val="4A5058"/>
                </a:solidFill>
              </a:rPr>
              <a:t>A short YAML Sutra describes the view; scored, explainable rules read the data's shape and fill the rest</a:t>
            </a:r>
            <a:endParaRPr lang="en-US" sz="1150" dirty="0"/>
          </a:p>
        </p:txBody>
      </p:sp>
      <p:sp>
        <p:nvSpPr>
          <p:cNvPr id="28" name="Shape 25"/>
          <p:cNvSpPr/>
          <p:nvPr/>
        </p:nvSpPr>
        <p:spPr>
          <a:xfrm>
            <a:off x="8732520" y="3520440"/>
            <a:ext cx="2679192" cy="12344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9" name="Text 26"/>
          <p:cNvSpPr txBox="1"/>
          <p:nvPr/>
        </p:nvSpPr>
        <p:spPr>
          <a:xfrm>
            <a:off x="8869680" y="3630168"/>
            <a:ext cx="2404872" cy="329184"/>
          </a:xfrm>
          <a:prstGeom prst="rect">
            <a:avLst/>
          </a:prstGeom>
          <a:noFill/>
          <a:ln/>
        </p:spPr>
        <p:txBody>
          <a:bodyPr wrap="square" lIns="0" tIns="0" rIns="0" bIns="0" rtlCol="0" anchor="t"/>
          <a:lstStyle/>
          <a:p>
            <a:pPr indent="0" marL="0">
              <a:buNone/>
            </a:pPr>
            <a:r>
              <a:rPr lang="en-US" sz="1500" b="1" dirty="0">
                <a:solidFill>
                  <a:srgbClr val="1A1A1A"/>
                </a:solidFill>
              </a:rPr>
              <a:t>A live view</a:t>
            </a:r>
            <a:endParaRPr lang="en-US" sz="1500" dirty="0"/>
          </a:p>
        </p:txBody>
      </p:sp>
      <p:sp>
        <p:nvSpPr>
          <p:cNvPr id="30" name="Text 27"/>
          <p:cNvSpPr txBox="1"/>
          <p:nvPr/>
        </p:nvSpPr>
        <p:spPr>
          <a:xfrm>
            <a:off x="8869680" y="3977640"/>
            <a:ext cx="2404872" cy="713232"/>
          </a:xfrm>
          <a:prstGeom prst="rect">
            <a:avLst/>
          </a:prstGeom>
          <a:noFill/>
          <a:ln/>
        </p:spPr>
        <p:txBody>
          <a:bodyPr wrap="square" lIns="0" tIns="0" rIns="0" bIns="0" rtlCol="0" anchor="t"/>
          <a:lstStyle/>
          <a:p>
            <a:pPr indent="0" marL="0">
              <a:buNone/>
            </a:pPr>
            <a:r>
              <a:rPr lang="en-US" sz="1150" dirty="0">
                <a:solidFill>
                  <a:srgbClr val="4A5058"/>
                </a:solidFill>
              </a:rPr>
              <a:t>Dense, linked, explained — day one</a:t>
            </a:r>
            <a:endParaRPr lang="en-US" sz="1150" dirty="0"/>
          </a:p>
        </p:txBody>
      </p:sp>
      <p:sp>
        <p:nvSpPr>
          <p:cNvPr id="31" name="Shape 28"/>
          <p:cNvSpPr/>
          <p:nvPr/>
        </p:nvSpPr>
        <p:spPr>
          <a:xfrm>
            <a:off x="2880360" y="4137660"/>
            <a:ext cx="365760" cy="914"/>
          </a:xfrm>
          <a:prstGeom prst="line">
            <a:avLst/>
          </a:prstGeom>
          <a:noFill/>
          <a:ln w="22225">
            <a:solidFill>
              <a:srgbClr val="A51C30"/>
            </a:solidFill>
            <a:prstDash val="solid"/>
            <a:tailEnd type="triangle"/>
          </a:ln>
        </p:spPr>
        <p:txBody>
          <a:bodyPr/>
          <a:p/>
        </p:txBody>
      </p:sp>
      <p:sp>
        <p:nvSpPr>
          <p:cNvPr id="32" name="Shape 29"/>
          <p:cNvSpPr/>
          <p:nvPr/>
        </p:nvSpPr>
        <p:spPr>
          <a:xfrm>
            <a:off x="8366760" y="4137660"/>
            <a:ext cx="365760" cy="914"/>
          </a:xfrm>
          <a:prstGeom prst="line">
            <a:avLst/>
          </a:prstGeom>
          <a:noFill/>
          <a:ln w="22225">
            <a:solidFill>
              <a:srgbClr val="A51C30"/>
            </a:solidFill>
            <a:prstDash val="solid"/>
            <a:tailEnd type="triangle"/>
          </a:ln>
        </p:spPr>
        <p:txBody>
          <a:bodyPr/>
          <a:p/>
        </p:txBody>
      </p:sp>
      <p:sp>
        <p:nvSpPr>
          <p:cNvPr id="33" name="Shape 30"/>
          <p:cNvSpPr/>
          <p:nvPr/>
        </p:nvSpPr>
        <p:spPr>
          <a:xfrm>
            <a:off x="777240" y="5550408"/>
            <a:ext cx="10634472" cy="694944"/>
          </a:xfrm>
          <a:prstGeom prst="rect">
            <a:avLst/>
          </a:prstGeom>
          <a:solidFill>
            <a:srgbClr val="F6E6E9"/>
          </a:solidFill>
          <a:ln/>
        </p:spPr>
        <p:txBody>
          <a:bodyPr/>
          <a:p/>
        </p:txBody>
      </p:sp>
      <p:sp>
        <p:nvSpPr>
          <p:cNvPr id="34" name="Shape 31"/>
          <p:cNvSpPr/>
          <p:nvPr/>
        </p:nvSpPr>
        <p:spPr>
          <a:xfrm>
            <a:off x="777240" y="5550408"/>
            <a:ext cx="54864" cy="694944"/>
          </a:xfrm>
          <a:prstGeom prst="rect">
            <a:avLst/>
          </a:prstGeom>
          <a:solidFill>
            <a:srgbClr val="A51C30"/>
          </a:solidFill>
          <a:ln/>
        </p:spPr>
        <p:txBody>
          <a:bodyPr/>
          <a:p/>
        </p:txBody>
      </p:sp>
      <p:sp>
        <p:nvSpPr>
          <p:cNvPr id="35" name="Text 3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brand-new product with no Sutra still renders a usable view on day one; a Sutra makes it beautiful.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SIX GOALS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Six goals the design is held to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475488" cy="475488"/>
          </a:xfrm>
          <a:prstGeom prst="ellipse">
            <a:avLst/>
          </a:prstGeom>
          <a:solidFill>
            <a:srgbClr val="A51C30"/>
          </a:solidFill>
          <a:ln/>
        </p:spPr>
        <p:txBody>
          <a:bodyPr/>
          <a:p/>
        </p:txBody>
      </p:sp>
      <p:sp>
        <p:nvSpPr>
          <p:cNvPr id="7" name="Text 4"/>
          <p:cNvSpPr txBox="1"/>
          <p:nvPr/>
        </p:nvSpPr>
        <p:spPr>
          <a:xfrm>
            <a:off x="77724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Text 5"/>
          <p:cNvSpPr txBox="1"/>
          <p:nvPr/>
        </p:nvSpPr>
        <p:spPr>
          <a:xfrm>
            <a:off x="143560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One grammar</a:t>
            </a:r>
            <a:endParaRPr lang="en-US" sz="1600" dirty="0"/>
          </a:p>
        </p:txBody>
      </p:sp>
      <p:sp>
        <p:nvSpPr>
          <p:cNvPr id="9" name="Text 6"/>
          <p:cNvSpPr txBox="1"/>
          <p:nvPr/>
        </p:nvSpPr>
        <p:spPr>
          <a:xfrm>
            <a:off x="143560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is a Sutra in Rachana, or inferred; no screen code.</a:t>
            </a:r>
            <a:endParaRPr lang="en-US" sz="1300" dirty="0"/>
          </a:p>
        </p:txBody>
      </p:sp>
      <p:sp>
        <p:nvSpPr>
          <p:cNvPr id="10" name="Shape 7"/>
          <p:cNvSpPr/>
          <p:nvPr/>
        </p:nvSpPr>
        <p:spPr>
          <a:xfrm>
            <a:off x="6217920" y="1481328"/>
            <a:ext cx="475488" cy="475488"/>
          </a:xfrm>
          <a:prstGeom prst="ellipse">
            <a:avLst/>
          </a:prstGeom>
          <a:solidFill>
            <a:srgbClr val="A51C30"/>
          </a:solidFill>
          <a:ln/>
        </p:spPr>
        <p:txBody>
          <a:bodyPr/>
          <a:p/>
        </p:txBody>
      </p:sp>
      <p:sp>
        <p:nvSpPr>
          <p:cNvPr id="11" name="Text 8"/>
          <p:cNvSpPr txBox="1"/>
          <p:nvPr/>
        </p:nvSpPr>
        <p:spPr>
          <a:xfrm>
            <a:off x="6217920" y="148132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9"/>
          <p:cNvSpPr txBox="1"/>
          <p:nvPr/>
        </p:nvSpPr>
        <p:spPr>
          <a:xfrm>
            <a:off x="6876288" y="1463040"/>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Any source</a:t>
            </a:r>
            <a:endParaRPr lang="en-US" sz="1600" dirty="0"/>
          </a:p>
        </p:txBody>
      </p:sp>
      <p:sp>
        <p:nvSpPr>
          <p:cNvPr id="13" name="Text 10"/>
          <p:cNvSpPr txBox="1"/>
          <p:nvPr/>
        </p:nvSpPr>
        <p:spPr>
          <a:xfrm>
            <a:off x="6876288" y="1810512"/>
            <a:ext cx="4480560" cy="685800"/>
          </a:xfrm>
          <a:prstGeom prst="rect">
            <a:avLst/>
          </a:prstGeom>
          <a:noFill/>
          <a:ln/>
        </p:spPr>
        <p:txBody>
          <a:bodyPr wrap="square" lIns="0" tIns="0" rIns="0" bIns="0" rtlCol="0" anchor="t"/>
          <a:lstStyle/>
          <a:p>
            <a:pPr indent="0" marL="0">
              <a:buNone/>
            </a:pPr>
            <a:r>
              <a:rPr lang="en-US" sz="1300" dirty="0">
                <a:solidFill>
                  <a:srgbClr val="4A5058"/>
                </a:solidFill>
              </a:rPr>
              <a:t>Sources plug in through a small, Spring-free interface.</a:t>
            </a:r>
            <a:endParaRPr lang="en-US" sz="1300" dirty="0"/>
          </a:p>
        </p:txBody>
      </p:sp>
      <p:sp>
        <p:nvSpPr>
          <p:cNvPr id="14" name="Shape 11"/>
          <p:cNvSpPr/>
          <p:nvPr/>
        </p:nvSpPr>
        <p:spPr>
          <a:xfrm>
            <a:off x="777240" y="2779776"/>
            <a:ext cx="475488" cy="475488"/>
          </a:xfrm>
          <a:prstGeom prst="ellipse">
            <a:avLst/>
          </a:prstGeom>
          <a:solidFill>
            <a:srgbClr val="A51C30"/>
          </a:solidFill>
          <a:ln/>
        </p:spPr>
        <p:txBody>
          <a:bodyPr/>
          <a:p/>
        </p:txBody>
      </p:sp>
      <p:sp>
        <p:nvSpPr>
          <p:cNvPr id="15" name="Text 12"/>
          <p:cNvSpPr txBox="1"/>
          <p:nvPr/>
        </p:nvSpPr>
        <p:spPr>
          <a:xfrm>
            <a:off x="77724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6" name="Text 13"/>
          <p:cNvSpPr txBox="1"/>
          <p:nvPr/>
        </p:nvSpPr>
        <p:spPr>
          <a:xfrm>
            <a:off x="143560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Linked</a:t>
            </a:r>
            <a:endParaRPr lang="en-US" sz="1600" dirty="0"/>
          </a:p>
        </p:txBody>
      </p:sp>
      <p:sp>
        <p:nvSpPr>
          <p:cNvPr id="17" name="Text 14"/>
          <p:cNvSpPr txBox="1"/>
          <p:nvPr/>
        </p:nvSpPr>
        <p:spPr>
          <a:xfrm>
            <a:off x="143560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id on a screen is navigable, across systems.</a:t>
            </a:r>
            <a:endParaRPr lang="en-US" sz="1300" dirty="0"/>
          </a:p>
        </p:txBody>
      </p:sp>
      <p:sp>
        <p:nvSpPr>
          <p:cNvPr id="18" name="Shape 15"/>
          <p:cNvSpPr/>
          <p:nvPr/>
        </p:nvSpPr>
        <p:spPr>
          <a:xfrm>
            <a:off x="6217920" y="2779776"/>
            <a:ext cx="475488" cy="475488"/>
          </a:xfrm>
          <a:prstGeom prst="ellipse">
            <a:avLst/>
          </a:prstGeom>
          <a:solidFill>
            <a:srgbClr val="A51C30"/>
          </a:solidFill>
          <a:ln/>
        </p:spPr>
        <p:txBody>
          <a:bodyPr/>
          <a:p/>
        </p:txBody>
      </p:sp>
      <p:sp>
        <p:nvSpPr>
          <p:cNvPr id="19" name="Text 16"/>
          <p:cNvSpPr txBox="1"/>
          <p:nvPr/>
        </p:nvSpPr>
        <p:spPr>
          <a:xfrm>
            <a:off x="6217920" y="277977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0" name="Text 17"/>
          <p:cNvSpPr txBox="1"/>
          <p:nvPr/>
        </p:nvSpPr>
        <p:spPr>
          <a:xfrm>
            <a:off x="6876288" y="2761488"/>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Live</a:t>
            </a:r>
            <a:endParaRPr lang="en-US" sz="1600" dirty="0"/>
          </a:p>
        </p:txBody>
      </p:sp>
      <p:sp>
        <p:nvSpPr>
          <p:cNvPr id="21" name="Text 18"/>
          <p:cNvSpPr txBox="1"/>
          <p:nvPr/>
        </p:nvSpPr>
        <p:spPr>
          <a:xfrm>
            <a:off x="6876288" y="3108960"/>
            <a:ext cx="4480560" cy="685800"/>
          </a:xfrm>
          <a:prstGeom prst="rect">
            <a:avLst/>
          </a:prstGeom>
          <a:noFill/>
          <a:ln/>
        </p:spPr>
        <p:txBody>
          <a:bodyPr wrap="square" lIns="0" tIns="0" rIns="0" bIns="0" rtlCol="0" anchor="t"/>
          <a:lstStyle/>
          <a:p>
            <a:pPr indent="0" marL="0">
              <a:buNone/>
            </a:pPr>
            <a:r>
              <a:rPr lang="en-US" sz="1300" dirty="0">
                <a:solidFill>
                  <a:srgbClr val="4A5058"/>
                </a:solidFill>
              </a:rPr>
              <a:t>Changes reach the open view; p99 is measured and shown in the top bar.</a:t>
            </a:r>
            <a:endParaRPr lang="en-US" sz="1300" dirty="0"/>
          </a:p>
        </p:txBody>
      </p:sp>
      <p:sp>
        <p:nvSpPr>
          <p:cNvPr id="22" name="Shape 19"/>
          <p:cNvSpPr/>
          <p:nvPr/>
        </p:nvSpPr>
        <p:spPr>
          <a:xfrm>
            <a:off x="777240" y="4078224"/>
            <a:ext cx="475488" cy="475488"/>
          </a:xfrm>
          <a:prstGeom prst="ellipse">
            <a:avLst/>
          </a:prstGeom>
          <a:solidFill>
            <a:srgbClr val="A51C30"/>
          </a:solidFill>
          <a:ln/>
        </p:spPr>
        <p:txBody>
          <a:bodyPr/>
          <a:p/>
        </p:txBody>
      </p:sp>
      <p:sp>
        <p:nvSpPr>
          <p:cNvPr id="23" name="Text 20"/>
          <p:cNvSpPr txBox="1"/>
          <p:nvPr/>
        </p:nvSpPr>
        <p:spPr>
          <a:xfrm>
            <a:off x="77724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24" name="Text 21"/>
          <p:cNvSpPr txBox="1"/>
          <p:nvPr/>
        </p:nvSpPr>
        <p:spPr>
          <a:xfrm>
            <a:off x="143560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Provenance</a:t>
            </a:r>
            <a:endParaRPr lang="en-US" sz="1600" dirty="0"/>
          </a:p>
        </p:txBody>
      </p:sp>
      <p:sp>
        <p:nvSpPr>
          <p:cNvPr id="25" name="Text 22"/>
          <p:cNvSpPr txBox="1"/>
          <p:nvPr/>
        </p:nvSpPr>
        <p:spPr>
          <a:xfrm>
            <a:off x="143560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Every view shows how it was built and where its data came from.</a:t>
            </a:r>
            <a:endParaRPr lang="en-US" sz="1300" dirty="0"/>
          </a:p>
        </p:txBody>
      </p:sp>
      <p:sp>
        <p:nvSpPr>
          <p:cNvPr id="26" name="Shape 23"/>
          <p:cNvSpPr/>
          <p:nvPr/>
        </p:nvSpPr>
        <p:spPr>
          <a:xfrm>
            <a:off x="6217920" y="4078224"/>
            <a:ext cx="475488" cy="475488"/>
          </a:xfrm>
          <a:prstGeom prst="ellipse">
            <a:avLst/>
          </a:prstGeom>
          <a:solidFill>
            <a:srgbClr val="A51C30"/>
          </a:solidFill>
          <a:ln/>
        </p:spPr>
        <p:txBody>
          <a:bodyPr/>
          <a:p/>
        </p:txBody>
      </p:sp>
      <p:sp>
        <p:nvSpPr>
          <p:cNvPr id="27" name="Text 24"/>
          <p:cNvSpPr txBox="1"/>
          <p:nvPr/>
        </p:nvSpPr>
        <p:spPr>
          <a:xfrm>
            <a:off x="6217920" y="4078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8" name="Text 25"/>
          <p:cNvSpPr txBox="1"/>
          <p:nvPr/>
        </p:nvSpPr>
        <p:spPr>
          <a:xfrm>
            <a:off x="6876288" y="4059936"/>
            <a:ext cx="4480560" cy="329184"/>
          </a:xfrm>
          <a:prstGeom prst="rect">
            <a:avLst/>
          </a:prstGeom>
          <a:noFill/>
          <a:ln/>
        </p:spPr>
        <p:txBody>
          <a:bodyPr wrap="square" lIns="0" tIns="0" rIns="0" bIns="0" rtlCol="0" anchor="ctr"/>
          <a:lstStyle/>
          <a:p>
            <a:pPr indent="0" marL="0">
              <a:buNone/>
            </a:pPr>
            <a:r>
              <a:rPr lang="en-US" sz="1600" b="1" dirty="0">
                <a:solidFill>
                  <a:srgbClr val="1A1A1A"/>
                </a:solidFill>
              </a:rPr>
              <a:t>Keyboard first</a:t>
            </a:r>
            <a:endParaRPr lang="en-US" sz="1600" dirty="0"/>
          </a:p>
        </p:txBody>
      </p:sp>
      <p:sp>
        <p:nvSpPr>
          <p:cNvPr id="29" name="Text 26"/>
          <p:cNvSpPr txBox="1"/>
          <p:nvPr/>
        </p:nvSpPr>
        <p:spPr>
          <a:xfrm>
            <a:off x="6876288" y="4407408"/>
            <a:ext cx="4480560" cy="685800"/>
          </a:xfrm>
          <a:prstGeom prst="rect">
            <a:avLst/>
          </a:prstGeom>
          <a:noFill/>
          <a:ln/>
        </p:spPr>
        <p:txBody>
          <a:bodyPr wrap="square" lIns="0" tIns="0" rIns="0" bIns="0" rtlCol="0" anchor="t"/>
          <a:lstStyle/>
          <a:p>
            <a:pPr indent="0" marL="0">
              <a:buNone/>
            </a:pPr>
            <a:r>
              <a:rPr lang="en-US" sz="1300" dirty="0">
                <a:solidFill>
                  <a:srgbClr val="4A5058"/>
                </a:solidFill>
              </a:rPr>
              <a:t>&lt;MNEMONIC&gt; &lt;ID&gt; &lt;GO&gt;, F-keys for panels, F9 for raw JSON.</a:t>
            </a:r>
            <a:endParaRPr lang="en-US" sz="1300" dirty="0"/>
          </a:p>
        </p:txBody>
      </p:sp>
      <p:sp>
        <p:nvSpPr>
          <p:cNvPr id="30" name="Shape 27"/>
          <p:cNvSpPr/>
          <p:nvPr/>
        </p:nvSpPr>
        <p:spPr>
          <a:xfrm>
            <a:off x="777240" y="5550408"/>
            <a:ext cx="10634472" cy="694944"/>
          </a:xfrm>
          <a:prstGeom prst="rect">
            <a:avLst/>
          </a:prstGeom>
          <a:solidFill>
            <a:srgbClr val="F6E6E9"/>
          </a:solidFill>
          <a:ln/>
        </p:spPr>
        <p:txBody>
          <a:bodyPr/>
          <a:p/>
        </p:txBody>
      </p:sp>
      <p:sp>
        <p:nvSpPr>
          <p:cNvPr id="31" name="Shape 28"/>
          <p:cNvSpPr/>
          <p:nvPr/>
        </p:nvSpPr>
        <p:spPr>
          <a:xfrm>
            <a:off x="777240" y="5550408"/>
            <a:ext cx="54864" cy="694944"/>
          </a:xfrm>
          <a:prstGeom prst="rect">
            <a:avLst/>
          </a:prstGeom>
          <a:solidFill>
            <a:srgbClr val="A51C30"/>
          </a:solidFill>
          <a:ln/>
        </p:spPr>
        <p:txBody>
          <a:bodyPr/>
          <a:p/>
        </p:txBody>
      </p:sp>
      <p:sp>
        <p:nvSpPr>
          <p:cNvPr id="32" name="Text 2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Six goals, each one testable — the p99 is not a claim on a slide, it is in the top bar of every view.</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WHAT THE FIELD SAYS · FOUR FAMILIES OF PRODUCT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Each family does part of the job, and is good at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554480"/>
          <a:ext cx="10634472" cy="914400"/>
        </p:xfrm>
        <a:graphic>
          <a:graphicData uri="http://schemas.openxmlformats.org/drawingml/2006/table">
            <a:tbl>
              <a:tblPr/>
              <a:tblGrid>
                <a:gridCol w="2377440"/>
                <a:gridCol w="2743200"/>
                <a:gridCol w="2606040"/>
                <a:gridCol w="2907792"/>
              </a:tblGrid>
              <a:tr h="411480">
                <a:tc>
                  <a:txBody>
                    <a:bodyPr/>
                    <a:lstStyle/>
                    <a:p>
                      <a:pPr indent="0" marL="0">
                        <a:buNone/>
                      </a:pPr>
                      <a:r>
                        <a:rPr lang="en-US" sz="1400" b="1" dirty="0">
                          <a:solidFill>
                            <a:srgbClr val="FFFFFF"/>
                          </a:solidFill>
                        </a:rPr>
                        <a:t>Family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Good at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leaves you</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822960">
                <a:tc>
                  <a:txBody>
                    <a:bodyPr/>
                    <a:lstStyle/>
                    <a:p>
                      <a:pPr indent="0" marL="0">
                        <a:buNone/>
                      </a:pPr>
                      <a:r>
                        <a:rPr lang="en-US" sz="1400" b="1" dirty="0">
                          <a:solidFill>
                            <a:srgbClr val="8A1626"/>
                          </a:solidFill>
                        </a:rPr>
                        <a:t>Market data terminals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Bloomberg Terminal, LSEG Workspace, FactSet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Dense, keyboard-driven, live screens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The vendor's screens, for the vendor's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Trading and risk platforms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Murex, Calypso, in-house systems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Deep screens for every product they book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 coded screen per product type, for that platform's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8A1626"/>
                          </a:solidFill>
                        </a:rPr>
                        <a:t>Low-code internal tools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Retool, Appsmith, Power Apps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Internal screens assembled quickly</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person still assembles each screen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822960">
                <a:tc>
                  <a:txBody>
                    <a:bodyPr/>
                    <a:lstStyle/>
                    <a:p>
                      <a:pPr indent="0" marL="0">
                        <a:buNone/>
                      </a:pPr>
                      <a:r>
                        <a:rPr lang="en-US" sz="1400" b="1" dirty="0">
                          <a:solidFill>
                            <a:srgbClr val="8A1626"/>
                          </a:solidFill>
                        </a:rPr>
                        <a:t>BI and dashboards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Tableau, Power BI, Grafana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Aggregates and charts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Weaker at one entity, live, with its links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screens that are dense and live are coded per product; the screens that are quick to make are not terminals.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PRIMITIVES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Eight primitives carry the whole model</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1554480"/>
                <a:gridCol w="5486400"/>
                <a:gridCol w="3593592"/>
              </a:tblGrid>
              <a:tr h="512064">
                <a:tc>
                  <a:txBody>
                    <a:bodyPr/>
                    <a:lstStyle/>
                    <a:p>
                      <a:pPr indent="0" marL="0">
                        <a:buNone/>
                      </a:pPr>
                      <a:r>
                        <a:rPr lang="en-US" sz="1300" b="1" dirty="0">
                          <a:solidFill>
                            <a:srgbClr val="FFFFFF"/>
                          </a:solidFill>
                        </a:rPr>
                        <a:t>Primitive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What it is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00" b="1" dirty="0">
                          <a:solidFill>
                            <a:srgbClr val="FFFFFF"/>
                          </a:solidFill>
                        </a:rPr>
                        <a:t>Where you meet 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12064">
                <a:tc>
                  <a:txBody>
                    <a:bodyPr/>
                    <a:lstStyle/>
                    <a:p>
                      <a:pPr indent="0" marL="0">
                        <a:buNone/>
                      </a:pPr>
                      <a:r>
                        <a:rPr lang="en-US" sz="1300" b="1" dirty="0">
                          <a:solidFill>
                            <a:srgbClr val="8A1626"/>
                          </a:solidFill>
                        </a:rPr>
                        <a:t>Pack</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A folder for one domain: kinds, mnemonics, links, connectors, Sutras, samples, help text; packs inherit</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config/packs/ — 7 shipped, e.g. trading, world-economy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Sutra</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short, versioned YAML description of one view, in the Rachana grammar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197 Sutras in the shipped packs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Match</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kind + where (a closed expression) + priority; the highest match wins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match: { kind: trade, where: …, priority: 10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Strip</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Up to eight headline figures across the top of a view</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Source, side, notional, status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Panel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One of 22 kinds on a 12-column grid, each with an F-key</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table, ladder, pivot, surface, map …</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Explainable rules that read the data's shape and lay out what no Sutra covers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infer: true; 'completed by inference'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12064">
                <a:tc>
                  <a:txBody>
                    <a:bodyPr/>
                    <a:lstStyle/>
                    <a:p>
                      <a:pPr indent="0" marL="0">
                        <a:buNone/>
                      </a:pPr>
                      <a:r>
                        <a:rPr lang="en-US" sz="1300" b="1" dirty="0">
                          <a:solidFill>
                            <a:srgbClr val="8A1626"/>
                          </a:solidFill>
                        </a:rPr>
                        <a:t>ViewModel</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Plain JSON the server returns and the browser draws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00" dirty="0">
                          <a:solidFill>
                            <a:srgbClr val="1A1A1A"/>
                          </a:solidFill>
                        </a:rPr>
                        <a:t>GET /api/v1/views/{kind}/{id}</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12064">
                <a:tc>
                  <a:txBody>
                    <a:bodyPr/>
                    <a:lstStyle/>
                    <a:p>
                      <a:pPr indent="0" marL="0">
                        <a:buNone/>
                      </a:pPr>
                      <a:r>
                        <a:rPr lang="en-US" sz="1300" b="1" dirty="0">
                          <a:solidFill>
                            <a:srgbClr val="8A1626"/>
                          </a:solidFill>
                        </a:rPr>
                        <a:t>Frame</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A patch of what changed, sent over one live channel per browser</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00" dirty="0">
                          <a:solidFill>
                            <a:srgbClr val="1A1A1A"/>
                          </a:solidFill>
                        </a:rPr>
                        <a:t>Server-sent events</a:t>
                      </a:r>
                      <a:endParaRPr lang="en-US" sz="13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ARCHITECTURE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your systems to a view, in one direction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Stores and lakes</a:t>
            </a:r>
            <a:endParaRPr lang="en-US" sz="1400" dirty="0"/>
          </a:p>
        </p:txBody>
      </p:sp>
      <p:sp>
        <p:nvSpPr>
          <p:cNvPr id="8" name="Text 5"/>
          <p:cNvSpPr txBox="1"/>
          <p:nvPr/>
        </p:nvSpPr>
        <p:spPr>
          <a:xfrm>
            <a:off x="914400"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Delta, JDBC, Aerospike, Cassandra, MongoDB, Redis, Iceberg, DuckDB</a:t>
            </a:r>
            <a:endParaRPr lang="en-US" sz="1100" dirty="0"/>
          </a:p>
        </p:txBody>
      </p:sp>
      <p:sp>
        <p:nvSpPr>
          <p:cNvPr id="9" name="Shape 6"/>
          <p:cNvSpPr/>
          <p:nvPr/>
        </p:nvSpPr>
        <p:spPr>
          <a:xfrm>
            <a:off x="777240"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914400"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Streams and queues</a:t>
            </a:r>
            <a:endParaRPr lang="en-US" sz="1400" dirty="0"/>
          </a:p>
        </p:txBody>
      </p:sp>
      <p:sp>
        <p:nvSpPr>
          <p:cNvPr id="11" name="Text 8"/>
          <p:cNvSpPr txBox="1"/>
          <p:nvPr/>
        </p:nvSpPr>
        <p:spPr>
          <a:xfrm>
            <a:off x="914400"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Kafka, ActiveMQ, RabbitMQ</a:t>
            </a:r>
            <a:endParaRPr lang="en-US" sz="1100" dirty="0"/>
          </a:p>
        </p:txBody>
      </p:sp>
      <p:sp>
        <p:nvSpPr>
          <p:cNvPr id="12" name="Shape 9"/>
          <p:cNvSpPr/>
          <p:nvPr/>
        </p:nvSpPr>
        <p:spPr>
          <a:xfrm>
            <a:off x="777240"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3" name="Text 10"/>
          <p:cNvSpPr txBox="1"/>
          <p:nvPr/>
        </p:nvSpPr>
        <p:spPr>
          <a:xfrm>
            <a:off x="914400"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Files and services</a:t>
            </a:r>
            <a:endParaRPr lang="en-US" sz="1400" dirty="0"/>
          </a:p>
        </p:txBody>
      </p:sp>
      <p:sp>
        <p:nvSpPr>
          <p:cNvPr id="14" name="Text 11"/>
          <p:cNvSpPr txBox="1"/>
          <p:nvPr/>
        </p:nvSpPr>
        <p:spPr>
          <a:xfrm>
            <a:off x="914400"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JSON, CSV, S3, REST</a:t>
            </a:r>
            <a:endParaRPr lang="en-US" sz="1100" dirty="0"/>
          </a:p>
        </p:txBody>
      </p:sp>
      <p:sp>
        <p:nvSpPr>
          <p:cNvPr id="15" name="Shape 12"/>
          <p:cNvSpPr/>
          <p:nvPr/>
        </p:nvSpPr>
        <p:spPr>
          <a:xfrm>
            <a:off x="777240"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6" name="Text 13"/>
          <p:cNvSpPr txBox="1"/>
          <p:nvPr/>
        </p:nvSpPr>
        <p:spPr>
          <a:xfrm>
            <a:off x="914400"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Public market data</a:t>
            </a:r>
            <a:endParaRPr lang="en-US" sz="1400" dirty="0"/>
          </a:p>
        </p:txBody>
      </p:sp>
      <p:sp>
        <p:nvSpPr>
          <p:cNvPr id="17" name="Text 14"/>
          <p:cNvSpPr txBox="1"/>
          <p:nvPr/>
        </p:nvSpPr>
        <p:spPr>
          <a:xfrm>
            <a:off x="914400"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NY Fed SOFR, ECB, US Treasury, FRED</a:t>
            </a:r>
            <a:endParaRPr lang="en-US" sz="1100" dirty="0"/>
          </a:p>
        </p:txBody>
      </p:sp>
      <p:sp>
        <p:nvSpPr>
          <p:cNvPr id="18" name="Shape 15"/>
          <p:cNvSpPr/>
          <p:nvPr/>
        </p:nvSpPr>
        <p:spPr>
          <a:xfrm>
            <a:off x="3931920" y="1481328"/>
            <a:ext cx="4160520" cy="182880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19" name="Text 16"/>
          <p:cNvSpPr txBox="1"/>
          <p:nvPr/>
        </p:nvSpPr>
        <p:spPr>
          <a:xfrm>
            <a:off x="4069080" y="1572768"/>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DRISHTI SERVER · JAVA 21 · ONE OF A CLUSTER</a:t>
            </a:r>
            <a:endParaRPr lang="en-US" sz="950" dirty="0"/>
          </a:p>
        </p:txBody>
      </p:sp>
      <p:sp>
        <p:nvSpPr>
          <p:cNvPr id="20" name="Text 17"/>
          <p:cNvSpPr txBox="1"/>
          <p:nvPr/>
        </p:nvSpPr>
        <p:spPr>
          <a:xfrm>
            <a:off x="4069080" y="1792224"/>
            <a:ext cx="3886200" cy="329184"/>
          </a:xfrm>
          <a:prstGeom prst="rect">
            <a:avLst/>
          </a:prstGeom>
          <a:noFill/>
          <a:ln/>
        </p:spPr>
        <p:txBody>
          <a:bodyPr wrap="square" lIns="0" tIns="0" rIns="0" bIns="0" rtlCol="0" anchor="t"/>
          <a:lstStyle/>
          <a:p>
            <a:pPr indent="0" marL="0">
              <a:buNone/>
            </a:pPr>
            <a:r>
              <a:rPr lang="en-US" sz="1500" b="1" dirty="0">
                <a:solidFill>
                  <a:srgbClr val="1A1A1A"/>
                </a:solidFill>
              </a:rPr>
              <a:t>Fetch, match, infer, link, bind</a:t>
            </a:r>
            <a:endParaRPr lang="en-US" sz="1500" dirty="0"/>
          </a:p>
        </p:txBody>
      </p:sp>
      <p:sp>
        <p:nvSpPr>
          <p:cNvPr id="21" name="Text 18"/>
          <p:cNvSpPr txBox="1"/>
          <p:nvPr/>
        </p:nvSpPr>
        <p:spPr>
          <a:xfrm>
            <a:off x="4069080" y="2139696"/>
            <a:ext cx="3886200" cy="1106424"/>
          </a:xfrm>
          <a:prstGeom prst="rect">
            <a:avLst/>
          </a:prstGeom>
          <a:noFill/>
          <a:ln/>
        </p:spPr>
        <p:txBody>
          <a:bodyPr wrap="square" lIns="0" tIns="0" rIns="0" bIns="0" rtlCol="0" anchor="t"/>
          <a:lstStyle/>
          <a:p>
            <a:pPr indent="0" marL="0">
              <a:buNone/>
            </a:pPr>
            <a:r>
              <a:rPr lang="en-US" sz="1200" dirty="0">
                <a:solidFill>
                  <a:srgbClr val="4A5058"/>
                </a:solidFill>
              </a:rPr>
              <a:t>Virtual threads fetch in parallel; the engine matches a Sutra, merges inference, links ids and binds values; BI models answer on DuckDB — 19 source plugins</a:t>
            </a:r>
            <a:endParaRPr lang="en-US" sz="1200" dirty="0"/>
          </a:p>
        </p:txBody>
      </p:sp>
      <p:sp>
        <p:nvSpPr>
          <p:cNvPr id="22" name="Shape 19"/>
          <p:cNvSpPr/>
          <p:nvPr/>
        </p:nvSpPr>
        <p:spPr>
          <a:xfrm>
            <a:off x="3931920" y="3611880"/>
            <a:ext cx="4160520" cy="17830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3" name="Text 20"/>
          <p:cNvSpPr txBox="1"/>
          <p:nvPr/>
        </p:nvSpPr>
        <p:spPr>
          <a:xfrm>
            <a:off x="4069080" y="3703320"/>
            <a:ext cx="3886200" cy="201168"/>
          </a:xfrm>
          <a:prstGeom prst="rect">
            <a:avLst/>
          </a:prstGeom>
          <a:noFill/>
          <a:ln/>
        </p:spPr>
        <p:txBody>
          <a:bodyPr wrap="square" lIns="0" tIns="0" rIns="0" bIns="0" rtlCol="0" anchor="ctr"/>
          <a:lstStyle/>
          <a:p>
            <a:pPr indent="0" marL="0">
              <a:buNone/>
            </a:pPr>
            <a:r>
              <a:rPr lang="en-US" sz="950" b="1" dirty="0">
                <a:solidFill>
                  <a:srgbClr val="A51C30"/>
                </a:solidFill>
              </a:rPr>
              <a:t>SAME SERVER</a:t>
            </a:r>
            <a:endParaRPr lang="en-US" sz="950" dirty="0"/>
          </a:p>
        </p:txBody>
      </p:sp>
      <p:sp>
        <p:nvSpPr>
          <p:cNvPr id="24" name="Text 21"/>
          <p:cNvSpPr txBox="1"/>
          <p:nvPr/>
        </p:nvSpPr>
        <p:spPr>
          <a:xfrm>
            <a:off x="4069080" y="3922776"/>
            <a:ext cx="3886200" cy="329184"/>
          </a:xfrm>
          <a:prstGeom prst="rect">
            <a:avLst/>
          </a:prstGeom>
          <a:noFill/>
          <a:ln/>
        </p:spPr>
        <p:txBody>
          <a:bodyPr wrap="square" lIns="0" tIns="0" rIns="0" bIns="0" rtlCol="0" anchor="t"/>
          <a:lstStyle/>
          <a:p>
            <a:pPr indent="0" marL="0">
              <a:buNone/>
            </a:pPr>
            <a:r>
              <a:rPr lang="en-US" sz="1500" b="1" dirty="0">
                <a:solidFill>
                  <a:srgbClr val="1A1A1A"/>
                </a:solidFill>
              </a:rPr>
              <a:t>Identity, packs, audit, Drishti*net</a:t>
            </a:r>
            <a:endParaRPr lang="en-US" sz="1500" dirty="0"/>
          </a:p>
        </p:txBody>
      </p:sp>
      <p:sp>
        <p:nvSpPr>
          <p:cNvPr id="25" name="Text 22"/>
          <p:cNvSpPr txBox="1"/>
          <p:nvPr/>
        </p:nvSpPr>
        <p:spPr>
          <a:xfrm>
            <a:off x="4069080" y="4270248"/>
            <a:ext cx="3886200" cy="1060704"/>
          </a:xfrm>
          <a:prstGeom prst="rect">
            <a:avLst/>
          </a:prstGeom>
          <a:noFill/>
          <a:ln/>
        </p:spPr>
        <p:txBody>
          <a:bodyPr wrap="square" lIns="0" tIns="0" rIns="0" bIns="0" rtlCol="0" anchor="t"/>
          <a:lstStyle/>
          <a:p>
            <a:pPr indent="0" marL="0">
              <a:buNone/>
            </a:pPr>
            <a:r>
              <a:rPr lang="en-US" sz="1200" dirty="0">
                <a:solidFill>
                  <a:srgbClr val="4A5058"/>
                </a:solidFill>
              </a:rPr>
              <a:t>Users, roles and masks; the access log and audit; a signed pack registry; peers by gossip, signed calls</a:t>
            </a:r>
            <a:endParaRPr lang="en-US" sz="1200" dirty="0"/>
          </a:p>
        </p:txBody>
      </p:sp>
      <p:sp>
        <p:nvSpPr>
          <p:cNvPr id="26" name="Shape 23"/>
          <p:cNvSpPr/>
          <p:nvPr/>
        </p:nvSpPr>
        <p:spPr>
          <a:xfrm>
            <a:off x="8897112" y="1481328"/>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7" name="Text 24"/>
          <p:cNvSpPr txBox="1"/>
          <p:nvPr/>
        </p:nvSpPr>
        <p:spPr>
          <a:xfrm>
            <a:off x="9034272" y="1591056"/>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Console</a:t>
            </a:r>
            <a:endParaRPr lang="en-US" sz="1400" dirty="0"/>
          </a:p>
        </p:txBody>
      </p:sp>
      <p:sp>
        <p:nvSpPr>
          <p:cNvPr id="28" name="Text 25"/>
          <p:cNvSpPr txBox="1"/>
          <p:nvPr/>
        </p:nvSpPr>
        <p:spPr>
          <a:xfrm>
            <a:off x="9034272" y="1938528"/>
            <a:ext cx="2240280" cy="374904"/>
          </a:xfrm>
          <a:prstGeom prst="rect">
            <a:avLst/>
          </a:prstGeom>
          <a:noFill/>
          <a:ln/>
        </p:spPr>
        <p:txBody>
          <a:bodyPr wrap="square" lIns="0" tIns="0" rIns="0" bIns="0" rtlCol="0" anchor="t"/>
          <a:lstStyle/>
          <a:p>
            <a:pPr indent="0" marL="0">
              <a:buNone/>
            </a:pPr>
            <a:r>
              <a:rPr lang="en-US" sz="1100" dirty="0">
                <a:solidFill>
                  <a:srgbClr val="4A5058"/>
                </a:solidFill>
              </a:rPr>
              <a:t>Web terminal, any device</a:t>
            </a:r>
            <a:endParaRPr lang="en-US" sz="1100" dirty="0"/>
          </a:p>
        </p:txBody>
      </p:sp>
      <p:sp>
        <p:nvSpPr>
          <p:cNvPr id="29" name="Shape 26"/>
          <p:cNvSpPr/>
          <p:nvPr/>
        </p:nvSpPr>
        <p:spPr>
          <a:xfrm>
            <a:off x="8897112" y="2505456"/>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0" name="Text 27"/>
          <p:cNvSpPr txBox="1"/>
          <p:nvPr/>
        </p:nvSpPr>
        <p:spPr>
          <a:xfrm>
            <a:off x="9034272" y="2615184"/>
            <a:ext cx="2240280" cy="329184"/>
          </a:xfrm>
          <a:prstGeom prst="rect">
            <a:avLst/>
          </a:prstGeom>
          <a:noFill/>
          <a:ln/>
        </p:spPr>
        <p:txBody>
          <a:bodyPr wrap="square" lIns="0" tIns="0" rIns="0" bIns="0" rtlCol="0" anchor="t"/>
          <a:lstStyle/>
          <a:p>
            <a:pPr indent="0" marL="0">
              <a:buNone/>
            </a:pPr>
            <a:r>
              <a:rPr lang="en-US" sz="1400" b="1" dirty="0">
                <a:solidFill>
                  <a:srgbClr val="1A1A1A"/>
                </a:solidFill>
              </a:rPr>
              <a:t>REST API</a:t>
            </a:r>
            <a:endParaRPr lang="en-US" sz="1400" dirty="0"/>
          </a:p>
        </p:txBody>
      </p:sp>
      <p:sp>
        <p:nvSpPr>
          <p:cNvPr id="31" name="Text 28"/>
          <p:cNvSpPr txBox="1"/>
          <p:nvPr/>
        </p:nvSpPr>
        <p:spPr>
          <a:xfrm>
            <a:off x="9034272" y="2962656"/>
            <a:ext cx="2240280" cy="374904"/>
          </a:xfrm>
          <a:prstGeom prst="rect">
            <a:avLst/>
          </a:prstGeom>
          <a:noFill/>
          <a:ln/>
        </p:spPr>
        <p:txBody>
          <a:bodyPr wrap="square" lIns="0" tIns="0" rIns="0" bIns="0" rtlCol="0" anchor="t"/>
          <a:lstStyle/>
          <a:p>
            <a:pPr indent="0" marL="0">
              <a:buNone/>
            </a:pPr>
            <a:r>
              <a:rPr lang="en-US" sz="1100" dirty="0">
                <a:solidFill>
                  <a:srgbClr val="4A5058"/>
                </a:solidFill>
              </a:rPr>
              <a:t>/api/v1, OpenAPI at /api/docs</a:t>
            </a:r>
            <a:endParaRPr lang="en-US" sz="1100" dirty="0"/>
          </a:p>
        </p:txBody>
      </p:sp>
      <p:sp>
        <p:nvSpPr>
          <p:cNvPr id="32" name="Shape 29"/>
          <p:cNvSpPr/>
          <p:nvPr/>
        </p:nvSpPr>
        <p:spPr>
          <a:xfrm>
            <a:off x="8897112" y="3529584"/>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3" name="Text 30"/>
          <p:cNvSpPr txBox="1"/>
          <p:nvPr/>
        </p:nvSpPr>
        <p:spPr>
          <a:xfrm>
            <a:off x="9034272" y="3639312"/>
            <a:ext cx="2240280" cy="329184"/>
          </a:xfrm>
          <a:prstGeom prst="rect">
            <a:avLst/>
          </a:prstGeom>
          <a:noFill/>
          <a:ln/>
        </p:spPr>
        <p:txBody>
          <a:bodyPr wrap="square" lIns="0" tIns="0" rIns="0" bIns="0" rtlCol="0" anchor="t"/>
          <a:lstStyle/>
          <a:p>
            <a:pPr indent="0" marL="0">
              <a:buNone/>
            </a:pPr>
            <a:r>
              <a:rPr lang="en-US" sz="1400" b="1" dirty="0">
                <a:solidFill>
                  <a:srgbClr val="1A1A1A"/>
                </a:solidFill>
              </a:rPr>
              <a:t>CLI</a:t>
            </a:r>
            <a:endParaRPr lang="en-US" sz="1400" dirty="0"/>
          </a:p>
        </p:txBody>
      </p:sp>
      <p:sp>
        <p:nvSpPr>
          <p:cNvPr id="34" name="Text 31"/>
          <p:cNvSpPr txBox="1"/>
          <p:nvPr/>
        </p:nvSpPr>
        <p:spPr>
          <a:xfrm>
            <a:off x="9034272" y="3986784"/>
            <a:ext cx="2240280" cy="374904"/>
          </a:xfrm>
          <a:prstGeom prst="rect">
            <a:avLst/>
          </a:prstGeom>
          <a:noFill/>
          <a:ln/>
        </p:spPr>
        <p:txBody>
          <a:bodyPr wrap="square" lIns="0" tIns="0" rIns="0" bIns="0" rtlCol="0" anchor="t"/>
          <a:lstStyle/>
          <a:p>
            <a:pPr indent="0" marL="0">
              <a:buNone/>
            </a:pPr>
            <a:r>
              <a:rPr lang="en-US" sz="1100" dirty="0">
                <a:solidFill>
                  <a:srgbClr val="4A5058"/>
                </a:solidFill>
              </a:rPr>
              <a:t>tools/drishti.py, fourteen groups</a:t>
            </a:r>
            <a:endParaRPr lang="en-US" sz="1100" dirty="0"/>
          </a:p>
        </p:txBody>
      </p:sp>
      <p:sp>
        <p:nvSpPr>
          <p:cNvPr id="35" name="Shape 32"/>
          <p:cNvSpPr/>
          <p:nvPr/>
        </p:nvSpPr>
        <p:spPr>
          <a:xfrm>
            <a:off x="8897112" y="4553712"/>
            <a:ext cx="2514600" cy="896112"/>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36" name="Text 33"/>
          <p:cNvSpPr txBox="1"/>
          <p:nvPr/>
        </p:nvSpPr>
        <p:spPr>
          <a:xfrm>
            <a:off x="9034272" y="4663440"/>
            <a:ext cx="2240280" cy="329184"/>
          </a:xfrm>
          <a:prstGeom prst="rect">
            <a:avLst/>
          </a:prstGeom>
          <a:noFill/>
          <a:ln/>
        </p:spPr>
        <p:txBody>
          <a:bodyPr wrap="square" lIns="0" tIns="0" rIns="0" bIns="0" rtlCol="0" anchor="t"/>
          <a:lstStyle/>
          <a:p>
            <a:pPr indent="0" marL="0">
              <a:buNone/>
            </a:pPr>
            <a:r>
              <a:rPr lang="en-US" sz="1400" b="1" dirty="0">
                <a:solidFill>
                  <a:srgbClr val="1A1A1A"/>
                </a:solidFill>
              </a:rPr>
              <a:t>Other apps</a:t>
            </a:r>
            <a:endParaRPr lang="en-US" sz="1400" dirty="0"/>
          </a:p>
        </p:txBody>
      </p:sp>
      <p:sp>
        <p:nvSpPr>
          <p:cNvPr id="37" name="Text 34"/>
          <p:cNvSpPr txBox="1"/>
          <p:nvPr/>
        </p:nvSpPr>
        <p:spPr>
          <a:xfrm>
            <a:off x="9034272" y="5010912"/>
            <a:ext cx="2240280" cy="374904"/>
          </a:xfrm>
          <a:prstGeom prst="rect">
            <a:avLst/>
          </a:prstGeom>
          <a:noFill/>
          <a:ln/>
        </p:spPr>
        <p:txBody>
          <a:bodyPr wrap="square" lIns="0" tIns="0" rIns="0" bIns="0" rtlCol="0" anchor="t"/>
          <a:lstStyle/>
          <a:p>
            <a:pPr indent="0" marL="0">
              <a:buNone/>
            </a:pPr>
            <a:r>
              <a:rPr lang="en-US" sz="1100" dirty="0">
                <a:solidFill>
                  <a:srgbClr val="4A5058"/>
                </a:solidFill>
              </a:rPr>
              <a:t>&lt;drishti-view&gt;, &lt;drishti-report&gt;</a:t>
            </a:r>
            <a:endParaRPr lang="en-US" sz="1100" dirty="0"/>
          </a:p>
        </p:txBody>
      </p:sp>
      <p:sp>
        <p:nvSpPr>
          <p:cNvPr id="38" name="Shape 35"/>
          <p:cNvSpPr/>
          <p:nvPr/>
        </p:nvSpPr>
        <p:spPr>
          <a:xfrm>
            <a:off x="3291840" y="2377440"/>
            <a:ext cx="640080" cy="914"/>
          </a:xfrm>
          <a:prstGeom prst="line">
            <a:avLst/>
          </a:prstGeom>
          <a:noFill/>
          <a:ln w="22225">
            <a:solidFill>
              <a:srgbClr val="A51C30"/>
            </a:solidFill>
            <a:prstDash val="solid"/>
            <a:tailEnd type="triangle"/>
          </a:ln>
        </p:spPr>
        <p:txBody>
          <a:bodyPr/>
          <a:p/>
        </p:txBody>
      </p:sp>
      <p:sp>
        <p:nvSpPr>
          <p:cNvPr id="39" name="Shape 36"/>
          <p:cNvSpPr/>
          <p:nvPr/>
        </p:nvSpPr>
        <p:spPr>
          <a:xfrm>
            <a:off x="8092440" y="2377440"/>
            <a:ext cx="804672" cy="914"/>
          </a:xfrm>
          <a:prstGeom prst="line">
            <a:avLst/>
          </a:prstGeom>
          <a:noFill/>
          <a:ln w="22225">
            <a:solidFill>
              <a:srgbClr val="A51C30"/>
            </a:solidFill>
            <a:prstDash val="solid"/>
            <a:tailEnd type="triangle"/>
          </a:ln>
        </p:spPr>
        <p:txBody>
          <a:bodyPr/>
          <a:p/>
        </p:txBody>
      </p:sp>
      <p:sp>
        <p:nvSpPr>
          <p:cNvPr id="40" name="Shape 37"/>
          <p:cNvSpPr/>
          <p:nvPr/>
        </p:nvSpPr>
        <p:spPr>
          <a:xfrm>
            <a:off x="6007608" y="3310128"/>
            <a:ext cx="914" cy="301752"/>
          </a:xfrm>
          <a:prstGeom prst="line">
            <a:avLst/>
          </a:prstGeom>
          <a:noFill/>
          <a:ln w="22225">
            <a:solidFill>
              <a:srgbClr val="A51C30"/>
            </a:solidFill>
            <a:prstDash val="solid"/>
            <a:tailEnd type="triangle"/>
          </a:ln>
        </p:spPr>
        <p:txBody>
          <a:bodyP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SEVEN STAGES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command, seven stages, one 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1202436" y="1600200"/>
            <a:ext cx="548640" cy="548640"/>
          </a:xfrm>
          <a:prstGeom prst="ellipse">
            <a:avLst/>
          </a:prstGeom>
          <a:solidFill>
            <a:srgbClr val="A51C30"/>
          </a:solidFill>
          <a:ln/>
        </p:spPr>
        <p:txBody>
          <a:bodyPr/>
          <a:p/>
        </p:txBody>
      </p:sp>
      <p:sp>
        <p:nvSpPr>
          <p:cNvPr id="7" name="Text 4"/>
          <p:cNvSpPr txBox="1"/>
          <p:nvPr/>
        </p:nvSpPr>
        <p:spPr>
          <a:xfrm>
            <a:off x="120243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8" name="Shape 5"/>
          <p:cNvSpPr/>
          <p:nvPr/>
        </p:nvSpPr>
        <p:spPr>
          <a:xfrm>
            <a:off x="777240" y="2331720"/>
            <a:ext cx="1399032" cy="2011680"/>
          </a:xfrm>
          <a:prstGeom prst="rect">
            <a:avLst/>
          </a:prstGeom>
          <a:solidFill>
            <a:srgbClr val="F7F5F2"/>
          </a:solidFill>
          <a:ln/>
        </p:spPr>
        <p:txBody>
          <a:bodyPr/>
          <a:p/>
        </p:txBody>
      </p:sp>
      <p:sp>
        <p:nvSpPr>
          <p:cNvPr id="9" name="Text 6"/>
          <p:cNvSpPr txBox="1"/>
          <p:nvPr/>
        </p:nvSpPr>
        <p:spPr>
          <a:xfrm>
            <a:off x="86868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Command</a:t>
            </a:r>
            <a:endParaRPr lang="en-US" sz="1500" dirty="0"/>
          </a:p>
        </p:txBody>
      </p:sp>
      <p:sp>
        <p:nvSpPr>
          <p:cNvPr id="10" name="Text 7"/>
          <p:cNvSpPr txBox="1"/>
          <p:nvPr/>
        </p:nvSpPr>
        <p:spPr>
          <a:xfrm>
            <a:off x="86868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TRD MX-20000001 &lt;GO&gt;, or plain words</a:t>
            </a:r>
            <a:endParaRPr lang="en-US" sz="1200" dirty="0"/>
          </a:p>
        </p:txBody>
      </p:sp>
      <p:sp>
        <p:nvSpPr>
          <p:cNvPr id="11" name="Shape 8"/>
          <p:cNvSpPr/>
          <p:nvPr/>
        </p:nvSpPr>
        <p:spPr>
          <a:xfrm>
            <a:off x="2738628" y="1600200"/>
            <a:ext cx="548640" cy="548640"/>
          </a:xfrm>
          <a:prstGeom prst="ellipse">
            <a:avLst/>
          </a:prstGeom>
          <a:solidFill>
            <a:srgbClr val="A51C30"/>
          </a:solidFill>
          <a:ln/>
        </p:spPr>
        <p:txBody>
          <a:bodyPr/>
          <a:p/>
        </p:txBody>
      </p:sp>
      <p:sp>
        <p:nvSpPr>
          <p:cNvPr id="12" name="Text 9"/>
          <p:cNvSpPr txBox="1"/>
          <p:nvPr/>
        </p:nvSpPr>
        <p:spPr>
          <a:xfrm>
            <a:off x="273862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Shape 10"/>
          <p:cNvSpPr/>
          <p:nvPr/>
        </p:nvSpPr>
        <p:spPr>
          <a:xfrm>
            <a:off x="2313432" y="2331720"/>
            <a:ext cx="1399032" cy="2011680"/>
          </a:xfrm>
          <a:prstGeom prst="rect">
            <a:avLst/>
          </a:prstGeom>
          <a:solidFill>
            <a:srgbClr val="F7F5F2"/>
          </a:solidFill>
          <a:ln/>
        </p:spPr>
        <p:txBody>
          <a:bodyPr/>
          <a:p/>
        </p:txBody>
      </p:sp>
      <p:sp>
        <p:nvSpPr>
          <p:cNvPr id="14" name="Text 11"/>
          <p:cNvSpPr txBox="1"/>
          <p:nvPr/>
        </p:nvSpPr>
        <p:spPr>
          <a:xfrm>
            <a:off x="240487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Fetch</a:t>
            </a:r>
            <a:endParaRPr lang="en-US" sz="1500" dirty="0"/>
          </a:p>
        </p:txBody>
      </p:sp>
      <p:sp>
        <p:nvSpPr>
          <p:cNvPr id="15" name="Text 12"/>
          <p:cNvSpPr txBox="1"/>
          <p:nvPr/>
        </p:nvSpPr>
        <p:spPr>
          <a:xfrm>
            <a:off x="240487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Sources in parallel on virtual threads</a:t>
            </a:r>
            <a:endParaRPr lang="en-US" sz="1200" dirty="0"/>
          </a:p>
        </p:txBody>
      </p:sp>
      <p:sp>
        <p:nvSpPr>
          <p:cNvPr id="16" name="Shape 13"/>
          <p:cNvSpPr/>
          <p:nvPr/>
        </p:nvSpPr>
        <p:spPr>
          <a:xfrm>
            <a:off x="4274820" y="1600200"/>
            <a:ext cx="548640" cy="548640"/>
          </a:xfrm>
          <a:prstGeom prst="ellipse">
            <a:avLst/>
          </a:prstGeom>
          <a:solidFill>
            <a:srgbClr val="A51C30"/>
          </a:solidFill>
          <a:ln/>
        </p:spPr>
        <p:txBody>
          <a:bodyPr/>
          <a:p/>
        </p:txBody>
      </p:sp>
      <p:sp>
        <p:nvSpPr>
          <p:cNvPr id="17" name="Text 14"/>
          <p:cNvSpPr txBox="1"/>
          <p:nvPr/>
        </p:nvSpPr>
        <p:spPr>
          <a:xfrm>
            <a:off x="4274820"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8" name="Shape 15"/>
          <p:cNvSpPr/>
          <p:nvPr/>
        </p:nvSpPr>
        <p:spPr>
          <a:xfrm>
            <a:off x="3849624" y="2331720"/>
            <a:ext cx="1399032" cy="2011680"/>
          </a:xfrm>
          <a:prstGeom prst="rect">
            <a:avLst/>
          </a:prstGeom>
          <a:solidFill>
            <a:srgbClr val="F7F5F2"/>
          </a:solidFill>
          <a:ln/>
        </p:spPr>
        <p:txBody>
          <a:bodyPr/>
          <a:p/>
        </p:txBody>
      </p:sp>
      <p:sp>
        <p:nvSpPr>
          <p:cNvPr id="19" name="Text 16"/>
          <p:cNvSpPr txBox="1"/>
          <p:nvPr/>
        </p:nvSpPr>
        <p:spPr>
          <a:xfrm>
            <a:off x="3941064"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Classify</a:t>
            </a:r>
            <a:endParaRPr lang="en-US" sz="1500" dirty="0"/>
          </a:p>
        </p:txBody>
      </p:sp>
      <p:sp>
        <p:nvSpPr>
          <p:cNvPr id="20" name="Text 17"/>
          <p:cNvSpPr txBox="1"/>
          <p:nvPr/>
        </p:nvSpPr>
        <p:spPr>
          <a:xfrm>
            <a:off x="3941064"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Which kind is this record?</a:t>
            </a:r>
            <a:endParaRPr lang="en-US" sz="1200" dirty="0"/>
          </a:p>
        </p:txBody>
      </p:sp>
      <p:sp>
        <p:nvSpPr>
          <p:cNvPr id="21" name="Shape 18"/>
          <p:cNvSpPr/>
          <p:nvPr/>
        </p:nvSpPr>
        <p:spPr>
          <a:xfrm>
            <a:off x="5811012" y="1600200"/>
            <a:ext cx="548640" cy="548640"/>
          </a:xfrm>
          <a:prstGeom prst="ellipse">
            <a:avLst/>
          </a:prstGeom>
          <a:solidFill>
            <a:srgbClr val="A51C30"/>
          </a:solidFill>
          <a:ln/>
        </p:spPr>
        <p:txBody>
          <a:bodyPr/>
          <a:p/>
        </p:txBody>
      </p:sp>
      <p:sp>
        <p:nvSpPr>
          <p:cNvPr id="22" name="Text 19"/>
          <p:cNvSpPr txBox="1"/>
          <p:nvPr/>
        </p:nvSpPr>
        <p:spPr>
          <a:xfrm>
            <a:off x="5811012"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3" name="Shape 20"/>
          <p:cNvSpPr/>
          <p:nvPr/>
        </p:nvSpPr>
        <p:spPr>
          <a:xfrm>
            <a:off x="5385816" y="2331720"/>
            <a:ext cx="1399032" cy="2011680"/>
          </a:xfrm>
          <a:prstGeom prst="rect">
            <a:avLst/>
          </a:prstGeom>
          <a:solidFill>
            <a:srgbClr val="F7F5F2"/>
          </a:solidFill>
          <a:ln/>
        </p:spPr>
        <p:txBody>
          <a:bodyPr/>
          <a:p/>
        </p:txBody>
      </p:sp>
      <p:sp>
        <p:nvSpPr>
          <p:cNvPr id="24" name="Text 21"/>
          <p:cNvSpPr txBox="1"/>
          <p:nvPr/>
        </p:nvSpPr>
        <p:spPr>
          <a:xfrm>
            <a:off x="5477256"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Fingerprint</a:t>
            </a:r>
            <a:endParaRPr lang="en-US" sz="1500" dirty="0"/>
          </a:p>
        </p:txBody>
      </p:sp>
      <p:sp>
        <p:nvSpPr>
          <p:cNvPr id="25" name="Text 22"/>
          <p:cNvSpPr txBox="1"/>
          <p:nvPr/>
        </p:nvSpPr>
        <p:spPr>
          <a:xfrm>
            <a:off x="5477256"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The data's shape, hashed</a:t>
            </a:r>
            <a:endParaRPr lang="en-US" sz="1200" dirty="0"/>
          </a:p>
        </p:txBody>
      </p:sp>
      <p:sp>
        <p:nvSpPr>
          <p:cNvPr id="26" name="Shape 23"/>
          <p:cNvSpPr/>
          <p:nvPr/>
        </p:nvSpPr>
        <p:spPr>
          <a:xfrm>
            <a:off x="7347204" y="1600200"/>
            <a:ext cx="548640" cy="548640"/>
          </a:xfrm>
          <a:prstGeom prst="ellipse">
            <a:avLst/>
          </a:prstGeom>
          <a:solidFill>
            <a:srgbClr val="A51C30"/>
          </a:solidFill>
          <a:ln/>
        </p:spPr>
        <p:txBody>
          <a:bodyPr/>
          <a:p/>
        </p:txBody>
      </p:sp>
      <p:sp>
        <p:nvSpPr>
          <p:cNvPr id="27" name="Text 24"/>
          <p:cNvSpPr txBox="1"/>
          <p:nvPr/>
        </p:nvSpPr>
        <p:spPr>
          <a:xfrm>
            <a:off x="7347204"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8" name="Shape 25"/>
          <p:cNvSpPr/>
          <p:nvPr/>
        </p:nvSpPr>
        <p:spPr>
          <a:xfrm>
            <a:off x="6922008" y="2331720"/>
            <a:ext cx="1399032" cy="2011680"/>
          </a:xfrm>
          <a:prstGeom prst="rect">
            <a:avLst/>
          </a:prstGeom>
          <a:solidFill>
            <a:srgbClr val="F7F5F2"/>
          </a:solidFill>
          <a:ln/>
        </p:spPr>
        <p:txBody>
          <a:bodyPr/>
          <a:p/>
        </p:txBody>
      </p:sp>
      <p:sp>
        <p:nvSpPr>
          <p:cNvPr id="29" name="Text 26"/>
          <p:cNvSpPr txBox="1"/>
          <p:nvPr/>
        </p:nvSpPr>
        <p:spPr>
          <a:xfrm>
            <a:off x="7013448"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Layout</a:t>
            </a:r>
            <a:endParaRPr lang="en-US" sz="1500" dirty="0"/>
          </a:p>
        </p:txBody>
      </p:sp>
      <p:sp>
        <p:nvSpPr>
          <p:cNvPr id="30" name="Text 27"/>
          <p:cNvSpPr txBox="1"/>
          <p:nvPr/>
        </p:nvSpPr>
        <p:spPr>
          <a:xfrm>
            <a:off x="7013448"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Sutra ⊕ inference, cached by shape</a:t>
            </a:r>
            <a:endParaRPr lang="en-US" sz="1200" dirty="0"/>
          </a:p>
        </p:txBody>
      </p:sp>
      <p:sp>
        <p:nvSpPr>
          <p:cNvPr id="31" name="Shape 28"/>
          <p:cNvSpPr/>
          <p:nvPr/>
        </p:nvSpPr>
        <p:spPr>
          <a:xfrm>
            <a:off x="8883396" y="1600200"/>
            <a:ext cx="548640" cy="548640"/>
          </a:xfrm>
          <a:prstGeom prst="ellipse">
            <a:avLst/>
          </a:prstGeom>
          <a:solidFill>
            <a:srgbClr val="A51C30"/>
          </a:solidFill>
          <a:ln/>
        </p:spPr>
        <p:txBody>
          <a:bodyPr/>
          <a:p/>
        </p:txBody>
      </p:sp>
      <p:sp>
        <p:nvSpPr>
          <p:cNvPr id="32" name="Text 29"/>
          <p:cNvSpPr txBox="1"/>
          <p:nvPr/>
        </p:nvSpPr>
        <p:spPr>
          <a:xfrm>
            <a:off x="8883396"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6</a:t>
            </a:r>
            <a:endParaRPr lang="en-US" sz="1600" dirty="0"/>
          </a:p>
        </p:txBody>
      </p:sp>
      <p:sp>
        <p:nvSpPr>
          <p:cNvPr id="33" name="Shape 30"/>
          <p:cNvSpPr/>
          <p:nvPr/>
        </p:nvSpPr>
        <p:spPr>
          <a:xfrm>
            <a:off x="8458200" y="2331720"/>
            <a:ext cx="1399032" cy="2011680"/>
          </a:xfrm>
          <a:prstGeom prst="rect">
            <a:avLst/>
          </a:prstGeom>
          <a:solidFill>
            <a:srgbClr val="F7F5F2"/>
          </a:solidFill>
          <a:ln/>
        </p:spPr>
        <p:txBody>
          <a:bodyPr/>
          <a:p/>
        </p:txBody>
      </p:sp>
      <p:sp>
        <p:nvSpPr>
          <p:cNvPr id="34" name="Text 31"/>
          <p:cNvSpPr txBox="1"/>
          <p:nvPr/>
        </p:nvSpPr>
        <p:spPr>
          <a:xfrm>
            <a:off x="8549640"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Bind</a:t>
            </a:r>
            <a:endParaRPr lang="en-US" sz="1500" dirty="0"/>
          </a:p>
        </p:txBody>
      </p:sp>
      <p:sp>
        <p:nvSpPr>
          <p:cNvPr id="35" name="Text 32"/>
          <p:cNvSpPr txBox="1"/>
          <p:nvPr/>
        </p:nvSpPr>
        <p:spPr>
          <a:xfrm>
            <a:off x="8549640"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Values into panels, in parallel</a:t>
            </a:r>
            <a:endParaRPr lang="en-US" sz="1200" dirty="0"/>
          </a:p>
        </p:txBody>
      </p:sp>
      <p:sp>
        <p:nvSpPr>
          <p:cNvPr id="36" name="Shape 33"/>
          <p:cNvSpPr/>
          <p:nvPr/>
        </p:nvSpPr>
        <p:spPr>
          <a:xfrm>
            <a:off x="10419588" y="1600200"/>
            <a:ext cx="548640" cy="548640"/>
          </a:xfrm>
          <a:prstGeom prst="ellipse">
            <a:avLst/>
          </a:prstGeom>
          <a:solidFill>
            <a:srgbClr val="A51C30"/>
          </a:solidFill>
          <a:ln/>
        </p:spPr>
        <p:txBody>
          <a:bodyPr/>
          <a:p/>
        </p:txBody>
      </p:sp>
      <p:sp>
        <p:nvSpPr>
          <p:cNvPr id="37" name="Text 34"/>
          <p:cNvSpPr txBox="1"/>
          <p:nvPr/>
        </p:nvSpPr>
        <p:spPr>
          <a:xfrm>
            <a:off x="10419588" y="1600200"/>
            <a:ext cx="548640" cy="548640"/>
          </a:xfrm>
          <a:prstGeom prst="rect">
            <a:avLst/>
          </a:prstGeom>
          <a:noFill/>
          <a:ln/>
        </p:spPr>
        <p:txBody>
          <a:bodyPr wrap="square" lIns="0" tIns="0" rIns="0" bIns="0" rtlCol="0" anchor="ctr"/>
          <a:lstStyle/>
          <a:p>
            <a:pPr algn="ctr" indent="0" marL="0">
              <a:buNone/>
            </a:pPr>
            <a:r>
              <a:rPr lang="en-US" sz="1600" b="1" dirty="0">
                <a:solidFill>
                  <a:srgbClr val="FFFFFF"/>
                </a:solidFill>
              </a:rPr>
              <a:t>7</a:t>
            </a:r>
            <a:endParaRPr lang="en-US" sz="1600" dirty="0"/>
          </a:p>
        </p:txBody>
      </p:sp>
      <p:sp>
        <p:nvSpPr>
          <p:cNvPr id="38" name="Shape 35"/>
          <p:cNvSpPr/>
          <p:nvPr/>
        </p:nvSpPr>
        <p:spPr>
          <a:xfrm>
            <a:off x="9994392" y="2331720"/>
            <a:ext cx="1399032" cy="2011680"/>
          </a:xfrm>
          <a:prstGeom prst="rect">
            <a:avLst/>
          </a:prstGeom>
          <a:solidFill>
            <a:srgbClr val="F7F5F2"/>
          </a:solidFill>
          <a:ln/>
        </p:spPr>
        <p:txBody>
          <a:bodyPr/>
          <a:p/>
        </p:txBody>
      </p:sp>
      <p:sp>
        <p:nvSpPr>
          <p:cNvPr id="39" name="Text 36"/>
          <p:cNvSpPr txBox="1"/>
          <p:nvPr/>
        </p:nvSpPr>
        <p:spPr>
          <a:xfrm>
            <a:off x="10085832" y="2423160"/>
            <a:ext cx="1216152" cy="365760"/>
          </a:xfrm>
          <a:prstGeom prst="rect">
            <a:avLst/>
          </a:prstGeom>
          <a:noFill/>
          <a:ln/>
        </p:spPr>
        <p:txBody>
          <a:bodyPr wrap="square" lIns="0" tIns="0" rIns="0" bIns="0" rtlCol="0" anchor="ctr"/>
          <a:lstStyle/>
          <a:p>
            <a:pPr algn="ctr" indent="0" marL="0">
              <a:buNone/>
            </a:pPr>
            <a:r>
              <a:rPr lang="en-US" sz="1500" b="1" dirty="0">
                <a:solidFill>
                  <a:srgbClr val="8A1626"/>
                </a:solidFill>
              </a:rPr>
              <a:t>Link</a:t>
            </a:r>
            <a:endParaRPr lang="en-US" sz="1500" dirty="0"/>
          </a:p>
        </p:txBody>
      </p:sp>
      <p:sp>
        <p:nvSpPr>
          <p:cNvPr id="40" name="Text 37"/>
          <p:cNvSpPr txBox="1"/>
          <p:nvPr/>
        </p:nvSpPr>
        <p:spPr>
          <a:xfrm>
            <a:off x="10085832" y="2834640"/>
            <a:ext cx="1216152" cy="1417320"/>
          </a:xfrm>
          <a:prstGeom prst="rect">
            <a:avLst/>
          </a:prstGeom>
          <a:noFill/>
          <a:ln/>
        </p:spPr>
        <p:txBody>
          <a:bodyPr wrap="square" lIns="0" tIns="0" rIns="0" bIns="0" rtlCol="0" anchor="t"/>
          <a:lstStyle/>
          <a:p>
            <a:pPr algn="ctr" indent="0" marL="0">
              <a:buNone/>
            </a:pPr>
            <a:r>
              <a:rPr lang="en-US" sz="1200" dirty="0">
                <a:solidFill>
                  <a:srgbClr val="4A5058"/>
                </a:solidFill>
              </a:rPr>
              <a:t>Every id navigable, time-boxed</a:t>
            </a:r>
            <a:endParaRPr lang="en-US" sz="1200" dirty="0"/>
          </a:p>
        </p:txBody>
      </p:sp>
      <p:sp>
        <p:nvSpPr>
          <p:cNvPr id="41" name="Shape 38"/>
          <p:cNvSpPr/>
          <p:nvPr/>
        </p:nvSpPr>
        <p:spPr>
          <a:xfrm>
            <a:off x="777240" y="4526280"/>
            <a:ext cx="3410712" cy="868680"/>
          </a:xfrm>
          <a:prstGeom prst="rect">
            <a:avLst/>
          </a:prstGeom>
          <a:solidFill>
            <a:srgbClr val="F7F5F2"/>
          </a:solidFill>
          <a:ln/>
        </p:spPr>
        <p:txBody>
          <a:bodyPr/>
          <a:p/>
        </p:txBody>
      </p:sp>
      <p:sp>
        <p:nvSpPr>
          <p:cNvPr id="42" name="Shape 39"/>
          <p:cNvSpPr/>
          <p:nvPr/>
        </p:nvSpPr>
        <p:spPr>
          <a:xfrm>
            <a:off x="777240" y="4526280"/>
            <a:ext cx="45720" cy="868680"/>
          </a:xfrm>
          <a:prstGeom prst="rect">
            <a:avLst/>
          </a:prstGeom>
          <a:solidFill>
            <a:srgbClr val="A51C30"/>
          </a:solidFill>
          <a:ln/>
        </p:spPr>
        <p:txBody>
          <a:bodyPr/>
          <a:p/>
        </p:txBody>
      </p:sp>
      <p:sp>
        <p:nvSpPr>
          <p:cNvPr id="43" name="Text 40"/>
          <p:cNvSpPr txBox="1"/>
          <p:nvPr/>
        </p:nvSpPr>
        <p:spPr>
          <a:xfrm>
            <a:off x="97840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0.6 ms</a:t>
            </a:r>
            <a:endParaRPr lang="en-US" sz="2600" dirty="0"/>
          </a:p>
        </p:txBody>
      </p:sp>
      <p:sp>
        <p:nvSpPr>
          <p:cNvPr id="44" name="Text 41"/>
          <p:cNvSpPr txBox="1"/>
          <p:nvPr/>
        </p:nvSpPr>
        <p:spPr>
          <a:xfrm>
            <a:off x="97840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Server work for a warm view</a:t>
            </a:r>
            <a:endParaRPr lang="en-US" sz="1150" dirty="0"/>
          </a:p>
        </p:txBody>
      </p:sp>
      <p:sp>
        <p:nvSpPr>
          <p:cNvPr id="45" name="Shape 42"/>
          <p:cNvSpPr/>
          <p:nvPr/>
        </p:nvSpPr>
        <p:spPr>
          <a:xfrm>
            <a:off x="4389120" y="4526280"/>
            <a:ext cx="3410712" cy="868680"/>
          </a:xfrm>
          <a:prstGeom prst="rect">
            <a:avLst/>
          </a:prstGeom>
          <a:solidFill>
            <a:srgbClr val="F7F5F2"/>
          </a:solidFill>
          <a:ln/>
        </p:spPr>
        <p:txBody>
          <a:bodyPr/>
          <a:p/>
        </p:txBody>
      </p:sp>
      <p:sp>
        <p:nvSpPr>
          <p:cNvPr id="46" name="Shape 43"/>
          <p:cNvSpPr/>
          <p:nvPr/>
        </p:nvSpPr>
        <p:spPr>
          <a:xfrm>
            <a:off x="4389120" y="4526280"/>
            <a:ext cx="45720" cy="868680"/>
          </a:xfrm>
          <a:prstGeom prst="rect">
            <a:avLst/>
          </a:prstGeom>
          <a:solidFill>
            <a:srgbClr val="A51C30"/>
          </a:solidFill>
          <a:ln/>
        </p:spPr>
        <p:txBody>
          <a:bodyPr/>
          <a:p/>
        </p:txBody>
      </p:sp>
      <p:sp>
        <p:nvSpPr>
          <p:cNvPr id="47" name="Text 44"/>
          <p:cNvSpPr txBox="1"/>
          <p:nvPr/>
        </p:nvSpPr>
        <p:spPr>
          <a:xfrm>
            <a:off x="459028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3.0 ms</a:t>
            </a:r>
            <a:endParaRPr lang="en-US" sz="2600" dirty="0"/>
          </a:p>
        </p:txBody>
      </p:sp>
      <p:sp>
        <p:nvSpPr>
          <p:cNvPr id="48" name="Text 45"/>
          <p:cNvSpPr txBox="1"/>
          <p:nvPr/>
        </p:nvSpPr>
        <p:spPr>
          <a:xfrm>
            <a:off x="459028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Warm view over HTTP, p99 (gate: 50 ms)</a:t>
            </a:r>
            <a:endParaRPr lang="en-US" sz="1150" dirty="0"/>
          </a:p>
        </p:txBody>
      </p:sp>
      <p:sp>
        <p:nvSpPr>
          <p:cNvPr id="49" name="Shape 46"/>
          <p:cNvSpPr/>
          <p:nvPr/>
        </p:nvSpPr>
        <p:spPr>
          <a:xfrm>
            <a:off x="8001000" y="4526280"/>
            <a:ext cx="3410712" cy="868680"/>
          </a:xfrm>
          <a:prstGeom prst="rect">
            <a:avLst/>
          </a:prstGeom>
          <a:solidFill>
            <a:srgbClr val="F7F5F2"/>
          </a:solidFill>
          <a:ln/>
        </p:spPr>
        <p:txBody>
          <a:bodyPr/>
          <a:p/>
        </p:txBody>
      </p:sp>
      <p:sp>
        <p:nvSpPr>
          <p:cNvPr id="50" name="Shape 47"/>
          <p:cNvSpPr/>
          <p:nvPr/>
        </p:nvSpPr>
        <p:spPr>
          <a:xfrm>
            <a:off x="8001000" y="4526280"/>
            <a:ext cx="45720" cy="868680"/>
          </a:xfrm>
          <a:prstGeom prst="rect">
            <a:avLst/>
          </a:prstGeom>
          <a:solidFill>
            <a:srgbClr val="A51C30"/>
          </a:solidFill>
          <a:ln/>
        </p:spPr>
        <p:txBody>
          <a:bodyPr/>
          <a:p/>
        </p:txBody>
      </p:sp>
      <p:sp>
        <p:nvSpPr>
          <p:cNvPr id="51" name="Text 48"/>
          <p:cNvSpPr txBox="1"/>
          <p:nvPr/>
        </p:nvSpPr>
        <p:spPr>
          <a:xfrm>
            <a:off x="8202168" y="463600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7.2 ms</a:t>
            </a:r>
            <a:endParaRPr lang="en-US" sz="2600" dirty="0"/>
          </a:p>
        </p:txBody>
      </p:sp>
      <p:sp>
        <p:nvSpPr>
          <p:cNvPr id="52" name="Text 49"/>
          <p:cNvSpPr txBox="1"/>
          <p:nvPr/>
        </p:nvSpPr>
        <p:spPr>
          <a:xfrm>
            <a:off x="8202168" y="5129784"/>
            <a:ext cx="3090672" cy="192024"/>
          </a:xfrm>
          <a:prstGeom prst="rect">
            <a:avLst/>
          </a:prstGeom>
          <a:noFill/>
          <a:ln/>
        </p:spPr>
        <p:txBody>
          <a:bodyPr wrap="square" lIns="0" tIns="0" rIns="0" bIns="0" rtlCol="0" anchor="t"/>
          <a:lstStyle/>
          <a:p>
            <a:pPr indent="0" marL="0">
              <a:buNone/>
            </a:pPr>
            <a:r>
              <a:rPr lang="en-US" sz="1150" dirty="0">
                <a:solidFill>
                  <a:srgbClr val="4A5058"/>
                </a:solidFill>
              </a:rPr>
              <a:t>Structured search over 750 trades</a:t>
            </a:r>
            <a:endParaRPr lang="en-US" sz="1150" dirty="0"/>
          </a:p>
        </p:txBody>
      </p:sp>
      <p:sp>
        <p:nvSpPr>
          <p:cNvPr id="53" name="Shape 50"/>
          <p:cNvSpPr/>
          <p:nvPr/>
        </p:nvSpPr>
        <p:spPr>
          <a:xfrm>
            <a:off x="777240" y="5550408"/>
            <a:ext cx="10634472" cy="694944"/>
          </a:xfrm>
          <a:prstGeom prst="rect">
            <a:avLst/>
          </a:prstGeom>
          <a:solidFill>
            <a:srgbClr val="F6E6E9"/>
          </a:solidFill>
          <a:ln/>
        </p:spPr>
        <p:txBody>
          <a:bodyPr/>
          <a:p/>
        </p:txBody>
      </p:sp>
      <p:sp>
        <p:nvSpPr>
          <p:cNvPr id="54" name="Shape 51"/>
          <p:cNvSpPr/>
          <p:nvPr/>
        </p:nvSpPr>
        <p:spPr>
          <a:xfrm>
            <a:off x="777240" y="5550408"/>
            <a:ext cx="54864" cy="694944"/>
          </a:xfrm>
          <a:prstGeom prst="rect">
            <a:avLst/>
          </a:prstGeom>
          <a:solidFill>
            <a:srgbClr val="A51C30"/>
          </a:solidFill>
          <a:ln/>
        </p:spPr>
        <p:txBody>
          <a:bodyPr/>
          <a:p/>
        </p:txBody>
      </p:sp>
      <p:sp>
        <p:nvSpPr>
          <p:cNvPr id="55" name="Text 5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expensive part — deciding the layout — happens once per shape, not once per request.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ONE SUTRA,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 swap's whole screen, in one short file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5897880" cy="3886200"/>
          </a:xfrm>
          <a:prstGeom prst="rect">
            <a:avLst/>
          </a:prstGeom>
          <a:solidFill>
            <a:srgbClr val="1E1E24"/>
          </a:solidFill>
          <a:ln/>
        </p:spPr>
        <p:txBody>
          <a:bodyPr/>
          <a:p/>
        </p:txBody>
      </p:sp>
      <p:sp>
        <p:nvSpPr>
          <p:cNvPr id="7" name="Shape 4"/>
          <p:cNvSpPr/>
          <p:nvPr/>
        </p:nvSpPr>
        <p:spPr>
          <a:xfrm>
            <a:off x="777240" y="1463040"/>
            <a:ext cx="5897880" cy="384048"/>
          </a:xfrm>
          <a:prstGeom prst="rect">
            <a:avLst/>
          </a:prstGeom>
          <a:solidFill>
            <a:srgbClr val="8A1626"/>
          </a:solidFill>
          <a:ln/>
        </p:spPr>
        <p:txBody>
          <a:bodyPr/>
          <a:p/>
        </p:txBody>
      </p:sp>
      <p:sp>
        <p:nvSpPr>
          <p:cNvPr id="8" name="Text 5"/>
          <p:cNvSpPr txBox="1"/>
          <p:nvPr/>
        </p:nvSpPr>
        <p:spPr>
          <a:xfrm>
            <a:off x="960120" y="1463040"/>
            <a:ext cx="5532120" cy="384048"/>
          </a:xfrm>
          <a:prstGeom prst="rect">
            <a:avLst/>
          </a:prstGeom>
          <a:noFill/>
          <a:ln/>
        </p:spPr>
        <p:txBody>
          <a:bodyPr wrap="square" lIns="0" tIns="0" rIns="0" bIns="0" rtlCol="0" anchor="ctr"/>
          <a:lstStyle/>
          <a:p>
            <a:pPr indent="0" marL="0">
              <a:buNone/>
            </a:pPr>
            <a:r>
              <a:rPr lang="en-US" sz="1300" b="1" dirty="0">
                <a:solidFill>
                  <a:srgbClr val="FFFFFF"/>
                </a:solidFill>
              </a:rPr>
              <a:t>murex/irs-fixfloat.v1.sutra.yaml (trimmed)</a:t>
            </a:r>
            <a:endParaRPr lang="en-US" sz="1300" dirty="0"/>
          </a:p>
        </p:txBody>
      </p:sp>
      <p:sp>
        <p:nvSpPr>
          <p:cNvPr id="9" name="Text 6"/>
          <p:cNvSpPr txBox="1"/>
          <p:nvPr/>
        </p:nvSpPr>
        <p:spPr>
          <a:xfrm>
            <a:off x="978408" y="1965960"/>
            <a:ext cx="5495544" cy="3273552"/>
          </a:xfrm>
          <a:prstGeom prst="rect">
            <a:avLst/>
          </a:prstGeom>
          <a:noFill/>
          <a:ln/>
        </p:spPr>
        <p:txBody>
          <a:bodyPr wrap="square" lIns="0" tIns="0" rIns="0" bIns="0" rtlCol="0" anchor="t"/>
          <a:lstStyle/>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rachana: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sutra: irs-fixfloat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version: 1</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match:</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kind: trade</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priority: 10</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where: "$.PRODUCT_TYPE == 'IRS_FIXFLOAT'"</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title: { pill: "Rates · IRS", id: $.TRADE_ID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strip:</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Source, bind: $.SOURCE_SYSTEM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label: Status, bind: $.TRADE_STATUS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panels:</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deal-ticket@1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legs@1, with: { rate-fmt: pct4 } }</a:t>
            </a:r>
            <a:endParaRPr lang="en-US" sz="1200" dirty="0"/>
          </a:p>
          <a:p>
            <a:pPr indent="0" marL="0">
              <a:lnSpc>
                <a:spcPct val="105000"/>
              </a:lnSpc>
              <a:buNone/>
            </a:pPr>
            <a:r>
              <a:rPr lang="en-US" sz="1200" dirty="0">
                <a:solidFill>
                  <a:srgbClr val="F1EEE9"/>
                </a:solidFill>
                <a:latin typeface="Courier New" pitchFamily="34" charset="0"/>
                <a:ea typeface="Courier New" pitchFamily="34" charset="-122"/>
                <a:cs typeface="Courier New" pitchFamily="34" charset="-120"/>
              </a:rPr>
              <a:t>  - { use: flow-schedule@1 }</a:t>
            </a:r>
            <a:endParaRPr lang="en-US" sz="1200" dirty="0"/>
          </a:p>
        </p:txBody>
      </p:sp>
      <p:sp>
        <p:nvSpPr>
          <p:cNvPr id="10" name="Text 7"/>
          <p:cNvSpPr txBox="1"/>
          <p:nvPr/>
        </p:nvSpPr>
        <p:spPr>
          <a:xfrm>
            <a:off x="6949440" y="1463040"/>
            <a:ext cx="4462272" cy="3931920"/>
          </a:xfrm>
          <a:prstGeom prst="rect">
            <a:avLst/>
          </a:prstGeom>
          <a:noFill/>
          <a:ln/>
        </p:spPr>
        <p:txBody>
          <a:bodyPr wrap="square" lIns="0" tIns="0" rIns="0" bIns="0" rtlCol="0" anchor="t"/>
          <a:lstStyle/>
          <a:p>
            <a:pPr indent="0" marL="0">
              <a:buNone/>
            </a:pPr>
            <a:r>
              <a:rPr lang="en-US" sz="1500" b="1" dirty="0">
                <a:solidFill>
                  <a:srgbClr val="A51C30"/>
                </a:solidFill>
              </a:rPr>
              <a:t>▪  When it applies</a:t>
            </a:r>
            <a:endParaRPr lang="en-US" sz="1500" dirty="0"/>
          </a:p>
          <a:p>
            <a:pPr indent="0" marL="0">
              <a:spcAft>
                <a:spcPts val="900"/>
              </a:spcAft>
              <a:buNone/>
            </a:pPr>
            <a:r>
              <a:rPr lang="en-US" sz="1300" dirty="0">
                <a:solidFill>
                  <a:srgbClr val="4A5058"/>
                </a:solidFill>
              </a:rPr>
              <a:t>A MUREX trade whose PRODUCT_TYPE is IRS_FIXFLOAT; the highest priority match wins.</a:t>
            </a:r>
            <a:endParaRPr lang="en-US" sz="1500" dirty="0"/>
          </a:p>
          <a:p>
            <a:pPr indent="0" marL="0">
              <a:buNone/>
            </a:pPr>
            <a:r>
              <a:rPr lang="en-US" sz="1500" b="1" dirty="0">
                <a:solidFill>
                  <a:srgbClr val="A51C30"/>
                </a:solidFill>
              </a:rPr>
              <a:t>▪  What it shows</a:t>
            </a:r>
            <a:endParaRPr lang="en-US" sz="1500" dirty="0"/>
          </a:p>
          <a:p>
            <a:pPr indent="0" marL="0">
              <a:spcAft>
                <a:spcPts val="900"/>
              </a:spcAft>
              <a:buNone/>
            </a:pPr>
            <a:r>
              <a:rPr lang="en-US" sz="1300" dirty="0">
                <a:solidFill>
                  <a:srgbClr val="4A5058"/>
                </a:solidFill>
              </a:rPr>
              <a:t>A linked header, headline figures and shared blocks: the deal ticket, legs and flows, one block for 130 Sutras.</a:t>
            </a:r>
            <a:endParaRPr lang="en-US" sz="1500" dirty="0"/>
          </a:p>
          <a:p>
            <a:pPr indent="0" marL="0">
              <a:buNone/>
            </a:pPr>
            <a:r>
              <a:rPr lang="en-US" sz="1500" b="1" dirty="0">
                <a:solidFill>
                  <a:srgbClr val="A51C30"/>
                </a:solidFill>
              </a:rPr>
              <a:t>▪  A closed language</a:t>
            </a:r>
            <a:endParaRPr lang="en-US" sz="1500" dirty="0"/>
          </a:p>
          <a:p>
            <a:pPr indent="0" marL="0">
              <a:spcAft>
                <a:spcPts val="900"/>
              </a:spcAft>
              <a:buNone/>
            </a:pPr>
            <a:r>
              <a:rPr lang="en-US" sz="1300" dirty="0">
                <a:solidFill>
                  <a:srgbClr val="4A5058"/>
                </a:solidFill>
              </a:rPr>
              <a:t>Rachana-EL has no side effects and no loops; a bad edit keeps the last good version live.</a:t>
            </a:r>
            <a:endParaRPr lang="en-US" sz="1500" dirty="0"/>
          </a:p>
          <a:p>
            <a:pPr indent="0" marL="0">
              <a:buNone/>
            </a:pPr>
            <a:r>
              <a:rPr lang="en-US" sz="1500" b="1" dirty="0">
                <a:solidFill>
                  <a:srgbClr val="A51C30"/>
                </a:solidFill>
              </a:rPr>
              <a:t>▪  Shipped through review</a:t>
            </a:r>
            <a:endParaRPr lang="en-US" sz="1500" dirty="0"/>
          </a:p>
          <a:p>
            <a:pPr indent="0" marL="0">
              <a:spcAft>
                <a:spcPts val="900"/>
              </a:spcAft>
              <a:buNone/>
            </a:pPr>
            <a:r>
              <a:rPr lang="en-US" sz="1300" dirty="0">
                <a:solidFill>
                  <a:srgbClr val="4A5058"/>
                </a:solidFill>
              </a:rPr>
              <a:t>Saved Sutras reload at once; in production a second person approves (four eyes).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LIVE, END TO END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subscription per entity, one channel per browser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Source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subscribe()</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TopicHub</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topic per entity; latest wins</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ViewStream</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One per open view; cached layout</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PatchDiffer</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Old vs new ViewModel</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Browser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Patches over one SSE channel</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474720"/>
            <a:ext cx="2507742" cy="1737360"/>
          </a:xfrm>
          <a:prstGeom prst="rect">
            <a:avLst/>
          </a:prstGeom>
          <a:solidFill>
            <a:srgbClr val="F7F5F2"/>
          </a:solidFill>
          <a:ln/>
        </p:spPr>
        <p:txBody>
          <a:bodyPr/>
          <a:p/>
        </p:txBody>
      </p:sp>
      <p:sp>
        <p:nvSpPr>
          <p:cNvPr id="26" name="Shape 23"/>
          <p:cNvSpPr/>
          <p:nvPr/>
        </p:nvSpPr>
        <p:spPr>
          <a:xfrm>
            <a:off x="777240" y="3474720"/>
            <a:ext cx="45720" cy="1737360"/>
          </a:xfrm>
          <a:prstGeom prst="rect">
            <a:avLst/>
          </a:prstGeom>
          <a:solidFill>
            <a:srgbClr val="A51C30"/>
          </a:solidFill>
          <a:ln/>
        </p:spPr>
        <p:txBody>
          <a:bodyPr/>
          <a:p/>
        </p:txBody>
      </p:sp>
      <p:sp>
        <p:nvSpPr>
          <p:cNvPr id="27" name="Text 24"/>
          <p:cNvSpPr txBox="1"/>
          <p:nvPr/>
        </p:nvSpPr>
        <p:spPr>
          <a:xfrm>
            <a:off x="97840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2.4 ms</a:t>
            </a:r>
            <a:endParaRPr lang="en-US" sz="2600" dirty="0"/>
          </a:p>
        </p:txBody>
      </p:sp>
      <p:sp>
        <p:nvSpPr>
          <p:cNvPr id="28" name="Text 25"/>
          <p:cNvSpPr txBox="1"/>
          <p:nvPr/>
        </p:nvSpPr>
        <p:spPr>
          <a:xfrm>
            <a:off x="97840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p50</a:t>
            </a:r>
            <a:endParaRPr lang="en-US" sz="1300" dirty="0"/>
          </a:p>
        </p:txBody>
      </p:sp>
      <p:sp>
        <p:nvSpPr>
          <p:cNvPr id="29" name="Shape 26"/>
          <p:cNvSpPr/>
          <p:nvPr/>
        </p:nvSpPr>
        <p:spPr>
          <a:xfrm>
            <a:off x="3486150" y="3474720"/>
            <a:ext cx="2507742" cy="1737360"/>
          </a:xfrm>
          <a:prstGeom prst="rect">
            <a:avLst/>
          </a:prstGeom>
          <a:solidFill>
            <a:srgbClr val="F7F5F2"/>
          </a:solidFill>
          <a:ln/>
        </p:spPr>
        <p:txBody>
          <a:bodyPr/>
          <a:p/>
        </p:txBody>
      </p:sp>
      <p:sp>
        <p:nvSpPr>
          <p:cNvPr id="30" name="Shape 27"/>
          <p:cNvSpPr/>
          <p:nvPr/>
        </p:nvSpPr>
        <p:spPr>
          <a:xfrm>
            <a:off x="3486150" y="3474720"/>
            <a:ext cx="45720" cy="1737360"/>
          </a:xfrm>
          <a:prstGeom prst="rect">
            <a:avLst/>
          </a:prstGeom>
          <a:solidFill>
            <a:srgbClr val="A51C30"/>
          </a:solidFill>
          <a:ln/>
        </p:spPr>
        <p:txBody>
          <a:bodyPr/>
          <a:p/>
        </p:txBody>
      </p:sp>
      <p:sp>
        <p:nvSpPr>
          <p:cNvPr id="31" name="Text 28"/>
          <p:cNvSpPr txBox="1"/>
          <p:nvPr/>
        </p:nvSpPr>
        <p:spPr>
          <a:xfrm>
            <a:off x="368731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11.2 ms</a:t>
            </a:r>
            <a:endParaRPr lang="en-US" sz="2600" dirty="0"/>
          </a:p>
        </p:txBody>
      </p:sp>
      <p:sp>
        <p:nvSpPr>
          <p:cNvPr id="32" name="Text 29"/>
          <p:cNvSpPr txBox="1"/>
          <p:nvPr/>
        </p:nvSpPr>
        <p:spPr>
          <a:xfrm>
            <a:off x="368731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Tick to frame, p99 (gate: 40 ms)</a:t>
            </a:r>
            <a:endParaRPr lang="en-US" sz="1300" dirty="0"/>
          </a:p>
        </p:txBody>
      </p:sp>
      <p:sp>
        <p:nvSpPr>
          <p:cNvPr id="33" name="Shape 30"/>
          <p:cNvSpPr/>
          <p:nvPr/>
        </p:nvSpPr>
        <p:spPr>
          <a:xfrm>
            <a:off x="6195060" y="3474720"/>
            <a:ext cx="2507742" cy="1737360"/>
          </a:xfrm>
          <a:prstGeom prst="rect">
            <a:avLst/>
          </a:prstGeom>
          <a:solidFill>
            <a:srgbClr val="F7F5F2"/>
          </a:solidFill>
          <a:ln/>
        </p:spPr>
        <p:txBody>
          <a:bodyPr/>
          <a:p/>
        </p:txBody>
      </p:sp>
      <p:sp>
        <p:nvSpPr>
          <p:cNvPr id="34" name="Shape 31"/>
          <p:cNvSpPr/>
          <p:nvPr/>
        </p:nvSpPr>
        <p:spPr>
          <a:xfrm>
            <a:off x="6195060" y="3474720"/>
            <a:ext cx="45720" cy="1737360"/>
          </a:xfrm>
          <a:prstGeom prst="rect">
            <a:avLst/>
          </a:prstGeom>
          <a:solidFill>
            <a:srgbClr val="A51C30"/>
          </a:solidFill>
          <a:ln/>
        </p:spPr>
        <p:txBody>
          <a:bodyPr/>
          <a:p/>
        </p:txBody>
      </p:sp>
      <p:sp>
        <p:nvSpPr>
          <p:cNvPr id="35" name="Text 32"/>
          <p:cNvSpPr txBox="1"/>
          <p:nvPr/>
        </p:nvSpPr>
        <p:spPr>
          <a:xfrm>
            <a:off x="639622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50 ms</a:t>
            </a:r>
            <a:endParaRPr lang="en-US" sz="2600" dirty="0"/>
          </a:p>
        </p:txBody>
      </p:sp>
      <p:sp>
        <p:nvSpPr>
          <p:cNvPr id="36" name="Text 33"/>
          <p:cNvSpPr txBox="1"/>
          <p:nvPr/>
        </p:nvSpPr>
        <p:spPr>
          <a:xfrm>
            <a:off x="639622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A topic sends at once if it has not sent within this window</a:t>
            </a:r>
            <a:endParaRPr lang="en-US" sz="1300" dirty="0"/>
          </a:p>
        </p:txBody>
      </p:sp>
      <p:sp>
        <p:nvSpPr>
          <p:cNvPr id="37" name="Shape 34"/>
          <p:cNvSpPr/>
          <p:nvPr/>
        </p:nvSpPr>
        <p:spPr>
          <a:xfrm>
            <a:off x="8903970" y="3474720"/>
            <a:ext cx="2507742" cy="1737360"/>
          </a:xfrm>
          <a:prstGeom prst="rect">
            <a:avLst/>
          </a:prstGeom>
          <a:solidFill>
            <a:srgbClr val="F7F5F2"/>
          </a:solidFill>
          <a:ln/>
        </p:spPr>
        <p:txBody>
          <a:bodyPr/>
          <a:p/>
        </p:txBody>
      </p:sp>
      <p:sp>
        <p:nvSpPr>
          <p:cNvPr id="38" name="Shape 35"/>
          <p:cNvSpPr/>
          <p:nvPr/>
        </p:nvSpPr>
        <p:spPr>
          <a:xfrm>
            <a:off x="8903970" y="3474720"/>
            <a:ext cx="45720" cy="1737360"/>
          </a:xfrm>
          <a:prstGeom prst="rect">
            <a:avLst/>
          </a:prstGeom>
          <a:solidFill>
            <a:srgbClr val="A51C30"/>
          </a:solidFill>
          <a:ln/>
        </p:spPr>
        <p:txBody>
          <a:bodyPr/>
          <a:p/>
        </p:txBody>
      </p:sp>
      <p:sp>
        <p:nvSpPr>
          <p:cNvPr id="39" name="Text 36"/>
          <p:cNvSpPr txBox="1"/>
          <p:nvPr/>
        </p:nvSpPr>
        <p:spPr>
          <a:xfrm>
            <a:off x="9105138" y="35844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a:t>
            </a:r>
            <a:endParaRPr lang="en-US" sz="2600" dirty="0"/>
          </a:p>
        </p:txBody>
      </p:sp>
      <p:sp>
        <p:nvSpPr>
          <p:cNvPr id="40" name="Text 37"/>
          <p:cNvSpPr txBox="1"/>
          <p:nvPr/>
        </p:nvSpPr>
        <p:spPr>
          <a:xfrm>
            <a:off x="9105138" y="4078224"/>
            <a:ext cx="2187702" cy="1060704"/>
          </a:xfrm>
          <a:prstGeom prst="rect">
            <a:avLst/>
          </a:prstGeom>
          <a:noFill/>
          <a:ln/>
        </p:spPr>
        <p:txBody>
          <a:bodyPr wrap="square" lIns="0" tIns="0" rIns="0" bIns="0" rtlCol="0" anchor="t"/>
          <a:lstStyle/>
          <a:p>
            <a:pPr indent="0" marL="0">
              <a:buNone/>
            </a:pPr>
            <a:r>
              <a:rPr lang="en-US" sz="1300" dirty="0">
                <a:solidFill>
                  <a:srgbClr val="4A5058"/>
                </a:solidFill>
              </a:rPr>
              <a:t>Live channel per browser, however many views</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view does not poll and does not redraw — only the figures that changed travel, and only to the views that show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BENEFITS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a grammar of screens buys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Day one, every product</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Inference shows a new feed at once; nobody reads raw JSON.</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Screens as reviewed data</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Sutra is versioned, tested, diffed and approved like code — without being code.</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One place to look</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trade, its curve and its netting set from three systems on one linked screen.</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Trust in the number</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Provenance and freshness on every view; masks applied for every reader.</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Anywhere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console on any device, the API, the CLI, and the same view inside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cost of a new screen falls from a project to a paragraph — and to nothing at all on day one.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02</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Drishti 2.5: the product</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Built, measured and documented — every screen here is a real capture.</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RELEASE 2.5, 2.6 UNDER WAY · JAVA 21 OR LATER</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Drishti 2.5 — overview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Domain packs: core, market data, trading, counterparty and market risk, world economy, news</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197</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Sutras shipped in those packs</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22</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Panel kinds, from tables to surfaces and graphs</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Source plugins behind one interface</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A terminal on any device</a:t>
            </a:r>
            <a:endParaRPr lang="en-US" sz="1500" dirty="0"/>
          </a:p>
          <a:p>
            <a:pPr indent="0" marL="0">
              <a:spcAft>
                <a:spcPts val="700"/>
              </a:spcAft>
              <a:buNone/>
            </a:pPr>
            <a:r>
              <a:rPr lang="en-US" sz="1300" dirty="0">
                <a:solidFill>
                  <a:srgbClr val="4A5058"/>
                </a:solidFill>
              </a:rPr>
              <a:t>Command line, type-ahead and query by form over production-shaped trades from ENDUR, CALYPSO and MUREX; business dates; phones.</a:t>
            </a:r>
            <a:endParaRPr lang="en-US" sz="1500" dirty="0"/>
          </a:p>
          <a:p>
            <a:pPr indent="0" marL="0">
              <a:buNone/>
            </a:pPr>
            <a:r>
              <a:rPr lang="en-US" sz="1500" b="1" dirty="0">
                <a:solidFill>
                  <a:srgbClr val="A51C30"/>
                </a:solidFill>
              </a:rPr>
              <a:t>▪  Build and analyse without code</a:t>
            </a:r>
            <a:endParaRPr lang="en-US" sz="1500" dirty="0"/>
          </a:p>
          <a:p>
            <a:pPr indent="0" marL="0">
              <a:spcAft>
                <a:spcPts val="700"/>
              </a:spcAft>
              <a:buNone/>
            </a:pPr>
            <a:r>
              <a:rPr lang="en-US" sz="1300" dirty="0">
                <a:solidFill>
                  <a:srgbClr val="4A5058"/>
                </a:solidFill>
              </a:rPr>
              <a:t>The Build workbench for screens; BI Studio for reports, statements, models, boards and themes; Python data prep step by step.</a:t>
            </a:r>
            <a:endParaRPr lang="en-US" sz="1500" dirty="0"/>
          </a:p>
          <a:p>
            <a:pPr indent="0" marL="0">
              <a:buNone/>
            </a:pPr>
            <a:r>
              <a:rPr lang="en-US" sz="1500" b="1" dirty="0">
                <a:solidFill>
                  <a:srgbClr val="A51C30"/>
                </a:solidFill>
              </a:rPr>
              <a:t>▪  Work together, provably</a:t>
            </a:r>
            <a:endParaRPr lang="en-US" sz="1500" dirty="0"/>
          </a:p>
          <a:p>
            <a:pPr indent="0" marL="0">
              <a:spcAft>
                <a:spcPts val="700"/>
              </a:spcAft>
              <a:buNone/>
            </a:pPr>
            <a:r>
              <a:rPr lang="en-US" sz="1300" dirty="0">
                <a:solidFill>
                  <a:srgbClr val="4A5058"/>
                </a:solidFill>
              </a:rPr>
              <a:t>Shares, discussion threads, an inbox, email digests and chat bridges — hash-chained, sealable and exportable.</a:t>
            </a:r>
            <a:endParaRPr lang="en-US" sz="1500" dirty="0"/>
          </a:p>
          <a:p>
            <a:pPr indent="0" marL="0">
              <a:buNone/>
            </a:pPr>
            <a:r>
              <a:rPr lang="en-US" sz="1500" b="1" dirty="0">
                <a:solidFill>
                  <a:srgbClr val="A51C30"/>
                </a:solidFill>
              </a:rPr>
              <a:t>▪  Run it, on one server or several</a:t>
            </a:r>
            <a:endParaRPr lang="en-US" sz="1500" dirty="0"/>
          </a:p>
          <a:p>
            <a:pPr indent="0" marL="0">
              <a:spcAft>
                <a:spcPts val="700"/>
              </a:spcAft>
              <a:buNone/>
            </a:pPr>
            <a:r>
              <a:rPr lang="en-US" sz="1300" dirty="0">
                <a:solidFill>
                  <a:srgbClr val="4A5058"/>
                </a:solidFill>
              </a:rPr>
              <a:t>Pack bundles with rollback, data-load signals, lake maintenance, a CLI for every step, embedding, and Drishti*net clusters.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VIEW</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One trade, linked and explained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view-trade.pn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Strip</a:t>
            </a:r>
            <a:endParaRPr lang="en-US" sz="1500" dirty="0"/>
          </a:p>
          <a:p>
            <a:pPr indent="0" marL="0">
              <a:spcAft>
                <a:spcPts val="800"/>
              </a:spcAft>
              <a:buNone/>
            </a:pPr>
            <a:r>
              <a:rPr lang="en-US" sz="1300" dirty="0">
                <a:solidFill>
                  <a:srgbClr val="4A5058"/>
                </a:solidFill>
              </a:rPr>
              <a:t>Source, side, notional, quantity, dates, status and portfolio.</a:t>
            </a:r>
            <a:endParaRPr lang="en-US" sz="1500" dirty="0"/>
          </a:p>
          <a:p>
            <a:pPr indent="0" marL="0">
              <a:buNone/>
            </a:pPr>
            <a:r>
              <a:rPr lang="en-US" sz="1500" b="1" dirty="0">
                <a:solidFill>
                  <a:srgbClr val="A51C30"/>
                </a:solidFill>
              </a:rPr>
              <a:t>▪  Panels by key</a:t>
            </a:r>
            <a:endParaRPr lang="en-US" sz="1500" dirty="0"/>
          </a:p>
          <a:p>
            <a:pPr indent="0" marL="0">
              <a:spcAft>
                <a:spcPts val="800"/>
              </a:spcAft>
              <a:buNone/>
            </a:pPr>
            <a:r>
              <a:rPr lang="en-US" sz="1300" dirty="0">
                <a:solidFill>
                  <a:srgbClr val="4A5058"/>
                </a:solidFill>
              </a:rPr>
              <a:t>F2 deal ticket, F3 legs, F4 cash flows, F6 netted payments; Alt+L to rearrange.</a:t>
            </a:r>
            <a:endParaRPr lang="en-US" sz="1500" dirty="0"/>
          </a:p>
          <a:p>
            <a:pPr indent="0" marL="0">
              <a:buNone/>
            </a:pPr>
            <a:r>
              <a:rPr lang="en-US" sz="1500" b="1" dirty="0">
                <a:solidFill>
                  <a:srgbClr val="A51C30"/>
                </a:solidFill>
              </a:rPr>
              <a:t>▪  Linked</a:t>
            </a:r>
            <a:endParaRPr lang="en-US" sz="1500" dirty="0"/>
          </a:p>
          <a:p>
            <a:pPr indent="0" marL="0">
              <a:spcAft>
                <a:spcPts val="800"/>
              </a:spcAft>
              <a:buNone/>
            </a:pPr>
            <a:r>
              <a:rPr lang="en-US" sz="1300" dirty="0">
                <a:solidFill>
                  <a:srgbClr val="4A5058"/>
                </a:solidFill>
              </a:rPr>
              <a:t>Counterparty, portfolio, legal entity and trader open in one click.</a:t>
            </a:r>
            <a:endParaRPr lang="en-US" sz="1500" dirty="0"/>
          </a:p>
          <a:p>
            <a:pPr indent="0" marL="0">
              <a:buNone/>
            </a:pPr>
            <a:r>
              <a:rPr lang="en-US" sz="1500" b="1" dirty="0">
                <a:solidFill>
                  <a:srgbClr val="A51C30"/>
                </a:solidFill>
              </a:rPr>
              <a:t>▪  Any day</a:t>
            </a:r>
            <a:endParaRPr lang="en-US" sz="1500" dirty="0"/>
          </a:p>
          <a:p>
            <a:pPr indent="0" marL="0">
              <a:spcAft>
                <a:spcPts val="800"/>
              </a:spcAft>
              <a:buNone/>
            </a:pPr>
            <a:r>
              <a:rPr lang="en-US" sz="1300" dirty="0">
                <a:solidFill>
                  <a:srgbClr val="4A5058"/>
                </a:solidFill>
              </a:rPr>
              <a:t>The business date in the top bar; Compare shows what changed between two days.</a:t>
            </a:r>
            <a:endParaRPr lang="en-US" sz="1500" dirty="0"/>
          </a:p>
        </p:txBody>
      </p:sp>
      <p:sp>
        <p:nvSpPr>
          <p:cNvPr id="9" name="Text 5"/>
          <p:cNvSpPr txBox="1"/>
          <p:nvPr/>
        </p:nvSpPr>
        <p:spPr>
          <a:xfrm>
            <a:off x="777240" y="5852160"/>
            <a:ext cx="6858000" cy="274320"/>
          </a:xfrm>
          <a:prstGeom prst="rect">
            <a:avLst/>
          </a:prstGeom>
          <a:noFill/>
          <a:ln/>
        </p:spPr>
        <p:txBody>
          <a:bodyPr wrap="square" lIns="0" tIns="0" rIns="0" bIns="0" rtlCol="0" anchor="t"/>
          <a:lstStyle/>
          <a:p>
            <a:pPr indent="0" marL="0">
              <a:buNone/>
            </a:pPr>
            <a:r>
              <a:rPr lang="en-US" sz="1050" i="1" dirty="0">
                <a:solidFill>
                  <a:srgbClr val="61666E"/>
                </a:solidFill>
              </a:rPr>
              <a:t>A MUREX interest rate swap, UPPER_SNAKE as production data is; captured on the demo lakes (tutorial 1).</a:t>
            </a:r>
            <a:endParaRPr lang="en-US" sz="105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ABOUT THIS PAGE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view explains itself, in five layers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What you are looking at</a:t>
            </a:r>
            <a:endParaRPr lang="en-US" sz="1500" dirty="0"/>
          </a:p>
          <a:p>
            <a:pPr indent="0" marL="0">
              <a:spcAft>
                <a:spcPts val="800"/>
              </a:spcAft>
              <a:buNone/>
            </a:pPr>
            <a:r>
              <a:rPr lang="en-US" sz="1300" dirty="0">
                <a:solidFill>
                  <a:srgbClr val="4A5058"/>
                </a:solidFill>
              </a:rPr>
              <a:t>From the pack's own help text and glossary.</a:t>
            </a:r>
            <a:endParaRPr lang="en-US" sz="1500" dirty="0"/>
          </a:p>
          <a:p>
            <a:pPr indent="0" marL="0">
              <a:buNone/>
            </a:pPr>
            <a:r>
              <a:rPr lang="en-US" sz="1500" b="1" dirty="0">
                <a:solidFill>
                  <a:srgbClr val="A51C30"/>
                </a:solidFill>
              </a:rPr>
              <a:t>▪  Where the data came from</a:t>
            </a:r>
            <a:endParaRPr lang="en-US" sz="1500" dirty="0"/>
          </a:p>
          <a:p>
            <a:pPr indent="0" marL="0">
              <a:spcAft>
                <a:spcPts val="800"/>
              </a:spcAft>
              <a:buNone/>
            </a:pPr>
            <a:r>
              <a:rPr lang="en-US" sz="1300" dirty="0">
                <a:solidFill>
                  <a:srgbClr val="4A5058"/>
                </a:solidFill>
              </a:rPr>
              <a:t>Source, health, generation and freshness.</a:t>
            </a:r>
            <a:endParaRPr lang="en-US" sz="1500" dirty="0"/>
          </a:p>
          <a:p>
            <a:pPr indent="0" marL="0">
              <a:buNone/>
            </a:pPr>
            <a:r>
              <a:rPr lang="en-US" sz="1500" b="1" dirty="0">
                <a:solidFill>
                  <a:srgbClr val="A51C30"/>
                </a:solidFill>
              </a:rPr>
              <a:t>▪  Why it looks like this</a:t>
            </a:r>
            <a:endParaRPr lang="en-US" sz="1500" dirty="0"/>
          </a:p>
          <a:p>
            <a:pPr indent="0" marL="0">
              <a:spcAft>
                <a:spcPts val="800"/>
              </a:spcAft>
              <a:buNone/>
            </a:pPr>
            <a:r>
              <a:rPr lang="en-US" sz="1300" dirty="0">
                <a:solidFill>
                  <a:srgbClr val="4A5058"/>
                </a:solidFill>
              </a:rPr>
              <a:t>Which Sutra matched, which lost, what inference added.</a:t>
            </a:r>
            <a:endParaRPr lang="en-US" sz="1500" dirty="0"/>
          </a:p>
          <a:p>
            <a:pPr indent="0" marL="0">
              <a:buNone/>
            </a:pPr>
            <a:r>
              <a:rPr lang="en-US" sz="1500" b="1" dirty="0">
                <a:solidFill>
                  <a:srgbClr val="A51C30"/>
                </a:solidFill>
              </a:rPr>
              <a:t>▪  Masked for you</a:t>
            </a:r>
            <a:endParaRPr lang="en-US" sz="1500" dirty="0"/>
          </a:p>
          <a:p>
            <a:pPr indent="0" marL="0">
              <a:spcAft>
                <a:spcPts val="800"/>
              </a:spcAft>
              <a:buNone/>
            </a:pPr>
            <a:r>
              <a:rPr lang="en-US" sz="1300" dirty="0">
                <a:solidFill>
                  <a:srgbClr val="4A5058"/>
                </a:solidFill>
              </a:rPr>
              <a:t>Says which fields your role cannot see.</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BUILD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Design a screen without writing code — and ship it through review</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From data you have</a:t>
            </a:r>
            <a:endParaRPr lang="en-US" sz="1500" dirty="0"/>
          </a:p>
          <a:p>
            <a:pPr indent="0" marL="0">
              <a:spcAft>
                <a:spcPts val="800"/>
              </a:spcAft>
              <a:buNone/>
            </a:pPr>
            <a:r>
              <a:rPr lang="en-US" sz="1300" dirty="0">
                <a:solidFill>
                  <a:srgbClr val="4A5058"/>
                </a:solidFill>
              </a:rPr>
              <a:t>Start from JSON files, a schema or stored entities.</a:t>
            </a:r>
            <a:endParaRPr lang="en-US" sz="1500" dirty="0"/>
          </a:p>
          <a:p>
            <a:pPr indent="0" marL="0">
              <a:buNone/>
            </a:pPr>
            <a:r>
              <a:rPr lang="en-US" sz="1500" b="1" dirty="0">
                <a:solidFill>
                  <a:srgbClr val="A51C30"/>
                </a:solidFill>
              </a:rPr>
              <a:t>▪  Drag, or type</a:t>
            </a:r>
            <a:endParaRPr lang="en-US" sz="1500" dirty="0"/>
          </a:p>
          <a:p>
            <a:pPr indent="0" marL="0">
              <a:spcAft>
                <a:spcPts val="800"/>
              </a:spcAft>
              <a:buNone/>
            </a:pPr>
            <a:r>
              <a:rPr lang="en-US" sz="1300" dirty="0">
                <a:solidFill>
                  <a:srgbClr val="4A5058"/>
                </a:solidFill>
              </a:rPr>
              <a:t>Palette and inspector, or the YAML tab with completion.</a:t>
            </a:r>
            <a:endParaRPr lang="en-US" sz="1500" dirty="0"/>
          </a:p>
          <a:p>
            <a:pPr indent="0" marL="0">
              <a:buNone/>
            </a:pPr>
            <a:r>
              <a:rPr lang="en-US" sz="1500" b="1" dirty="0">
                <a:solidFill>
                  <a:srgbClr val="A51C30"/>
                </a:solidFill>
              </a:rPr>
              <a:t>▪  Tested before shipped</a:t>
            </a:r>
            <a:endParaRPr lang="en-US" sz="1500" dirty="0"/>
          </a:p>
          <a:p>
            <a:pPr indent="0" marL="0">
              <a:spcAft>
                <a:spcPts val="800"/>
              </a:spcAft>
              <a:buNone/>
            </a:pPr>
            <a:r>
              <a:rPr lang="en-US" sz="1300" dirty="0">
                <a:solidFill>
                  <a:srgbClr val="4A5058"/>
                </a:solidFill>
              </a:rPr>
              <a:t>Sutra tests run on sample data in the tests tab.</a:t>
            </a:r>
            <a:endParaRPr lang="en-US" sz="1500" dirty="0"/>
          </a:p>
          <a:p>
            <a:pPr indent="0" marL="0">
              <a:buNone/>
            </a:pPr>
            <a:r>
              <a:rPr lang="en-US" sz="1500" b="1" dirty="0">
                <a:solidFill>
                  <a:srgbClr val="A51C30"/>
                </a:solidFill>
              </a:rPr>
              <a:t>▪  Four eyes</a:t>
            </a:r>
            <a:endParaRPr lang="en-US" sz="1500" dirty="0"/>
          </a:p>
          <a:p>
            <a:pPr indent="0" marL="0">
              <a:spcAft>
                <a:spcPts val="800"/>
              </a:spcAft>
              <a:buNone/>
            </a:pPr>
            <a:r>
              <a:rPr lang="en-US" sz="1300" dirty="0">
                <a:solidFill>
                  <a:srgbClr val="4A5058"/>
                </a:solidFill>
              </a:rPr>
              <a:t>An approver reviews the evidence and cannot approve their own.</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RŪPAKA · BI INSIDE THE TERMINAL</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Business intelligence on the same data, rules and masks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10634472" cy="676656"/>
          </a:xfrm>
          <a:prstGeom prst="rect">
            <a:avLst/>
          </a:prstGeom>
          <a:solidFill>
            <a:srgbClr val="F7F5F2"/>
          </a:solidFill>
          <a:ln w="9525">
            <a:solidFill>
              <a:srgbClr val="E3DED7"/>
            </a:solidFill>
            <a:prstDash val="solid"/>
          </a:ln>
        </p:spPr>
        <p:txBody>
          <a:bodyPr/>
          <a:p/>
        </p:txBody>
      </p:sp>
      <p:sp>
        <p:nvSpPr>
          <p:cNvPr id="7" name="Text 4"/>
          <p:cNvSpPr txBox="1"/>
          <p:nvPr/>
        </p:nvSpPr>
        <p:spPr>
          <a:xfrm>
            <a:off x="1005840" y="1463040"/>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Models rooted in packs</a:t>
            </a:r>
            <a:endParaRPr lang="en-US" sz="1500" dirty="0"/>
          </a:p>
        </p:txBody>
      </p:sp>
      <p:sp>
        <p:nvSpPr>
          <p:cNvPr id="8" name="Text 5"/>
          <p:cNvSpPr txBox="1"/>
          <p:nvPr/>
        </p:nvSpPr>
        <p:spPr>
          <a:xfrm>
            <a:off x="4434840" y="1463040"/>
            <a:ext cx="6766560" cy="676656"/>
          </a:xfrm>
          <a:prstGeom prst="rect">
            <a:avLst/>
          </a:prstGeom>
          <a:noFill/>
          <a:ln/>
        </p:spPr>
        <p:txBody>
          <a:bodyPr wrap="square" lIns="0" tIns="0" rIns="0" bIns="0" rtlCol="0" anchor="ctr"/>
          <a:lstStyle/>
          <a:p>
            <a:pPr indent="0" marL="0">
              <a:buNone/>
            </a:pPr>
            <a:r>
              <a:rPr lang="en-US" sz="1350" dirty="0">
                <a:solidFill>
                  <a:srgbClr val="1A1A1A"/>
                </a:solidFill>
              </a:rPr>
              <a:t>Datasets and data models built from the packs' kinds, with the relationships the packs suggest.</a:t>
            </a:r>
            <a:endParaRPr lang="en-US" sz="1350" dirty="0"/>
          </a:p>
        </p:txBody>
      </p:sp>
      <p:sp>
        <p:nvSpPr>
          <p:cNvPr id="9" name="Shape 6"/>
          <p:cNvSpPr/>
          <p:nvPr/>
        </p:nvSpPr>
        <p:spPr>
          <a:xfrm>
            <a:off x="777240" y="2249424"/>
            <a:ext cx="10634472" cy="676656"/>
          </a:xfrm>
          <a:prstGeom prst="rect">
            <a:avLst/>
          </a:prstGeom>
          <a:solidFill>
            <a:srgbClr val="FFFFFF"/>
          </a:solidFill>
          <a:ln w="9525">
            <a:solidFill>
              <a:srgbClr val="E3DED7"/>
            </a:solidFill>
            <a:prstDash val="solid"/>
          </a:ln>
        </p:spPr>
        <p:txBody>
          <a:bodyPr/>
          <a:p/>
        </p:txBody>
      </p:sp>
      <p:sp>
        <p:nvSpPr>
          <p:cNvPr id="10" name="Text 7"/>
          <p:cNvSpPr txBox="1"/>
          <p:nvPr/>
        </p:nvSpPr>
        <p:spPr>
          <a:xfrm>
            <a:off x="1005840" y="2249424"/>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Three languages, one plan</a:t>
            </a:r>
            <a:endParaRPr lang="en-US" sz="1500" dirty="0"/>
          </a:p>
        </p:txBody>
      </p:sp>
      <p:sp>
        <p:nvSpPr>
          <p:cNvPr id="11" name="Text 8"/>
          <p:cNvSpPr txBox="1"/>
          <p:nvPr/>
        </p:nvSpPr>
        <p:spPr>
          <a:xfrm>
            <a:off x="4434840" y="2249424"/>
            <a:ext cx="6766560" cy="676656"/>
          </a:xfrm>
          <a:prstGeom prst="rect">
            <a:avLst/>
          </a:prstGeom>
          <a:noFill/>
          <a:ln/>
        </p:spPr>
        <p:txBody>
          <a:bodyPr wrap="square" lIns="0" tIns="0" rIns="0" bIns="0" rtlCol="0" anchor="ctr"/>
          <a:lstStyle/>
          <a:p>
            <a:pPr indent="0" marL="0">
              <a:buNone/>
            </a:pPr>
            <a:r>
              <a:rPr lang="en-US" sz="1350" dirty="0">
                <a:solidFill>
                  <a:srgbClr val="1A1A1A"/>
                </a:solidFill>
              </a:rPr>
              <a:t>A Python-like expression language, read-only SQL and Python meet in one plan, your row rules and masks applied.</a:t>
            </a:r>
            <a:endParaRPr lang="en-US" sz="1350" dirty="0"/>
          </a:p>
        </p:txBody>
      </p:sp>
      <p:sp>
        <p:nvSpPr>
          <p:cNvPr id="12" name="Shape 9"/>
          <p:cNvSpPr/>
          <p:nvPr/>
        </p:nvSpPr>
        <p:spPr>
          <a:xfrm>
            <a:off x="777240" y="3035808"/>
            <a:ext cx="10634472" cy="676656"/>
          </a:xfrm>
          <a:prstGeom prst="rect">
            <a:avLst/>
          </a:prstGeom>
          <a:solidFill>
            <a:srgbClr val="F7F5F2"/>
          </a:solidFill>
          <a:ln w="9525">
            <a:solidFill>
              <a:srgbClr val="E3DED7"/>
            </a:solidFill>
            <a:prstDash val="solid"/>
          </a:ln>
        </p:spPr>
        <p:txBody>
          <a:bodyPr/>
          <a:p/>
        </p:txBody>
      </p:sp>
      <p:sp>
        <p:nvSpPr>
          <p:cNvPr id="13" name="Text 10"/>
          <p:cNvSpPr txBox="1"/>
          <p:nvPr/>
        </p:nvSpPr>
        <p:spPr>
          <a:xfrm>
            <a:off x="1005840" y="3035808"/>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Servers compute</a:t>
            </a:r>
            <a:endParaRPr lang="en-US" sz="1500" dirty="0"/>
          </a:p>
        </p:txBody>
      </p:sp>
      <p:sp>
        <p:nvSpPr>
          <p:cNvPr id="14" name="Text 11"/>
          <p:cNvSpPr txBox="1"/>
          <p:nvPr/>
        </p:nvSpPr>
        <p:spPr>
          <a:xfrm>
            <a:off x="4434840" y="3035808"/>
            <a:ext cx="6766560" cy="676656"/>
          </a:xfrm>
          <a:prstGeom prst="rect">
            <a:avLst/>
          </a:prstGeom>
          <a:noFill/>
          <a:ln/>
        </p:spPr>
        <p:txBody>
          <a:bodyPr wrap="square" lIns="0" tIns="0" rIns="0" bIns="0" rtlCol="0" anchor="ctr"/>
          <a:lstStyle/>
          <a:p>
            <a:pPr indent="0" marL="0">
              <a:buNone/>
            </a:pPr>
            <a:r>
              <a:rPr lang="en-US" sz="1350" dirty="0">
                <a:solidFill>
                  <a:srgbClr val="1A1A1A"/>
                </a:solidFill>
              </a:rPr>
              <a:t>The Java server and the console's sandbox answer every number; the browser draws; standing queries push live.</a:t>
            </a:r>
            <a:endParaRPr lang="en-US" sz="1350" dirty="0"/>
          </a:p>
        </p:txBody>
      </p:sp>
      <p:sp>
        <p:nvSpPr>
          <p:cNvPr id="15" name="Shape 12"/>
          <p:cNvSpPr/>
          <p:nvPr/>
        </p:nvSpPr>
        <p:spPr>
          <a:xfrm>
            <a:off x="777240" y="3822192"/>
            <a:ext cx="10634472" cy="676656"/>
          </a:xfrm>
          <a:prstGeom prst="rect">
            <a:avLst/>
          </a:prstGeom>
          <a:solidFill>
            <a:srgbClr val="FFFFFF"/>
          </a:solidFill>
          <a:ln w="9525">
            <a:solidFill>
              <a:srgbClr val="E3DED7"/>
            </a:solidFill>
            <a:prstDash val="solid"/>
          </a:ln>
        </p:spPr>
        <p:txBody>
          <a:bodyPr/>
          <a:p/>
        </p:txBody>
      </p:sp>
      <p:sp>
        <p:nvSpPr>
          <p:cNvPr id="16" name="Text 13"/>
          <p:cNvSpPr txBox="1"/>
          <p:nvPr/>
        </p:nvSpPr>
        <p:spPr>
          <a:xfrm>
            <a:off x="1005840" y="3822192"/>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Governed</a:t>
            </a:r>
            <a:endParaRPr lang="en-US" sz="1500" dirty="0"/>
          </a:p>
        </p:txBody>
      </p:sp>
      <p:sp>
        <p:nvSpPr>
          <p:cNvPr id="17" name="Text 14"/>
          <p:cNvSpPr txBox="1"/>
          <p:nvPr/>
        </p:nvSpPr>
        <p:spPr>
          <a:xfrm>
            <a:off x="4434840" y="3822192"/>
            <a:ext cx="6766560" cy="676656"/>
          </a:xfrm>
          <a:prstGeom prst="rect">
            <a:avLst/>
          </a:prstGeom>
          <a:noFill/>
          <a:ln/>
        </p:spPr>
        <p:txBody>
          <a:bodyPr wrap="square" lIns="0" tIns="0" rIns="0" bIns="0" rtlCol="0" anchor="ctr"/>
          <a:lstStyle/>
          <a:p>
            <a:pPr indent="0" marL="0">
              <a:buNone/>
            </a:pPr>
            <a:r>
              <a:rPr lang="en-US" sz="1350" dirty="0">
                <a:solidFill>
                  <a:srgbClr val="1A1A1A"/>
                </a:solidFill>
              </a:rPr>
              <a:t>Versions and diffs, four-eyes review, certification, lineage past the connector, bundles with rollback.</a:t>
            </a:r>
            <a:endParaRPr lang="en-US" sz="1350" dirty="0"/>
          </a:p>
        </p:txBody>
      </p:sp>
      <p:sp>
        <p:nvSpPr>
          <p:cNvPr id="18" name="Shape 15"/>
          <p:cNvSpPr/>
          <p:nvPr/>
        </p:nvSpPr>
        <p:spPr>
          <a:xfrm>
            <a:off x="777240" y="4608576"/>
            <a:ext cx="10634472" cy="676656"/>
          </a:xfrm>
          <a:prstGeom prst="rect">
            <a:avLst/>
          </a:prstGeom>
          <a:solidFill>
            <a:srgbClr val="F7F5F2"/>
          </a:solidFill>
          <a:ln w="9525">
            <a:solidFill>
              <a:srgbClr val="E3DED7"/>
            </a:solidFill>
            <a:prstDash val="solid"/>
          </a:ln>
        </p:spPr>
        <p:txBody>
          <a:bodyPr/>
          <a:p/>
        </p:txBody>
      </p:sp>
      <p:sp>
        <p:nvSpPr>
          <p:cNvPr id="19" name="Text 16"/>
          <p:cNvSpPr txBox="1"/>
          <p:nvPr/>
        </p:nvSpPr>
        <p:spPr>
          <a:xfrm>
            <a:off x="1005840" y="4608576"/>
            <a:ext cx="3291840" cy="676656"/>
          </a:xfrm>
          <a:prstGeom prst="rect">
            <a:avLst/>
          </a:prstGeom>
          <a:noFill/>
          <a:ln/>
        </p:spPr>
        <p:txBody>
          <a:bodyPr wrap="square" lIns="0" tIns="0" rIns="0" bIns="0" rtlCol="0" anchor="ctr"/>
          <a:lstStyle/>
          <a:p>
            <a:pPr indent="0" marL="0">
              <a:buNone/>
            </a:pPr>
            <a:r>
              <a:rPr lang="en-US" sz="1500" b="1" dirty="0">
                <a:solidFill>
                  <a:srgbClr val="8A1626"/>
                </a:solidFill>
              </a:rPr>
              <a:t>Everywhere it is needed</a:t>
            </a:r>
            <a:endParaRPr lang="en-US" sz="1500" dirty="0"/>
          </a:p>
        </p:txBody>
      </p:sp>
      <p:sp>
        <p:nvSpPr>
          <p:cNvPr id="20" name="Text 17"/>
          <p:cNvSpPr txBox="1"/>
          <p:nvPr/>
        </p:nvSpPr>
        <p:spPr>
          <a:xfrm>
            <a:off x="4434840" y="4608576"/>
            <a:ext cx="6766560" cy="676656"/>
          </a:xfrm>
          <a:prstGeom prst="rect">
            <a:avLst/>
          </a:prstGeom>
          <a:noFill/>
          <a:ln/>
        </p:spPr>
        <p:txBody>
          <a:bodyPr wrap="square" lIns="0" tIns="0" rIns="0" bIns="0" rtlCol="0" anchor="ctr"/>
          <a:lstStyle/>
          <a:p>
            <a:pPr indent="0" marL="0">
              <a:buNone/>
            </a:pPr>
            <a:r>
              <a:rPr lang="en-US" sz="1350" dirty="0">
                <a:solidFill>
                  <a:srgbClr val="1A1A1A"/>
                </a:solidFill>
              </a:rPr>
              <a:t>Subscriptions and alerts per reader, PDF, PNG, Excel and CSV, and &lt;drishti-report&gt; in other apps.</a:t>
            </a:r>
            <a:endParaRPr lang="en-US" sz="1350" dirty="0"/>
          </a:p>
        </p:txBody>
      </p:sp>
      <p:sp>
        <p:nvSpPr>
          <p:cNvPr id="21" name="Shape 18"/>
          <p:cNvSpPr/>
          <p:nvPr/>
        </p:nvSpPr>
        <p:spPr>
          <a:xfrm>
            <a:off x="777240" y="5550408"/>
            <a:ext cx="10634472" cy="694944"/>
          </a:xfrm>
          <a:prstGeom prst="rect">
            <a:avLst/>
          </a:prstGeom>
          <a:solidFill>
            <a:srgbClr val="F6E6E9"/>
          </a:solidFill>
          <a:ln/>
        </p:spPr>
        <p:txBody>
          <a:bodyPr/>
          <a:p/>
        </p:txBody>
      </p:sp>
      <p:sp>
        <p:nvSpPr>
          <p:cNvPr id="22" name="Shape 19"/>
          <p:cNvSpPr/>
          <p:nvPr/>
        </p:nvSpPr>
        <p:spPr>
          <a:xfrm>
            <a:off x="777240" y="5550408"/>
            <a:ext cx="54864" cy="694944"/>
          </a:xfrm>
          <a:prstGeom prst="rect">
            <a:avLst/>
          </a:prstGeom>
          <a:solidFill>
            <a:srgbClr val="A51C30"/>
          </a:solidFill>
          <a:ln/>
        </p:spPr>
        <p:txBody>
          <a:bodyPr/>
          <a:p/>
        </p:txBody>
      </p:sp>
      <p:sp>
        <p:nvSpPr>
          <p:cNvPr id="23" name="Text 2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report reader sees exactly the rows and masks they see on the terminal — BI cannot leak around them.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BI STUDIO · 2.4</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Reports, models, boards and themes in one studio</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designer/02-workbench.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Explorer and tabs</a:t>
            </a:r>
            <a:endParaRPr lang="en-US" sz="1500" dirty="0"/>
          </a:p>
          <a:p>
            <a:pPr indent="0" marL="0">
              <a:spcAft>
                <a:spcPts val="800"/>
              </a:spcAft>
              <a:buNone/>
            </a:pPr>
            <a:r>
              <a:rPr lang="en-US" sz="1300" dirty="0">
                <a:solidFill>
                  <a:srgbClr val="4A5058"/>
                </a:solidFill>
              </a:rPr>
              <a:t>Every item you may edit, by kind, with New; open items as tabs.</a:t>
            </a:r>
            <a:endParaRPr lang="en-US" sz="1500" dirty="0"/>
          </a:p>
          <a:p>
            <a:pPr indent="0" marL="0">
              <a:buNone/>
            </a:pPr>
            <a:r>
              <a:rPr lang="en-US" sz="1500" b="1" dirty="0">
                <a:solidFill>
                  <a:srgbClr val="A51C30"/>
                </a:solidFill>
              </a:rPr>
              <a:t>▪  Problems and Query</a:t>
            </a:r>
            <a:endParaRPr lang="en-US" sz="1500" dirty="0"/>
          </a:p>
          <a:p>
            <a:pPr indent="0" marL="0">
              <a:spcAft>
                <a:spcPts val="800"/>
              </a:spcAft>
              <a:buNone/>
            </a:pPr>
            <a:r>
              <a:rPr lang="en-US" sz="1300" dirty="0">
                <a:solidFill>
                  <a:srgbClr val="4A5058"/>
                </a:solidFill>
              </a:rPr>
              <a:t>The server checks the draft a second after each change; each visual's query and SQL.</a:t>
            </a:r>
            <a:endParaRPr lang="en-US" sz="1500" dirty="0"/>
          </a:p>
          <a:p>
            <a:pPr indent="0" marL="0">
              <a:buNone/>
            </a:pPr>
            <a:r>
              <a:rPr lang="en-US" sz="1500" b="1" dirty="0">
                <a:solidFill>
                  <a:srgbClr val="A51C30"/>
                </a:solidFill>
              </a:rPr>
              <a:t>▪  A generated Format pane</a:t>
            </a:r>
            <a:endParaRPr lang="en-US" sz="1500" dirty="0"/>
          </a:p>
          <a:p>
            <a:pPr indent="0" marL="0">
              <a:spcAft>
                <a:spcPts val="800"/>
              </a:spcAft>
              <a:buNone/>
            </a:pPr>
            <a:r>
              <a:rPr lang="en-US" sz="1300" dirty="0">
                <a:solidFill>
                  <a:srgbClr val="4A5058"/>
                </a:solidFill>
              </a:rPr>
              <a:t>Typed formats, conditional formatting, themes, tooltip pages, small multiples, the matrix.</a:t>
            </a:r>
            <a:endParaRPr lang="en-US" sz="1500" dirty="0"/>
          </a:p>
          <a:p>
            <a:pPr indent="0" marL="0">
              <a:buNone/>
            </a:pPr>
            <a:r>
              <a:rPr lang="en-US" sz="1500" b="1" dirty="0">
                <a:solidFill>
                  <a:srgbClr val="A51C30"/>
                </a:solidFill>
              </a:rPr>
              <a:t>▪  Boards are reports</a:t>
            </a:r>
            <a:endParaRPr lang="en-US" sz="1500" dirty="0"/>
          </a:p>
          <a:p>
            <a:pPr indent="0" marL="0">
              <a:spcAft>
                <a:spcPts val="800"/>
              </a:spcAft>
              <a:buNone/>
            </a:pPr>
            <a:r>
              <a:rPr lang="en-US" sz="1300" dirty="0">
                <a:solidFill>
                  <a:srgbClr val="4A5058"/>
                </a:solidFill>
              </a:rPr>
              <a:t>Board pages of live tiles beside the report's own visuals, with kiosk mode and alerts.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PYTHON · DATA PREP AND THE CONSOLE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Python where it belongs: on the server, or on your own rows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6459"/>
            <a:ext cx="6931152" cy="435940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about/01-var-drawer.jpg">    </p:cNvPr>
          <p:cNvPicPr>
            <a:picLocks noChangeAspect="1"/>
          </p:cNvPicPr>
          <p:nvPr/>
        </p:nvPicPr>
        <p:blipFill>
          <a:blip r:embed="rId1"/>
          <a:stretch>
            <a:fillRect/>
          </a:stretch>
        </p:blipFill>
        <p:spPr>
          <a:xfrm>
            <a:off x="777240" y="1423035"/>
            <a:ext cx="6858000" cy="4286250"/>
          </a:xfrm>
          <a:prstGeom prst="rect">
            <a:avLst/>
          </a:prstGeom>
        </p:spPr>
      </p:pic>
      <p:sp>
        <p:nvSpPr>
          <p:cNvPr id="8" name="Text 4"/>
          <p:cNvSpPr txBox="1"/>
          <p:nvPr/>
        </p:nvSpPr>
        <p:spPr>
          <a:xfrm>
            <a:off x="7909560" y="1417320"/>
            <a:ext cx="3502152" cy="4297680"/>
          </a:xfrm>
          <a:prstGeom prst="rect">
            <a:avLst/>
          </a:prstGeom>
          <a:noFill/>
          <a:ln/>
        </p:spPr>
        <p:txBody>
          <a:bodyPr wrap="square" lIns="0" tIns="0" rIns="0" bIns="0" rtlCol="0" anchor="t"/>
          <a:lstStyle/>
          <a:p>
            <a:pPr indent="0" marL="0">
              <a:buNone/>
            </a:pPr>
            <a:r>
              <a:rPr lang="en-US" sz="1500" b="1" dirty="0">
                <a:solidFill>
                  <a:srgbClr val="A51C30"/>
                </a:solidFill>
              </a:rPr>
              <a:t>▪  Transforms, step by step</a:t>
            </a:r>
            <a:endParaRPr lang="en-US" sz="1500" dirty="0"/>
          </a:p>
          <a:p>
            <a:pPr indent="0" marL="0">
              <a:spcAft>
                <a:spcPts val="800"/>
              </a:spcAft>
              <a:buNone/>
            </a:pPr>
            <a:r>
              <a:rPr lang="en-US" sz="1300" dirty="0">
                <a:solidFill>
                  <a:srgbClr val="4A5058"/>
                </a:solidFill>
              </a:rPr>
              <a:t>Inputs read through a pack's connector as you; 21 tested snippets; a profile after each step.</a:t>
            </a:r>
            <a:endParaRPr lang="en-US" sz="1500" dirty="0"/>
          </a:p>
          <a:p>
            <a:pPr indent="0" marL="0">
              <a:buNone/>
            </a:pPr>
            <a:r>
              <a:rPr lang="en-US" sz="1500" b="1" dirty="0">
                <a:solidFill>
                  <a:srgbClr val="A51C30"/>
                </a:solidFill>
              </a:rPr>
              <a:t>▪  Sandboxed, warm</a:t>
            </a:r>
            <a:endParaRPr lang="en-US" sz="1500" dirty="0"/>
          </a:p>
          <a:p>
            <a:pPr indent="0" marL="0">
              <a:spcAft>
                <a:spcPts val="800"/>
              </a:spcAft>
              <a:buNone/>
            </a:pPr>
            <a:r>
              <a:rPr lang="en-US" sz="1300" dirty="0">
                <a:solidFill>
                  <a:srgbClr val="4A5058"/>
                </a:solidFill>
              </a:rPr>
              <a:t>Measures, visuals and Transforms run in a fork-server child with limits.</a:t>
            </a:r>
            <a:endParaRPr lang="en-US" sz="1500" dirty="0"/>
          </a:p>
          <a:p>
            <a:pPr indent="0" marL="0">
              <a:buNone/>
            </a:pPr>
            <a:r>
              <a:rPr lang="en-US" sz="1500" b="1" dirty="0">
                <a:solidFill>
                  <a:srgbClr val="A51C30"/>
                </a:solidFill>
              </a:rPr>
              <a:t>▪  Your own Python</a:t>
            </a:r>
            <a:endParaRPr lang="en-US" sz="1500" dirty="0"/>
          </a:p>
          <a:p>
            <a:pPr indent="0" marL="0">
              <a:spcAft>
                <a:spcPts val="800"/>
              </a:spcAft>
              <a:buNone/>
            </a:pPr>
            <a:r>
              <a:rPr lang="en-US" sz="1300" dirty="0">
                <a:solidFill>
                  <a:srgbClr val="4A5058"/>
                </a:solidFill>
              </a:rPr>
              <a:t>BI → Python console: pandas on a masked extract, in your browser.</a:t>
            </a:r>
            <a:endParaRPr lang="en-US" sz="1500" dirty="0"/>
          </a:p>
          <a:p>
            <a:pPr indent="0" marL="0">
              <a:buNone/>
            </a:pPr>
            <a:r>
              <a:rPr lang="en-US" sz="1500" b="1" dirty="0">
                <a:solidFill>
                  <a:srgbClr val="A51C30"/>
                </a:solidFill>
              </a:rPr>
              <a:t>▪  Promote to the server</a:t>
            </a:r>
            <a:endParaRPr lang="en-US" sz="1500" dirty="0"/>
          </a:p>
          <a:p>
            <a:pPr indent="0" marL="0">
              <a:spcAft>
                <a:spcPts val="800"/>
              </a:spcAft>
              <a:buNone/>
            </a:pPr>
            <a:r>
              <a:rPr lang="en-US" sz="1300" dirty="0">
                <a:solidFill>
                  <a:srgbClr val="4A5058"/>
                </a:solidFill>
              </a:rPr>
              <a:t>The same code run again on the backend, compared, kept as a notebook draft.</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SEARCH AND PIVOT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Ask in a grammar or in plain words; pivot what comes back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1412"/>
            <a:ext cx="5468112" cy="4029456"/>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rishti-console/web/static/img/guide/pivot-search.png">    </p:cNvPr>
          <p:cNvPicPr>
            <a:picLocks noChangeAspect="1"/>
          </p:cNvPicPr>
          <p:nvPr/>
        </p:nvPicPr>
        <p:blipFill>
          <a:blip r:embed="rId1"/>
          <a:stretch>
            <a:fillRect/>
          </a:stretch>
        </p:blipFill>
        <p:spPr>
          <a:xfrm>
            <a:off x="777240" y="1427988"/>
            <a:ext cx="5394960" cy="3956304"/>
          </a:xfrm>
          <a:prstGeom prst="rect">
            <a:avLst/>
          </a:prstGeom>
        </p:spPr>
      </p:pic>
      <p:sp>
        <p:nvSpPr>
          <p:cNvPr id="8" name="Shape 4"/>
          <p:cNvSpPr/>
          <p:nvPr/>
        </p:nvSpPr>
        <p:spPr>
          <a:xfrm>
            <a:off x="6400800" y="1417320"/>
            <a:ext cx="5010912" cy="1325880"/>
          </a:xfrm>
          <a:prstGeom prst="rect">
            <a:avLst/>
          </a:prstGeom>
          <a:solidFill>
            <a:srgbClr val="1E1E24"/>
          </a:solidFill>
          <a:ln/>
        </p:spPr>
        <p:txBody>
          <a:bodyPr/>
          <a:p/>
        </p:txBody>
      </p:sp>
      <p:sp>
        <p:nvSpPr>
          <p:cNvPr id="9" name="Text 5"/>
          <p:cNvSpPr txBox="1"/>
          <p:nvPr/>
        </p:nvSpPr>
        <p:spPr>
          <a:xfrm>
            <a:off x="6601968" y="1581912"/>
            <a:ext cx="4608576" cy="1051560"/>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TRD where QUANTITY &gt; 1bn order by QUANTITY desc</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amended trades over 5m in BOOK-RATES-3</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FORM trading &lt;GO&gt;</a:t>
            </a:r>
            <a:endParaRPr lang="en-US" sz="1250" dirty="0"/>
          </a:p>
        </p:txBody>
      </p:sp>
      <p:sp>
        <p:nvSpPr>
          <p:cNvPr id="10" name="Shape 6"/>
          <p:cNvSpPr/>
          <p:nvPr/>
        </p:nvSpPr>
        <p:spPr>
          <a:xfrm>
            <a:off x="6400800" y="2926080"/>
            <a:ext cx="2404872" cy="1143000"/>
          </a:xfrm>
          <a:prstGeom prst="rect">
            <a:avLst/>
          </a:prstGeom>
          <a:solidFill>
            <a:srgbClr val="F7F5F2"/>
          </a:solidFill>
          <a:ln/>
        </p:spPr>
        <p:txBody>
          <a:bodyPr/>
          <a:p/>
        </p:txBody>
      </p:sp>
      <p:sp>
        <p:nvSpPr>
          <p:cNvPr id="11" name="Shape 7"/>
          <p:cNvSpPr/>
          <p:nvPr/>
        </p:nvSpPr>
        <p:spPr>
          <a:xfrm>
            <a:off x="6400800" y="2926080"/>
            <a:ext cx="45720" cy="1143000"/>
          </a:xfrm>
          <a:prstGeom prst="rect">
            <a:avLst/>
          </a:prstGeom>
          <a:solidFill>
            <a:srgbClr val="A51C30"/>
          </a:solidFill>
          <a:ln/>
        </p:spPr>
        <p:txBody>
          <a:bodyPr/>
          <a:p/>
        </p:txBody>
      </p:sp>
      <p:sp>
        <p:nvSpPr>
          <p:cNvPr id="12" name="Text 8"/>
          <p:cNvSpPr txBox="1"/>
          <p:nvPr/>
        </p:nvSpPr>
        <p:spPr>
          <a:xfrm>
            <a:off x="660196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134 ms</a:t>
            </a:r>
            <a:endParaRPr lang="en-US" sz="2600" dirty="0"/>
          </a:p>
        </p:txBody>
      </p:sp>
      <p:sp>
        <p:nvSpPr>
          <p:cNvPr id="13" name="Text 9"/>
          <p:cNvSpPr txBox="1"/>
          <p:nvPr/>
        </p:nvSpPr>
        <p:spPr>
          <a:xfrm>
            <a:off x="660196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Search all 1M trades a day, 2,017 matches</a:t>
            </a:r>
            <a:endParaRPr lang="en-US" sz="1150" dirty="0"/>
          </a:p>
        </p:txBody>
      </p:sp>
      <p:sp>
        <p:nvSpPr>
          <p:cNvPr id="14" name="Shape 10"/>
          <p:cNvSpPr/>
          <p:nvPr/>
        </p:nvSpPr>
        <p:spPr>
          <a:xfrm>
            <a:off x="9006840" y="2926080"/>
            <a:ext cx="2404872" cy="1143000"/>
          </a:xfrm>
          <a:prstGeom prst="rect">
            <a:avLst/>
          </a:prstGeom>
          <a:solidFill>
            <a:srgbClr val="F7F5F2"/>
          </a:solidFill>
          <a:ln/>
        </p:spPr>
        <p:txBody>
          <a:bodyPr/>
          <a:p/>
        </p:txBody>
      </p:sp>
      <p:sp>
        <p:nvSpPr>
          <p:cNvPr id="15" name="Shape 11"/>
          <p:cNvSpPr/>
          <p:nvPr/>
        </p:nvSpPr>
        <p:spPr>
          <a:xfrm>
            <a:off x="9006840" y="2926080"/>
            <a:ext cx="45720" cy="1143000"/>
          </a:xfrm>
          <a:prstGeom prst="rect">
            <a:avLst/>
          </a:prstGeom>
          <a:solidFill>
            <a:srgbClr val="A51C30"/>
          </a:solidFill>
          <a:ln/>
        </p:spPr>
        <p:txBody>
          <a:bodyPr/>
          <a:p/>
        </p:txBody>
      </p:sp>
      <p:sp>
        <p:nvSpPr>
          <p:cNvPr id="16" name="Text 12"/>
          <p:cNvSpPr txBox="1"/>
          <p:nvPr/>
        </p:nvSpPr>
        <p:spPr>
          <a:xfrm>
            <a:off x="9208008" y="3035808"/>
            <a:ext cx="2084832" cy="502920"/>
          </a:xfrm>
          <a:prstGeom prst="rect">
            <a:avLst/>
          </a:prstGeom>
          <a:noFill/>
          <a:ln/>
        </p:spPr>
        <p:txBody>
          <a:bodyPr wrap="square" lIns="0" tIns="0" rIns="0" bIns="0" rtlCol="0" anchor="ctr"/>
          <a:lstStyle/>
          <a:p>
            <a:pPr indent="0" marL="0">
              <a:buNone/>
            </a:pPr>
            <a:r>
              <a:rPr lang="en-US" sz="2600" b="1" dirty="0">
                <a:solidFill>
                  <a:srgbClr val="8A1626"/>
                </a:solidFill>
              </a:rPr>
              <a:t>29 ms</a:t>
            </a:r>
            <a:endParaRPr lang="en-US" sz="2600" dirty="0"/>
          </a:p>
        </p:txBody>
      </p:sp>
      <p:sp>
        <p:nvSpPr>
          <p:cNvPr id="17" name="Text 13"/>
          <p:cNvSpPr txBox="1"/>
          <p:nvPr/>
        </p:nvSpPr>
        <p:spPr>
          <a:xfrm>
            <a:off x="9208008" y="3529584"/>
            <a:ext cx="2084832" cy="466344"/>
          </a:xfrm>
          <a:prstGeom prst="rect">
            <a:avLst/>
          </a:prstGeom>
          <a:noFill/>
          <a:ln/>
        </p:spPr>
        <p:txBody>
          <a:bodyPr wrap="square" lIns="0" tIns="0" rIns="0" bIns="0" rtlCol="0" anchor="t"/>
          <a:lstStyle/>
          <a:p>
            <a:pPr indent="0" marL="0">
              <a:buNone/>
            </a:pPr>
            <a:r>
              <a:rPr lang="en-US" sz="1150" dirty="0">
                <a:solidFill>
                  <a:srgbClr val="4A5058"/>
                </a:solidFill>
              </a:rPr>
              <a:t>Type-ahead at 1M trades a day</a:t>
            </a:r>
            <a:endParaRPr lang="en-US" sz="1150" dirty="0"/>
          </a:p>
        </p:txBody>
      </p:sp>
      <p:sp>
        <p:nvSpPr>
          <p:cNvPr id="18" name="Text 14"/>
          <p:cNvSpPr txBox="1"/>
          <p:nvPr/>
        </p:nvSpPr>
        <p:spPr>
          <a:xfrm>
            <a:off x="6400800" y="4206240"/>
            <a:ext cx="5010912" cy="548640"/>
          </a:xfrm>
          <a:prstGeom prst="rect">
            <a:avLst/>
          </a:prstGeom>
          <a:noFill/>
          <a:ln/>
        </p:spPr>
        <p:txBody>
          <a:bodyPr wrap="square" lIns="0" tIns="0" rIns="0" bIns="0" rtlCol="0" anchor="ctr"/>
          <a:lstStyle/>
          <a:p>
            <a:pPr indent="0" marL="0">
              <a:buNone/>
            </a:pPr>
            <a:r>
              <a:rPr lang="en-US" sz="1100" i="1" dirty="0">
                <a:solidFill>
                  <a:srgbClr val="61666E"/>
                </a:solidFill>
              </a:rPr>
              <a:t>Measured on a 24-core workstation, 1,000,000 trades a day for three days (5.2 GB).</a:t>
            </a:r>
            <a:endParaRPr lang="en-US" sz="1100" dirty="0"/>
          </a:p>
        </p:txBody>
      </p:sp>
      <p:sp>
        <p:nvSpPr>
          <p:cNvPr id="19" name="Shape 15"/>
          <p:cNvSpPr/>
          <p:nvPr/>
        </p:nvSpPr>
        <p:spPr>
          <a:xfrm>
            <a:off x="777240" y="5550408"/>
            <a:ext cx="10634472" cy="694944"/>
          </a:xfrm>
          <a:prstGeom prst="rect">
            <a:avLst/>
          </a:prstGeom>
          <a:solidFill>
            <a:srgbClr val="F6E6E9"/>
          </a:solidFill>
          <a:ln/>
        </p:spPr>
        <p:txBody>
          <a:bodyPr/>
          <a:p/>
        </p:txBody>
      </p:sp>
      <p:sp>
        <p:nvSpPr>
          <p:cNvPr id="20" name="Shape 16"/>
          <p:cNvSpPr/>
          <p:nvPr/>
        </p:nvSpPr>
        <p:spPr>
          <a:xfrm>
            <a:off x="777240" y="5550408"/>
            <a:ext cx="54864" cy="694944"/>
          </a:xfrm>
          <a:prstGeom prst="rect">
            <a:avLst/>
          </a:prstGeom>
          <a:solidFill>
            <a:srgbClr val="A51C30"/>
          </a:solidFill>
          <a:ln/>
        </p:spPr>
        <p:txBody>
          <a:bodyPr/>
          <a:p/>
        </p:txBody>
      </p:sp>
      <p:sp>
        <p:nvSpPr>
          <p:cNvPr id="21"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Search is a question in the terminal's own grammar — and its answer is a view you can pivot, compare and share.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COLLABORATION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Share what you see, discuss it, and prove what was said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home/ashutosh/IdeaProjects/drishti/docs/guides/img/collab/01-share-dialog.jpg">    </p:cNvPr>
          <p:cNvPicPr>
            <a:picLocks noChangeAspect="1"/>
          </p:cNvPicPr>
          <p:nvPr/>
        </p:nvPicPr>
        <p:blipFill>
          <a:blip r:embed="rId1"/>
          <a:stretch>
            <a:fillRect/>
          </a:stretch>
        </p:blipFill>
        <p:spPr>
          <a:xfrm>
            <a:off x="777240" y="1417320"/>
            <a:ext cx="5120640" cy="3200400"/>
          </a:xfrm>
          <a:prstGeom prst="rect">
            <a:avLst/>
          </a:prstGeom>
        </p:spPr>
      </p:pic>
      <p:sp>
        <p:nvSpPr>
          <p:cNvPr id="8" name="Shape 4"/>
          <p:cNvSpPr/>
          <p:nvPr/>
        </p:nvSpPr>
        <p:spPr>
          <a:xfrm>
            <a:off x="6227064" y="1380744"/>
            <a:ext cx="5193792" cy="32735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1" descr="/home/ashutosh/IdeaProjects/drishti/docs/guides/img/collab/07-discussion-author.jpg">    </p:cNvPr>
          <p:cNvPicPr>
            <a:picLocks noChangeAspect="1"/>
          </p:cNvPicPr>
          <p:nvPr/>
        </p:nvPicPr>
        <p:blipFill>
          <a:blip r:embed="rId2"/>
          <a:stretch>
            <a:fillRect/>
          </a:stretch>
        </p:blipFill>
        <p:spPr>
          <a:xfrm>
            <a:off x="6263640" y="1417320"/>
            <a:ext cx="5120640" cy="3200400"/>
          </a:xfrm>
          <a:prstGeom prst="rect">
            <a:avLst/>
          </a:prstGeom>
        </p:spPr>
      </p:pic>
      <p:sp>
        <p:nvSpPr>
          <p:cNvPr id="10" name="Text 5"/>
          <p:cNvSpPr txBox="1"/>
          <p:nvPr/>
        </p:nvSpPr>
        <p:spPr>
          <a:xfrm>
            <a:off x="7772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Share with a note, to people or roles.</a:t>
            </a:r>
            <a:endParaRPr lang="en-US" sz="1050" dirty="0"/>
          </a:p>
        </p:txBody>
      </p:sp>
      <p:sp>
        <p:nvSpPr>
          <p:cNvPr id="11" name="Text 6"/>
          <p:cNvSpPr txBox="1"/>
          <p:nvPr/>
        </p:nvSpPr>
        <p:spPr>
          <a:xfrm>
            <a:off x="6263640" y="4709160"/>
            <a:ext cx="5120640" cy="274320"/>
          </a:xfrm>
          <a:prstGeom prst="rect">
            <a:avLst/>
          </a:prstGeom>
          <a:noFill/>
          <a:ln/>
        </p:spPr>
        <p:txBody>
          <a:bodyPr wrap="square" lIns="0" tIns="0" rIns="0" bIns="0" rtlCol="0" anchor="t"/>
          <a:lstStyle/>
          <a:p>
            <a:pPr indent="0" marL="0">
              <a:buNone/>
            </a:pPr>
            <a:r>
              <a:rPr lang="en-US" sz="1050" i="1" dirty="0">
                <a:solidFill>
                  <a:srgbClr val="61666E"/>
                </a:solidFill>
              </a:rPr>
              <a:t>A discussion thread with @mentions and quoted fields.</a:t>
            </a:r>
            <a:endParaRPr lang="en-US" sz="1050" dirty="0"/>
          </a:p>
        </p:txBody>
      </p:sp>
      <p:sp>
        <p:nvSpPr>
          <p:cNvPr id="12" name="Shape 7"/>
          <p:cNvSpPr/>
          <p:nvPr/>
        </p:nvSpPr>
        <p:spPr>
          <a:xfrm>
            <a:off x="777240" y="5257800"/>
            <a:ext cx="10634472" cy="694944"/>
          </a:xfrm>
          <a:prstGeom prst="rect">
            <a:avLst/>
          </a:prstGeom>
          <a:solidFill>
            <a:srgbClr val="F6E6E9"/>
          </a:solidFill>
          <a:ln/>
        </p:spPr>
        <p:txBody>
          <a:bodyPr/>
          <a:p/>
        </p:txBody>
      </p:sp>
      <p:sp>
        <p:nvSpPr>
          <p:cNvPr id="13" name="Shape 8"/>
          <p:cNvSpPr/>
          <p:nvPr/>
        </p:nvSpPr>
        <p:spPr>
          <a:xfrm>
            <a:off x="777240" y="5257800"/>
            <a:ext cx="54864" cy="694944"/>
          </a:xfrm>
          <a:prstGeom prst="rect">
            <a:avLst/>
          </a:prstGeom>
          <a:solidFill>
            <a:srgbClr val="A51C30"/>
          </a:solidFill>
          <a:ln/>
        </p:spPr>
        <p:txBody>
          <a:bodyPr/>
          <a:p/>
        </p:txBody>
      </p:sp>
      <p:sp>
        <p:nvSpPr>
          <p:cNvPr id="14" name="Text 9"/>
          <p:cNvSpPr txBox="1"/>
          <p:nvPr/>
        </p:nvSpPr>
        <p:spPr>
          <a:xfrm>
            <a:off x="1033272" y="5330952"/>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Every comment is hash-chained and sealable; retract and hide never delete — evidence, not just conversation.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DATA LOADS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Tell Drishti new data has landed — and it acts on 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40664" y="1392174"/>
            <a:ext cx="5742432" cy="361645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loads-crop.jpg">    </p:cNvPr>
          <p:cNvPicPr>
            <a:picLocks noChangeAspect="1"/>
          </p:cNvPicPr>
          <p:nvPr/>
        </p:nvPicPr>
        <p:blipFill>
          <a:blip r:embed="rId1"/>
          <a:stretch>
            <a:fillRect/>
          </a:stretch>
        </p:blipFill>
        <p:spPr>
          <a:xfrm>
            <a:off x="777240" y="1428750"/>
            <a:ext cx="5669280" cy="3543300"/>
          </a:xfrm>
          <a:prstGeom prst="rect">
            <a:avLst/>
          </a:prstGeom>
        </p:spPr>
      </p:pic>
      <p:sp>
        <p:nvSpPr>
          <p:cNvPr id="8" name="Shape 4"/>
          <p:cNvSpPr/>
          <p:nvPr/>
        </p:nvSpPr>
        <p:spPr>
          <a:xfrm>
            <a:off x="6720840" y="1417320"/>
            <a:ext cx="4690872" cy="1188720"/>
          </a:xfrm>
          <a:prstGeom prst="rect">
            <a:avLst/>
          </a:prstGeom>
          <a:solidFill>
            <a:srgbClr val="1E1E24"/>
          </a:solidFill>
          <a:ln/>
        </p:spPr>
        <p:txBody>
          <a:bodyPr/>
          <a:p/>
        </p:txBody>
      </p:sp>
      <p:sp>
        <p:nvSpPr>
          <p:cNvPr id="9" name="Text 5"/>
          <p:cNvSpPr txBox="1"/>
          <p:nvPr/>
        </p:nvSpPr>
        <p:spPr>
          <a:xfrm>
            <a:off x="6922008" y="1581912"/>
            <a:ext cx="4288536" cy="91440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data landed --pack trading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--date 2026-10-05 --rows 10000</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or POST /api/v1/packs/trading/loads</a:t>
            </a:r>
            <a:endParaRPr lang="en-US" sz="1150" dirty="0"/>
          </a:p>
        </p:txBody>
      </p:sp>
      <p:sp>
        <p:nvSpPr>
          <p:cNvPr id="10" name="Text 6"/>
          <p:cNvSpPr txBox="1"/>
          <p:nvPr/>
        </p:nvSpPr>
        <p:spPr>
          <a:xfrm>
            <a:off x="6720840" y="2788920"/>
            <a:ext cx="4690872" cy="2651760"/>
          </a:xfrm>
          <a:prstGeom prst="rect">
            <a:avLst/>
          </a:prstGeom>
          <a:noFill/>
          <a:ln/>
        </p:spPr>
        <p:txBody>
          <a:bodyPr wrap="square" lIns="0" tIns="0" rIns="0" bIns="0" rtlCol="0" anchor="t"/>
          <a:lstStyle/>
          <a:p>
            <a:pPr indent="0" marL="0">
              <a:buNone/>
            </a:pPr>
            <a:r>
              <a:rPr lang="en-US" sz="1400" b="1" dirty="0">
                <a:solidFill>
                  <a:srgbClr val="A51C30"/>
                </a:solidFill>
              </a:rPr>
              <a:t>▪  Refresh, verify, alert, notify</a:t>
            </a:r>
            <a:endParaRPr lang="en-US" sz="1400" dirty="0"/>
          </a:p>
          <a:p>
            <a:pPr indent="0" marL="0">
              <a:spcAft>
                <a:spcPts val="700"/>
              </a:spcAft>
              <a:buNone/>
            </a:pPr>
            <a:r>
              <a:rPr lang="en-US" sz="1250" dirty="0">
                <a:solidFill>
                  <a:srgbClr val="4A5058"/>
                </a:solidFill>
              </a:rPr>
              <a:t>Caches refreshed, the date checked, alert rules run on it, bell, inbox and email.</a:t>
            </a:r>
            <a:endParaRPr lang="en-US" sz="1400" dirty="0"/>
          </a:p>
          <a:p>
            <a:pPr indent="0" marL="0">
              <a:buNone/>
            </a:pPr>
            <a:r>
              <a:rPr lang="en-US" sz="1400" b="1" dirty="0">
                <a:solidFill>
                  <a:srgbClr val="A51C30"/>
                </a:solidFill>
              </a:rPr>
              <a:t>▪  Late is a fact, said once</a:t>
            </a:r>
            <a:endParaRPr lang="en-US" sz="1400" dirty="0"/>
          </a:p>
          <a:p>
            <a:pPr indent="0" marL="0">
              <a:spcAft>
                <a:spcPts val="700"/>
              </a:spcAft>
              <a:buNone/>
            </a:pPr>
            <a:r>
              <a:rPr lang="en-US" sz="1250" dirty="0">
                <a:solidFill>
                  <a:srgbClr val="4A5058"/>
                </a:solidFill>
              </a:rPr>
              <a:t>Per-kind expectations with time zone and calendar; Health shows 'data late'.</a:t>
            </a:r>
            <a:endParaRPr lang="en-US" sz="1400" dirty="0"/>
          </a:p>
          <a:p>
            <a:pPr indent="0" marL="0">
              <a:buNone/>
            </a:pPr>
            <a:r>
              <a:rPr lang="en-US" sz="1400" b="1" dirty="0">
                <a:solidFill>
                  <a:srgbClr val="A51C30"/>
                </a:solidFill>
              </a:rPr>
              <a:t>▪  Safe to repeat</a:t>
            </a:r>
            <a:endParaRPr lang="en-US" sz="1400" dirty="0"/>
          </a:p>
          <a:p>
            <a:pPr indent="0" marL="0">
              <a:spcAft>
                <a:spcPts val="700"/>
              </a:spcAft>
              <a:buNone/>
            </a:pPr>
            <a:r>
              <a:rPr lang="en-US" sz="1250" dirty="0">
                <a:solidFill>
                  <a:srgbClr val="4A5058"/>
                </a:solidFill>
              </a:rPr>
              <a:t>Idempotent per pack, kind, date and batch; token scope loads:write.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PACKS · FROM A FOLDER TO PRODUCTION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folder of JSON Lines to a deployed pack</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4937760" cy="2331720"/>
          </a:xfrm>
          <a:prstGeom prst="rect">
            <a:avLst/>
          </a:prstGeom>
          <a:solidFill>
            <a:srgbClr val="1E1E24"/>
          </a:solidFill>
          <a:ln/>
        </p:spPr>
        <p:txBody>
          <a:bodyPr/>
          <a:p/>
        </p:txBody>
      </p:sp>
      <p:sp>
        <p:nvSpPr>
          <p:cNvPr id="7" name="Shape 4"/>
          <p:cNvSpPr/>
          <p:nvPr/>
        </p:nvSpPr>
        <p:spPr>
          <a:xfrm>
            <a:off x="777240" y="1417320"/>
            <a:ext cx="4937760" cy="384048"/>
          </a:xfrm>
          <a:prstGeom prst="rect">
            <a:avLst/>
          </a:prstGeom>
          <a:solidFill>
            <a:srgbClr val="8A1626"/>
          </a:solidFill>
          <a:ln/>
        </p:spPr>
        <p:txBody>
          <a:bodyPr/>
          <a:p/>
        </p:txBody>
      </p:sp>
      <p:sp>
        <p:nvSpPr>
          <p:cNvPr id="8" name="Text 5"/>
          <p:cNvSpPr txBox="1"/>
          <p:nvPr/>
        </p:nvSpPr>
        <p:spPr>
          <a:xfrm>
            <a:off x="960120" y="1417320"/>
            <a:ext cx="4572000" cy="384048"/>
          </a:xfrm>
          <a:prstGeom prst="rect">
            <a:avLst/>
          </a:prstGeom>
          <a:noFill/>
          <a:ln/>
        </p:spPr>
        <p:txBody>
          <a:bodyPr wrap="square" lIns="0" tIns="0" rIns="0" bIns="0" rtlCol="0" anchor="ctr"/>
          <a:lstStyle/>
          <a:p>
            <a:pPr indent="0" marL="0">
              <a:buNone/>
            </a:pPr>
            <a:r>
              <a:rPr lang="en-US" sz="1300" b="1" dirty="0">
                <a:solidFill>
                  <a:srgbClr val="FFFFFF"/>
                </a:solidFill>
              </a:rPr>
              <a:t>One command</a:t>
            </a:r>
            <a:endParaRPr lang="en-US" sz="1300" dirty="0"/>
          </a:p>
        </p:txBody>
      </p:sp>
      <p:sp>
        <p:nvSpPr>
          <p:cNvPr id="9" name="Text 6"/>
          <p:cNvSpPr txBox="1"/>
          <p:nvPr/>
        </p:nvSpPr>
        <p:spPr>
          <a:xfrm>
            <a:off x="978408" y="1920240"/>
            <a:ext cx="4535424" cy="1719072"/>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drishti.py pack make ./trades --pack desk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 trade --key TRADE_ID \</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--match PRODUCT_TYPE --date TRADE_DATE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 desk/ pack, sutras per product type,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Delta lake by date, desk.tar.gz + sha256,</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README.txt, run scripts</a:t>
            </a:r>
            <a:endParaRPr lang="en-US" sz="1150" dirty="0"/>
          </a:p>
        </p:txBody>
      </p:sp>
      <p:sp>
        <p:nvSpPr>
          <p:cNvPr id="10" name="Shape 7"/>
          <p:cNvSpPr/>
          <p:nvPr/>
        </p:nvSpPr>
        <p:spPr>
          <a:xfrm>
            <a:off x="5952744" y="1383723"/>
            <a:ext cx="5495544" cy="290183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1" name="Image 0" descr="/home/ashutosh/IdeaProjects/drishti/docs/guides/img/deploy/02-deploy-preview.jpg">    </p:cNvPr>
          <p:cNvPicPr>
            <a:picLocks noChangeAspect="1"/>
          </p:cNvPicPr>
          <p:nvPr/>
        </p:nvPicPr>
        <p:blipFill>
          <a:blip r:embed="rId1"/>
          <a:stretch>
            <a:fillRect/>
          </a:stretch>
        </p:blipFill>
        <p:spPr>
          <a:xfrm>
            <a:off x="5989320" y="1420299"/>
            <a:ext cx="5422392" cy="2828681"/>
          </a:xfrm>
          <a:prstGeom prst="rect">
            <a:avLst/>
          </a:prstGeom>
        </p:spPr>
      </p:pic>
      <p:sp>
        <p:nvSpPr>
          <p:cNvPr id="12" name="Text 8"/>
          <p:cNvSpPr txBox="1"/>
          <p:nvPr/>
        </p:nvSpPr>
        <p:spPr>
          <a:xfrm>
            <a:off x="777240" y="3931920"/>
            <a:ext cx="4937760" cy="1554480"/>
          </a:xfrm>
          <a:prstGeom prst="rect">
            <a:avLst/>
          </a:prstGeom>
          <a:noFill/>
          <a:ln/>
        </p:spPr>
        <p:txBody>
          <a:bodyPr wrap="square" lIns="0" tIns="0" rIns="0" bIns="0" rtlCol="0" anchor="t"/>
          <a:lstStyle/>
          <a:p>
            <a:pPr indent="0" marL="0">
              <a:buNone/>
            </a:pPr>
            <a:r>
              <a:rPr lang="en-US" sz="1400" b="1" dirty="0">
                <a:solidFill>
                  <a:srgbClr val="A51C30"/>
                </a:solidFill>
              </a:rPr>
              <a:t>▪  Checked before it lands</a:t>
            </a:r>
            <a:endParaRPr lang="en-US" sz="1400" dirty="0"/>
          </a:p>
          <a:p>
            <a:pPr indent="0" marL="0">
              <a:spcAft>
                <a:spcPts val="600"/>
              </a:spcAft>
              <a:buNone/>
            </a:pPr>
            <a:r>
              <a:rPr lang="en-US" sz="1250" dirty="0">
                <a:solidFill>
                  <a:srgbClr val="4A5058"/>
                </a:solidFill>
              </a:rPr>
              <a:t>Checksums, paths, server version, Sutra tests and an optional Ed25519 signature.</a:t>
            </a:r>
            <a:endParaRPr lang="en-US" sz="1400" dirty="0"/>
          </a:p>
          <a:p>
            <a:pPr indent="0" marL="0">
              <a:buNone/>
            </a:pPr>
            <a:r>
              <a:rPr lang="en-US" sz="1400" b="1" dirty="0">
                <a:solidFill>
                  <a:srgbClr val="A51C30"/>
                </a:solidFill>
              </a:rPr>
              <a:t>▪  Never stuck</a:t>
            </a:r>
            <a:endParaRPr lang="en-US" sz="1400" dirty="0"/>
          </a:p>
          <a:p>
            <a:pPr indent="0" marL="0">
              <a:spcAft>
                <a:spcPts val="600"/>
              </a:spcAft>
              <a:buNone/>
            </a:pPr>
            <a:r>
              <a:rPr lang="en-US" sz="1250" dirty="0">
                <a:solidFill>
                  <a:srgbClr val="4A5058"/>
                </a:solidFill>
              </a:rPr>
              <a:t>The previous version is kept; a failed deploy rolls back; history has Roll back.</a:t>
            </a:r>
            <a:endParaRPr lang="en-US" sz="1400" dirty="0"/>
          </a:p>
        </p:txBody>
      </p:sp>
      <p:sp>
        <p:nvSpPr>
          <p:cNvPr id="13" name="Shape 9"/>
          <p:cNvSpPr/>
          <p:nvPr/>
        </p:nvSpPr>
        <p:spPr>
          <a:xfrm>
            <a:off x="777240" y="5550408"/>
            <a:ext cx="10634472" cy="694944"/>
          </a:xfrm>
          <a:prstGeom prst="rect">
            <a:avLst/>
          </a:prstGeom>
          <a:solidFill>
            <a:srgbClr val="F6E6E9"/>
          </a:solidFill>
          <a:ln/>
        </p:spPr>
        <p:txBody>
          <a:bodyPr/>
          <a:p/>
        </p:txBody>
      </p:sp>
      <p:sp>
        <p:nvSpPr>
          <p:cNvPr id="14" name="Shape 10"/>
          <p:cNvSpPr/>
          <p:nvPr/>
        </p:nvSpPr>
        <p:spPr>
          <a:xfrm>
            <a:off x="777240" y="5550408"/>
            <a:ext cx="54864" cy="694944"/>
          </a:xfrm>
          <a:prstGeom prst="rect">
            <a:avLst/>
          </a:prstGeom>
          <a:solidFill>
            <a:srgbClr val="A51C30"/>
          </a:solidFill>
          <a:ln/>
        </p:spPr>
        <p:txBody>
          <a:bodyPr/>
          <a:p/>
        </p:txBody>
      </p:sp>
      <p:sp>
        <p:nvSpPr>
          <p:cNvPr id="15" name="Text 1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Archives carry the pack, never the data — where data lives stays an admin's decision.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CLI · TOOLS/DRISHTI.PY</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Every build step from the command line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777240" y="1508760"/>
          <a:ext cx="10634472" cy="914400"/>
        </p:xfrm>
        <a:graphic>
          <a:graphicData uri="http://schemas.openxmlformats.org/drawingml/2006/table">
            <a:tbl>
              <a:tblPr/>
              <a:tblGrid>
                <a:gridCol w="1737360"/>
                <a:gridCol w="4480560"/>
                <a:gridCol w="4416552"/>
              </a:tblGrid>
              <a:tr h="566928">
                <a:tc>
                  <a:txBody>
                    <a:bodyPr/>
                    <a:lstStyle/>
                    <a:p>
                      <a:pPr indent="0" marL="0">
                        <a:buNone/>
                      </a:pPr>
                      <a:r>
                        <a:rPr lang="en-US" sz="1400" b="1" dirty="0">
                          <a:solidFill>
                            <a:srgbClr val="FFFFFF"/>
                          </a:solidFill>
                        </a:rPr>
                        <a:t>Group</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What it does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Examples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66928">
                <a:tc>
                  <a:txBody>
                    <a:bodyPr/>
                    <a:lstStyle/>
                    <a:p>
                      <a:pPr indent="0" marL="0">
                        <a:buNone/>
                      </a:pPr>
                      <a:r>
                        <a:rPr lang="en-US" sz="1400" b="1" dirty="0">
                          <a:solidFill>
                            <a:srgbClr val="8A1626"/>
                          </a:solidFill>
                        </a:rPr>
                        <a:t>sutra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Generate, lint, test and preview Sutras from 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shape, design --each, gen, lint, test, preview</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pack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sign, deploy and roll back packs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make, check, bundle, verify, deploy, rollback, keygen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data · lake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Ingest, profile, say a batch landed; build and maintain lakes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landed, loads, lake demo, lake build, lake maintain</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server · connector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on and off, connectors as files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health, packs list|on|off, connector apply|test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8A1626"/>
                          </a:solidFill>
                        </a:rPr>
                        <a:t>bi</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Models, SQL, items, Transforms, migrations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model describe, sql, mq, item save, transform input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66928">
                <a:tc>
                  <a:txBody>
                    <a:bodyPr/>
                    <a:lstStyle/>
                    <a:p>
                      <a:pPr indent="0" marL="0">
                        <a:buNone/>
                      </a:pPr>
                      <a:r>
                        <a:rPr lang="en-US" sz="1400" b="1" dirty="0">
                          <a:solidFill>
                            <a:srgbClr val="8A1626"/>
                          </a:solidFill>
                        </a:rPr>
                        <a:t>net · design ·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Drishti*net files, the screen designer, a setup check</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net check|add-peer|members, design propose, doctor</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7" name="Shape 3"/>
          <p:cNvSpPr/>
          <p:nvPr/>
        </p:nvSpPr>
        <p:spPr>
          <a:xfrm>
            <a:off x="777240" y="5550408"/>
            <a:ext cx="10634472" cy="694944"/>
          </a:xfrm>
          <a:prstGeom prst="rect">
            <a:avLst/>
          </a:prstGeom>
          <a:solidFill>
            <a:srgbClr val="F6E6E9"/>
          </a:solidFill>
          <a:ln/>
        </p:spPr>
        <p:txBody>
          <a:bodyPr/>
          <a:p/>
        </p:txBody>
      </p:sp>
      <p:sp>
        <p:nvSpPr>
          <p:cNvPr id="8" name="Shape 4"/>
          <p:cNvSpPr/>
          <p:nvPr/>
        </p:nvSpPr>
        <p:spPr>
          <a:xfrm>
            <a:off x="777240" y="5550408"/>
            <a:ext cx="54864" cy="694944"/>
          </a:xfrm>
          <a:prstGeom prst="rect">
            <a:avLst/>
          </a:prstGeom>
          <a:solidFill>
            <a:srgbClr val="A51C30"/>
          </a:solidFill>
          <a:ln/>
        </p:spPr>
        <p:txBody>
          <a:bodyPr/>
          <a:p/>
        </p:txBody>
      </p:sp>
      <p:sp>
        <p:nvSpPr>
          <p:cNvPr id="9" name="Text 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Anything the console can build, a script can build — and a pipeline can check it.</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 ELEMENTS · NO IFRAME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live view, inside other web applications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486400" cy="1691640"/>
          </a:xfrm>
          <a:prstGeom prst="rect">
            <a:avLst/>
          </a:prstGeom>
          <a:solidFill>
            <a:srgbClr val="1E1E24"/>
          </a:solidFill>
          <a:ln/>
        </p:spPr>
        <p:txBody>
          <a:bodyPr/>
          <a:p/>
        </p:txBody>
      </p:sp>
      <p:sp>
        <p:nvSpPr>
          <p:cNvPr id="7" name="Text 4"/>
          <p:cNvSpPr txBox="1"/>
          <p:nvPr/>
        </p:nvSpPr>
        <p:spPr>
          <a:xfrm>
            <a:off x="978408" y="1581912"/>
            <a:ext cx="5084064" cy="14173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 type="module" src=</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"/embed/v1/elements/1.4.2/drishti-elements.js"&gt;</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&lt;/script&gt;</a:t>
            </a:r>
            <a:endParaRPr lang="en-US" sz="1150" dirty="0"/>
          </a:p>
          <a:p>
            <a:pPr indent="0" marL="0">
              <a:lnSpc>
                <a:spcPct val="105000"/>
              </a:lnSpc>
              <a:buNone/>
            </a:pP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&lt;drishti-view server="https://drishti.example"</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kind="trade" entity="MX-20000001"&gt;&lt;/drishti-view&gt;</a:t>
            </a:r>
            <a:endParaRPr lang="en-US" sz="1150" dirty="0"/>
          </a:p>
        </p:txBody>
      </p:sp>
      <p:sp>
        <p:nvSpPr>
          <p:cNvPr id="8" name="Shape 5"/>
          <p:cNvSpPr/>
          <p:nvPr/>
        </p:nvSpPr>
        <p:spPr>
          <a:xfrm>
            <a:off x="6455664" y="1483519"/>
            <a:ext cx="4992624" cy="1559243"/>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9" name="Image 0" descr="/tmp/claude-1000/-home-ashutosh-IdeaProjects-drishti/efa68c11-fb98-4f9a-8faa-96a952090c0e/scratchpad/deck/shots/embed-crop.png">    </p:cNvPr>
          <p:cNvPicPr>
            <a:picLocks noChangeAspect="1"/>
          </p:cNvPicPr>
          <p:nvPr/>
        </p:nvPicPr>
        <p:blipFill>
          <a:blip r:embed="rId1"/>
          <a:stretch>
            <a:fillRect/>
          </a:stretch>
        </p:blipFill>
        <p:spPr>
          <a:xfrm>
            <a:off x="6492240" y="1520095"/>
            <a:ext cx="4919472" cy="1486091"/>
          </a:xfrm>
          <a:prstGeom prst="rect">
            <a:avLst/>
          </a:prstGeom>
        </p:spPr>
      </p:pic>
      <p:sp>
        <p:nvSpPr>
          <p:cNvPr id="10" name="Text 6"/>
          <p:cNvSpPr txBox="1"/>
          <p:nvPr/>
        </p:nvSpPr>
        <p:spPr>
          <a:xfrm>
            <a:off x="6492240" y="3172968"/>
            <a:ext cx="4919472" cy="274320"/>
          </a:xfrm>
          <a:prstGeom prst="rect">
            <a:avLst/>
          </a:prstGeom>
          <a:noFill/>
          <a:ln/>
        </p:spPr>
        <p:txBody>
          <a:bodyPr wrap="square" lIns="0" tIns="0" rIns="0" bIns="0" rtlCol="0" anchor="t"/>
          <a:lstStyle/>
          <a:p>
            <a:pPr indent="0" marL="0">
              <a:buNone/>
            </a:pPr>
            <a:r>
              <a:rPr lang="en-US" sz="1050" i="1" dirty="0">
                <a:solidFill>
                  <a:srgbClr val="61666E"/>
                </a:solidFill>
              </a:rPr>
              <a:t>Admin → Embedding: host apps, origins, scopes and usage.</a:t>
            </a:r>
            <a:endParaRPr lang="en-US" sz="1050" dirty="0"/>
          </a:p>
        </p:txBody>
      </p:sp>
      <p:sp>
        <p:nvSpPr>
          <p:cNvPr id="11" name="Shape 7"/>
          <p:cNvSpPr/>
          <p:nvPr/>
        </p:nvSpPr>
        <p:spPr>
          <a:xfrm>
            <a:off x="777240" y="3611880"/>
            <a:ext cx="2507742" cy="1691640"/>
          </a:xfrm>
          <a:prstGeom prst="rect">
            <a:avLst/>
          </a:prstGeom>
          <a:solidFill>
            <a:srgbClr val="F7F5F2"/>
          </a:solidFill>
          <a:ln/>
        </p:spPr>
        <p:txBody>
          <a:bodyPr/>
          <a:p/>
        </p:txBody>
      </p:sp>
      <p:sp>
        <p:nvSpPr>
          <p:cNvPr id="12" name="Shape 8"/>
          <p:cNvSpPr/>
          <p:nvPr/>
        </p:nvSpPr>
        <p:spPr>
          <a:xfrm>
            <a:off x="777240" y="3611880"/>
            <a:ext cx="45720" cy="1691640"/>
          </a:xfrm>
          <a:prstGeom prst="rect">
            <a:avLst/>
          </a:prstGeom>
          <a:solidFill>
            <a:srgbClr val="A51C30"/>
          </a:solidFill>
          <a:ln/>
        </p:spPr>
        <p:txBody>
          <a:bodyPr/>
          <a:p/>
        </p:txBody>
      </p:sp>
      <p:sp>
        <p:nvSpPr>
          <p:cNvPr id="13" name="Text 9"/>
          <p:cNvSpPr txBox="1"/>
          <p:nvPr/>
        </p:nvSpPr>
        <p:spPr>
          <a:xfrm>
            <a:off x="97840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HTML</a:t>
            </a:r>
            <a:endParaRPr lang="en-US" sz="2600" dirty="0"/>
          </a:p>
        </p:txBody>
      </p:sp>
      <p:sp>
        <p:nvSpPr>
          <p:cNvPr id="14" name="Text 10"/>
          <p:cNvSpPr txBox="1"/>
          <p:nvPr/>
        </p:nvSpPr>
        <p:spPr>
          <a:xfrm>
            <a:off x="97840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Over the wire: the console's own templates, sanitised, in a Shadow DOM</a:t>
            </a:r>
            <a:endParaRPr lang="en-US" sz="1300" dirty="0"/>
          </a:p>
        </p:txBody>
      </p:sp>
      <p:sp>
        <p:nvSpPr>
          <p:cNvPr id="15" name="Shape 11"/>
          <p:cNvSpPr/>
          <p:nvPr/>
        </p:nvSpPr>
        <p:spPr>
          <a:xfrm>
            <a:off x="3486150" y="3611880"/>
            <a:ext cx="2507742" cy="1691640"/>
          </a:xfrm>
          <a:prstGeom prst="rect">
            <a:avLst/>
          </a:prstGeom>
          <a:solidFill>
            <a:srgbClr val="F7F5F2"/>
          </a:solidFill>
          <a:ln/>
        </p:spPr>
        <p:txBody>
          <a:bodyPr/>
          <a:p/>
        </p:txBody>
      </p:sp>
      <p:sp>
        <p:nvSpPr>
          <p:cNvPr id="16" name="Shape 12"/>
          <p:cNvSpPr/>
          <p:nvPr/>
        </p:nvSpPr>
        <p:spPr>
          <a:xfrm>
            <a:off x="3486150" y="3611880"/>
            <a:ext cx="45720" cy="1691640"/>
          </a:xfrm>
          <a:prstGeom prst="rect">
            <a:avLst/>
          </a:prstGeom>
          <a:solidFill>
            <a:srgbClr val="A51C30"/>
          </a:solidFill>
          <a:ln/>
        </p:spPr>
        <p:txBody>
          <a:bodyPr/>
          <a:p/>
        </p:txBody>
      </p:sp>
      <p:sp>
        <p:nvSpPr>
          <p:cNvPr id="17" name="Text 13"/>
          <p:cNvSpPr txBox="1"/>
          <p:nvPr/>
        </p:nvSpPr>
        <p:spPr>
          <a:xfrm>
            <a:off x="368731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 stream</a:t>
            </a:r>
            <a:endParaRPr lang="en-US" sz="2600" dirty="0"/>
          </a:p>
        </p:txBody>
      </p:sp>
      <p:sp>
        <p:nvSpPr>
          <p:cNvPr id="18" name="Text 14"/>
          <p:cNvSpPr txBox="1"/>
          <p:nvPr/>
        </p:nvSpPr>
        <p:spPr>
          <a:xfrm>
            <a:off x="368731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Shared by every element on the host page</a:t>
            </a:r>
            <a:endParaRPr lang="en-US" sz="1300" dirty="0"/>
          </a:p>
        </p:txBody>
      </p:sp>
      <p:sp>
        <p:nvSpPr>
          <p:cNvPr id="19" name="Shape 15"/>
          <p:cNvSpPr/>
          <p:nvPr/>
        </p:nvSpPr>
        <p:spPr>
          <a:xfrm>
            <a:off x="6195060" y="3611880"/>
            <a:ext cx="2507742" cy="1691640"/>
          </a:xfrm>
          <a:prstGeom prst="rect">
            <a:avLst/>
          </a:prstGeom>
          <a:solidFill>
            <a:srgbClr val="F7F5F2"/>
          </a:solidFill>
          <a:ln/>
        </p:spPr>
        <p:txBody>
          <a:bodyPr/>
          <a:p/>
        </p:txBody>
      </p:sp>
      <p:sp>
        <p:nvSpPr>
          <p:cNvPr id="20" name="Shape 16"/>
          <p:cNvSpPr/>
          <p:nvPr/>
        </p:nvSpPr>
        <p:spPr>
          <a:xfrm>
            <a:off x="6195060" y="3611880"/>
            <a:ext cx="45720" cy="1691640"/>
          </a:xfrm>
          <a:prstGeom prst="rect">
            <a:avLst/>
          </a:prstGeom>
          <a:solidFill>
            <a:srgbClr val="A51C30"/>
          </a:solidFill>
          <a:ln/>
        </p:spPr>
        <p:txBody>
          <a:bodyPr/>
          <a:p/>
        </p:txBody>
      </p:sp>
      <p:sp>
        <p:nvSpPr>
          <p:cNvPr id="21" name="Text 17"/>
          <p:cNvSpPr txBox="1"/>
          <p:nvPr/>
        </p:nvSpPr>
        <p:spPr>
          <a:xfrm>
            <a:off x="639622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@container</a:t>
            </a:r>
            <a:endParaRPr lang="en-US" sz="2600" dirty="0"/>
          </a:p>
        </p:txBody>
      </p:sp>
      <p:sp>
        <p:nvSpPr>
          <p:cNvPr id="22" name="Text 18"/>
          <p:cNvSpPr txBox="1"/>
          <p:nvPr/>
        </p:nvSpPr>
        <p:spPr>
          <a:xfrm>
            <a:off x="639622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Responsive to its own box: a sidebar gets the narrow layout</a:t>
            </a:r>
            <a:endParaRPr lang="en-US" sz="1300" dirty="0"/>
          </a:p>
        </p:txBody>
      </p:sp>
      <p:sp>
        <p:nvSpPr>
          <p:cNvPr id="23" name="Shape 19"/>
          <p:cNvSpPr/>
          <p:nvPr/>
        </p:nvSpPr>
        <p:spPr>
          <a:xfrm>
            <a:off x="8903970" y="3611880"/>
            <a:ext cx="2507742" cy="1691640"/>
          </a:xfrm>
          <a:prstGeom prst="rect">
            <a:avLst/>
          </a:prstGeom>
          <a:solidFill>
            <a:srgbClr val="F7F5F2"/>
          </a:solidFill>
          <a:ln/>
        </p:spPr>
        <p:txBody>
          <a:bodyPr/>
          <a:p/>
        </p:txBody>
      </p:sp>
      <p:sp>
        <p:nvSpPr>
          <p:cNvPr id="24" name="Shape 20"/>
          <p:cNvSpPr/>
          <p:nvPr/>
        </p:nvSpPr>
        <p:spPr>
          <a:xfrm>
            <a:off x="8903970" y="3611880"/>
            <a:ext cx="45720" cy="1691640"/>
          </a:xfrm>
          <a:prstGeom prst="rect">
            <a:avLst/>
          </a:prstGeom>
          <a:solidFill>
            <a:srgbClr val="A51C30"/>
          </a:solidFill>
          <a:ln/>
        </p:spPr>
        <p:txBody>
          <a:bodyPr/>
          <a:p/>
        </p:txBody>
      </p:sp>
      <p:sp>
        <p:nvSpPr>
          <p:cNvPr id="25" name="Text 21"/>
          <p:cNvSpPr txBox="1"/>
          <p:nvPr/>
        </p:nvSpPr>
        <p:spPr>
          <a:xfrm>
            <a:off x="9105138" y="372160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Masked</a:t>
            </a:r>
            <a:endParaRPr lang="en-US" sz="2600" dirty="0"/>
          </a:p>
        </p:txBody>
      </p:sp>
      <p:sp>
        <p:nvSpPr>
          <p:cNvPr id="26" name="Text 22"/>
          <p:cNvSpPr txBox="1"/>
          <p:nvPr/>
        </p:nvSpPr>
        <p:spPr>
          <a:xfrm>
            <a:off x="9105138" y="4215384"/>
            <a:ext cx="2187702" cy="1014984"/>
          </a:xfrm>
          <a:prstGeom prst="rect">
            <a:avLst/>
          </a:prstGeom>
          <a:noFill/>
          <a:ln/>
        </p:spPr>
        <p:txBody>
          <a:bodyPr wrap="square" lIns="0" tIns="0" rIns="0" bIns="0" rtlCol="0" anchor="t"/>
          <a:lstStyle/>
          <a:p>
            <a:pPr indent="0" marL="0">
              <a:buNone/>
            </a:pPr>
            <a:r>
              <a:rPr lang="en-US" sz="1300" dirty="0">
                <a:solidFill>
                  <a:srgbClr val="4A5058"/>
                </a:solidFill>
              </a:rPr>
              <a:t>Always, whatever the user's roles; every call audited</a:t>
            </a:r>
            <a:endParaRPr lang="en-US" sz="1300" dirty="0"/>
          </a:p>
        </p:txBody>
      </p:sp>
      <p:sp>
        <p:nvSpPr>
          <p:cNvPr id="27" name="Shape 23"/>
          <p:cNvSpPr/>
          <p:nvPr/>
        </p:nvSpPr>
        <p:spPr>
          <a:xfrm>
            <a:off x="777240" y="5550408"/>
            <a:ext cx="10634472" cy="694944"/>
          </a:xfrm>
          <a:prstGeom prst="rect">
            <a:avLst/>
          </a:prstGeom>
          <a:solidFill>
            <a:srgbClr val="F6E6E9"/>
          </a:solidFill>
          <a:ln/>
        </p:spPr>
        <p:txBody>
          <a:bodyPr/>
          <a:p/>
        </p:txBody>
      </p:sp>
      <p:sp>
        <p:nvSpPr>
          <p:cNvPr id="28" name="Shape 24"/>
          <p:cNvSpPr/>
          <p:nvPr/>
        </p:nvSpPr>
        <p:spPr>
          <a:xfrm>
            <a:off x="777240" y="5550408"/>
            <a:ext cx="54864" cy="694944"/>
          </a:xfrm>
          <a:prstGeom prst="rect">
            <a:avLst/>
          </a:prstGeom>
          <a:solidFill>
            <a:srgbClr val="A51C30"/>
          </a:solidFill>
          <a:ln/>
        </p:spPr>
        <p:txBody>
          <a:bodyPr/>
          <a:p/>
        </p:txBody>
      </p:sp>
      <p:sp>
        <p:nvSpPr>
          <p:cNvPr id="29" name="Text 25"/>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Other teams get the view, not a copy of it — still live, still masked, still audited.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DRISHTI*NET · 2.5</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Several servers, one Drishti</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8" name="Text 5"/>
          <p:cNvSpPr txBox="1"/>
          <p:nvPr/>
        </p:nvSpPr>
        <p:spPr>
          <a:xfrm>
            <a:off x="914400"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Given one server; learns the rest; fails over</a:t>
            </a:r>
            <a:endParaRPr lang="en-US" sz="1300" dirty="0"/>
          </a:p>
        </p:txBody>
      </p:sp>
      <p:sp>
        <p:nvSpPr>
          <p:cNvPr id="9" name="Shape 6"/>
          <p:cNvSpPr/>
          <p:nvPr/>
        </p:nvSpPr>
        <p:spPr>
          <a:xfrm>
            <a:off x="2953512"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3090672"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Any node</a:t>
            </a:r>
            <a:endParaRPr lang="en-US" sz="1600" dirty="0"/>
          </a:p>
        </p:txBody>
      </p:sp>
      <p:sp>
        <p:nvSpPr>
          <p:cNvPr id="11" name="Text 8"/>
          <p:cNvSpPr txBox="1"/>
          <p:nvPr/>
        </p:nvSpPr>
        <p:spPr>
          <a:xfrm>
            <a:off x="3090672"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Signed calls; your roles checked</a:t>
            </a:r>
            <a:endParaRPr lang="en-US" sz="1300" dirty="0"/>
          </a:p>
        </p:txBody>
      </p:sp>
      <p:sp>
        <p:nvSpPr>
          <p:cNvPr id="12" name="Shape 9"/>
          <p:cNvSpPr/>
          <p:nvPr/>
        </p:nvSpPr>
        <p:spPr>
          <a:xfrm>
            <a:off x="2651760" y="2331720"/>
            <a:ext cx="301752" cy="914"/>
          </a:xfrm>
          <a:prstGeom prst="line">
            <a:avLst/>
          </a:prstGeom>
          <a:noFill/>
          <a:ln w="22225">
            <a:solidFill>
              <a:srgbClr val="A51C30"/>
            </a:solidFill>
            <a:prstDash val="solid"/>
            <a:tailEnd type="triangle"/>
          </a:ln>
        </p:spPr>
        <p:txBody>
          <a:bodyPr/>
          <a:p/>
        </p:txBody>
      </p:sp>
      <p:sp>
        <p:nvSpPr>
          <p:cNvPr id="13" name="Shape 10"/>
          <p:cNvSpPr/>
          <p:nvPr/>
        </p:nvSpPr>
        <p:spPr>
          <a:xfrm>
            <a:off x="5129784"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5266944"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Capability table</a:t>
            </a:r>
            <a:endParaRPr lang="en-US" sz="1600" dirty="0"/>
          </a:p>
        </p:txBody>
      </p:sp>
      <p:sp>
        <p:nvSpPr>
          <p:cNvPr id="15" name="Text 12"/>
          <p:cNvSpPr txBox="1"/>
          <p:nvPr/>
        </p:nvSpPr>
        <p:spPr>
          <a:xfrm>
            <a:off x="5266944"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Who renders each kind, who holds its data</a:t>
            </a:r>
            <a:endParaRPr lang="en-US" sz="1300" dirty="0"/>
          </a:p>
        </p:txBody>
      </p:sp>
      <p:sp>
        <p:nvSpPr>
          <p:cNvPr id="16" name="Shape 13"/>
          <p:cNvSpPr/>
          <p:nvPr/>
        </p:nvSpPr>
        <p:spPr>
          <a:xfrm>
            <a:off x="4828032" y="2331720"/>
            <a:ext cx="301752" cy="914"/>
          </a:xfrm>
          <a:prstGeom prst="line">
            <a:avLst/>
          </a:prstGeom>
          <a:noFill/>
          <a:ln w="22225">
            <a:solidFill>
              <a:srgbClr val="A51C30"/>
            </a:solidFill>
            <a:prstDash val="solid"/>
            <a:tailEnd type="triangle"/>
          </a:ln>
        </p:spPr>
        <p:txBody>
          <a:bodyPr/>
          <a:p/>
        </p:txBody>
      </p:sp>
      <p:sp>
        <p:nvSpPr>
          <p:cNvPr id="17" name="Shape 14"/>
          <p:cNvSpPr/>
          <p:nvPr/>
        </p:nvSpPr>
        <p:spPr>
          <a:xfrm>
            <a:off x="7306056"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7443216"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Forward or fetch</a:t>
            </a:r>
            <a:endParaRPr lang="en-US" sz="1600" dirty="0"/>
          </a:p>
        </p:txBody>
      </p:sp>
      <p:sp>
        <p:nvSpPr>
          <p:cNvPr id="19" name="Text 16"/>
          <p:cNvSpPr txBox="1"/>
          <p:nvPr/>
        </p:nvSpPr>
        <p:spPr>
          <a:xfrm>
            <a:off x="7443216"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Newest pack served; masked on both nodes</a:t>
            </a:r>
            <a:endParaRPr lang="en-US" sz="1300" dirty="0"/>
          </a:p>
        </p:txBody>
      </p:sp>
      <p:sp>
        <p:nvSpPr>
          <p:cNvPr id="20" name="Shape 17"/>
          <p:cNvSpPr/>
          <p:nvPr/>
        </p:nvSpPr>
        <p:spPr>
          <a:xfrm>
            <a:off x="7004304" y="2331720"/>
            <a:ext cx="301752" cy="914"/>
          </a:xfrm>
          <a:prstGeom prst="line">
            <a:avLst/>
          </a:prstGeom>
          <a:noFill/>
          <a:ln w="22225">
            <a:solidFill>
              <a:srgbClr val="A51C30"/>
            </a:solidFill>
            <a:prstDash val="solid"/>
            <a:tailEnd type="triangle"/>
          </a:ln>
        </p:spPr>
        <p:txBody>
          <a:bodyPr/>
          <a:p/>
        </p:txBody>
      </p:sp>
      <p:sp>
        <p:nvSpPr>
          <p:cNvPr id="21" name="Shape 18"/>
          <p:cNvSpPr/>
          <p:nvPr/>
        </p:nvSpPr>
        <p:spPr>
          <a:xfrm>
            <a:off x="9482328" y="1600200"/>
            <a:ext cx="1874520" cy="146304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9619488" y="1709928"/>
            <a:ext cx="1600200" cy="329184"/>
          </a:xfrm>
          <a:prstGeom prst="rect">
            <a:avLst/>
          </a:prstGeom>
          <a:noFill/>
          <a:ln/>
        </p:spPr>
        <p:txBody>
          <a:bodyPr wrap="square" lIns="0" tIns="0" rIns="0" bIns="0" rtlCol="0" anchor="t"/>
          <a:lstStyle/>
          <a:p>
            <a:pPr indent="0" marL="0">
              <a:buNone/>
            </a:pPr>
            <a:r>
              <a:rPr lang="en-US" sz="1600" b="1" dirty="0">
                <a:solidFill>
                  <a:srgbClr val="1A1A1A"/>
                </a:solidFill>
              </a:rPr>
              <a:t>Scatter-gather</a:t>
            </a:r>
            <a:endParaRPr lang="en-US" sz="1600" dirty="0"/>
          </a:p>
        </p:txBody>
      </p:sp>
      <p:sp>
        <p:nvSpPr>
          <p:cNvPr id="23" name="Text 20"/>
          <p:cNvSpPr txBox="1"/>
          <p:nvPr/>
        </p:nvSpPr>
        <p:spPr>
          <a:xfrm>
            <a:off x="9619488" y="2057400"/>
            <a:ext cx="1600200" cy="941832"/>
          </a:xfrm>
          <a:prstGeom prst="rect">
            <a:avLst/>
          </a:prstGeom>
          <a:noFill/>
          <a:ln/>
        </p:spPr>
        <p:txBody>
          <a:bodyPr wrap="square" lIns="0" tIns="0" rIns="0" bIns="0" rtlCol="0" anchor="t"/>
          <a:lstStyle/>
          <a:p>
            <a:pPr indent="0" marL="0">
              <a:buNone/>
            </a:pPr>
            <a:r>
              <a:rPr lang="en-US" sz="1300" dirty="0">
                <a:solidFill>
                  <a:srgbClr val="4A5058"/>
                </a:solidFill>
              </a:rPr>
              <a:t>A search asks every shard, once</a:t>
            </a:r>
            <a:endParaRPr lang="en-US" sz="1300" dirty="0"/>
          </a:p>
        </p:txBody>
      </p:sp>
      <p:sp>
        <p:nvSpPr>
          <p:cNvPr id="24" name="Shape 21"/>
          <p:cNvSpPr/>
          <p:nvPr/>
        </p:nvSpPr>
        <p:spPr>
          <a:xfrm>
            <a:off x="9180576" y="2331720"/>
            <a:ext cx="301752" cy="914"/>
          </a:xfrm>
          <a:prstGeom prst="line">
            <a:avLst/>
          </a:prstGeom>
          <a:noFill/>
          <a:ln w="22225">
            <a:solidFill>
              <a:srgbClr val="A51C30"/>
            </a:solidFill>
            <a:prstDash val="solid"/>
            <a:tailEnd type="triangle"/>
          </a:ln>
        </p:spPr>
        <p:txBody>
          <a:bodyPr/>
          <a:p/>
        </p:txBody>
      </p:sp>
      <p:sp>
        <p:nvSpPr>
          <p:cNvPr id="25" name="Shape 22"/>
          <p:cNvSpPr/>
          <p:nvPr/>
        </p:nvSpPr>
        <p:spPr>
          <a:xfrm>
            <a:off x="777240" y="3337560"/>
            <a:ext cx="2560320" cy="960120"/>
          </a:xfrm>
          <a:prstGeom prst="rect">
            <a:avLst/>
          </a:prstGeom>
          <a:solidFill>
            <a:srgbClr val="F7F5F2"/>
          </a:solidFill>
          <a:ln/>
        </p:spPr>
        <p:txBody>
          <a:bodyPr/>
          <a:p/>
        </p:txBody>
      </p:sp>
      <p:sp>
        <p:nvSpPr>
          <p:cNvPr id="26" name="Shape 23"/>
          <p:cNvSpPr/>
          <p:nvPr/>
        </p:nvSpPr>
        <p:spPr>
          <a:xfrm>
            <a:off x="777240" y="3337560"/>
            <a:ext cx="45720" cy="960120"/>
          </a:xfrm>
          <a:prstGeom prst="rect">
            <a:avLst/>
          </a:prstGeom>
          <a:solidFill>
            <a:srgbClr val="A51C30"/>
          </a:solidFill>
          <a:ln/>
        </p:spPr>
        <p:txBody>
          <a:bodyPr/>
          <a:p/>
        </p:txBody>
      </p:sp>
      <p:sp>
        <p:nvSpPr>
          <p:cNvPr id="27" name="Text 24"/>
          <p:cNvSpPr txBox="1"/>
          <p:nvPr/>
        </p:nvSpPr>
        <p:spPr>
          <a:xfrm>
            <a:off x="97840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52 ms</a:t>
            </a:r>
            <a:endParaRPr lang="en-US" sz="2600" dirty="0"/>
          </a:p>
        </p:txBody>
      </p:sp>
      <p:sp>
        <p:nvSpPr>
          <p:cNvPr id="28" name="Text 25"/>
          <p:cNvSpPr txBox="1"/>
          <p:nvPr/>
        </p:nvSpPr>
        <p:spPr>
          <a:xfrm>
            <a:off x="97840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Three servers converge after the third starts</a:t>
            </a:r>
            <a:endParaRPr lang="en-US" sz="1300" dirty="0"/>
          </a:p>
        </p:txBody>
      </p:sp>
      <p:sp>
        <p:nvSpPr>
          <p:cNvPr id="29" name="Shape 26"/>
          <p:cNvSpPr/>
          <p:nvPr/>
        </p:nvSpPr>
        <p:spPr>
          <a:xfrm>
            <a:off x="3474720" y="3337560"/>
            <a:ext cx="2560320" cy="960120"/>
          </a:xfrm>
          <a:prstGeom prst="rect">
            <a:avLst/>
          </a:prstGeom>
          <a:solidFill>
            <a:srgbClr val="F7F5F2"/>
          </a:solidFill>
          <a:ln/>
        </p:spPr>
        <p:txBody>
          <a:bodyPr/>
          <a:p/>
        </p:txBody>
      </p:sp>
      <p:sp>
        <p:nvSpPr>
          <p:cNvPr id="30" name="Shape 27"/>
          <p:cNvSpPr/>
          <p:nvPr/>
        </p:nvSpPr>
        <p:spPr>
          <a:xfrm>
            <a:off x="3474720" y="3337560"/>
            <a:ext cx="45720" cy="960120"/>
          </a:xfrm>
          <a:prstGeom prst="rect">
            <a:avLst/>
          </a:prstGeom>
          <a:solidFill>
            <a:srgbClr val="A51C30"/>
          </a:solidFill>
          <a:ln/>
        </p:spPr>
        <p:txBody>
          <a:bodyPr/>
          <a:p/>
        </p:txBody>
      </p:sp>
      <p:sp>
        <p:nvSpPr>
          <p:cNvPr id="31" name="Text 28"/>
          <p:cNvSpPr txBox="1"/>
          <p:nvPr/>
        </p:nvSpPr>
        <p:spPr>
          <a:xfrm>
            <a:off x="3675888" y="3410712"/>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40 s</a:t>
            </a:r>
            <a:endParaRPr lang="en-US" sz="2600" dirty="0"/>
          </a:p>
        </p:txBody>
      </p:sp>
      <p:sp>
        <p:nvSpPr>
          <p:cNvPr id="32" name="Text 29"/>
          <p:cNvSpPr txBox="1"/>
          <p:nvPr/>
        </p:nvSpPr>
        <p:spPr>
          <a:xfrm>
            <a:off x="3675888" y="3813048"/>
            <a:ext cx="2240279" cy="438912"/>
          </a:xfrm>
          <a:prstGeom prst="rect">
            <a:avLst/>
          </a:prstGeom>
          <a:noFill/>
          <a:ln/>
        </p:spPr>
        <p:txBody>
          <a:bodyPr wrap="square" lIns="0" tIns="0" rIns="0" bIns="0" rtlCol="0" anchor="t"/>
          <a:lstStyle/>
          <a:p>
            <a:pPr indent="0" marL="0">
              <a:buNone/>
            </a:pPr>
            <a:r>
              <a:rPr lang="en-US" sz="1300" dirty="0">
                <a:solidFill>
                  <a:srgbClr val="4A5058"/>
                </a:solidFill>
              </a:rPr>
              <a:t>A killed node is dead everywhere (five nodes)</a:t>
            </a:r>
            <a:endParaRPr lang="en-US" sz="1300" dirty="0"/>
          </a:p>
        </p:txBody>
      </p:sp>
      <p:sp>
        <p:nvSpPr>
          <p:cNvPr id="33" name="Shape 30"/>
          <p:cNvSpPr/>
          <p:nvPr/>
        </p:nvSpPr>
        <p:spPr>
          <a:xfrm>
            <a:off x="777240" y="4407408"/>
            <a:ext cx="2560320" cy="960120"/>
          </a:xfrm>
          <a:prstGeom prst="rect">
            <a:avLst/>
          </a:prstGeom>
          <a:solidFill>
            <a:srgbClr val="F7F5F2"/>
          </a:solidFill>
          <a:ln/>
        </p:spPr>
        <p:txBody>
          <a:bodyPr/>
          <a:p/>
        </p:txBody>
      </p:sp>
      <p:sp>
        <p:nvSpPr>
          <p:cNvPr id="34" name="Shape 31"/>
          <p:cNvSpPr/>
          <p:nvPr/>
        </p:nvSpPr>
        <p:spPr>
          <a:xfrm>
            <a:off x="777240" y="4407408"/>
            <a:ext cx="45720" cy="960120"/>
          </a:xfrm>
          <a:prstGeom prst="rect">
            <a:avLst/>
          </a:prstGeom>
          <a:solidFill>
            <a:srgbClr val="A51C30"/>
          </a:solidFill>
          <a:ln/>
        </p:spPr>
        <p:txBody>
          <a:bodyPr/>
          <a:p/>
        </p:txBody>
      </p:sp>
      <p:sp>
        <p:nvSpPr>
          <p:cNvPr id="35" name="Text 32"/>
          <p:cNvSpPr txBox="1"/>
          <p:nvPr/>
        </p:nvSpPr>
        <p:spPr>
          <a:xfrm>
            <a:off x="97840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1.0 s</a:t>
            </a:r>
            <a:endParaRPr lang="en-US" sz="2600" dirty="0"/>
          </a:p>
        </p:txBody>
      </p:sp>
      <p:sp>
        <p:nvSpPr>
          <p:cNvPr id="36" name="Text 33"/>
          <p:cNvSpPr txBox="1"/>
          <p:nvPr/>
        </p:nvSpPr>
        <p:spPr>
          <a:xfrm>
            <a:off x="97840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A pack switched on reaches the others' tables</a:t>
            </a:r>
            <a:endParaRPr lang="en-US" sz="1300" dirty="0"/>
          </a:p>
        </p:txBody>
      </p:sp>
      <p:sp>
        <p:nvSpPr>
          <p:cNvPr id="37" name="Shape 34"/>
          <p:cNvSpPr/>
          <p:nvPr/>
        </p:nvSpPr>
        <p:spPr>
          <a:xfrm>
            <a:off x="3474720" y="4407408"/>
            <a:ext cx="2560320" cy="960120"/>
          </a:xfrm>
          <a:prstGeom prst="rect">
            <a:avLst/>
          </a:prstGeom>
          <a:solidFill>
            <a:srgbClr val="F7F5F2"/>
          </a:solidFill>
          <a:ln/>
        </p:spPr>
        <p:txBody>
          <a:bodyPr/>
          <a:p/>
        </p:txBody>
      </p:sp>
      <p:sp>
        <p:nvSpPr>
          <p:cNvPr id="38" name="Shape 35"/>
          <p:cNvSpPr/>
          <p:nvPr/>
        </p:nvSpPr>
        <p:spPr>
          <a:xfrm>
            <a:off x="3474720" y="4407408"/>
            <a:ext cx="45720" cy="960120"/>
          </a:xfrm>
          <a:prstGeom prst="rect">
            <a:avLst/>
          </a:prstGeom>
          <a:solidFill>
            <a:srgbClr val="A51C30"/>
          </a:solidFill>
          <a:ln/>
        </p:spPr>
        <p:txBody>
          <a:bodyPr/>
          <a:p/>
        </p:txBody>
      </p:sp>
      <p:sp>
        <p:nvSpPr>
          <p:cNvPr id="39" name="Text 36"/>
          <p:cNvSpPr txBox="1"/>
          <p:nvPr/>
        </p:nvSpPr>
        <p:spPr>
          <a:xfrm>
            <a:off x="3675888" y="4480560"/>
            <a:ext cx="2240279" cy="384048"/>
          </a:xfrm>
          <a:prstGeom prst="rect">
            <a:avLst/>
          </a:prstGeom>
          <a:noFill/>
          <a:ln/>
        </p:spPr>
        <p:txBody>
          <a:bodyPr wrap="square" lIns="0" tIns="0" rIns="0" bIns="0" rtlCol="0" anchor="ctr"/>
          <a:lstStyle/>
          <a:p>
            <a:pPr indent="0" marL="0">
              <a:buNone/>
            </a:pPr>
            <a:r>
              <a:rPr lang="en-US" sz="2600" b="1" dirty="0">
                <a:solidFill>
                  <a:srgbClr val="8A1626"/>
                </a:solidFill>
              </a:rPr>
              <a:t>13,542</a:t>
            </a:r>
            <a:endParaRPr lang="en-US" sz="2600" dirty="0"/>
          </a:p>
        </p:txBody>
      </p:sp>
      <p:sp>
        <p:nvSpPr>
          <p:cNvPr id="40" name="Text 37"/>
          <p:cNvSpPr txBox="1"/>
          <p:nvPr/>
        </p:nvSpPr>
        <p:spPr>
          <a:xfrm>
            <a:off x="3675888" y="4882896"/>
            <a:ext cx="2240279" cy="438912"/>
          </a:xfrm>
          <a:prstGeom prst="rect">
            <a:avLst/>
          </a:prstGeom>
          <a:noFill/>
          <a:ln/>
        </p:spPr>
        <p:txBody>
          <a:bodyPr wrap="square" lIns="0" tIns="0" rIns="0" bIns="0" rtlCol="0" anchor="t"/>
          <a:lstStyle/>
          <a:p>
            <a:pPr indent="0" marL="0">
              <a:buNone/>
            </a:pPr>
            <a:r>
              <a:rPr lang="en-US" sz="1300" dirty="0">
                <a:solidFill>
                  <a:srgbClr val="4A5058"/>
                </a:solidFill>
              </a:rPr>
              <a:t>Signed calls through a key rotation, none refused</a:t>
            </a:r>
            <a:endParaRPr lang="en-US" sz="1300" dirty="0"/>
          </a:p>
        </p:txBody>
      </p:sp>
      <p:pic>
        <p:nvPicPr>
          <p:cNvPr id="91" name="Admin Net members" descr="Admin -&gt; Net -&gt; Members on drishti-main after drishti-b left: the member table beside the hash ring (one arc per member, green alive, grey left; this node outlined, the console's server dashed; 2 / 3 alive)"/>
          <p:cNvPicPr>
            <a:picLocks noChangeAspect="1"/>
          </p:cNvPicPr>
          <p:nvPr/>
        </p:nvPicPr>
        <p:blipFill>
          <a:blip r:embed="rId4"/>
          <a:stretch>
            <a:fillRect/>
          </a:stretch>
        </p:blipFill>
        <p:spPr>
          <a:xfrm>
            <a:off x="6549322" y="3454750"/>
            <a:ext cx="4862389" cy="1795588"/>
          </a:xfrm>
          <a:prstGeom prst="rect">
            <a:avLst/>
          </a:prstGeom>
        </p:spPr>
      </p:pic>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Each node keeps its own packs, connectors and data — the user cannot tell which one answered; an administrator can.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ON A PHONE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The same terminal in a pocket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81346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7" name="Image 0" descr="/tmp/claude-1000/-home-ashutosh-IdeaProjects-drishti/efa68c11-fb98-4f9a-8faa-96a952090c0e/scratchpad/deck/shots/phone-trade.png">    </p:cNvPr>
          <p:cNvPicPr>
            <a:picLocks noChangeAspect="1"/>
          </p:cNvPicPr>
          <p:nvPr/>
        </p:nvPicPr>
        <p:blipFill>
          <a:blip r:embed="rId1"/>
          <a:stretch>
            <a:fillRect/>
          </a:stretch>
        </p:blipFill>
        <p:spPr>
          <a:xfrm>
            <a:off x="850045" y="1417320"/>
            <a:ext cx="1774629" cy="3840480"/>
          </a:xfrm>
          <a:prstGeom prst="rect">
            <a:avLst/>
          </a:prstGeom>
        </p:spPr>
      </p:pic>
      <p:sp>
        <p:nvSpPr>
          <p:cNvPr id="8" name="Text 4"/>
          <p:cNvSpPr txBox="1"/>
          <p:nvPr/>
        </p:nvSpPr>
        <p:spPr>
          <a:xfrm>
            <a:off x="77724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live trade</a:t>
            </a:r>
            <a:endParaRPr lang="en-US" sz="1050" dirty="0"/>
          </a:p>
        </p:txBody>
      </p:sp>
      <p:sp>
        <p:nvSpPr>
          <p:cNvPr id="9" name="Shape 5"/>
          <p:cNvSpPr/>
          <p:nvPr/>
        </p:nvSpPr>
        <p:spPr>
          <a:xfrm>
            <a:off x="305374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0" name="Image 1" descr="/home/ashutosh/IdeaProjects/drishti/docs/guides/img/about/03-var-phone.jpg">    </p:cNvPr>
          <p:cNvPicPr>
            <a:picLocks noChangeAspect="1"/>
          </p:cNvPicPr>
          <p:nvPr/>
        </p:nvPicPr>
        <p:blipFill>
          <a:blip r:embed="rId2"/>
          <a:stretch>
            <a:fillRect/>
          </a:stretch>
        </p:blipFill>
        <p:spPr>
          <a:xfrm>
            <a:off x="3090325" y="1417320"/>
            <a:ext cx="1774629" cy="3840480"/>
          </a:xfrm>
          <a:prstGeom prst="rect">
            <a:avLst/>
          </a:prstGeom>
        </p:spPr>
      </p:pic>
      <p:sp>
        <p:nvSpPr>
          <p:cNvPr id="11" name="Text 6"/>
          <p:cNvSpPr txBox="1"/>
          <p:nvPr/>
        </p:nvSpPr>
        <p:spPr>
          <a:xfrm>
            <a:off x="301752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About this page</a:t>
            </a:r>
            <a:endParaRPr lang="en-US" sz="1050" dirty="0"/>
          </a:p>
        </p:txBody>
      </p:sp>
      <p:sp>
        <p:nvSpPr>
          <p:cNvPr id="12" name="Shape 7"/>
          <p:cNvSpPr/>
          <p:nvPr/>
        </p:nvSpPr>
        <p:spPr>
          <a:xfrm>
            <a:off x="529402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3" name="Image 2" descr="/home/ashutosh/IdeaProjects/drishti/docs/guides/img/collab/06-shared-phone.jpg">    </p:cNvPr>
          <p:cNvPicPr>
            <a:picLocks noChangeAspect="1"/>
          </p:cNvPicPr>
          <p:nvPr/>
        </p:nvPicPr>
        <p:blipFill>
          <a:blip r:embed="rId3"/>
          <a:stretch>
            <a:fillRect/>
          </a:stretch>
        </p:blipFill>
        <p:spPr>
          <a:xfrm>
            <a:off x="5330605" y="1417320"/>
            <a:ext cx="1774629" cy="3840480"/>
          </a:xfrm>
          <a:prstGeom prst="rect">
            <a:avLst/>
          </a:prstGeom>
        </p:spPr>
      </p:pic>
      <p:sp>
        <p:nvSpPr>
          <p:cNvPr id="14" name="Text 8"/>
          <p:cNvSpPr txBox="1"/>
          <p:nvPr/>
        </p:nvSpPr>
        <p:spPr>
          <a:xfrm>
            <a:off x="525780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A shared view</a:t>
            </a:r>
            <a:endParaRPr lang="en-US" sz="1050" dirty="0"/>
          </a:p>
        </p:txBody>
      </p:sp>
      <p:sp>
        <p:nvSpPr>
          <p:cNvPr id="15" name="Shape 9"/>
          <p:cNvSpPr/>
          <p:nvPr/>
        </p:nvSpPr>
        <p:spPr>
          <a:xfrm>
            <a:off x="7534309" y="1380744"/>
            <a:ext cx="1847781" cy="3913632"/>
          </a:xfrm>
          <a:prstGeom prst="rect">
            <a:avLst/>
          </a:prstGeom>
          <a:solidFill>
            <a:srgbClr val="FFFFFF"/>
          </a:solidFill>
          <a:ln w="12700">
            <a:solidFill>
              <a:srgbClr val="E3DED7"/>
            </a:solidFill>
            <a:prstDash val="solid"/>
          </a:ln>
          <a:effectLst>
            <a:outerShdw sx="100000" sy="100000" kx="0" ky="0" algn="bl" rotWithShape="0" blurRad="76200" dist="25400" dir="5400000">
              <a:srgbClr val="000000">
                <a:alpha val="18000"/>
              </a:srgbClr>
            </a:outerShdw>
          </a:effectLst>
        </p:spPr>
        <p:txBody>
          <a:bodyPr/>
          <a:p/>
        </p:txBody>
      </p:sp>
      <p:pic>
        <p:nvPicPr>
          <p:cNvPr id="16" name="Image 3" descr="/home/ashutosh/IdeaProjects/drishti/docs/guides/img/loads/06-phone.jpg">    </p:cNvPr>
          <p:cNvPicPr>
            <a:picLocks noChangeAspect="1"/>
          </p:cNvPicPr>
          <p:nvPr/>
        </p:nvPicPr>
        <p:blipFill>
          <a:blip r:embed="rId4"/>
          <a:stretch>
            <a:fillRect/>
          </a:stretch>
        </p:blipFill>
        <p:spPr>
          <a:xfrm>
            <a:off x="7570885" y="1417320"/>
            <a:ext cx="1774629" cy="3840480"/>
          </a:xfrm>
          <a:prstGeom prst="rect">
            <a:avLst/>
          </a:prstGeom>
        </p:spPr>
      </p:pic>
      <p:sp>
        <p:nvSpPr>
          <p:cNvPr id="17" name="Text 10"/>
          <p:cNvSpPr txBox="1"/>
          <p:nvPr/>
        </p:nvSpPr>
        <p:spPr>
          <a:xfrm>
            <a:off x="7498080" y="5321808"/>
            <a:ext cx="1920240" cy="274320"/>
          </a:xfrm>
          <a:prstGeom prst="rect">
            <a:avLst/>
          </a:prstGeom>
          <a:noFill/>
          <a:ln/>
        </p:spPr>
        <p:txBody>
          <a:bodyPr wrap="square" lIns="0" tIns="0" rIns="0" bIns="0" rtlCol="0" anchor="t"/>
          <a:lstStyle/>
          <a:p>
            <a:pPr indent="0" marL="0">
              <a:buNone/>
            </a:pPr>
            <a:r>
              <a:rPr lang="en-US" sz="1050" i="1" dirty="0">
                <a:solidFill>
                  <a:srgbClr val="61666E"/>
                </a:solidFill>
              </a:rPr>
              <a:t>Data loads</a:t>
            </a:r>
            <a:endParaRPr lang="en-US" sz="1050" dirty="0"/>
          </a:p>
        </p:txBody>
      </p:sp>
      <p:sp>
        <p:nvSpPr>
          <p:cNvPr id="18" name="Text 11"/>
          <p:cNvSpPr txBox="1"/>
          <p:nvPr/>
        </p:nvSpPr>
        <p:spPr>
          <a:xfrm>
            <a:off x="9738360" y="1417320"/>
            <a:ext cx="1673352" cy="4023360"/>
          </a:xfrm>
          <a:prstGeom prst="rect">
            <a:avLst/>
          </a:prstGeom>
          <a:noFill/>
          <a:ln/>
        </p:spPr>
        <p:txBody>
          <a:bodyPr wrap="square" lIns="0" tIns="0" rIns="0" bIns="0" rtlCol="0" anchor="t"/>
          <a:lstStyle/>
          <a:p>
            <a:pPr indent="0" marL="0">
              <a:buNone/>
            </a:pPr>
            <a:r>
              <a:rPr lang="en-US" sz="1600" b="1" dirty="0">
                <a:solidFill>
                  <a:srgbClr val="A51C30"/>
                </a:solidFill>
              </a:rPr>
              <a:t>▪  44 px</a:t>
            </a:r>
            <a:endParaRPr lang="en-US" sz="1600" dirty="0"/>
          </a:p>
          <a:p>
            <a:pPr indent="0" marL="0">
              <a:spcAft>
                <a:spcPts val="1000"/>
              </a:spcAft>
              <a:buNone/>
            </a:pPr>
            <a:r>
              <a:rPr lang="en-US" sz="1150" dirty="0">
                <a:solidFill>
                  <a:srgbClr val="4A5058"/>
                </a:solidFill>
              </a:rPr>
              <a:t>Every control, on touch screens only</a:t>
            </a:r>
            <a:endParaRPr lang="en-US" sz="1600" dirty="0"/>
          </a:p>
          <a:p>
            <a:pPr indent="0" marL="0">
              <a:buNone/>
            </a:pPr>
            <a:r>
              <a:rPr lang="en-US" sz="1600" b="1" dirty="0">
                <a:solidFill>
                  <a:srgbClr val="A51C30"/>
                </a:solidFill>
              </a:rPr>
              <a:t>▪  390 px</a:t>
            </a:r>
            <a:endParaRPr lang="en-US" sz="1600" dirty="0"/>
          </a:p>
          <a:p>
            <a:pPr indent="0" marL="0">
              <a:spcAft>
                <a:spcPts val="1000"/>
              </a:spcAft>
              <a:buNone/>
            </a:pPr>
            <a:r>
              <a:rPr lang="en-US" sz="1150" dirty="0">
                <a:solidFill>
                  <a:srgbClr val="4A5058"/>
                </a:solidFill>
              </a:rPr>
              <a:t>Every page tested at phone width</a:t>
            </a:r>
            <a:endParaRPr lang="en-US" sz="1600" dirty="0"/>
          </a:p>
          <a:p>
            <a:pPr indent="0" marL="0">
              <a:buNone/>
            </a:pPr>
            <a:r>
              <a:rPr lang="en-US" sz="1600" b="1" dirty="0">
                <a:solidFill>
                  <a:srgbClr val="A51C30"/>
                </a:solidFill>
              </a:rPr>
              <a:t>▪  3 engines</a:t>
            </a:r>
            <a:endParaRPr lang="en-US" sz="1600" dirty="0"/>
          </a:p>
          <a:p>
            <a:pPr indent="0" marL="0">
              <a:spcAft>
                <a:spcPts val="1000"/>
              </a:spcAft>
              <a:buNone/>
            </a:pPr>
            <a:r>
              <a:rPr lang="en-US" sz="1150" dirty="0">
                <a:solidFill>
                  <a:srgbClr val="4A5058"/>
                </a:solidFill>
              </a:rPr>
              <a:t>Embedded views in Chromium, Firefox, WebKit</a:t>
            </a:r>
            <a:endParaRPr lang="en-US" sz="1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03</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Security, drawn as flows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Who you are, what you may see, and what was recorded — kept apart.</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THREE SEAMS, ONE RULE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authorization and audit are kept apart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3410712" cy="3886200"/>
          </a:xfrm>
          <a:prstGeom prst="rect">
            <a:avLst/>
          </a:prstGeom>
          <a:solidFill>
            <a:srgbClr val="F7F5F2"/>
          </a:solidFill>
          <a:ln/>
        </p:spPr>
        <p:txBody>
          <a:bodyPr/>
          <a:p/>
        </p:txBody>
      </p:sp>
      <p:sp>
        <p:nvSpPr>
          <p:cNvPr id="7" name="Shape 4"/>
          <p:cNvSpPr/>
          <p:nvPr/>
        </p:nvSpPr>
        <p:spPr>
          <a:xfrm>
            <a:off x="777240" y="1463040"/>
            <a:ext cx="3410712" cy="868680"/>
          </a:xfrm>
          <a:prstGeom prst="rect">
            <a:avLst/>
          </a:prstGeom>
          <a:solidFill>
            <a:srgbClr val="8A1626"/>
          </a:solidFill>
          <a:ln/>
        </p:spPr>
        <p:txBody>
          <a:bodyPr/>
          <a:p/>
        </p:txBody>
      </p:sp>
      <p:sp>
        <p:nvSpPr>
          <p:cNvPr id="8" name="Text 5"/>
          <p:cNvSpPr txBox="1"/>
          <p:nvPr/>
        </p:nvSpPr>
        <p:spPr>
          <a:xfrm>
            <a:off x="96012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Authentication</a:t>
            </a:r>
            <a:endParaRPr lang="en-US" sz="1800" dirty="0"/>
          </a:p>
          <a:p>
            <a:pPr indent="0" marL="0">
              <a:buNone/>
            </a:pPr>
            <a:r>
              <a:rPr lang="en-US" sz="1250" dirty="0">
                <a:solidFill>
                  <a:srgbClr val="F6E6E9"/>
                </a:solidFill>
              </a:rPr>
              <a:t>Who you are</a:t>
            </a:r>
            <a:endParaRPr lang="en-US" sz="1800" dirty="0"/>
          </a:p>
        </p:txBody>
      </p:sp>
      <p:sp>
        <p:nvSpPr>
          <p:cNvPr id="9" name="Text 6"/>
          <p:cNvSpPr txBox="1"/>
          <p:nvPr/>
        </p:nvSpPr>
        <p:spPr>
          <a:xfrm>
            <a:off x="96012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Local passwords: PBKDF2-SHA256, 240,000 iterations</a:t>
            </a:r>
            <a:endParaRPr lang="en-US" sz="1300" dirty="0"/>
          </a:p>
          <a:p>
            <a:pPr marL="342900" indent="-342900">
              <a:spcAft>
                <a:spcPts val="800"/>
              </a:spcAft>
              <a:buSzPct val="100000"/>
              <a:buChar char="•"/>
            </a:pPr>
            <a:r>
              <a:rPr lang="en-US" sz="1300" dirty="0">
                <a:solidFill>
                  <a:srgbClr val="1A1A1A"/>
                </a:solidFill>
              </a:rPr>
              <a:t>Or SSO over OIDC: Keycloak, Entra, Okta, Ping</a:t>
            </a:r>
            <a:endParaRPr lang="en-US" sz="1300" dirty="0"/>
          </a:p>
          <a:p>
            <a:pPr marL="342900" indent="-342900">
              <a:spcAft>
                <a:spcPts val="800"/>
              </a:spcAft>
              <a:buSzPct val="100000"/>
              <a:buChar char="•"/>
            </a:pPr>
            <a:r>
              <a:rPr lang="en-US" sz="1300" dirty="0">
                <a:solidFill>
                  <a:srgbClr val="1A1A1A"/>
                </a:solidFill>
              </a:rPr>
              <a:t>Lockout after 5 failures in 15 minutes</a:t>
            </a:r>
            <a:endParaRPr lang="en-US" sz="1300" dirty="0"/>
          </a:p>
          <a:p>
            <a:pPr marL="342900" indent="-342900">
              <a:spcAft>
                <a:spcPts val="800"/>
              </a:spcAft>
              <a:buSzPct val="100000"/>
              <a:buChar char="•"/>
            </a:pPr>
            <a:r>
              <a:rPr lang="en-US" sz="1300" dirty="0">
                <a:solidFill>
                  <a:srgbClr val="1A1A1A"/>
                </a:solidFill>
              </a:rPr>
              <a:t>Disable a user and their sessions end everywhere</a:t>
            </a:r>
            <a:endParaRPr lang="en-US" sz="1300" dirty="0"/>
          </a:p>
        </p:txBody>
      </p:sp>
      <p:sp>
        <p:nvSpPr>
          <p:cNvPr id="10" name="Shape 7"/>
          <p:cNvSpPr/>
          <p:nvPr/>
        </p:nvSpPr>
        <p:spPr>
          <a:xfrm>
            <a:off x="4389120" y="1463040"/>
            <a:ext cx="3410712" cy="3886200"/>
          </a:xfrm>
          <a:prstGeom prst="rect">
            <a:avLst/>
          </a:prstGeom>
          <a:solidFill>
            <a:srgbClr val="F7F5F2"/>
          </a:solidFill>
          <a:ln/>
        </p:spPr>
        <p:txBody>
          <a:bodyPr/>
          <a:p/>
        </p:txBody>
      </p:sp>
      <p:sp>
        <p:nvSpPr>
          <p:cNvPr id="11" name="Shape 8"/>
          <p:cNvSpPr/>
          <p:nvPr/>
        </p:nvSpPr>
        <p:spPr>
          <a:xfrm>
            <a:off x="4389120" y="1463040"/>
            <a:ext cx="3410712" cy="868680"/>
          </a:xfrm>
          <a:prstGeom prst="rect">
            <a:avLst/>
          </a:prstGeom>
          <a:solidFill>
            <a:srgbClr val="8A1626"/>
          </a:solidFill>
          <a:ln/>
        </p:spPr>
        <p:txBody>
          <a:bodyPr/>
          <a:p/>
        </p:txBody>
      </p:sp>
      <p:sp>
        <p:nvSpPr>
          <p:cNvPr id="12" name="Text 9"/>
          <p:cNvSpPr txBox="1"/>
          <p:nvPr/>
        </p:nvSpPr>
        <p:spPr>
          <a:xfrm>
            <a:off x="457200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Authorization</a:t>
            </a:r>
            <a:endParaRPr lang="en-US" sz="1800" dirty="0"/>
          </a:p>
          <a:p>
            <a:pPr indent="0" marL="0">
              <a:buNone/>
            </a:pPr>
            <a:r>
              <a:rPr lang="en-US" sz="1250" dirty="0">
                <a:solidFill>
                  <a:srgbClr val="F6E6E9"/>
                </a:solidFill>
              </a:rPr>
              <a:t>What you may see and do</a:t>
            </a:r>
            <a:endParaRPr lang="en-US" sz="1800" dirty="0"/>
          </a:p>
        </p:txBody>
      </p:sp>
      <p:sp>
        <p:nvSpPr>
          <p:cNvPr id="13" name="Text 10"/>
          <p:cNvSpPr txBox="1"/>
          <p:nvPr/>
        </p:nvSpPr>
        <p:spPr>
          <a:xfrm>
            <a:off x="457200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Roles name the kinds you may open</a:t>
            </a:r>
            <a:endParaRPr lang="en-US" sz="1300" dirty="0"/>
          </a:p>
          <a:p>
            <a:pPr marL="342900" indent="-342900">
              <a:spcAft>
                <a:spcPts val="800"/>
              </a:spcAft>
              <a:buSzPct val="100000"/>
              <a:buChar char="•"/>
            </a:pPr>
            <a:r>
              <a:rPr lang="en-US" sz="1300" dirty="0">
                <a:solidFill>
                  <a:srgbClr val="1A1A1A"/>
                </a:solidFill>
              </a:rPr>
              <a:t>Powers: raw, author, approve, calc, layout; BI: bi, bi-author, bi-steward</a:t>
            </a:r>
            <a:endParaRPr lang="en-US" sz="1300" dirty="0"/>
          </a:p>
          <a:p>
            <a:pPr marL="342900" indent="-342900">
              <a:spcAft>
                <a:spcPts val="800"/>
              </a:spcAft>
              <a:buSzPct val="100000"/>
              <a:buChar char="•"/>
            </a:pPr>
            <a:r>
              <a:rPr lang="en-US" sz="1300" dirty="0">
                <a:solidFill>
                  <a:srgbClr val="1A1A1A"/>
                </a:solidFill>
              </a:rPr>
              <a:t>Masked fields shown as ••• without raw</a:t>
            </a:r>
            <a:endParaRPr lang="en-US" sz="1300" dirty="0"/>
          </a:p>
          <a:p>
            <a:pPr marL="342900" indent="-342900">
              <a:spcAft>
                <a:spcPts val="800"/>
              </a:spcAft>
              <a:buSzPct val="100000"/>
              <a:buChar char="•"/>
            </a:pPr>
            <a:r>
              <a:rPr lang="en-US" sz="1300" dirty="0">
                <a:solidFill>
                  <a:srgbClr val="1A1A1A"/>
                </a:solidFill>
              </a:rPr>
              <a:t>Packs assigned per user</a:t>
            </a:r>
            <a:endParaRPr lang="en-US" sz="1300" dirty="0"/>
          </a:p>
        </p:txBody>
      </p:sp>
      <p:sp>
        <p:nvSpPr>
          <p:cNvPr id="14" name="Shape 11"/>
          <p:cNvSpPr/>
          <p:nvPr/>
        </p:nvSpPr>
        <p:spPr>
          <a:xfrm>
            <a:off x="8001000" y="1463040"/>
            <a:ext cx="3410712" cy="3886200"/>
          </a:xfrm>
          <a:prstGeom prst="rect">
            <a:avLst/>
          </a:prstGeom>
          <a:solidFill>
            <a:srgbClr val="F7F5F2"/>
          </a:solidFill>
          <a:ln/>
        </p:spPr>
        <p:txBody>
          <a:bodyPr/>
          <a:p/>
        </p:txBody>
      </p:sp>
      <p:sp>
        <p:nvSpPr>
          <p:cNvPr id="15" name="Shape 12"/>
          <p:cNvSpPr/>
          <p:nvPr/>
        </p:nvSpPr>
        <p:spPr>
          <a:xfrm>
            <a:off x="8001000" y="1463040"/>
            <a:ext cx="3410712" cy="868680"/>
          </a:xfrm>
          <a:prstGeom prst="rect">
            <a:avLst/>
          </a:prstGeom>
          <a:solidFill>
            <a:srgbClr val="8A1626"/>
          </a:solidFill>
          <a:ln/>
        </p:spPr>
        <p:txBody>
          <a:bodyPr/>
          <a:p/>
        </p:txBody>
      </p:sp>
      <p:sp>
        <p:nvSpPr>
          <p:cNvPr id="16" name="Text 13"/>
          <p:cNvSpPr txBox="1"/>
          <p:nvPr/>
        </p:nvSpPr>
        <p:spPr>
          <a:xfrm>
            <a:off x="8183880" y="1463040"/>
            <a:ext cx="3044952" cy="868680"/>
          </a:xfrm>
          <a:prstGeom prst="rect">
            <a:avLst/>
          </a:prstGeom>
          <a:noFill/>
          <a:ln/>
        </p:spPr>
        <p:txBody>
          <a:bodyPr wrap="square" lIns="0" tIns="0" rIns="0" bIns="0" rtlCol="0" anchor="ctr"/>
          <a:lstStyle/>
          <a:p>
            <a:pPr indent="0" marL="0">
              <a:buNone/>
            </a:pPr>
            <a:r>
              <a:rPr lang="en-US" sz="1800" b="1" dirty="0">
                <a:solidFill>
                  <a:srgbClr val="FFFFFF"/>
                </a:solidFill>
              </a:rPr>
              <a:t>Audit</a:t>
            </a:r>
            <a:endParaRPr lang="en-US" sz="1800" dirty="0"/>
          </a:p>
          <a:p>
            <a:pPr indent="0" marL="0">
              <a:buNone/>
            </a:pPr>
            <a:r>
              <a:rPr lang="en-US" sz="1250" dirty="0">
                <a:solidFill>
                  <a:srgbClr val="F6E6E9"/>
                </a:solidFill>
              </a:rPr>
              <a:t>What happened</a:t>
            </a:r>
            <a:endParaRPr lang="en-US" sz="1800" dirty="0"/>
          </a:p>
        </p:txBody>
      </p:sp>
      <p:sp>
        <p:nvSpPr>
          <p:cNvPr id="17" name="Text 14"/>
          <p:cNvSpPr txBox="1"/>
          <p:nvPr/>
        </p:nvSpPr>
        <p:spPr>
          <a:xfrm>
            <a:off x="8183880" y="2514600"/>
            <a:ext cx="3090672" cy="27432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1A1A1A"/>
                </a:solidFill>
              </a:rPr>
              <a:t>Sign-ins, changes, token use, purges</a:t>
            </a:r>
            <a:endParaRPr lang="en-US" sz="1300" dirty="0"/>
          </a:p>
          <a:p>
            <a:pPr marL="342900" indent="-342900">
              <a:spcAft>
                <a:spcPts val="800"/>
              </a:spcAft>
              <a:buSzPct val="100000"/>
              <a:buChar char="•"/>
            </a:pPr>
            <a:r>
              <a:rPr lang="en-US" sz="1300" dirty="0">
                <a:solidFill>
                  <a:srgbClr val="1A1A1A"/>
                </a:solidFill>
              </a:rPr>
              <a:t>Access log: who viewed what, for which date</a:t>
            </a:r>
            <a:endParaRPr lang="en-US" sz="1300" dirty="0"/>
          </a:p>
          <a:p>
            <a:pPr marL="342900" indent="-342900">
              <a:spcAft>
                <a:spcPts val="800"/>
              </a:spcAft>
              <a:buSzPct val="100000"/>
              <a:buChar char="•"/>
            </a:pPr>
            <a:r>
              <a:rPr lang="en-US" sz="1300" dirty="0">
                <a:solidFill>
                  <a:srgbClr val="1A1A1A"/>
                </a:solidFill>
              </a:rPr>
              <a:t>Hash-chained collaboration, sealed</a:t>
            </a:r>
            <a:endParaRPr lang="en-US" sz="1300" dirty="0"/>
          </a:p>
          <a:p>
            <a:pPr marL="342900" indent="-342900">
              <a:spcAft>
                <a:spcPts val="800"/>
              </a:spcAft>
              <a:buSzPct val="100000"/>
              <a:buChar char="•"/>
            </a:pPr>
            <a:r>
              <a:rPr lang="en-US" sz="1300" dirty="0">
                <a:solidFill>
                  <a:srgbClr val="1A1A1A"/>
                </a:solidFill>
              </a:rPr>
              <a:t>Legal holds and an eDiscovery export</a:t>
            </a:r>
            <a:endParaRPr lang="en-US" sz="1300" dirty="0"/>
          </a:p>
        </p:txBody>
      </p:sp>
      <p:sp>
        <p:nvSpPr>
          <p:cNvPr id="18" name="Shape 15"/>
          <p:cNvSpPr/>
          <p:nvPr/>
        </p:nvSpPr>
        <p:spPr>
          <a:xfrm>
            <a:off x="777240" y="5550408"/>
            <a:ext cx="10634472" cy="694944"/>
          </a:xfrm>
          <a:prstGeom prst="rect">
            <a:avLst/>
          </a:prstGeom>
          <a:solidFill>
            <a:srgbClr val="F6E6E9"/>
          </a:solidFill>
          <a:ln/>
        </p:spPr>
        <p:txBody>
          <a:bodyPr/>
          <a:p/>
        </p:txBody>
      </p:sp>
      <p:sp>
        <p:nvSpPr>
          <p:cNvPr id="19" name="Shape 16"/>
          <p:cNvSpPr/>
          <p:nvPr/>
        </p:nvSpPr>
        <p:spPr>
          <a:xfrm>
            <a:off x="777240" y="5550408"/>
            <a:ext cx="54864" cy="694944"/>
          </a:xfrm>
          <a:prstGeom prst="rect">
            <a:avLst/>
          </a:prstGeom>
          <a:solidFill>
            <a:srgbClr val="A51C30"/>
          </a:solidFill>
          <a:ln/>
        </p:spPr>
        <p:txBody>
          <a:bodyPr/>
          <a:p/>
        </p:txBody>
      </p:sp>
      <p:sp>
        <p:nvSpPr>
          <p:cNvPr id="20" name="Text 17"/>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mask is applied where a value leaves — in views, search, emails, chat bridges and snapshots alike.</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SIGNING IN</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Authentication — a person signs in to the console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309360" cy="3977640"/>
          </a:xfrm>
          <a:prstGeom prst="rect">
            <a:avLst/>
          </a:prstGeom>
          <a:solidFill>
            <a:srgbClr val="1E1E24"/>
          </a:solidFill>
          <a:ln/>
        </p:spPr>
        <p:txBody>
          <a:bodyPr/>
          <a:p/>
        </p:txBody>
      </p:sp>
      <p:sp>
        <p:nvSpPr>
          <p:cNvPr id="7" name="Shape 4"/>
          <p:cNvSpPr/>
          <p:nvPr/>
        </p:nvSpPr>
        <p:spPr>
          <a:xfrm>
            <a:off x="777240" y="1417320"/>
            <a:ext cx="6309360" cy="384048"/>
          </a:xfrm>
          <a:prstGeom prst="rect">
            <a:avLst/>
          </a:prstGeom>
          <a:solidFill>
            <a:srgbClr val="8A1626"/>
          </a:solidFill>
          <a:ln/>
        </p:spPr>
        <p:txBody>
          <a:bodyPr/>
          <a:p/>
        </p:txBody>
      </p:sp>
      <p:sp>
        <p:nvSpPr>
          <p:cNvPr id="8" name="Text 5"/>
          <p:cNvSpPr txBox="1"/>
          <p:nvPr/>
        </p:nvSpPr>
        <p:spPr>
          <a:xfrm>
            <a:off x="960120" y="1417320"/>
            <a:ext cx="5943600" cy="384048"/>
          </a:xfrm>
          <a:prstGeom prst="rect">
            <a:avLst/>
          </a:prstGeom>
          <a:noFill/>
          <a:ln/>
        </p:spPr>
        <p:txBody>
          <a:bodyPr wrap="square" lIns="0" tIns="0" rIns="0" bIns="0" rtlCol="0" anchor="ctr"/>
          <a:lstStyle/>
          <a:p>
            <a:pPr indent="0" marL="0">
              <a:buNone/>
            </a:pPr>
            <a:r>
              <a:rPr lang="en-US" sz="1300" b="1" dirty="0">
                <a:solidFill>
                  <a:srgbClr val="FFFFFF"/>
                </a:solidFill>
              </a:rPr>
              <a:t>Browser  →  Console  →  Server</a:t>
            </a:r>
            <a:endParaRPr lang="en-US" sz="1300" dirty="0"/>
          </a:p>
        </p:txBody>
      </p:sp>
      <p:sp>
        <p:nvSpPr>
          <p:cNvPr id="9" name="Text 6"/>
          <p:cNvSpPr txBox="1"/>
          <p:nvPr/>
        </p:nvSpPr>
        <p:spPr>
          <a:xfrm>
            <a:off x="978408" y="1920240"/>
            <a:ext cx="5907024" cy="3364992"/>
          </a:xfrm>
          <a:prstGeom prst="rect">
            <a:avLst/>
          </a:prstGeom>
          <a:noFill/>
          <a:ln/>
        </p:spPr>
        <p:txBody>
          <a:bodyPr wrap="square" lIns="0" tIns="0" rIns="0" bIns="0" rtlCol="0" anchor="t"/>
          <a:lstStyle/>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1. Browser → console: any page but landing, help</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 303 to /login (or to the identity provider)</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2. Password: server checks PBKDF2-SHA256 hash</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or OIDC: server verifies the ID token itself</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3. Server → signed session; console sets cookie</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HttpOnly, SameSite=Lax, Secure by default</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4. Every write: same-origin check (else 403)</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and JSON only (else 415)</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5. Every 10 s: is this user still enabled?</a:t>
            </a:r>
            <a:endParaRPr lang="en-US" sz="1200" dirty="0"/>
          </a:p>
          <a:p>
            <a:pPr indent="0" marL="0">
              <a:lnSpc>
                <a:spcPct val="105000"/>
              </a:lnSpc>
              <a:buNone/>
            </a:pPr>
            <a:r>
              <a:rPr lang="en-US" sz="1200" dirty="0">
                <a:solidFill>
                  <a:srgbClr val="E8B8C0"/>
                </a:solidFill>
                <a:latin typeface="Courier New" pitchFamily="34" charset="0"/>
                <a:ea typeface="Courier New" pitchFamily="34" charset="-122"/>
                <a:cs typeface="Courier New" pitchFamily="34" charset="-120"/>
              </a:rPr>
              <a:t>   disabled, deleted or reset → session ends</a:t>
            </a:r>
            <a:endParaRPr lang="en-US" sz="1200" dirty="0"/>
          </a:p>
        </p:txBody>
      </p:sp>
      <p:sp>
        <p:nvSpPr>
          <p:cNvPr id="10" name="Text 7"/>
          <p:cNvSpPr txBox="1"/>
          <p:nvPr/>
        </p:nvSpPr>
        <p:spPr>
          <a:xfrm>
            <a:off x="7406640" y="1417320"/>
            <a:ext cx="4005072" cy="3977640"/>
          </a:xfrm>
          <a:prstGeom prst="rect">
            <a:avLst/>
          </a:prstGeom>
          <a:noFill/>
          <a:ln/>
        </p:spPr>
        <p:txBody>
          <a:bodyPr wrap="square" lIns="0" tIns="0" rIns="0" bIns="0" rtlCol="0" anchor="t"/>
          <a:lstStyle/>
          <a:p>
            <a:pPr indent="0" marL="0">
              <a:buNone/>
            </a:pPr>
            <a:r>
              <a:rPr lang="en-US" sz="1500" b="1" dirty="0">
                <a:solidFill>
                  <a:srgbClr val="A51C30"/>
                </a:solidFill>
              </a:rPr>
              <a:t>▪  Lockout</a:t>
            </a:r>
            <a:endParaRPr lang="en-US" sz="1500" dirty="0"/>
          </a:p>
          <a:p>
            <a:pPr indent="0" marL="0">
              <a:spcAft>
                <a:spcPts val="900"/>
              </a:spcAft>
              <a:buNone/>
            </a:pPr>
            <a:r>
              <a:rPr lang="en-US" sz="1300" dirty="0">
                <a:solidFill>
                  <a:srgbClr val="4A5058"/>
                </a:solidFill>
              </a:rPr>
              <a:t>Five failed sign-ins lock the account for fifteen minutes; an admin's reset unlocks it.</a:t>
            </a:r>
            <a:endParaRPr lang="en-US" sz="1500" dirty="0"/>
          </a:p>
          <a:p>
            <a:pPr indent="0" marL="0">
              <a:buNone/>
            </a:pPr>
            <a:r>
              <a:rPr lang="en-US" sz="1500" b="1" dirty="0">
                <a:solidFill>
                  <a:srgbClr val="A51C30"/>
                </a:solidFill>
              </a:rPr>
              <a:t>▪  The last admin is protected</a:t>
            </a:r>
            <a:endParaRPr lang="en-US" sz="1500" dirty="0"/>
          </a:p>
          <a:p>
            <a:pPr indent="0" marL="0">
              <a:spcAft>
                <a:spcPts val="900"/>
              </a:spcAft>
              <a:buNone/>
            </a:pPr>
            <a:r>
              <a:rPr lang="en-US" sz="1300" dirty="0">
                <a:solidFill>
                  <a:srgbClr val="4A5058"/>
                </a:solidFill>
              </a:rPr>
              <a:t>You cannot remove the last administrator, on any node of a cluster.</a:t>
            </a:r>
            <a:endParaRPr lang="en-US" sz="1500" dirty="0"/>
          </a:p>
          <a:p>
            <a:pPr indent="0" marL="0">
              <a:buNone/>
            </a:pPr>
            <a:r>
              <a:rPr lang="en-US" sz="1500" b="1" dirty="0">
                <a:solidFill>
                  <a:srgbClr val="A51C30"/>
                </a:solidFill>
              </a:rPr>
              <a:t>▪  Forced change</a:t>
            </a:r>
            <a:endParaRPr lang="en-US" sz="1500" dirty="0"/>
          </a:p>
          <a:p>
            <a:pPr indent="0" marL="0">
              <a:spcAft>
                <a:spcPts val="900"/>
              </a:spcAft>
              <a:buNone/>
            </a:pPr>
            <a:r>
              <a:rPr lang="en-US" sz="1300" dirty="0">
                <a:solidFill>
                  <a:srgbClr val="4A5058"/>
                </a:solidFill>
              </a:rPr>
              <a:t>The development admin is flagged in every page until its password changes.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cross-site form cannot post: writes must come from the console and must be JSON.</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PERSONAL API TOKENS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Authorization — a script acts as its owner, never as more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6675120" cy="914400"/>
        </p:xfrm>
        <a:graphic>
          <a:graphicData uri="http://schemas.openxmlformats.org/drawingml/2006/table">
            <a:tbl>
              <a:tblPr/>
              <a:tblGrid>
                <a:gridCol w="1600200"/>
                <a:gridCol w="2926080"/>
                <a:gridCol w="2148840"/>
              </a:tblGrid>
              <a:tr h="658368">
                <a:tc>
                  <a:txBody>
                    <a:bodyPr/>
                    <a:lstStyle/>
                    <a:p>
                      <a:pPr indent="0" marL="0">
                        <a:buNone/>
                      </a:pPr>
                      <a:r>
                        <a:rPr lang="en-US" sz="1350" b="1" dirty="0">
                          <a:solidFill>
                            <a:srgbClr val="FFFFFF"/>
                          </a:solidFill>
                        </a:rPr>
                        <a:t>Scope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Opens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Still required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658368">
                <a:tc>
                  <a:txBody>
                    <a:bodyPr/>
                    <a:lstStyle/>
                    <a:p>
                      <a:pPr indent="0" marL="0">
                        <a:buNone/>
                      </a:pPr>
                      <a:r>
                        <a:rPr lang="en-US" sz="1350" b="1" dirty="0">
                          <a:solidFill>
                            <a:srgbClr val="8A1626"/>
                          </a:solidFill>
                        </a:rPr>
                        <a:t>(none)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Read: views, search, explain, read-only commands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owner's roles and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design:write · bi:write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Create and save designs and BI items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author or bi-author power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design:approve · bi:approve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Approve someone else's design or BI item</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approve power; never your own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658368">
                <a:tc>
                  <a:txBody>
                    <a:bodyPr/>
                    <a:lstStyle/>
                    <a:p>
                      <a:pPr indent="0" marL="0">
                        <a:buNone/>
                      </a:pPr>
                      <a:r>
                        <a:rPr lang="en-US" sz="1350" b="1" dirty="0">
                          <a:solidFill>
                            <a:srgbClr val="8A1626"/>
                          </a:solidFill>
                        </a:rPr>
                        <a:t>packs:admin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Deploy, roll back and switch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admin role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658368">
                <a:tc>
                  <a:txBody>
                    <a:bodyPr/>
                    <a:lstStyle/>
                    <a:p>
                      <a:pPr indent="0" marL="0">
                        <a:buNone/>
                      </a:pPr>
                      <a:r>
                        <a:rPr lang="en-US" sz="1350" b="1" dirty="0">
                          <a:solidFill>
                            <a:srgbClr val="8A1626"/>
                          </a:solidFill>
                        </a:rPr>
                        <a:t>loads:write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Say a batch of data landed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pack in the owner's packs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7" name="Text 3"/>
          <p:cNvSpPr txBox="1"/>
          <p:nvPr/>
        </p:nvSpPr>
        <p:spPr>
          <a:xfrm>
            <a:off x="7726680" y="1463040"/>
            <a:ext cx="3685032" cy="3931920"/>
          </a:xfrm>
          <a:prstGeom prst="rect">
            <a:avLst/>
          </a:prstGeom>
          <a:noFill/>
          <a:ln/>
        </p:spPr>
        <p:txBody>
          <a:bodyPr wrap="square" lIns="0" tIns="0" rIns="0" bIns="0" rtlCol="0" anchor="t"/>
          <a:lstStyle/>
          <a:p>
            <a:pPr indent="0" marL="0">
              <a:buNone/>
            </a:pPr>
            <a:r>
              <a:rPr lang="en-US" sz="1500" b="1" dirty="0">
                <a:solidFill>
                  <a:srgbClr val="A51C30"/>
                </a:solidFill>
              </a:rPr>
              <a:t>▪  Hashes only</a:t>
            </a:r>
            <a:endParaRPr lang="en-US" sz="1500" dirty="0"/>
          </a:p>
          <a:p>
            <a:pPr indent="0" marL="0">
              <a:spcAft>
                <a:spcPts val="900"/>
              </a:spcAft>
              <a:buNone/>
            </a:pPr>
            <a:r>
              <a:rPr lang="en-US" sz="1300" dirty="0">
                <a:solidFill>
                  <a:srgbClr val="4A5058"/>
                </a:solidFill>
              </a:rPr>
              <a:t>Secrets are stored as SHA-256; shown once.</a:t>
            </a:r>
            <a:endParaRPr lang="en-US" sz="1500" dirty="0"/>
          </a:p>
          <a:p>
            <a:pPr indent="0" marL="0">
              <a:buNone/>
            </a:pPr>
            <a:r>
              <a:rPr lang="en-US" sz="1500" b="1" dirty="0">
                <a:solidFill>
                  <a:srgbClr val="A51C30"/>
                </a:solidFill>
              </a:rPr>
              <a:t>▪  Write scopes expire</a:t>
            </a:r>
            <a:endParaRPr lang="en-US" sz="1500" dirty="0"/>
          </a:p>
          <a:p>
            <a:pPr indent="0" marL="0">
              <a:spcAft>
                <a:spcPts val="900"/>
              </a:spcAft>
              <a:buNone/>
            </a:pPr>
            <a:r>
              <a:rPr lang="en-US" sz="1300" dirty="0">
                <a:solidFill>
                  <a:srgbClr val="4A5058"/>
                </a:solidFill>
              </a:rPr>
              <a:t>At most 90 days.</a:t>
            </a:r>
            <a:endParaRPr lang="en-US" sz="1500" dirty="0"/>
          </a:p>
          <a:p>
            <a:pPr indent="0" marL="0">
              <a:buNone/>
            </a:pPr>
            <a:r>
              <a:rPr lang="en-US" sz="1500" b="1" dirty="0">
                <a:solidFill>
                  <a:srgbClr val="A51C30"/>
                </a:solidFill>
              </a:rPr>
              <a:t>▪  Never open</a:t>
            </a:r>
            <a:endParaRPr lang="en-US" sz="1500" dirty="0"/>
          </a:p>
          <a:p>
            <a:pPr indent="0" marL="0">
              <a:spcAft>
                <a:spcPts val="900"/>
              </a:spcAft>
              <a:buNone/>
            </a:pPr>
            <a:r>
              <a:rPr lang="en-US" sz="1300" dirty="0">
                <a:solidFill>
                  <a:srgbClr val="4A5058"/>
                </a:solidFill>
              </a:rPr>
              <a:t>Users, roles, tokens, sign-in, caches and collaboration state.</a:t>
            </a:r>
            <a:endParaRPr lang="en-US" sz="1500" dirty="0"/>
          </a:p>
          <a:p>
            <a:pPr indent="0" marL="0">
              <a:buNone/>
            </a:pPr>
            <a:r>
              <a:rPr lang="en-US" sz="1500" b="1" dirty="0">
                <a:solidFill>
                  <a:srgbClr val="A51C30"/>
                </a:solidFill>
              </a:rPr>
              <a:t>▪  Audited</a:t>
            </a:r>
            <a:endParaRPr lang="en-US" sz="1500" dirty="0"/>
          </a:p>
          <a:p>
            <a:pPr indent="0" marL="0">
              <a:spcAft>
                <a:spcPts val="900"/>
              </a:spcAft>
              <a:buNone/>
            </a:pPr>
            <a:r>
              <a:rPr lang="en-US" sz="1300" dirty="0">
                <a:solidFill>
                  <a:srgbClr val="4A5058"/>
                </a:solidFill>
              </a:rPr>
              <a:t>Every write and every refusal.</a:t>
            </a:r>
            <a:endParaRPr lang="en-US" sz="1500" dirty="0"/>
          </a:p>
        </p:txBody>
      </p:sp>
      <p:sp>
        <p:nvSpPr>
          <p:cNvPr id="8" name="Shape 4"/>
          <p:cNvSpPr/>
          <p:nvPr/>
        </p:nvSpPr>
        <p:spPr>
          <a:xfrm>
            <a:off x="777240" y="5550408"/>
            <a:ext cx="10634472" cy="694944"/>
          </a:xfrm>
          <a:prstGeom prst="rect">
            <a:avLst/>
          </a:prstGeom>
          <a:solidFill>
            <a:srgbClr val="F6E6E9"/>
          </a:solidFill>
          <a:ln/>
        </p:spPr>
        <p:txBody>
          <a:bodyPr/>
          <a:p/>
        </p:txBody>
      </p:sp>
      <p:sp>
        <p:nvSpPr>
          <p:cNvPr id="9" name="Shape 5"/>
          <p:cNvSpPr/>
          <p:nvPr/>
        </p:nvSpPr>
        <p:spPr>
          <a:xfrm>
            <a:off x="777240" y="5550408"/>
            <a:ext cx="54864" cy="694944"/>
          </a:xfrm>
          <a:prstGeom prst="rect">
            <a:avLst/>
          </a:prstGeom>
          <a:solidFill>
            <a:srgbClr val="A51C30"/>
          </a:solidFill>
          <a:ln/>
        </p:spPr>
        <p:txBody>
          <a:bodyPr/>
          <a:p/>
        </p:txBody>
      </p:sp>
      <p:sp>
        <p:nvSpPr>
          <p:cNvPr id="10"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scope only opens the endpoint — the owner's roles are still checked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FLOW · EMBEDDING A VIEW IN ANOTHER APP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Token exchange — the host proves itself, and the user</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583680" cy="3977640"/>
          </a:xfrm>
          <a:prstGeom prst="rect">
            <a:avLst/>
          </a:prstGeom>
          <a:solidFill>
            <a:srgbClr val="1E1E24"/>
          </a:solidFill>
          <a:ln/>
        </p:spPr>
        <p:txBody>
          <a:bodyPr/>
          <a:p/>
        </p:txBody>
      </p:sp>
      <p:sp>
        <p:nvSpPr>
          <p:cNvPr id="7" name="Shape 4"/>
          <p:cNvSpPr/>
          <p:nvPr/>
        </p:nvSpPr>
        <p:spPr>
          <a:xfrm>
            <a:off x="777240" y="1417320"/>
            <a:ext cx="6583680" cy="384048"/>
          </a:xfrm>
          <a:prstGeom prst="rect">
            <a:avLst/>
          </a:prstGeom>
          <a:solidFill>
            <a:srgbClr val="8A1626"/>
          </a:solidFill>
          <a:ln/>
        </p:spPr>
        <p:txBody>
          <a:bodyPr/>
          <a:p/>
        </p:txBody>
      </p:sp>
      <p:sp>
        <p:nvSpPr>
          <p:cNvPr id="8" name="Text 5"/>
          <p:cNvSpPr txBox="1"/>
          <p:nvPr/>
        </p:nvSpPr>
        <p:spPr>
          <a:xfrm>
            <a:off x="960120" y="1417320"/>
            <a:ext cx="6217920" cy="384048"/>
          </a:xfrm>
          <a:prstGeom prst="rect">
            <a:avLst/>
          </a:prstGeom>
          <a:noFill/>
          <a:ln/>
        </p:spPr>
        <p:txBody>
          <a:bodyPr wrap="square" lIns="0" tIns="0" rIns="0" bIns="0" rtlCol="0" anchor="ctr"/>
          <a:lstStyle/>
          <a:p>
            <a:pPr indent="0" marL="0">
              <a:buNone/>
            </a:pPr>
            <a:r>
              <a:rPr lang="en-US" sz="1300" b="1" dirty="0">
                <a:solidFill>
                  <a:srgbClr val="FFFFFF"/>
                </a:solidFill>
              </a:rPr>
              <a:t>Host app  →  Server  →  Console  →  Browser</a:t>
            </a:r>
            <a:endParaRPr lang="en-US" sz="1300" dirty="0"/>
          </a:p>
        </p:txBody>
      </p:sp>
      <p:sp>
        <p:nvSpPr>
          <p:cNvPr id="9" name="Text 6"/>
          <p:cNvSpPr txBox="1"/>
          <p:nvPr/>
        </p:nvSpPr>
        <p:spPr>
          <a:xfrm>
            <a:off x="978408" y="1920240"/>
            <a:ext cx="6181344" cy="3364992"/>
          </a:xfrm>
          <a:prstGeom prst="rect">
            <a:avLst/>
          </a:prstGeom>
          <a:noFill/>
          <a:ln/>
        </p:spPr>
        <p:txBody>
          <a:bodyPr wrap="square" lIns="0" tIns="0" rIns="0" bIns="0" rtlCol="0" anchor="t"/>
          <a:lstStyle/>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1. Host server → POST /api/v1/embed/token  (RFC 8693)</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client: secret (hash stored) or private_key_jwt</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subject: the IdP's ID token, or a host-signed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assertion (≤ 60 s, used once)</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2. Server → ES256 token, 300 s (max 900)</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audience = app, origin-bound, scopes embed:view</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3. Browser → console /embed/v1/... with the token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console checks signature (JWKS), audience, origin</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4. Server checks again: app, user, origin, kind,</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   rate limit — and always masks</a:t>
            </a:r>
            <a:endParaRPr lang="en-US" sz="1150" dirty="0"/>
          </a:p>
          <a:p>
            <a:pPr indent="0" marL="0">
              <a:lnSpc>
                <a:spcPct val="105000"/>
              </a:lnSpc>
              <a:buNone/>
            </a:pPr>
            <a:r>
              <a:rPr lang="en-US" sz="1150" dirty="0">
                <a:solidFill>
                  <a:srgbClr val="E8B8C0"/>
                </a:solidFill>
                <a:latin typeface="Courier New" pitchFamily="34" charset="0"/>
                <a:ea typeface="Courier New" pitchFamily="34" charset="-122"/>
                <a:cs typeface="Courier New" pitchFamily="34" charset="-120"/>
              </a:rPr>
              <a:t>5. Live stream: event: token → renewed in place</a:t>
            </a:r>
            <a:endParaRPr lang="en-US" sz="1150" dirty="0"/>
          </a:p>
        </p:txBody>
      </p:sp>
      <p:sp>
        <p:nvSpPr>
          <p:cNvPr id="10" name="Text 7"/>
          <p:cNvSpPr txBox="1"/>
          <p:nvPr/>
        </p:nvSpPr>
        <p:spPr>
          <a:xfrm>
            <a:off x="7635240" y="1417320"/>
            <a:ext cx="3776472" cy="3977640"/>
          </a:xfrm>
          <a:prstGeom prst="rect">
            <a:avLst/>
          </a:prstGeom>
          <a:noFill/>
          <a:ln/>
        </p:spPr>
        <p:txBody>
          <a:bodyPr wrap="square" lIns="0" tIns="0" rIns="0" bIns="0" rtlCol="0" anchor="t"/>
          <a:lstStyle/>
          <a:p>
            <a:pPr indent="0" marL="0">
              <a:buNone/>
            </a:pPr>
            <a:r>
              <a:rPr lang="en-US" sz="1500" b="1" dirty="0">
                <a:solidFill>
                  <a:srgbClr val="A51C30"/>
                </a:solidFill>
              </a:rPr>
              <a:t>▪  Off by default</a:t>
            </a:r>
            <a:endParaRPr lang="en-US" sz="1500" dirty="0"/>
          </a:p>
          <a:p>
            <a:pPr indent="0" marL="0">
              <a:spcAft>
                <a:spcPts val="900"/>
              </a:spcAft>
              <a:buNone/>
            </a:pPr>
            <a:r>
              <a:rPr lang="en-US" sz="1300" dirty="0">
                <a:solidFill>
                  <a:srgbClr val="4A5058"/>
                </a:solidFill>
              </a:rPr>
              <a:t>drishti.embed.enabled; each host app registered by an admin.</a:t>
            </a:r>
            <a:endParaRPr lang="en-US" sz="1500" dirty="0"/>
          </a:p>
          <a:p>
            <a:pPr indent="0" marL="0">
              <a:buNone/>
            </a:pPr>
            <a:r>
              <a:rPr lang="en-US" sz="1500" b="1" dirty="0">
                <a:solidFill>
                  <a:srgbClr val="A51C30"/>
                </a:solidFill>
              </a:rPr>
              <a:t>▪  Always masked</a:t>
            </a:r>
            <a:endParaRPr lang="en-US" sz="1500" dirty="0"/>
          </a:p>
          <a:p>
            <a:pPr indent="0" marL="0">
              <a:spcAft>
                <a:spcPts val="900"/>
              </a:spcAft>
              <a:buNone/>
            </a:pPr>
            <a:r>
              <a:rPr lang="en-US" sz="1300" dirty="0">
                <a:solidFill>
                  <a:srgbClr val="4A5058"/>
                </a:solidFill>
              </a:rPr>
              <a:t>An embedded view never shows raw values, whatever the user's roles.</a:t>
            </a:r>
            <a:endParaRPr lang="en-US" sz="1500" dirty="0"/>
          </a:p>
          <a:p>
            <a:pPr indent="0" marL="0">
              <a:buNone/>
            </a:pPr>
            <a:r>
              <a:rPr lang="en-US" sz="1500" b="1" dirty="0">
                <a:solidFill>
                  <a:srgbClr val="A51C30"/>
                </a:solidFill>
              </a:rPr>
              <a:t>▪  CORS, exactly</a:t>
            </a:r>
            <a:endParaRPr lang="en-US" sz="1500" dirty="0"/>
          </a:p>
          <a:p>
            <a:pPr indent="0" marL="0">
              <a:spcAft>
                <a:spcPts val="900"/>
              </a:spcAft>
              <a:buNone/>
            </a:pPr>
            <a:r>
              <a:rPr lang="en-US" sz="1300" dirty="0">
                <a:solidFill>
                  <a:srgbClr val="4A5058"/>
                </a:solidFill>
              </a:rPr>
              <a:t>Only registered origins; never *, never credentials.</a:t>
            </a:r>
            <a:endParaRPr lang="en-US" sz="1500" dirty="0"/>
          </a:p>
        </p:txBody>
      </p:sp>
      <p:sp>
        <p:nvSpPr>
          <p:cNvPr id="11" name="Shape 8"/>
          <p:cNvSpPr/>
          <p:nvPr/>
        </p:nvSpPr>
        <p:spPr>
          <a:xfrm>
            <a:off x="777240" y="5550408"/>
            <a:ext cx="10634472" cy="694944"/>
          </a:xfrm>
          <a:prstGeom prst="rect">
            <a:avLst/>
          </a:prstGeom>
          <a:solidFill>
            <a:srgbClr val="F6E6E9"/>
          </a:solidFill>
          <a:ln/>
        </p:spPr>
        <p:txBody>
          <a:bodyPr/>
          <a:p/>
        </p:txBody>
      </p:sp>
      <p:sp>
        <p:nvSpPr>
          <p:cNvPr id="12" name="Shape 9"/>
          <p:cNvSpPr/>
          <p:nvPr/>
        </p:nvSpPr>
        <p:spPr>
          <a:xfrm>
            <a:off x="777240" y="5550408"/>
            <a:ext cx="54864" cy="694944"/>
          </a:xfrm>
          <a:prstGeom prst="rect">
            <a:avLst/>
          </a:prstGeom>
          <a:solidFill>
            <a:srgbClr val="A51C30"/>
          </a:solidFill>
          <a:ln/>
        </p:spPr>
        <p:txBody>
          <a:bodyPr/>
          <a:p/>
        </p:txBody>
      </p:sp>
      <p:sp>
        <p:nvSpPr>
          <p:cNvPr id="13" name="Text 1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token proves who and where; the server still decides what — on every call.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COMPLIANCE</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Evidence, not just conversation</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63040"/>
            <a:ext cx="2507742" cy="1828800"/>
          </a:xfrm>
          <a:prstGeom prst="rect">
            <a:avLst/>
          </a:prstGeom>
          <a:solidFill>
            <a:srgbClr val="F7F5F2"/>
          </a:solidFill>
          <a:ln/>
        </p:spPr>
        <p:txBody>
          <a:bodyPr/>
          <a:p/>
        </p:txBody>
      </p:sp>
      <p:sp>
        <p:nvSpPr>
          <p:cNvPr id="7" name="Shape 4"/>
          <p:cNvSpPr/>
          <p:nvPr/>
        </p:nvSpPr>
        <p:spPr>
          <a:xfrm>
            <a:off x="777240" y="1463040"/>
            <a:ext cx="45720" cy="1828800"/>
          </a:xfrm>
          <a:prstGeom prst="rect">
            <a:avLst/>
          </a:prstGeom>
          <a:solidFill>
            <a:srgbClr val="A51C30"/>
          </a:solidFill>
          <a:ln/>
        </p:spPr>
        <p:txBody>
          <a:bodyPr/>
          <a:p/>
        </p:txBody>
      </p:sp>
      <p:sp>
        <p:nvSpPr>
          <p:cNvPr id="8" name="Text 5"/>
          <p:cNvSpPr txBox="1"/>
          <p:nvPr/>
        </p:nvSpPr>
        <p:spPr>
          <a:xfrm>
            <a:off x="97840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Chained</a:t>
            </a:r>
            <a:endParaRPr lang="en-US" sz="2600" dirty="0"/>
          </a:p>
        </p:txBody>
      </p:sp>
      <p:sp>
        <p:nvSpPr>
          <p:cNvPr id="9" name="Text 6"/>
          <p:cNvSpPr txBox="1"/>
          <p:nvPr/>
        </p:nvSpPr>
        <p:spPr>
          <a:xfrm>
            <a:off x="97840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Every revision of a thread or share hashes the one before</a:t>
            </a:r>
            <a:endParaRPr lang="en-US" sz="1300" dirty="0"/>
          </a:p>
        </p:txBody>
      </p:sp>
      <p:sp>
        <p:nvSpPr>
          <p:cNvPr id="10" name="Shape 7"/>
          <p:cNvSpPr/>
          <p:nvPr/>
        </p:nvSpPr>
        <p:spPr>
          <a:xfrm>
            <a:off x="3486150" y="1463040"/>
            <a:ext cx="2507742" cy="1828800"/>
          </a:xfrm>
          <a:prstGeom prst="rect">
            <a:avLst/>
          </a:prstGeom>
          <a:solidFill>
            <a:srgbClr val="F7F5F2"/>
          </a:solidFill>
          <a:ln/>
        </p:spPr>
        <p:txBody>
          <a:bodyPr/>
          <a:p/>
        </p:txBody>
      </p:sp>
      <p:sp>
        <p:nvSpPr>
          <p:cNvPr id="11" name="Shape 8"/>
          <p:cNvSpPr/>
          <p:nvPr/>
        </p:nvSpPr>
        <p:spPr>
          <a:xfrm>
            <a:off x="3486150" y="1463040"/>
            <a:ext cx="45720" cy="1828800"/>
          </a:xfrm>
          <a:prstGeom prst="rect">
            <a:avLst/>
          </a:prstGeom>
          <a:solidFill>
            <a:srgbClr val="A51C30"/>
          </a:solidFill>
          <a:ln/>
        </p:spPr>
        <p:txBody>
          <a:bodyPr/>
          <a:p/>
        </p:txBody>
      </p:sp>
      <p:sp>
        <p:nvSpPr>
          <p:cNvPr id="12" name="Text 9"/>
          <p:cNvSpPr txBox="1"/>
          <p:nvPr/>
        </p:nvSpPr>
        <p:spPr>
          <a:xfrm>
            <a:off x="368731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Sealed</a:t>
            </a:r>
            <a:endParaRPr lang="en-US" sz="2600" dirty="0"/>
          </a:p>
        </p:txBody>
      </p:sp>
      <p:sp>
        <p:nvSpPr>
          <p:cNvPr id="13" name="Text 10"/>
          <p:cNvSpPr txBox="1"/>
          <p:nvPr/>
        </p:nvSpPr>
        <p:spPr>
          <a:xfrm>
            <a:off x="368731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Seals cover comments, thread heads, holds and audit; verify on demand</a:t>
            </a:r>
            <a:endParaRPr lang="en-US" sz="1300" dirty="0"/>
          </a:p>
        </p:txBody>
      </p:sp>
      <p:sp>
        <p:nvSpPr>
          <p:cNvPr id="14" name="Shape 11"/>
          <p:cNvSpPr/>
          <p:nvPr/>
        </p:nvSpPr>
        <p:spPr>
          <a:xfrm>
            <a:off x="6195060" y="1463040"/>
            <a:ext cx="2507742" cy="1828800"/>
          </a:xfrm>
          <a:prstGeom prst="rect">
            <a:avLst/>
          </a:prstGeom>
          <a:solidFill>
            <a:srgbClr val="F7F5F2"/>
          </a:solidFill>
          <a:ln/>
        </p:spPr>
        <p:txBody>
          <a:bodyPr/>
          <a:p/>
        </p:txBody>
      </p:sp>
      <p:sp>
        <p:nvSpPr>
          <p:cNvPr id="15" name="Shape 12"/>
          <p:cNvSpPr/>
          <p:nvPr/>
        </p:nvSpPr>
        <p:spPr>
          <a:xfrm>
            <a:off x="6195060" y="1463040"/>
            <a:ext cx="45720" cy="1828800"/>
          </a:xfrm>
          <a:prstGeom prst="rect">
            <a:avLst/>
          </a:prstGeom>
          <a:solidFill>
            <a:srgbClr val="A51C30"/>
          </a:solidFill>
          <a:ln/>
        </p:spPr>
        <p:txBody>
          <a:bodyPr/>
          <a:p/>
        </p:txBody>
      </p:sp>
      <p:sp>
        <p:nvSpPr>
          <p:cNvPr id="16" name="Text 13"/>
          <p:cNvSpPr txBox="1"/>
          <p:nvPr/>
        </p:nvSpPr>
        <p:spPr>
          <a:xfrm>
            <a:off x="639622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Held</a:t>
            </a:r>
            <a:endParaRPr lang="en-US" sz="2600" dirty="0"/>
          </a:p>
        </p:txBody>
      </p:sp>
      <p:sp>
        <p:nvSpPr>
          <p:cNvPr id="17" name="Text 14"/>
          <p:cNvSpPr txBox="1"/>
          <p:nvPr/>
        </p:nvSpPr>
        <p:spPr>
          <a:xfrm>
            <a:off x="639622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Legal holds by entity, user, thread or all (423 while held)</a:t>
            </a:r>
            <a:endParaRPr lang="en-US" sz="1300" dirty="0"/>
          </a:p>
        </p:txBody>
      </p:sp>
      <p:sp>
        <p:nvSpPr>
          <p:cNvPr id="18" name="Shape 15"/>
          <p:cNvSpPr/>
          <p:nvPr/>
        </p:nvSpPr>
        <p:spPr>
          <a:xfrm>
            <a:off x="8903970" y="1463040"/>
            <a:ext cx="2507742" cy="1828800"/>
          </a:xfrm>
          <a:prstGeom prst="rect">
            <a:avLst/>
          </a:prstGeom>
          <a:solidFill>
            <a:srgbClr val="F7F5F2"/>
          </a:solidFill>
          <a:ln/>
        </p:spPr>
        <p:txBody>
          <a:bodyPr/>
          <a:p/>
        </p:txBody>
      </p:sp>
      <p:sp>
        <p:nvSpPr>
          <p:cNvPr id="19" name="Shape 16"/>
          <p:cNvSpPr/>
          <p:nvPr/>
        </p:nvSpPr>
        <p:spPr>
          <a:xfrm>
            <a:off x="8903970" y="1463040"/>
            <a:ext cx="45720" cy="1828800"/>
          </a:xfrm>
          <a:prstGeom prst="rect">
            <a:avLst/>
          </a:prstGeom>
          <a:solidFill>
            <a:srgbClr val="A51C30"/>
          </a:solidFill>
          <a:ln/>
        </p:spPr>
        <p:txBody>
          <a:bodyPr/>
          <a:p/>
        </p:txBody>
      </p:sp>
      <p:sp>
        <p:nvSpPr>
          <p:cNvPr id="20" name="Text 17"/>
          <p:cNvSpPr txBox="1"/>
          <p:nvPr/>
        </p:nvSpPr>
        <p:spPr>
          <a:xfrm>
            <a:off x="9105138" y="157276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Exported</a:t>
            </a:r>
            <a:endParaRPr lang="en-US" sz="2600" dirty="0"/>
          </a:p>
        </p:txBody>
      </p:sp>
      <p:sp>
        <p:nvSpPr>
          <p:cNvPr id="21" name="Text 18"/>
          <p:cNvSpPr txBox="1"/>
          <p:nvPr/>
        </p:nvSpPr>
        <p:spPr>
          <a:xfrm>
            <a:off x="9105138" y="2066544"/>
            <a:ext cx="2187702" cy="1152144"/>
          </a:xfrm>
          <a:prstGeom prst="rect">
            <a:avLst/>
          </a:prstGeom>
          <a:noFill/>
          <a:ln/>
        </p:spPr>
        <p:txBody>
          <a:bodyPr wrap="square" lIns="0" tIns="0" rIns="0" bIns="0" rtlCol="0" anchor="t"/>
          <a:lstStyle/>
          <a:p>
            <a:pPr indent="0" marL="0">
              <a:buNone/>
            </a:pPr>
            <a:r>
              <a:rPr lang="en-US" sz="1300" dirty="0">
                <a:solidFill>
                  <a:srgbClr val="4A5058"/>
                </a:solidFill>
              </a:rPr>
              <a:t>eDiscovery zip with a manifest; one-shot download</a:t>
            </a:r>
            <a:endParaRPr lang="en-US" sz="1300" dirty="0"/>
          </a:p>
        </p:txBody>
      </p:sp>
      <p:sp>
        <p:nvSpPr>
          <p:cNvPr id="22" name="Text 19"/>
          <p:cNvSpPr txBox="1"/>
          <p:nvPr/>
        </p:nvSpPr>
        <p:spPr>
          <a:xfrm>
            <a:off x="777240" y="3520440"/>
            <a:ext cx="10634472" cy="1920240"/>
          </a:xfrm>
          <a:prstGeom prst="rect">
            <a:avLst/>
          </a:prstGeom>
          <a:noFill/>
          <a:ln/>
        </p:spPr>
        <p:txBody>
          <a:bodyPr wrap="square" lIns="0" tIns="0" rIns="0" bIns="0" rtlCol="0" anchor="t"/>
          <a:lstStyle/>
          <a:p>
            <a:pPr indent="0" marL="0">
              <a:buNone/>
            </a:pPr>
            <a:r>
              <a:rPr lang="en-US" sz="1800" b="1" dirty="0">
                <a:solidFill>
                  <a:srgbClr val="A51C30"/>
                </a:solidFill>
              </a:rPr>
              <a:t>▪  Retract and hide, never delete</a:t>
            </a:r>
            <a:endParaRPr lang="en-US" sz="1800" dirty="0"/>
          </a:p>
          <a:p>
            <a:pPr indent="0" marL="0">
              <a:spcAft>
                <a:spcPts val="1400"/>
              </a:spcAft>
              <a:buNone/>
            </a:pPr>
            <a:r>
              <a:rPr lang="en-US" sz="1500" dirty="0">
                <a:solidFill>
                  <a:srgbClr val="4A5058"/>
                </a:solidFill>
              </a:rPr>
              <a:t>Retention keeps for ever by default; a hidden comment is still in the record.</a:t>
            </a:r>
            <a:endParaRPr lang="en-US" sz="1800" dirty="0"/>
          </a:p>
          <a:p>
            <a:pPr indent="0" marL="0">
              <a:buNone/>
            </a:pPr>
            <a:r>
              <a:rPr lang="en-US" sz="1800" b="1" dirty="0">
                <a:solidFill>
                  <a:srgbClr val="A51C30"/>
                </a:solidFill>
              </a:rPr>
              <a:t>▪  Measured</a:t>
            </a:r>
            <a:endParaRPr lang="en-US" sz="1800" dirty="0"/>
          </a:p>
          <a:p>
            <a:pPr indent="0" marL="0">
              <a:spcAft>
                <a:spcPts val="1400"/>
              </a:spcAft>
              <a:buNone/>
            </a:pPr>
            <a:r>
              <a:rPr lang="en-US" sz="1500" dirty="0">
                <a:solidFill>
                  <a:srgbClr val="4A5058"/>
                </a:solidFill>
              </a:rPr>
              <a:t>An export of 8,300 comments builds in 2.0 s and downloads (19.8 MB) in 3.1 s.</a:t>
            </a:r>
            <a:endParaRPr lang="en-US" sz="1800" dirty="0"/>
          </a:p>
          <a:p>
            <a:pPr indent="0" marL="0">
              <a:buNone/>
            </a:pPr>
            <a:r>
              <a:rPr lang="en-US" sz="1800" b="1" dirty="0">
                <a:solidFill>
                  <a:srgbClr val="A51C30"/>
                </a:solidFill>
              </a:rPr>
              <a:t>▪  Only for compliance</a:t>
            </a:r>
            <a:endParaRPr lang="en-US" sz="1800" dirty="0"/>
          </a:p>
          <a:p>
            <a:pPr indent="0" marL="0">
              <a:spcAft>
                <a:spcPts val="1400"/>
              </a:spcAft>
              <a:buNone/>
            </a:pPr>
            <a:r>
              <a:rPr lang="en-US" sz="1500" dirty="0">
                <a:solidFill>
                  <a:srgbClr val="4A5058"/>
                </a:solidFill>
              </a:rPr>
              <a:t>Legal holds and the export need the compliance power; an export downloads once.</a:t>
            </a:r>
            <a:endParaRPr lang="en-US" sz="1800" dirty="0"/>
          </a:p>
        </p:txBody>
      </p:sp>
      <p:sp>
        <p:nvSpPr>
          <p:cNvPr id="23" name="Shape 20"/>
          <p:cNvSpPr/>
          <p:nvPr/>
        </p:nvSpPr>
        <p:spPr>
          <a:xfrm>
            <a:off x="777240" y="5550408"/>
            <a:ext cx="10634472" cy="694944"/>
          </a:xfrm>
          <a:prstGeom prst="rect">
            <a:avLst/>
          </a:prstGeom>
          <a:solidFill>
            <a:srgbClr val="F6E6E9"/>
          </a:solidFill>
          <a:ln/>
        </p:spPr>
        <p:txBody>
          <a:bodyPr/>
          <a:p/>
        </p:txBody>
      </p:sp>
      <p:sp>
        <p:nvSpPr>
          <p:cNvPr id="24" name="Shape 21"/>
          <p:cNvSpPr/>
          <p:nvPr/>
        </p:nvSpPr>
        <p:spPr>
          <a:xfrm>
            <a:off x="777240" y="5550408"/>
            <a:ext cx="54864" cy="694944"/>
          </a:xfrm>
          <a:prstGeom prst="rect">
            <a:avLst/>
          </a:prstGeom>
          <a:solidFill>
            <a:srgbClr val="A51C30"/>
          </a:solidFill>
          <a:ln/>
        </p:spPr>
        <p:txBody>
          <a:bodyPr/>
          <a:p/>
        </p:txBody>
      </p:sp>
      <p:sp>
        <p:nvSpPr>
          <p:cNvPr id="25" name="Text 22"/>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Tamper evidence is the honest claim: Drishti cannot stop a database administrator, but it shows when one acted.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04</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Evidence, by the numbers</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Counted from the repository on 19 October 2026: measured, tested, found and fixed.</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ERRORS AS A CONTRACT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187 error codes, every one documented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5394960" cy="2377440"/>
          </a:xfrm>
          <a:prstGeom prst="rect">
            <a:avLst/>
          </a:prstGeom>
          <a:solidFill>
            <a:srgbClr val="1E1E24"/>
          </a:solidFill>
          <a:ln/>
        </p:spPr>
        <p:txBody>
          <a:bodyPr/>
          <a:p/>
        </p:txBody>
      </p:sp>
      <p:sp>
        <p:nvSpPr>
          <p:cNvPr id="7" name="Text 4"/>
          <p:cNvSpPr txBox="1"/>
          <p:nvPr/>
        </p:nvSpPr>
        <p:spPr>
          <a:xfrm>
            <a:off x="978408" y="1581912"/>
            <a:ext cx="4992624" cy="2103120"/>
          </a:xfrm>
          <a:prstGeom prst="rect">
            <a:avLst/>
          </a:prstGeom>
          <a:noFill/>
          <a:ln/>
        </p:spPr>
        <p:txBody>
          <a:bodyPr wrap="square" lIns="0" tIns="0" rIns="0" bIns="0" rtlCol="0" anchor="t"/>
          <a:lstStyle/>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curl -s server/api/v1/views/trade/NOPE-404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Content-Type: application/problem+json</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"status": 404,</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"code":   "DRS-1001",</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"title":  "entity not found",</a:t>
            </a:r>
            <a:endParaRPr lang="en-US" sz="1150" dirty="0"/>
          </a:p>
          <a:p>
            <a:pPr indent="0" marL="0">
              <a:lnSpc>
                <a:spcPct val="105000"/>
              </a:lnSpc>
              <a:buNone/>
            </a:pPr>
            <a:r>
              <a:rPr lang="en-US" sz="1150" dirty="0">
                <a:solidFill>
                  <a:srgbClr val="F1EEE9"/>
                </a:solidFill>
                <a:latin typeface="Courier New" pitchFamily="34" charset="0"/>
                <a:ea typeface="Courier New" pitchFamily="34" charset="-122"/>
                <a:cs typeface="Courier New" pitchFamily="34" charset="-120"/>
              </a:rPr>
              <a:t>  "detail": "no source holds the entity" }</a:t>
            </a:r>
            <a:endParaRPr lang="en-US" sz="11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46520" y="1417320"/>
          <a:ext cx="4965192" cy="914400"/>
        </p:xfrm>
        <a:graphic>
          <a:graphicData uri="http://schemas.openxmlformats.org/drawingml/2006/table">
            <a:tbl>
              <a:tblPr/>
              <a:tblGrid>
                <a:gridCol w="1325880"/>
                <a:gridCol w="2770632"/>
                <a:gridCol w="868680"/>
              </a:tblGrid>
              <a:tr h="0">
                <a:tc>
                  <a:txBody>
                    <a:bodyPr/>
                    <a:lstStyle/>
                    <a:p>
                      <a:pPr indent="0" marL="0">
                        <a:buNone/>
                      </a:pPr>
                      <a:r>
                        <a:rPr lang="en-US" sz="1200" b="1" dirty="0">
                          <a:solidFill>
                            <a:srgbClr val="FFFFFF"/>
                          </a:solidFill>
                        </a:rPr>
                        <a:t>Family</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Area</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Codes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DRS-1xxx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Entities and sources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8</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DRS-2/3xxx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Grammar, Sutras, inference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10</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DRS-4xxx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Commands and search</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DRS-5xxx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Requests, limits, Drishti*net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24</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DRS-6xxx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Users, roles, tokens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11</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DRS-7xxx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Collaboration</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DRS-8xxx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Embedding</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DRS-9xxx</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Business intelligence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96</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9" name="Shape 5"/>
          <p:cNvSpPr/>
          <p:nvPr/>
        </p:nvSpPr>
        <p:spPr>
          <a:xfrm>
            <a:off x="777240" y="3931920"/>
            <a:ext cx="1664208" cy="1371600"/>
          </a:xfrm>
          <a:prstGeom prst="rect">
            <a:avLst/>
          </a:prstGeom>
          <a:solidFill>
            <a:srgbClr val="F7F5F2"/>
          </a:solidFill>
          <a:ln/>
        </p:spPr>
        <p:txBody>
          <a:bodyPr/>
          <a:p/>
        </p:txBody>
      </p:sp>
      <p:sp>
        <p:nvSpPr>
          <p:cNvPr id="10" name="Shape 6"/>
          <p:cNvSpPr/>
          <p:nvPr/>
        </p:nvSpPr>
        <p:spPr>
          <a:xfrm>
            <a:off x="777240" y="3931920"/>
            <a:ext cx="45720" cy="1371600"/>
          </a:xfrm>
          <a:prstGeom prst="rect">
            <a:avLst/>
          </a:prstGeom>
          <a:solidFill>
            <a:srgbClr val="A51C30"/>
          </a:solidFill>
          <a:ln/>
        </p:spPr>
        <p:txBody>
          <a:bodyPr/>
          <a:p/>
        </p:txBody>
      </p:sp>
      <p:sp>
        <p:nvSpPr>
          <p:cNvPr id="11" name="Text 7"/>
          <p:cNvSpPr txBox="1"/>
          <p:nvPr/>
        </p:nvSpPr>
        <p:spPr>
          <a:xfrm>
            <a:off x="978408"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187</a:t>
            </a:r>
            <a:endParaRPr lang="en-US" sz="2600" dirty="0"/>
          </a:p>
        </p:txBody>
      </p:sp>
      <p:sp>
        <p:nvSpPr>
          <p:cNvPr id="12" name="Text 8"/>
          <p:cNvSpPr txBox="1"/>
          <p:nvPr/>
        </p:nvSpPr>
        <p:spPr>
          <a:xfrm>
            <a:off x="978408"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Codes in nine families, one table</a:t>
            </a:r>
            <a:endParaRPr lang="en-US" sz="1300" dirty="0"/>
          </a:p>
        </p:txBody>
      </p:sp>
      <p:sp>
        <p:nvSpPr>
          <p:cNvPr id="13" name="Shape 9"/>
          <p:cNvSpPr/>
          <p:nvPr/>
        </p:nvSpPr>
        <p:spPr>
          <a:xfrm>
            <a:off x="2642616" y="3931920"/>
            <a:ext cx="1664208" cy="1371600"/>
          </a:xfrm>
          <a:prstGeom prst="rect">
            <a:avLst/>
          </a:prstGeom>
          <a:solidFill>
            <a:srgbClr val="F7F5F2"/>
          </a:solidFill>
          <a:ln/>
        </p:spPr>
        <p:txBody>
          <a:bodyPr/>
          <a:p/>
        </p:txBody>
      </p:sp>
      <p:sp>
        <p:nvSpPr>
          <p:cNvPr id="14" name="Shape 10"/>
          <p:cNvSpPr/>
          <p:nvPr/>
        </p:nvSpPr>
        <p:spPr>
          <a:xfrm>
            <a:off x="2642616" y="3931920"/>
            <a:ext cx="45720" cy="1371600"/>
          </a:xfrm>
          <a:prstGeom prst="rect">
            <a:avLst/>
          </a:prstGeom>
          <a:solidFill>
            <a:srgbClr val="A51C30"/>
          </a:solidFill>
          <a:ln/>
        </p:spPr>
        <p:txBody>
          <a:bodyPr/>
          <a:p/>
        </p:txBody>
      </p:sp>
      <p:sp>
        <p:nvSpPr>
          <p:cNvPr id="15" name="Text 11"/>
          <p:cNvSpPr txBox="1"/>
          <p:nvPr/>
        </p:nvSpPr>
        <p:spPr>
          <a:xfrm>
            <a:off x="2843784"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42</a:t>
            </a:r>
            <a:endParaRPr lang="en-US" sz="2600" dirty="0"/>
          </a:p>
        </p:txBody>
      </p:sp>
      <p:sp>
        <p:nvSpPr>
          <p:cNvPr id="16" name="Text 12"/>
          <p:cNvSpPr txBox="1"/>
          <p:nvPr/>
        </p:nvSpPr>
        <p:spPr>
          <a:xfrm>
            <a:off x="2843784"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Sutra problem codes in the grammar reference</a:t>
            </a:r>
            <a:endParaRPr lang="en-US" sz="1300" dirty="0"/>
          </a:p>
        </p:txBody>
      </p:sp>
      <p:sp>
        <p:nvSpPr>
          <p:cNvPr id="17" name="Shape 13"/>
          <p:cNvSpPr/>
          <p:nvPr/>
        </p:nvSpPr>
        <p:spPr>
          <a:xfrm>
            <a:off x="4507992" y="3931920"/>
            <a:ext cx="1664208" cy="1371600"/>
          </a:xfrm>
          <a:prstGeom prst="rect">
            <a:avLst/>
          </a:prstGeom>
          <a:solidFill>
            <a:srgbClr val="F7F5F2"/>
          </a:solidFill>
          <a:ln/>
        </p:spPr>
        <p:txBody>
          <a:bodyPr/>
          <a:p/>
        </p:txBody>
      </p:sp>
      <p:sp>
        <p:nvSpPr>
          <p:cNvPr id="18" name="Shape 14"/>
          <p:cNvSpPr/>
          <p:nvPr/>
        </p:nvSpPr>
        <p:spPr>
          <a:xfrm>
            <a:off x="4507992" y="3931920"/>
            <a:ext cx="45720" cy="1371600"/>
          </a:xfrm>
          <a:prstGeom prst="rect">
            <a:avLst/>
          </a:prstGeom>
          <a:solidFill>
            <a:srgbClr val="A51C30"/>
          </a:solidFill>
          <a:ln/>
        </p:spPr>
        <p:txBody>
          <a:bodyPr/>
          <a:p/>
        </p:txBody>
      </p:sp>
      <p:sp>
        <p:nvSpPr>
          <p:cNvPr id="19" name="Text 15"/>
          <p:cNvSpPr txBox="1"/>
          <p:nvPr/>
        </p:nvSpPr>
        <p:spPr>
          <a:xfrm>
            <a:off x="4709160" y="4041648"/>
            <a:ext cx="1344168" cy="502920"/>
          </a:xfrm>
          <a:prstGeom prst="rect">
            <a:avLst/>
          </a:prstGeom>
          <a:noFill/>
          <a:ln/>
        </p:spPr>
        <p:txBody>
          <a:bodyPr wrap="square" lIns="0" tIns="0" rIns="0" bIns="0" rtlCol="0" anchor="ctr"/>
          <a:lstStyle/>
          <a:p>
            <a:pPr indent="0" marL="0">
              <a:buNone/>
            </a:pPr>
            <a:r>
              <a:rPr lang="en-US" sz="2600" b="1" dirty="0">
                <a:solidFill>
                  <a:srgbClr val="8A1626"/>
                </a:solidFill>
              </a:rPr>
              <a:t>RFC 7807</a:t>
            </a:r>
            <a:endParaRPr lang="en-US" sz="2600" dirty="0"/>
          </a:p>
        </p:txBody>
      </p:sp>
      <p:sp>
        <p:nvSpPr>
          <p:cNvPr id="20" name="Text 16"/>
          <p:cNvSpPr txBox="1"/>
          <p:nvPr/>
        </p:nvSpPr>
        <p:spPr>
          <a:xfrm>
            <a:off x="4709160" y="4535424"/>
            <a:ext cx="1344168" cy="694944"/>
          </a:xfrm>
          <a:prstGeom prst="rect">
            <a:avLst/>
          </a:prstGeom>
          <a:noFill/>
          <a:ln/>
        </p:spPr>
        <p:txBody>
          <a:bodyPr wrap="square" lIns="0" tIns="0" rIns="0" bIns="0" rtlCol="0" anchor="t"/>
          <a:lstStyle/>
          <a:p>
            <a:pPr indent="0" marL="0">
              <a:buNone/>
            </a:pPr>
            <a:r>
              <a:rPr lang="en-US" sz="1300" dirty="0">
                <a:solidFill>
                  <a:srgbClr val="4A5058"/>
                </a:solidFill>
              </a:rPr>
              <a:t>problem+json, the same shape everywhere</a:t>
            </a:r>
            <a:endParaRPr lang="en-US" sz="1300" dirty="0"/>
          </a:p>
        </p:txBody>
      </p:sp>
      <p:sp>
        <p:nvSpPr>
          <p:cNvPr id="21" name="Shape 17"/>
          <p:cNvSpPr/>
          <p:nvPr/>
        </p:nvSpPr>
        <p:spPr>
          <a:xfrm>
            <a:off x="777240" y="5550408"/>
            <a:ext cx="10634472" cy="694944"/>
          </a:xfrm>
          <a:prstGeom prst="rect">
            <a:avLst/>
          </a:prstGeom>
          <a:solidFill>
            <a:srgbClr val="F6E6E9"/>
          </a:solidFill>
          <a:ln/>
        </p:spPr>
        <p:txBody>
          <a:bodyPr/>
          <a:p/>
        </p:txBody>
      </p:sp>
      <p:sp>
        <p:nvSpPr>
          <p:cNvPr id="22" name="Shape 18"/>
          <p:cNvSpPr/>
          <p:nvPr/>
        </p:nvSpPr>
        <p:spPr>
          <a:xfrm>
            <a:off x="777240" y="5550408"/>
            <a:ext cx="54864" cy="694944"/>
          </a:xfrm>
          <a:prstGeom prst="rect">
            <a:avLst/>
          </a:prstGeom>
          <a:solidFill>
            <a:srgbClr val="A51C30"/>
          </a:solidFill>
          <a:ln/>
        </p:spPr>
        <p:txBody>
          <a:bodyPr/>
          <a:p/>
        </p:txBody>
      </p:sp>
      <p:sp>
        <p:nvSpPr>
          <p:cNvPr id="23" name="Text 19"/>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Errors are a contract: a stable code, an HTTP status and a row that says what to do.</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HOW IT IS TESTED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4,435 tests, three browsers, one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2,396</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Java tests (plus 36 parameterised)</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1,759</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tests, 520 of them in a browser</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280</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CLI and tool tests</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Browser engines for embedded views</a:t>
            </a:r>
            <a:endParaRPr lang="en-US" sz="1150" dirty="0"/>
          </a:p>
        </p:txBody>
      </p:sp>
      <p:sp>
        <p:nvSpPr>
          <p:cNvPr id="22" name="Text 19"/>
          <p:cNvSpPr txBox="1"/>
          <p:nvPr/>
        </p:nvSpPr>
        <p:spPr>
          <a:xfrm>
            <a:off x="777240" y="2834640"/>
            <a:ext cx="10634472" cy="2606040"/>
          </a:xfrm>
          <a:prstGeom prst="rect">
            <a:avLst/>
          </a:prstGeom>
          <a:noFill/>
          <a:ln/>
        </p:spPr>
        <p:txBody>
          <a:bodyPr wrap="square" lIns="0" tIns="0" rIns="0" bIns="0" rtlCol="0" anchor="t"/>
          <a:lstStyle/>
          <a:p>
            <a:pPr indent="0" marL="0">
              <a:buNone/>
            </a:pPr>
            <a:r>
              <a:rPr lang="en-US" sz="1500" b="1" dirty="0">
                <a:solidFill>
                  <a:srgbClr val="A51C30"/>
                </a:solidFill>
              </a:rPr>
              <a:t>▪  Gates in every build</a:t>
            </a:r>
            <a:endParaRPr lang="en-US" sz="1500" dirty="0"/>
          </a:p>
          <a:p>
            <a:pPr indent="0" marL="0">
              <a:spcAft>
                <a:spcPts val="700"/>
              </a:spcAft>
              <a:buNone/>
            </a:pPr>
            <a:r>
              <a:rPr lang="en-US" sz="1300" dirty="0">
                <a:solidFill>
                  <a:srgbClr val="4A5058"/>
                </a:solidFill>
              </a:rPr>
              <a:t>Error Prone and Spotless; ArchUnit for module direction; a licence-header test; no source file over 1,500 lines; no external asset.</a:t>
            </a:r>
            <a:endParaRPr lang="en-US" sz="1500" dirty="0"/>
          </a:p>
          <a:p>
            <a:pPr indent="0" marL="0">
              <a:buNone/>
            </a:pPr>
            <a:r>
              <a:rPr lang="en-US" sz="1500" b="1" dirty="0">
                <a:solidFill>
                  <a:srgbClr val="A51C30"/>
                </a:solidFill>
              </a:rPr>
              <a:t>▪  Pages at three widths</a:t>
            </a:r>
            <a:endParaRPr lang="en-US" sz="1500" dirty="0"/>
          </a:p>
          <a:p>
            <a:pPr indent="0" marL="0">
              <a:spcAft>
                <a:spcPts val="700"/>
              </a:spcAft>
              <a:buNone/>
            </a:pPr>
            <a:r>
              <a:rPr lang="en-US" sz="1300" dirty="0">
                <a:solidFill>
                  <a:srgbClr val="4A5058"/>
                </a:solidFill>
              </a:rPr>
              <a:t>Every page at 390, 1,600 and 2,560 px; at 390 with touch: real content, 44 px targets, nothing clipped.</a:t>
            </a:r>
            <a:endParaRPr lang="en-US" sz="1500" dirty="0"/>
          </a:p>
          <a:p>
            <a:pPr indent="0" marL="0">
              <a:buNone/>
            </a:pPr>
            <a:r>
              <a:rPr lang="en-US" sz="1500" b="1" dirty="0">
                <a:solidFill>
                  <a:srgbClr val="A51C30"/>
                </a:solidFill>
              </a:rPr>
              <a:t>▪  Embedded views, adversarially</a:t>
            </a:r>
            <a:endParaRPr lang="en-US" sz="1500" dirty="0"/>
          </a:p>
          <a:p>
            <a:pPr indent="0" marL="0">
              <a:spcAft>
                <a:spcPts val="700"/>
              </a:spcAft>
              <a:buNone/>
            </a:pPr>
            <a:r>
              <a:rPr lang="en-US" sz="1300" dirty="0">
                <a:solidFill>
                  <a:srgbClr val="4A5058"/>
                </a:solidFill>
              </a:rPr>
              <a:t>A tampered payload is sanitised; Trusted Types enforced; a 30-second token renews on a live stream.</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PERFORMANCE · MEASURED</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Fast where people wait</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639312" cy="914400"/>
        </p:xfrm>
        <a:graphic>
          <a:graphicData uri="http://schemas.openxmlformats.org/drawingml/2006/table">
            <a:tbl>
              <a:tblPr/>
              <a:tblGrid>
                <a:gridCol w="1371600"/>
                <a:gridCol w="822960"/>
                <a:gridCol w="1444752"/>
              </a:tblGrid>
              <a:tr h="0">
                <a:tc>
                  <a:txBody>
                    <a:bodyPr/>
                    <a:lstStyle/>
                    <a:p>
                      <a:pPr indent="0" marL="0">
                        <a:buNone/>
                      </a:pPr>
                      <a:r>
                        <a:rPr lang="en-US" sz="1200" b="1" dirty="0">
                          <a:solidFill>
                            <a:srgbClr val="FFFFFF"/>
                          </a:solidFill>
                        </a:rPr>
                        <a:t>Gate</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Target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200" b="1" dirty="0">
                          <a:solidFill>
                            <a:srgbClr val="FFFFFF"/>
                          </a:solidFill>
                        </a:rPr>
                        <a:t>Measured</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0">
                <a:tc>
                  <a:txBody>
                    <a:bodyPr/>
                    <a:lstStyle/>
                    <a:p>
                      <a:pPr indent="0" marL="0">
                        <a:buNone/>
                      </a:pPr>
                      <a:r>
                        <a:rPr lang="en-US" sz="1200" b="1" dirty="0">
                          <a:solidFill>
                            <a:srgbClr val="8A1626"/>
                          </a:solidFill>
                        </a:rPr>
                        <a:t>Warm view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&lt; 50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3.0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0">
                <a:tc>
                  <a:txBody>
                    <a:bodyPr/>
                    <a:lstStyle/>
                    <a:p>
                      <a:pPr indent="0" marL="0">
                        <a:buNone/>
                      </a:pPr>
                      <a:r>
                        <a:rPr lang="en-US" sz="1200" b="1" dirty="0">
                          <a:solidFill>
                            <a:srgbClr val="8A1626"/>
                          </a:solidFill>
                        </a:rPr>
                        <a:t>Live p99</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&lt; 40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200" dirty="0">
                          <a:solidFill>
                            <a:srgbClr val="1A1A1A"/>
                          </a:solidFill>
                        </a:rPr>
                        <a:t>11.2 ms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8A1626"/>
                          </a:solidFill>
                        </a:rPr>
                        <a:t>Netting set impact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200" dirty="0">
                          <a:solidFill>
                            <a:srgbClr val="1A1A1A"/>
                          </a:solidFill>
                        </a:rPr>
                        <a:t>0.7–0.9 s, 143,982 trades</a:t>
                      </a:r>
                      <a:endParaRPr lang="en-US" sz="12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8" name="Text 3"/>
          <p:cNvSpPr txBox="1"/>
          <p:nvPr/>
        </p:nvSpPr>
        <p:spPr>
          <a:xfrm>
            <a:off x="7772400" y="3291840"/>
            <a:ext cx="3639312" cy="2103120"/>
          </a:xfrm>
          <a:prstGeom prst="rect">
            <a:avLst/>
          </a:prstGeom>
          <a:noFill/>
          <a:ln/>
        </p:spPr>
        <p:txBody>
          <a:bodyPr wrap="square" lIns="0" tIns="0" rIns="0" bIns="0" rtlCol="0" anchor="t"/>
          <a:lstStyle/>
          <a:p>
            <a:pPr indent="0" marL="0">
              <a:buNone/>
            </a:pPr>
            <a:r>
              <a:rPr lang="en-US" sz="1400" b="1" dirty="0">
                <a:solidFill>
                  <a:srgbClr val="A51C30"/>
                </a:solidFill>
              </a:rPr>
              <a:t>▪  One workstation</a:t>
            </a:r>
            <a:endParaRPr lang="en-US" sz="1400" dirty="0"/>
          </a:p>
          <a:p>
            <a:pPr indent="0" marL="0">
              <a:spcAft>
                <a:spcPts val="800"/>
              </a:spcAft>
              <a:buNone/>
            </a:pPr>
            <a:r>
              <a:rPr lang="en-US" sz="1250" dirty="0">
                <a:solidFill>
                  <a:srgbClr val="4A5058"/>
                </a:solidFill>
              </a:rPr>
              <a:t>24 cores; 1,000,000 trades a day for three days, 5.2 GB.</a:t>
            </a:r>
            <a:endParaRPr lang="en-US" sz="1400" dirty="0"/>
          </a:p>
          <a:p>
            <a:pPr indent="0" marL="0">
              <a:buNone/>
            </a:pPr>
            <a:r>
              <a:rPr lang="en-US" sz="1400" b="1" dirty="0">
                <a:solidFill>
                  <a:srgbClr val="A51C30"/>
                </a:solidFill>
              </a:rPr>
              <a:t>▪  Cold vs cached</a:t>
            </a:r>
            <a:endParaRPr lang="en-US" sz="1400" dirty="0"/>
          </a:p>
          <a:p>
            <a:pPr indent="0" marL="0">
              <a:spcAft>
                <a:spcPts val="800"/>
              </a:spcAft>
              <a:buNone/>
            </a:pPr>
            <a:r>
              <a:rPr lang="en-US" sz="1250" dirty="0">
                <a:solidFill>
                  <a:srgbClr val="4A5058"/>
                </a:solidFill>
              </a:rPr>
              <a:t>Opening a trade cold is 137–157 ms; from the cache 48 ms.</a:t>
            </a:r>
            <a:endParaRPr lang="en-US" sz="1400" dirty="0"/>
          </a:p>
        </p:txBody>
      </p:sp>
      <p:sp>
        <p:nvSpPr>
          <p:cNvPr id="9" name="Shape 4"/>
          <p:cNvSpPr/>
          <p:nvPr/>
        </p:nvSpPr>
        <p:spPr>
          <a:xfrm>
            <a:off x="777240" y="5550408"/>
            <a:ext cx="10634472" cy="694944"/>
          </a:xfrm>
          <a:prstGeom prst="rect">
            <a:avLst/>
          </a:prstGeom>
          <a:solidFill>
            <a:srgbClr val="F6E6E9"/>
          </a:solidFill>
          <a:ln/>
        </p:spPr>
        <p:txBody>
          <a:bodyPr/>
          <a:p/>
        </p:txBody>
      </p:sp>
      <p:sp>
        <p:nvSpPr>
          <p:cNvPr id="10" name="Shape 5"/>
          <p:cNvSpPr/>
          <p:nvPr/>
        </p:nvSpPr>
        <p:spPr>
          <a:xfrm>
            <a:off x="777240" y="5550408"/>
            <a:ext cx="54864" cy="694944"/>
          </a:xfrm>
          <a:prstGeom prst="rect">
            <a:avLst/>
          </a:prstGeom>
          <a:solidFill>
            <a:srgbClr val="A51C30"/>
          </a:solidFill>
          <a:ln/>
        </p:spPr>
        <p:txBody>
          <a:bodyPr/>
          <a:p/>
        </p:txBody>
      </p:sp>
      <p:sp>
        <p:nvSpPr>
          <p:cNvPr id="11" name="Text 6"/>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The gates are written down first and measured after — and every one has headroom.</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SCALE · 35.7 MILLION TRADES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Tens of millions of trades, fifty users, no failures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35.7M</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Trades: ENDUR, CALYPSO, MUREX, 30 days, loaded while serving</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179/s</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Requests a second, 50 users against the server, 0 failures</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0.21 s</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Form search p50, from 5.8 s before the form was kept per data version</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182/s</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Console pages a second, 50 users, 0 failures</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Data</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Measure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Users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Result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Single trade / grouped page, p50 / p95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0.16 / 0.73 s, 0.17 / 0.73 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35.7M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Server heap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3.7 GB of 8 GB</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400,000 restated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 day reloaded, 10 % amended, while serving</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30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2 min 54 s, 202 requests/s, 0 failures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8.2M trades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Single trade / grouped page from disk, p50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50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18 ms / 70 ms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One workstation, an 8 GB heap: the figures and their method are in PERFORMANCE.md and SCALE_STRATEGY.md.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ADVERSARIAL QA · FOUR ROUNDS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Written to break a promise — and fixed</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2507742" cy="1188720"/>
          </a:xfrm>
          <a:prstGeom prst="rect">
            <a:avLst/>
          </a:prstGeom>
          <a:solidFill>
            <a:srgbClr val="F7F5F2"/>
          </a:solidFill>
          <a:ln/>
        </p:spPr>
        <p:txBody>
          <a:bodyPr/>
          <a:p/>
        </p:txBody>
      </p:sp>
      <p:sp>
        <p:nvSpPr>
          <p:cNvPr id="7" name="Shape 4"/>
          <p:cNvSpPr/>
          <p:nvPr/>
        </p:nvSpPr>
        <p:spPr>
          <a:xfrm>
            <a:off x="777240" y="1417320"/>
            <a:ext cx="45720" cy="1188720"/>
          </a:xfrm>
          <a:prstGeom prst="rect">
            <a:avLst/>
          </a:prstGeom>
          <a:solidFill>
            <a:srgbClr val="A51C30"/>
          </a:solidFill>
          <a:ln/>
        </p:spPr>
        <p:txBody>
          <a:bodyPr/>
          <a:p/>
        </p:txBody>
      </p:sp>
      <p:sp>
        <p:nvSpPr>
          <p:cNvPr id="8" name="Text 5"/>
          <p:cNvSpPr txBox="1"/>
          <p:nvPr/>
        </p:nvSpPr>
        <p:spPr>
          <a:xfrm>
            <a:off x="97840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94</a:t>
            </a:r>
            <a:endParaRPr lang="en-US" sz="2600" dirty="0"/>
          </a:p>
        </p:txBody>
      </p:sp>
      <p:sp>
        <p:nvSpPr>
          <p:cNvPr id="9" name="Text 6"/>
          <p:cNvSpPr txBox="1"/>
          <p:nvPr/>
        </p:nvSpPr>
        <p:spPr>
          <a:xfrm>
            <a:off x="97840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one (10 high), security, data and UX</a:t>
            </a:r>
            <a:endParaRPr lang="en-US" sz="1150" dirty="0"/>
          </a:p>
        </p:txBody>
      </p:sp>
      <p:sp>
        <p:nvSpPr>
          <p:cNvPr id="10" name="Shape 7"/>
          <p:cNvSpPr/>
          <p:nvPr/>
        </p:nvSpPr>
        <p:spPr>
          <a:xfrm>
            <a:off x="3486150" y="1417320"/>
            <a:ext cx="2507742" cy="1188720"/>
          </a:xfrm>
          <a:prstGeom prst="rect">
            <a:avLst/>
          </a:prstGeom>
          <a:solidFill>
            <a:srgbClr val="F7F5F2"/>
          </a:solidFill>
          <a:ln/>
        </p:spPr>
        <p:txBody>
          <a:bodyPr/>
          <a:p/>
        </p:txBody>
      </p:sp>
      <p:sp>
        <p:nvSpPr>
          <p:cNvPr id="11" name="Shape 8"/>
          <p:cNvSpPr/>
          <p:nvPr/>
        </p:nvSpPr>
        <p:spPr>
          <a:xfrm>
            <a:off x="3486150" y="1417320"/>
            <a:ext cx="45720" cy="1188720"/>
          </a:xfrm>
          <a:prstGeom prst="rect">
            <a:avLst/>
          </a:prstGeom>
          <a:solidFill>
            <a:srgbClr val="A51C30"/>
          </a:solidFill>
          <a:ln/>
        </p:spPr>
        <p:txBody>
          <a:bodyPr/>
          <a:p/>
        </p:txBody>
      </p:sp>
      <p:sp>
        <p:nvSpPr>
          <p:cNvPr id="12" name="Text 9"/>
          <p:cNvSpPr txBox="1"/>
          <p:nvPr/>
        </p:nvSpPr>
        <p:spPr>
          <a:xfrm>
            <a:off x="368731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72</a:t>
            </a:r>
            <a:endParaRPr lang="en-US" sz="2600" dirty="0"/>
          </a:p>
        </p:txBody>
      </p:sp>
      <p:sp>
        <p:nvSpPr>
          <p:cNvPr id="13" name="Text 10"/>
          <p:cNvSpPr txBox="1"/>
          <p:nvPr/>
        </p:nvSpPr>
        <p:spPr>
          <a:xfrm>
            <a:off x="368731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round two, the build workbench (0 high)</a:t>
            </a:r>
            <a:endParaRPr lang="en-US" sz="1150" dirty="0"/>
          </a:p>
        </p:txBody>
      </p:sp>
      <p:sp>
        <p:nvSpPr>
          <p:cNvPr id="14" name="Shape 11"/>
          <p:cNvSpPr/>
          <p:nvPr/>
        </p:nvSpPr>
        <p:spPr>
          <a:xfrm>
            <a:off x="6195060" y="1417320"/>
            <a:ext cx="2507742" cy="1188720"/>
          </a:xfrm>
          <a:prstGeom prst="rect">
            <a:avLst/>
          </a:prstGeom>
          <a:solidFill>
            <a:srgbClr val="F7F5F2"/>
          </a:solidFill>
          <a:ln/>
        </p:spPr>
        <p:txBody>
          <a:bodyPr/>
          <a:p/>
        </p:txBody>
      </p:sp>
      <p:sp>
        <p:nvSpPr>
          <p:cNvPr id="15" name="Shape 12"/>
          <p:cNvSpPr/>
          <p:nvPr/>
        </p:nvSpPr>
        <p:spPr>
          <a:xfrm>
            <a:off x="6195060" y="1417320"/>
            <a:ext cx="45720" cy="1188720"/>
          </a:xfrm>
          <a:prstGeom prst="rect">
            <a:avLst/>
          </a:prstGeom>
          <a:solidFill>
            <a:srgbClr val="A51C30"/>
          </a:solidFill>
          <a:ln/>
        </p:spPr>
        <p:txBody>
          <a:bodyPr/>
          <a:p/>
        </p:txBody>
      </p:sp>
      <p:sp>
        <p:nvSpPr>
          <p:cNvPr id="16" name="Text 13"/>
          <p:cNvSpPr txBox="1"/>
          <p:nvPr/>
        </p:nvSpPr>
        <p:spPr>
          <a:xfrm>
            <a:off x="639622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29</a:t>
            </a:r>
            <a:endParaRPr lang="en-US" sz="2600" dirty="0"/>
          </a:p>
        </p:txBody>
      </p:sp>
      <p:sp>
        <p:nvSpPr>
          <p:cNvPr id="17" name="Text 14"/>
          <p:cNvSpPr txBox="1"/>
          <p:nvPr/>
        </p:nvSpPr>
        <p:spPr>
          <a:xfrm>
            <a:off x="639622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Findings in the collaboration and safety pair (2 high)</a:t>
            </a:r>
            <a:endParaRPr lang="en-US" sz="1150" dirty="0"/>
          </a:p>
        </p:txBody>
      </p:sp>
      <p:sp>
        <p:nvSpPr>
          <p:cNvPr id="18" name="Shape 15"/>
          <p:cNvSpPr/>
          <p:nvPr/>
        </p:nvSpPr>
        <p:spPr>
          <a:xfrm>
            <a:off x="8903970" y="1417320"/>
            <a:ext cx="2507742" cy="1188720"/>
          </a:xfrm>
          <a:prstGeom prst="rect">
            <a:avLst/>
          </a:prstGeom>
          <a:solidFill>
            <a:srgbClr val="F7F5F2"/>
          </a:solidFill>
          <a:ln/>
        </p:spPr>
        <p:txBody>
          <a:bodyPr/>
          <a:p/>
        </p:txBody>
      </p:sp>
      <p:sp>
        <p:nvSpPr>
          <p:cNvPr id="19" name="Shape 16"/>
          <p:cNvSpPr/>
          <p:nvPr/>
        </p:nvSpPr>
        <p:spPr>
          <a:xfrm>
            <a:off x="8903970" y="1417320"/>
            <a:ext cx="45720" cy="1188720"/>
          </a:xfrm>
          <a:prstGeom prst="rect">
            <a:avLst/>
          </a:prstGeom>
          <a:solidFill>
            <a:srgbClr val="A51C30"/>
          </a:solidFill>
          <a:ln/>
        </p:spPr>
        <p:txBody>
          <a:bodyPr/>
          <a:p/>
        </p:txBody>
      </p:sp>
      <p:sp>
        <p:nvSpPr>
          <p:cNvPr id="20" name="Text 17"/>
          <p:cNvSpPr txBox="1"/>
          <p:nvPr/>
        </p:nvSpPr>
        <p:spPr>
          <a:xfrm>
            <a:off x="9105138" y="1527048"/>
            <a:ext cx="2187702" cy="502920"/>
          </a:xfrm>
          <a:prstGeom prst="rect">
            <a:avLst/>
          </a:prstGeom>
          <a:noFill/>
          <a:ln/>
        </p:spPr>
        <p:txBody>
          <a:bodyPr wrap="square" lIns="0" tIns="0" rIns="0" bIns="0" rtlCol="0" anchor="ctr"/>
          <a:lstStyle/>
          <a:p>
            <a:pPr indent="0" marL="0">
              <a:buNone/>
            </a:pPr>
            <a:r>
              <a:rPr lang="en-US" sz="2600" b="1" dirty="0">
                <a:solidFill>
                  <a:srgbClr val="8A1626"/>
                </a:solidFill>
              </a:rPr>
              <a:t>4,640</a:t>
            </a:r>
            <a:endParaRPr lang="en-US" sz="2600" dirty="0"/>
          </a:p>
        </p:txBody>
      </p:sp>
      <p:sp>
        <p:nvSpPr>
          <p:cNvPr id="21" name="Text 18"/>
          <p:cNvSpPr txBox="1"/>
          <p:nvPr/>
        </p:nvSpPr>
        <p:spPr>
          <a:xfrm>
            <a:off x="9105138" y="2020824"/>
            <a:ext cx="2187702" cy="512064"/>
          </a:xfrm>
          <a:prstGeom prst="rect">
            <a:avLst/>
          </a:prstGeom>
          <a:noFill/>
          <a:ln/>
        </p:spPr>
        <p:txBody>
          <a:bodyPr wrap="square" lIns="0" tIns="0" rIns="0" bIns="0" rtlCol="0" anchor="t"/>
          <a:lstStyle/>
          <a:p>
            <a:pPr indent="0" marL="0">
              <a:buNone/>
            </a:pPr>
            <a:r>
              <a:rPr lang="en-US" sz="1150" dirty="0">
                <a:solidFill>
                  <a:srgbClr val="4A5058"/>
                </a:solidFill>
              </a:rPr>
              <a:t>Randomised searches matched brute force exactly</a:t>
            </a:r>
            <a:endParaRPr lang="en-US" sz="11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777240" y="2880360"/>
          <a:ext cx="10634472" cy="914400"/>
        </p:xfrm>
        <a:graphic>
          <a:graphicData uri="http://schemas.openxmlformats.org/drawingml/2006/table">
            <a:tbl>
              <a:tblPr/>
              <a:tblGrid>
                <a:gridCol w="1463040"/>
                <a:gridCol w="4754880"/>
                <a:gridCol w="822960"/>
                <a:gridCol w="3593592"/>
              </a:tblGrid>
              <a:tr h="475488">
                <a:tc>
                  <a:txBody>
                    <a:bodyPr/>
                    <a:lstStyle/>
                    <a:p>
                      <a:pPr indent="0" marL="0">
                        <a:buNone/>
                      </a:pPr>
                      <a:r>
                        <a:rPr lang="en-US" sz="1400" b="1" dirty="0">
                          <a:solidFill>
                            <a:srgbClr val="FFFFFF"/>
                          </a:solidFill>
                        </a:rPr>
                        <a:t>Round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Scope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High</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400" b="1" dirty="0">
                          <a:solidFill>
                            <a:srgbClr val="FFFFFF"/>
                          </a:solidFill>
                        </a:rPr>
                        <a:t>Outcome</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475488">
                <a:tc>
                  <a:txBody>
                    <a:bodyPr/>
                    <a:lstStyle/>
                    <a:p>
                      <a:pPr indent="0" marL="0">
                        <a:buNone/>
                      </a:pPr>
                      <a:r>
                        <a:rPr lang="en-US" sz="1400" b="1" dirty="0">
                          <a:solidFill>
                            <a:srgbClr val="8A1626"/>
                          </a:solidFill>
                        </a:rPr>
                        <a:t>2026-10-01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Security, data and UX of 1.13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All high fixed, each with its commit</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2026-10-03</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Build workbench: 25 endpoints × 6 callers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0</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18 medium fixed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Data safety: collaboration, Ask, bridges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400" dirty="0">
                          <a:solidFill>
                            <a:srgbClr val="1A1A1A"/>
                          </a:solidFill>
                        </a:rPr>
                        <a:t>12 of 12 resolved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475488">
                <a:tc>
                  <a:txBody>
                    <a:bodyPr/>
                    <a:lstStyle/>
                    <a:p>
                      <a:pPr indent="0" marL="0">
                        <a:buNone/>
                      </a:pPr>
                      <a:r>
                        <a:rPr lang="en-US" sz="1400" b="1" dirty="0">
                          <a:solidFill>
                            <a:srgbClr val="8A1626"/>
                          </a:solidFill>
                        </a:rPr>
                        <a:t>2026-10-05</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Behaviour: About, time, failure modes</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1</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400" dirty="0">
                          <a:solidFill>
                            <a:srgbClr val="1A1A1A"/>
                          </a:solidFill>
                        </a:rPr>
                        <a:t>All resolved or owned</a:t>
                      </a:r>
                      <a:endParaRPr lang="en-US" sz="140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bl>
          </a:graphicData>
        </a:graphic>
      </p:graphicFrame>
      <p:sp>
        <p:nvSpPr>
          <p:cNvPr id="23" name="Shape 19"/>
          <p:cNvSpPr/>
          <p:nvPr/>
        </p:nvSpPr>
        <p:spPr>
          <a:xfrm>
            <a:off x="777240" y="5550408"/>
            <a:ext cx="10634472" cy="694944"/>
          </a:xfrm>
          <a:prstGeom prst="rect">
            <a:avLst/>
          </a:prstGeom>
          <a:solidFill>
            <a:srgbClr val="F6E6E9"/>
          </a:solidFill>
          <a:ln/>
        </p:spPr>
        <p:txBody>
          <a:bodyPr/>
          <a:p/>
        </p:txBody>
      </p:sp>
      <p:sp>
        <p:nvSpPr>
          <p:cNvPr id="24" name="Shape 20"/>
          <p:cNvSpPr/>
          <p:nvPr/>
        </p:nvSpPr>
        <p:spPr>
          <a:xfrm>
            <a:off x="777240" y="5550408"/>
            <a:ext cx="54864" cy="694944"/>
          </a:xfrm>
          <a:prstGeom prst="rect">
            <a:avLst/>
          </a:prstGeom>
          <a:solidFill>
            <a:srgbClr val="A51C30"/>
          </a:solidFill>
          <a:ln/>
        </p:spPr>
        <p:txBody>
          <a:bodyPr/>
          <a:p/>
        </p:txBody>
      </p:sp>
      <p:sp>
        <p:nvSpPr>
          <p:cNvPr id="25"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No XSS anywhere, about 250 settings that match the code, 190 grammar fuzz cases with clean problem codes.</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THE DRILL · TOOLS/DRILL.SH</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Nothing reaches main without the full gate</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7" name="Text 4"/>
          <p:cNvSpPr txBox="1"/>
          <p:nvPr/>
        </p:nvSpPr>
        <p:spPr>
          <a:xfrm>
            <a:off x="91440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Licences</a:t>
            </a:r>
            <a:endParaRPr lang="en-US" sz="1600" dirty="0"/>
          </a:p>
        </p:txBody>
      </p:sp>
      <p:sp>
        <p:nvSpPr>
          <p:cNvPr id="8" name="Text 5"/>
          <p:cNvSpPr txBox="1"/>
          <p:nvPr/>
        </p:nvSpPr>
        <p:spPr>
          <a:xfrm>
            <a:off x="91440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A header on every file</a:t>
            </a:r>
            <a:endParaRPr lang="en-US" sz="1250" dirty="0"/>
          </a:p>
        </p:txBody>
      </p:sp>
      <p:sp>
        <p:nvSpPr>
          <p:cNvPr id="9" name="Shape 6"/>
          <p:cNvSpPr/>
          <p:nvPr/>
        </p:nvSpPr>
        <p:spPr>
          <a:xfrm>
            <a:off x="2578608"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0" name="Text 7"/>
          <p:cNvSpPr txBox="1"/>
          <p:nvPr/>
        </p:nvSpPr>
        <p:spPr>
          <a:xfrm>
            <a:off x="2715768"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21</a:t>
            </a:r>
            <a:endParaRPr lang="en-US" sz="1600" dirty="0"/>
          </a:p>
        </p:txBody>
      </p:sp>
      <p:sp>
        <p:nvSpPr>
          <p:cNvPr id="11" name="Text 8"/>
          <p:cNvSpPr txBox="1"/>
          <p:nvPr/>
        </p:nvSpPr>
        <p:spPr>
          <a:xfrm>
            <a:off x="2715768"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Full verify; bytecode pinned to 21</a:t>
            </a:r>
            <a:endParaRPr lang="en-US" sz="1250" dirty="0"/>
          </a:p>
        </p:txBody>
      </p:sp>
      <p:sp>
        <p:nvSpPr>
          <p:cNvPr id="12" name="Shape 9"/>
          <p:cNvSpPr/>
          <p:nvPr/>
        </p:nvSpPr>
        <p:spPr>
          <a:xfrm>
            <a:off x="2350008" y="2304288"/>
            <a:ext cx="228600" cy="914"/>
          </a:xfrm>
          <a:prstGeom prst="line">
            <a:avLst/>
          </a:prstGeom>
          <a:noFill/>
          <a:ln w="22225">
            <a:solidFill>
              <a:srgbClr val="A51C30"/>
            </a:solidFill>
            <a:prstDash val="solid"/>
            <a:tailEnd type="triangle"/>
          </a:ln>
        </p:spPr>
        <p:txBody>
          <a:bodyPr/>
          <a:p/>
        </p:txBody>
      </p:sp>
      <p:sp>
        <p:nvSpPr>
          <p:cNvPr id="13" name="Shape 10"/>
          <p:cNvSpPr/>
          <p:nvPr/>
        </p:nvSpPr>
        <p:spPr>
          <a:xfrm>
            <a:off x="4379976"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4517136"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Java 25</a:t>
            </a:r>
            <a:endParaRPr lang="en-US" sz="1600" dirty="0"/>
          </a:p>
        </p:txBody>
      </p:sp>
      <p:sp>
        <p:nvSpPr>
          <p:cNvPr id="15" name="Text 12"/>
          <p:cNvSpPr txBox="1"/>
          <p:nvPr/>
        </p:nvSpPr>
        <p:spPr>
          <a:xfrm>
            <a:off x="4517136"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Verify in a copy of the commit</a:t>
            </a:r>
            <a:endParaRPr lang="en-US" sz="1250" dirty="0"/>
          </a:p>
        </p:txBody>
      </p:sp>
      <p:sp>
        <p:nvSpPr>
          <p:cNvPr id="16" name="Shape 13"/>
          <p:cNvSpPr/>
          <p:nvPr/>
        </p:nvSpPr>
        <p:spPr>
          <a:xfrm>
            <a:off x="4151376" y="2304288"/>
            <a:ext cx="228600" cy="914"/>
          </a:xfrm>
          <a:prstGeom prst="line">
            <a:avLst/>
          </a:prstGeom>
          <a:noFill/>
          <a:ln w="22225">
            <a:solidFill>
              <a:srgbClr val="A51C30"/>
            </a:solidFill>
            <a:prstDash val="solid"/>
            <a:tailEnd type="triangle"/>
          </a:ln>
        </p:spPr>
        <p:txBody>
          <a:bodyPr/>
          <a:p/>
        </p:txBody>
      </p:sp>
      <p:sp>
        <p:nvSpPr>
          <p:cNvPr id="17" name="Shape 14"/>
          <p:cNvSpPr/>
          <p:nvPr/>
        </p:nvSpPr>
        <p:spPr>
          <a:xfrm>
            <a:off x="6181344"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8" name="Text 15"/>
          <p:cNvSpPr txBox="1"/>
          <p:nvPr/>
        </p:nvSpPr>
        <p:spPr>
          <a:xfrm>
            <a:off x="6318504"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Console</a:t>
            </a:r>
            <a:endParaRPr lang="en-US" sz="1600" dirty="0"/>
          </a:p>
        </p:txBody>
      </p:sp>
      <p:sp>
        <p:nvSpPr>
          <p:cNvPr id="19" name="Text 16"/>
          <p:cNvSpPr txBox="1"/>
          <p:nvPr/>
        </p:nvSpPr>
        <p:spPr>
          <a:xfrm>
            <a:off x="6318504"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Tests on parallel workers</a:t>
            </a:r>
            <a:endParaRPr lang="en-US" sz="1250" dirty="0"/>
          </a:p>
        </p:txBody>
      </p:sp>
      <p:sp>
        <p:nvSpPr>
          <p:cNvPr id="20" name="Shape 17"/>
          <p:cNvSpPr/>
          <p:nvPr/>
        </p:nvSpPr>
        <p:spPr>
          <a:xfrm>
            <a:off x="5952744" y="2304288"/>
            <a:ext cx="228600" cy="914"/>
          </a:xfrm>
          <a:prstGeom prst="line">
            <a:avLst/>
          </a:prstGeom>
          <a:noFill/>
          <a:ln w="22225">
            <a:solidFill>
              <a:srgbClr val="A51C30"/>
            </a:solidFill>
            <a:prstDash val="solid"/>
            <a:tailEnd type="triangle"/>
          </a:ln>
        </p:spPr>
        <p:txBody>
          <a:bodyPr/>
          <a:p/>
        </p:txBody>
      </p:sp>
      <p:sp>
        <p:nvSpPr>
          <p:cNvPr id="21" name="Shape 18"/>
          <p:cNvSpPr/>
          <p:nvPr/>
        </p:nvSpPr>
        <p:spPr>
          <a:xfrm>
            <a:off x="7982712" y="1554480"/>
            <a:ext cx="1572768" cy="150876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2" name="Text 19"/>
          <p:cNvSpPr txBox="1"/>
          <p:nvPr/>
        </p:nvSpPr>
        <p:spPr>
          <a:xfrm>
            <a:off x="8119872"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Tools</a:t>
            </a:r>
            <a:endParaRPr lang="en-US" sz="1600" dirty="0"/>
          </a:p>
        </p:txBody>
      </p:sp>
      <p:sp>
        <p:nvSpPr>
          <p:cNvPr id="23" name="Text 20"/>
          <p:cNvSpPr txBox="1"/>
          <p:nvPr/>
        </p:nvSpPr>
        <p:spPr>
          <a:xfrm>
            <a:off x="8119872"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CLI tests</a:t>
            </a:r>
            <a:endParaRPr lang="en-US" sz="1250" dirty="0"/>
          </a:p>
        </p:txBody>
      </p:sp>
      <p:sp>
        <p:nvSpPr>
          <p:cNvPr id="24" name="Shape 21"/>
          <p:cNvSpPr/>
          <p:nvPr/>
        </p:nvSpPr>
        <p:spPr>
          <a:xfrm>
            <a:off x="7754112" y="2304288"/>
            <a:ext cx="228600" cy="914"/>
          </a:xfrm>
          <a:prstGeom prst="line">
            <a:avLst/>
          </a:prstGeom>
          <a:noFill/>
          <a:ln w="22225">
            <a:solidFill>
              <a:srgbClr val="A51C30"/>
            </a:solidFill>
            <a:prstDash val="solid"/>
            <a:tailEnd type="triangle"/>
          </a:ln>
        </p:spPr>
        <p:txBody>
          <a:bodyPr/>
          <a:p/>
        </p:txBody>
      </p:sp>
      <p:sp>
        <p:nvSpPr>
          <p:cNvPr id="25" name="Shape 22"/>
          <p:cNvSpPr/>
          <p:nvPr/>
        </p:nvSpPr>
        <p:spPr>
          <a:xfrm>
            <a:off x="9784080" y="1554480"/>
            <a:ext cx="1572768" cy="1508760"/>
          </a:xfrm>
          <a:prstGeom prst="rect">
            <a:avLst/>
          </a:prstGeom>
          <a:solidFill>
            <a:srgbClr val="F6E6E9"/>
          </a:solidFill>
          <a:ln w="12700">
            <a:solidFill>
              <a:srgbClr val="A51C30"/>
            </a:solidFill>
            <a:prstDash val="solid"/>
          </a:ln>
          <a:effectLst>
            <a:outerShdw sx="100000" sy="100000" kx="0" ky="0" algn="bl" rotWithShape="0" blurRad="50800" dist="19050" dir="5400000">
              <a:srgbClr val="000000">
                <a:alpha val="10000"/>
              </a:srgbClr>
            </a:outerShdw>
          </a:effectLst>
        </p:spPr>
        <p:txBody>
          <a:bodyPr/>
          <a:p/>
        </p:txBody>
      </p:sp>
      <p:sp>
        <p:nvSpPr>
          <p:cNvPr id="26" name="Text 23"/>
          <p:cNvSpPr txBox="1"/>
          <p:nvPr/>
        </p:nvSpPr>
        <p:spPr>
          <a:xfrm>
            <a:off x="9921240" y="1664208"/>
            <a:ext cx="1298448" cy="329184"/>
          </a:xfrm>
          <a:prstGeom prst="rect">
            <a:avLst/>
          </a:prstGeom>
          <a:noFill/>
          <a:ln/>
        </p:spPr>
        <p:txBody>
          <a:bodyPr wrap="square" lIns="0" tIns="0" rIns="0" bIns="0" rtlCol="0" anchor="t"/>
          <a:lstStyle/>
          <a:p>
            <a:pPr indent="0" marL="0">
              <a:buNone/>
            </a:pPr>
            <a:r>
              <a:rPr lang="en-US" sz="1600" b="1" dirty="0">
                <a:solidFill>
                  <a:srgbClr val="1A1A1A"/>
                </a:solidFill>
              </a:rPr>
              <a:t>Push</a:t>
            </a:r>
            <a:endParaRPr lang="en-US" sz="1600" dirty="0"/>
          </a:p>
        </p:txBody>
      </p:sp>
      <p:sp>
        <p:nvSpPr>
          <p:cNvPr id="27" name="Text 24"/>
          <p:cNvSpPr txBox="1"/>
          <p:nvPr/>
        </p:nvSpPr>
        <p:spPr>
          <a:xfrm>
            <a:off x="9921240" y="2011680"/>
            <a:ext cx="1298448" cy="987552"/>
          </a:xfrm>
          <a:prstGeom prst="rect">
            <a:avLst/>
          </a:prstGeom>
          <a:noFill/>
          <a:ln/>
        </p:spPr>
        <p:txBody>
          <a:bodyPr wrap="square" lIns="0" tIns="0" rIns="0" bIns="0" rtlCol="0" anchor="t"/>
          <a:lstStyle/>
          <a:p>
            <a:pPr indent="0" marL="0">
              <a:buNone/>
            </a:pPr>
            <a:r>
              <a:rPr lang="en-US" sz="1250" dirty="0">
                <a:solidFill>
                  <a:srgbClr val="4A5058"/>
                </a:solidFill>
              </a:rPr>
              <a:t>develop, then main</a:t>
            </a:r>
            <a:endParaRPr lang="en-US" sz="1250" dirty="0"/>
          </a:p>
        </p:txBody>
      </p:sp>
      <p:sp>
        <p:nvSpPr>
          <p:cNvPr id="28" name="Shape 25"/>
          <p:cNvSpPr/>
          <p:nvPr/>
        </p:nvSpPr>
        <p:spPr>
          <a:xfrm>
            <a:off x="9555480" y="2304288"/>
            <a:ext cx="228600" cy="914"/>
          </a:xfrm>
          <a:prstGeom prst="line">
            <a:avLst/>
          </a:prstGeom>
          <a:noFill/>
          <a:ln w="22225">
            <a:solidFill>
              <a:srgbClr val="A51C30"/>
            </a:solidFill>
            <a:prstDash val="solid"/>
            <a:tailEnd type="triangle"/>
          </a:ln>
        </p:spPr>
        <p:txBody>
          <a:bodyPr/>
          <a:p/>
        </p:txBody>
      </p:sp>
      <p:sp>
        <p:nvSpPr>
          <p:cNvPr id="29" name="Shape 26"/>
          <p:cNvSpPr/>
          <p:nvPr/>
        </p:nvSpPr>
        <p:spPr>
          <a:xfrm>
            <a:off x="777240" y="3337560"/>
            <a:ext cx="3410712" cy="1920240"/>
          </a:xfrm>
          <a:prstGeom prst="rect">
            <a:avLst/>
          </a:prstGeom>
          <a:solidFill>
            <a:srgbClr val="F7F5F2"/>
          </a:solidFill>
          <a:ln/>
        </p:spPr>
        <p:txBody>
          <a:bodyPr/>
          <a:p/>
        </p:txBody>
      </p:sp>
      <p:sp>
        <p:nvSpPr>
          <p:cNvPr id="30" name="Shape 27"/>
          <p:cNvSpPr/>
          <p:nvPr/>
        </p:nvSpPr>
        <p:spPr>
          <a:xfrm>
            <a:off x="777240" y="3337560"/>
            <a:ext cx="45720" cy="1920240"/>
          </a:xfrm>
          <a:prstGeom prst="rect">
            <a:avLst/>
          </a:prstGeom>
          <a:solidFill>
            <a:srgbClr val="A51C30"/>
          </a:solidFill>
          <a:ln/>
        </p:spPr>
        <p:txBody>
          <a:bodyPr/>
          <a:p/>
        </p:txBody>
      </p:sp>
      <p:sp>
        <p:nvSpPr>
          <p:cNvPr id="31" name="Text 28"/>
          <p:cNvSpPr txBox="1"/>
          <p:nvPr/>
        </p:nvSpPr>
        <p:spPr>
          <a:xfrm>
            <a:off x="97840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21 · 25</a:t>
            </a:r>
            <a:endParaRPr lang="en-US" sz="2600" dirty="0"/>
          </a:p>
        </p:txBody>
      </p:sp>
      <p:sp>
        <p:nvSpPr>
          <p:cNvPr id="32" name="Text 29"/>
          <p:cNvSpPr txBox="1"/>
          <p:nvPr/>
        </p:nvSpPr>
        <p:spPr>
          <a:xfrm>
            <a:off x="97840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Every commit verified on Java 21 and on Java 25</a:t>
            </a:r>
            <a:endParaRPr lang="en-US" sz="1300" dirty="0"/>
          </a:p>
        </p:txBody>
      </p:sp>
      <p:sp>
        <p:nvSpPr>
          <p:cNvPr id="33" name="Shape 30"/>
          <p:cNvSpPr/>
          <p:nvPr/>
        </p:nvSpPr>
        <p:spPr>
          <a:xfrm>
            <a:off x="4389120" y="3337560"/>
            <a:ext cx="3410712" cy="1920240"/>
          </a:xfrm>
          <a:prstGeom prst="rect">
            <a:avLst/>
          </a:prstGeom>
          <a:solidFill>
            <a:srgbClr val="F7F5F2"/>
          </a:solidFill>
          <a:ln/>
        </p:spPr>
        <p:txBody>
          <a:bodyPr/>
          <a:p/>
        </p:txBody>
      </p:sp>
      <p:sp>
        <p:nvSpPr>
          <p:cNvPr id="34" name="Shape 31"/>
          <p:cNvSpPr/>
          <p:nvPr/>
        </p:nvSpPr>
        <p:spPr>
          <a:xfrm>
            <a:off x="4389120" y="3337560"/>
            <a:ext cx="45720" cy="1920240"/>
          </a:xfrm>
          <a:prstGeom prst="rect">
            <a:avLst/>
          </a:prstGeom>
          <a:solidFill>
            <a:srgbClr val="A51C30"/>
          </a:solidFill>
          <a:ln/>
        </p:spPr>
        <p:txBody>
          <a:bodyPr/>
          <a:p/>
        </p:txBody>
      </p:sp>
      <p:sp>
        <p:nvSpPr>
          <p:cNvPr id="35" name="Text 32"/>
          <p:cNvSpPr txBox="1"/>
          <p:nvPr/>
        </p:nvSpPr>
        <p:spPr>
          <a:xfrm>
            <a:off x="459028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32</a:t>
            </a:r>
            <a:endParaRPr lang="en-US" sz="2600" dirty="0"/>
          </a:p>
        </p:txBody>
      </p:sp>
      <p:sp>
        <p:nvSpPr>
          <p:cNvPr id="36" name="Text 33"/>
          <p:cNvSpPr txBox="1"/>
          <p:nvPr/>
        </p:nvSpPr>
        <p:spPr>
          <a:xfrm>
            <a:off x="459028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Releases, 1.0 to 2.4, 30 Sep to 19 Oct 2026</a:t>
            </a:r>
            <a:endParaRPr lang="en-US" sz="1300" dirty="0"/>
          </a:p>
        </p:txBody>
      </p:sp>
      <p:sp>
        <p:nvSpPr>
          <p:cNvPr id="37" name="Shape 34"/>
          <p:cNvSpPr/>
          <p:nvPr/>
        </p:nvSpPr>
        <p:spPr>
          <a:xfrm>
            <a:off x="8001000" y="3337560"/>
            <a:ext cx="3410712" cy="1920240"/>
          </a:xfrm>
          <a:prstGeom prst="rect">
            <a:avLst/>
          </a:prstGeom>
          <a:solidFill>
            <a:srgbClr val="F7F5F2"/>
          </a:solidFill>
          <a:ln/>
        </p:spPr>
        <p:txBody>
          <a:bodyPr/>
          <a:p/>
        </p:txBody>
      </p:sp>
      <p:sp>
        <p:nvSpPr>
          <p:cNvPr id="38" name="Shape 35"/>
          <p:cNvSpPr/>
          <p:nvPr/>
        </p:nvSpPr>
        <p:spPr>
          <a:xfrm>
            <a:off x="8001000" y="3337560"/>
            <a:ext cx="45720" cy="1920240"/>
          </a:xfrm>
          <a:prstGeom prst="rect">
            <a:avLst/>
          </a:prstGeom>
          <a:solidFill>
            <a:srgbClr val="A51C30"/>
          </a:solidFill>
          <a:ln/>
        </p:spPr>
        <p:txBody>
          <a:bodyPr/>
          <a:p/>
        </p:txBody>
      </p:sp>
      <p:sp>
        <p:nvSpPr>
          <p:cNvPr id="39" name="Text 36"/>
          <p:cNvSpPr txBox="1"/>
          <p:nvPr/>
        </p:nvSpPr>
        <p:spPr>
          <a:xfrm>
            <a:off x="8202168" y="3447288"/>
            <a:ext cx="3090672" cy="502920"/>
          </a:xfrm>
          <a:prstGeom prst="rect">
            <a:avLst/>
          </a:prstGeom>
          <a:noFill/>
          <a:ln/>
        </p:spPr>
        <p:txBody>
          <a:bodyPr wrap="square" lIns="0" tIns="0" rIns="0" bIns="0" rtlCol="0" anchor="ctr"/>
          <a:lstStyle/>
          <a:p>
            <a:pPr indent="0" marL="0">
              <a:buNone/>
            </a:pPr>
            <a:r>
              <a:rPr lang="en-US" sz="2600" b="1" dirty="0">
                <a:solidFill>
                  <a:srgbClr val="8A1626"/>
                </a:solidFill>
              </a:rPr>
              <a:t>1,421</a:t>
            </a:r>
            <a:endParaRPr lang="en-US" sz="2600" dirty="0"/>
          </a:p>
        </p:txBody>
      </p:sp>
      <p:sp>
        <p:nvSpPr>
          <p:cNvPr id="40" name="Text 37"/>
          <p:cNvSpPr txBox="1"/>
          <p:nvPr/>
        </p:nvSpPr>
        <p:spPr>
          <a:xfrm>
            <a:off x="8202168" y="3941064"/>
            <a:ext cx="3090672" cy="1243584"/>
          </a:xfrm>
          <a:prstGeom prst="rect">
            <a:avLst/>
          </a:prstGeom>
          <a:noFill/>
          <a:ln/>
        </p:spPr>
        <p:txBody>
          <a:bodyPr wrap="square" lIns="0" tIns="0" rIns="0" bIns="0" rtlCol="0" anchor="t"/>
          <a:lstStyle/>
          <a:p>
            <a:pPr indent="0" marL="0">
              <a:buNone/>
            </a:pPr>
            <a:r>
              <a:rPr lang="en-US" sz="1300" dirty="0">
                <a:solidFill>
                  <a:srgbClr val="4A5058"/>
                </a:solidFill>
              </a:rPr>
              <a:t>Commits, every push through the drill</a:t>
            </a:r>
            <a:endParaRPr lang="en-US" sz="1300" dirty="0"/>
          </a:p>
        </p:txBody>
      </p:sp>
      <p:sp>
        <p:nvSpPr>
          <p:cNvPr id="41" name="Shape 38"/>
          <p:cNvSpPr/>
          <p:nvPr/>
        </p:nvSpPr>
        <p:spPr>
          <a:xfrm>
            <a:off x="777240" y="5550408"/>
            <a:ext cx="10634472" cy="694944"/>
          </a:xfrm>
          <a:prstGeom prst="rect">
            <a:avLst/>
          </a:prstGeom>
          <a:solidFill>
            <a:srgbClr val="F6E6E9"/>
          </a:solidFill>
          <a:ln/>
        </p:spPr>
        <p:txBody>
          <a:bodyPr/>
          <a:p/>
        </p:txBody>
      </p:sp>
      <p:sp>
        <p:nvSpPr>
          <p:cNvPr id="42" name="Shape 39"/>
          <p:cNvSpPr/>
          <p:nvPr/>
        </p:nvSpPr>
        <p:spPr>
          <a:xfrm>
            <a:off x="777240" y="5550408"/>
            <a:ext cx="54864" cy="694944"/>
          </a:xfrm>
          <a:prstGeom prst="rect">
            <a:avLst/>
          </a:prstGeom>
          <a:solidFill>
            <a:srgbClr val="A51C30"/>
          </a:solidFill>
          <a:ln/>
        </p:spPr>
        <p:txBody>
          <a:bodyPr/>
          <a:p/>
        </p:txBody>
      </p:sp>
      <p:sp>
        <p:nvSpPr>
          <p:cNvPr id="43" name="Text 40"/>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A failed test stops the push; a flaky one is retried once and written down — never ignored.</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SIZE · GIT LS-FILES</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Where the work is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6" name="Chart 0" descr=""/>
          <p:cNvGraphicFramePr/>
          <p:nvPr/>
        </p:nvGraphicFramePr>
        <p:xfrm>
          <a:off x="777240" y="1417320"/>
          <a:ext cx="6766560" cy="39776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1463040"/>
            <a:ext cx="3639312" cy="3931920"/>
          </a:xfrm>
          <a:prstGeom prst="rect">
            <a:avLst/>
          </a:prstGeom>
          <a:noFill/>
          <a:ln/>
        </p:spPr>
        <p:txBody>
          <a:bodyPr wrap="square" lIns="0" tIns="0" rIns="0" bIns="0" rtlCol="0" anchor="t"/>
          <a:lstStyle/>
          <a:p>
            <a:pPr indent="0" marL="0">
              <a:buNone/>
            </a:pPr>
            <a:r>
              <a:rPr lang="en-US" sz="1500" b="1" dirty="0">
                <a:solidFill>
                  <a:srgbClr val="A51C30"/>
                </a:solidFill>
              </a:rPr>
              <a:t>▪  162 guides and references</a:t>
            </a:r>
            <a:endParaRPr lang="en-US" sz="1500" dirty="0"/>
          </a:p>
          <a:p>
            <a:pPr indent="0" marL="0">
              <a:spcAft>
                <a:spcPts val="1000"/>
              </a:spcAft>
              <a:buNone/>
            </a:pPr>
            <a:r>
              <a:rPr lang="en-US" sz="1300" dirty="0">
                <a:solidFill>
                  <a:srgbClr val="4A5058"/>
                </a:solidFill>
              </a:rPr>
              <a:t>User, admin, CLI, BI, packs, connectors, architecture, 20 tutorials and 21 ADRs.</a:t>
            </a:r>
            <a:endParaRPr lang="en-US" sz="1500" dirty="0"/>
          </a:p>
          <a:p>
            <a:pPr indent="0" marL="0">
              <a:buNone/>
            </a:pPr>
            <a:r>
              <a:rPr lang="en-US" sz="1500" b="1" dirty="0">
                <a:solidFill>
                  <a:srgbClr val="A51C30"/>
                </a:solidFill>
              </a:rPr>
              <a:t>▪  Every screen documented</a:t>
            </a:r>
            <a:endParaRPr lang="en-US" sz="1500" dirty="0"/>
          </a:p>
          <a:p>
            <a:pPr indent="0" marL="0">
              <a:spcAft>
                <a:spcPts val="1000"/>
              </a:spcAft>
              <a:buNone/>
            </a:pPr>
            <a:r>
              <a:rPr lang="en-US" sz="1300" dirty="0">
                <a:solidFill>
                  <a:srgbClr val="4A5058"/>
                </a:solidFill>
              </a:rPr>
              <a:t>With real captures, regenerated by a script.</a:t>
            </a:r>
            <a:endParaRPr lang="en-US" sz="1500" dirty="0"/>
          </a:p>
          <a:p>
            <a:pPr indent="0" marL="0">
              <a:buNone/>
            </a:pPr>
            <a:r>
              <a:rPr lang="en-US" sz="1500" b="1" dirty="0">
                <a:solidFill>
                  <a:srgbClr val="A51C30"/>
                </a:solidFill>
              </a:rPr>
              <a:t>▪  14 core modules</a:t>
            </a:r>
            <a:endParaRPr lang="en-US" sz="1500" dirty="0"/>
          </a:p>
          <a:p>
            <a:pPr indent="0" marL="0">
              <a:spcAft>
                <a:spcPts val="1000"/>
              </a:spcAft>
              <a:buNone/>
            </a:pPr>
            <a:r>
              <a:rPr lang="en-US" sz="1300" dirty="0">
                <a:solidFill>
                  <a:srgbClr val="4A5058"/>
                </a:solidFill>
              </a:rPr>
              <a:t>Plus 19 source plugins, a server, integration tests and benchmarks.</a:t>
            </a:r>
            <a:endParaRPr lang="en-US" sz="15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Chapter watermark"/>
          <p:cNvSpPr txBox="1"/>
          <p:nvPr/>
        </p:nvSpPr>
        <p:spPr>
          <a:xfrm>
            <a:off x="7589520" y="502920"/>
            <a:ext cx="4206240" cy="3017520"/>
          </a:xfrm>
          <a:prstGeom prst="rect">
            <a:avLst/>
          </a:prstGeom>
          <a:noFill/>
          <a:ln/>
        </p:spPr>
        <p:txBody>
          <a:bodyPr wrap="square" lIns="0" tIns="0" rIns="0" bIns="0" rtlCol="0" anchor="t"/>
          <a:lstStyle/>
          <a:p>
            <a:pPr algn="r" indent="0" marL="0">
              <a:buNone/>
            </a:pPr>
            <a:r>
              <a:rPr lang="en-US" sz="16000" b="1" dirty="0">
                <a:solidFill>
                  <a:srgbClr val="A51C30"/>
                </a:solidFill>
              </a:rPr>
              <a:t>05</a:t>
            </a:r>
            <a:endParaRPr lang="en-US" sz="16000" dirty="0"/>
          </a:p>
        </p:txBody>
      </p:sp>
      <p:sp>
        <p:nvSpPr>
          <p:cNvPr id="3" name="Shape 1"/>
          <p:cNvSpPr/>
          <p:nvPr/>
        </p:nvSpPr>
        <p:spPr>
          <a:xfrm>
            <a:off x="822960" y="768096"/>
            <a:ext cx="512064"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822960" y="914400"/>
            <a:ext cx="512064" cy="256032"/>
          </a:xfrm>
          <a:prstGeom prst="arc">
            <a:avLst>
              <a:gd name="adj1" fmla="val 12000000"/>
              <a:gd name="adj2" fmla="val 20400000"/>
            </a:avLst>
          </a:prstGeom>
          <a:ln w="25400">
            <a:solidFill>
              <a:srgbClr val="C4384B"/>
            </a:solidFill>
            <a:prstDash val="solid"/>
          </a:ln>
        </p:spPr>
        <p:txBody>
          <a:bodyPr/>
          <a:p/>
        </p:txBody>
      </p:sp>
      <p:sp>
        <p:nvSpPr>
          <p:cNvPr id="5" name="Shape 3"/>
          <p:cNvSpPr/>
          <p:nvPr/>
        </p:nvSpPr>
        <p:spPr>
          <a:xfrm>
            <a:off x="822960" y="1060704"/>
            <a:ext cx="512064"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822960" y="2788920"/>
            <a:ext cx="2194560" cy="54864"/>
          </a:xfrm>
          <a:prstGeom prst="rect">
            <a:avLst/>
          </a:prstGeom>
          <a:solidFill>
            <a:srgbClr val="C4384B"/>
          </a:solidFill>
          <a:ln/>
        </p:spPr>
        <p:txBody>
          <a:bodyPr/>
          <a:p/>
        </p:txBody>
      </p:sp>
      <p:sp>
        <p:nvSpPr>
          <p:cNvPr id="7" name="Text 5"/>
          <p:cNvSpPr txBox="1"/>
          <p:nvPr/>
        </p:nvSpPr>
        <p:spPr>
          <a:xfrm>
            <a:off x="822960" y="2971800"/>
            <a:ext cx="10058400" cy="1097280"/>
          </a:xfrm>
          <a:prstGeom prst="rect">
            <a:avLst/>
          </a:prstGeom>
          <a:noFill/>
          <a:ln/>
        </p:spPr>
        <p:txBody>
          <a:bodyPr wrap="square" lIns="0" tIns="0" rIns="0" bIns="0" rtlCol="0" anchor="t"/>
          <a:lstStyle/>
          <a:p>
            <a:pPr indent="0" marL="0">
              <a:buNone/>
            </a:pPr>
            <a:r>
              <a:rPr lang="en-US" sz="4000" b="1" dirty="0">
                <a:solidFill>
                  <a:srgbClr val="FFFFFF"/>
                </a:solidFill>
              </a:rPr>
              <a:t>Where it is going</a:t>
            </a:r>
            <a:endParaRPr lang="en-US" sz="4000" dirty="0"/>
          </a:p>
        </p:txBody>
      </p:sp>
      <p:sp>
        <p:nvSpPr>
          <p:cNvPr id="8" name="Text 6"/>
          <p:cNvSpPr txBox="1"/>
          <p:nvPr/>
        </p:nvSpPr>
        <p:spPr>
          <a:xfrm>
            <a:off x="822960" y="4160520"/>
            <a:ext cx="9601200" cy="914400"/>
          </a:xfrm>
          <a:prstGeom prst="rect">
            <a:avLst/>
          </a:prstGeom>
          <a:noFill/>
          <a:ln/>
        </p:spPr>
        <p:txBody>
          <a:bodyPr wrap="square" lIns="0" tIns="0" rIns="0" bIns="0" rtlCol="0" anchor="t"/>
          <a:lstStyle/>
          <a:p>
            <a:pPr indent="0" marL="0">
              <a:buNone/>
            </a:pPr>
            <a:r>
              <a:rPr lang="en-US" sz="1900" i="1" dirty="0">
                <a:solidFill>
                  <a:srgbClr val="F6E6E9"/>
                </a:solidFill>
              </a:rPr>
              <a:t>Statements and connectors, then write-back, then AI, then a real-life QA and production readiness, then 3.0.</a:t>
            </a:r>
            <a:endParaRPr lang="en-US" sz="19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ROADMAP</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What comes next — and what each release is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77240" y="1463040"/>
          <a:ext cx="10634472" cy="914400"/>
        </p:xfrm>
        <a:graphic>
          <a:graphicData uri="http://schemas.openxmlformats.org/drawingml/2006/table">
            <a:tbl>
              <a:tblPr/>
              <a:tblGrid>
                <a:gridCol w="2194560"/>
                <a:gridCol w="4937760"/>
                <a:gridCol w="3502152"/>
              </a:tblGrid>
              <a:tr h="585216">
                <a:tc>
                  <a:txBody>
                    <a:bodyPr/>
                    <a:lstStyle/>
                    <a:p>
                      <a:pPr indent="0" marL="0">
                        <a:buNone/>
                      </a:pPr>
                      <a:r>
                        <a:rPr lang="en-US" sz="1350" b="1" dirty="0">
                          <a:solidFill>
                            <a:srgbClr val="FFFFFF"/>
                          </a:solidFill>
                        </a:rPr>
                        <a:t>Next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What it is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c>
                  <a:txBody>
                    <a:bodyPr/>
                    <a:lstStyle/>
                    <a:p>
                      <a:pPr indent="0" marL="0">
                        <a:buNone/>
                      </a:pPr>
                      <a:r>
                        <a:rPr lang="en-US" sz="1350" b="1" dirty="0">
                          <a:solidFill>
                            <a:srgbClr val="FFFFFF"/>
                          </a:solidFill>
                        </a:rPr>
                        <a:t>Done when</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8A1626"/>
                    </a:solidFill>
                  </a:tcPr>
                </a:tc>
              </a:tr>
              <a:tr h="585216">
                <a:tc>
                  <a:txBody>
                    <a:bodyPr/>
                    <a:lstStyle/>
                    <a:p>
                      <a:pPr indent="0" marL="0">
                        <a:buNone/>
                      </a:pPr>
                      <a:r>
                        <a:rPr lang="en-US" sz="1350" b="1" dirty="0">
                          <a:solidFill>
                            <a:srgbClr val="8A1626"/>
                          </a:solidFill>
                        </a:rPr>
                        <a:t>2.6.0 Statements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The known-bug pass; paginated reports and statements; field parameters in wells; the Cassandra connector; Iceberg without Hadoop</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 statement bursts to ten readers, each masked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2.7.0 Write-back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Edit and save fields on a Sutra page: ordered lanes, version checks, four eyes, overlays into the lake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Two users editing one field never overwrite each other silently</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2.8.0 AI</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GenUI (an agent composes a live screen from governed Sutra fragments), AI management, the Sajha MCP connector</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An AI answer uses only what its user may see</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Real-life QA</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Real users' tasks on real-shaped data, outside the builders' own tests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Every finding triaged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2.9.0 Readiness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Wave E: the QA findings, governance across environments, 3.0 groundwork</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A bundle moves a model from dev to test</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r h="585216">
                <a:tc>
                  <a:txBody>
                    <a:bodyPr/>
                    <a:lstStyle/>
                    <a:p>
                      <a:pPr indent="0" marL="0">
                        <a:buNone/>
                      </a:pPr>
                      <a:r>
                        <a:rPr lang="en-US" sz="1350" b="1" dirty="0">
                          <a:solidFill>
                            <a:srgbClr val="8A1626"/>
                          </a:solidFill>
                        </a:rPr>
                        <a:t>3.0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The Excel add-in, a second query engine in production, scale on real servers</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c>
                  <a:txBody>
                    <a:bodyPr/>
                    <a:lstStyle/>
                    <a:p>
                      <a:pPr indent="0" marL="0">
                        <a:buNone/>
                      </a:pPr>
                      <a:r>
                        <a:rPr lang="en-US" sz="1350" dirty="0">
                          <a:solidFill>
                            <a:srgbClr val="1A1A1A"/>
                          </a:solidFill>
                        </a:rPr>
                        <a:t>Measured on real servers, not extrapolated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FFFFF"/>
                    </a:solidFill>
                  </a:tcPr>
                </a:tc>
              </a:tr>
              <a:tr h="585216">
                <a:tc>
                  <a:txBody>
                    <a:bodyPr/>
                    <a:lstStyle/>
                    <a:p>
                      <a:pPr indent="0" marL="0">
                        <a:buNone/>
                      </a:pPr>
                      <a:r>
                        <a:rPr lang="en-US" sz="1350" b="1" dirty="0">
                          <a:solidFill>
                            <a:srgbClr val="8A1626"/>
                          </a:solidFill>
                        </a:rPr>
                        <a:t>After 3.0</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Send and push (Outlook, Teams, SharePoint); integration (PG-wire, Excel feed, embed tokens, SDK events); pricing (ADR-019)</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c>
                  <a:txBody>
                    <a:bodyPr/>
                    <a:lstStyle/>
                    <a:p>
                      <a:pPr indent="0" marL="0">
                        <a:buNone/>
                      </a:pPr>
                      <a:r>
                        <a:rPr lang="en-US" sz="1350" dirty="0">
                          <a:solidFill>
                            <a:srgbClr val="1A1A1A"/>
                          </a:solidFill>
                        </a:rPr>
                        <a:t>Designed, not scheduled</a:t>
                      </a:r>
                      <a:endParaRPr lang="en-US" sz="1350" dirty="0"/>
                    </a:p>
                  </a:txBody>
                  <a:tcPr marL="88900" marR="88900" marT="50800" marB="50800" anchor="ctr">
                    <a:lnL w="6350" cap="flat" cmpd="sng" algn="ctr">
                      <a:solidFill>
                        <a:srgbClr val="E3DED7"/>
                      </a:solidFill>
                      <a:prstDash val="solid"/>
                      <a:round/>
                      <a:headEnd type="none" w="med" len="med"/>
                      <a:tailEnd type="none" w="med" len="med"/>
                    </a:lnL>
                    <a:lnR w="6350" cap="flat" cmpd="sng" algn="ctr">
                      <a:solidFill>
                        <a:srgbClr val="E3DED7"/>
                      </a:solidFill>
                      <a:prstDash val="solid"/>
                      <a:round/>
                      <a:headEnd type="none" w="med" len="med"/>
                      <a:tailEnd type="none" w="med" len="med"/>
                    </a:lnR>
                    <a:lnT w="6350" cap="flat" cmpd="sng" algn="ctr">
                      <a:solidFill>
                        <a:srgbClr val="E3DED7"/>
                      </a:solidFill>
                      <a:prstDash val="solid"/>
                      <a:round/>
                      <a:headEnd type="none" w="med" len="med"/>
                      <a:tailEnd type="none" w="med" len="med"/>
                    </a:lnT>
                    <a:lnB w="6350" cap="flat" cmpd="sng" algn="ctr">
                      <a:solidFill>
                        <a:srgbClr val="E3DED7"/>
                      </a:solidFill>
                      <a:prstDash val="solid"/>
                      <a:round/>
                      <a:headEnd type="none" w="med" len="med"/>
                      <a:tailEnd type="none" w="med" len="med"/>
                    </a:lnB>
                    <a:solidFill>
                      <a:srgbClr val="F7F5F2"/>
                    </a:solidFill>
                  </a:tcPr>
                </a:tc>
              </a:tr>
            </a:tbl>
          </a:graphicData>
        </a:graphic>
      </p:graphicFrame>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3"/>
          <p:cNvSpPr/>
          <p:nvPr>
            <p:ph idx="103" type="body" hasCustomPrompt="1"/>
          </p:nvPr>
        </p:nvSpPr>
        <p:spPr>
          <a:xfrm>
            <a:off x="777240" y="457200"/>
            <a:ext cx="10634472" cy="237744"/>
          </a:xfrm>
          <a:prstGeom prst="rect">
            <a:avLst/>
          </a:prstGeom>
          <a:noFill/>
          <a:ln/>
        </p:spPr>
        <p:txBody>
          <a:bodyPr wrap="square" lIns="0" tIns="0" rIns="0" bIns="0" rtlCol="0"/>
          <a:lstStyle/>
          <a:p>
            <a:pPr algn="l" indent="0" marL="0">
              <a:buNone/>
            </a:pPr>
            <a:r>
              <a:rPr lang="en-US" sz="1050" b="1" spc="100" kern="0" dirty="0">
                <a:solidFill>
                  <a:srgbClr val="A51C30"/>
                </a:solidFill>
              </a:rPr>
              <a:t>WHERE TO START</a:t>
            </a:r>
            <a:endParaRPr lang="en-US" sz="1050" dirty="0"/>
          </a:p>
        </p:txBody>
      </p:sp>
      <p:sp>
        <p:nvSpPr>
          <p:cNvPr id="3" name="Text 3"/>
          <p:cNvSpPr/>
          <p:nvPr>
            <p:ph idx="104" type="title" hasCustomPrompt="1"/>
          </p:nvPr>
        </p:nvSpPr>
        <p:spPr>
          <a:xfrm>
            <a:off x="777240" y="731520"/>
            <a:ext cx="10634472" cy="502920"/>
          </a:xfrm>
          <a:prstGeom prst="rect">
            <a:avLst/>
          </a:prstGeom>
          <a:noFill/>
          <a:ln/>
        </p:spPr>
        <p:txBody>
          <a:bodyPr wrap="square" lIns="0" tIns="0" rIns="0" bIns="0" rtlCol="0" anchor="t"/>
          <a:lstStyle/>
          <a:p>
            <a:pPr algn="l" indent="0" marL="0">
              <a:buNone/>
            </a:pPr>
            <a:r>
              <a:rPr lang="en-US" sz="2600" b="1" dirty="0">
                <a:solidFill>
                  <a:srgbClr val="1A1A1A"/>
                </a:solidFill>
              </a:rPr>
              <a:t>From a clone to a live view in ten minutes</a:t>
            </a:r>
            <a:endParaRPr lang="en-US" sz="2600" dirty="0"/>
          </a:p>
        </p:txBody>
      </p:sp>
      <p:sp>
        <p:nvSpPr>
          <p:cNvPr id="4" name="Shape 2"/>
          <p:cNvSpPr/>
          <p:nvPr/>
        </p:nvSpPr>
        <p:spPr>
          <a:xfrm>
            <a:off x="777240" y="1280160"/>
            <a:ext cx="10634472" cy="9144"/>
          </a:xfrm>
          <a:prstGeom prst="rect">
            <a:avLst/>
          </a:prstGeom>
          <a:solidFill>
            <a:srgbClr val="E3DED7"/>
          </a:solidFill>
          <a:ln/>
        </p:spPr>
        <p:txBody>
          <a:bodyPr/>
          <a:p/>
        </p:txBody>
      </p:sp>
      <p:sp>
        <p:nvSpPr>
          <p:cNvPr id="6" name="Shape 3"/>
          <p:cNvSpPr/>
          <p:nvPr/>
        </p:nvSpPr>
        <p:spPr>
          <a:xfrm>
            <a:off x="777240" y="1417320"/>
            <a:ext cx="6035040" cy="3931920"/>
          </a:xfrm>
          <a:prstGeom prst="rect">
            <a:avLst/>
          </a:prstGeom>
          <a:solidFill>
            <a:srgbClr val="1E1E24"/>
          </a:solidFill>
          <a:ln/>
        </p:spPr>
        <p:txBody>
          <a:bodyPr/>
          <a:p/>
        </p:txBody>
      </p:sp>
      <p:sp>
        <p:nvSpPr>
          <p:cNvPr id="7" name="Shape 4"/>
          <p:cNvSpPr/>
          <p:nvPr/>
        </p:nvSpPr>
        <p:spPr>
          <a:xfrm>
            <a:off x="777240" y="1417320"/>
            <a:ext cx="6035040" cy="384048"/>
          </a:xfrm>
          <a:prstGeom prst="rect">
            <a:avLst/>
          </a:prstGeom>
          <a:solidFill>
            <a:srgbClr val="8A1626"/>
          </a:solidFill>
          <a:ln/>
        </p:spPr>
        <p:txBody>
          <a:bodyPr/>
          <a:p/>
        </p:txBody>
      </p:sp>
      <p:sp>
        <p:nvSpPr>
          <p:cNvPr id="8" name="Text 5"/>
          <p:cNvSpPr txBox="1"/>
          <p:nvPr/>
        </p:nvSpPr>
        <p:spPr>
          <a:xfrm>
            <a:off x="960120" y="1417320"/>
            <a:ext cx="5669280" cy="384048"/>
          </a:xfrm>
          <a:prstGeom prst="rect">
            <a:avLst/>
          </a:prstGeom>
          <a:noFill/>
          <a:ln/>
        </p:spPr>
        <p:txBody>
          <a:bodyPr wrap="square" lIns="0" tIns="0" rIns="0" bIns="0" rtlCol="0" anchor="ctr"/>
          <a:lstStyle/>
          <a:p>
            <a:pPr indent="0" marL="0">
              <a:buNone/>
            </a:pPr>
            <a:r>
              <a:rPr lang="en-US" sz="1300" b="1" dirty="0">
                <a:solidFill>
                  <a:srgbClr val="FFFFFF"/>
                </a:solidFill>
              </a:rPr>
              <a:t>Six commands</a:t>
            </a:r>
            <a:endParaRPr lang="en-US" sz="1300" dirty="0"/>
          </a:p>
        </p:txBody>
      </p:sp>
      <p:sp>
        <p:nvSpPr>
          <p:cNvPr id="9" name="Text 6"/>
          <p:cNvSpPr txBox="1"/>
          <p:nvPr/>
        </p:nvSpPr>
        <p:spPr>
          <a:xfrm>
            <a:off x="978408" y="1920240"/>
            <a:ext cx="5632704" cy="3319272"/>
          </a:xfrm>
          <a:prstGeom prst="rect">
            <a:avLst/>
          </a:prstGeom>
          <a:noFill/>
          <a:ln/>
        </p:spPr>
        <p:txBody>
          <a:bodyPr wrap="square" lIns="0" tIns="0" rIns="0" bIns="0" rtlCol="0" anchor="t"/>
          <a:lstStyle/>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./mvnw -q package -DskipTests</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venv drishti-console/.venv</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uv pip install -r drishti-console/requirements.txt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tools/drishti.py lake demo</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java -Djava.io.tmpdir=data/tmp/server -jar &lt;jar&gt;</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python drishti-console/run_drishti_web.py</a:t>
            </a:r>
            <a:endParaRPr lang="en-US" sz="1250" dirty="0"/>
          </a:p>
          <a:p>
            <a:pPr indent="0" marL="0">
              <a:lnSpc>
                <a:spcPct val="105000"/>
              </a:lnSpc>
              <a:buNone/>
            </a:pPr>
            <a:r>
              <a:rPr lang="en-US" sz="1250" dirty="0">
                <a:solidFill>
                  <a:srgbClr val="F1EEE9"/>
                </a:solidFill>
                <a:latin typeface="Courier New" pitchFamily="34" charset="0"/>
                <a:ea typeface="Courier New" pitchFamily="34" charset="-122"/>
                <a:cs typeface="Courier New" pitchFamily="34" charset="-120"/>
              </a:rPr>
              <a:t># open :17480/t → TRD MX-20000001 &lt;GO&gt;</a:t>
            </a:r>
            <a:endParaRPr lang="en-US" sz="1250" dirty="0"/>
          </a:p>
        </p:txBody>
      </p:sp>
      <p:sp>
        <p:nvSpPr>
          <p:cNvPr id="10" name="Shape 7"/>
          <p:cNvSpPr/>
          <p:nvPr/>
        </p:nvSpPr>
        <p:spPr>
          <a:xfrm>
            <a:off x="7086600" y="141732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1" name="Text 8"/>
          <p:cNvSpPr txBox="1"/>
          <p:nvPr/>
        </p:nvSpPr>
        <p:spPr>
          <a:xfrm>
            <a:off x="7223760" y="152704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GETTING_STARTED</a:t>
            </a:r>
            <a:endParaRPr lang="en-US" sz="1500" dirty="0"/>
          </a:p>
        </p:txBody>
      </p:sp>
      <p:sp>
        <p:nvSpPr>
          <p:cNvPr id="12" name="Text 9"/>
          <p:cNvSpPr txBox="1"/>
          <p:nvPr/>
        </p:nvSpPr>
        <p:spPr>
          <a:xfrm>
            <a:off x="7223760" y="1874520"/>
            <a:ext cx="4050792" cy="347472"/>
          </a:xfrm>
          <a:prstGeom prst="rect">
            <a:avLst/>
          </a:prstGeom>
          <a:noFill/>
          <a:ln/>
        </p:spPr>
        <p:txBody>
          <a:bodyPr wrap="square" lIns="0" tIns="0" rIns="0" bIns="0" rtlCol="0" anchor="t"/>
          <a:lstStyle/>
          <a:p>
            <a:pPr indent="0" marL="0">
              <a:buNone/>
            </a:pPr>
            <a:r>
              <a:rPr lang="en-US" sz="1250" dirty="0">
                <a:solidFill>
                  <a:srgbClr val="4A5058"/>
                </a:solidFill>
              </a:rPr>
              <a:t>Ten minutes, fresh clone to the demo lakes and a view</a:t>
            </a:r>
            <a:endParaRPr lang="en-US" sz="1250" dirty="0"/>
          </a:p>
        </p:txBody>
      </p:sp>
      <p:sp>
        <p:nvSpPr>
          <p:cNvPr id="13" name="Shape 10"/>
          <p:cNvSpPr/>
          <p:nvPr/>
        </p:nvSpPr>
        <p:spPr>
          <a:xfrm>
            <a:off x="7086600" y="242316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4" name="Text 11"/>
          <p:cNvSpPr txBox="1"/>
          <p:nvPr/>
        </p:nvSpPr>
        <p:spPr>
          <a:xfrm>
            <a:off x="7223760" y="253288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IDE_GUIDE</a:t>
            </a:r>
            <a:endParaRPr lang="en-US" sz="1500" dirty="0"/>
          </a:p>
        </p:txBody>
      </p:sp>
      <p:sp>
        <p:nvSpPr>
          <p:cNvPr id="15" name="Text 12"/>
          <p:cNvSpPr txBox="1"/>
          <p:nvPr/>
        </p:nvSpPr>
        <p:spPr>
          <a:xfrm>
            <a:off x="7223760" y="2880360"/>
            <a:ext cx="4050792" cy="347472"/>
          </a:xfrm>
          <a:prstGeom prst="rect">
            <a:avLst/>
          </a:prstGeom>
          <a:noFill/>
          <a:ln/>
        </p:spPr>
        <p:txBody>
          <a:bodyPr wrap="square" lIns="0" tIns="0" rIns="0" bIns="0" rtlCol="0" anchor="t"/>
          <a:lstStyle/>
          <a:p>
            <a:pPr indent="0" marL="0">
              <a:buNone/>
            </a:pPr>
            <a:r>
              <a:rPr lang="en-US" sz="1250" dirty="0">
                <a:solidFill>
                  <a:srgbClr val="4A5058"/>
                </a:solidFill>
              </a:rPr>
              <a:t>Server in IntelliJ, console in PyCharm</a:t>
            </a:r>
            <a:endParaRPr lang="en-US" sz="1250" dirty="0"/>
          </a:p>
        </p:txBody>
      </p:sp>
      <p:sp>
        <p:nvSpPr>
          <p:cNvPr id="16" name="Shape 13"/>
          <p:cNvSpPr/>
          <p:nvPr/>
        </p:nvSpPr>
        <p:spPr>
          <a:xfrm>
            <a:off x="7086600" y="342900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17" name="Text 14"/>
          <p:cNvSpPr txBox="1"/>
          <p:nvPr/>
        </p:nvSpPr>
        <p:spPr>
          <a:xfrm>
            <a:off x="7223760" y="353872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CLI_GUIDE</a:t>
            </a:r>
            <a:endParaRPr lang="en-US" sz="1500" dirty="0"/>
          </a:p>
        </p:txBody>
      </p:sp>
      <p:sp>
        <p:nvSpPr>
          <p:cNvPr id="18" name="Text 15"/>
          <p:cNvSpPr txBox="1"/>
          <p:nvPr/>
        </p:nvSpPr>
        <p:spPr>
          <a:xfrm>
            <a:off x="7223760" y="3886200"/>
            <a:ext cx="4050792" cy="347472"/>
          </a:xfrm>
          <a:prstGeom prst="rect">
            <a:avLst/>
          </a:prstGeom>
          <a:noFill/>
          <a:ln/>
        </p:spPr>
        <p:txBody>
          <a:bodyPr wrap="square" lIns="0" tIns="0" rIns="0" bIns="0" rtlCol="0" anchor="t"/>
          <a:lstStyle/>
          <a:p>
            <a:pPr indent="0" marL="0">
              <a:buNone/>
            </a:pPr>
            <a:r>
              <a:rPr lang="en-US" sz="1250" dirty="0">
                <a:solidFill>
                  <a:srgbClr val="4A5058"/>
                </a:solidFill>
              </a:rPr>
              <a:t>pack make, then every build step</a:t>
            </a:r>
            <a:endParaRPr lang="en-US" sz="1250" dirty="0"/>
          </a:p>
        </p:txBody>
      </p:sp>
      <p:sp>
        <p:nvSpPr>
          <p:cNvPr id="19" name="Shape 16"/>
          <p:cNvSpPr/>
          <p:nvPr/>
        </p:nvSpPr>
        <p:spPr>
          <a:xfrm>
            <a:off x="7086600" y="4434840"/>
            <a:ext cx="4325112" cy="868680"/>
          </a:xfrm>
          <a:prstGeom prst="rect">
            <a:avLst/>
          </a:prstGeom>
          <a:solidFill>
            <a:srgbClr val="FFFFFF"/>
          </a:solidFill>
          <a:ln w="12700">
            <a:solidFill>
              <a:srgbClr val="E3DED7"/>
            </a:solidFill>
            <a:prstDash val="solid"/>
          </a:ln>
          <a:effectLst>
            <a:outerShdw sx="100000" sy="100000" kx="0" ky="0" algn="bl" rotWithShape="0" blurRad="50800" dist="19050" dir="5400000">
              <a:srgbClr val="000000">
                <a:alpha val="10000"/>
              </a:srgbClr>
            </a:outerShdw>
          </a:effectLst>
        </p:spPr>
        <p:txBody>
          <a:bodyPr/>
          <a:p/>
        </p:txBody>
      </p:sp>
      <p:sp>
        <p:nvSpPr>
          <p:cNvPr id="20" name="Text 17"/>
          <p:cNvSpPr txBox="1"/>
          <p:nvPr/>
        </p:nvSpPr>
        <p:spPr>
          <a:xfrm>
            <a:off x="7223760" y="4544568"/>
            <a:ext cx="4050792" cy="329184"/>
          </a:xfrm>
          <a:prstGeom prst="rect">
            <a:avLst/>
          </a:prstGeom>
          <a:noFill/>
          <a:ln/>
        </p:spPr>
        <p:txBody>
          <a:bodyPr wrap="square" lIns="0" tIns="0" rIns="0" bIns="0" rtlCol="0" anchor="t"/>
          <a:lstStyle/>
          <a:p>
            <a:pPr indent="0" marL="0">
              <a:buNone/>
            </a:pPr>
            <a:r>
              <a:rPr lang="en-US" sz="1500" b="1" dirty="0">
                <a:solidFill>
                  <a:srgbClr val="1A1A1A"/>
                </a:solidFill>
              </a:rPr>
              <a:t>USER_GUIDE</a:t>
            </a:r>
            <a:endParaRPr lang="en-US" sz="1500" dirty="0"/>
          </a:p>
        </p:txBody>
      </p:sp>
      <p:sp>
        <p:nvSpPr>
          <p:cNvPr id="21" name="Text 18"/>
          <p:cNvSpPr txBox="1"/>
          <p:nvPr/>
        </p:nvSpPr>
        <p:spPr>
          <a:xfrm>
            <a:off x="7223760" y="4892040"/>
            <a:ext cx="4050792" cy="347472"/>
          </a:xfrm>
          <a:prstGeom prst="rect">
            <a:avLst/>
          </a:prstGeom>
          <a:noFill/>
          <a:ln/>
        </p:spPr>
        <p:txBody>
          <a:bodyPr wrap="square" lIns="0" tIns="0" rIns="0" bIns="0" rtlCol="0" anchor="t"/>
          <a:lstStyle/>
          <a:p>
            <a:pPr indent="0" marL="0">
              <a:buNone/>
            </a:pPr>
            <a:r>
              <a:rPr lang="en-US" sz="1250" dirty="0">
                <a:solidFill>
                  <a:srgbClr val="4A5058"/>
                </a:solidFill>
              </a:rPr>
              <a:t>Every page, every key</a:t>
            </a:r>
            <a:endParaRPr lang="en-US" sz="1250" dirty="0"/>
          </a:p>
        </p:txBody>
      </p:sp>
      <p:sp>
        <p:nvSpPr>
          <p:cNvPr id="22" name="Shape 19"/>
          <p:cNvSpPr/>
          <p:nvPr/>
        </p:nvSpPr>
        <p:spPr>
          <a:xfrm>
            <a:off x="777240" y="5550408"/>
            <a:ext cx="10634472" cy="694944"/>
          </a:xfrm>
          <a:prstGeom prst="rect">
            <a:avLst/>
          </a:prstGeom>
          <a:solidFill>
            <a:srgbClr val="F6E6E9"/>
          </a:solidFill>
          <a:ln/>
        </p:spPr>
        <p:txBody>
          <a:bodyPr/>
          <a:p/>
        </p:txBody>
      </p:sp>
      <p:sp>
        <p:nvSpPr>
          <p:cNvPr id="23" name="Shape 20"/>
          <p:cNvSpPr/>
          <p:nvPr/>
        </p:nvSpPr>
        <p:spPr>
          <a:xfrm>
            <a:off x="777240" y="5550408"/>
            <a:ext cx="54864" cy="694944"/>
          </a:xfrm>
          <a:prstGeom prst="rect">
            <a:avLst/>
          </a:prstGeom>
          <a:solidFill>
            <a:srgbClr val="A51C30"/>
          </a:solidFill>
          <a:ln/>
        </p:spPr>
        <p:txBody>
          <a:bodyPr/>
          <a:p/>
        </p:txBody>
      </p:sp>
      <p:sp>
        <p:nvSpPr>
          <p:cNvPr id="24" name="Text 21"/>
          <p:cNvSpPr txBox="1"/>
          <p:nvPr/>
        </p:nvSpPr>
        <p:spPr>
          <a:xfrm>
            <a:off x="1033272" y="5623560"/>
            <a:ext cx="10177272" cy="548640"/>
          </a:xfrm>
          <a:prstGeom prst="rect">
            <a:avLst/>
          </a:prstGeom>
          <a:noFill/>
          <a:ln/>
        </p:spPr>
        <p:txBody>
          <a:bodyPr wrap="square" lIns="0" tIns="0" rIns="0" bIns="0" rtlCol="0" anchor="ctr"/>
          <a:lstStyle/>
          <a:p>
            <a:pPr indent="0" marL="0">
              <a:buNone/>
            </a:pPr>
            <a:r>
              <a:rPr lang="en-US" sz="1400" b="1" dirty="0">
                <a:solidFill>
                  <a:srgbClr val="A51C30"/>
                </a:solidFill>
              </a:rPr>
              <a:t>Key insight  </a:t>
            </a:r>
            <a:pPr indent="0" marL="0">
              <a:buNone/>
            </a:pPr>
            <a:r>
              <a:rPr lang="en-US" sz="1400" b="1" dirty="0">
                <a:solidFill>
                  <a:srgbClr val="8A1626"/>
                </a:solidFill>
              </a:rPr>
              <a:t>Start with your own JSON Lines: one pack make, one deploy, and your records have a terminal.</a:t>
            </a:r>
            <a:endParaRPr lang="en-US" sz="14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design and evidence</dc:title>
  <dc:subject>PptxGenJS Presentation</dc:subject>
  <dc:creator>Ashutosh Sinha</dc:creator>
  <cp:lastModifiedBy>Ashutosh Sinha</cp:lastModifiedBy>
  <cp:revision>1</cp:revision>
  <dcterms:created xsi:type="dcterms:W3CDTF">2026-10-07T03:43:45Z</dcterms:created>
  <dcterms:modified xsi:type="dcterms:W3CDTF">2026-10-07T03:43:45Z</dcterms:modified>
</cp:coreProperties>
</file>
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282" r:id="rId28"/>
    <p:sldId id="283" r:id="rId29"/>
    <p:sldId id="284" r:id="rId30"/>
    <p:sldId id="285" r:id="rId31"/>
    <p:sldId id="286" r:id="rId32"/>
    <p:sldId id="287" r:id="rId33"/>
    <p:sldId id="288" r:id="rId34"/>
    <p:sldId id="289" r:id="rId35"/>
    <p:sldId id="290" r:id="rId36"/>
    <p:sldId id="291" r:id="rId37"/>
    <p:sldId id="303" r:id="rId54"/>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Warm view, p99 (HTTP)</c:v>
                  </c:pt>
                  <c:pt idx="1">
                    <c:v>Live tick to frame, p99</c:v>
                  </c:pt>
                  <c:pt idx="2">
                    <c:v>Type-ahead at 1M/day</c:v>
                  </c:pt>
                  <c:pt idx="3">
                    <c:v>Open a cached trade at 1M/day</c:v>
                  </c:pt>
                  <c:pt idx="4">
                    <c:v>Search all 1M trades</c:v>
                  </c:pt>
                  <c:pt idx="5">
                    <c:v>P&amp;L of every desk, 1M trades</c:v>
                  </c:pt>
                </c:lvl>
              </c:multiLvlStrCache>
            </c:multiLvlStrRef>
          </c:cat>
          <c:val>
            <c:numRef>
              <c:f>Sheet1!$B$2:$B$7</c:f>
              <c:numCache>
                <c:formatCode>General</c:formatCode>
                <c:ptCount val="6"/>
                <c:pt idx="0">
                  <c:v>3</c:v>
                </c:pt>
                <c:pt idx="1">
                  <c:v>11.2</c:v>
                </c:pt>
                <c:pt idx="2">
                  <c:v>29</c:v>
                </c:pt>
                <c:pt idx="3">
                  <c:v>48</c:v>
                </c:pt>
                <c:pt idx="4">
                  <c:v>134</c:v>
                </c:pt>
                <c:pt idx="5">
                  <c:v>327</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Java (main)</c:v>
                  </c:pt>
                  <c:pt idx="1">
                    <c:v>Java (tests)</c:v>
                  </c:pt>
                  <c:pt idx="2">
                    <c:v>Python</c:v>
                  </c:pt>
                  <c:pt idx="3">
                    <c:v>Markdown docs</c:v>
                  </c:pt>
                  <c:pt idx="4">
                    <c:v>YAML</c:v>
                  </c:pt>
                  <c:pt idx="5">
                    <c:v>JavaScript</c:v>
                  </c:pt>
                  <c:pt idx="6">
                    <c:v>CSS + HTML</c:v>
                  </c:pt>
                </c:lvl>
              </c:multiLvlStrCache>
            </c:multiLvlStrRef>
          </c:cat>
          <c:val>
            <c:numRef>
              <c:f>Sheet1!$B$2:$B$8</c:f>
              <c:numCache>
                <c:formatCode>General</c:formatCode>
                <c:ptCount val="7"/>
                <c:pt idx="0">
                  <c:v>201646</c:v>
                </c:pt>
                <c:pt idx="1">
                  <c:v>77123</c:v>
                </c:pt>
                <c:pt idx="2">
                  <c:v>133784</c:v>
                </c:pt>
                <c:pt idx="3">
                  <c:v>96765</c:v>
                </c:pt>
                <c:pt idx="4">
                  <c:v>44521</c:v>
                </c:pt>
                <c:pt idx="5">
                  <c:v>38584</c:v>
                </c:pt>
                <c:pt idx="6">
                  <c:v>16450</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(name, 'sight', the tagline 'Any data. Any domain. One grammar.'); CHANGELOG.md 2.5.0 (unreleased) and RELEASE_NOTES.md 2.4.0; pom.xml (Java 21 bytecode).
Talk track: Drishti is Sanskrit for sight. The promise is in the tagline: any record from any system, in any domain, shown through one grammar instead of a screen written per product. The deck runs idea, product, security, evidence and roadmap; every number in it is measured or counted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ARCHITECTURE.md §1; CHANGELOG.md 2.4.0 and 2.5.0; docs/admin/PERFORMANCE.md (35.7 million trades, 50 users, 179 requests/s); BI_DESIGN.md §12.2 (release order); counts from git ls-files on 19 October 2026.
Talk track: If you remember one slide, make it this one. Five questions and five short answers; the rest of the deck earns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RACHANA_REFERENCE.md; PANELS.md (twenty-two kinds); INFERENCE.md; ADR-004; LIVE.md; config/packs (7 packs, 197 Sutra files, 19 October 2026).
Talk track: Everything else in the product is built from these eight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'How it is built'; pom.xml modules (drishti-net, drishti-deltalake); ARCHITECTURE.md §2, §13 and §13a; NET.md.
Talk track: Modules depend one way only, and an architecture test enforces it. The plugin interface is Spring-free so connectors stay small. With Drishti*net on, several such servers act as one: each keeps its own sources, and any of them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config/packs/trading/sutras/murex/irs-fixfloat.v1.sutra.yaml (41 lines, its shared blocks in sutras/common); RACHANA_REFERENCE.md; ADR-013 (Sutras go live through review); CHANGELOG 2.3.0 (UPPER_SNAKE production-shaped trades, shared blocks).
Talk track: This is the real file, trimmed. When it applies, what the title says, the strip, and the panels, which here are shared blocks every product type reuses. Everything it does not mention, inference lays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RELEASE_NOTES.md; CHANGELOG.md 2.5.0; USER_GUIDE.md 'The pages at a glance'.
Talk track: Now the product as it stands at 2.5, page by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config/packs (7 packs, 197 Sutra files); PANELS.md (22 kinds); pom.xml plugins (17); CHANGELOG 2.3.0 to 2.5.0.
Talk track: The numbers are counted from the repository on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tools/drishti.py --help (fourteen groups: sutra, pack, data, server, connector, net, design, docs, doctor, bi, view, lake, testdata, completion).
Talk track: Production runs Java 21 and every build activity is scriptable. Exit codes are a contract: 0 ok, 1 problems found, 2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Commands and files cited on each slide.
Talk track: Claims are cheap; these are counts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drishti-common ErrorCode enum (187 codes); docs/guides/API_GUIDE.md 'Error code table' (187 rows); RACHANA_REFERENCE.md 'Problem codes' (42), 19 October 2026.
Talk track: Every error is RFC 7807 problem+json with a stable DRS code, and every code has a row that says what it means and what to do. Sutra problems have their own 42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grep on 19 October 2026: 2,396 Java @Test (+36 parameterised), 1,759 console pytest functions (520 in *_browser.py), 280 tools pytest; tests/test_embed_elements_browser.py; tests/test_page_widths_browser.py; tools/drill.sh.
Talk track: Counts are test methods, before parameterised expansion. The console's browser tests run in Chromium; embedded views in Chromium, Firefox and WebKit.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(24-core workstation, 2026-09-30 and 10-01); SCALE_BENCHMARK.md (extrapolations labelled as such).
Talk track: All measured on one workstation. At a million trades a day, opening a trade from the cache is 48 ms and a whole-book search is 134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docs/qa/2026-10-01/README.md; docs/qa/2026-10-03/README.md; docs/qa/2026-10-05/DATA_SAFETY.md and BEHAVIOUR.md.
Talk track: Each round set out to break specific promises. The first round's headline is the strongest evidence: thousands of randomised searches agreed exactly with an independent brute-force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tools/drill.sh; git tag (32 releases, v1.0.0 to v2.4.0); git rev-list --count (1,421 commits, 19 October 2026); pom.xml enforcer (bytecode 21).
Talk track: One command verifies and only then pushes. Production runs Java 21; the same commit is also verified on Java 25 so upgrades are not a surprise. A failed console test is re-run from the run's own summary,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ls-files | wc -l by language, 19 October 2026 (vendored and built assets left out); docs/ (155 Markdown documents outside qa/).
Talk track: Packs are mostly sample data and Sutras. The Java is split into small modules that depend one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(the release order agreed on 2026-10-19); IMPLEMENTATION_PLAN.md 'Roadmap'.
Talk track: What is left,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(waves N, D, I, E; after E, 3.0); IMPLEMENTATION_PLAN.md 'Roadmap'; GENUI.md; AI_MANAGEMENT.md; QUANT_SERVICE.md.
Talk track: 2.5.0 is built and in its release testing. Then sharing and integration, then AI, then the product owner's real-life QA, whose findings lead 2.8.0, then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docs/guides/GETTING_STARTED.md (the demo lakes in one command, -Djava.io.tmpdir); IDE_GUIDE.md; CLI_GUIDE.md; USER_GUIDE.md; README 'Try it'.
Talk track: GETTING_STARTED is the ten-minute path: build, the console's Python, the demo lakes from the committed test data, then the server and the console; IDE_GUIDE runs both halves in IntelliJ and PyCharm; CLI_GUIDE starts with pack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Talk track: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CHANGELOG.md 2.5.0 (N1 to N7: three servers in one JVM converge 52 ms after the third starts; five nodes, fake clock: dead everywhere within 40 s; a pack in the others' tables 1.0 s later; 13,542 signed calls through the rotation); docs/admin/NET.md; DRISHTI_NET.md §19.
Talk track: Off by default. Switched on, servers gossip over HTTP with calls signed by a rotating cluster key. A request goes whole to a node that renders the kind, or the document is fetched from the node that holds it; a search is scattered and merged; the console fails over with no new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sp>
      <p:sp>
        <p:nvSpPr>
          <p:cNvPr id="3" name="Shape 1"/>
          <p:cNvSpPr/>
          <p:nvPr/>
        </p:nvSpPr>
        <p:spPr>
          <a:xfrm>
            <a:off x="0" y="3931920"/>
            <a:ext cx="12191695" cy="54864"/>
          </a:xfrm>
          <a:prstGeom prst="rect">
            <a:avLst/>
          </a:prstGeom>
          <a:solidFill>
            <a:srgbClr val="C4384B"/>
          </a:solidFill>
          <a:ln/>
        </p:spPr>
      </p:sp>
      <p:sp>
        <p:nvSpPr>
          <p:cNvPr id="4" name="Shape 2"/>
          <p:cNvSpPr/>
          <p:nvPr/>
        </p:nvSpPr>
        <p:spPr>
          <a:xfrm>
            <a:off x="0" y="0"/>
            <a:ext cx="182880" cy="3931920"/>
          </a:xfrm>
          <a:prstGeom prst="rect">
            <a:avLst/>
          </a:prstGeom>
          <a:solidFill>
            <a:srgbClr val="6E1120"/>
          </a:solidFill>
          <a:ln/>
        </p:spPr>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2.5.0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2.5: the product</a:t>
            </a:r>
            <a:endParaRPr lang="en-US" sz="1200" dirty="0"/>
          </a:p>
          <a:p>
            <a:pPr indent="0" marL="0">
              <a:spcAft>
                <a:spcPts val="600"/>
              </a:spcAft>
              <a:buNone/>
            </a:pPr>
            <a:r>
              <a:rPr lang="en-US" sz="1200" b="1" dirty="0">
                <a:solidFill>
                  <a:srgbClr val="A51C30"/>
                </a:solidFill>
              </a:rPr>
              <a:t>3  Security, drawn as flows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Evidence, by the numbers</a:t>
            </a:r>
            <a:endParaRPr lang="en-US" sz="1200" dirty="0"/>
          </a:p>
          <a:p>
            <a:pPr indent="0" marL="0">
              <a:spcAft>
                <a:spcPts val="600"/>
              </a:spcAft>
              <a:buNone/>
            </a:pPr>
            <a:r>
              <a:rPr lang="en-US" sz="1200" b="1" dirty="0">
                <a:solidFill>
                  <a:srgbClr val="A51C30"/>
                </a:solidFill>
              </a:rPr>
              <a:t>5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08176"/>
            <a:ext cx="10634472" cy="868680"/>
          </a:xfrm>
          <a:prstGeom prst="rect">
            <a:avLst/>
          </a:prstGeom>
          <a:solidFill>
            <a:srgbClr val="F7F5F2"/>
          </a:solidFill>
          <a:ln/>
        </p:spPr>
      </p:sp>
      <p:sp>
        <p:nvSpPr>
          <p:cNvPr id="7" name="Shape 4"/>
          <p:cNvSpPr/>
          <p:nvPr/>
        </p:nvSpPr>
        <p:spPr>
          <a:xfrm>
            <a:off x="777240" y="1408176"/>
            <a:ext cx="2651760" cy="868680"/>
          </a:xfrm>
          <a:prstGeom prst="rect">
            <a:avLst/>
          </a:prstGeom>
          <a:solidFill>
            <a:srgbClr val="F6E6E9"/>
          </a:solidFill>
          <a:ln/>
        </p:spPr>
      </p:sp>
      <p:sp>
        <p:nvSpPr>
          <p:cNvPr id="8" name="Shape 5"/>
          <p:cNvSpPr/>
          <p:nvPr/>
        </p:nvSpPr>
        <p:spPr>
          <a:xfrm>
            <a:off x="777240" y="1408176"/>
            <a:ext cx="54864" cy="868680"/>
          </a:xfrm>
          <a:prstGeom prst="rect">
            <a:avLst/>
          </a:prstGeom>
          <a:solidFill>
            <a:srgbClr val="A51C30"/>
          </a:solidFill>
          <a:ln/>
        </p:spPr>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 a swap, an FX trade, a netting set, a gene variant —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sp>
      <p:sp>
        <p:nvSpPr>
          <p:cNvPr id="12" name="Shape 9"/>
          <p:cNvSpPr/>
          <p:nvPr/>
        </p:nvSpPr>
        <p:spPr>
          <a:xfrm>
            <a:off x="777240" y="2395728"/>
            <a:ext cx="2651760" cy="868680"/>
          </a:xfrm>
          <a:prstGeom prst="rect">
            <a:avLst/>
          </a:prstGeom>
          <a:solidFill>
            <a:srgbClr val="F6E6E9"/>
          </a:solidFill>
          <a:ln/>
        </p:spPr>
      </p:sp>
      <p:sp>
        <p:nvSpPr>
          <p:cNvPr id="13" name="Shape 10"/>
          <p:cNvSpPr/>
          <p:nvPr/>
        </p:nvSpPr>
        <p:spPr>
          <a:xfrm>
            <a:off x="777240" y="2395728"/>
            <a:ext cx="54864" cy="868680"/>
          </a:xfrm>
          <a:prstGeom prst="rect">
            <a:avLst/>
          </a:prstGeom>
          <a:solidFill>
            <a:srgbClr val="A51C30"/>
          </a:solidFill>
          <a:ln/>
        </p:spPr>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from any system into that screen, with BI on the same data and masks. A short YAML Sutra describes the view; inference fills the rest.</a:t>
            </a:r>
            <a:endParaRPr lang="en-US" sz="1300" dirty="0"/>
          </a:p>
        </p:txBody>
      </p:sp>
      <p:sp>
        <p:nvSpPr>
          <p:cNvPr id="16" name="Shape 13"/>
          <p:cNvSpPr/>
          <p:nvPr/>
        </p:nvSpPr>
        <p:spPr>
          <a:xfrm>
            <a:off x="777240" y="3383280"/>
            <a:ext cx="10634472" cy="868680"/>
          </a:xfrm>
          <a:prstGeom prst="rect">
            <a:avLst/>
          </a:prstGeom>
          <a:solidFill>
            <a:srgbClr val="F7F5F2"/>
          </a:solidFill>
          <a:ln/>
        </p:spPr>
      </p:sp>
      <p:sp>
        <p:nvSpPr>
          <p:cNvPr id="17" name="Shape 14"/>
          <p:cNvSpPr/>
          <p:nvPr/>
        </p:nvSpPr>
        <p:spPr>
          <a:xfrm>
            <a:off x="777240" y="3383280"/>
            <a:ext cx="2651760" cy="868680"/>
          </a:xfrm>
          <a:prstGeom prst="rect">
            <a:avLst/>
          </a:prstGeom>
          <a:solidFill>
            <a:srgbClr val="F6E6E9"/>
          </a:solidFill>
          <a:ln/>
        </p:spPr>
      </p:sp>
      <p:sp>
        <p:nvSpPr>
          <p:cNvPr id="18" name="Shape 15"/>
          <p:cNvSpPr/>
          <p:nvPr/>
        </p:nvSpPr>
        <p:spPr>
          <a:xfrm>
            <a:off x="777240" y="3383280"/>
            <a:ext cx="54864" cy="868680"/>
          </a:xfrm>
          <a:prstGeom prst="rect">
            <a:avLst/>
          </a:prstGeom>
          <a:solidFill>
            <a:srgbClr val="A51C30"/>
          </a:solidFill>
          <a:ln/>
        </p:spPr>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for ever. Drishti makes a screen a paragraph, not a project — and day one is never raw JSON.</a:t>
            </a:r>
            <a:endParaRPr lang="en-US" sz="1300" dirty="0"/>
          </a:p>
        </p:txBody>
      </p:sp>
      <p:sp>
        <p:nvSpPr>
          <p:cNvPr id="21" name="Shape 18"/>
          <p:cNvSpPr/>
          <p:nvPr/>
        </p:nvSpPr>
        <p:spPr>
          <a:xfrm>
            <a:off x="777240" y="4370832"/>
            <a:ext cx="10634472" cy="868680"/>
          </a:xfrm>
          <a:prstGeom prst="rect">
            <a:avLst/>
          </a:prstGeom>
          <a:solidFill>
            <a:srgbClr val="F7F5F2"/>
          </a:solidFill>
          <a:ln/>
        </p:spPr>
      </p:sp>
      <p:sp>
        <p:nvSpPr>
          <p:cNvPr id="22" name="Shape 19"/>
          <p:cNvSpPr/>
          <p:nvPr/>
        </p:nvSpPr>
        <p:spPr>
          <a:xfrm>
            <a:off x="777240" y="4370832"/>
            <a:ext cx="2651760" cy="868680"/>
          </a:xfrm>
          <a:prstGeom prst="rect">
            <a:avLst/>
          </a:prstGeom>
          <a:solidFill>
            <a:srgbClr val="F6E6E9"/>
          </a:solidFill>
          <a:ln/>
        </p:spPr>
      </p:sp>
      <p:sp>
        <p:nvSpPr>
          <p:cNvPr id="23" name="Shape 20"/>
          <p:cNvSpPr/>
          <p:nvPr/>
        </p:nvSpPr>
        <p:spPr>
          <a:xfrm>
            <a:off x="777240" y="4370832"/>
            <a:ext cx="54864" cy="868680"/>
          </a:xfrm>
          <a:prstGeom prst="rect">
            <a:avLst/>
          </a:prstGeom>
          <a:solidFill>
            <a:srgbClr val="A51C30"/>
          </a:solidFill>
          <a:ln/>
        </p:spPr>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2.5: 7 packs, 197 Sutras, 22 panel kinds, 17 source plugins, BI Studio, Python data prep, several servers as one (Drishti*net); 35.7 million trades served to 50 users at 179 requests/s.</a:t>
            </a:r>
            <a:endParaRPr lang="en-US" sz="1300" dirty="0"/>
          </a:p>
        </p:txBody>
      </p:sp>
      <p:sp>
        <p:nvSpPr>
          <p:cNvPr id="26" name="Shape 23"/>
          <p:cNvSpPr/>
          <p:nvPr/>
        </p:nvSpPr>
        <p:spPr>
          <a:xfrm>
            <a:off x="777240" y="5358384"/>
            <a:ext cx="10634472" cy="868680"/>
          </a:xfrm>
          <a:prstGeom prst="rect">
            <a:avLst/>
          </a:prstGeom>
          <a:solidFill>
            <a:srgbClr val="F7F5F2"/>
          </a:solidFill>
          <a:ln/>
        </p:spPr>
      </p:sp>
      <p:sp>
        <p:nvSpPr>
          <p:cNvPr id="27" name="Shape 24"/>
          <p:cNvSpPr/>
          <p:nvPr/>
        </p:nvSpPr>
        <p:spPr>
          <a:xfrm>
            <a:off x="777240" y="5358384"/>
            <a:ext cx="2651760" cy="868680"/>
          </a:xfrm>
          <a:prstGeom prst="rect">
            <a:avLst/>
          </a:prstGeom>
          <a:solidFill>
            <a:srgbClr val="F6E6E9"/>
          </a:solidFill>
          <a:ln/>
        </p:spPr>
      </p:sp>
      <p:sp>
        <p:nvSpPr>
          <p:cNvPr id="28" name="Shape 25"/>
          <p:cNvSpPr/>
          <p:nvPr/>
        </p:nvSpPr>
        <p:spPr>
          <a:xfrm>
            <a:off x="777240" y="5358384"/>
            <a:ext cx="54864" cy="868680"/>
          </a:xfrm>
          <a:prstGeom prst="rect">
            <a:avLst/>
          </a:prstGeom>
          <a:solidFill>
            <a:srgbClr val="A51C30"/>
          </a:solidFill>
          <a:ln/>
        </p:spPr>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2.6.0 sharing and integration; 2.7.0 AI (GenUI, AI management); a real-life QA; 2.8.0 production readiness; then 3.0.</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sp>
      <p:sp>
        <p:nvSpPr>
          <p:cNvPr id="8" name="Shape 5"/>
          <p:cNvSpPr/>
          <p:nvPr/>
        </p:nvSpPr>
        <p:spPr>
          <a:xfrm>
            <a:off x="777240" y="5550408"/>
            <a:ext cx="54864" cy="694944"/>
          </a:xfrm>
          <a:prstGeom prst="rect">
            <a:avLst/>
          </a:prstGeom>
          <a:solidFill>
            <a:srgbClr val="A51C30"/>
          </a:solidFill>
          <a:ln/>
        </p:spPr>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44752"/>
            <a:ext cx="5166360" cy="384048"/>
          </a:xfrm>
          <a:prstGeom prst="rect">
            <a:avLst/>
          </a:prstGeom>
          <a:solidFill>
            <a:srgbClr val="F6E6E9"/>
          </a:solidFill>
          <a:ln/>
        </p:spPr>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sp>
      <p:sp>
        <p:nvSpPr>
          <p:cNvPr id="13" name="Shape 10"/>
          <p:cNvSpPr/>
          <p:nvPr/>
        </p:nvSpPr>
        <p:spPr>
          <a:xfrm>
            <a:off x="777240" y="5550408"/>
            <a:ext cx="54864" cy="694944"/>
          </a:xfrm>
          <a:prstGeom prst="rect">
            <a:avLst/>
          </a:prstGeom>
          <a:solidFill>
            <a:srgbClr val="A51C30"/>
          </a:solidFill>
          <a:ln/>
        </p:spPr>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sp>
      <p:sp>
        <p:nvSpPr>
          <p:cNvPr id="19" name="Shape 16"/>
          <p:cNvSpPr/>
          <p:nvPr/>
        </p:nvSpPr>
        <p:spPr>
          <a:xfrm>
            <a:off x="5623560" y="2217420"/>
            <a:ext cx="365760" cy="914"/>
          </a:xfrm>
          <a:prstGeom prst="line">
            <a:avLst/>
          </a:prstGeom>
          <a:noFill/>
          <a:ln w="22225">
            <a:solidFill>
              <a:srgbClr val="A51C30"/>
            </a:solidFill>
            <a:prstDash val="solid"/>
            <a:tailEnd type="triangle"/>
          </a:ln>
        </p:spPr>
      </p:sp>
      <p:sp>
        <p:nvSpPr>
          <p:cNvPr id="20" name="Shape 17"/>
          <p:cNvSpPr/>
          <p:nvPr/>
        </p:nvSpPr>
        <p:spPr>
          <a:xfrm>
            <a:off x="8366760" y="2217420"/>
            <a:ext cx="365760" cy="914"/>
          </a:xfrm>
          <a:prstGeom prst="line">
            <a:avLst/>
          </a:prstGeom>
          <a:noFill/>
          <a:ln w="22225">
            <a:solidFill>
              <a:srgbClr val="A51C30"/>
            </a:solidFill>
            <a:prstDash val="solid"/>
            <a:tailEnd type="triangle"/>
          </a:ln>
        </p:spPr>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sp>
      <p:sp>
        <p:nvSpPr>
          <p:cNvPr id="32" name="Shape 29"/>
          <p:cNvSpPr/>
          <p:nvPr/>
        </p:nvSpPr>
        <p:spPr>
          <a:xfrm>
            <a:off x="8366760" y="4137660"/>
            <a:ext cx="365760" cy="914"/>
          </a:xfrm>
          <a:prstGeom prst="line">
            <a:avLst/>
          </a:prstGeom>
          <a:noFill/>
          <a:ln w="22225">
            <a:solidFill>
              <a:srgbClr val="A51C30"/>
            </a:solidFill>
            <a:prstDash val="solid"/>
            <a:tailEnd type="triangle"/>
          </a:ln>
        </p:spPr>
      </p:sp>
      <p:sp>
        <p:nvSpPr>
          <p:cNvPr id="33" name="Shape 30"/>
          <p:cNvSpPr/>
          <p:nvPr/>
        </p:nvSpPr>
        <p:spPr>
          <a:xfrm>
            <a:off x="777240" y="5550408"/>
            <a:ext cx="10634472" cy="694944"/>
          </a:xfrm>
          <a:prstGeom prst="rect">
            <a:avLst/>
          </a:prstGeom>
          <a:solidFill>
            <a:srgbClr val="F6E6E9"/>
          </a:solidFill>
          <a:ln/>
        </p:spPr>
      </p:sp>
      <p:sp>
        <p:nvSpPr>
          <p:cNvPr id="34" name="Shape 31"/>
          <p:cNvSpPr/>
          <p:nvPr/>
        </p:nvSpPr>
        <p:spPr>
          <a:xfrm>
            <a:off x="777240" y="5550408"/>
            <a:ext cx="54864" cy="694944"/>
          </a:xfrm>
          <a:prstGeom prst="rect">
            <a:avLst/>
          </a:prstGeom>
          <a:solidFill>
            <a:srgbClr val="A51C30"/>
          </a:solidFill>
          <a:ln/>
        </p:spPr>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475488" cy="475488"/>
          </a:xfrm>
          <a:prstGeom prst="ellipse">
            <a:avLst/>
          </a:prstGeom>
          <a:solidFill>
            <a:srgbClr val="A51C30"/>
          </a:solidFill>
          <a:ln/>
        </p:spPr>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sp>
      <p:sp>
        <p:nvSpPr>
          <p:cNvPr id="31" name="Shape 28"/>
          <p:cNvSpPr/>
          <p:nvPr/>
        </p:nvSpPr>
        <p:spPr>
          <a:xfrm>
            <a:off x="777240" y="5550408"/>
            <a:ext cx="54864" cy="694944"/>
          </a:xfrm>
          <a:prstGeom prst="rect">
            <a:avLst/>
          </a:prstGeom>
          <a:solidFill>
            <a:srgbClr val="A51C30"/>
          </a:solidFill>
          <a:ln/>
        </p:spPr>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7 shipped, e.g. trading, world-economy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197 Sutras in the shipped packs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Lake, JDBC, Aerospike,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CSV,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NY Fed SOFR, ECB, US Treasury,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models answer on DuckDB — 17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the access log and audit; a signed pack registry; peers by gossip, signed calls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fourteen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sp>
      <p:sp>
        <p:nvSpPr>
          <p:cNvPr id="39" name="Shape 36"/>
          <p:cNvSpPr/>
          <p:nvPr/>
        </p:nvSpPr>
        <p:spPr>
          <a:xfrm>
            <a:off x="8092440" y="2377440"/>
            <a:ext cx="804672" cy="914"/>
          </a:xfrm>
          <a:prstGeom prst="line">
            <a:avLst/>
          </a:prstGeom>
          <a:noFill/>
          <a:ln w="22225">
            <a:solidFill>
              <a:srgbClr val="A51C30"/>
            </a:solidFill>
            <a:prstDash val="solid"/>
            <a:tailEnd type="triangle"/>
          </a:ln>
        </p:spPr>
      </p:sp>
      <p:sp>
        <p:nvSpPr>
          <p:cNvPr id="40" name="Shape 37"/>
          <p:cNvSpPr/>
          <p:nvPr/>
        </p:nvSpPr>
        <p:spPr>
          <a:xfrm>
            <a:off x="6007608" y="3310128"/>
            <a:ext cx="914" cy="301752"/>
          </a:xfrm>
          <a:prstGeom prst="line">
            <a:avLst/>
          </a:prstGeom>
          <a:noFill/>
          <a:ln w="22225">
            <a:solidFill>
              <a:srgbClr val="A51C30"/>
            </a:solidFill>
            <a:prstDash val="solid"/>
            <a:tailEnd type="triangle"/>
          </a:ln>
        </p:spPr>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1202436" y="1600200"/>
            <a:ext cx="548640" cy="548640"/>
          </a:xfrm>
          <a:prstGeom prst="ellipse">
            <a:avLst/>
          </a:prstGeom>
          <a:solidFill>
            <a:srgbClr val="A51C30"/>
          </a:solidFill>
          <a:ln/>
        </p:spPr>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sp>
      <p:sp>
        <p:nvSpPr>
          <p:cNvPr id="42" name="Shape 39"/>
          <p:cNvSpPr/>
          <p:nvPr/>
        </p:nvSpPr>
        <p:spPr>
          <a:xfrm>
            <a:off x="777240" y="4526280"/>
            <a:ext cx="45720" cy="868680"/>
          </a:xfrm>
          <a:prstGeom prst="rect">
            <a:avLst/>
          </a:prstGeom>
          <a:solidFill>
            <a:srgbClr val="A51C30"/>
          </a:solidFill>
          <a:ln/>
        </p:spPr>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sp>
      <p:sp>
        <p:nvSpPr>
          <p:cNvPr id="46" name="Shape 43"/>
          <p:cNvSpPr/>
          <p:nvPr/>
        </p:nvSpPr>
        <p:spPr>
          <a:xfrm>
            <a:off x="4389120" y="4526280"/>
            <a:ext cx="45720" cy="868680"/>
          </a:xfrm>
          <a:prstGeom prst="rect">
            <a:avLst/>
          </a:prstGeom>
          <a:solidFill>
            <a:srgbClr val="A51C30"/>
          </a:solidFill>
          <a:ln/>
        </p:spPr>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sp>
      <p:sp>
        <p:nvSpPr>
          <p:cNvPr id="50" name="Shape 47"/>
          <p:cNvSpPr/>
          <p:nvPr/>
        </p:nvSpPr>
        <p:spPr>
          <a:xfrm>
            <a:off x="8001000" y="4526280"/>
            <a:ext cx="45720" cy="868680"/>
          </a:xfrm>
          <a:prstGeom prst="rect">
            <a:avLst/>
          </a:prstGeom>
          <a:solidFill>
            <a:srgbClr val="A51C30"/>
          </a:solidFill>
          <a:ln/>
        </p:spPr>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sp>
      <p:sp>
        <p:nvSpPr>
          <p:cNvPr id="54" name="Shape 51"/>
          <p:cNvSpPr/>
          <p:nvPr/>
        </p:nvSpPr>
        <p:spPr>
          <a:xfrm>
            <a:off x="777240" y="5550408"/>
            <a:ext cx="54864" cy="694944"/>
          </a:xfrm>
          <a:prstGeom prst="rect">
            <a:avLst/>
          </a:prstGeom>
          <a:solidFill>
            <a:srgbClr val="A51C30"/>
          </a:solidFill>
          <a:ln/>
        </p:spPr>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5897880" cy="3886200"/>
          </a:xfrm>
          <a:prstGeom prst="rect">
            <a:avLst/>
          </a:prstGeom>
          <a:solidFill>
            <a:srgbClr val="1E1E24"/>
          </a:solidFill>
          <a:ln/>
        </p:spPr>
      </p:sp>
      <p:sp>
        <p:nvSpPr>
          <p:cNvPr id="7" name="Shape 4"/>
          <p:cNvSpPr/>
          <p:nvPr/>
        </p:nvSpPr>
        <p:spPr>
          <a:xfrm>
            <a:off x="777240" y="1463040"/>
            <a:ext cx="5897880" cy="384048"/>
          </a:xfrm>
          <a:prstGeom prst="rect">
            <a:avLst/>
          </a:prstGeom>
          <a:solidFill>
            <a:srgbClr val="8A1626"/>
          </a:solidFill>
          <a:ln/>
        </p:spPr>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version: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kind: trade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priority: 10</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where: "$.PRODUCT_TYPE == 'IRS_FIXFLOAT'"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IRS",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Status, bind: $.TRADE_STATUS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flow-schedule@1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headline figures and shared blocks: the deal ticket, legs and flows, one block for 130 Sutras.</a:t>
            </a:r>
            <a:endParaRPr lang="en-US" sz="1500" dirty="0"/>
          </a:p>
          <a:p>
            <a:pPr indent="0" marL="0">
              <a:buNone/>
            </a:pPr>
            <a:r>
              <a:rPr lang="en-US" sz="1500" b="1" dirty="0">
                <a:solidFill>
                  <a:srgbClr val="A51C30"/>
                </a:solidFill>
              </a:rPr>
              <a:t>▪  A closed language</a:t>
            </a:r>
            <a:endParaRPr lang="en-US" sz="1500" dirty="0"/>
          </a:p>
          <a:p>
            <a:pPr indent="0" marL="0">
              <a:spcAft>
                <a:spcPts val="900"/>
              </a:spcAft>
              <a:buNone/>
            </a:pPr>
            <a:r>
              <a:rPr lang="en-US" sz="1300" dirty="0">
                <a:solidFill>
                  <a:srgbClr val="4A5058"/>
                </a:solidFill>
              </a:rPr>
              <a:t>Rachana-EL has no side effects and no loops; a bad edit keeps the last good version live.</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Saved Sutras reload at once; in production a second person approves (four eyes).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474720"/>
            <a:ext cx="2507742" cy="1737360"/>
          </a:xfrm>
          <a:prstGeom prst="rect">
            <a:avLst/>
          </a:prstGeom>
          <a:solidFill>
            <a:srgbClr val="F7F5F2"/>
          </a:solidFill>
          <a:ln/>
        </p:spPr>
      </p:sp>
      <p:sp>
        <p:nvSpPr>
          <p:cNvPr id="26" name="Shape 23"/>
          <p:cNvSpPr/>
          <p:nvPr/>
        </p:nvSpPr>
        <p:spPr>
          <a:xfrm>
            <a:off x="777240" y="3474720"/>
            <a:ext cx="45720" cy="1737360"/>
          </a:xfrm>
          <a:prstGeom prst="rect">
            <a:avLst/>
          </a:prstGeom>
          <a:solidFill>
            <a:srgbClr val="A51C30"/>
          </a:solidFill>
          <a:ln/>
        </p:spPr>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sp>
      <p:sp>
        <p:nvSpPr>
          <p:cNvPr id="30" name="Shape 27"/>
          <p:cNvSpPr/>
          <p:nvPr/>
        </p:nvSpPr>
        <p:spPr>
          <a:xfrm>
            <a:off x="3486150" y="3474720"/>
            <a:ext cx="45720" cy="1737360"/>
          </a:xfrm>
          <a:prstGeom prst="rect">
            <a:avLst/>
          </a:prstGeom>
          <a:solidFill>
            <a:srgbClr val="A51C30"/>
          </a:solidFill>
          <a:ln/>
        </p:spPr>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sp>
      <p:sp>
        <p:nvSpPr>
          <p:cNvPr id="34" name="Shape 31"/>
          <p:cNvSpPr/>
          <p:nvPr/>
        </p:nvSpPr>
        <p:spPr>
          <a:xfrm>
            <a:off x="6195060" y="3474720"/>
            <a:ext cx="45720" cy="1737360"/>
          </a:xfrm>
          <a:prstGeom prst="rect">
            <a:avLst/>
          </a:prstGeom>
          <a:solidFill>
            <a:srgbClr val="A51C30"/>
          </a:solidFill>
          <a:ln/>
        </p:spPr>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sp>
      <p:sp>
        <p:nvSpPr>
          <p:cNvPr id="38" name="Shape 35"/>
          <p:cNvSpPr/>
          <p:nvPr/>
        </p:nvSpPr>
        <p:spPr>
          <a:xfrm>
            <a:off x="8903970" y="3474720"/>
            <a:ext cx="45720" cy="1737360"/>
          </a:xfrm>
          <a:prstGeom prst="rect">
            <a:avLst/>
          </a:prstGeom>
          <a:solidFill>
            <a:srgbClr val="A51C30"/>
          </a:solidFill>
          <a:ln/>
        </p:spPr>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2.5: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2.5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2.5 — overview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Domain packs: core, market data, trading, counterparty and market risk, world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Panel kinds, from tables to surfaces and graphs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type-ahead and query by form over production-shaped trades from ENDUR, CALYPSO and MUREX; business dates; phones.</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Build workbench for screens; BI Studio for reports, models, boards and themes; Python data prep step by step.</a:t>
            </a:r>
            <a:endParaRPr lang="en-US" sz="1500" dirty="0"/>
          </a:p>
          <a:p>
            <a:pPr indent="0" marL="0">
              <a:buNone/>
            </a:pPr>
            <a:r>
              <a:rPr lang="en-US" sz="1500" b="1" dirty="0">
                <a:solidFill>
                  <a:srgbClr val="A51C30"/>
                </a:solidFill>
              </a:rPr>
              <a:t>▪  Work together, provably</a:t>
            </a:r>
            <a:endParaRPr lang="en-US" sz="1500" dirty="0"/>
          </a:p>
          <a:p>
            <a:pPr indent="0" marL="0">
              <a:spcAft>
                <a:spcPts val="700"/>
              </a:spcAft>
              <a:buNone/>
            </a:pPr>
            <a:r>
              <a:rPr lang="en-US" sz="1300" dirty="0">
                <a:solidFill>
                  <a:srgbClr val="4A5058"/>
                </a:solidFill>
              </a:rPr>
              <a:t>Shares, discussion threads, an inbox, email digests and chat bridges — hash-chained, sealable and exportable.</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lake maintenance, a CLI for every step, embedding, and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sp>
      <p:sp>
        <p:nvSpPr>
          <p:cNvPr id="11" name="Shape 7"/>
          <p:cNvSpPr/>
          <p:nvPr/>
        </p:nvSpPr>
        <p:spPr>
          <a:xfrm>
            <a:off x="6400800" y="2926080"/>
            <a:ext cx="45720" cy="1143000"/>
          </a:xfrm>
          <a:prstGeom prst="rect">
            <a:avLst/>
          </a:prstGeom>
          <a:solidFill>
            <a:srgbClr val="A51C30"/>
          </a:solidFill>
          <a:ln/>
        </p:spPr>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sp>
      <p:sp>
        <p:nvSpPr>
          <p:cNvPr id="15" name="Shape 11"/>
          <p:cNvSpPr/>
          <p:nvPr/>
        </p:nvSpPr>
        <p:spPr>
          <a:xfrm>
            <a:off x="9006840" y="2926080"/>
            <a:ext cx="45720" cy="1143000"/>
          </a:xfrm>
          <a:prstGeom prst="rect">
            <a:avLst/>
          </a:prstGeom>
          <a:solidFill>
            <a:srgbClr val="A51C30"/>
          </a:solidFill>
          <a:ln/>
        </p:spPr>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sp>
      <p:sp>
        <p:nvSpPr>
          <p:cNvPr id="20" name="Shape 16"/>
          <p:cNvSpPr/>
          <p:nvPr/>
        </p:nvSpPr>
        <p:spPr>
          <a:xfrm>
            <a:off x="777240" y="5550408"/>
            <a:ext cx="54864" cy="694944"/>
          </a:xfrm>
          <a:prstGeom prst="rect">
            <a:avLst/>
          </a:prstGeom>
          <a:solidFill>
            <a:srgbClr val="A51C30"/>
          </a:solidFill>
          <a:ln/>
        </p:spPr>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sp>
      <p:sp>
        <p:nvSpPr>
          <p:cNvPr id="13" name="Shape 8"/>
          <p:cNvSpPr/>
          <p:nvPr/>
        </p:nvSpPr>
        <p:spPr>
          <a:xfrm>
            <a:off x="777240" y="5257800"/>
            <a:ext cx="54864" cy="694944"/>
          </a:xfrm>
          <a:prstGeom prst="rect">
            <a:avLst/>
          </a:prstGeom>
          <a:solidFill>
            <a:srgbClr val="A51C30"/>
          </a:solidFill>
          <a:ln/>
        </p:spPr>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4937760" cy="2331720"/>
          </a:xfrm>
          <a:prstGeom prst="rect">
            <a:avLst/>
          </a:prstGeom>
          <a:solidFill>
            <a:srgbClr val="1E1E24"/>
          </a:solidFill>
          <a:ln/>
        </p:spPr>
      </p:sp>
      <p:sp>
        <p:nvSpPr>
          <p:cNvPr id="7" name="Shape 4"/>
          <p:cNvSpPr/>
          <p:nvPr/>
        </p:nvSpPr>
        <p:spPr>
          <a:xfrm>
            <a:off x="777240" y="1417320"/>
            <a:ext cx="4937760" cy="384048"/>
          </a:xfrm>
          <a:prstGeom prst="rect">
            <a:avLst/>
          </a:prstGeom>
          <a:solidFill>
            <a:srgbClr val="8A1626"/>
          </a:solidFill>
          <a:ln/>
        </p:spPr>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sp>
      <p:sp>
        <p:nvSpPr>
          <p:cNvPr id="14" name="Shape 10"/>
          <p:cNvSpPr/>
          <p:nvPr/>
        </p:nvSpPr>
        <p:spPr>
          <a:xfrm>
            <a:off x="777240" y="5550408"/>
            <a:ext cx="54864" cy="694944"/>
          </a:xfrm>
          <a:prstGeom prst="rect">
            <a:avLst/>
          </a:prstGeom>
          <a:solidFill>
            <a:srgbClr val="A51C30"/>
          </a:solidFill>
          <a:ln/>
        </p:spPr>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914400"/>
        </p:xfrm>
        <a:graphic>
          <a:graphicData uri="http://schemas.openxmlformats.org/drawingml/2006/table">
            <a:tbl>
              <a:tblPr/>
              <a:tblGrid>
                <a:gridCol w="1737360"/>
                <a:gridCol w="4480560"/>
                <a:gridCol w="4416552"/>
              </a:tblGrid>
              <a:tr h="566928">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66928">
                <a:tc>
                  <a:txBody>
                    <a:bodyPr/>
                    <a:lstStyle/>
                    <a:p>
                      <a:pPr indent="0" marL="0">
                        <a:buNone/>
                      </a:pPr>
                      <a:r>
                        <a:rPr lang="en-US" sz="1400" b="1" dirty="0">
                          <a:solidFill>
                            <a:srgbClr val="8A1626"/>
                          </a:solidFill>
                        </a:rPr>
                        <a:t>sutra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Generate, lint, test and preview Sutras from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shape, design --each, gen, lint, test, preview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sign, deploy and roll back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verify, deploy, rollback, keygen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data · lake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Ingest, profile, say a batch landed; build and maintain lakes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landed, loads, lake demo, lake build, lake maintain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server · connector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on and off, connectors as files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list|on|off, connector apply|test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bi</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Models, SQL, items, Transforms, migrations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 describe, sql, mq, item save, transform input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net · design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Drishti*net files, the screen designer,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net check|add-peer|members, design propose,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486400" cy="1691640"/>
          </a:xfrm>
          <a:prstGeom prst="rect">
            <a:avLst/>
          </a:prstGeom>
          <a:solidFill>
            <a:srgbClr val="1E1E24"/>
          </a:solidFill>
          <a:ln/>
        </p:spPr>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sp>
      <p:sp>
        <p:nvSpPr>
          <p:cNvPr id="12" name="Shape 8"/>
          <p:cNvSpPr/>
          <p:nvPr/>
        </p:nvSpPr>
        <p:spPr>
          <a:xfrm>
            <a:off x="777240" y="3611880"/>
            <a:ext cx="45720" cy="1691640"/>
          </a:xfrm>
          <a:prstGeom prst="rect">
            <a:avLst/>
          </a:prstGeom>
          <a:solidFill>
            <a:srgbClr val="A51C30"/>
          </a:solidFill>
          <a:ln/>
        </p:spPr>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sp>
      <p:sp>
        <p:nvSpPr>
          <p:cNvPr id="16" name="Shape 12"/>
          <p:cNvSpPr/>
          <p:nvPr/>
        </p:nvSpPr>
        <p:spPr>
          <a:xfrm>
            <a:off x="3486150" y="3611880"/>
            <a:ext cx="45720" cy="1691640"/>
          </a:xfrm>
          <a:prstGeom prst="rect">
            <a:avLst/>
          </a:prstGeom>
          <a:solidFill>
            <a:srgbClr val="A51C30"/>
          </a:solidFill>
          <a:ln/>
        </p:spPr>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sp>
      <p:sp>
        <p:nvSpPr>
          <p:cNvPr id="20" name="Shape 16"/>
          <p:cNvSpPr/>
          <p:nvPr/>
        </p:nvSpPr>
        <p:spPr>
          <a:xfrm>
            <a:off x="6195060" y="3611880"/>
            <a:ext cx="45720" cy="1691640"/>
          </a:xfrm>
          <a:prstGeom prst="rect">
            <a:avLst/>
          </a:prstGeom>
          <a:solidFill>
            <a:srgbClr val="A51C30"/>
          </a:solidFill>
          <a:ln/>
        </p:spPr>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sp>
      <p:sp>
        <p:nvSpPr>
          <p:cNvPr id="24" name="Shape 20"/>
          <p:cNvSpPr/>
          <p:nvPr/>
        </p:nvSpPr>
        <p:spPr>
          <a:xfrm>
            <a:off x="8903970" y="3611880"/>
            <a:ext cx="45720" cy="1691640"/>
          </a:xfrm>
          <a:prstGeom prst="rect">
            <a:avLst/>
          </a:prstGeom>
          <a:solidFill>
            <a:srgbClr val="A51C30"/>
          </a:solidFill>
          <a:ln/>
        </p:spPr>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sp>
      <p:sp>
        <p:nvSpPr>
          <p:cNvPr id="28" name="Shape 24"/>
          <p:cNvSpPr/>
          <p:nvPr/>
        </p:nvSpPr>
        <p:spPr>
          <a:xfrm>
            <a:off x="777240" y="5550408"/>
            <a:ext cx="54864" cy="694944"/>
          </a:xfrm>
          <a:prstGeom prst="rect">
            <a:avLst/>
          </a:prstGeom>
          <a:solidFill>
            <a:srgbClr val="A51C30"/>
          </a:solidFill>
          <a:ln/>
        </p:spPr>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3410712" cy="3886200"/>
          </a:xfrm>
          <a:prstGeom prst="rect">
            <a:avLst/>
          </a:prstGeom>
          <a:solidFill>
            <a:srgbClr val="F7F5F2"/>
          </a:solidFill>
          <a:ln/>
        </p:spPr>
      </p:sp>
      <p:sp>
        <p:nvSpPr>
          <p:cNvPr id="7" name="Shape 4"/>
          <p:cNvSpPr/>
          <p:nvPr/>
        </p:nvSpPr>
        <p:spPr>
          <a:xfrm>
            <a:off x="777240" y="1463040"/>
            <a:ext cx="3410712" cy="868680"/>
          </a:xfrm>
          <a:prstGeom prst="rect">
            <a:avLst/>
          </a:prstGeom>
          <a:solidFill>
            <a:srgbClr val="8A1626"/>
          </a:solidFill>
          <a:ln/>
        </p:spPr>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sp>
      <p:sp>
        <p:nvSpPr>
          <p:cNvPr id="11" name="Shape 8"/>
          <p:cNvSpPr/>
          <p:nvPr/>
        </p:nvSpPr>
        <p:spPr>
          <a:xfrm>
            <a:off x="4389120" y="1463040"/>
            <a:ext cx="3410712" cy="868680"/>
          </a:xfrm>
          <a:prstGeom prst="rect">
            <a:avLst/>
          </a:prstGeom>
          <a:solidFill>
            <a:srgbClr val="8A1626"/>
          </a:solidFill>
          <a:ln/>
        </p:spPr>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sp>
      <p:sp>
        <p:nvSpPr>
          <p:cNvPr id="15" name="Shape 12"/>
          <p:cNvSpPr/>
          <p:nvPr/>
        </p:nvSpPr>
        <p:spPr>
          <a:xfrm>
            <a:off x="8001000" y="1463040"/>
            <a:ext cx="3410712" cy="868680"/>
          </a:xfrm>
          <a:prstGeom prst="rect">
            <a:avLst/>
          </a:prstGeom>
          <a:solidFill>
            <a:srgbClr val="8A1626"/>
          </a:solidFill>
          <a:ln/>
        </p:spPr>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sp>
      <p:sp>
        <p:nvSpPr>
          <p:cNvPr id="19" name="Shape 16"/>
          <p:cNvSpPr/>
          <p:nvPr/>
        </p:nvSpPr>
        <p:spPr>
          <a:xfrm>
            <a:off x="777240" y="5550408"/>
            <a:ext cx="54864" cy="694944"/>
          </a:xfrm>
          <a:prstGeom prst="rect">
            <a:avLst/>
          </a:prstGeom>
          <a:solidFill>
            <a:srgbClr val="A51C30"/>
          </a:solidFill>
          <a:ln/>
        </p:spPr>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309360" cy="3977640"/>
          </a:xfrm>
          <a:prstGeom prst="rect">
            <a:avLst/>
          </a:prstGeom>
          <a:solidFill>
            <a:srgbClr val="1E1E24"/>
          </a:solidFill>
          <a:ln/>
        </p:spPr>
      </p:sp>
      <p:sp>
        <p:nvSpPr>
          <p:cNvPr id="7" name="Shape 4"/>
          <p:cNvSpPr/>
          <p:nvPr/>
        </p:nvSpPr>
        <p:spPr>
          <a:xfrm>
            <a:off x="777240" y="1417320"/>
            <a:ext cx="6309360" cy="384048"/>
          </a:xfrm>
          <a:prstGeom prst="rect">
            <a:avLst/>
          </a:prstGeom>
          <a:solidFill>
            <a:srgbClr val="8A1626"/>
          </a:solidFill>
          <a:ln/>
        </p:spPr>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sp>
      <p:sp>
        <p:nvSpPr>
          <p:cNvPr id="9" name="Shape 5"/>
          <p:cNvSpPr/>
          <p:nvPr/>
        </p:nvSpPr>
        <p:spPr>
          <a:xfrm>
            <a:off x="777240" y="5550408"/>
            <a:ext cx="54864" cy="694944"/>
          </a:xfrm>
          <a:prstGeom prst="rect">
            <a:avLst/>
          </a:prstGeom>
          <a:solidFill>
            <a:srgbClr val="A51C30"/>
          </a:solidFill>
          <a:ln/>
        </p:spPr>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583680" cy="3977640"/>
          </a:xfrm>
          <a:prstGeom prst="rect">
            <a:avLst/>
          </a:prstGeom>
          <a:solidFill>
            <a:srgbClr val="1E1E24"/>
          </a:solidFill>
          <a:ln/>
        </p:spPr>
      </p:sp>
      <p:sp>
        <p:nvSpPr>
          <p:cNvPr id="7" name="Shape 4"/>
          <p:cNvSpPr/>
          <p:nvPr/>
        </p:nvSpPr>
        <p:spPr>
          <a:xfrm>
            <a:off x="777240" y="1417320"/>
            <a:ext cx="6583680" cy="384048"/>
          </a:xfrm>
          <a:prstGeom prst="rect">
            <a:avLst/>
          </a:prstGeom>
          <a:solidFill>
            <a:srgbClr val="8A1626"/>
          </a:solidFill>
          <a:ln/>
        </p:spPr>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2507742" cy="1828800"/>
          </a:xfrm>
          <a:prstGeom prst="rect">
            <a:avLst/>
          </a:prstGeom>
          <a:solidFill>
            <a:srgbClr val="F7F5F2"/>
          </a:solidFill>
          <a:ln/>
        </p:spPr>
      </p:sp>
      <p:sp>
        <p:nvSpPr>
          <p:cNvPr id="7" name="Shape 4"/>
          <p:cNvSpPr/>
          <p:nvPr/>
        </p:nvSpPr>
        <p:spPr>
          <a:xfrm>
            <a:off x="777240" y="1463040"/>
            <a:ext cx="45720" cy="1828800"/>
          </a:xfrm>
          <a:prstGeom prst="rect">
            <a:avLst/>
          </a:prstGeom>
          <a:solidFill>
            <a:srgbClr val="A51C30"/>
          </a:solidFill>
          <a:ln/>
        </p:spPr>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sp>
      <p:sp>
        <p:nvSpPr>
          <p:cNvPr id="11" name="Shape 8"/>
          <p:cNvSpPr/>
          <p:nvPr/>
        </p:nvSpPr>
        <p:spPr>
          <a:xfrm>
            <a:off x="3486150" y="1463040"/>
            <a:ext cx="45720" cy="1828800"/>
          </a:xfrm>
          <a:prstGeom prst="rect">
            <a:avLst/>
          </a:prstGeom>
          <a:solidFill>
            <a:srgbClr val="A51C30"/>
          </a:solidFill>
          <a:ln/>
        </p:spPr>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sp>
      <p:sp>
        <p:nvSpPr>
          <p:cNvPr id="15" name="Shape 12"/>
          <p:cNvSpPr/>
          <p:nvPr/>
        </p:nvSpPr>
        <p:spPr>
          <a:xfrm>
            <a:off x="6195060" y="1463040"/>
            <a:ext cx="45720" cy="1828800"/>
          </a:xfrm>
          <a:prstGeom prst="rect">
            <a:avLst/>
          </a:prstGeom>
          <a:solidFill>
            <a:srgbClr val="A51C30"/>
          </a:solidFill>
          <a:ln/>
        </p:spPr>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sp>
      <p:sp>
        <p:nvSpPr>
          <p:cNvPr id="19" name="Shape 16"/>
          <p:cNvSpPr/>
          <p:nvPr/>
        </p:nvSpPr>
        <p:spPr>
          <a:xfrm>
            <a:off x="8903970" y="1463040"/>
            <a:ext cx="45720" cy="1828800"/>
          </a:xfrm>
          <a:prstGeom prst="rect">
            <a:avLst/>
          </a:prstGeom>
          <a:solidFill>
            <a:srgbClr val="A51C30"/>
          </a:solidFill>
          <a:ln/>
        </p:spPr>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sp>
      <p:sp>
        <p:nvSpPr>
          <p:cNvPr id="24" name="Shape 21"/>
          <p:cNvSpPr/>
          <p:nvPr/>
        </p:nvSpPr>
        <p:spPr>
          <a:xfrm>
            <a:off x="777240" y="5550408"/>
            <a:ext cx="54864" cy="694944"/>
          </a:xfrm>
          <a:prstGeom prst="rect">
            <a:avLst/>
          </a:prstGeom>
          <a:solidFill>
            <a:srgbClr val="A51C30"/>
          </a:solidFill>
          <a:ln/>
        </p:spPr>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19 October 2026: measured, tested,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187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394960" cy="2377440"/>
          </a:xfrm>
          <a:prstGeom prst="rect">
            <a:avLst/>
          </a:prstGeom>
          <a:solidFill>
            <a:srgbClr val="1E1E24"/>
          </a:solidFill>
          <a:ln/>
        </p:spPr>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limits, Drishti*net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96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sp>
      <p:sp>
        <p:nvSpPr>
          <p:cNvPr id="10" name="Shape 6"/>
          <p:cNvSpPr/>
          <p:nvPr/>
        </p:nvSpPr>
        <p:spPr>
          <a:xfrm>
            <a:off x="777240" y="3931920"/>
            <a:ext cx="45720" cy="1371600"/>
          </a:xfrm>
          <a:prstGeom prst="rect">
            <a:avLst/>
          </a:prstGeom>
          <a:solidFill>
            <a:srgbClr val="A51C30"/>
          </a:solidFill>
          <a:ln/>
        </p:spPr>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187</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sp>
      <p:sp>
        <p:nvSpPr>
          <p:cNvPr id="14" name="Shape 10"/>
          <p:cNvSpPr/>
          <p:nvPr/>
        </p:nvSpPr>
        <p:spPr>
          <a:xfrm>
            <a:off x="2642616" y="3931920"/>
            <a:ext cx="45720" cy="1371600"/>
          </a:xfrm>
          <a:prstGeom prst="rect">
            <a:avLst/>
          </a:prstGeom>
          <a:solidFill>
            <a:srgbClr val="A51C30"/>
          </a:solidFill>
          <a:ln/>
        </p:spPr>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sp>
      <p:sp>
        <p:nvSpPr>
          <p:cNvPr id="18" name="Shape 14"/>
          <p:cNvSpPr/>
          <p:nvPr/>
        </p:nvSpPr>
        <p:spPr>
          <a:xfrm>
            <a:off x="4507992" y="3931920"/>
            <a:ext cx="45720" cy="1371600"/>
          </a:xfrm>
          <a:prstGeom prst="rect">
            <a:avLst/>
          </a:prstGeom>
          <a:solidFill>
            <a:srgbClr val="A51C30"/>
          </a:solidFill>
          <a:ln/>
        </p:spPr>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sp>
      <p:sp>
        <p:nvSpPr>
          <p:cNvPr id="22" name="Shape 18"/>
          <p:cNvSpPr/>
          <p:nvPr/>
        </p:nvSpPr>
        <p:spPr>
          <a:xfrm>
            <a:off x="777240" y="5550408"/>
            <a:ext cx="54864" cy="694944"/>
          </a:xfrm>
          <a:prstGeom prst="rect">
            <a:avLst/>
          </a:prstGeom>
          <a:solidFill>
            <a:srgbClr val="A51C30"/>
          </a:solidFill>
          <a:ln/>
        </p:spPr>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4,435 tests,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2,396</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(plus 36 parameterised)</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1,759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tests, 520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and tool tests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a licence-header test; no source file over 1,500 lines; no external asset.</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Embedded views, adversarially</a:t>
            </a:r>
            <a:endParaRPr lang="en-US" sz="1500" dirty="0"/>
          </a:p>
          <a:p>
            <a:pPr indent="0" marL="0">
              <a:spcAft>
                <a:spcPts val="700"/>
              </a:spcAft>
              <a:buNone/>
            </a:pPr>
            <a:r>
              <a:rPr lang="en-US" sz="1300" dirty="0">
                <a:solidFill>
                  <a:srgbClr val="4A5058"/>
                </a:solidFill>
              </a:rPr>
              <a:t>A tampered payload is sanitised; Trusted Types enforced; a 30-second token renews on a live stream.</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Netting set impact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0.7–0.9 s, 143,982 trades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sp>
      <p:sp>
        <p:nvSpPr>
          <p:cNvPr id="10" name="Shape 5"/>
          <p:cNvSpPr/>
          <p:nvPr/>
        </p:nvSpPr>
        <p:spPr>
          <a:xfrm>
            <a:off x="777240" y="5550408"/>
            <a:ext cx="54864" cy="694944"/>
          </a:xfrm>
          <a:prstGeom prst="rect">
            <a:avLst/>
          </a:prstGeom>
          <a:solidFill>
            <a:srgbClr val="A51C30"/>
          </a:solidFill>
          <a:ln/>
        </p:spPr>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FOUR ROUNDS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29</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the collaboration and safety pair (2 high)</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collaboration, Ask, bridges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12 of 12 resolved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Behaviour: About, time, failure modes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sp>
      <p:sp>
        <p:nvSpPr>
          <p:cNvPr id="29" name="Shape 26"/>
          <p:cNvSpPr/>
          <p:nvPr/>
        </p:nvSpPr>
        <p:spPr>
          <a:xfrm>
            <a:off x="777240" y="3337560"/>
            <a:ext cx="3410712" cy="1920240"/>
          </a:xfrm>
          <a:prstGeom prst="rect">
            <a:avLst/>
          </a:prstGeom>
          <a:solidFill>
            <a:srgbClr val="F7F5F2"/>
          </a:solidFill>
          <a:ln/>
        </p:spPr>
      </p:sp>
      <p:sp>
        <p:nvSpPr>
          <p:cNvPr id="30" name="Shape 27"/>
          <p:cNvSpPr/>
          <p:nvPr/>
        </p:nvSpPr>
        <p:spPr>
          <a:xfrm>
            <a:off x="777240" y="3337560"/>
            <a:ext cx="45720" cy="1920240"/>
          </a:xfrm>
          <a:prstGeom prst="rect">
            <a:avLst/>
          </a:prstGeom>
          <a:solidFill>
            <a:srgbClr val="A51C30"/>
          </a:solidFill>
          <a:ln/>
        </p:spPr>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21 · 25</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Every commit verified on Java 21 and on Java 25</a:t>
            </a:r>
            <a:endParaRPr lang="en-US" sz="1300" dirty="0"/>
          </a:p>
        </p:txBody>
      </p:sp>
      <p:sp>
        <p:nvSpPr>
          <p:cNvPr id="33" name="Shape 30"/>
          <p:cNvSpPr/>
          <p:nvPr/>
        </p:nvSpPr>
        <p:spPr>
          <a:xfrm>
            <a:off x="4389120" y="3337560"/>
            <a:ext cx="3410712" cy="1920240"/>
          </a:xfrm>
          <a:prstGeom prst="rect">
            <a:avLst/>
          </a:prstGeom>
          <a:solidFill>
            <a:srgbClr val="F7F5F2"/>
          </a:solidFill>
          <a:ln/>
        </p:spPr>
      </p:sp>
      <p:sp>
        <p:nvSpPr>
          <p:cNvPr id="34" name="Shape 31"/>
          <p:cNvSpPr/>
          <p:nvPr/>
        </p:nvSpPr>
        <p:spPr>
          <a:xfrm>
            <a:off x="4389120" y="3337560"/>
            <a:ext cx="45720" cy="1920240"/>
          </a:xfrm>
          <a:prstGeom prst="rect">
            <a:avLst/>
          </a:prstGeom>
          <a:solidFill>
            <a:srgbClr val="A51C30"/>
          </a:solidFill>
          <a:ln/>
        </p:spPr>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Releases, 1.0 to 2.4, 30 Sep to 19 Oct 2026</a:t>
            </a:r>
            <a:endParaRPr lang="en-US" sz="1300" dirty="0"/>
          </a:p>
        </p:txBody>
      </p:sp>
      <p:sp>
        <p:nvSpPr>
          <p:cNvPr id="37" name="Shape 34"/>
          <p:cNvSpPr/>
          <p:nvPr/>
        </p:nvSpPr>
        <p:spPr>
          <a:xfrm>
            <a:off x="8001000" y="3337560"/>
            <a:ext cx="3410712" cy="1920240"/>
          </a:xfrm>
          <a:prstGeom prst="rect">
            <a:avLst/>
          </a:prstGeom>
          <a:solidFill>
            <a:srgbClr val="F7F5F2"/>
          </a:solidFill>
          <a:ln/>
        </p:spPr>
      </p:sp>
      <p:sp>
        <p:nvSpPr>
          <p:cNvPr id="38" name="Shape 35"/>
          <p:cNvSpPr/>
          <p:nvPr/>
        </p:nvSpPr>
        <p:spPr>
          <a:xfrm>
            <a:off x="8001000" y="3337560"/>
            <a:ext cx="45720" cy="1920240"/>
          </a:xfrm>
          <a:prstGeom prst="rect">
            <a:avLst/>
          </a:prstGeom>
          <a:solidFill>
            <a:srgbClr val="A51C30"/>
          </a:solidFill>
          <a:ln/>
        </p:spPr>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1,421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155 guides and references</a:t>
            </a:r>
            <a:endParaRPr lang="en-US" sz="1500" dirty="0"/>
          </a:p>
          <a:p>
            <a:pPr indent="0" marL="0">
              <a:spcAft>
                <a:spcPts val="1000"/>
              </a:spcAft>
              <a:buNone/>
            </a:pPr>
            <a:r>
              <a:rPr lang="en-US" sz="1300" dirty="0">
                <a:solidFill>
                  <a:srgbClr val="4A5058"/>
                </a:solidFill>
              </a:rPr>
              <a:t>User, admin, CLI, BI, packs, connectors, architecture, 19 tutorials and 21 ADRs.</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With real captures, regenerated by a script.</a:t>
            </a:r>
            <a:endParaRPr lang="en-US" sz="1500" dirty="0"/>
          </a:p>
          <a:p>
            <a:pPr indent="0" marL="0">
              <a:buNone/>
            </a:pPr>
            <a:r>
              <a:rPr lang="en-US" sz="1500" b="1" dirty="0">
                <a:solidFill>
                  <a:srgbClr val="A51C30"/>
                </a:solidFill>
              </a:rPr>
              <a:t>▪  14 core modules</a:t>
            </a:r>
            <a:endParaRPr lang="en-US" sz="1500" dirty="0"/>
          </a:p>
          <a:p>
            <a:pPr indent="0" marL="0">
              <a:spcAft>
                <a:spcPts val="1000"/>
              </a:spcAft>
              <a:buNone/>
            </a:pPr>
            <a:r>
              <a:rPr lang="en-US" sz="1300" dirty="0">
                <a:solidFill>
                  <a:srgbClr val="4A5058"/>
                </a:solidFill>
              </a:rPr>
              <a:t>Plus 17 source plugins, a server, integration tests and benchmarks.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Sharing and integration, then AI, then a real-life QA and production readiness, then 3.0.</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comes next — and what each release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2194560"/>
                <a:gridCol w="4937760"/>
                <a:gridCol w="3502152"/>
              </a:tblGrid>
              <a:tr h="585216">
                <a:tc>
                  <a:txBody>
                    <a:bodyPr/>
                    <a:lstStyle/>
                    <a:p>
                      <a:pPr indent="0" marL="0">
                        <a:buNone/>
                      </a:pPr>
                      <a:r>
                        <a:rPr lang="en-US" sz="1350" b="1" dirty="0">
                          <a:solidFill>
                            <a:srgbClr val="FFFFFF"/>
                          </a:solidFill>
                        </a:rPr>
                        <a:t>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Done when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85216">
                <a:tc>
                  <a:txBody>
                    <a:bodyPr/>
                    <a:lstStyle/>
                    <a:p>
                      <a:pPr indent="0" marL="0">
                        <a:buNone/>
                      </a:pPr>
                      <a:r>
                        <a:rPr lang="en-US" sz="1350" b="1" dirty="0">
                          <a:solidFill>
                            <a:srgbClr val="8A1626"/>
                          </a:solidFill>
                        </a:rPr>
                        <a:t>2.5.0 Drishti*net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Several servers as one: gossip, digests, routing, scatter-gather, failover; built, in release testing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browser rehearsal and the drill pass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2.6.0 Sharing</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Paginated reports, send and push, SQL and Excel feeds, embed tokens, the Sajha MCP connector, field parameters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A statement bursts to ten readers, each masked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2.7.0 AI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GenUI (an agent composes a live screen from governed Sutra fragments) and AI management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An AI answer uses only what its user may see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Real-life QA</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Real users' tasks on real-shaped data, outside the builders' own tests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Every finding triaged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2.8.0 Readiness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Wave E: the QA findings, governance across environments, 3.0 groundwork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bundle moves a model from dev to test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Excel add-in, a second query engine in production, scale on real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Measured on real servers, not extrapolated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Later candidates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Server-side pricing (QuantLib, ADR-019), Windows proven on a real machine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Prices beside the data, explained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ten minutes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035040" cy="3931920"/>
          </a:xfrm>
          <a:prstGeom prst="rect">
            <a:avLst/>
          </a:prstGeom>
          <a:solidFill>
            <a:srgbClr val="1E1E24"/>
          </a:solidFill>
          <a:ln/>
        </p:spPr>
      </p:sp>
      <p:sp>
        <p:nvSpPr>
          <p:cNvPr id="7" name="Shape 4"/>
          <p:cNvSpPr/>
          <p:nvPr/>
        </p:nvSpPr>
        <p:spPr>
          <a:xfrm>
            <a:off x="777240" y="1417320"/>
            <a:ext cx="6035040" cy="384048"/>
          </a:xfrm>
          <a:prstGeom prst="rect">
            <a:avLst/>
          </a:prstGeom>
          <a:solidFill>
            <a:srgbClr val="8A1626"/>
          </a:solidFill>
          <a:ln/>
        </p:spPr>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Six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-jar &lt;jar&gt;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Ten minutes, fresh clone to the demo lakes and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then every build step</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a:t>
            </a:r>
            <a:endParaRPr lang="en-US" sz="1250" dirty="0"/>
          </a:p>
        </p:txBody>
      </p:sp>
      <p:sp>
        <p:nvSpPr>
          <p:cNvPr id="22" name="Shape 19"/>
          <p:cNvSpPr/>
          <p:nvPr/>
        </p:nvSpPr>
        <p:spPr>
          <a:xfrm>
            <a:off x="777240" y="5550408"/>
            <a:ext cx="10634472" cy="694944"/>
          </a:xfrm>
          <a:prstGeom prst="rect">
            <a:avLst/>
          </a:prstGeom>
          <a:solidFill>
            <a:srgbClr val="F6E6E9"/>
          </a:solidFill>
          <a:ln/>
        </p:spPr>
      </p:sp>
      <p:sp>
        <p:nvSpPr>
          <p:cNvPr id="23" name="Shape 20"/>
          <p:cNvSpPr/>
          <p:nvPr/>
        </p:nvSpPr>
        <p:spPr>
          <a:xfrm>
            <a:off x="777240" y="5550408"/>
            <a:ext cx="54864" cy="694944"/>
          </a:xfrm>
          <a:prstGeom prst="rect">
            <a:avLst/>
          </a:prstGeom>
          <a:solidFill>
            <a:srgbClr val="A51C30"/>
          </a:solidFill>
          <a:ln/>
        </p:spPr>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474720"/>
            <a:ext cx="2507742" cy="1737360"/>
          </a:xfrm>
          <a:prstGeom prst="rect">
            <a:avLst/>
          </a:prstGeom>
          <a:solidFill>
            <a:srgbClr val="F7F5F2"/>
          </a:solidFill>
          <a:ln/>
        </p:spPr>
      </p:sp>
      <p:sp>
        <p:nvSpPr>
          <p:cNvPr id="26" name="Shape 23"/>
          <p:cNvSpPr/>
          <p:nvPr/>
        </p:nvSpPr>
        <p:spPr>
          <a:xfrm>
            <a:off x="777240" y="3474720"/>
            <a:ext cx="45720" cy="1737360"/>
          </a:xfrm>
          <a:prstGeom prst="rect">
            <a:avLst/>
          </a:prstGeom>
          <a:solidFill>
            <a:srgbClr val="A51C30"/>
          </a:solidFill>
          <a:ln/>
        </p:spPr>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86150" y="3474720"/>
            <a:ext cx="2507742" cy="1737360"/>
          </a:xfrm>
          <a:prstGeom prst="rect">
            <a:avLst/>
          </a:prstGeom>
          <a:solidFill>
            <a:srgbClr val="F7F5F2"/>
          </a:solidFill>
          <a:ln/>
        </p:spPr>
      </p:sp>
      <p:sp>
        <p:nvSpPr>
          <p:cNvPr id="30" name="Shape 27"/>
          <p:cNvSpPr/>
          <p:nvPr/>
        </p:nvSpPr>
        <p:spPr>
          <a:xfrm>
            <a:off x="3486150" y="3474720"/>
            <a:ext cx="45720" cy="1737360"/>
          </a:xfrm>
          <a:prstGeom prst="rect">
            <a:avLst/>
          </a:prstGeom>
          <a:solidFill>
            <a:srgbClr val="A51C30"/>
          </a:solidFill>
          <a:ln/>
        </p:spPr>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40 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killed node is dead everywhere (five nodes)</a:t>
            </a:r>
            <a:endParaRPr lang="en-US" sz="1300" dirty="0"/>
          </a:p>
        </p:txBody>
      </p:sp>
      <p:sp>
        <p:nvSpPr>
          <p:cNvPr id="33" name="Shape 30"/>
          <p:cNvSpPr/>
          <p:nvPr/>
        </p:nvSpPr>
        <p:spPr>
          <a:xfrm>
            <a:off x="6195060" y="3474720"/>
            <a:ext cx="2507742" cy="1737360"/>
          </a:xfrm>
          <a:prstGeom prst="rect">
            <a:avLst/>
          </a:prstGeom>
          <a:solidFill>
            <a:srgbClr val="F7F5F2"/>
          </a:solidFill>
          <a:ln/>
        </p:spPr>
      </p:sp>
      <p:sp>
        <p:nvSpPr>
          <p:cNvPr id="34" name="Shape 31"/>
          <p:cNvSpPr/>
          <p:nvPr/>
        </p:nvSpPr>
        <p:spPr>
          <a:xfrm>
            <a:off x="6195060" y="3474720"/>
            <a:ext cx="45720" cy="1737360"/>
          </a:xfrm>
          <a:prstGeom prst="rect">
            <a:avLst/>
          </a:prstGeom>
          <a:solidFill>
            <a:srgbClr val="A51C30"/>
          </a:solidFill>
          <a:ln/>
        </p:spPr>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 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pack switched on reaches the others' tables</a:t>
            </a:r>
            <a:endParaRPr lang="en-US" sz="1300" dirty="0"/>
          </a:p>
        </p:txBody>
      </p:sp>
      <p:sp>
        <p:nvSpPr>
          <p:cNvPr id="37" name="Shape 34"/>
          <p:cNvSpPr/>
          <p:nvPr/>
        </p:nvSpPr>
        <p:spPr>
          <a:xfrm>
            <a:off x="8903970" y="3474720"/>
            <a:ext cx="2507742" cy="1737360"/>
          </a:xfrm>
          <a:prstGeom prst="rect">
            <a:avLst/>
          </a:prstGeom>
          <a:solidFill>
            <a:srgbClr val="F7F5F2"/>
          </a:solidFill>
          <a:ln/>
        </p:spPr>
      </p:sp>
      <p:sp>
        <p:nvSpPr>
          <p:cNvPr id="38" name="Shape 35"/>
          <p:cNvSpPr/>
          <p:nvPr/>
        </p:nvSpPr>
        <p:spPr>
          <a:xfrm>
            <a:off x="8903970" y="3474720"/>
            <a:ext cx="45720" cy="1737360"/>
          </a:xfrm>
          <a:prstGeom prst="rect">
            <a:avLst/>
          </a:prstGeom>
          <a:solidFill>
            <a:srgbClr val="A51C30"/>
          </a:solidFill>
          <a:ln/>
        </p:spPr>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PptxGenJS Presentation</dc:subject>
  <dc:creator>Ashutosh Sinha</dc:creator>
  <cp:lastModifiedBy>Ashutosh Sinha</cp:lastModifiedBy>
  <cp:revision>1</cp:revision>
  <dcterms:created xsi:type="dcterms:W3CDTF">2026-10-07T03:43:45Z</dcterms:created>
  <dcterms:modified xsi:type="dcterms:W3CDTF">2026-10-07T03:43:45Z</dcterms:modified>
</cp:coreProperties>
</file>
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1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6c02db4-0cc6-c589-c93e-a6b3dbfcf01f}">
          <p14:sldIdLst>
            <p14:sldId id="256"/>
            <p14:sldId id="257"/>
          </p14:sldIdLst>
        </p14:section>
        <p14:section name="1 The idea" id="{a712c8e3-2178-97ee-3172-b8604ae84330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2 The product" id="{9352e20f-24e3-42ef-e003-d4d571d5bd1c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3 Security" id="{ce4dddd9-208d-b13c-ccce-4a890378107e}">
          <p14:sldIdLst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4 Evidence" id="{7e735013-be5a-282d-ee1e-eb4bc37820be}">
          <p14:sldIdLst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5 Where it is going" id="{14d0c23b-9cff-963d-922b-0020955d72a0}">
          <p14:sldIdLst>
            <p14:sldId id="295"/>
            <p14:sldId id="296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1666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61666E"/>
                </a:solidFill>
                <a:latin typeface="+mn-lt"/>
              </a:rPr>
              <a:t>Milliseconds, lower is better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Milliseconds</c:v>
                </c:pt>
              </c:strCache>
            </c:strRef>
          </c:tx>
          <c:spPr>
            <a:solidFill>
              <a:srgbClr val="A51C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Warm view, p99 (HTTP)</c:v>
                  </c:pt>
                  <c:pt idx="1">
                    <c:v>Live tick to frame, p99</c:v>
                  </c:pt>
                  <c:pt idx="2">
                    <c:v>Type-ahead at 1M/day</c:v>
                  </c:pt>
                  <c:pt idx="3">
                    <c:v>Open a cached trade at 1M/day</c:v>
                  </c:pt>
                  <c:pt idx="4">
                    <c:v>Search all 1M trades</c:v>
                  </c:pt>
                  <c:pt idx="5">
                    <c:v>P&amp;L of every desk, 1M trades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11.2</c:v>
                </c:pt>
                <c:pt idx="2">
                  <c:v>29</c:v>
                </c:pt>
                <c:pt idx="3">
                  <c:v>48</c:v>
                </c:pt>
                <c:pt idx="4">
                  <c:v>134</c:v>
                </c:pt>
                <c:pt idx="5">
                  <c:v>327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0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1666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61666E"/>
                </a:solidFill>
                <a:latin typeface="+mn-lt"/>
              </a:rPr>
              <a:t>Lines tracked in git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Lines</c:v>
                </c:pt>
              </c:strCache>
            </c:strRef>
          </c:tx>
          <c:spPr>
            <a:solidFill>
              <a:srgbClr val="A51C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Java (main)</c:v>
                  </c:pt>
                  <c:pt idx="1">
                    <c:v>Java (tests)</c:v>
                  </c:pt>
                  <c:pt idx="2">
                    <c:v>Python</c:v>
                  </c:pt>
                  <c:pt idx="3">
                    <c:v>Markdown docs</c:v>
                  </c:pt>
                  <c:pt idx="4">
                    <c:v>YAML</c:v>
                  </c:pt>
                  <c:pt idx="5">
                    <c:v>JavaScript</c:v>
                  </c:pt>
                  <c:pt idx="6">
                    <c:v>CSS + HTML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91089</c:v>
                </c:pt>
                <c:pt idx="1">
                  <c:v>34555</c:v>
                </c:pt>
                <c:pt idx="2">
                  <c:v>62785</c:v>
                </c:pt>
                <c:pt idx="3">
                  <c:v>54360</c:v>
                </c:pt>
                <c:pt idx="4">
                  <c:v>30927</c:v>
                </c:pt>
                <c:pt idx="5">
                  <c:v>24337</c:v>
                </c:pt>
                <c:pt idx="6">
                  <c:v>10684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4A50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 (name, 'sight', the tagline 'Any data. Any domain. One grammar.'); RELEASE_NOTES.md 1.18.0; pom.xml (Java 21 bytecode).
Talk track: Drishti is Sanskrit for sight. The promise is in the tagline: any record from any system, in any domain, shown through one grammar instead of a screen written per product. The deck runs idea, product, security, evidence and roadmap; every number in it is measured or counted from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README.md; ARCHITECTURE.md §1; RELEASE_NOTES.md 1.18.0; docs/admin/PERFORMANCE.md; ELEMENTS.md; IMPLEMENTATION_PLAN.md Roadmap.
Talk track: If you remember one slide, make it this one. Five questions and five short answers; the rest of the deck earns each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drishti-console/web/templates/landing.html ('A screen is a paragraph, not a project'); ARCHITECTURE.md §1.
Talk track: Before the product, the idea: screens as data, not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 first line; ARCHITECTURE.md §1 and §1.1 goals; landing.html.
Talk track: Define the words once. One entity, one dense screen, live, linked and explained. Read-only by design: trade capture and pricing are non-goals.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ARCHITECTURE.md §1 'Problem and intent'; drishti-console/config/competitive.yaml (rows any-entity, no-coded-screens, inference).
Talk track: These are the problem statements from the architecture and the competitive analysis in the repository, not invented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ARCHITECTURE.md §1 ('A screen is not code'); HOW_IT_FITS.md §1; competitive.yaml.
Talk track: Top row is the world today: each product type waits for a developer. Bottom row is Drishti: a Sutra is a paragraph of YAML, and inference covers what nobody has described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ARCHITECTURE.md §1.1 Goals G1–G6; README 'Contributing rules'.
Talk track: These six are the acceptance test for every feature. Keyboard first is literal: mnemonic, id, GO, as on a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drishti-console/config/competitive.yaml (as of September 2026; categories, not vendors), served at /about/competitive.
Talk track: Four families put entities on a screen. The pattern on the last line is the whole argument for Drishti.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README.md; RACHANA_REFERENCE.md; PANEL_KINDS.md; INFERENCE.md; ADR-004; LIVE.md.
Talk track: Everything else in the product is built from these eight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 'How it is built'; pom.xml modules; ARCHITECTURE.md §2.
Talk track: Modules depend one way only, and an architecture test enforces it. The plugin interface is Spring-free so connectors stay small.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landing.html (pipeline stages); HOW_IT_FITS.md §1; docs/admin/PERFORMANCE.md (warm view p99 3.0 ms over HTTP, gate p99 &lt; 50 ms).
Talk track: Read left to right. The layout is cached by the shape's fingerprint, so a warm view costs well under a millisecond of server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packs/finance/sutras/rates/irs-vanilla.v3.sutra.yaml (98 lines); RACHANA_REFERENCE.md; ADR-013 (Sutras go live through review).
Talk track: This is the real file, trimmed. Four things in one statement: when it applies, what the title says, the strip, and the panels. Everything it does not mention, inference lays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docs/architecture/LIVE.md (live path); docs/admin/PERFORMANCE.md (tick to frame p50 2.4 ms, p99 11.2 ms, gate 40 ms).
Talk track: A source change fans out through one topic per entity; each open view rebuilds with its cached layout, and only the difference is 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ARCHITECTURE.md §1; competitive.yaml; PANEL_KINDS.md; README.
Talk track: Five benefits, each tied to something built and shown later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RELEASE_NOTES.md; USER_GUIDE.md 'The pages at a glance'.
Talk track: Now the product as it stands at 1.18, page by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README.md; packs/ (14 packs, 230 Sutra files); PANEL_KINDS.md; pom.xml plugins (15); git tag (23 releases, 2026-09-30 to 2026-10-06).
Talk track: The numbers are counted from the repository on 6 October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Fresh capture of /v/trade/MX-20000001 on a scratch 1.18 server (dark theme).
Talk track: Headline strip, then panels by F-key: terms, legs, the zero curve, DV01 by bucket, daily P&amp;L. The top bar shows live state; the footer lists every panel's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docs/architecture/CONTEXT_HELP.md; USER_GUIDE 'About this page'; capture docs/guides/img/about/01-var-drawer.jpg.
Talk track: Press ? on any view. The drawer reads the same trace the server used to build the page, so it cannot drift from what you see. Ask, the optional language-model answer, is off by default.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docs/guides/BUILD_WORKBENCH_TUTORIAL.md; SCREEN_DESIGNER.md; capture designer/02-workbench.jpg.
Talk track: The workbench writes the Sutra for you. Every design has tests, versions and a rebase; publishing needs a second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 example commands; USER_GUIDE search and pivot; capture drishti-console/web/static/img/guide/pivot-search.png; PERFORMANCE.md (1M trades/day).
Talk track: The plain-words parser is deterministic: no AI service is involved. Searches across a million trades a day come back in about a seventh of a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docs/architecture/COLLABORATION.md; captures collab/01-share-dialog.jpg and collab/07-discussion-author.jpg.
Talk track: A share reopens the view as the sender saw it, pinned to that data generation. Emails and chat bridges carry values, masked for each recipient.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docs/guides/DATA_LOADS.md; RELEASE_NOTES 1.18.0; capture loads/01-data-loads-history.jpg.
Talk track: Drishti does not ingest data; your ETL does. One call says a batch landed, and Drishti refreshes, verifies, evaluates alerts and tells people. Expectations flag late or missing data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docs/guides/CLI_GUIDE.md 'Quickest path: pack make'; OPERATIONALISING.md; RELEASE_NOTES 1.17.0; ADR-018; capture deploy/02-deploy-preview.jpg.
Talk track: One command makes a deployable folder: pack, Sutras per product type, data laid out by date, a bundle and a README. An admin uploads the bundle and sees a preview of what breaks before deploying.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docs/guides/CLI_GUIDE.md (six groups, exit codes, PyCharm section); tools/drishti.py.
Talk track: Production runs Java 21 and every build activity is scriptable. Exit codes are a contract: 0 ok, 1 problems found, 2 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docs/architecture/ELEMENTS.md (design, build plan, steps 0 to 10 as built); fresh capture of Admin → Embedding.
Talk track: A host page adds one tag. The console sends HTML over the wire into a Shadow DOM, so styles never leak either way, and one live connection serves every view on the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USER_GUIDE 'On a phone'; tests/test_page_widths_browser.py (390 px touch sweep: content, 44 px targets, no clipping); captures about/03-var-phone.jpg, collab/06-shared-phone.jpg, loads/06-phone.jpg, fresh phone-trade.png.
Talk track: Every page is tested at a 390-pixel phone width with touch: real content, finger-sized controls and nothing clipped. A desktop with a mouse keeps its compact sizes.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docs/admin/USER_MANAGEMENT.md; OPERATIONS.md §8; ELEMENTS.md §8.
Talk track: Security as flows, not as a feature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USER_MANAGEMENT.md §2, §5, §6; OPERATIONS.md §8.
Talk track: The rule: every value that leaves the server is checked against the reader's roles at the moment it leaves.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USER_MANAGEMENT.md §5–6; OPERATIONS.md §8.4 (CSRF, cookies); ADR-014.
Talk track: The console holds no credential of its own; the server decides, and re-checks every ten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USER_MANAGEMENT.md 'Personal API tokens'; RELEASE_NOTES 1.17.0.
Talk track: A token is a person's key for scripts and notebooks. It is read-only unless a write scope is named, and write scopes expire.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ELEMENTS.md §8 and steps 1–3, 7 as built; RFC 8693; DRS-8001 to 8006.
Talk track: No plain user name is ever accepted. The host app authenticates, presents a signed statement of who the user is, and gets a short-lived, origin-bound, read-only token.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COLLABORATION.md 'Retention, legal hold and export' and 'Tamper evidence'; docs/qa/2026-10-05/BEHAVIOUR.md (8,300-comment export).
Talk track: Collaboration is regulated communication in many firms, so it is built as a record: chained, sealed, held and exportable.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Commands and files cited on each slide.
Talk track: Claims are cheap; these are counts and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drishti-common ErrorCode enum; docs/guides/API_GUIDE.md 'Error code table' (65 rows); RACHANA_REFERENCE.md 'Problem codes' (34).
Talk track: Every error is RFC 7807 problem+json with a stable DRS code, and every code has a row that says what it means and what to do. Sutra problems have their own 34 codes.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git ls-files: 1,063 Java @Test (+19 parameterised), 739 console pytest, 137 tools pytest; tests/test_embed_elements_browser.py; tests/test_page_widths_browser.py; tools/drill.sh.
Talk track: Counts are test methods, before parameterised expansion. The console's browser tests run in Chromium; embedded views in Chromium, Firefox and WebKit.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docs/admin/PERFORMANCE.md (24-core workstation, 2026-09-30 and 10-01); SCALE_BENCHMARK.md (extrapolations labelled as such).
Talk track: All measured on one workstation. At a million trades a day, opening a trade from the cache is 48 ms and a whole-book search is 134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docs/qa/2026-10-01/README.md; docs/qa/2026-10-03/README.md; docs/qa/2026-10-05/DATA_SAFETY.md and BEHAVIOUR.md.
Talk track: Each round set out to break specific promises. The first round's headline is the strongest evidence: thousands of randomised searches agreed exactly with an independent brute-force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tools/drill.sh; RELEASE_NOTES 1.17.1 ('about 9 minutes instead of about 22'); pom.xml enforcer (maxJdkVersion 21).
Talk track: One command verifies and only then pushes. Production runs Java 21; the same commit is also verified on Java 25 so upgrades are not a surprise.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git ls-files | wc -l by top folder and by language, 2026-10-06.
Talk track: Packs are mostly sample data and Sutras. The Java is split into small modules that depend one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ELEMENTS.md build plan; IMPLEMENTATION_PLAN.md 'Roadmap'.
Talk track: What is left, in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ELEMENTS.md steps 11–15; docs/architecture/IMPLEMENTATION_PLAN.md 'Roadmap' (everything planned up to 1.18.0 is built).
Talk track: Embedding is two-thirds done. After it, the order is pricing, Windows, a real deployment, scale and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docs/guides/QUICKSTART.md; IDE_GUIDE.md; CLI_GUIDE.md; USER_GUIDE.md.
Talk track: QUICKSTART is the ten-minute path; IDE_GUIDE runs both halves in IntelliJ and PyCharm; CLI_GUIDE starts with pack make.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README.md.
Talk track: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66928"/>
            <a:ext cx="274320" cy="5486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35508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437376"/>
            <a:ext cx="7443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66E"/>
                </a:solidFill>
              </a:rPr>
              <a:t>Drishti • Ashutosh Sinha</a:t>
            </a:r>
            <a:endParaRPr lang="en-US" sz="850" dirty="0"/>
          </a:p>
        </p:txBody>
      </p:sp>
      <p:sp>
        <p:nvSpPr>
          <p:cNvPr id="5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00" kern="0" dirty="0">
                <a:solidFill>
                  <a:srgbClr val="A51C30"/>
                </a:solidFill>
              </a:defRPr>
            </a:lvl1pPr>
          </a:lstStyle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A1A1A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8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jpg"/><Relationship Id="rId3" Type="http://schemas.openxmlformats.org/officeDocument/2006/relationships/image" Target="../media/image-26-3.jpg"/><Relationship Id="rId4" Type="http://schemas.openxmlformats.org/officeDocument/2006/relationships/image" Target="../media/image-26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931920"/>
            <a:ext cx="12191695" cy="54864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82880" cy="3931920"/>
          </a:xfrm>
          <a:prstGeom prst="rect">
            <a:avLst/>
          </a:prstGeom>
          <a:solidFill>
            <a:srgbClr val="6E1120"/>
          </a:solidFill>
          <a:ln/>
        </p:spPr>
      </p:sp>
      <p:sp>
        <p:nvSpPr>
          <p:cNvPr id="5" name="Shape 3"/>
          <p:cNvSpPr/>
          <p:nvPr/>
        </p:nvSpPr>
        <p:spPr>
          <a:xfrm>
            <a:off x="10085832" y="941832"/>
            <a:ext cx="1024128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5832" y="1088136"/>
            <a:ext cx="1024128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85832" y="1234440"/>
            <a:ext cx="1024128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7315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7B2"/>
                </a:solidFill>
              </a:rPr>
              <a:t>DRISHTI · दृष्टि · SIGHT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14300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Drishti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A live terminal for any record, without a screen per product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1051560" y="2971800"/>
            <a:ext cx="1554480" cy="36576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312724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FFFFFF"/>
                </a:solidFill>
              </a:rPr>
              <a:t>Any data. Any domain. One grammar.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34340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Ashutosh Sinha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4A5058"/>
                </a:solidFill>
              </a:rPr>
              <a:t>October 2026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61666E"/>
                </a:solidFill>
              </a:rPr>
              <a:t>Release 1.18 · Java 21 or later · console on any device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559552" y="422452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51C30"/>
                </a:solidFill>
              </a:rPr>
              <a:t>IN THIS DECK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559552" y="4498848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A51C30"/>
                </a:solidFill>
              </a:rPr>
              <a:t>1  The idea: a screen is a paragraph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A51C30"/>
                </a:solidFill>
              </a:rPr>
              <a:t>2  Drishti 1.18: the product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A51C30"/>
                </a:solidFill>
              </a:rPr>
              <a:t>3  Security, drawn as flows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577072" y="4498848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A51C30"/>
                </a:solidFill>
              </a:rPr>
              <a:t>4  Evidence, by the numbers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A51C30"/>
                </a:solidFill>
              </a:rPr>
              <a:t>5  Where it is going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635508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6437376"/>
            <a:ext cx="7443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66E"/>
                </a:solidFill>
              </a:rPr>
              <a:t>Drishti • Ashutosh Sinha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TL;DR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Executive summary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08176"/>
            <a:ext cx="1063447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08176"/>
            <a:ext cx="2651760" cy="868680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1408176"/>
            <a:ext cx="54864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5840" y="1408176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What is a live entity terminal?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703320" y="1408176"/>
            <a:ext cx="7543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One dense, keyboard-driven, ticking screen for any single record — a swap, an FX trade, a netting set, a gene variant — linked to everything it touches, with its provenance shown.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77240" y="2395728"/>
            <a:ext cx="1063447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2395728"/>
            <a:ext cx="2651760" cy="868680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3" name="Shape 10"/>
          <p:cNvSpPr/>
          <p:nvPr/>
        </p:nvSpPr>
        <p:spPr>
          <a:xfrm>
            <a:off x="777240" y="2395728"/>
            <a:ext cx="54864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05840" y="239572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What is Drishti?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703320" y="2395728"/>
            <a:ext cx="7543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A Java 21 server and a web console that turn any record from any system into that screen. A short YAML Sutra describes the view; inference fills whatever it leaves out.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7240" y="3383280"/>
            <a:ext cx="1063447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7" name="Shape 14"/>
          <p:cNvSpPr/>
          <p:nvPr/>
        </p:nvSpPr>
        <p:spPr>
          <a:xfrm>
            <a:off x="777240" y="3383280"/>
            <a:ext cx="2651760" cy="868680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8" name="Shape 15"/>
          <p:cNvSpPr/>
          <p:nvPr/>
        </p:nvSpPr>
        <p:spPr>
          <a:xfrm>
            <a:off x="777240" y="3383280"/>
            <a:ext cx="54864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0584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Why does it matter?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703320" y="3383280"/>
            <a:ext cx="7543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Every entity kind traditionally gets a bespoke screen, written once and rotting for ever. Drishti makes a screen a paragraph, not a project — and day one is never raw JSON.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77240" y="4370832"/>
            <a:ext cx="1063447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2" name="Shape 19"/>
          <p:cNvSpPr/>
          <p:nvPr/>
        </p:nvSpPr>
        <p:spPr>
          <a:xfrm>
            <a:off x="777240" y="4370832"/>
            <a:ext cx="2651760" cy="868680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3" name="Shape 20"/>
          <p:cNvSpPr/>
          <p:nvPr/>
        </p:nvSpPr>
        <p:spPr>
          <a:xfrm>
            <a:off x="777240" y="4370832"/>
            <a:ext cx="54864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005840" y="437083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What can it do today?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703320" y="4370832"/>
            <a:ext cx="7543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Release 1.18: 14 packs, 230 Sutras, 21 panel kinds, 15 source plugins, live views at p99 11 ms, collaboration with compliance, data loads, a CLI, and views embedded in other apps.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77240" y="5358384"/>
            <a:ext cx="1063447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7" name="Shape 24"/>
          <p:cNvSpPr/>
          <p:nvPr/>
        </p:nvSpPr>
        <p:spPr>
          <a:xfrm>
            <a:off x="777240" y="5358384"/>
            <a:ext cx="2651760" cy="868680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8" name="Shape 25"/>
          <p:cNvSpPr/>
          <p:nvPr/>
        </p:nvSpPr>
        <p:spPr>
          <a:xfrm>
            <a:off x="777240" y="5358384"/>
            <a:ext cx="54864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05840" y="5358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Where is it going?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3703320" y="5358384"/>
            <a:ext cx="7543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Finish embedding (tests, npm package, more elements), then server-side pricing, a proven Windows build, a real deployment and scale on a real server.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" y="768096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" y="914400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060704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1536" y="1325880"/>
            <a:ext cx="1325880" cy="132588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31536" y="132588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A1626"/>
                </a:solidFill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926080"/>
            <a:ext cx="9720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The idea: a screen is a paragraph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5413248" y="3849624"/>
            <a:ext cx="1371600" cy="36576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74520" y="4069080"/>
            <a:ext cx="8439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F6E6E9"/>
                </a:solidFill>
              </a:rPr>
              <a:t>Describe the view once, in a grammar. Let the data's shape fill the rest.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CATEGORY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What is a live entity terminal?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106344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51C30"/>
                </a:solidFill>
              </a:rPr>
              <a:t>▪  One record, one dense screen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4A5058"/>
                </a:solidFill>
              </a:rPr>
              <a:t>A swap, an FX trade, a netting set, a ticket or a gene variant, with its headline figures in a strip and its detail in up to twenty-one kinds of panel.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A51C30"/>
                </a:solidFill>
              </a:rPr>
              <a:t>▪  Live, not refreshed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4A5058"/>
                </a:solidFill>
              </a:rPr>
              <a:t>When the source changes, the open screen changes: only the changed figures are sent, measured at p99 11 ms from tick to frame.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A51C30"/>
                </a:solidFill>
              </a:rPr>
              <a:t>▪  Linked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4A5058"/>
                </a:solidFill>
              </a:rPr>
              <a:t>Every id on the screen is a link: a trade's counterparty, its netting set, its curve — one keystroke away, across systems.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A51C30"/>
                </a:solidFill>
              </a:rPr>
              <a:t>▪  Explained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4A5058"/>
                </a:solidFill>
              </a:rPr>
              <a:t>Every view says where its data came from, how fresh it is, and why it is laid out the way it is.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The terminal is the standard for dense, live screens — Drishti makes one for any record you have, not only the vendor's.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PROBLEM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Every entity kind gets a bespoke screen — and the screen rots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44752"/>
            <a:ext cx="5166360" cy="384048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41832" y="144475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1626"/>
                </a:solidFill>
              </a:rPr>
              <a:t>A screen per product, in the documents' own words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1965960"/>
            <a:ext cx="49834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Hundreds of entity kinds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“Front-office, risk and operations staff look at hundreds of entity kinds.”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Written once, rotting for ever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“Each one traditionally gets a bespoke screen, written once and rotting forever.”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Data outruns screens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“The data changes shape faster than screens can be rebuilt.”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45352" y="1444752"/>
            <a:ext cx="5166360" cy="384048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9944" y="144475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1626"/>
                </a:solidFill>
              </a:rPr>
              <a:t>And what people do in the meantime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336792" y="1965960"/>
            <a:ext cx="49834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Tab between systems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“A trade lives in one system, its netting set in another, its curve in a third … the desk tabs between them.”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Wait for a screen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“Every new product type waits for a screen.”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Read raw JSON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“A new feed or product has no screen at all, so on day one people read raw JSON or wait.”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3" name="Shape 10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Nobody here is short of data — they are short of a screen for it that is dense, live and linked.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SHAPE OF THE FIX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From a coded screen per product — to one grammar and inference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600200"/>
            <a:ext cx="2103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14400" y="170992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Your systems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05740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Trades, curves, tickets, variants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46120" y="1600200"/>
            <a:ext cx="2377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383280" y="17099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A screen per kind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20574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Coded by a developer, per product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2377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126480" y="17099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A backlog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0" y="20574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New products wait for a screen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732520" y="1600200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869680" y="170992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Drift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205740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The data changes; the screen does not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2880360" y="2217420"/>
            <a:ext cx="36576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623560" y="2217420"/>
            <a:ext cx="36576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8366760" y="2217420"/>
            <a:ext cx="36576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77240" y="3520440"/>
            <a:ext cx="2103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14400" y="36301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Your systems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14400" y="39776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Read where they are, through plugins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3246120" y="3520440"/>
            <a:ext cx="5120640" cy="1234440"/>
          </a:xfrm>
          <a:prstGeom prst="rect">
            <a:avLst/>
          </a:prstGeom>
          <a:solidFill>
            <a:srgbClr val="F6E6E9"/>
          </a:solidFill>
          <a:ln w="12700">
            <a:solidFill>
              <a:srgbClr val="A51C3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3383280" y="361188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51C30"/>
                </a:solidFill>
              </a:rPr>
              <a:t>DRISHTI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383280" y="3831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Sutra ⊕ inference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3383280" y="417880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A short YAML Sutra describes the view; scored, explainable rules read the data's shape and fill the rest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8732520" y="3520440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8869680" y="363016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A live view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0" y="397764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Dense, linked, explained — day one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880360" y="4137660"/>
            <a:ext cx="36576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66760" y="4137660"/>
            <a:ext cx="36576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34" name="Shape 31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 brand-new product with no Sutra still renders a usable view on day one; a Sutra makes it beautiful.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SIX GOALS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Six goals the design is held 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81328"/>
            <a:ext cx="475488" cy="475488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35608" y="146304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One grammar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435608" y="181051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Every view is a Sutra in Rachana, or inferred; no screen code.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17920" y="1481328"/>
            <a:ext cx="475488" cy="475488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17920" y="14813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876288" y="146304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Any source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876288" y="181051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Sources plug in through a small, Spring-free interface.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7240" y="2779776"/>
            <a:ext cx="475488" cy="475488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7240" y="2779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435608" y="27614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Linked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35608" y="31089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Every id on a screen is navigable, across systems.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17920" y="2779776"/>
            <a:ext cx="475488" cy="475488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217920" y="2779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876288" y="27614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Live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876288" y="31089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Changes reach the open view; p99 is measured and shown in the top bar.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77240" y="4078224"/>
            <a:ext cx="475488" cy="475488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77240" y="4078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435608" y="405993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Provenance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1435608" y="44074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Every view shows how it was built and where its data came from.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217920" y="4078224"/>
            <a:ext cx="475488" cy="475488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217920" y="4078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6876288" y="405993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Keyboard first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876288" y="44074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&lt;MNEMONIC&gt; &lt;ID&gt; &lt;GO&gt;, F-keys for panels, F9 for raw JSON.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31" name="Shape 28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Six goals, each one testable — the p99 is not a claim on a slide, it is in the top bar of every view.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WHAT THE FIELD SAYS · FOUR FAMILIES OF PRODUCT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Each family does part of the job, and is good at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10634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2606040"/>
                <a:gridCol w="29077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Good at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leaves you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Market data terminals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Bloomberg Terminal, LSEG Workspace, FactSet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Dense, keyboard-driven, live screens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The vendor's screens, for the vendor's data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Trading and risk platforms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Murex, Calypso, in-house systems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Deep screens for every product they book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 coded screen per product type, for that platform's data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Low-code internal tools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Retool, Appsmith, Power Apps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Internal screens assembled quickly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 person still assembles each screen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BI and dashboards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Tableau, Power BI, Grafana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Aggregates and charts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Weaker at one entity, live, with its links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8" name="Shape 4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The screens that are dense and live are coded per product; the screens that are quick to make are not terminals.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PRIMITIVES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Eight primitives carry the whole model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63040"/>
          <a:ext cx="106344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486400"/>
                <a:gridCol w="359359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Primitive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Where you meet it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Pack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A folder for one domain: kinds, mnemonics, links, connectors, Sutras, samples, help text; packs inherit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packs/ — 14 shipped, e.g. trading, genomics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Sutra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A short, versioned YAML description of one view, in the Rachana grammar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230 Sutras in the shipped packs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Match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kind + where (a closed expression) + priority; the highest match wins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match: { kind: trade, where: …, priority: 10 }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Strip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Up to eight headline figures across the top of a view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Notional, MTM, DV01 …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Panel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One of 21 kinds on a 12-column grid, each with an F-key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table, ladder, pivot, surface, graph …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Inference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Explainable rules that read the data's shape and lay out what no Sutra covers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infer: true; 'completed by inference'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ViewModel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Plain JSON the server returns and the browser draws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GET /api/v1/views/{kind}/{id}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A1626"/>
                          </a:solidFill>
                        </a:rPr>
                        <a:t>Frame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A patch of what changed, sent over one live channel per browser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Server-sent events</a:t>
                      </a:r>
                      <a:endParaRPr lang="en-US" sz="13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ARCHITECTURE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From your systems to a view, in one direction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81328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14400" y="159105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Stores and lakes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1938528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Delta Lake, JDBC, Aerospike, MongoDB, Redis, Iceberg, DuckDB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7240" y="2505456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14400" y="261518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Streams and queues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2962656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Kafka, ActiveMQ, RabbitMQ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" y="3529584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14400" y="36393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Files and services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986784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JSON, CSV, S3, REST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7240" y="4553712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4400" y="466344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Public market data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5010912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NY Fed SOFR, ECB, US Treasury, FRED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931920" y="1481328"/>
            <a:ext cx="4160520" cy="1828800"/>
          </a:xfrm>
          <a:prstGeom prst="rect">
            <a:avLst/>
          </a:prstGeom>
          <a:solidFill>
            <a:srgbClr val="F6E6E9"/>
          </a:solidFill>
          <a:ln w="12700">
            <a:solidFill>
              <a:srgbClr val="A51C3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069080" y="157276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51C30"/>
                </a:solidFill>
              </a:rPr>
              <a:t>DRISHTI SERVER · JAVA 21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4069080" y="1792224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Fetch, match, infer, link, bind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2139696"/>
            <a:ext cx="38862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Virtual threads fetch in parallel; the engine matches a Sutra, merges inference, links ids and binds values — 15 source plugins behind one interface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931920" y="36118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4069080" y="37033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51C30"/>
                </a:solidFill>
              </a:rPr>
              <a:t>SAME SERVER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4069080" y="392277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Identity, packs, audit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4069080" y="4270248"/>
            <a:ext cx="3886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Users, roles and masks; packs per user; the access log and audit; a signed pack registry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897112" y="1481328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9034272" y="159105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Console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034272" y="1938528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Web terminal, any device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897112" y="2505456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9034272" y="261518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REST API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2962656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/api/v1, OpenAPI at /api/docs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897112" y="3529584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9034272" y="36393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CLI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9034272" y="3986784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tools/drishti.py, six groups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897112" y="4553712"/>
            <a:ext cx="25146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9034272" y="466344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Other apps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034272" y="5010912"/>
            <a:ext cx="2240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</a:rPr>
              <a:t>&lt;drishti-view&gt;, no iframe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3291840" y="2377440"/>
            <a:ext cx="64008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8092440" y="2377440"/>
            <a:ext cx="804672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007608" y="3310128"/>
            <a:ext cx="914" cy="301752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SEVEN STAGES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One command, seven stages, one 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1202436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2436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Command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TRD MX-20000001 &lt;GO&gt;, or plain words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738628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738628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313432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404872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Fetch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404872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Sources in parallel on virtual threads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74820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748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849624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941064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Classify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941064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Which kind is this record?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811012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811012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385816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477256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Fingerprint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477256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The data's shape, hashed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347204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347204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922008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013448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Layout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013448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Sutra ⊕ inference, cached by shape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8883396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883396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458200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549640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Bind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8549640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Values into panels, in parallel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0419588" y="160020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0419588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9994392" y="2331720"/>
            <a:ext cx="1399032" cy="2011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0085832" y="2423160"/>
            <a:ext cx="1216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Link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10085832" y="2834640"/>
            <a:ext cx="1216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058"/>
                </a:solidFill>
              </a:rPr>
              <a:t>Every id navigable, time-boxed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77240" y="4526280"/>
            <a:ext cx="341071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42" name="Shape 39"/>
          <p:cNvSpPr/>
          <p:nvPr/>
        </p:nvSpPr>
        <p:spPr>
          <a:xfrm>
            <a:off x="777240" y="4526280"/>
            <a:ext cx="45720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978408" y="463600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0.6 ms</a:t>
            </a:r>
            <a:endParaRPr lang="en-US" sz="2600" dirty="0"/>
          </a:p>
        </p:txBody>
      </p:sp>
      <p:sp>
        <p:nvSpPr>
          <p:cNvPr id="44" name="Text 41"/>
          <p:cNvSpPr txBox="1"/>
          <p:nvPr/>
        </p:nvSpPr>
        <p:spPr>
          <a:xfrm>
            <a:off x="978408" y="5129784"/>
            <a:ext cx="30906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Server work for a warm view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4389120" y="4526280"/>
            <a:ext cx="341071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46" name="Shape 43"/>
          <p:cNvSpPr/>
          <p:nvPr/>
        </p:nvSpPr>
        <p:spPr>
          <a:xfrm>
            <a:off x="4389120" y="4526280"/>
            <a:ext cx="45720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4590288" y="463600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3.0 ms</a:t>
            </a:r>
            <a:endParaRPr lang="en-US" sz="2600" dirty="0"/>
          </a:p>
        </p:txBody>
      </p:sp>
      <p:sp>
        <p:nvSpPr>
          <p:cNvPr id="48" name="Text 45"/>
          <p:cNvSpPr txBox="1"/>
          <p:nvPr/>
        </p:nvSpPr>
        <p:spPr>
          <a:xfrm>
            <a:off x="4590288" y="5129784"/>
            <a:ext cx="30906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Warm view over HTTP, p99 (gate: 50 ms)</a:t>
            </a:r>
            <a:endParaRPr lang="en-US" sz="1150" dirty="0"/>
          </a:p>
        </p:txBody>
      </p:sp>
      <p:sp>
        <p:nvSpPr>
          <p:cNvPr id="49" name="Shape 46"/>
          <p:cNvSpPr/>
          <p:nvPr/>
        </p:nvSpPr>
        <p:spPr>
          <a:xfrm>
            <a:off x="8001000" y="4526280"/>
            <a:ext cx="3410712" cy="86868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50" name="Shape 47"/>
          <p:cNvSpPr/>
          <p:nvPr/>
        </p:nvSpPr>
        <p:spPr>
          <a:xfrm>
            <a:off x="8001000" y="4526280"/>
            <a:ext cx="45720" cy="86868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8202168" y="463600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7.2 ms</a:t>
            </a:r>
            <a:endParaRPr lang="en-US" sz="2600" dirty="0"/>
          </a:p>
        </p:txBody>
      </p:sp>
      <p:sp>
        <p:nvSpPr>
          <p:cNvPr id="52" name="Text 49"/>
          <p:cNvSpPr txBox="1"/>
          <p:nvPr/>
        </p:nvSpPr>
        <p:spPr>
          <a:xfrm>
            <a:off x="8202168" y="5129784"/>
            <a:ext cx="30906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Structured search over 750 trades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54" name="Shape 51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The expensive part — deciding the layout — happens once per shape, not once per request.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ONE SUTRA, END TO END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 swap's whole screen, in one short file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63040"/>
            <a:ext cx="5897880" cy="388620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63040"/>
            <a:ext cx="5897880" cy="384048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1463040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irs-vanilla.v3.sutra.yaml (trimmed)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1965960"/>
            <a:ext cx="5495544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rachana: 1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sutra: irs-vanilla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version: 3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match: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trade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priority: 10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where: "$.productType == 'IRS' &amp;&amp; size($.legs) == 2"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{ pill: "Trade · Interest rate swap", id: $.tradeId }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strip: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label: Notional (USD), bind: $.notional }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label: MTM (USD), bind: $.mtm, tone: sign }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panels: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id: legs, kind: tabs, key: F2, each: $.legs }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{ id: cashflows, kind: table, key: F3,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rows: $.legs[0].cashflows }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1463040"/>
            <a:ext cx="44622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When it applies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 trade whose product type is IRS with two legs; the highest priority match wins.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What it shows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 titled, linked header, two headline figures and a panel per key — F2 legs, F3 cashflows.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A closed language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Rachana-EL has no side effects and no loops; a bad edit keeps the last good version live.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Shipped through review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Saved Sutras reload at once; in production a second person approves (four eyes).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LIVE, END TO END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One subscription per entity, one channel per browser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600200"/>
            <a:ext cx="1874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14400" y="17099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Source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057400"/>
            <a:ext cx="1600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subscribe()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953512" y="1600200"/>
            <a:ext cx="1874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0672" y="17099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TopicHub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090672" y="2057400"/>
            <a:ext cx="1600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One topic per entity; latest wins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651760" y="2331720"/>
            <a:ext cx="301752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129784" y="1600200"/>
            <a:ext cx="1874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266944" y="17099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ViewStream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266944" y="2057400"/>
            <a:ext cx="1600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One per open view; cached layout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828032" y="2331720"/>
            <a:ext cx="301752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306056" y="1600200"/>
            <a:ext cx="1874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43216" y="17099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PatchDiffer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443216" y="2057400"/>
            <a:ext cx="1600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Old vs new ViewModel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004304" y="2331720"/>
            <a:ext cx="301752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482328" y="1600200"/>
            <a:ext cx="1874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619488" y="17099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Browser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19488" y="2057400"/>
            <a:ext cx="1600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Patches over one SSE channel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180576" y="2331720"/>
            <a:ext cx="301752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" y="3474720"/>
            <a:ext cx="2507742" cy="173736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6" name="Shape 23"/>
          <p:cNvSpPr/>
          <p:nvPr/>
        </p:nvSpPr>
        <p:spPr>
          <a:xfrm>
            <a:off x="777240" y="3474720"/>
            <a:ext cx="45720" cy="173736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78408" y="35844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2.4 ms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978408" y="4078224"/>
            <a:ext cx="218770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Tick to frame, p50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3486150" y="3474720"/>
            <a:ext cx="2507742" cy="173736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0" name="Shape 27"/>
          <p:cNvSpPr/>
          <p:nvPr/>
        </p:nvSpPr>
        <p:spPr>
          <a:xfrm>
            <a:off x="3486150" y="3474720"/>
            <a:ext cx="45720" cy="173736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687318" y="35844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11.2 ms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3687318" y="4078224"/>
            <a:ext cx="218770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Tick to frame, p99 (gate: 40 ms)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195060" y="3474720"/>
            <a:ext cx="2507742" cy="173736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4" name="Shape 31"/>
          <p:cNvSpPr/>
          <p:nvPr/>
        </p:nvSpPr>
        <p:spPr>
          <a:xfrm>
            <a:off x="6195060" y="3474720"/>
            <a:ext cx="45720" cy="173736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396228" y="35844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50 ms</a:t>
            </a:r>
            <a:endParaRPr lang="en-US" sz="2600" dirty="0"/>
          </a:p>
        </p:txBody>
      </p:sp>
      <p:sp>
        <p:nvSpPr>
          <p:cNvPr id="36" name="Text 33"/>
          <p:cNvSpPr txBox="1"/>
          <p:nvPr/>
        </p:nvSpPr>
        <p:spPr>
          <a:xfrm>
            <a:off x="6396228" y="4078224"/>
            <a:ext cx="218770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A topic sends at once if it has not sent within this window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8903970" y="3474720"/>
            <a:ext cx="2507742" cy="173736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8" name="Shape 35"/>
          <p:cNvSpPr/>
          <p:nvPr/>
        </p:nvSpPr>
        <p:spPr>
          <a:xfrm>
            <a:off x="8903970" y="3474720"/>
            <a:ext cx="45720" cy="173736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105138" y="35844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</a:t>
            </a:r>
            <a:endParaRPr lang="en-US" sz="2600" dirty="0"/>
          </a:p>
        </p:txBody>
      </p:sp>
      <p:sp>
        <p:nvSpPr>
          <p:cNvPr id="40" name="Text 37"/>
          <p:cNvSpPr txBox="1"/>
          <p:nvPr/>
        </p:nvSpPr>
        <p:spPr>
          <a:xfrm>
            <a:off x="9105138" y="4078224"/>
            <a:ext cx="218770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Live channel per browser, however many views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42" name="Shape 39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 view does not poll and does not redraw — only the figures that changed travel, and only to the views that show them.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BENEFITS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What a grammar of screens buys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63040"/>
            <a:ext cx="10634472" cy="676656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1463040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Day one, every product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1463040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Inference shows a new feed at once; nobody reads raw JSON.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77240" y="2249424"/>
            <a:ext cx="1063447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249424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Screens as reviewed data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434840" y="2249424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A Sutra is versioned, tested, diffed and approved like code — without being code.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77240" y="3035808"/>
            <a:ext cx="10634472" cy="676656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035808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One place to look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434840" y="3035808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A trade, its curve and its netting set from three systems on one linked screen.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77240" y="3822192"/>
            <a:ext cx="1063447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382219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Trust in the number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82219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Provenance and freshness on every view; masks applied for every reader.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77240" y="4608576"/>
            <a:ext cx="10634472" cy="676656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5840" y="4608576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626"/>
                </a:solidFill>
              </a:rPr>
              <a:t>Anywhere it is needed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434840" y="4608576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</a:rPr>
              <a:t>The console on any device, the API, the CLI, and the same view inside other apps.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2" name="Shape 19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The cost of a new screen falls from a project to a paragraph — and to nothing at all on day 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" y="768096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" y="914400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060704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1536" y="1325880"/>
            <a:ext cx="1325880" cy="132588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31536" y="132588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A1626"/>
                </a:solidFill>
              </a:rPr>
              <a:t>2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926080"/>
            <a:ext cx="9720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Drishti 1.18: the product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5413248" y="3849624"/>
            <a:ext cx="1371600" cy="36576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74520" y="4069080"/>
            <a:ext cx="8439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F6E6E9"/>
                </a:solidFill>
              </a:rPr>
              <a:t>Built, measured and documented — every screen here is a real capture.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RELEASE 1.18 · JAVA 21 OR LATER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Drishti 1.18 —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7840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14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Domain packs: trading, market risk, genomics, logistics, climate …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8615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1" name="Shape 8"/>
          <p:cNvSpPr/>
          <p:nvPr/>
        </p:nvSpPr>
        <p:spPr>
          <a:xfrm>
            <a:off x="348615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68731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230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368731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Sutras shipped in those packs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19506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5" name="Shape 12"/>
          <p:cNvSpPr/>
          <p:nvPr/>
        </p:nvSpPr>
        <p:spPr>
          <a:xfrm>
            <a:off x="619506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9622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21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39622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Panel kinds, from tables to surfaces and graphs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90397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9" name="Shape 16"/>
          <p:cNvSpPr/>
          <p:nvPr/>
        </p:nvSpPr>
        <p:spPr>
          <a:xfrm>
            <a:off x="890397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10513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15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910513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Source plugins behind one interface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2834640"/>
            <a:ext cx="10634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A terminal on any device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Command line with type-ahead, F-keys, seven themes, business-date time travel, and phones with finger-sized controls.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Build without code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 workbench to drag panels and fields, a YAML tab with completion, tests, versions and four-eyes review.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Work together, provably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Shares, discussion threads, an inbox, email digests and chat bridges — hash-chained, sealable and exportable.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Run it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Pack bundles deployed with preview and rollback, data-load signals, a CLI for every build step, and views embedded in other apps.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VIEW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One trade, live, linked and explained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40664" y="1386459"/>
            <a:ext cx="6931152" cy="435940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tmp/claude-1000/-home-ashutosh-IdeaProjects-drishti/efa68c11-fb98-4f9a-8faa-96a952090c0e/scratchpad/deck/shots/view-tr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23035"/>
            <a:ext cx="6858000" cy="4286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909560" y="1417320"/>
            <a:ext cx="350215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Strip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Notional, MTM, DV01 and status, toned by sign.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Panels by key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F2 to F9; Alt+L to rearrange; Calc for Python.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Linked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Counterparty, book, netting set and curve open in one keystroke.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Live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The Live pill and generation update on each frame.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58521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A live interest-rate swap view, captured from 1.18.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ABOUT THIS PAGE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Every view explains itself, in five layers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40664" y="1386459"/>
            <a:ext cx="6931152" cy="435940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home/ashutosh/IdeaProjects/drishti/docs/guides/img/about/01-var-draw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23035"/>
            <a:ext cx="6858000" cy="4286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909560" y="1417320"/>
            <a:ext cx="350215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What you are looking at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From the pack's own help text and glossary.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Where the data came from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Source, health, generation and freshness.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Why it looks like this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Which Sutra matched, which lost, what inference added.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Masked for you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Says which fields your role cannot see.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BUILD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Design a screen without writing code — and ship it through review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40664" y="1386459"/>
            <a:ext cx="6931152" cy="435940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home/ashutosh/IdeaProjects/drishti/docs/guides/img/designer/02-workben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23035"/>
            <a:ext cx="6858000" cy="4286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909560" y="1417320"/>
            <a:ext cx="350215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From data you have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Start from JSON files, a schema or stored entities.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Drag, or type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Palette and inspector, or the YAML tab with completion.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Tested before shipped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Sutra tests run on sample data in the tests tab.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Four eyes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An approver reviews the evidence and cannot approve their own.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SEARCH AND PIVOT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Ask in a grammar or in plain words; pivot what comes back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40664" y="1391412"/>
            <a:ext cx="5468112" cy="402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home/ashutosh/IdeaProjects/drishti/drishti-console/web/static/img/guide/pivot-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27988"/>
            <a:ext cx="5394960" cy="395630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400800" y="1417320"/>
            <a:ext cx="5010912" cy="132588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601968" y="1581912"/>
            <a:ext cx="46085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TRD where mtm &lt; -10m order by mtm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trades over 5m in BOOK-RATES-3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DPNL DESK-RATES &lt;GO&gt;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400800" y="2926080"/>
            <a:ext cx="2404872" cy="11430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1" name="Shape 7"/>
          <p:cNvSpPr/>
          <p:nvPr/>
        </p:nvSpPr>
        <p:spPr>
          <a:xfrm>
            <a:off x="6400800" y="2926080"/>
            <a:ext cx="45720" cy="11430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601968" y="3035808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134 ms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6601968" y="3529584"/>
            <a:ext cx="20848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Search all 1M trades a day, 2,017 matches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9006840" y="2926080"/>
            <a:ext cx="2404872" cy="11430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5" name="Shape 11"/>
          <p:cNvSpPr/>
          <p:nvPr/>
        </p:nvSpPr>
        <p:spPr>
          <a:xfrm>
            <a:off x="9006840" y="2926080"/>
            <a:ext cx="45720" cy="11430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208008" y="3035808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29 ms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9208008" y="3529584"/>
            <a:ext cx="20848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Type-ahead at 1M trades a day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6400800" y="4206240"/>
            <a:ext cx="5010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1666E"/>
                </a:solidFill>
              </a:rPr>
              <a:t>Measured on a 24-core workstation, 1,000,000 trades a day for three days (5.2 GB).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0" name="Shape 16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Search is a question in the terminal's own grammar — and its answer is a view you can pivot, compare and share.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COLLABORATION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Share what you see, discuss it, and prove what was said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40664" y="1380744"/>
            <a:ext cx="5193792" cy="327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home/ashutosh/IdeaProjects/drishti/docs/guides/img/collab/01-share-dia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5120640" cy="32004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27064" y="1380744"/>
            <a:ext cx="5193792" cy="3273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/home/ashutosh/IdeaProjects/drishti/docs/guides/img/collab/07-discussion-autho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17320"/>
            <a:ext cx="5120640" cy="3200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Share with a note, to people or roles.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6263640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A discussion thread with @mentions and quoted fields.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777240" y="5257800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3" name="Shape 8"/>
          <p:cNvSpPr/>
          <p:nvPr/>
        </p:nvSpPr>
        <p:spPr>
          <a:xfrm>
            <a:off x="777240" y="5257800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1033272" y="53309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Every comment is hash-chained and sealable; retract and hide never delete — evidence, not just conversation.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DATA LOADS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Tell Drishti new data has landed — and it acts on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40664" y="1392174"/>
            <a:ext cx="5742432" cy="361645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tmp/claude-1000/-home-ashutosh-IdeaProjects-drishti/efa68c11-fb98-4f9a-8faa-96a952090c0e/scratchpad/deck/shots/loads-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28750"/>
            <a:ext cx="5669280" cy="35433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720840" y="1417320"/>
            <a:ext cx="4690872" cy="118872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922008" y="1581912"/>
            <a:ext cx="4288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drishti.py data landed --pack trading \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--kind trade --date 2026-10-05 --rows 10000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 POST /api/v1/packs/trading/loads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6720840" y="2788920"/>
            <a:ext cx="46908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Refresh, verify, alert, notify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Caches refreshed, the date checked, alert rules run on it, bell, inbox and email.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Late is a fact, said once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Per-kind expectations with time zone and calendar; Health shows 'data late'.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Safe to repeat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Idempotent per pack, kind, date and batch; token scope loads:write.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PACKS · FROM A FOLDER TO PRODUCTION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From a folder of JSON Lines to a deployed pack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4937760" cy="233172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4937760" cy="384048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14173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One command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1920240"/>
            <a:ext cx="453542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drishti.py pack make ./trades --pack desk \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--kind trade --key tradeId \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--match product_type --date trade_date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desk/ pack, sutras per product type,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Delta lake by date, desk.tar.gz + sha256,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README.txt, run scripts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52744" y="1383723"/>
            <a:ext cx="5495544" cy="2901833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0" descr="/home/ashutosh/IdeaProjects/drishti/docs/guides/img/deploy/02-deploy-pre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420299"/>
            <a:ext cx="5422392" cy="282868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39319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Checked before it lands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Checksums, paths, server version, Sutra tests and an optional Ed25519 signature.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Never stuck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The previous version is kept; a failed deploy rolls back; history has Roll back.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4" name="Shape 10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Archives carry the pack, never the data — where data lives stays an admin's decision.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CLI · TOOLS/DRISHTI.PY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Every build step from the command 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08760"/>
          <a:ext cx="106344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44165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Group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does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sutra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Generate, lint, test and preview Sutras from data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shape, design --each, gen, lint, test, preview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pack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Make, check, bundle, sign, deploy and roll back packs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make, check, bundle, verify, deploy, rollback, keygen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data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Profile and ingest JSON Lines; say a batch landed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profile, ingest --watch, landed, loads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server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Health, packs on and off, smoke tests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health, packs list|load|on|off, smoke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design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The screen designer over REST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create, save, check, propose, approve, export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docs · doctor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Regenerate screenshots; diagnose a setup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docs screenshots, doctor, view explain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8" name="Shape 4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Anything the console can build, a script can build — and a pipeline can check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DRISHTI ELEMENTS · NO IFRAME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The same live view, inside other web applications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5486400" cy="169164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78408" y="1581912"/>
            <a:ext cx="50840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type="module" src=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"https://drishti.example/embed/v1/elements.js"&gt;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&lt;/script&gt;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&lt;drishti-view server="https://drishti.example"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kind="trade" entity="MX-20000001"&gt;&lt;/drishti-view&gt;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55664" y="1483519"/>
            <a:ext cx="4992624" cy="1559243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0" descr="/tmp/claude-1000/-home-ashutosh-IdeaProjects-drishti/efa68c11-fb98-4f9a-8faa-96a952090c0e/scratchpad/deck/shots/embed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520095"/>
            <a:ext cx="4919472" cy="148609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92240" y="317296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Admin → Embedding: host apps, origins, scopes and usage.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77240" y="3611880"/>
            <a:ext cx="2507742" cy="16916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2" name="Shape 8"/>
          <p:cNvSpPr/>
          <p:nvPr/>
        </p:nvSpPr>
        <p:spPr>
          <a:xfrm>
            <a:off x="777240" y="3611880"/>
            <a:ext cx="45720" cy="16916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978408" y="372160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HTML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978408" y="4215384"/>
            <a:ext cx="218770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Over the wire: the console's own templates, sanitised, in a Shadow DOM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3486150" y="3611880"/>
            <a:ext cx="2507742" cy="16916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6" name="Shape 12"/>
          <p:cNvSpPr/>
          <p:nvPr/>
        </p:nvSpPr>
        <p:spPr>
          <a:xfrm>
            <a:off x="3486150" y="3611880"/>
            <a:ext cx="45720" cy="16916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687318" y="372160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 stream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3687318" y="4215384"/>
            <a:ext cx="218770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Shared by every element on the host page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195060" y="3611880"/>
            <a:ext cx="2507742" cy="16916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0" name="Shape 16"/>
          <p:cNvSpPr/>
          <p:nvPr/>
        </p:nvSpPr>
        <p:spPr>
          <a:xfrm>
            <a:off x="6195060" y="3611880"/>
            <a:ext cx="45720" cy="16916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396228" y="372160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@container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396228" y="4215384"/>
            <a:ext cx="218770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Responsive to its own box: a sidebar gets the narrow layout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8903970" y="3611880"/>
            <a:ext cx="2507742" cy="16916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24" name="Shape 20"/>
          <p:cNvSpPr/>
          <p:nvPr/>
        </p:nvSpPr>
        <p:spPr>
          <a:xfrm>
            <a:off x="8903970" y="3611880"/>
            <a:ext cx="45720" cy="16916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105138" y="372160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Masked</a:t>
            </a:r>
            <a:endParaRPr lang="en-US" sz="2600" dirty="0"/>
          </a:p>
        </p:txBody>
      </p:sp>
      <p:sp>
        <p:nvSpPr>
          <p:cNvPr id="26" name="Text 22"/>
          <p:cNvSpPr txBox="1"/>
          <p:nvPr/>
        </p:nvSpPr>
        <p:spPr>
          <a:xfrm>
            <a:off x="9105138" y="4215384"/>
            <a:ext cx="218770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Always, whatever the user's roles; every call audited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8" name="Shape 24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Other teams get the view, not a copy of it — still live, still masked, still audited.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ON A PHONE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The same terminal in a pocket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813469" y="1380744"/>
            <a:ext cx="1847781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tmp/claude-1000/-home-ashutosh-IdeaProjects-drishti/efa68c11-fb98-4f9a-8faa-96a952090c0e/scratchpad/deck/shots/phone-tr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045" y="1417320"/>
            <a:ext cx="1774629" cy="3840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5321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A live trade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3053749" y="1380744"/>
            <a:ext cx="1847781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/home/ashutosh/IdeaProjects/drishti/docs/guides/img/about/03-var-phon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325" y="1417320"/>
            <a:ext cx="1774629" cy="3840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017520" y="5321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About this page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5294029" y="1380744"/>
            <a:ext cx="1847781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2" descr="/home/ashutosh/IdeaProjects/drishti/docs/guides/img/collab/06-shared-phon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605" y="1417320"/>
            <a:ext cx="1774629" cy="38404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257800" y="5321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A shared view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7534309" y="1380744"/>
            <a:ext cx="1847781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3" descr="/home/ashutosh/IdeaProjects/drishti/docs/guides/img/loads/06-phon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0885" y="1417320"/>
            <a:ext cx="1774629" cy="38404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98080" y="5321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1666E"/>
                </a:solidFill>
              </a:rPr>
              <a:t>Data loads</a:t>
            </a:r>
            <a:endParaRPr lang="en-US" sz="1050" dirty="0"/>
          </a:p>
        </p:txBody>
      </p:sp>
      <p:sp>
        <p:nvSpPr>
          <p:cNvPr id="18" name="Text 11"/>
          <p:cNvSpPr txBox="1"/>
          <p:nvPr/>
        </p:nvSpPr>
        <p:spPr>
          <a:xfrm>
            <a:off x="9738360" y="1417320"/>
            <a:ext cx="16733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51C30"/>
                </a:solidFill>
              </a:rPr>
              <a:t>▪  44 px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4A5058"/>
                </a:solidFill>
              </a:rPr>
              <a:t>Every control, on touch screens only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51C30"/>
                </a:solidFill>
              </a:rPr>
              <a:t>▪  390 px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4A5058"/>
                </a:solidFill>
              </a:rPr>
              <a:t>Every page tested at phone width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51C30"/>
                </a:solidFill>
              </a:rPr>
              <a:t>▪  3 engines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4A5058"/>
                </a:solidFill>
              </a:rPr>
              <a:t>Embedded views in Chromium, Firefox, WebKit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" y="768096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" y="914400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060704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1536" y="1325880"/>
            <a:ext cx="1325880" cy="132588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31536" y="132588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A1626"/>
                </a:solidFill>
              </a:rPr>
              <a:t>3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926080"/>
            <a:ext cx="9720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Security, drawn as flows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5413248" y="3849624"/>
            <a:ext cx="1371600" cy="36576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74520" y="4069080"/>
            <a:ext cx="8439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F6E6E9"/>
                </a:solidFill>
              </a:rPr>
              <a:t>Who you are, what you may see, and what was recorded — kept apart.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THREE SEAMS, ONE RULE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Authentication, authorization and audit are kept apart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63040"/>
            <a:ext cx="3410712" cy="38862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63040"/>
            <a:ext cx="3410712" cy="868680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146304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Authentication</a:t>
            </a:r>
            <a:endParaRPr lang="en-US" sz="1800" dirty="0"/>
          </a:p>
          <a:p>
            <a:pPr indent="0" marL="0">
              <a:buNone/>
            </a:pPr>
            <a:r>
              <a:rPr lang="en-US" sz="1250" dirty="0">
                <a:solidFill>
                  <a:srgbClr val="F6E6E9"/>
                </a:solidFill>
              </a:rPr>
              <a:t>Who you are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514600"/>
            <a:ext cx="3090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Local passwords: PBKDF2-SHA256, 240,000 iterations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Or SSO over OIDC: Keycloak, Entra, Okta, Ping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Lockout after 5 failures in 15 minutes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Disable a user and their sessions end everywhere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463040"/>
            <a:ext cx="3410712" cy="38862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1" name="Shape 8"/>
          <p:cNvSpPr/>
          <p:nvPr/>
        </p:nvSpPr>
        <p:spPr>
          <a:xfrm>
            <a:off x="4389120" y="1463040"/>
            <a:ext cx="3410712" cy="868680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0" y="146304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Authorization</a:t>
            </a:r>
            <a:endParaRPr lang="en-US" sz="1800" dirty="0"/>
          </a:p>
          <a:p>
            <a:pPr indent="0" marL="0">
              <a:buNone/>
            </a:pPr>
            <a:r>
              <a:rPr lang="en-US" sz="1250" dirty="0">
                <a:solidFill>
                  <a:srgbClr val="F6E6E9"/>
                </a:solidFill>
              </a:rPr>
              <a:t>What you may see and do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514600"/>
            <a:ext cx="3090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Roles name the kinds you may open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Six powers: raw, author, approve, admin, calc, layout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Masked fields shown as ••• without raw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Packs assigned per user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01000" y="1463040"/>
            <a:ext cx="3410712" cy="38862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0" y="1463040"/>
            <a:ext cx="3410712" cy="868680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183880" y="146304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Audit</a:t>
            </a:r>
            <a:endParaRPr lang="en-US" sz="1800" dirty="0"/>
          </a:p>
          <a:p>
            <a:pPr indent="0" marL="0">
              <a:buNone/>
            </a:pPr>
            <a:r>
              <a:rPr lang="en-US" sz="1250" dirty="0">
                <a:solidFill>
                  <a:srgbClr val="F6E6E9"/>
                </a:solidFill>
              </a:rPr>
              <a:t>What happened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2514600"/>
            <a:ext cx="3090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Sign-ins, changes, token use, purges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Access log: who viewed what, for which date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Hash-chained collaboration, sealed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Legal holds and an eDiscovery export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9" name="Shape 16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 mask is applied where a value leaves — in views, search, emails, chat bridges and snapshots alike.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FLOW · SIGNING IN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Authentication — a person signs in to the console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6309360" cy="397764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6309360" cy="384048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141732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Browser  →  Console  →  Server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1920240"/>
            <a:ext cx="5907024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Browser → console: any page but landing, help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303 to /login (or to the identity provider)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Password: server checks PBKDF2-SHA256 hash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or OIDC: server verifies the ID token itself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Server → signed session; console sets cookie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HttpOnly, SameSite=Lax, Secure by default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Every write: same-origin check (else 403)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and JSON only (else 415)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Every 10 s: is this user still enabled?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disabled, deleted or reset → session ends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406640" y="1417320"/>
            <a:ext cx="4005072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Lockout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Five failed sign-ins lock the account for fifteen minutes; an admin's reset unlocks it.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The last admin is protected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You cannot remove the last administrator.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Forced change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The development admin is flagged in every page until its password changes.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 cross-site form cannot post: writes must come from the console and must be JSON.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FLOW · PERSONAL API TOKENS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Authorization — a script acts as its owner, never as more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926080"/>
                <a:gridCol w="214884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Scope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Opens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Still required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(none)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Read: views, search, explain, read-only commands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The owner's roles and packs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design:write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Create and save designs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The author power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design:approve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Approve someone else's design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The approve power; never your own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packs:admin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Deploy, roll back and switch packs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The admin role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loads:write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Say a batch of data landed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The pack in the owner's packs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726680" y="1463040"/>
            <a:ext cx="368503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Hashes only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Secrets are stored as SHA-256; shown once.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Write scopes expire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At most 90 days.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Never open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Users, roles, tokens, sign-in, caches and collaboration state.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Audited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Every write and every refusal.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9" name="Shape 5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 scope only opens the endpoint — the owner's roles are still checked on every call.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FLOW · EMBEDDING A VIEW IN ANOTHER APP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Token exchange — the host proves itself, and the user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6583680" cy="397764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6583680" cy="384048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1417320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Host app  →  Server  →  Console  →  Browser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1920240"/>
            <a:ext cx="6181344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Host server → POST /api/v1/embed/token  (RFC 8693)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client: secret (hash stored) or private_key_jwt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subject: the IdP's ID token, or a host-signed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assertion (≤ 60 s, used once)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Server → ES256 token, 300 s (max 900)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audience = app, origin-bound, scopes embed:view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Browser → console /embed/v1/... with the token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console checks signature (JWKS), audience, origin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Server checks again: app, user, origin, kind,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rate limit — and always masks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B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Live stream: event: token → renewed in place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1417320"/>
            <a:ext cx="3776472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Off by default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drishti.embed.enabled; each host app registered by an admin.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Always masked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An embedded view never shows raw values, whatever the user's roles.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CORS, exactly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Only registered origins; never *, never credentials.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The token proves who and where; the server still decides what — on every call.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COMPLIANCE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Evidence, not just conversation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63040"/>
            <a:ext cx="2507742" cy="18288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63040"/>
            <a:ext cx="45720" cy="18288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78408" y="157276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Chained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2066544"/>
            <a:ext cx="218770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Every revision of a thread or share hashes the one before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86150" y="1463040"/>
            <a:ext cx="2507742" cy="18288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1" name="Shape 8"/>
          <p:cNvSpPr/>
          <p:nvPr/>
        </p:nvSpPr>
        <p:spPr>
          <a:xfrm>
            <a:off x="3486150" y="1463040"/>
            <a:ext cx="45720" cy="18288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687318" y="157276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Sealed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3687318" y="2066544"/>
            <a:ext cx="218770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Seals cover comments, thread heads, holds and audit; verify on demand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95060" y="1463040"/>
            <a:ext cx="2507742" cy="18288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5" name="Shape 12"/>
          <p:cNvSpPr/>
          <p:nvPr/>
        </p:nvSpPr>
        <p:spPr>
          <a:xfrm>
            <a:off x="6195060" y="1463040"/>
            <a:ext cx="45720" cy="18288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96228" y="157276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Held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396228" y="2066544"/>
            <a:ext cx="218770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Legal holds by entity, user, thread or all (423 while held)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903970" y="1463040"/>
            <a:ext cx="2507742" cy="18288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9" name="Shape 16"/>
          <p:cNvSpPr/>
          <p:nvPr/>
        </p:nvSpPr>
        <p:spPr>
          <a:xfrm>
            <a:off x="8903970" y="1463040"/>
            <a:ext cx="45720" cy="18288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105138" y="157276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Exported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9105138" y="2066544"/>
            <a:ext cx="218770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eDiscovery zip with a manifest; one-shot download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3520440"/>
            <a:ext cx="106344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51C30"/>
                </a:solidFill>
              </a:rPr>
              <a:t>▪  Retract and hide, never delete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4A5058"/>
                </a:solidFill>
              </a:rPr>
              <a:t>Retention keeps for ever by default; a hidden comment is still in the record.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A51C30"/>
                </a:solidFill>
              </a:rPr>
              <a:t>▪  Measured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4A5058"/>
                </a:solidFill>
              </a:rPr>
              <a:t>An export of 8,300 comments builds in 2.0 s and downloads (19.8 MB) in 3.1 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A51C30"/>
                </a:solidFill>
              </a:rPr>
              <a:t>▪  Only for compliance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4A5058"/>
                </a:solidFill>
              </a:rPr>
              <a:t>Legal holds and the export need the compliance power; an export downloads once.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4" name="Shape 21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Tamper evidence is the honest claim: Drishti cannot stop a database administrator, but it shows when one acted.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" y="768096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" y="914400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060704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1536" y="1325880"/>
            <a:ext cx="1325880" cy="132588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31536" y="132588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A1626"/>
                </a:solidFill>
              </a:rPr>
              <a:t>4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926080"/>
            <a:ext cx="9720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Evidence, by the numbers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5413248" y="3849624"/>
            <a:ext cx="1371600" cy="36576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74520" y="4069080"/>
            <a:ext cx="8439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F6E6E9"/>
                </a:solidFill>
              </a:rPr>
              <a:t>Counted from the repository on 6 October 2026: measured, tested, found and fixed.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ERRORS AS A CONTRACT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65 error codes, every one documented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5394960" cy="237744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78408" y="1581912"/>
            <a:ext cx="499262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-s server/api/v1/views/trade/NOPE-404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application/problem+json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"status": 404,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"code":   "DRS-1001",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 "entity not found",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"detail": "no source holds the entity" }</a:t>
            </a:r>
            <a:endParaRPr lang="en-US" sz="11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417320"/>
          <a:ext cx="496519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770632"/>
                <a:gridCol w="868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Area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Codes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DRS-1xxx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Entities and sources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DRS-2xxx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Grammar and Sutras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DRS-3xxx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Inference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DRS-4xxx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Commands and search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DRS-5xxx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Requests and limits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DRS-6xxx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Users, roles, tokens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DRS-7xxx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Collaboration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DRS-8xxx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Embedding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77240" y="3931920"/>
            <a:ext cx="1664208" cy="13716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0" name="Shape 6"/>
          <p:cNvSpPr/>
          <p:nvPr/>
        </p:nvSpPr>
        <p:spPr>
          <a:xfrm>
            <a:off x="777240" y="3931920"/>
            <a:ext cx="45720" cy="13716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78408" y="4041648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65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978408" y="4535424"/>
            <a:ext cx="13441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Codes in eight families, one table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2642616" y="3931920"/>
            <a:ext cx="1664208" cy="13716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4" name="Shape 10"/>
          <p:cNvSpPr/>
          <p:nvPr/>
        </p:nvSpPr>
        <p:spPr>
          <a:xfrm>
            <a:off x="2642616" y="3931920"/>
            <a:ext cx="45720" cy="13716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843784" y="4041648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34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2843784" y="4535424"/>
            <a:ext cx="13441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Sutra problem codes in the grammar reference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507992" y="3931920"/>
            <a:ext cx="1664208" cy="137160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8" name="Shape 14"/>
          <p:cNvSpPr/>
          <p:nvPr/>
        </p:nvSpPr>
        <p:spPr>
          <a:xfrm>
            <a:off x="4507992" y="3931920"/>
            <a:ext cx="45720" cy="137160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709160" y="4041648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RFC 7807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4709160" y="4535424"/>
            <a:ext cx="13441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problem+json, the same shape everywhere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2" name="Shape 18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Errors are a contract: a stable code, an HTTP status and a row that says what to 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HOW IT IS TESTED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1,939 tests, three browsers, one gate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7840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1,063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Java tests (plus 19 parameterised)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8615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1" name="Shape 8"/>
          <p:cNvSpPr/>
          <p:nvPr/>
        </p:nvSpPr>
        <p:spPr>
          <a:xfrm>
            <a:off x="348615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68731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739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368731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Console tests, browser tests included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19506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5" name="Shape 12"/>
          <p:cNvSpPr/>
          <p:nvPr/>
        </p:nvSpPr>
        <p:spPr>
          <a:xfrm>
            <a:off x="619506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9622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137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39622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CLI and tool tests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90397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9" name="Shape 16"/>
          <p:cNvSpPr/>
          <p:nvPr/>
        </p:nvSpPr>
        <p:spPr>
          <a:xfrm>
            <a:off x="890397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10513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3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910513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Browser engines for embedded views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2834640"/>
            <a:ext cx="10634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Gates in every build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Error Prone and Spotless; ArchUnit for module direction; a licence-header test; no source file over 1,500 lines; no external asset.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Pages at three widths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Every page at 390, 1,600 and 2,560 px; at 390 with touch: real content, 44 px targets, nothing clipped.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Embedded views, adversarially</a:t>
            </a:r>
            <a:endParaRPr lang="en-US" sz="15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A tampered payload is sanitised; Trusted Types enforced; a 30-second token renews on a live stream.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PERFORMANCE · MEASURED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Fast where people wait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6" name="Chart 0" descr=""/>
          <p:cNvGraphicFramePr/>
          <p:nvPr/>
        </p:nvGraphicFramePr>
        <p:xfrm>
          <a:off x="777240" y="1417320"/>
          <a:ext cx="67665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554480"/>
          <a:ext cx="36393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1444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Gate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Measured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Warm view p99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&lt; 50 ms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3.0 ms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Live p99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&lt; 40 ms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11.2 ms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1626"/>
                          </a:solidFill>
                        </a:rPr>
                        <a:t>Netting set impact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0.7–0.9 s, 143,982 trades</a:t>
                      </a:r>
                      <a:endParaRPr lang="en-US" sz="12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772400" y="3291840"/>
            <a:ext cx="36393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One workstation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24 cores; 1,000,000 trades a day for three days, 5.2 GB.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▪  Cold vs cached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5058"/>
                </a:solidFill>
              </a:rPr>
              <a:t>Opening a trade cold is 137–157 ms; from the cache 48 ms.</a:t>
            </a:r>
            <a:endParaRPr lang="en-US" sz="1400" dirty="0"/>
          </a:p>
        </p:txBody>
      </p:sp>
      <p:sp>
        <p:nvSpPr>
          <p:cNvPr id="9" name="Shape 4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10" name="Shape 5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The gates are written down first and measured after — and every one has headroom.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ADVERSARIAL QA · FOUR ROUNDS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Written to break a promise — and fixed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7840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94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Findings in round one (10 high), security, data and UX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8615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1" name="Shape 8"/>
          <p:cNvSpPr/>
          <p:nvPr/>
        </p:nvSpPr>
        <p:spPr>
          <a:xfrm>
            <a:off x="348615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68731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72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368731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Findings in round two, the build workbench (0 high)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19506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5" name="Shape 12"/>
          <p:cNvSpPr/>
          <p:nvPr/>
        </p:nvSpPr>
        <p:spPr>
          <a:xfrm>
            <a:off x="619506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9622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29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39622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Findings in the collaboration and safety pair (2 high)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903970" y="1417320"/>
            <a:ext cx="2507742" cy="118872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19" name="Shape 16"/>
          <p:cNvSpPr/>
          <p:nvPr/>
        </p:nvSpPr>
        <p:spPr>
          <a:xfrm>
            <a:off x="8903970" y="1417320"/>
            <a:ext cx="45720" cy="118872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105138" y="1527048"/>
            <a:ext cx="21877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4,640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9105138" y="2020824"/>
            <a:ext cx="21877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58"/>
                </a:solidFill>
              </a:rPr>
              <a:t>Randomised searches matched brute force exactly</a:t>
            </a:r>
            <a:endParaRPr lang="en-US" sz="11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880360"/>
          <a:ext cx="106344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822960"/>
                <a:gridCol w="35935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Round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Scope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Outcome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2026-10-01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Security, data and UX of 1.13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All high fixed, each with its commit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2026-10-03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Build workbench: 25 endpoints × 6 callers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All 18 medium fixed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2026-10-05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Data safety: collaboration, Ask, bridges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12 of 12 resolved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1626"/>
                          </a:solidFill>
                        </a:rPr>
                        <a:t>2026-10-05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Behaviour: About, time, failure modes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All resolved or owned</a:t>
                      </a:r>
                      <a:endParaRPr lang="en-US" sz="140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4" name="Shape 20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No XSS anywhere, about 250 settings that match the code, 190 grammar fuzz cases with clean problem codes.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THE DRILL · TOOLS/DRILL.SH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Nothing reaches main without the full gate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554480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14400" y="166420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Licences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011680"/>
            <a:ext cx="12984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A header on every file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578608" y="1554480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715768" y="166420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Java 21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2715768" y="2011680"/>
            <a:ext cx="12984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Full verify; bytecode pinned to 21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350008" y="2304288"/>
            <a:ext cx="22860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379976" y="1554480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517136" y="166420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Java 25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17136" y="2011680"/>
            <a:ext cx="12984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Verify in a copy of the commit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151376" y="2304288"/>
            <a:ext cx="22860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181344" y="1554480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18504" y="166420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Console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18504" y="2011680"/>
            <a:ext cx="12984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Tests on parallel workers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952744" y="2304288"/>
            <a:ext cx="22860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982712" y="1554480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119872" y="166420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Tools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119872" y="2011680"/>
            <a:ext cx="12984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CLI tests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754112" y="2304288"/>
            <a:ext cx="22860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9784080" y="1554480"/>
            <a:ext cx="1572768" cy="1508760"/>
          </a:xfrm>
          <a:prstGeom prst="rect">
            <a:avLst/>
          </a:prstGeom>
          <a:solidFill>
            <a:srgbClr val="F6E6E9"/>
          </a:solidFill>
          <a:ln w="12700">
            <a:solidFill>
              <a:srgbClr val="A51C3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921240" y="166420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Push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921240" y="2011680"/>
            <a:ext cx="12984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develop, then main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9555480" y="2304288"/>
            <a:ext cx="228600" cy="914"/>
          </a:xfrm>
          <a:prstGeom prst="line">
            <a:avLst/>
          </a:prstGeom>
          <a:noFill/>
          <a:ln w="22225">
            <a:solidFill>
              <a:srgbClr val="A51C30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77240" y="3337560"/>
            <a:ext cx="3410712" cy="19202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0" name="Shape 27"/>
          <p:cNvSpPr/>
          <p:nvPr/>
        </p:nvSpPr>
        <p:spPr>
          <a:xfrm>
            <a:off x="777240" y="3337560"/>
            <a:ext cx="45720" cy="19202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78408" y="344728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~11 min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978408" y="3941064"/>
            <a:ext cx="30906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A full drill, down from about 22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389120" y="3337560"/>
            <a:ext cx="3410712" cy="19202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4" name="Shape 31"/>
          <p:cNvSpPr/>
          <p:nvPr/>
        </p:nvSpPr>
        <p:spPr>
          <a:xfrm>
            <a:off x="4389120" y="3337560"/>
            <a:ext cx="45720" cy="19202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590288" y="344728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23</a:t>
            </a:r>
            <a:endParaRPr lang="en-US" sz="2600" dirty="0"/>
          </a:p>
        </p:txBody>
      </p:sp>
      <p:sp>
        <p:nvSpPr>
          <p:cNvPr id="36" name="Text 33"/>
          <p:cNvSpPr txBox="1"/>
          <p:nvPr/>
        </p:nvSpPr>
        <p:spPr>
          <a:xfrm>
            <a:off x="4590288" y="3941064"/>
            <a:ext cx="30906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Releases, 1.0 to 1.18, 30 Sep to 6 Oct 2026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8001000" y="3337560"/>
            <a:ext cx="3410712" cy="1920240"/>
          </a:xfrm>
          <a:prstGeom prst="rect">
            <a:avLst/>
          </a:prstGeom>
          <a:solidFill>
            <a:srgbClr val="F7F5F2"/>
          </a:solidFill>
          <a:ln/>
        </p:spPr>
      </p:sp>
      <p:sp>
        <p:nvSpPr>
          <p:cNvPr id="38" name="Shape 35"/>
          <p:cNvSpPr/>
          <p:nvPr/>
        </p:nvSpPr>
        <p:spPr>
          <a:xfrm>
            <a:off x="8001000" y="3337560"/>
            <a:ext cx="45720" cy="1920240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202168" y="3447288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626"/>
                </a:solidFill>
              </a:rPr>
              <a:t>543</a:t>
            </a:r>
            <a:endParaRPr lang="en-US" sz="2600" dirty="0"/>
          </a:p>
        </p:txBody>
      </p:sp>
      <p:sp>
        <p:nvSpPr>
          <p:cNvPr id="40" name="Text 37"/>
          <p:cNvSpPr txBox="1"/>
          <p:nvPr/>
        </p:nvSpPr>
        <p:spPr>
          <a:xfrm>
            <a:off x="8202168" y="3941064"/>
            <a:ext cx="30906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</a:rPr>
              <a:t>Commits, every push through the drill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42" name="Shape 39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A failed test stops the push; a flaky one is retried once and written down — never ignored.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SIZE · GIT LS-FILES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Where the work 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6" name="Chart 0" descr=""/>
          <p:cNvGraphicFramePr/>
          <p:nvPr/>
        </p:nvGraphicFramePr>
        <p:xfrm>
          <a:off x="777240" y="1417320"/>
          <a:ext cx="67665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772400" y="1463040"/>
            <a:ext cx="363931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99 guides and references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User, admin, CLI, IDE, packs, connectors, architecture and 20 ADRs.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Every screen documented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With real captures, regenerated by a script.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51C30"/>
                </a:solidFill>
              </a:rPr>
              <a:t>▪  12 core modules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4A5058"/>
                </a:solidFill>
              </a:rPr>
              <a:t>Plus 15 source plugins, a server, integration tests and benchmarks.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" y="768096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" y="914400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060704"/>
            <a:ext cx="512064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1536" y="1325880"/>
            <a:ext cx="1325880" cy="132588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31536" y="1325880"/>
            <a:ext cx="1325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A1626"/>
                </a:solidFill>
              </a:rPr>
              <a:t>5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926080"/>
            <a:ext cx="9720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Where it is going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5413248" y="3849624"/>
            <a:ext cx="1371600" cy="36576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74520" y="4069080"/>
            <a:ext cx="8439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F6E6E9"/>
                </a:solidFill>
              </a:rPr>
              <a:t>Finish embedding, then price on the server, prove Windows, and run it for real.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ROADMAP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What is left — and what each item 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63040"/>
          <a:ext cx="106344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937760"/>
                <a:gridCol w="3502152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Next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Done when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1626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Elements: tests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A foreign-origin host app, framework smoke tests in three browsers, a small load test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All pass in Chromium, Firefox and WebKit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Elements: distribution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npm package, TypeScript declarations, version aliases, SRI hashes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A host installs one exact version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Elements: more elements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&lt;drishti-panel&gt;, &lt;drishti-about&gt;, &lt;drishti-search&gt;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One panel or search box anywhere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Server-side pricing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A quant service on QuantLib, in five phases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Prices beside the data, explained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Windows, proven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CI green and PowerShell on real Windows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Every guide works there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A real deployment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Security on, SSO, HTTPS, compose with pricing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Runbook followed end to end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8A1626"/>
                          </a:solidFill>
                        </a:rPr>
                        <a:t>Scale and load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1M trades a day per store on a server; many users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</a:rPr>
                        <a:t>Extrapolations replaced by measurements</a:t>
                      </a:r>
                      <a:endParaRPr lang="en-US" sz="1350" dirty="0"/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body" hasCustomPrompt="1"/>
          </p:nvPr>
        </p:nvSpPr>
        <p:spPr>
          <a:xfrm>
            <a:off x="777240" y="457200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A51C30"/>
                </a:solidFill>
              </a:rPr>
              <a:t>WHERE TO START</a:t>
            </a:r>
            <a:endParaRPr lang="en-US" sz="105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777240" y="73152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</a:rPr>
              <a:t>From a clone to a live view in ten minutes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0160"/>
            <a:ext cx="10634472" cy="9144"/>
          </a:xfrm>
          <a:prstGeom prst="rect">
            <a:avLst/>
          </a:prstGeom>
          <a:solidFill>
            <a:srgbClr val="E3DED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417320"/>
            <a:ext cx="6035040" cy="3931920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417320"/>
            <a:ext cx="6035040" cy="384048"/>
          </a:xfrm>
          <a:prstGeom prst="rect">
            <a:avLst/>
          </a:prstGeom>
          <a:solidFill>
            <a:srgbClr val="8A162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141732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Five commands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1920240"/>
            <a:ext cx="5632704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./mvnw -q package -DskipTests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venv drishti-console/.venv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pip install -r drishti-console/requirements.txt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drishti-server/target/*-exec.jar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drishti-console/run_drishti_web.py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http://&lt;host&gt;:17480/t and type: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1E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TRD MX-20000001 &lt;GO&gt;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086600" y="1417320"/>
            <a:ext cx="432511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223760" y="1527048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QUICKSTART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87452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Ten minutes, fresh clone to first live view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086600" y="2423160"/>
            <a:ext cx="432511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223760" y="2532888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IDE_GUIDE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288036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Server in IntelliJ, console in PyCharm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086600" y="3429000"/>
            <a:ext cx="432511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223760" y="3538728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CLI_GUIDE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388620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pack make, then every build step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086600" y="4434840"/>
            <a:ext cx="432511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223760" y="4544568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USER_GUIDE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89204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58"/>
                </a:solidFill>
              </a:rPr>
              <a:t>Every page, every key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77240" y="5550408"/>
            <a:ext cx="10634472" cy="694944"/>
          </a:xfrm>
          <a:prstGeom prst="rect">
            <a:avLst/>
          </a:prstGeom>
          <a:solidFill>
            <a:srgbClr val="F6E6E9"/>
          </a:solidFill>
          <a:ln/>
        </p:spPr>
      </p:sp>
      <p:sp>
        <p:nvSpPr>
          <p:cNvPr id="23" name="Shape 20"/>
          <p:cNvSpPr/>
          <p:nvPr/>
        </p:nvSpPr>
        <p:spPr>
          <a:xfrm>
            <a:off x="777240" y="5550408"/>
            <a:ext cx="54864" cy="694944"/>
          </a:xfrm>
          <a:prstGeom prst="rect">
            <a:avLst/>
          </a:prstGeom>
          <a:solidFill>
            <a:srgbClr val="A51C3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033272" y="5623560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1C30"/>
                </a:solidFill>
              </a:rPr>
              <a:t>Key insight  </a:t>
            </a:r>
            <a:pPr indent="0" marL="0">
              <a:buNone/>
            </a:pPr>
            <a:r>
              <a:rPr lang="en-US" sz="1400" b="1" dirty="0">
                <a:solidFill>
                  <a:srgbClr val="8A1626"/>
                </a:solidFill>
              </a:rPr>
              <a:t>Start with your own JSON Lines: one pack make, one deploy, and your records have a terminal.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0456" y="6437376"/>
            <a:ext cx="3191256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1666E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86984" y="1463040"/>
            <a:ext cx="1024128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86984" y="1609344"/>
            <a:ext cx="1024128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86984" y="1755648"/>
            <a:ext cx="1024128" cy="256032"/>
          </a:xfrm>
          <a:prstGeom prst="arc">
            <a:avLst>
              <a:gd name="adj1" fmla="val 12000000"/>
              <a:gd name="adj2" fmla="val 20400000"/>
            </a:avLst>
          </a:prstGeom>
          <a:ln w="25400">
            <a:solidFill>
              <a:srgbClr val="C438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514600"/>
            <a:ext cx="9720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Thank you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5413248" y="3611880"/>
            <a:ext cx="1371600" cy="36576"/>
          </a:xfrm>
          <a:prstGeom prst="rect">
            <a:avLst/>
          </a:prstGeom>
          <a:solidFill>
            <a:srgbClr val="C438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34440" y="3840480"/>
            <a:ext cx="9720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6E6E9"/>
                </a:solidFill>
              </a:rPr>
              <a:t>Any data. Any domain. One grammar.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54880"/>
            <a:ext cx="9720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6E6E9"/>
                </a:solidFill>
              </a:rPr>
              <a:t>Drishti • Ashutosh Sinha • October 2026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77240" y="6437376"/>
            <a:ext cx="1063447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F6E6E9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ishti Crimson">
  <a:themeElements>
    <a:clrScheme name="Drishti Crimson">
      <a:dk1>
        <a:srgbClr val="1A1A1A"/>
      </a:dk1>
      <a:lt1>
        <a:srgbClr val="FFFFFF"/>
      </a:lt1>
      <a:dk2>
        <a:srgbClr val="8A1626"/>
      </a:dk2>
      <a:lt2>
        <a:srgbClr val="F7F5F2"/>
      </a:lt2>
      <a:accent1>
        <a:srgbClr val="A51C30"/>
      </a:accent1>
      <a:accent2>
        <a:srgbClr val="6E1120"/>
      </a:accent2>
      <a:accent3>
        <a:srgbClr val="C4384B"/>
      </a:accent3>
      <a:accent4>
        <a:srgbClr val="293352"/>
      </a:accent4>
      <a:accent5>
        <a:srgbClr val="4A5058"/>
      </a:accent5>
      <a:accent6>
        <a:srgbClr val="E3DED7"/>
      </a:accent6>
      <a:hlink>
        <a:srgbClr val="A51C30"/>
      </a:hlink>
      <a:folHlink>
        <a:srgbClr val="6E1120"/>
      </a:folHlink>
    </a:clrScheme>
    <a:fontScheme name="Drishti Crims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Drishti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Drishti: design and evidence</dc:title>
  <dc:subject>PptxGenJS Presentation</dc:subject>
  <dc:creator>Ashutosh Sinha</dc:creator>
  <cp:lastModifiedBy>Ashutosh Sinha</cp:lastModifiedBy>
  <cp:revision>1</cp:revision>
  <dcterms:created xsi:type="dcterms:W3CDTF">2026-10-07T03:08:21Z</dcterms:created>
  <dcterms:modified xsi:type="dcterms:W3CDTF">2026-10-07T03:08:21Z</dcterms:modified>
</cp:coreProperties>
</file>
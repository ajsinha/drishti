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media/image-17-2.jpg" ContentType="image/jpg"/>
  <Override PartName="/ppt/media/image-18-1.jpg" ContentType="image/jpg"/>
  <Override PartName="/ppt/media/image-19-1.jpg" ContentType="image/jpg"/>
  <Override PartName="/ppt/media/image-20-2.jpg" ContentType="image/jpg"/>
  <Override PartName="/ppt/media/image-21-1.jpg" ContentType="image/jpg"/>
  <Override PartName="/ppt/media/image-21-2.jpg" ContentType="image/jpg"/>
  <Override PartName="/ppt/media/image-22-1.jpg" ContentType="image/jpg"/>
  <Override PartName="/ppt/media/image-23-1.jpg" ContentType="image/jpg"/>
  <Override PartName="/ppt/media/image-26-2.jpg" ContentType="image/jpg"/>
  <Override PartName="/ppt/media/image-26-3.jpg" ContentType="image/jpg"/>
  <Override PartName="/ppt/media/image-26-4.jpg" ContentType="image/jpg"/>
  <Override PartName="/ppt/media/image-45-1.jpg" ContentType="image/jpg"/>
  <Override PartName="/ppt/media/image-46-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304" r:id="rId55"/>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99" r:id="rId50"/>
    <p:sldId id="300" r:id="rId51"/>
    <p:sldId id="301" r:id="rId52"/>
    <p:sldId id="275" r:id="rId21"/>
    <p:sldId id="276" r:id="rId22"/>
    <p:sldId id="277" r:id="rId23"/>
    <p:sldId id="278" r:id="rId24"/>
    <p:sldId id="279" r:id="rId25"/>
    <p:sldId id="280" r:id="rId26"/>
    <p:sldId id="302" r:id="rId53"/>
    <p:sldId id="281" r:id="rId27"/>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282" r:id="rId28"/>
    <p:sldId id="283" r:id="rId29"/>
    <p:sldId id="284" r:id="rId30"/>
    <p:sldId id="285" r:id="rId31"/>
    <p:sldId id="286" r:id="rId32"/>
    <p:sldId id="287" r:id="rId33"/>
    <p:sldId id="288" r:id="rId34"/>
    <p:sldId id="289" r:id="rId35"/>
    <p:sldId id="290" r:id="rId36"/>
    <p:sldId id="328" r:id="rId79"/>
    <p:sldId id="329" r:id="rId80"/>
    <p:sldId id="291" r:id="rId37"/>
    <p:sldId id="303" r:id="rId54"/>
    <p:sldId id="325" r:id="rId76"/>
    <p:sldId id="326" r:id="rId77"/>
    <p:sldId id="292" r:id="rId38"/>
    <p:sldId id="327" r:id="rId7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fff05ea-7e3f-edc1-6e4c-b237f484a65c}">
          <p14:sldIdLst>
            <p14:sldId id="256"/>
            <p14:sldId id="257"/>
          </p14:sldIdLst>
        </p14:section>
        <p14:section name="1 The idea" id="{ca601b58-0b8b-3761-3239-43cfc2554691}">
          <p14:sldIdLst>
            <p14:sldId id="258"/>
            <p14:sldId id="259"/>
            <p14:sldId id="260"/>
            <p14:sldId id="261"/>
            <p14:sldId id="262"/>
            <p14:sldId id="263"/>
            <p14:sldId id="264"/>
            <p14:sldId id="265"/>
            <p14:sldId id="266"/>
            <p14:sldId id="267"/>
            <p14:sldId id="268"/>
            <p14:sldId id="269"/>
          </p14:sldIdLst>
        </p14:section>
        <p14:section name="2 The product" id="{426419ec-ae60-8af7-70b6-913aa38d3bca}">
          <p14:sldIdLst>
            <p14:sldId id="270"/>
            <p14:sldId id="271"/>
            <p14:sldId id="272"/>
            <p14:sldId id="273"/>
            <p14:sldId id="274"/>
            <p14:sldId id="275"/>
            <p14:sldId id="276"/>
            <p14:sldId id="277"/>
            <p14:sldId id="278"/>
            <p14:sldId id="279"/>
            <p14:sldId id="280"/>
            <p14:sldId id="281"/>
          </p14:sldIdLst>
        </p14:section>
        <p14:section name="3 Security" id="{31e90070-bf08-f842-13da-c475a1110454}">
          <p14:sldIdLst>
            <p14:sldId id="282"/>
            <p14:sldId id="283"/>
            <p14:sldId id="284"/>
            <p14:sldId id="285"/>
            <p14:sldId id="286"/>
            <p14:sldId id="287"/>
          </p14:sldIdLst>
        </p14:section>
        <p14:section name="4 Evidence" id="{c3cbb4b4-ca8c-870f-e402-1568eefc4f50}">
          <p14:sldIdLst>
            <p14:sldId id="288"/>
            <p14:sldId id="289"/>
            <p14:sldId id="290"/>
            <p14:sldId id="291"/>
            <p14:sldId id="292"/>
            <p14:sldId id="293"/>
            <p14:sldId id="294"/>
          </p14:sldIdLst>
        </p14:section>
        <p14:section name="5 Where it is going" id="{40493725-4708-b045-208a-8e178f7cb474}">
          <p14:sldIdLst>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slide" Target="slides/slide26.xml"/><Relationship Id="rId25" Type="http://schemas.openxmlformats.org/officeDocument/2006/relationships/slide" Target="slides/slide27.xml"/><Relationship Id="rId26" Type="http://schemas.openxmlformats.org/officeDocument/2006/relationships/slide" Target="slides/slide28.xml"/><Relationship Id="rId27" Type="http://schemas.openxmlformats.org/officeDocument/2006/relationships/slide" Target="slides/slide30.xml"/><Relationship Id="rId28" Type="http://schemas.openxmlformats.org/officeDocument/2006/relationships/slide" Target="slides/slide31.xml"/><Relationship Id="rId29" Type="http://schemas.openxmlformats.org/officeDocument/2006/relationships/slide" Target="slides/slide32.xml"/><Relationship Id="rId30" Type="http://schemas.openxmlformats.org/officeDocument/2006/relationships/slide" Target="slides/slide33.xml"/><Relationship Id="rId31" Type="http://schemas.openxmlformats.org/officeDocument/2006/relationships/slide" Target="slides/slide34.xml"/><Relationship Id="rId32" Type="http://schemas.openxmlformats.org/officeDocument/2006/relationships/slide" Target="slides/slide35.xml"/><Relationship Id="rId33" Type="http://schemas.openxmlformats.org/officeDocument/2006/relationships/slide" Target="slides/slide36.xml"/><Relationship Id="rId34" Type="http://schemas.openxmlformats.org/officeDocument/2006/relationships/slide" Target="slides/slide37.xml"/><Relationship Id="rId35" Type="http://schemas.openxmlformats.org/officeDocument/2006/relationships/slide" Target="slides/slide38.xml"/><Relationship Id="rId36" Type="http://schemas.openxmlformats.org/officeDocument/2006/relationships/slide" Target="slides/slide39.xml"/><Relationship Id="rId37" Type="http://schemas.openxmlformats.org/officeDocument/2006/relationships/slide" Target="slides/slide40.xml"/><Relationship Id="rId38" Type="http://schemas.openxmlformats.org/officeDocument/2006/relationships/slide" Target="slides/slide42.xml"/><Relationship Id="rId39" Type="http://schemas.openxmlformats.org/officeDocument/2006/relationships/slide" Target="slides/slide43.xml"/><Relationship Id="rId40" Type="http://schemas.openxmlformats.org/officeDocument/2006/relationships/slide" Target="slides/slide44.xml"/><Relationship Id="rId41" Type="http://schemas.openxmlformats.org/officeDocument/2006/relationships/slide" Target="slides/slide45.xml"/><Relationship Id="rId42" Type="http://schemas.openxmlformats.org/officeDocument/2006/relationships/slide" Target="slides/slide46.xml"/><Relationship Id="rId43" Type="http://schemas.openxmlformats.org/officeDocument/2006/relationships/slide" Target="slides/slide47.xml"/><Relationship Id="rId44" Type="http://schemas.openxmlformats.org/officeDocument/2006/relationships/slide" Target="slides/slide48.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openxmlformats.org/officeDocument/2006/relationships/slide" Target="slides/slide20.xml"/><Relationship Id="rId51" Type="http://schemas.openxmlformats.org/officeDocument/2006/relationships/slide" Target="slides/slide21.xml"/><Relationship Id="rId52" Type="http://schemas.openxmlformats.org/officeDocument/2006/relationships/slide" Target="slides/slide22.xml"/><Relationship Id="rId53" Type="http://schemas.openxmlformats.org/officeDocument/2006/relationships/slide" Target="slides/slide29.xml"/><Relationship Id="rId54" Type="http://schemas.openxmlformats.org/officeDocument/2006/relationships/slide" Target="slides/slide41.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1666E"/>
                </a:solidFill>
                <a:latin typeface="+mn-lt"/>
              </a:defRPr>
            </a:pPr>
            <a:r>
              <a:rPr sz="1200" b="0" i="0" u="none" strike="noStrike">
                <a:solidFill>
                  <a:srgbClr val="61666E"/>
                </a:solidFill>
                <a:latin typeface="+mn-lt"/>
              </a:rPr>
              <a:t>Milliseconds, lower is better</a:t>
            </a:r>
          </a:p>
        </c:rich>
      </c:tx>
      <c:layout/>
      <c:overlay val="0"/>
    </c:title>
    <c:autoTitleDeleted val="0"/>
    <c:plotArea>
      <c:layout/>
      <c:barChart>
        <c:barDir val="bar"/>
        <c:grouping val="clustered"/>
        <c:varyColors val="0"/>
        <c:ser>
          <c:idx val="0"/>
          <c:order val="0"/>
          <c:tx>
            <c:strRef>
              <c:f>Sheet1!$B$1</c:f>
              <c:strCache>
                <c:ptCount val="1"/>
                <c:pt idx="0">
                  <c:v>Milliseconds</c:v>
                </c:pt>
              </c:strCache>
            </c:strRef>
          </c:tx>
          <c:spPr>
            <a:solidFill>
              <a:srgbClr val="A51C30"/>
            </a:solidFill>
            <a:effectLst/>
          </c:spPr>
          <c:invertIfNegative val="0"/>
          <c:dLbls>
            <c:numFmt formatCode="#,##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cat>
            <c:strRef>
              <c:f>Sheet1!$A$2:$A$8</c:f>
              <c:strCache>
                <c:ptCount val="7"/>
                <c:pt idx="0">
                  <c:v>Warm view, p99 (HTTP)</c:v>
                </c:pt>
                <c:pt idx="1">
                  <c:v>Live tick to frame, p99</c:v>
                </c:pt>
                <c:pt idx="2">
                  <c:v>History: 30 days, cold</c:v>
                </c:pt>
                <c:pt idx="3">
                  <c:v>Type-ahead at 1M/day</c:v>
                </c:pt>
                <c:pt idx="4">
                  <c:v>Open a cached trade at 1M/day</c:v>
                </c:pt>
                <c:pt idx="5">
                  <c:v>Search all 1M trades</c:v>
                </c:pt>
                <c:pt idx="6">
                  <c:v>P&amp;L of every desk, 1M trades</c:v>
                </c:pt>
              </c:strCache>
            </c:strRef>
          </c:cat>
          <c:val>
            <c:numRef>
              <c:f>Sheet1!$B$2:$B$8</c:f>
              <c:numCache>
                <c:formatCode>General</c:formatCode>
                <c:ptCount val="7"/>
                <c:pt idx="0">
                  <c:v>3.0</c:v>
                </c:pt>
                <c:pt idx="1">
                  <c:v>11.2</c:v>
                </c:pt>
                <c:pt idx="2">
                  <c:v>13.0</c:v>
                </c:pt>
                <c:pt idx="3">
                  <c:v>29.0</c:v>
                </c:pt>
                <c:pt idx="4">
                  <c:v>48.0</c:v>
                </c:pt>
                <c:pt idx="5">
                  <c:v>134.0</c:v>
                </c:pt>
                <c:pt idx="6">
                  <c:v>327.0</c:v>
                </c:pt>
              </c:numCache>
            </c:numRef>
          </c:val>
        </c:ser>
        <c:dLbls>
          <c:numFmt formatCode="General"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5058"/>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1666E"/>
                </a:solidFill>
                <a:latin typeface="+mn-lt"/>
              </a:defRPr>
            </a:pPr>
            <a:r>
              <a:rPr sz="1200" b="0" i="0" u="none" strike="noStrike">
                <a:solidFill>
                  <a:srgbClr val="61666E"/>
                </a:solidFill>
                <a:latin typeface="+mn-lt"/>
              </a:rPr>
              <a:t>Lines tracked in git</a:t>
            </a:r>
          </a:p>
        </c:rich>
      </c:tx>
      <c:layout/>
      <c:overlay val="0"/>
    </c:title>
    <c:autoTitleDeleted val="0"/>
    <c:plotArea>
      <c:layout/>
      <c:barChart>
        <c:barDir val="bar"/>
        <c:grouping val="clustered"/>
        <c:varyColors val="0"/>
        <c:ser>
          <c:idx val="0"/>
          <c:order val="0"/>
          <c:tx>
            <c:strRef>
              <c:f>Sheet1!$B$1</c:f>
              <c:strCache>
                <c:ptCount val="1"/>
                <c:pt idx="0">
                  <c:v>Lines</c:v>
                </c:pt>
              </c:strCache>
            </c:strRef>
          </c:tx>
          <c:spPr>
            <a:solidFill>
              <a:srgbClr val="A51C30"/>
            </a:solidFill>
            <a:effectLst/>
          </c:spPr>
          <c:invertIfNegative val="0"/>
          <c:dLbls>
            <c:numFmt formatCode="#,##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cat>
            <c:strRef>
              <c:f>Sheet1!$A$2:$A$8</c:f>
              <c:strCache>
                <c:ptCount val="7"/>
                <c:pt idx="0">
                  <c:v>Java (main)</c:v>
                </c:pt>
                <c:pt idx="1">
                  <c:v>Java (tests)</c:v>
                </c:pt>
                <c:pt idx="2">
                  <c:v>Python</c:v>
                </c:pt>
                <c:pt idx="3">
                  <c:v>Markdown docs</c:v>
                </c:pt>
                <c:pt idx="4">
                  <c:v>YAML</c:v>
                </c:pt>
                <c:pt idx="5">
                  <c:v>JavaScript</c:v>
                </c:pt>
                <c:pt idx="6">
                  <c:v>CSS + HTML</c:v>
                </c:pt>
              </c:strCache>
            </c:strRef>
          </c:cat>
          <c:val>
            <c:numRef>
              <c:f>Sheet1!$B$2:$B$8</c:f>
              <c:numCache>
                <c:formatCode>General</c:formatCode>
                <c:ptCount val="7"/>
                <c:pt idx="0">
                  <c:v>292062</c:v>
                </c:pt>
                <c:pt idx="1">
                  <c:v>110795</c:v>
                </c:pt>
                <c:pt idx="2">
                  <c:v>182877</c:v>
                </c:pt>
                <c:pt idx="3">
                  <c:v>168721</c:v>
                </c:pt>
                <c:pt idx="4">
                  <c:v>107671</c:v>
                </c:pt>
                <c:pt idx="5">
                  <c:v>51528</c:v>
                </c:pt>
                <c:pt idx="6">
                  <c:v>20252</c:v>
                </c:pt>
              </c:numCache>
            </c:numRef>
          </c:val>
        </c:ser>
        <c:dLbls>
          <c:numFmt formatCode="#,##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4A5058"/>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Before (library engine)</c:v>
                </c:pt>
              </c:strCache>
            </c:strRef>
          </c:tx>
          <c:spPr>
            <a:solidFill>
              <a:srgbClr val="B9AFA5"/>
            </a:solidFill>
          </c:spPr>
          <c:cat>
            <c:strRef>
              <c:f>Sheet1!$A$2:$A$3</c:f>
              <c:strCache>
                <c:ptCount val="2"/>
                <c:pt idx="0">
                  <c:v>Connector start</c:v>
                </c:pt>
                <c:pt idx="1">
                  <c:v>A trade on a past day</c:v>
                </c:pt>
              </c:strCache>
            </c:strRef>
          </c:cat>
          <c:val>
            <c:numRef>
              <c:f>Sheet1!$B$2:$B$3</c:f>
              <c:numCache>
                <c:formatCode>General</c:formatCode>
                <c:ptCount val="2"/>
                <c:pt idx="0">
                  <c:v>1800</c:v>
                </c:pt>
                <c:pt idx="1">
                  <c:v>353</c:v>
                </c:pt>
              </c:numCache>
            </c:numRef>
          </c:val>
        </c:ser>
        <c:ser>
          <c:idx val="1"/>
          <c:order val="1"/>
          <c:tx>
            <c:strRef>
              <c:f>Sheet1!$C$1</c:f>
              <c:strCache>
                <c:ptCount val="1"/>
                <c:pt idx="0">
                  <c:v>drishti-iceberg</c:v>
                </c:pt>
              </c:strCache>
            </c:strRef>
          </c:tx>
          <c:spPr>
            <a:solidFill>
              <a:srgbClr val="8A1626"/>
            </a:solidFill>
          </c:spPr>
          <c:cat>
            <c:strRef>
              <c:f>Sheet1!$A$2:$A$3</c:f>
              <c:strCache>
                <c:ptCount val="2"/>
                <c:pt idx="0">
                  <c:v>Connector start</c:v>
                </c:pt>
                <c:pt idx="1">
                  <c:v>A trade on a past day</c:v>
                </c:pt>
              </c:strCache>
            </c:strRef>
          </c:cat>
          <c:val>
            <c:numRef>
              <c:f>Sheet1!$C$2:$C$3</c:f>
              <c:numCache>
                <c:formatCode>General</c:formatCode>
                <c:ptCount val="2"/>
                <c:pt idx="0">
                  <c:v>637</c:v>
                </c:pt>
                <c:pt idx="1">
                  <c:v>94</c:v>
                </c:pt>
              </c:numCache>
            </c:numRef>
          </c:val>
        </c:ser>
        <c:dLbls>
          <c:numFmt formatCode="#,##0&quot; ms&quot;" sourceLinked="0"/>
          <c:txPr>
            <a:bodyPr/>
            <a:lstStyle/>
            <a:p>
              <a:pPr>
                <a:defRPr sz="1100" b="1">
                  <a:solidFill>
                    <a:srgbClr val="8A1626"/>
                  </a:solidFill>
                </a:defRPr>
              </a:pPr>
            </a:p>
          </c:txPr>
          <c:dLblPos val="outEnd"/>
          <c:showLegendKey val="0"/>
          <c:showVal val="1"/>
          <c:showCatName val="0"/>
          <c:showSerName val="0"/>
          <c:showPercent val="0"/>
          <c:showBubbleSize val="0"/>
          <c:showLeaderLines val="1"/>
        </c:dLbls>
        <c:gapWidth val="55"/>
        <c:overlap val="-10"/>
        <c:axId val="-2068027336"/>
        <c:axId val="-2113994440"/>
      </c:barChart>
      <c:catAx>
        <c:axId val="-2068027336"/>
        <c:scaling>
          <c:orientation val="maxMin"/>
        </c:scaling>
        <c:delete val="0"/>
        <c:axPos val="l"/>
        <c:majorTickMark val="out"/>
        <c:minorTickMark val="none"/>
        <c:tickLblPos val="nextTo"/>
        <c:spPr>
          <a:ln>
            <a:solidFill>
              <a:srgbClr val="E3DED7"/>
            </a:solidFill>
          </a:ln>
        </c:spPr>
        <c:txPr>
          <a:bodyPr/>
          <a:lstStyle/>
          <a:p>
            <a:pPr>
              <a:defRPr sz="1100">
                <a:solidFill>
                  <a:srgbClr val="4A5058"/>
                </a:solidFill>
              </a:defRPr>
            </a:pPr>
          </a:p>
        </c:txPr>
        <c:crossAx val="-2113994440"/>
        <c:crosses val="autoZero"/>
        <c:auto val="1"/>
        <c:lblAlgn val="ctr"/>
        <c:lblOffset val="100"/>
        <c:noMultiLvlLbl val="0"/>
      </c:catAx>
      <c:valAx>
        <c:axId val="-2113994440"/>
        <c:scaling>
          <c:max val="2300.0"/>
          <c:min val="0.0"/>
        </c:scaling>
        <c:delete/>
        <c:axPos val="b"/>
        <c:majorTickMark val="out"/>
        <c:minorTickMark val="none"/>
        <c:tickLblPos val="nextTo"/>
        <c:crossAx val="-2068027336"/>
        <c:crosses val="autoZero"/>
      </c:valAx>
    </c:plotArea>
    <c:legend>
      <c:legendPos val="b"/>
      <c:overlay val="0"/>
      <c:txPr>
        <a:bodyPr/>
        <a:lstStyle/>
        <a:p>
          <a:pPr>
            <a:defRPr sz="1100">
              <a:solidFill>
                <a:srgbClr val="4A5058"/>
              </a:solidFill>
            </a:defRPr>
          </a:pPr>
        </a:p>
      </c:txPr>
    </c:legend>
    <c:dispBlanksAs val="gap"/>
  </c:chart>
  <c:txPr>
    <a:bodyPr/>
    <a:lstStyle/>
    <a:p>
      <a:pPr>
        <a:defRPr sz="11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Wikidata members (before)</c:v>
                </c:pt>
              </c:strCache>
            </c:strRef>
          </c:tx>
          <c:spPr>
            <a:solidFill>
              <a:srgbClr val="B9AFA5"/>
            </a:solidFill>
          </c:spPr>
          <c:cat>
            <c:strRef>
              <c:f>Sheet1!$A$2:$A$3</c:f>
              <c:strCache>
                <c:ptCount val="2"/>
                <c:pt idx="0">
                  <c:v>DIA vs the Dow</c:v>
                </c:pt>
                <c:pt idx="1">
                  <c:v>QQQ vs Nasdaq-100</c:v>
                </c:pt>
              </c:strCache>
            </c:strRef>
          </c:cat>
          <c:val>
            <c:numRef>
              <c:f>Sheet1!$B$2:$B$3</c:f>
              <c:numCache>
                <c:formatCode>General</c:formatCode>
                <c:ptCount val="2"/>
                <c:pt idx="0">
                  <c:v>57.6</c:v>
                </c:pt>
                <c:pt idx="1">
                  <c:v>26.75</c:v>
                </c:pt>
              </c:numCache>
            </c:numRef>
          </c:val>
        </c:ser>
        <c:ser>
          <c:idx val="1"/>
          <c:order val="1"/>
          <c:tx>
            <c:strRef>
              <c:f>Sheet1!$C$1</c:f>
              <c:strCache>
                <c:ptCount val="1"/>
                <c:pt idx="0">
                  <c:v>Members from the ETFs' SEC holdings</c:v>
                </c:pt>
              </c:strCache>
            </c:strRef>
          </c:tx>
          <c:spPr>
            <a:solidFill>
              <a:srgbClr val="8A1626"/>
            </a:solidFill>
          </c:spPr>
          <c:cat>
            <c:strRef>
              <c:f>Sheet1!$A$2:$A$3</c:f>
              <c:strCache>
                <c:ptCount val="2"/>
                <c:pt idx="0">
                  <c:v>DIA vs the Dow</c:v>
                </c:pt>
                <c:pt idx="1">
                  <c:v>QQQ vs Nasdaq-100</c:v>
                </c:pt>
              </c:strCache>
            </c:strRef>
          </c:cat>
          <c:val>
            <c:numRef>
              <c:f>Sheet1!$C$2:$C$3</c:f>
              <c:numCache>
                <c:formatCode>General</c:formatCode>
                <c:ptCount val="2"/>
                <c:pt idx="0">
                  <c:v>1.8</c:v>
                </c:pt>
                <c:pt idx="1">
                  <c:v>11.2</c:v>
                </c:pt>
              </c:numCache>
            </c:numRef>
          </c:val>
        </c:ser>
        <c:dLbls>
          <c:numFmt formatCode="0.0#&quot;%&quot;" sourceLinked="0"/>
          <c:txPr>
            <a:bodyPr/>
            <a:lstStyle/>
            <a:p>
              <a:pPr>
                <a:defRPr sz="1100" b="1">
                  <a:solidFill>
                    <a:srgbClr val="8A1626"/>
                  </a:solidFill>
                </a:defRPr>
              </a:pPr>
            </a:p>
          </c:txPr>
          <c:dLblPos val="outEnd"/>
          <c:showLegendKey val="0"/>
          <c:showVal val="1"/>
          <c:showCatName val="0"/>
          <c:showSerName val="0"/>
          <c:showPercent val="0"/>
          <c:showBubbleSize val="0"/>
          <c:showLeaderLines val="1"/>
        </c:dLbls>
        <c:gapWidth val="55"/>
        <c:overlap val="-10"/>
        <c:axId val="-2068027336"/>
        <c:axId val="-2113994440"/>
      </c:barChart>
      <c:catAx>
        <c:axId val="-2068027336"/>
        <c:scaling>
          <c:orientation val="maxMin"/>
        </c:scaling>
        <c:delete val="0"/>
        <c:axPos val="l"/>
        <c:majorTickMark val="out"/>
        <c:minorTickMark val="none"/>
        <c:tickLblPos val="nextTo"/>
        <c:spPr>
          <a:ln>
            <a:solidFill>
              <a:srgbClr val="E3DED7"/>
            </a:solidFill>
          </a:ln>
        </c:spPr>
        <c:txPr>
          <a:bodyPr/>
          <a:lstStyle/>
          <a:p>
            <a:pPr>
              <a:defRPr sz="1100">
                <a:solidFill>
                  <a:srgbClr val="4A5058"/>
                </a:solidFill>
              </a:defRPr>
            </a:pPr>
          </a:p>
        </c:txPr>
        <c:crossAx val="-2113994440"/>
        <c:crosses val="autoZero"/>
        <c:auto val="1"/>
        <c:lblAlgn val="ctr"/>
        <c:lblOffset val="100"/>
        <c:noMultiLvlLbl val="0"/>
      </c:catAx>
      <c:valAx>
        <c:axId val="-2113994440"/>
        <c:scaling>
          <c:max val="72.0"/>
          <c:min val="0.0"/>
        </c:scaling>
        <c:delete/>
        <c:axPos val="b"/>
        <c:majorTickMark val="out"/>
        <c:minorTickMark val="none"/>
        <c:tickLblPos val="nextTo"/>
        <c:crossAx val="-2068027336"/>
        <c:crosses val="autoZero"/>
      </c:valAx>
    </c:plotArea>
    <c:legend>
      <c:legendPos val="b"/>
      <c:overlay val="0"/>
      <c:txPr>
        <a:bodyPr/>
        <a:lstStyle/>
        <a:p>
          <a:pPr>
            <a:defRPr sz="1100">
              <a:solidFill>
                <a:srgbClr val="4A5058"/>
              </a:solidFill>
            </a:defRPr>
          </a:pPr>
        </a:p>
      </c:txPr>
    </c:legend>
    <c:dispBlanksAs val="gap"/>
  </c:chart>
  <c:txPr>
    <a:bodyPr/>
    <a:lstStyle/>
    <a:p>
      <a:pPr>
        <a:defRPr sz="110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Commands</c:v>
                </c:pt>
              </c:strCache>
            </c:strRef>
          </c:tx>
          <c:spPr>
            <a:solidFill>
              <a:srgbClr val="8A1626"/>
            </a:solidFill>
          </c:spPr>
          <c:cat>
            <c:strRef>
              <c:f>Sheet1!$A$2:$A$5</c:f>
              <c:strCache>
                <c:ptCount val="4"/>
                <c:pt idx="0">
                  <c:v>Fundamental</c:v>
                </c:pt>
                <c:pt idx="1">
                  <c:v>Engine input</c:v>
                </c:pt>
                <c:pt idx="2">
                  <c:v>Drishti's own</c:v>
                </c:pt>
                <c:pt idx="3">
                  <c:v>Computed</c:v>
                </c:pt>
              </c:strCache>
            </c:strRef>
          </c:cat>
          <c:val>
            <c:numRef>
              <c:f>Sheet1!$B$2:$B$5</c:f>
              <c:numCache>
                <c:formatCode>General</c:formatCode>
                <c:ptCount val="4"/>
                <c:pt idx="0">
                  <c:v>73</c:v>
                </c:pt>
                <c:pt idx="1">
                  <c:v>8</c:v>
                </c:pt>
                <c:pt idx="2">
                  <c:v>1</c:v>
                </c:pt>
                <c:pt idx="3">
                  <c:v>18</c:v>
                </c:pt>
              </c:numCache>
            </c:numRef>
          </c:val>
        </c:ser>
        <c:dLbls>
          <c:numFmt formatCode="0" sourceLinked="0"/>
          <c:txPr>
            <a:bodyPr/>
            <a:lstStyle/>
            <a:p>
              <a:pPr>
                <a:defRPr sz="1100" b="1">
                  <a:solidFill>
                    <a:srgbClr val="8A1626"/>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E3DED7"/>
            </a:solidFill>
          </a:ln>
        </c:spPr>
        <c:txPr>
          <a:bodyPr/>
          <a:lstStyle/>
          <a:p>
            <a:pPr>
              <a:defRPr sz="1100">
                <a:solidFill>
                  <a:srgbClr val="4A5058"/>
                </a:solidFill>
              </a:defRPr>
            </a:pPr>
          </a:p>
        </c:txPr>
        <c:crossAx val="-2113994440"/>
        <c:crosses val="autoZero"/>
        <c:auto val="1"/>
        <c:lblAlgn val="ctr"/>
        <c:lblOffset val="100"/>
        <c:noMultiLvlLbl val="0"/>
      </c:catAx>
      <c:valAx>
        <c:axId val="-2113994440"/>
        <c:scaling>
          <c:max val="88.0"/>
          <c:min val="0.0"/>
        </c:scaling>
        <c:delete/>
        <c:axPos val="b"/>
        <c:majorTickMark val="out"/>
        <c:minorTickMark val="none"/>
        <c:tickLblPos val="nextTo"/>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EUR m</c:v>
                </c:pt>
              </c:strCache>
            </c:strRef>
          </c:tx>
          <c:spPr>
            <a:solidFill>
              <a:srgbClr val="8A1626"/>
            </a:solidFill>
          </c:spPr>
          <c:cat>
            <c:strRef>
              <c:f>Sheet1!$A$2:$A$3</c:f>
              <c:strCache>
                <c:ptCount val="2"/>
                <c:pt idx="0">
                  <c:v>Scenario FX</c:v>
                </c:pt>
                <c:pt idx="1">
                  <c:v>USD × today</c:v>
                </c:pt>
              </c:strCache>
            </c:strRef>
          </c:cat>
          <c:val>
            <c:numRef>
              <c:f>Sheet1!$B$2:$B$3</c:f>
              <c:numCache>
                <c:formatCode>General</c:formatCode>
                <c:ptCount val="2"/>
                <c:pt idx="0">
                  <c:v>111.84</c:v>
                </c:pt>
                <c:pt idx="1">
                  <c:v>95.4</c:v>
                </c:pt>
              </c:numCache>
            </c:numRef>
          </c:val>
        </c:ser>
        <c:dLbls>
          <c:numFmt formatCode="0.0" sourceLinked="0"/>
          <c:txPr>
            <a:bodyPr/>
            <a:lstStyle/>
            <a:p>
              <a:pPr>
                <a:defRPr sz="1100" b="1">
                  <a:solidFill>
                    <a:srgbClr val="8A1626"/>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out"/>
        <c:minorTickMark val="none"/>
        <c:tickLblPos val="nextTo"/>
        <c:spPr>
          <a:ln>
            <a:solidFill>
              <a:srgbClr val="E3DED7"/>
            </a:solidFill>
          </a:ln>
        </c:spPr>
        <c:txPr>
          <a:bodyPr/>
          <a:lstStyle/>
          <a:p>
            <a:pPr>
              <a:defRPr sz="1050">
                <a:solidFill>
                  <a:srgbClr val="4A5058"/>
                </a:solidFill>
              </a:defRPr>
            </a:pPr>
          </a:p>
        </c:txPr>
        <c:crossAx val="-2113994440"/>
        <c:crosses val="autoZero"/>
        <c:auto val="1"/>
        <c:lblAlgn val="ctr"/>
        <c:lblOffset val="100"/>
        <c:noMultiLvlLbl val="0"/>
      </c:catAx>
      <c:valAx>
        <c:axId val="-2113994440"/>
        <c:scaling>
          <c:max val="150.0"/>
          <c:min val="0.0"/>
        </c:scaling>
        <c:delete/>
        <c:axPos val="b"/>
        <c:majorTickMark val="out"/>
        <c:minorTickMark val="none"/>
        <c:tickLblPos val="nextTo"/>
        <c:crossAx val="-2068027336"/>
        <c:crosses val="autoZero"/>
      </c:valAx>
    </c:plotArea>
    <c:dispBlanksAs val="gap"/>
  </c:chart>
  <c:txPr>
    <a:bodyPr/>
    <a:lstStyle/>
    <a:p>
      <a:pPr>
        <a:defRPr sz="1050">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Type-ahead TRD CLY-400</c:v>
                </c:pt>
              </c:strCache>
            </c:strRef>
          </c:tx>
          <c:spPr>
            <a:solidFill>
              <a:srgbClr val="8A1626"/>
            </a:solidFill>
          </c:spPr>
          <c:cat>
            <c:strRef>
              <c:f>Sheet1!$A$2:$A$9</c:f>
              <c:strCache>
                <c:ptCount val="8"/>
                <c:pt idx="0">
                  <c:v>Delta Lake</c:v>
                </c:pt>
                <c:pt idx="1">
                  <c:v>PostgreSQL</c:v>
                </c:pt>
                <c:pt idx="2">
                  <c:v>DuckDB</c:v>
                </c:pt>
                <c:pt idx="3">
                  <c:v>JSON-lines files</c:v>
                </c:pt>
                <c:pt idx="4">
                  <c:v>MongoDB</c:v>
                </c:pt>
                <c:pt idx="5">
                  <c:v>Redis</c:v>
                </c:pt>
                <c:pt idx="6">
                  <c:v>Aerospike</c:v>
                </c:pt>
                <c:pt idx="7">
                  <c:v>Apache Iceberg</c:v>
                </c:pt>
              </c:strCache>
            </c:strRef>
          </c:cat>
          <c:val>
            <c:numRef>
              <c:f>Sheet1!$B$2:$B$9</c:f>
              <c:numCache>
                <c:formatCode>General</c:formatCode>
                <c:ptCount val="8"/>
                <c:pt idx="0">
                  <c:v>6.3</c:v>
                </c:pt>
                <c:pt idx="1">
                  <c:v>9.0</c:v>
                </c:pt>
                <c:pt idx="2">
                  <c:v>8.0</c:v>
                </c:pt>
                <c:pt idx="3">
                  <c:v>7.8</c:v>
                </c:pt>
                <c:pt idx="4">
                  <c:v>6.9</c:v>
                </c:pt>
                <c:pt idx="5">
                  <c:v>10.4</c:v>
                </c:pt>
                <c:pt idx="6">
                  <c:v>8.9</c:v>
                </c:pt>
                <c:pt idx="7">
                  <c:v>7.3</c:v>
                </c:pt>
              </c:numCache>
            </c:numRef>
          </c:val>
        </c:ser>
        <c:ser>
          <c:idx val="1"/>
          <c:order val="1"/>
          <c:tx>
            <c:strRef>
              <c:f>Sheet1!$C$1</c:f>
              <c:strCache>
                <c:ptCount val="1"/>
                <c:pt idx="0">
                  <c:v>Open a trade again</c:v>
                </c:pt>
              </c:strCache>
            </c:strRef>
          </c:tx>
          <c:spPr>
            <a:solidFill>
              <a:srgbClr val="C4384B"/>
            </a:solidFill>
          </c:spPr>
          <c:cat>
            <c:strRef>
              <c:f>Sheet1!$A$2:$A$9</c:f>
              <c:strCache>
                <c:ptCount val="8"/>
                <c:pt idx="0">
                  <c:v>Delta Lake</c:v>
                </c:pt>
                <c:pt idx="1">
                  <c:v>PostgreSQL</c:v>
                </c:pt>
                <c:pt idx="2">
                  <c:v>DuckDB</c:v>
                </c:pt>
                <c:pt idx="3">
                  <c:v>JSON-lines files</c:v>
                </c:pt>
                <c:pt idx="4">
                  <c:v>MongoDB</c:v>
                </c:pt>
                <c:pt idx="5">
                  <c:v>Redis</c:v>
                </c:pt>
                <c:pt idx="6">
                  <c:v>Aerospike</c:v>
                </c:pt>
                <c:pt idx="7">
                  <c:v>Apache Iceberg</c:v>
                </c:pt>
              </c:strCache>
            </c:strRef>
          </c:cat>
          <c:val>
            <c:numRef>
              <c:f>Sheet1!$C$2:$C$9</c:f>
              <c:numCache>
                <c:formatCode>General</c:formatCode>
                <c:ptCount val="8"/>
                <c:pt idx="0">
                  <c:v>2.6</c:v>
                </c:pt>
                <c:pt idx="1">
                  <c:v>4.8</c:v>
                </c:pt>
                <c:pt idx="2">
                  <c:v>2.8</c:v>
                </c:pt>
                <c:pt idx="3">
                  <c:v>4.0</c:v>
                </c:pt>
                <c:pt idx="4">
                  <c:v>4.5</c:v>
                </c:pt>
                <c:pt idx="5">
                  <c:v>5.8</c:v>
                </c:pt>
                <c:pt idx="6">
                  <c:v>4.8</c:v>
                </c:pt>
                <c:pt idx="7">
                  <c:v>4.3</c:v>
                </c:pt>
              </c:numCache>
            </c:numRef>
          </c:val>
        </c:ser>
        <c:ser>
          <c:idx val="2"/>
          <c:order val="2"/>
          <c:tx>
            <c:strRef>
              <c:f>Sheet1!$D$1</c:f>
              <c:strCache>
                <c:ptCount val="1"/>
                <c:pt idx="0">
                  <c:v>TRD book=BOOK-RATES-3</c:v>
                </c:pt>
              </c:strCache>
            </c:strRef>
          </c:tx>
          <c:spPr>
            <a:solidFill>
              <a:srgbClr val="B9AFA5"/>
            </a:solidFill>
          </c:spPr>
          <c:cat>
            <c:strRef>
              <c:f>Sheet1!$A$2:$A$9</c:f>
              <c:strCache>
                <c:ptCount val="8"/>
                <c:pt idx="0">
                  <c:v>Delta Lake</c:v>
                </c:pt>
                <c:pt idx="1">
                  <c:v>PostgreSQL</c:v>
                </c:pt>
                <c:pt idx="2">
                  <c:v>DuckDB</c:v>
                </c:pt>
                <c:pt idx="3">
                  <c:v>JSON-lines files</c:v>
                </c:pt>
                <c:pt idx="4">
                  <c:v>MongoDB</c:v>
                </c:pt>
                <c:pt idx="5">
                  <c:v>Redis</c:v>
                </c:pt>
                <c:pt idx="6">
                  <c:v>Aerospike</c:v>
                </c:pt>
                <c:pt idx="7">
                  <c:v>Apache Iceberg</c:v>
                </c:pt>
              </c:strCache>
            </c:strRef>
          </c:cat>
          <c:val>
            <c:numRef>
              <c:f>Sheet1!$D$2:$D$9</c:f>
              <c:numCache>
                <c:formatCode>General</c:formatCode>
                <c:ptCount val="8"/>
                <c:pt idx="0">
                  <c:v>7.2</c:v>
                </c:pt>
                <c:pt idx="1">
                  <c:v>6.9</c:v>
                </c:pt>
                <c:pt idx="2">
                  <c:v>8.0</c:v>
                </c:pt>
                <c:pt idx="3">
                  <c:v>7.7</c:v>
                </c:pt>
                <c:pt idx="4">
                  <c:v>9.4</c:v>
                </c:pt>
                <c:pt idx="5">
                  <c:v>8.4</c:v>
                </c:pt>
                <c:pt idx="6">
                  <c:v>8.1</c:v>
                </c:pt>
                <c:pt idx="7">
                  <c:v>6.6</c:v>
                </c:pt>
              </c:numCache>
            </c:numRef>
          </c:val>
        </c:ser>
        <c:dLbls>
          <c:numFmt formatCode="0.0" sourceLinked="0"/>
          <c:txPr>
            <a:bodyPr/>
            <a:lstStyle/>
            <a:p>
              <a:pPr>
                <a:defRPr sz="900">
                  <a:solidFill>
                    <a:srgbClr val="4A5058"/>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E3DED7"/>
            </a:solidFill>
          </a:ln>
        </c:spPr>
        <c:txPr>
          <a:bodyPr/>
          <a:lstStyle/>
          <a:p>
            <a:pPr>
              <a:defRPr sz="1000">
                <a:solidFill>
                  <a:srgbClr val="4A5058"/>
                </a:solidFill>
              </a:defRPr>
            </a:pPr>
          </a:p>
        </c:txPr>
        <c:crossAx val="-2113994440"/>
        <c:crosses val="autoZero"/>
        <c:auto val="1"/>
        <c:lblAlgn val="ctr"/>
        <c:lblOffset val="100"/>
        <c:noMultiLvlLbl val="0"/>
      </c:catAx>
      <c:valAx>
        <c:axId val="-2113994440"/>
        <c:scaling>
          <c:max val="12.0"/>
        </c:scaling>
        <c:delete val="0"/>
        <c:axPos val="l"/>
        <c:majorGridlines>
          <c:spPr>
            <a:ln>
              <a:solidFill>
                <a:srgbClr val="E3DED7"/>
              </a:solidFill>
            </a:ln>
          </c:spPr>
        </c:majorGridlines>
        <c:majorTickMark val="out"/>
        <c:minorTickMark val="none"/>
        <c:tickLblPos val="nextTo"/>
        <c:spPr>
          <a:ln>
            <a:noFill/>
          </a:ln>
        </c:spPr>
        <c:txPr>
          <a:bodyPr/>
          <a:lstStyle/>
          <a:p>
            <a:pPr>
              <a:defRPr sz="1000">
                <a:solidFill>
                  <a:srgbClr val="4A5058"/>
                </a:solidFill>
              </a:defRPr>
            </a:pPr>
          </a:p>
        </c:txPr>
        <c:crossAx val="-2068027336"/>
        <c:crosses val="autoZero"/>
      </c:valAx>
    </c:plotArea>
    <c:legend>
      <c:legendPos val="t"/>
      <c:overlay val="0"/>
      <c:txPr>
        <a:bodyPr/>
        <a:lstStyle/>
        <a:p>
          <a:pPr>
            <a:defRPr sz="1100">
              <a:solidFill>
                <a:srgbClr val="4A5058"/>
              </a:solidFill>
            </a:defRPr>
          </a:pPr>
        </a:p>
      </c:txPr>
    </c:legend>
    <c:dispBlanksAs val="gap"/>
  </c:chart>
  <c:txPr>
    <a:bodyPr/>
    <a:lstStyle/>
    <a:p>
      <a:pPr>
        <a:defRPr sz="11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README.md (the name, 'sight', the tagline 'Any data. Any domain. One grammar.'); CHANGELOG.md and RELEASE_NOTES.md on the branch release-2.9.4 (2.6.5 to 2.9.4) and CHANGELOG.md 2.9.5 on develop; pom.xml (Java 21 bytecode, enforcer).</a:t>
            </a:r>
          </a:p>
          <a:p/>
          <a:p>
            <a:r>
              <a:t>Talk track: Drishti is Sanskrit for sight. This edition brings the deck from release 2.6.0 (20 October 2026) to release 2.9.5 (28 October 2026): ten releases in eight days. Everything up to 2.9.5 is built; the only designs are cluster scale-out and VaR sharding across Drishti servers (2.9.6). Every number in the deck is measured, counted from the repository, or quoted from the CHANGELOG and the guides, with the source in these notes.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README.md; RELEASE_NOTES.md 2.6.5 to 2.9.3 and CHANGELOG.md 2.9.4 (release-2.9.4); counts from git ls-tree of release-2.9.4 on 27 October 2026 (11 pack.yaml files under config/packs, 219 *.sutra.yaml, 19 plugins/*/pom.xml, 28 numbered tutorials); docs/guides/COMMAND_CATALOG.md on develop ('the 103 mnemonics', a contract each; VLIM var-limit is new in 2.9.5); the Java test methods counted by git grep on develop (bfc517a96, 2026-10-28): 3,266 @Test and 46 @ParameterizedTest; the last full ./mvnw clean verify in hand is 2.9.4's of 2026-10-27 (4,761 tests run, 0 failures, 15 skipped); docs/admin/PERFORMANCE.md (35.7 million trades, 50 users); VaR facts from docs/guides/VAR_GUIDE.md (2.9.4) and the VaR deck docs/publications/Drishti-VaR-Engine.pptx; docs/architecture/IMPLEMENTATION_PLAN.md (the computed-measures roadmap: 2.10.0 counterparty risk, 2.11.0 balance sheet and regulatory, 2.12.0 AI and generated UI 'parked until 2.11.0 is done'; VAR_GUIDE section 28: sharding across Drishti*net, designed, for 2.9.6); CHANGELOG.md 2.9.5 (hierarchies configured by columns and the limit letters; Iceberg as a full alternative to Delta for VaR, intraday and exposure, equal to the cent; official results to Delta or Iceberg, a folder or S3; airtight connector upgrades).</a:t>
            </a:r>
          </a:p>
          <a:p/>
          <a:p>
            <a:r>
              <a:t>Talk track: if you remember one slide, make it this one. Since the last edition the product grew a risk engine: VaR (2.8.0) and exposure (2.9.0) are computed on demand for any set of trades and never stored, every command gained a data contract, and 2.9.4 takes scenario PVs in any currency, in any input contract, intraday from files and Kafka; 2.9.5 adds any hierarchy built from the trades' columns (the limit letters) and Iceberg as a full alternative to Delta.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view once, in a grammar. Let the data's shape fill the rest.</a:t>
            </a:r>
          </a:p>
          <a:p/>
          <a:p>
            <a:r>
              <a:t>Source: drishti-console/web/templates/landing.html ('A screen is a paragraph, not a project'); ARCHITECTURE.md §1.</a:t>
            </a:r>
          </a:p>
          <a:p/>
          <a:p>
            <a:r>
              <a:t>Talk track: Before the product, the idea: screens as data, not code.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README.md first line; ARCHITECTURE.md §1 and §1.1 goals; landing.html.
Talk track: Define the words once. One entity, one dense screen, live, linked and explained. Read-only by design: trade capture and pricing are non-goals.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ARCHITECTURE.md §1 'Problem and intent'; drishti-console/config/competitive.yaml (rows any-entity, no-coded-screens, inference).
Talk track: These are the problem statements from the architecture and the competitive analysis in the repository, not invented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ARCHITECTURE.md §1 ('A screen is not code'); HOW_IT_FITS.md §1; competitive.yaml.
Talk track: Top row is the world today: each product type waits for a developer. Bottom row is Drishti: a Sutra is a paragraph of YAML, and inference covers what nobody has described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ARCHITECTURE.md §1.1 Goals G1–G6; README 'Contributing rules'.
Talk track: These six are the acceptance test for every feature. Keyboard first is literal: mnemonic, id, GO, as on a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drishti-console/config/competitive.yaml (as of September 2026; categories, not vendors), served at /about/competitive.
Talk track: Four families put entities on a screen. The pattern on the last line is the whole argument for Drishti.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README.md; RACHANA_REFERENCE.md; PANELS.md ('every panel is one of twenty-two kinds'); INFERENCE.md; ADR-004; LIVE.md; config/ui-kit/ (2.7.0: reusable fragments such as row-picker@1 and field-list@1, theme tokens and brand); counts from git ls-tree of release-2.9.4 on 27 October 2026: 11 packs (compute-demo, core, counterparty-risk, funds, gleif, market-data, market-risk, news-and-markets, trading, us-equities, world-economy), 219 *.sutra.yaml files.</a:t>
            </a:r>
          </a:p>
          <a:p/>
          <a:p>
            <a:r>
              <a:t>Talk track: everything else in the product is built from these eight words. 2.7.0 added the UI kit: a Sutra's panels are now mostly fragments with a docstring, each proven to draw the same as before.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README.md 'How it is built'; pom.xml modules (20 drishti-* modules on release-2.9.4, among them drishti-compute for the VaR and exposure engines, drishti-net, drishti-deltalake, drishti-iceberg); ARCHITECTURE.md §2, §13 and §13a; NET.md; RELEASE_NOTES 2.6.7 (gossip on its own port, HTTP/2 between servers); 2.7.0 and 2.9.2 (public-data packs: SEC EDGAR, GLEIF, N-PORT); 2.8.0 (Admin → Commands); CHANGELOG 2.9.4 (CSV input deprecated, drishti.py convert); tools/drishti.py --help (22 groups).</a:t>
            </a:r>
          </a:p>
          <a:p/>
          <a:p>
            <a:r>
              <a:t>Talk track: modules depend one way only, and an architecture test enforces it (ArchitectureRulesTest, 10 rules). The plugin interface is Spring-free so connectors stay small. The compute module holds the risk engines: VaR and exposure read vectors and paths from the lake and answer any scope in milliseconds.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landing.html (pipeline stages); HOW_IT_FITS.md §1; docs/admin/PERFORMANCE.md (warm view p99 3.0 ms over HTTP, gate p99 &lt; 50 ms).
Talk track: Read left to right. The layout is cached by the shape's fingerprint, so a warm view costs well under a millisecond of server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config/packs/trading/sutras/murex/irs-fixfloat.v1.sutra.yaml on release-2.9.4 (60 lines; doc: block since 2.7.0; panels trading/deal-ticket@1, trading/legs@1, trading/flow-schedule@1, trading/events@1, trading/payments@1, data-provenance@1, risk-links@1, linked-entities@1); git grep: 132 files under config/packs name deal-ticket@1; SUTRA_NEXT.md and SUTRA_DEVELOPER_GUIDE.md (fragments and docstrings, 2.7.0); RACHANA_REFERENCE.md; ADR-013.</a:t>
            </a:r>
          </a:p>
          <a:p/>
          <a:p>
            <a:r>
              <a:t>Talk track: this is the real file, trimmed. When it applies, what the title says, the strip and the panels, which are now fragments: the pack's own (trading/deal-ticket@1) and the UI kit's (data-provenance@1, risk-links@1, which links the trade to its P&amp;L vector, VaR and exposure). Everything it does not mention, inference lays out.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docs/architecture/LIVE.md (live path); docs/admin/PERFORMANCE.md (tick to frame p50 2.4 ms, p99 11.2 ms, gate 40 ms).
Talk track: A source change fans out through one topic per entity; each open view rebuilds with its cached layout, and only the difference is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ARCHITECTURE.md §1; competitive.yaml; PANELS.md; README.
Talk track: Five benefits, each tied to something built and shown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Built, measured and documented — every screen here is a real capture.</a:t>
            </a:r>
          </a:p>
          <a:p/>
          <a:p>
            <a:r>
              <a:t>Source: RELEASE_NOTES.md; CHANGELOG.md 2.9.4; USER_GUIDE.md 'The pages at a glance'.</a:t>
            </a:r>
          </a:p>
          <a:p/>
          <a:p>
            <a:r>
              <a:t>Talk track: the product page by page as it stands at 2.9.4. The pages first shown in the 2.6 edition are kept here; what 2.6.5 to 2.9.4 added has its own chapter next.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counts from git ls-tree of release-2.9.4, 27 October 2026 (11 packs, 219 Sutra files, 19 plugins/*/pom.xml); docs/guides/COMMAND_CATALOG.md (generated: 'the 11 packs' codes, and the 100 mnemonics the packs define'; 100 *.contract.yaml files); PANELS.md (22 kinds); RELEASE_NOTES 2.6.5 to 2.9.3, CHANGELOG 2.9.4.</a:t>
            </a:r>
          </a:p>
          <a:p/>
          <a:p>
            <a:r>
              <a:t>Talk track: the four tiles are counted, not estimated. The fourth slot used to be panel kinds (still 22); it is now the command count, because since 2.8.0 every command is a documented contract.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docs/tutorials/img/t01/04-trade.jpg (TRD MX-20000001 on the demo lakes, 2.4.0); USER_GUIDE 'A deep trade'.
Talk track: Headline strip, then panels by F-key: the deal ticket, legs, the cash-flow schedule, events and netted payments. Since 2.3.0 a trade is static and its valuations tick (TVAL); the footer lists every panel's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docs/architecture/CONTEXT_HELP.md; USER_GUIDE 'About this page'; capture docs/guides/img/about/01-var-drawer.jpg.
Talk track: Press ? on any view. The drawer reads the same trace the server used to build the page, so it cannot drift from what you see. Ask, the optional language-model answer, is off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docs/guides/BUILD_WORKBENCH_TUTORIAL.md; SCREEN_DESIGNER.md; capture designer/02-workbench.jpg.
Talk track: The workbench writes the Sutra for you. Every design has tests, versions and a rebase; publishing needs a second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USER_GUIDE search, plain words and pivot; QUERY_BY_FORM.md; capture docs/tutorials/img/t01/06-search.jpg; PERFORMANCE.md (1M trades/day: 134 ms search, 29 ms type-ahead; 35.7 million trades: form search p50 0.21 s).
Talk track: The plain-words parser is deterministic: no AI service is involved. Searches across a million trades a day come back in about a seventh of a second; a form search over 35.7 million trades in about a fifth.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docs/architecture/COLLABORATION.md; captures collab/01-share-dialog.jpg and collab/07-discussion-author.jpg.
Talk track: A share reopens the view as the sender saw it, pinned to that data generation. Emails and chat bridges carry values, masked for each recipient.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docs/guides/DATA_LOADS.md; CHANGELOG 1.18.0; capture loads/01-data-loads-history.jpg.
Talk track: Drishti does not ingest data; your ETL does. One call says a batch landed, and Drishti refreshes, verifies, evaluates alerts and tells people. Expectations flag late or missing data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docs/guides/CLI_GUIDE.md 'Quickest path: pack make'; OPERATIONALISING.md; RELEASE_NOTES 1.17.0; ADR-018; capture deploy/02-deploy-preview.jpg.
Talk track: One command makes a deployable folder: pack, Sutras per product type, data laid out by date, a bundle and a README. An admin uploads the bundle and sees a preview of what breaks before deploying.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tools/drishti.py --help on release-2.9.4 (22 groups: sutra, pack, data, server, connector, net, design, docs, doctor, bi, history, convert, compute, change, edits, var, exposure, contract, view, lake, testdata, completion); docs/guides/CLI_GUIDE.md; TOOLS.md; CHANGELOG 2.6.5 (history), 2.8.0 (var, contract, change, edits), 2.9.0 (exposure), 2.9.4 (convert, --format jsonl, lake demo --names).</a:t>
            </a:r>
          </a:p>
          <a:p/>
          <a:p>
            <a:r>
              <a:t>Talk track: production runs Java 21 and every build and risk activity is scriptable. Exit codes are a contract: 0 ok, 1 problems found, 2 usage. The fourteen groups of the 2.6 edition are twenty-two now.</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docs/guides/ELEMENTS.md (Elements 1.4.2: view, panel, report, about, search); docs/architecture/ELEMENTS.md; Admin → Embedding.
Talk track: A host page adds one tag, pinned to an exact version with SRI. The console sends HTML over the wire into a Shadow DOM, so styles never leak either way, and one live connection serves every view on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USER_GUIDE 'On a phone'; tests/test_page_widths_browser.py (390 px touch sweep: content, 44 px targets, no clipping); captures about/03-var-phone.jpg, collab/06-shared-phone.jpg, loads/06-phone.jpg, fresh phone-trade.png.
Talk track: Every page is tested at a 390-pixel phone width with touch: real content, finger-sized controls and nothing clipped. A desktop with a mouse keeps its compact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Who you are, what you may see, and what was recorded — kept apart.</a:t>
            </a:r>
          </a:p>
          <a:p/>
          <a:p>
            <a:r>
              <a:t>Source: docs/admin/USER_MANAGEMENT.md; OPERATIONS.md §8; ELEMENTS.md §8.</a:t>
            </a:r>
          </a:p>
          <a:p/>
          <a:p>
            <a:r>
              <a:t>Talk track: Security as flows, not as a feature list.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USER_MANAGEMENT.md §2, §5, §6; OPERATIONS.md §8.
Talk track: The rule: every value that leaves the server is checked against the reader's roles at the moment it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USER_MANAGEMENT.md §5–6; OPERATIONS.md §8.4 (CSRF, cookies); ADR-014; NET.md section 7 and NetLastAdminTest (the last-administrator rule repaired across nodes, audited last-admin-kept).
Talk track: The console holds no credential of its own; the server decides, and re-checks every ten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USER_MANAGEMENT.md 'Personal API tokens' (write scopes design:write, design:approve, packs:admin, bi:write, bi:approve, bi:admin, ai:use, ai:admin, loads:write).
Talk track: A token is a person's key for scripts and notebooks. It is read-only unless a write scope is named, and write scopes expire.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ELEMENTS.md §8 and steps 1–3, 7 as built; RFC 8693; DRS-8001 to 8006.
Talk track: No plain user name is ever accepted. The host app authenticates, presents a signed statement of who the user is, and gets a short-lived, origin-bound, read-only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COLLABORATION.md 'Retention, legal hold and export' and 'Tamper evidence'; docs/qa/2026-10-05/BEHAVIOUR.md (8,300-comment export).
Talk track: Collaboration is regulated communication in many firms, so it is built as a record: chained, sealed, held and exportable.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Counted from the repository on 27 and 28 October 2026: measured, tested, reconciled, found and fixed.</a:t>
            </a:r>
          </a:p>
          <a:p/>
          <a:p>
            <a:r>
              <a:t>Source: the commands, files and logs cited on each slide (counts from git ls-tree of release-2.9.4 on 27 October 2026; the error codes, the test counts and the two 2.9.5 evidence slides from develop on 28 October 2026).</a:t>
            </a:r>
          </a:p>
          <a:p/>
          <a:p>
            <a:r>
              <a:t>Talk track: claims are cheap; these are counts, measurements and the places where Drishti's own numbers changed when a stored figure became a computed one.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docs/guides/API_GUIDE.md 'Error code table' on develop (243 distinct DRS codes: 13 in 1xxx, 11 in 2xxx and 3xxx, 18 in 4xxx, 48 in 5xxx, 11 in 6xxx, 16 in 7xxx, 6 in 8xxx, 120 in 9xxx); the drishti-common ErrorCode enum holds the same 243, counted 28 October 2026 (2.9.5 adds DRS-5211 to 5214 for the hierarchies); RACHANA_REFERENCE.md 'Problem codes' (47 codes). The 2.6 edition counted 187 and 42.</a:t>
            </a:r>
          </a:p>
          <a:p/>
          <a:p>
            <a:r>
              <a:t>Talk track: every error is RFC 7807 problem+json with a stable DRS code, and every code has a row that says what it means and what to do. The new families since 2.6 are the risk engines' refusals (DRS-5201 to 5210 for VaR inputs, 5440 to 5446 for exposure) and BI runs. A refusal is never silent: a bad vector is named, never padded with zeros.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git grep on develop at bfc517a96 (2026-10-28, release 2.9.5 before its drill): 3,266 @Test and 46 @ParameterizedTest methods in Java (3,312; a run expands the parameterised cases), 2,220 test functions under drishti-console/tests (640 in *_browser.py), 621 under tools/. No full ./mvnw clean verify of develop was in hand when this edition was built (the main repository is cleaned after each build); the last full run is 2.9.4's of 2026-10-27: 4,761 tests run, 0 failures, 0 errors, 15 skipped, BUILD SUCCESS in 14:24 min. The 2.9.5 tests named on the evidence slides passed in their latest runs (surefire reports of 2026-10-28); guard tests named in CHANGELOG 2.8.0 (test_branding_guard.py, BrandingLiteralTest), 2.9.4 (test_generators_write_jsonl.py, test_exports_offer_jsonl.py) and 2.7.0 (the README standard); tools/pvgen/check.py (recomputes the bank's and desks' VaR and ES from the files and compares with the server, 2.9.4); VAR_GUIDE (intraday equal to one run, VarIntradayTest), DEMO_DATA (the Delta and Iceberg equality test).</a:t>
            </a:r>
          </a:p>
          <a:p/>
          <a:p>
            <a:r>
              <a:t>Talk track: the 2.6 edition counted 4,435 test methods across the three suites; there are now 6,153 (3,312 + 2,220 + 621), and the 2.9.4 Java run alone executed 4,761 tests. The console's browser tests run in Chromium; embedded views in Chromium, Firefox and WebKit.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docs/admin/PERFORMANCE.md (24-core workstation, 2026-09-30 and 10-01: warm view p99 3.0 ms, live p99 11.2 ms; a million trades a day: type-ahead 29 ms, a cached trade 48 ms, search 134 ms, every desk's P&amp;L 327 ms; cold 137–157 ms); RELEASE_NOTES 2.6.5 (history: 30 days of one trade among 10,000 on Delta in 13 ms cold, under 1 ms warm, 0.3 ms from the cache); SCALE_BENCHMARK.md (extrapolations labelled as such).</a:t>
            </a:r>
          </a:p>
          <a:p/>
          <a:p>
            <a:r>
              <a:t>Talk track: all measured on one workstation. History queries were added in 2.6.5 and sit inside the same budget as a warm view.</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docs/qa/2026-10-01/README.md; docs/qa/2026-10-03/README.md; docs/qa/2026-10-05/DATA_SAFETY.md and BEHAVIOUR.md; docs/qa/2026-10-20/QA_PLAN.md (a six-hour, time-boxed run of 2.6.5), QA1/QA2 findings, rounds 2 to 4, SOAK to SOAK4 reports; RELEASE_NOTES 2.6.7 ('2.6.6, the QA release: a six-hour adversarial QA, four rounds and four soaks fixed about 100 findings, among them five P1s: masked values leaking across the history cache through a peer, a signal storm stalling the server, stale pages across console workers, a moved Iceberg table reading as healthy (a Java 25 difference), a rejoining node answering not found'); docs/qa/2026-10-21/BI_RUNS_INTEGRATION.md.</a:t>
            </a:r>
          </a:p>
          <a:p/>
          <a:p>
            <a:r>
              <a:t>Talk track: each round set out to break specific promises. The first soak drove 1,491,085 requests at 207 a second through a three-server cluster with kills and checked 118,166 answers against a reference server: no wrong rows, values or leaked masks; it failed on history answers marked partial, which were fixed and passed in soak 4 (0 wrong of 146,498). The one open item is a memory rise on the busiest soak node (SOAK4-01).</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tools/drill.sh; the drill log of 2.9.2 (2026-10-27 01:20, 'drill: stages (full mode, 4 console workers): licence headers 0s, Java 21 verify 815s, Java 25 | console | tool tests 2082s, total 2897s', drilled 49f3d06b6); git tag --merged release-2.9.4 (42 tags, v1.0.0 to v2.9.3); git rev-list --count release-2.9.4 (2,272 commits, 27 October 2026); pom.xml enforcer (bytecode 21).</a:t>
            </a:r>
          </a:p>
          <a:p/>
          <a:p>
            <a:r>
              <a:t>Talk track: one command verifies and only then pushes. Production runs Java 21; the same commit is also verified on Java 25. A failed test stops the push: the first drill of 2.9.3 failed on one browser test under load and was fixed and drilled again before main moved (the 'Drill fix' commits on 27 October). The 2.6 edition counted 32 releases and 1,421 commits.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lines counted from git archive of release-2.9.4 on 27 October 2026 (Java under src/main and src/test, Python, Markdown, YAML, JavaScript, CSS and HTML; vendored and minified assets and external_lib left out); docs/ Markdown outside qa/ and archive/: 238 files; docs/architecture/adr: 22; docs/tutorials: 28 numbered; pom.xml (20 drishti-* modules); CHANGELOG 2.9.4 (351 pictures under docs/ retaken with tools/docs/screenshots.py); RELEASE_NOTES 2.9.0 (two documents per measure).</a:t>
            </a:r>
          </a:p>
          <a:p/>
          <a:p>
            <a:r>
              <a:t>Talk track: the 2.6 edition counted 201,646 lines of main Java and 162 documents; main Java is now about 292,000 lines and the documents 238. The Java is split into small modules that depend one way.</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VaR scaled out across servers, then the parked measures: counterparty, balance sheet and regulatory, then AI.</a:t>
            </a:r>
          </a:p>
          <a:p/>
          <a:p>
            <a:r>
              <a:t>Source: docs/architecture/IMPLEMENTATION_PLAN.md 'The computed-measures roadmap: 2.8.0 to 2.12.0 (product owner, 2026-10-25)' and 'Known gaps'; VAR_GUIDE.md section 28 (sharding across Drishti*net, planned).</a:t>
            </a:r>
          </a:p>
          <a:p/>
          <a:p>
            <a:r>
              <a:t>Talk track: what is left, in the order the documents give it, and with the labels they use.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docs/architecture/IMPLEMENTATION_PLAN.md on release-2.9.4: the computed-measures roadmap (scope narrowed by the product owner on 2026-10-25: 'Just fundamentals and VaR is good for now'; 2.9.0 exposure brought forward; 2.10.0 counterparty risk; 2.11.0 balance sheet and regulatory: concentration and large exposures, LCR, NSFR, IRRBB, IFRS 9 / CECL; 2.12.0 AI and generated UI 'parked until 2.11.0 is done'); 'Known gaps' (a million trades a day on a real server); VAR_GUIDE.md section 28 ('Sharding across Drishti*net (planned)'); RELEASE_NOTES 2.6.0 (designs: AWS_DEPLOYMENT.md, SUPER_SCALE.md); RELEASE_NOTES 2.9.3 (TESTDATA_FROM_SEEDS_PLAN.md, a plan for review); CHANGELOG.md 2.9.5 (the hierarchies, Iceberg, official results to S3, connector upgrades: built) and the product owner's 2.9.6 scope (10-day and stressed VaR, sharding, editions, the 2.3M benchmark, Delta in-place schema evolution, Delta↔Iceberg conversion, the Glue and S3 Tables runs). Drishti on AWS is no longer only a design: the deploy/aws scripts are built for Delta and Iceberg; what remains is the live Glue and S3 Tables runs.</a:t>
            </a:r>
          </a:p>
          <a:p/>
          <a:p>
            <a:r>
              <a:t>The plan still numbers the trading and market-risk measures 2.9.0; exposure was brought forward into 2.9.0 instead, and the rest is parked.</a:t>
            </a:r>
          </a:p>
          <a:p/>
          <a:p>
            <a:r>
              <a:t>Talk track: the first row is everything since the last edition, all built. The only designs on the VaR side are cluster scale-out and sharding across Drishti servers, planned with 2.9.6. The parked measures keep their contracts as designs (FRTB, SIMM, SA-CCR, CVA, stress, P&amp;L explain in docs/contracts). No dates are given in the documents for the parked items.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docs/guides/GETTING_STARTED.md on release-2.9.4 ('From a clean clone the whole install takes about 15 minutes'; the demo lakes measured for sixty days: 943 s, about 2.2 GB on disk; ./mvnw -q package -DskipTests -pl drishti-server -am; uv venv --python 3.13; java -Djava.io.tmpdir=data/tmp/server -Xmx4g -jar …); IDE_GUIDE.md; CLI_GUIDE.md; USER_GUIDE.md; docs/tutorials (28).</a:t>
            </a:r>
          </a:p>
          <a:p/>
          <a:p>
            <a:r>
              <a:t>Talk track: GETTING_STARTED is the quarter-hour path; tutorial 1 is the first fifteen minutes inside the product; tutorials 25 and 26 walk VaR and exposure from the bank to a trade.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README.md (the tagline); RELEASE_NOTES.md (release 2.9.4).</a:t>
            </a:r>
          </a:p>
          <a:p/>
          <a:p>
            <a:r>
              <a:t>Talk track: questions.</a:t>
            </a:r>
          </a:p>
          <a:p/>
          <a:p>
            <a:r>
              <a:t>Where to read more: README.md; docs/guides/GETTING_STARTED.md; RELEASE_NOTES.md; the VaR engine deck (docs/publications/Drishti-VaR-Engine.pptx) for the VaR engine in depth; VAR_GUIDE.md and EXPOSURE_GUIDE.md; docs/knowledge for the ideas behind the data.</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docs/guides/BI_GUIDE.md; DATASETS.md; EXPRESSIONS.md; SQL.md; BI_DESIGN.md (principles, the one logical plan); CHANGELOG 2.2.0 to 2.4.0.
Talk track: Rūpaka is BI inside Drishti, not beside it: models are rooted in the packs, three languages compile to one plan, and the servers compute every number for the person looking.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docs/guides/BI_GUIDE.md §26; REPORTS.md §5; BOARDS.md; CHANGELOG 2.4.0 (R6, R7, BI Studio); capture docs/guides/img/bistudio/studio.jpg.
Talk track: The report, model and theme designers share one shell, as Power BI's do. A Power BI author built a desk pack in it without the YAML tab: that is the browser test of the wave.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docs/guides/PYTHON_BI.md §17; ANALYSE.md §16; CHANGELOG 2.4.0; capture docs/guides/img/bi-transform/05-browser-console.png.
Talk track: Every BI page computes nothing in the browser. Python data prep runs on the console's sandbox, step by step with a preview; the Python console is the one place your own code runs in the browser, on rows already masked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CHANGELOG.md 2.5.0 (N1 to N7: three servers in one JVM converge 52 ms after the third starts; 13,542 signed calls through a key rotation, none refused); RELEASE_NOTES 2.6.7 (heartbeats on a port of their own, gossip-port, so a busy server is never taken for dead; HTTP/2 between servers, one connection per peer, p99 117 ms against 370 ms on HTTP/1.1, falling back to HTTP/1.1 for an older peer); docs/qa/2026-10-20/SOAK4_REPORT.md (soak 4 of 2.6.6: 0 wrong answers out of 146,498 checked, no 404 DRS-1001 at any time, including the 30 s after each rejoin; its memory check failed on one node, SOAK4-01, still open in 2.6.7's notes); docs/admin/NET.md; DRISHTI_NET.md §19.</a:t>
            </a:r>
          </a:p>
          <a:p/>
          <a:p>
            <a:r>
              <a:t>Talk track: off by default. Switched on, servers gossip over their own port with calls signed by a rotating cluster key. A request goes whole to a node that renders the kind, or the document is fetched from the node that holds it; a search is scattered and merged; the console fails over with no new sign-in. Since 2.6.0 a member advertises only a real address. Honest note: the soak's memory gate failed on the busiest node (+165 MB/h over 73 minutes, not the caches); it is listed as known open.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docs/admin/PERFORMANCE.md (2026-10-18: 35.7 million trades, 50 users, 179 requests/s, heap 3.7 GB of 8 GB; form search p50 5.8 s to 0.21 s; console 182 pages/s; a restated day of 400,000 trades in 2 min 54 s at 202 requests/s); README 'Performance at scale'; SCALE_STRATEGY.md (8.2 million trades).
Talk track: Three source systems, 300,000 to 500,000 trades a day each for 30 days, loaded in random date order while 50 users read. No failures; the slowest figures are single seconds, not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RELEASE_NOTES.md on release-2.9.4 (2.6.5 of 2026-10-20, 2.6.7 of 2026-10-21 carrying 2.6.6, 2.7.0 of 2026-10-24, 2.8.0, 2.9.0, 2.9.1 and 2.9.2 of 2026-10-26, 2.9.3 of 2026-10-27, each ending 'Tested: the drill passed licence headers, Java 21, Java 25, the tools and the console'); CHANGELOG.md section 2.9.4 (released 27 October 2026); the release headings of CHANGELOG.md (each heading is the one-line summary used here); CHANGELOG.md 2.9.5 on develop (built, its drill before main moves).</a:t>
            </a:r>
          </a:p>
          <a:p/>
          <a:p>
            <a:r>
              <a:t>Talk track: the previous edition of this deck was written for 2.6.0 on 20 October. Read the timeline left to right: first the terminal grew (history, runs, a UI kit and a designer), then the data grew (public-data packs with contracts), and from 2.8.0 the risk measures became computations instead of stored numbers. 2.9.4 finishes VaR's input side: any currency, any input contract, intraday; 2.9.5 adds trees built from the trades' columns and Iceberg as a full alternative to Delta. The 2.8.0 scope was narrowed by the product owner to fundamentals and VaR, with exposure brought forward into 2.9.0.</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History, runs and a UI kit; public data with contracts; and risk computed for any scope, in any currency.</a:t>
            </a:r>
          </a:p>
          <a:p/>
          <a:p>
            <a:r>
              <a:t>Source: RELEASE_NOTES.md 2.6.5 to 2.9.3 and CHANGELOG.md 2.9.4 on release-2.9.4; CHANGELOG.md 2.9.5 on develop.</a:t>
            </a:r>
          </a:p>
          <a:p/>
          <a:p>
            <a:r>
              <a:t>Talk track: nineteen slides, in roughly the order the releases shipped them: the terminal, the data, then the risk measures, then the 2.9.4 data standard and configuration. Everything in this chapter is built; the 2.9.5 work (hierarchies by columns, Iceberg equal to Delta, official results to S3, connector upgrades) is shown on the VaR slides here and proven on two evidence slides in chapter 5.</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RELEASE_NOTES.md 2.6.5 ('Fast: 30 days of one trade among 10,000 on Delta in 13 ms cold, under 1 ms warm, 0.3 ms from the cache. Fast paths for Delta, Redis, PostgreSQL, DuckDB, MongoDB, Aerospike, Cassandra and Iceberg; every other connector works through the default'); docs/architecture/HISTORY_QUERIES.md; docs/tutorials/21 and its picture docs/tutorials/img/t21/02-trade-history.jpg (retaken for 2.9.4); USER_GUIDE 'History: an entity over time'.</a:t>
            </a:r>
          </a:p>
          <a:p/>
          <a:p>
            <a:r>
              <a:t>Talk track: the ranges are 30 (business days with data), 30D, 2W, 3M, 1Y, YTD, MTD, QTD and FROM … TO …, with DIFF for only what changed; plain words make the same command. Market data gets a chart with last, change, high, low, range and average. After the release the QA found two cluster issues (QA1-01, QA1-02): the history cache now follows the peers' data versions, and a peer that is down is named (DRS-5052), never answered as 'no data'.</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RELEASE_NOTES.md 2.6.7 (BI runs: planned before it runs from metadata only, 'tested to read no data'; cheap, heavy, very heavy, impossible; the Runs tab; fewer duplicate runs; rollup suggestions; masks hold; across the cluster a heavy run executes on the node that owns the model and a dead owner's runs are adopted); docs/admin/PERFORMANCE.md 'BI runs: sized before anything is read (2.6.7)' ('RunPlannerTest counts connector reads: 0'; DRS-9029, drishti.bi.exec.max-estimated-rows; the BACKGROUND admission class); docs/architecture/BI_RUNS.md, BI_RUNS_GUIDE.md; TABLE_CHARTS.md; picture docs/guides/img/table-chart/donut-terminal.png; docs/qa/2026-10-21/BI_RUNS_INTEGRATION.md.</a:t>
            </a:r>
          </a:p>
          <a:p/>
          <a:p>
            <a:r>
              <a:t>Talk track: before 2.6.7 a heavy BI question simply ran and held a slot. Now the planner sizes it from metadata, so the user learns in milliseconds whether it is an answer, a run, a confirmation or a refusal. Known open at the time: Analyse does not use runs yet; Parquet/Arrow results for runs.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RELEASE_NOTES.md 2.6.0 ('drishti-iceberg: Drishti's own Apache Iceberg engine with no Hadoop, so Iceberg runs on Windows; it is the default engine (engine: library brings back the old one), and faster: a connector starts in 637 ms (1.8 s before), a trade on a past day reads in 94 ms (353 ms). iceberg-external reads Iceberg tables Drishti did not write (Spark, Flink, Trino, Snowflake, Glue)'); RELEASE_NOTES 2.6.7 ('Delta and Iceberg side by side: build_demo_lakes.py --store endur=delta --store calypso=iceberg (or all=iceberg); the right connector is switched per system; the same pages, histories, searches and BI answers either way (equality test)'); docs/connectors/DEMO_DATA.md 'Mixed Delta and Iceberg storage'; docs/architecture/DRISHTI_ICEBERG.md. The 2.8× and 3.8× are 1.8 s ÷ 637 ms and 353 ms ÷ 94 ms.</a:t>
            </a:r>
          </a:p>
          <a:p/>
          <a:p>
            <a:r>
              <a:t>Talk track: the split shown (ENDUR on Delta, CALYPSO and MUREX on Iceberg) is the mixed layout the DEMO_DATA guide uses; all=iceberg puts every system on Iceberg. A 2.6.6 QA P1 was a moved Iceberg table reading as healthy on Java 25; it was fixed.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RELEASE_NOTES.md 2.7.0 (Sutra Next: the Drishti UI kit, config/ui-kit/, reusable fragments row-picker@1, field-list@1, cashflow-ladder@1 …, pack fragments trading/trade-table@1, theme tokens and brand, 'every fragment and every Sutra carries a doc: docstring. Every pack screen now uses fragments, each proven to draw the same as before'; events and children; refresh and freshness; layout; forms, drafts only until 2.8.0's write-back; one server per screen on a cluster); docs/architecture/SUTRA_NEXT.md; docs/guides/SUTRA_DEVELOPER_GUIDE.md and SUTRA_FORMS_GUIDE.md; config/ui-kit/fragments on release-2.9.4 (17 *.fragment.yaml files).</a:t>
            </a:r>
          </a:p>
          <a:p/>
          <a:p>
            <a:r>
              <a:t>Talk track: 2.7.0 turned the Sutra from a description of a static page into a description of a page that responds: a click opens children from another pack, panels refresh on their own clock and say how fresh they are, the layout is a grid of named areas, and forms are first-class. The docstrings matter twice: the designer and help read them, and the parked GenUI design composes screens from them.</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RELEASE_NOTES.md 2.7.0 ('The Sutra designer (ui.designer, off by default; SCREEN_DESIGNER.md section 31): four modes over one Sutra — Customize the live page, Describe a screen in one line, Outline, and Grid with formulas (B2 = field-list@1(...; source: {... id: @A2.open.ref}), two levels of click-opened cells); my version of this page per person. Tutorial 22 builds a screen with it'); docs/guides/SCREEN_DESIGNER.md section 31; pictures docs/guides/img/designer/customize.jpg, describe.jpg, outline.jpg, grid-mode.jpg (retaken for 2.9.4).</a:t>
            </a:r>
          </a:p>
          <a:p/>
          <a:p>
            <a:r>
              <a:t>Talk track: the Build workbench (slide in chapter 2) designs from data; this designer starts from the page. Describe takes a sentence such as 'trades of a book, click a trade for cash flows and counterparty limits, refresh every 30 s' and drafts the Sutra; Outline and Grid make it precise; Customize changes the live page for one person.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RELEASE_NOTES.md 2.7.0 (us-equities: 479 US companies from SEC EDGAR, Nasdaq, GLEIF and Wikidata, USEQ, IDX, SIC, EDGAR, prices live and internal only; gleif: 9,512 legal entities in 540 ownership groups, LEI, LEIG, LEIC, linked to each other by LEI; public data, one script per pack, tools/publicdata/&lt;pack&gt;.py with .sh and Windows wrappers); 2.9.2 (funds: the 200 largest US mutual funds and ETFs from SEC N-PORT, N-CEN and the prospectus summaries, with GLEIF relationships; FUND, HELD, TRACK, FUNDS; 5.6 MB of gzipped data, offline; sectors are SIC divisions, GICS is proprietary); 2.9.3 (the companies pack grows from 503 to 586); 2.9.1 (External data: every source with URL, licence and use; IMF, Yahoo and Google News data marked internal only); docs/guides/PUBLIC_DATA.md, FUNDS_GUIDE.md; the connector data pattern in DEMO_DATA.md.</a:t>
            </a:r>
          </a:p>
          <a:p/>
          <a:p>
            <a:r>
              <a:t>Talk track: three packs that a bank's analysts recognise, built on the same pattern as the trading data: a committed gzipped JSON Lines snapshot, built into the demo lakes and served by a Delta connector, so a demo machine needs no network. A refresh script per pack widens or updates the data into the data folder; internal-only sources can never be committed. The CIK link between funds and companies is the SEC's company id carried in the holdings.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RELEASE_NOTES.md 2.9.2 (funds and ETFs; FUND &lt;ticker&gt; a fact sheet, look-through holdings and comparison with its index); 2.9.3 ('the S&amp;P 500, Nasdaq-100 and Dow members are now what SPY, QQQ and DIA report holding to the SEC, not Wikidata's out-of-date lists (which lacked Exxon Mobil, BlackRock, NVIDIA in the Nasdaq-100 and about 100 more). The companies pack grows from 503 to 586. The vs index tab weighs the Dow by price and caps the Nasdaq-100 as their methods do: DIA's active share 1.8% (was 57.6%), QQQ's 11.2% (was 26.75%)'; '23 new WHAT terms (162 in all)'); docs/tutorials/28-funds-and-etfs.md ('for QQQ, Members held 98 of 99 listed members, Active share 11.21%'); picture docs/tutorials/img/t28/02-fund-fact-sheet.jpg.</a:t>
            </a:r>
          </a:p>
          <a:p/>
          <a:p>
            <a:r>
              <a:t>Talk track: a design-and-evidence point: the old figures were not a rounding issue; the membership source was wrong. Known open (2.9.3 notes): 55 companies have no usable share count, so index-fund active shares are not exactly 0. Index weights are computed from SEC filings, not licensed index data, and the page says so.</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RELEASE_NOTES.md 2.9.1 (groupings and analytics computed instead of stored: LEIG (no member cap), LEIC, SIC, ECG (summed or weighted over member economies, as the World Bank does), CORR (a new correlation engine, window and estimator picked on the page), the USEQ ratios, the yearly change of a financial fact, IDX totals, equity beta (a new engine, EQB) and the price-history analytics (internal-only, off as shipped); their stored versions are retired; old ids open the computed pages; 'the numbers change where the stored ones were set by hand (correlations ~0.4 stored, ~0.1 computed; equity betas near zero on the demo's independent price series)'; the fixed control recompute); IMPLEMENTATION_PLAN 'Groupings and analytics' (the engines: gleif-groupings, us-equities-groupings, macro-groupings, CorrelationEngine, BetaEngine; ECG growth GDP-weighted, inflation the median); docs/guides/GROUPINGS_ANALYTICS_GUIDE.md; tutorial 27 and its picture 08-corr-pearson.jpg.</a:t>
            </a:r>
          </a:p>
          <a:p/>
          <a:p>
            <a:r>
              <a:t>Talk track: the same principle as VaR and exposure, applied to reference data: a group's figures are computed from its members on demand, so they can be re-derived and never go stale.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RELEASE_NOTES.md 2.8.0 (data contracts: the shared rules; a machine-readable contract for every command, config/packs/&lt;pack&gt;/contracts/&lt;kind&gt;.contract.yaml, drishti.py contract; generated pages and the command catalog; Admin → Commands: switch any command off for everyone; it then answers 'not active' everywhere (page, API, command, CLI, search, exports, BI, AI; 403 DRS-1016), stored in the Drishti database and gossiped to every server); 2.9.1 (FUNC; every pack's guide ends with its data contracts and its data retrieval, generated from the contracts); 2.9.3 (DATAMAP joins from the data contracts, checked against the data); docs/contracts/README.md section 3 'Four kinds of data' and its rule and guard test; docs/guides/COMMAND_CATALOG.md (generated: '73 fundamental, 8 engine input, 1 Drishti's own and 18 computed'); tools/drishti.py --help (contract: list, show, check, docs, bootstrap); 100 *.contract.yaml files on release-2.9.4.</a:t>
            </a:r>
          </a:p>
          <a:p/>
          <a:p>
            <a:r>
              <a:t>Talk track: the contracts were the 'fundamentals' half of the narrowed 2.8.0 scope. Each command now has one file that says what a row is, what every column means and where it comes from; the documentation, the catalog, FUNC and the data map are generated from those files, so they cannot drift. Admin → Commands is the first step to role-based access per command.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docs/guides/VAR_GUIDE.md section 2.2 (the bank on 2026-09-30: VaR 112,041,646, ES 160,143,809, 9,572 trades in 7,984 positions), 15.3 (HS-509: 509 scenario days, 2024-09-17 to 2026-09-29), 15.4 (88 nodes), 15.5 (28 portfolios), 26.2 and 27.3 (a node from its float64 aggregate under 1 ms, 0.48 ms measured); RELEASE_NOTES.md 2.8.0 (the stored var and var-node kinds retired, VAR-* ids open the explorer; every live trade valued; positions derived by Drishti from config rules; official end-of-day captures published to risk-results/var-official; vectors kept 7 years; DRS-5201..5204; memory tiering; VRES and VWIF; drishti.py var); picture docs/guides/img/var/01-explorer-desk.jpg; the VaR engine deck docs/publications/Drishti-VaR-Engine.pptx (2.9.5, 34 slides); VAR_GUIDE.md 15.14 and the 2.9.5 data (131 official nodes: 88 MGMT and LEGAL + 43 limit-letter nodes, LL).</a:t>
            </a:r>
          </a:p>
          <a:p/>
          <a:p>
            <a:r>
              <a:t>Talk track: this chapter summarises VaR and points to the VaR engine deck rather than repeating it. The method is historical simulation: every trade has a P&amp;L vector of 509 numbers; a scope's vector is the sum of its trades' vectors, so overlaps count once and longs and shorts net; VaR is minus the 6th worst, ES minus the mean of the 13 worst. The test data's numbers changed when VaR became computed: the 1,673-trade sample gave 9.9m; the old stored VAR-COMM of 446.9m was not a historical-simulation figure (see the reconciliation slide in chapter 5).</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(2.9.4, the VaR engine on the PV-VaR branch, worktree agent-a090d127ed73d193a; summarised from the VaR engine deck, slides 6 and 8): docs/guides/VAR_GUIDE.md section 15.9 (scenario-pv: scenario PVs per trade in the trade's currency), 15.12 (producing P&amp;L vectors and scenario PVs: JSON Lines, one row of the contract a line; tools/pvgen), 15.13 (inputs: any form, any grain; the optional per-system pin drishti.var.inputs; DRS-5208, 5209, 5210), 8.4 (intraday updates as built in 2.9.4: RUN_KIND INTRADAY, latest COMPUTED_AT per trade wins, a cancel removes the trade, a full run of the date drops the intraday layer; Kafka: drishti.var.intraday.kafka.window 5m, early flush at max-trades 500, an administrator's Apply now; each window written to the lake as one intraday batch, then applied; replay writes nothing twice); VarIntradayTest and VarPvStreamTest (in-process Kafka); the incremental-equals-one-run guarantee measured on 200 batches of 3 trades on one date. The P&amp;L-vector input by trade has existed since 2.8.0.</a:t>
            </a:r>
          </a:p>
          <a:p/>
          <a:p>
            <a:r>
              <a:t>Status: all of this is built and ships in 2.9.4. At the time this deck was built, the PV-VaR work sat on its own local branch (pv-var), held for the product owner's check before it is merged into release-2.9.4.</a:t>
            </a:r>
          </a:p>
          <a:p/>
          <a:p>
            <a:r>
              <a:t>Talk track: one engine, every input. Whether a pricing system sends 509 scenario PVs in the trade's own currency or a P&amp;L vector already converted, by trade or by position, the engine converts at load and nothing downstream knows the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(2.9.4, the PV-VaR branch; summarised from the VaR engine deck, slides 4 and 7): VAR_GUIDE.md section 15.10 (reporting currency: P&amp;L in the reporting currency from scenario PVs and scenario FX, crosses via USD; the bank's VaR and ES per currency on 2026-09-30: USD 112,041,646 / 160,143,809; EUR 111,837,045 / 137,631,546; CAD 189,801,404 / 230,680,413; JPY 20,883,226,318 / 23,578,418,999; GBP 104,139,554 / 125,595,958), section 15.11 (currencies built ahead: drishti.var.currencies USD, EUR, CAD, JPY, GBP; per-trade-currency totals; the picker), section 12 (settings: drishti.var.scenario-window all | N; DRISHTI_VAR_CONFIDENCE and DRISHTI_VAR_ES_CONFIDENCE; backtesting stays at 99%); the EUR comparison 111.84m with scenario FX against 95.4m for USD VaR converted at today's rate (the bank holds a net 3.65bn USD of value); picture docs/guides/img/var/15-reporting-currency.jpg on the PV-VaR branch.</a:t>
            </a:r>
          </a:p>
          <a:p/>
          <a:p>
            <a:r>
              <a:t>On the demo: the 1,339 Endur trades come as scenario PVs (1,089 USD, 246 EUR, 4 CAD); the bank's VaR moved from 112,035,906 to 112,041,646 when the PV form replaced the P&amp;L form, the FX move of the 250 EUR and CAD trades; a USD trade reproduces its vector exactly.</a:t>
            </a:r>
          </a:p>
          <a:p/>
          <a:p>
            <a:r>
              <a:t>Talk track: three settings changed meaning from constants to configuration in 2.9.4: the window, the confidence and the currencies. Each answer carries its labels, so a 95% VaR or a 250-day window can never be mistaken for the official figure.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RELEASE_NOTES.md 2.9.0 (exposure computed like VaR: EE, ENE, effective EE, PFE 95/99, EPE, EEPE, peak PFE and EAD for any scope: netting set, counterparty, group, legal entity, desk, book, a single trade, the bank, joined with + - &amp;; every trade's MtM on every path netted per netting set, each CSA's collateral applied path by path (thresholds, MTA, IA, rounding, margin period of risk); the explorer; pre-deal what-if exact by the Python engine or a conservative add-on marked proxy; official results to risk-results/exposure-official and -cpty; tiered retention; the demo lake generates paths for 22 of the 24 counterparties (73 netting sets, 9,000 trades); 'the stored peaks summed to 92.6bn, computed 7.6bn on the same sets (the generator scaled them with gross notional and ignored the CSAs); the 76-set reconciliation is in the guide'); RELEASE_NOTES 2.9.2 (NS-ALDERSHOT-LDN peak PFE 85.1m on the data's date); docs/guides/EXPOSURE_GUIDE.md section 27.4 (ExposureTierBenchmark: 100,000 trades, 9,901 sets, P = 200, G = 24: scope BANK 61 ms, scope NSET 0.06 ms) and 27.3 (retention tiers); picture docs/guides/img/exp/01-bank-board.jpg; tutorial 26.</a:t>
            </a:r>
          </a:p>
          <a:p/>
          <a:p>
            <a:r>
              <a:t>Talk track: exposure was brought forward into 2.9.0 by the product owner and built exactly as VaR was: inputs from the upstream simulation, the engine in Drishti, any scope on demand. At a large bank's size the guide extrapolates the load to about 7 minutes on one node at P = 2,000, G = 50 (about 1 minute a node on 8) and says the bank scope becomes a batch job.</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RELEASE_NOTES.md 2.8.0 (official end-of-day captures of every node published to risk-results/var-official for other systems; write-back: forms save through an edit log in the Drishti database, with four-eyes approval, a cluster mode, JDBC writes through an outbox, and reactive recomputes and live updates after each change; WRITE_BACK.md, EDITS.md, tutorial 24, off by default); 2.9.0 (exposure-official and -cpty; VaR and exposure in BI: read-only kinds VOFF and XOFC, a Market risk VaR model and report); CHANGELOG 2.8.0 write-back entry (Submit…, the review and confirm sheet, POST /api/v1/changes, drishti_edit_request, four eyes, drishti_edit_log lanes, P lanes (64) with one virtual-thread worker each, ownership by a conditional update with a lease, every append fenced by the epoch, the three-way difference in words, never overwriting); CHANGELOG 2.9.4 (official results also as JSON Lines beside the tables); CHANGELOG 2.9.5 (official results to Delta or Iceberg, under a folder or s3://, each Delta commit on S3 an exclusive create; BI's readers follow the format; OfficialSinkTest, OfficialS3Test, OfficialReadersTest); IMPLEMENTATION_PLAN 2.8.0 'Published official results' ('engines never read it (guard test)'); VAR_GUIDE section 19.</a:t>
            </a:r>
          </a:p>
          <a:p/>
          <a:p>
            <a:r>
              <a:t>Talk track: two kinds of record. The official number is what was reported: captured once from the morning run, never changed by intraday updates, restated only as a new version. An edit is what a person changed: approved by someone else, logged in order, applied with the person's rights re-checked at apply time.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RELEASE_NOTES.md 2.9.2 (Knowledge: market risk, counterparty credit risk, trades and products, entities and ownership, market data, data and contracts, economies; a 139-term glossary; WHAT &lt;term&gt;; 'What does this mean?' beside the VaR and exposure explorers and the risk pages; Construct your basket, VAR_GUIDE section 3.5: pick portfolios, baskets, desks, books, legal entities, counterparties, positions, trades or a rule as you type … save it as a basket; Alt+B; the pre-deal what-if: a hypothetical trade (a copy of a booked one, scaled; −1 its unwind) in the basket shows VaR before and after; the exposure explorer has it on the counterparty as well as the netting set; exact methods run on the compute workers; trade pages' Risk links; 'ids that match nothing and trades that are not live are said in words instead of a VaR of 0'); RELEASE_NOTES 2.9.3 (Knowledge: Companies, funds and ETFs; 23 new WHAT terms, 162 in all); docs/knowledge on release-2.9.4 (eight pages and glossary.yaml); picture docs/guides/img/var/06-basket.jpg.</a:t>
            </a:r>
          </a:p>
          <a:p/>
          <a:p>
            <a:r>
              <a:t>Talk track: the Knowledge pages were written against the demo data, and writing them found real data-quality bugs (economy debt that was a 2031 projection, a cancelled trade driving half of one netting set's exposure); those are on the reconciliation slide.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RELEASE_NOTES.md 2.9.3 (DATAMAP: Views → Data map, or DATAMAP [domain|kind]; Map or Cards; 'Nothing is hand-drawn: kinds come from the enabled packs, joins from the data contracts, each checked against the data (how many ids match), counts from the lake on the business date; a new pack appears with no setup. It found 11 joins that do not hold (e.g. a jurisdiction code where an id is expected), listed in the CHANGELOG'; the fact of the day on Home: one surprising, true sentence, a small picture, 'Why does that happen?', the command that shows it and 'Another fact'; each pack declares its facts (PACK_DEVELOPER_GUIDE 'Facts for Home'); computed as you, on your business date, and only those that hold today are shown; the seven listed here); USER_GUIDE 'The data map' and 'Home: the fact of the day'; picture docs/guides/img/datamap/01-map-trade.jpg. The dark card is a drawing of the fact panel's shape, not a capture, and quotes no figure.</a:t>
            </a:r>
          </a:p>
          <a:p/>
          <a:p>
            <a:r>
              <a:t>Talk track: DATAMAP is evidence about the data itself: because joins are checked against the rows, the map tells an analyst which links are real on today's date. The 11 failing joins are open items in 2.9.3's notes, not hidden.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CHANGELOG.md 2.9.4 entries: 'JSON Lines is the data standard: the generators' (every generator under tools/ writes JSONL, generating and loading separate steps; the lake is byte-for-byte the same data as before, every table's rows and Delta versions compared); 'CSV input deprecated; drishti.py convert'; 'JSON Lines on every server export'; 'JSON Lines in every console download and CLI export'; 'Official results as JSON Lines too' (risk-results/jsonl/&lt;table&gt;/&lt;date&gt;/…, drishti.var.official.jsonl and drishti.ccr.exposure.official.jsonl on by default); 'Sutra test cases are one cases.jsonl per Sutra' (all 197 committed test folders converted); 'JSON Lines in three smaller places' (samples/catalog.jsonl, staged lake rows, seals.jsonl); 'The guard of the data standard' (the two drill tests); docs/guides/DATA_FORMATS.md (new); IMPLEMENTATION_PLAN '2.9.4 also: JSON Lines is the data standard (product owner, 2026-10-27; built)'.</a:t>
            </a:r>
          </a:p>
          <a:p/>
          <a:p>
            <a:r>
              <a:t>Talk track: the decision of the product owner on 27 October: generators write JSONL only; readers keep what they accept but CSV is deprecated, to be removed in a later release; every export gains a JSONL option; manifests, state files, GeoJSON and storage internals stay as they are.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CHANGELOG.md 2.8.0 'Branding from configuration only (product owner, 2026-10-25)' (ui.product, drishti.branding.product, Branding.sqlName(), Branding.netName(); &lt;product&gt; SQL, &lt;product&gt; Elements, &lt;product&gt;*net; ui.owner and ui.owner_email; guard tests tests/test_branding_guard.py and BrandingLiteralTest; licence headers, X-Drishti- headers, DRISHTI_ variables and code identifiers unchanged); RELEASE_NOTES 2.9.0 (the landing headline 'See what your data hasn't told you yet.' with the tagline, both from configuration); CHANGELOG 2.9.4 'Your bank's names in the demo' (config/demo/names.yaml; LE-NY, LE-LDN, LE-FRA, LE-TKY; --names FILE, --dry-run; rename as they load; LEIs and BICs stay; tools/demonames.py; tools/lake/test_names.py in the drill; DEMO_DATA 'Your bank's names'); the PV-VaR branch: drishti.var.root-name (DRISHTI_VAR_ROOT_NAME) and root-names, VarRootNameTest; VAR_GUIDE section 12 (settings).</a:t>
            </a:r>
          </a:p>
          <a:p/>
          <a:p>
            <a:r>
              <a:t>Talk track: two product-owner rules, both enforced by tests: the product's name is configuration, and a bank evaluating Drishti can see its own bank and legal-entity names across every kind of the demo without touching the committed data.</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CHANGELOG.md 2.9.4 'Documentation pictures retaken on the current UI' (351 pictures under docs/ that predated the 2.9 UI, guide by guide and tutorials 1-6, 8, 9, 11-17 and 19, with tools/docs/screenshots.py) and 'Fixes found by the screenshot run (2026-10-27)' (the five fixes in the table, plus a deal's own events staying listed whatever the Legs filter); docs/tutorials (28 numbered tutorials on release-2.9.4); RELEASE_NOTES 2.9.0 ('VaR and exposure have exactly two documents each, a complete guide and a tutorial, and two Help pages'); RELEASE_NOTES 2.7.0 (a rot check over every document: links, paths, commands, settings, error codes, command words, kinds); 238 Markdown files under docs/ outside qa/ and archive/.</a:t>
            </a:r>
          </a:p>
          <a:p/>
          <a:p>
            <a:r>
              <a:t>Talk track: retaking every picture over the demo lakes walks the UI the way the tutorials do, so it is also a test: five defects were found and fixed before 2.9.4 shipped. Pictures that needed git-ignored runtimes (Calc, the Python console, the React sample) were retaken separately.</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docs/admin/SCALE_BENCHMARK.md section 5.1 'Across stores, measured' (median ms of the run labelled r1 at the largest size each store ran, 50,000 trades a day: type-ahead TRD CLY-400, open a trade (view) again, TRD book=BOOK-RATES-3; store size and load time). The document's banner: 'Measured on Drishti 1.12.0 (2026-10-01); the numbers are historical and were not re-measured for 2.3.0.' Section 6: Delta Lake, PostgreSQL, Aerospike and Redis were measured at a million trades a day; section 5.2 extrapolates the others and labels them as extrapolations; section 5.3 checks the straight line against the real million (store sizes within about 25%; searches within a factor of two; impact does not extrapolate).</a:t>
            </a:r>
          </a:p>
          <a:p/>
          <a:p>
            <a:r>
              <a:t>Talk track: the same harness loads the same book into each store and asks the same questions; Drishti's own caches and column layers make the stores look alike for interactive reads. Where they differ is size on disk and load time, which is an operations decision. This slide is new in this edition; the benchmark itself predates 2.6.</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VAR_GUIDE.md section 27 (27.2 the heap tier measured: VarScaleBenchmark, the whole bank of 1 million trades summed in 58 ms on 24 threads; 27.3 the tiered store: VarTierBenchmark at 100,000 trades × 5 dates: a node 0.48 ms, the bank from float32 rows 3.4 ms, a basket of 50,000 scattered positions 2.6 ms plus about 45 ms of ids, first load 0.8–1.2 s; section 26.7, loadMs 572 for the test date), as tabled in the VaR engine deck slide 11; EXPOSURE_GUIDE.md section 27.4 (ExposureTierBenchmark, opt-in, at 100,000 trades in 9,901 sets, P = 200, G = 24: load 785 ms rows plus 1,250 ms collateral, E, N and the hot file; reopen 157 ms; scope BANK 61 ms; CPTY: of 20 sets 0.22 ms; NSET: 0.06 ms; pre-deal exact Java 0.11 ms; proxy 0.007 ms with the scope's answer cached; 'a workstation run is limited to 100,000 trades in memory'; times are the best of five warm runs on one workstation, 24 hardware threads, 61 GB, JDK 25, NVMe).</a:t>
            </a:r>
          </a:p>
          <a:p/>
          <a:p>
            <a:r>
              <a:t>Talk track: base VaR is additions and sorts; exposure is additions over paths and dates. Both keep a memory-mapped hot file per date so the heap stays small. The guides extrapolate to a large bank and label the extrapolations; the sizing at 1.3 million positions and 100,000 portfolios is in the VaR engine deck (slide 12). A million-trade run once took the workstation down, so the full runs are planned on a server.</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RELEASE_NOTES.md 2.8.0 ('with every live trade the bank's VaR on the test data is about 112m (the 1,673-trade sample gave 9.9m); the old stored VAR-COMM (446.9m) was not a historical-simulation figure'; VAR_GUIDE section 21.2 'Reconciliation: stored VAR-COMM 446.9 m against the engine's 1.97 m': the COMM desk's stored VAR_99 446,852,430 against the engine's 17,523,118 with every live trade (1.97m on the first 60-trades-a-book sample); the stored figure was 2.33 × sqrt(Σ(|MTM| × 0.004 + Σ|sensitivities| × 0.6)²), absolute values with no netting and no correlation, on a different date and trade set: 'the two numbers measure different things and no factor relates them'); 2.9.0 ('the stored peaks summed to 92.6bn, computed 7.6bn on the same sets (the generator scaled them with gross notional and ignored the CSAs); the 76-set reconciliation is in the guide', EXPOSURE_GUIDE section 22.2); 2.9.1 ('correlations ~0.4 stored, ~0.1 computed; equity betas near zero on the demo's independent price series'; GROUPINGS_ANALYTICS_GUIDE Part II); 2.9.2 (data quality: 'economy debt is the latest actual year, not a 2031 projection; netting sets and exposure runs hold live trades only (a cancelled trade had driven half of one set's exposure)'); 2.9.3 (DIA's active share 1.8% (was 57.6%), QQQ's 11.2% (was 26.75%); 'the legal-entity tree's root now carries the bank's 150m limit, as the management tree does (it read 210m); every VaR is unchanged'; DATAMAP 'found 11 joins that do not hold').</a:t>
            </a:r>
          </a:p>
          <a:p/>
          <a:p>
            <a:r>
              <a:t>Talk track: this is the most important evidence slide of the new chapter. A product that computes its figures can explain them; every time Drishti replaced a stored number, the difference was investigated and written into the guide.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CHANGELOG.md 2.9.5 'Iceberg' (VarFormatEqualityTest, ExposureFormatEqualityTest, LakeAppendsTest, OfficialSinkTest, OfficialS3Test, OfficialReadersTest; the real run on the demo data: 14 risk tables, 955,124 rows, into Iceberg in 579 s; a server on that lake answered VAR BANK, LL:LL-0003 and XPO BANK from Iceberg and published its official records); docs/connectors/ICEBERG_CONNECTOR.md sections 18 and 19; VAR_GUIDE.md 2.2 (VAR BANK 112,041,646 on 2026-09-30). The latest runs of these test classes (surefire reports of 2026-10-28 in the 2.9.5 worktrees): VarFormatEqualityTest 1 test, ExposureFormatEqualityTest 1, LakeAppendsTest 1, OfficialSinkTest 5, OfficialS3Test 1, OfficialReadersTest 3, all 0 failures. The CHANGELOG's own server run quotes VAR BANK USD 124,948,241 for the date it served; the 112,041,646 here is the guide's 2026-09-30 figure, equal on both formats.</a:t>
            </a:r>
          </a:p>
          <a:p/>
          <a:p>
            <a:r>
              <a:t>Talk track: the equality tests write the very same lines to a Delta lake and to an Iceberg lake, read both through one connector whose plugin is switched, and compare every figure to the cent in USD and EUR. That is why Iceberg is a full alternative: not a second implementation of VaR, the same engine over another storage plugin. What is left for 2.9.6 is running the Glue and S3 Tables catalogs on a real AWS account.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CHANGELOG.md 2.9.5 'Hierarchies' (HierarchyEquivalenceTest: MGMT configured as DIVISION &gt; DESK &gt; TT_BOOK and LEGAL as LEGAL_ENTITY &gt; DESK &gt; TT_BOOK equal the rows' trees: ids, parents, levels, members, aggregates to the bit, VaR, ES, components and worst scenarios to the cent, USD and EUR, limits; every letter the sum of its rows; HierarchyColumnMissingTest, HierarchyUpgradeWithoutLettersTest: a source without the level column skips that hierarchy alone with DRS-5211, product owner 2026-10-28) and 'Connector upgrades' (ConnectorUpgradeTest: a server on release 2.9.4's generated files, tools/connector_upgrade_fixture.py, with an edited risk-store and the edited 2.9.3 var-whatif: every unedited file equals the current template, the edits stay, var-result, var-whatif with ccy and exposure-result answer); VAR_GUIDE.md section 15.14; commit 19994d3e4 (ColumnHierarchyBenchmark, run by name: 10,000 trades, 100 books, 10 desks, 700 letters; the build 65-99 ms against 53-197 ms without; the VaR of every node, 1,412, about 30 ms; MEASURED on one workstation). Latest runs (surefire reports of 2026-10-28 in the 2.9.5 worktrees): HierarchyEquivalenceTest 3 tests, HierarchyUpgradeWithoutLettersTest 1, ConnectorUpgradeTest 3, all 0 failures.</a:t>
            </a:r>
          </a:p>
          <a:p/>
          <a:p>
            <a:r>
              <a:t>Talk track: the limit letters are the first tree built from the trades' own columns. To trust that path, MGMT and LEGAL were rebuilt the same way and compared with the trees from the rows: bit-equal aggregates, VaR to the cent. Two upgrade tests protect a bank's running system: data written before the letters keeps answering, and connector files a bank edited keep every edit while gaining what the new pack adds.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66928"/>
            <a:ext cx="274320" cy="54864"/>
          </a:xfrm>
          <a:prstGeom prst="rect">
            <a:avLst/>
          </a:prstGeom>
          <a:solidFill>
            <a:srgbClr val="A51C30"/>
          </a:solidFill>
          <a:ln/>
        </p:spPr>
      </p:sp>
      <p:sp>
        <p:nvSpPr>
          <p:cNvPr id="3" name="Shape 1"/>
          <p:cNvSpPr/>
          <p:nvPr/>
        </p:nvSpPr>
        <p:spPr>
          <a:xfrm>
            <a:off x="777240" y="6355080"/>
            <a:ext cx="10634472" cy="9144"/>
          </a:xfrm>
          <a:prstGeom prst="rect">
            <a:avLst/>
          </a:prstGeom>
          <a:solidFill>
            <a:srgbClr val="E3DED7"/>
          </a:solidFill>
          <a:ln/>
        </p:spPr>
      </p:sp>
      <p:sp>
        <p:nvSpPr>
          <p:cNvPr id="4" name="Text 2"/>
          <p:cNvSpPr/>
          <p:nvPr/>
        </p:nvSpPr>
        <p:spPr>
          <a:xfrm>
            <a:off x="777240" y="6437376"/>
            <a:ext cx="7443216" cy="219456"/>
          </a:xfrm>
          <a:prstGeom prst="rect">
            <a:avLst/>
          </a:prstGeom>
          <a:noFill/>
          <a:ln/>
        </p:spPr>
        <p:txBody>
          <a:bodyPr wrap="square" lIns="0" tIns="0" rIns="0" bIns="0" rtlCol="0" anchor="ctr"/>
          <a:lstStyle/>
          <a:p>
            <a:pPr indent="0" marL="0">
              <a:buNone/>
            </a:pPr>
            <a:r>
              <a:rPr lang="en-US" sz="850" dirty="0">
                <a:solidFill>
                  <a:srgbClr val="61666E"/>
                </a:solidFill>
              </a:rPr>
              <a:t>Drishti • Ashutosh Sinha</a:t>
            </a:r>
            <a:endParaRPr lang="en-US" sz="850" dirty="0"/>
          </a:p>
        </p:txBody>
      </p:sp>
      <p:sp>
        <p:nvSpPr>
          <p:cNvPr id="5" name="Text 3"/>
          <p:cNvSpPr/>
          <p:nvPr>
            <p:ph idx="103" type="body" hasCustomPrompt="1"/>
          </p:nvPr>
        </p:nvSpPr>
        <p:spPr>
          <a:xfrm>
            <a:off x="777240" y="457200"/>
            <a:ext cx="10634472" cy="237744"/>
          </a:xfrm>
          <a:prstGeom prst="rect">
            <a:avLst/>
          </a:prstGeom>
          <a:noFill/>
          <a:ln/>
        </p:spPr>
        <p:txBody>
          <a:bodyPr wrap="square" rtlCol="0"/>
          <a:lstStyle>
            <a:lvl1pPr algn="l" indent="0" marL="0">
              <a:buNone/>
              <a:defRPr lang="en-US" sz="1050" b="1" spc="100" kern="0" dirty="0">
                <a:solidFill>
                  <a:srgbClr val="A51C30"/>
                </a:solidFill>
              </a:defRPr>
            </a:lvl1pPr>
          </a:lstStyle>
          <a:p>
            <a:pPr algn="l" indent="0" marL="0">
              <a:buNone/>
            </a:pPr>
            <a:endParaRPr lang="en-US" sz="1050" dirty="0"/>
          </a:p>
        </p:txBody>
      </p:sp>
      <p:sp>
        <p:nvSpPr>
          <p:cNvPr id="6" name="Text 3"/>
          <p:cNvSpPr/>
          <p:nvPr>
            <p:ph idx="104" type="title" hasCustomPrompt="1"/>
          </p:nvPr>
        </p:nvSpPr>
        <p:spPr>
          <a:xfrm>
            <a:off x="777240" y="731520"/>
            <a:ext cx="10634472" cy="502920"/>
          </a:xfrm>
          <a:prstGeom prst="rect">
            <a:avLst/>
          </a:prstGeom>
          <a:noFill/>
          <a:ln/>
        </p:spPr>
        <p:txBody>
          <a:bodyPr wrap="square" rtlCol="0"/>
          <a:lstStyle>
            <a:lvl1pPr algn="l" indent="0" marL="0">
              <a:buNone/>
              <a:defRPr lang="en-US" sz="2600" b="1" dirty="0">
                <a:solidFill>
                  <a:srgbClr val="1A1A1A"/>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8A162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E1120"/>
          </a:solidFill>
          <a:ln/>
        </p:spPr>
      </p:sp>
      <p:sp>
        <p:nvSpPr>
          <p:cNvPr id="25" name="Slide Number Placeholder 0"/>
          <p:cNvSpPr>
            <a:spLocks noGrp="1"/>
          </p:cNvSpPr>
          <p:nvPr>
            <p:ph type="sldNum" sz="quarter" idx="4294967295"/>
          </p:nvPr>
        </p:nvSpPr>
        <p:spPr>
          <a:xfrm>
            <a:off x="777240" y="6437376"/>
            <a:ext cx="10634472"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F6E6E9"/>
                </a:solidFill>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2.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99" Type="http://schemas.openxmlformats.org/officeDocument/2006/relationships/notesSlide" Target="../notesSlides/notesSlide44.xml"/></Relationships>
</file>

<file path=ppt/slides/_rels/slide21.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99" Type="http://schemas.openxmlformats.org/officeDocument/2006/relationships/notesSlide" Target="../notesSlides/notesSlide45.xml"/></Relationships>
</file>

<file path=ppt/slides/_rels/slide22.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99" Type="http://schemas.openxmlformats.org/officeDocument/2006/relationships/notesSlide" Target="../notesSlides/notesSlide46.xml"/></Relationships>
</file>

<file path=ppt/slides/_rels/slide23.xml.rels><?xml version='1.0' encoding='UTF-8' standalone='yes'?>
<Relationships xmlns="http://schemas.openxmlformats.org/package/2006/relationships"><Relationship Id="rId1" Type="http://schemas.openxmlformats.org/officeDocument/2006/relationships/image" Target="../media/image-20-2.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1.jpg"/><Relationship Id="rId99" Type="http://schemas.openxmlformats.org/officeDocument/2006/relationships/notesSlide" Target="../notesSlides/notesSlide47.xml"/></Relationships>
</file>

<file path=ppt/slides/_rels/slide30.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jpg"/><Relationship Id="rId3" Type="http://schemas.openxmlformats.org/officeDocument/2006/relationships/image" Target="../media/image-26-3.jpg"/><Relationship Id="rId4" Type="http://schemas.openxmlformats.org/officeDocument/2006/relationships/image" Target="../media/image-26-4.jpg"/><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99" Type="http://schemas.openxmlformats.org/officeDocument/2006/relationships/notesSlide" Target="../notesSlides/notesSlide4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7.jpg"/><Relationship Id="rId6"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 Id="rId3" Type="http://schemas.openxmlformats.org/officeDocument/2006/relationships/chart" Target="../charts/chart4.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g"/><Relationship Id="rId3" Type="http://schemas.openxmlformats.org/officeDocument/2006/relationships/chart" Target="../charts/chart6.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jp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jp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7.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3931920"/>
          </a:xfrm>
          <a:prstGeom prst="rect">
            <a:avLst/>
          </a:prstGeom>
          <a:solidFill>
            <a:srgbClr val="8A1626"/>
          </a:solidFill>
          <a:ln/>
        </p:spPr>
        <p:txBody>
          <a:bodyPr/>
          <a:p/>
        </p:txBody>
      </p:sp>
      <p:sp>
        <p:nvSpPr>
          <p:cNvPr id="3" name="Shape 1"/>
          <p:cNvSpPr/>
          <p:nvPr/>
        </p:nvSpPr>
        <p:spPr>
          <a:xfrm>
            <a:off x="0" y="3931920"/>
            <a:ext cx="12191695" cy="54864"/>
          </a:xfrm>
          <a:prstGeom prst="rect">
            <a:avLst/>
          </a:prstGeom>
          <a:solidFill>
            <a:srgbClr val="C4384B"/>
          </a:solidFill>
          <a:ln/>
        </p:spPr>
        <p:txBody>
          <a:bodyPr/>
          <a:p/>
        </p:txBody>
      </p:sp>
      <p:sp>
        <p:nvSpPr>
          <p:cNvPr id="4" name="Shape 2"/>
          <p:cNvSpPr/>
          <p:nvPr/>
        </p:nvSpPr>
        <p:spPr>
          <a:xfrm>
            <a:off x="0" y="0"/>
            <a:ext cx="182880" cy="3931920"/>
          </a:xfrm>
          <a:prstGeom prst="rect">
            <a:avLst/>
          </a:prstGeom>
          <a:solidFill>
            <a:srgbClr val="6E1120"/>
          </a:solidFill>
          <a:ln/>
        </p:spPr>
        <p:txBody>
          <a:bodyPr/>
          <a:p/>
        </p:txBody>
      </p:sp>
      <p:sp>
        <p:nvSpPr>
          <p:cNvPr id="5" name="Shape 3"/>
          <p:cNvSpPr/>
          <p:nvPr/>
        </p:nvSpPr>
        <p:spPr>
          <a:xfrm>
            <a:off x="10085832" y="941832"/>
            <a:ext cx="1024128" cy="256032"/>
          </a:xfrm>
          <a:prstGeom prst="arc">
            <a:avLst>
              <a:gd name="adj1" fmla="val 12000000"/>
              <a:gd name="adj2" fmla="val 20400000"/>
            </a:avLst>
          </a:prstGeom>
          <a:ln w="25400">
            <a:solidFill>
              <a:srgbClr val="C4384B"/>
            </a:solidFill>
            <a:prstDash val="solid"/>
          </a:ln>
        </p:spPr>
        <p:txBody>
          <a:bodyPr/>
          <a:p/>
        </p:txBody>
      </p:sp>
      <p:sp>
        <p:nvSpPr>
          <p:cNvPr id="6" name="Shape 4"/>
          <p:cNvSpPr/>
          <p:nvPr/>
        </p:nvSpPr>
        <p:spPr>
          <a:xfrm>
            <a:off x="10085832" y="1088136"/>
            <a:ext cx="1024128" cy="256032"/>
          </a:xfrm>
          <a:prstGeom prst="arc">
            <a:avLst>
              <a:gd name="adj1" fmla="val 12000000"/>
              <a:gd name="adj2" fmla="val 20400000"/>
            </a:avLst>
          </a:prstGeom>
          <a:ln w="25400">
            <a:solidFill>
              <a:srgbClr val="C4384B"/>
            </a:solidFill>
            <a:prstDash val="solid"/>
          </a:ln>
        </p:spPr>
        <p:txBody>
          <a:bodyPr/>
          <a:p/>
        </p:txBody>
      </p:sp>
      <p:sp>
        <p:nvSpPr>
          <p:cNvPr id="7" name="Shape 5"/>
          <p:cNvSpPr/>
          <p:nvPr/>
        </p:nvSpPr>
        <p:spPr>
          <a:xfrm>
            <a:off x="10085832" y="1234440"/>
            <a:ext cx="1024128" cy="256032"/>
          </a:xfrm>
          <a:prstGeom prst="arc">
            <a:avLst>
              <a:gd name="adj1" fmla="val 12000000"/>
              <a:gd name="adj2" fmla="val 20400000"/>
            </a:avLst>
          </a:prstGeom>
          <a:ln w="25400">
            <a:solidFill>
              <a:srgbClr val="C4384B"/>
            </a:solidFill>
            <a:prstDash val="solid"/>
          </a:ln>
        </p:spPr>
        <p:txBody>
          <a:bodyPr/>
          <a:p/>
        </p:txBody>
      </p:sp>
      <p:sp>
        <p:nvSpPr>
          <p:cNvPr id="8" name="Text 6"/>
          <p:cNvSpPr txBox="1"/>
          <p:nvPr/>
        </p:nvSpPr>
        <p:spPr>
          <a:xfrm>
            <a:off x="1051560" y="731520"/>
            <a:ext cx="7772400" cy="310896"/>
          </a:xfrm>
          <a:prstGeom prst="rect">
            <a:avLst/>
          </a:prstGeom>
          <a:noFill/>
          <a:ln/>
        </p:spPr>
        <p:txBody>
          <a:bodyPr wrap="square" lIns="0" tIns="0" rIns="0" bIns="0" rtlCol="0" anchor="ctr"/>
          <a:lstStyle/>
          <a:p>
            <a:pPr indent="0" marL="0">
              <a:buNone/>
            </a:pPr>
            <a:r>
              <a:rPr lang="en-US" sz="1100" b="1" spc="200" kern="0" dirty="0">
                <a:solidFill>
                  <a:srgbClr val="F2A7B2"/>
                </a:solidFill>
              </a:rPr>
              <a:t>DRISHTI · दृष्टि · SIGHT</a:t>
            </a:r>
            <a:endParaRPr lang="en-US" sz="1100" dirty="0"/>
          </a:p>
        </p:txBody>
      </p:sp>
      <p:sp>
        <p:nvSpPr>
          <p:cNvPr id="9" name="Text 7"/>
          <p:cNvSpPr txBox="1"/>
          <p:nvPr/>
        </p:nvSpPr>
        <p:spPr>
          <a:xfrm>
            <a:off x="1051560" y="1143000"/>
            <a:ext cx="8595360" cy="1737360"/>
          </a:xfrm>
          <a:prstGeom prst="rect">
            <a:avLst/>
          </a:prstGeom>
          <a:noFill/>
          <a:ln/>
        </p:spPr>
        <p:txBody>
          <a:bodyPr wrap="square" lIns="0" tIns="0" rIns="0" bIns="0" rtlCol="0" anchor="t"/>
          <a:lstStyle/>
          <a:p>
            <a:pPr indent="0" marL="0">
              <a:buNone/>
            </a:pPr>
            <a:r>
              <a:rPr lang="en-US" sz="3400" b="1" dirty="0">
                <a:solidFill>
                  <a:srgbClr val="FFFFFF"/>
                </a:solidFill>
              </a:rPr>
              <a:t>Drishti</a:t>
            </a:r>
            <a:endParaRPr lang="en-US" sz="3400" dirty="0"/>
          </a:p>
          <a:p>
            <a:pPr indent="0" marL="0">
              <a:buNone/>
            </a:pPr>
            <a:r>
              <a:rPr lang="en-US" sz="3400" b="1" dirty="0">
                <a:solidFill>
                  <a:srgbClr val="FFFFFF"/>
                </a:solidFill>
              </a:rPr>
              <a:t>A live terminal for any record, without a screen per product</a:t>
            </a:r>
            <a:endParaRPr lang="en-US" sz="3400" dirty="0"/>
          </a:p>
        </p:txBody>
      </p:sp>
      <p:sp>
        <p:nvSpPr>
          <p:cNvPr id="10" name="Shape 8"/>
          <p:cNvSpPr/>
          <p:nvPr/>
        </p:nvSpPr>
        <p:spPr>
          <a:xfrm>
            <a:off x="1051560" y="2971800"/>
            <a:ext cx="1554480" cy="36576"/>
          </a:xfrm>
          <a:prstGeom prst="rect">
            <a:avLst/>
          </a:prstGeom>
          <a:solidFill>
            <a:srgbClr val="C4384B"/>
          </a:solidFill>
          <a:ln/>
        </p:spPr>
        <p:txBody>
          <a:bodyPr/>
          <a:p/>
        </p:txBody>
      </p:sp>
      <p:sp>
        <p:nvSpPr>
          <p:cNvPr id="11" name="Text 9"/>
          <p:cNvSpPr txBox="1"/>
          <p:nvPr/>
        </p:nvSpPr>
        <p:spPr>
          <a:xfrm>
            <a:off x="1051560" y="3127248"/>
            <a:ext cx="9052560" cy="640080"/>
          </a:xfrm>
          <a:prstGeom prst="rect">
            <a:avLst/>
          </a:prstGeom>
          <a:noFill/>
          <a:ln/>
        </p:spPr>
        <p:txBody>
          <a:bodyPr wrap="square" lIns="0" tIns="0" rIns="0" bIns="0" rtlCol="0" anchor="ctr"/>
          <a:lstStyle/>
          <a:p>
            <a:pPr indent="0" marL="0">
              <a:buNone/>
            </a:pPr>
            <a:r>
              <a:rPr lang="en-US" sz="2500" i="1" dirty="0">
                <a:solidFill>
                  <a:srgbClr val="FFFFFF"/>
                </a:solidFill>
              </a:rPr>
              <a:t>Any data. Any domain. One grammar.</a:t>
            </a:r>
            <a:endParaRPr lang="en-US" sz="2500" dirty="0"/>
          </a:p>
        </p:txBody>
      </p:sp>
      <p:sp>
        <p:nvSpPr>
          <p:cNvPr id="12" name="Text 10"/>
          <p:cNvSpPr txBox="1"/>
          <p:nvPr/>
        </p:nvSpPr>
        <p:spPr>
          <a:xfrm>
            <a:off x="1051560" y="4343400"/>
            <a:ext cx="4251960" cy="1188720"/>
          </a:xfrm>
          <a:prstGeom prst="rect">
            <a:avLst/>
          </a:prstGeom>
          <a:noFill/>
          <a:ln/>
        </p:spPr>
        <p:txBody>
          <a:bodyPr wrap="square" lIns="0" tIns="0" rIns="0" bIns="0" rtlCol="0" anchor="t"/>
          <a:lstStyle/>
          <a:p>
            <a:pPr indent="0" marL="0">
              <a:buNone/>
            </a:pPr>
            <a:r>
              <a:rPr lang="en-US" sz="2000" b="1" dirty="0">
                <a:solidFill>
                  <a:srgbClr val="1A1A1A"/>
                </a:solidFill>
              </a:rPr>
              <a:t>Ashutosh Sinha</a:t>
            </a:r>
            <a:endParaRPr lang="en-US" sz="2000" dirty="0"/>
          </a:p>
          <a:p>
            <a:pPr indent="0" marL="0">
              <a:buNone/>
            </a:pPr>
            <a:r>
              <a:rPr lang="en-US" sz="1400" dirty="0">
                <a:solidFill>
                  <a:srgbClr val="4A5058"/>
                </a:solidFill>
              </a:rPr>
              <a:t>October 2026</a:t>
            </a:r>
            <a:endParaRPr lang="en-US" sz="2000" dirty="0"/>
          </a:p>
          <a:p>
            <a:pPr indent="0" marL="0">
              <a:buNone/>
            </a:pPr>
            <a:r>
              <a:rPr lang="en-US" sz="1200" dirty="0">
                <a:solidFill>
                  <a:srgbClr val="61666E"/>
                </a:solidFill>
              </a:rPr>
              <a:t>Release 2.9.5 · Java 21 or later · console on any device</a:t>
            </a:r>
            <a:endParaRPr lang="en-US" sz="2000" dirty="0"/>
          </a:p>
        </p:txBody>
      </p:sp>
      <p:sp>
        <p:nvSpPr>
          <p:cNvPr id="13" name="Text 11"/>
          <p:cNvSpPr txBox="1"/>
          <p:nvPr/>
        </p:nvSpPr>
        <p:spPr>
          <a:xfrm>
            <a:off x="5559552" y="4224528"/>
            <a:ext cx="5303520" cy="219456"/>
          </a:xfrm>
          <a:prstGeom prst="rect">
            <a:avLst/>
          </a:prstGeom>
          <a:noFill/>
          <a:ln/>
        </p:spPr>
        <p:txBody>
          <a:bodyPr wrap="square" lIns="0" tIns="0" rIns="0" bIns="0" rtlCol="0" anchor="ctr"/>
          <a:lstStyle/>
          <a:p>
            <a:pPr indent="0" marL="0">
              <a:buNone/>
            </a:pPr>
            <a:r>
              <a:rPr lang="en-US" sz="950" b="1" spc="200" kern="0" dirty="0">
                <a:solidFill>
                  <a:srgbClr val="A51C30"/>
                </a:solidFill>
              </a:rPr>
              <a:t>IN THIS DECK</a:t>
            </a:r>
            <a:endParaRPr lang="en-US" sz="950" dirty="0"/>
          </a:p>
        </p:txBody>
      </p:sp>
      <p:sp>
        <p:nvSpPr>
          <p:cNvPr id="14" name="Text 12"/>
          <p:cNvSpPr txBox="1"/>
          <p:nvPr/>
        </p:nvSpPr>
        <p:spPr>
          <a:xfrm>
            <a:off x="5559552" y="4498848"/>
            <a:ext cx="2926080" cy="1463040"/>
          </a:xfrm>
          <a:prstGeom prst="rect">
            <a:avLst/>
          </a:prstGeom>
          <a:noFill/>
          <a:ln/>
        </p:spPr>
        <p:txBody>
          <a:bodyPr wrap="square" lIns="0" tIns="0" rIns="0" bIns="0" rtlCol="0" anchor="t"/>
          <a:lstStyle/>
          <a:p>
            <a:pPr indent="0" marL="0">
              <a:spcAft>
                <a:spcPts val="600"/>
              </a:spcAft>
              <a:buNone/>
            </a:pPr>
            <a:r>
              <a:rPr lang="en-US" sz="1200" b="1" dirty="0">
                <a:solidFill>
                  <a:srgbClr val="A51C30"/>
                </a:solidFill>
              </a:rPr>
              <a:t>1  The idea: a screen is a paragraph</a:t>
            </a:r>
            <a:endParaRPr lang="en-US" sz="1200" dirty="0"/>
          </a:p>
          <a:p>
            <a:pPr indent="0" marL="0">
              <a:spcAft>
                <a:spcPts val="600"/>
              </a:spcAft>
              <a:buNone/>
            </a:pPr>
            <a:r>
              <a:rPr lang="en-US" sz="1200" b="1" dirty="0">
                <a:solidFill>
                  <a:srgbClr val="A51C30"/>
                </a:solidFill>
              </a:rPr>
              <a:t>2  Drishti 2.9.5: the product</a:t>
            </a:r>
            <a:endParaRPr lang="en-US" sz="1200" dirty="0"/>
          </a:p>
          <a:p>
            <a:pPr indent="0" marL="0">
              <a:spcAft>
                <a:spcPts val="600"/>
              </a:spcAft>
              <a:buNone/>
            </a:pPr>
            <a:r>
              <a:rPr lang="en-US" sz="1200" b="1" dirty="0">
                <a:solidFill>
                  <a:srgbClr val="A51C30"/>
                </a:solidFill>
              </a:rPr>
              <a:t>3  What 2.6.5 to 2.9.5 added</a:t>
            </a:r>
            <a:endParaRPr lang="en-US" sz="1200" dirty="0"/>
          </a:p>
        </p:txBody>
      </p:sp>
      <p:sp>
        <p:nvSpPr>
          <p:cNvPr id="15" name="Text 13"/>
          <p:cNvSpPr txBox="1"/>
          <p:nvPr/>
        </p:nvSpPr>
        <p:spPr>
          <a:xfrm>
            <a:off x="8577072" y="4498848"/>
            <a:ext cx="2834640" cy="1463040"/>
          </a:xfrm>
          <a:prstGeom prst="rect">
            <a:avLst/>
          </a:prstGeom>
          <a:noFill/>
          <a:ln/>
        </p:spPr>
        <p:txBody>
          <a:bodyPr wrap="square" lIns="0" tIns="0" rIns="0" bIns="0" rtlCol="0" anchor="t"/>
          <a:lstStyle/>
          <a:p>
            <a:pPr indent="0" marL="0">
              <a:spcAft>
                <a:spcPts val="600"/>
              </a:spcAft>
              <a:buNone/>
            </a:pPr>
            <a:r>
              <a:rPr lang="en-US" sz="1200" b="1" dirty="0">
                <a:solidFill>
                  <a:srgbClr val="A51C30"/>
                </a:solidFill>
              </a:rPr>
              <a:t>4  Security, drawn as flows</a:t>
            </a:r>
            <a:endParaRPr lang="en-US" sz="1200" dirty="0"/>
          </a:p>
          <a:p>
            <a:pPr indent="0" marL="0">
              <a:spcAft>
                <a:spcPts val="600"/>
              </a:spcAft>
              <a:buNone/>
            </a:pPr>
            <a:r>
              <a:rPr lang="en-US" sz="1200" b="1" dirty="0">
                <a:solidFill>
                  <a:srgbClr val="A51C30"/>
                </a:solidFill>
              </a:rPr>
              <a:t>5  Evidence, by the numbers</a:t>
            </a:r>
            <a:endParaRPr lang="en-US" sz="1200" dirty="0"/>
          </a:p>
          <a:p>
            <a:pPr indent="0" marL="0">
              <a:spcAft>
                <a:spcPts val="600"/>
              </a:spcAft>
              <a:buNone/>
            </a:pPr>
            <a:r>
              <a:rPr lang="en-US" sz="1200" b="1" dirty="0">
                <a:solidFill>
                  <a:srgbClr val="A51C30"/>
                </a:solidFill>
              </a:rPr>
              <a:t>6  Where it is going</a:t>
            </a:r>
            <a:endParaRPr lang="en-US" sz="1200" dirty="0"/>
          </a:p>
        </p:txBody>
      </p:sp>
      <p:sp>
        <p:nvSpPr>
          <p:cNvPr id="16" name="Shape 14"/>
          <p:cNvSpPr/>
          <p:nvPr/>
        </p:nvSpPr>
        <p:spPr>
          <a:xfrm>
            <a:off x="777240" y="6355080"/>
            <a:ext cx="10634472" cy="9144"/>
          </a:xfrm>
          <a:prstGeom prst="rect">
            <a:avLst/>
          </a:prstGeom>
          <a:solidFill>
            <a:srgbClr val="E3DED7"/>
          </a:solidFill>
          <a:ln/>
        </p:spPr>
        <p:txBody>
          <a:bodyPr/>
          <a:p/>
        </p:txBody>
      </p:sp>
      <p:sp>
        <p:nvSpPr>
          <p:cNvPr id="17" name="Text 15"/>
          <p:cNvSpPr txBox="1"/>
          <p:nvPr/>
        </p:nvSpPr>
        <p:spPr>
          <a:xfrm>
            <a:off x="777240" y="6437376"/>
            <a:ext cx="7443216" cy="219456"/>
          </a:xfrm>
          <a:prstGeom prst="rect">
            <a:avLst/>
          </a:prstGeom>
          <a:noFill/>
          <a:ln/>
        </p:spPr>
        <p:txBody>
          <a:bodyPr wrap="square" lIns="0" tIns="0" rIns="0" bIns="0" rtlCol="0" anchor="ctr"/>
          <a:lstStyle/>
          <a:p>
            <a:pPr indent="0" marL="0">
              <a:buNone/>
            </a:pPr>
            <a:r>
              <a:rPr lang="en-US" sz="850" dirty="0">
                <a:solidFill>
                  <a:srgbClr val="61666E"/>
                </a:solidFill>
              </a:rPr>
              <a:t>Drishti • Ashutosh Sinha</a:t>
            </a:r>
            <a:endParaRPr lang="en-US" sz="850" dirty="0"/>
          </a:p>
        </p:txBody>
      </p:sp>
      <p:sp>
        <p:nvSpPr>
          <p:cNvPr id="18" name="Copyright"/>
          <p:cNvSpPr txBox="1"/>
          <p:nvPr/>
        </p:nvSpPr>
        <p:spPr>
          <a:xfrm>
            <a:off x="6949440" y="6437376"/>
            <a:ext cx="4462272" cy="219456"/>
          </a:xfrm>
          <a:prstGeom prst="rect">
            <a:avLst/>
          </a:prstGeom>
          <a:noFill/>
        </p:spPr>
        <p:txBody>
          <a:bodyPr wrap="square" lIns="0" rIns="0" tIns="0" bIns="0" anchor="ctr">
            <a:spAutoFit/>
          </a:bodyPr>
          <a:lstStyle/>
          <a:p>
            <a:pPr algn="r"/>
            <a:r>
              <a:rPr sz="850" b="0" i="0">
                <a:solidFill>
                  <a:srgbClr val="61666E"/>
                </a:solidFill>
              </a:rPr>
              <a:t>Copyright © 2026 Ashutosh Sinha. All rights reserved. Proprietary and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TL;DR</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Executive summary</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408176"/>
            <a:ext cx="10634472" cy="868680"/>
          </a:xfrm>
          <a:prstGeom prst="rect">
            <a:avLst/>
          </a:prstGeom>
          <a:solidFill>
            <a:srgbClr val="F7F5F2"/>
          </a:solidFill>
          <a:ln/>
        </p:spPr>
        <p:txBody>
          <a:bodyPr/>
          <a:p/>
        </p:txBody>
      </p:sp>
      <p:sp>
        <p:nvSpPr>
          <p:cNvPr id="7" name="Shape 4"/>
          <p:cNvSpPr/>
          <p:nvPr/>
        </p:nvSpPr>
        <p:spPr>
          <a:xfrm>
            <a:off x="777240" y="1408176"/>
            <a:ext cx="2651760" cy="868680"/>
          </a:xfrm>
          <a:prstGeom prst="rect">
            <a:avLst/>
          </a:prstGeom>
          <a:solidFill>
            <a:srgbClr val="F6E6E9"/>
          </a:solidFill>
          <a:ln/>
        </p:spPr>
        <p:txBody>
          <a:bodyPr/>
          <a:p/>
        </p:txBody>
      </p:sp>
      <p:sp>
        <p:nvSpPr>
          <p:cNvPr id="8" name="Shape 5"/>
          <p:cNvSpPr/>
          <p:nvPr/>
        </p:nvSpPr>
        <p:spPr>
          <a:xfrm>
            <a:off x="777240" y="1408176"/>
            <a:ext cx="54864" cy="868680"/>
          </a:xfrm>
          <a:prstGeom prst="rect">
            <a:avLst/>
          </a:prstGeom>
          <a:solidFill>
            <a:srgbClr val="A51C30"/>
          </a:solidFill>
          <a:ln/>
        </p:spPr>
        <p:txBody>
          <a:bodyPr/>
          <a:p/>
        </p:txBody>
      </p:sp>
      <p:sp>
        <p:nvSpPr>
          <p:cNvPr id="9" name="Text 6"/>
          <p:cNvSpPr txBox="1"/>
          <p:nvPr/>
        </p:nvSpPr>
        <p:spPr>
          <a:xfrm>
            <a:off x="1005840" y="1408176"/>
            <a:ext cx="2331720" cy="868680"/>
          </a:xfrm>
          <a:prstGeom prst="rect">
            <a:avLst/>
          </a:prstGeom>
          <a:noFill/>
          <a:ln/>
        </p:spPr>
        <p:txBody>
          <a:bodyPr wrap="square" lIns="0" tIns="0" rIns="0" bIns="0" rtlCol="0" anchor="ctr"/>
          <a:lstStyle/>
          <a:p>
            <a:pPr indent="0" marL="0">
              <a:buNone/>
            </a:pPr>
            <a:r>
              <a:rPr lang="en-US" sz="1500" b="1" dirty="0">
                <a:solidFill>
                  <a:srgbClr val="8A1626"/>
                </a:solidFill>
              </a:rPr>
              <a:t>What is a live entity terminal?</a:t>
            </a:r>
            <a:endParaRPr lang="en-US" sz="1500" dirty="0"/>
          </a:p>
        </p:txBody>
      </p:sp>
      <p:sp>
        <p:nvSpPr>
          <p:cNvPr id="10" name="Text 7"/>
          <p:cNvSpPr txBox="1"/>
          <p:nvPr/>
        </p:nvSpPr>
        <p:spPr>
          <a:xfrm>
            <a:off x="3703320" y="1408176"/>
            <a:ext cx="7543800" cy="868680"/>
          </a:xfrm>
          <a:prstGeom prst="rect">
            <a:avLst/>
          </a:prstGeom>
          <a:noFill/>
          <a:ln/>
        </p:spPr>
        <p:txBody>
          <a:bodyPr wrap="square" lIns="0" tIns="0" rIns="0" bIns="0" rtlCol="0" anchor="ctr"/>
          <a:lstStyle/>
          <a:p>
            <a:pPr indent="0" marL="0">
              <a:buNone/>
            </a:pPr>
            <a:r>
              <a:rPr lang="en-US" sz="1300" dirty="0">
                <a:solidFill>
                  <a:srgbClr val="1A1A1A"/>
                </a:solidFill>
              </a:rPr>
              <a:t>One dense, keyboard-driven, ticking screen for any single record (a swap, a netting set, a fund, a company, an economy) linked to everything it touches, with its provenance shown.</a:t>
            </a:r>
            <a:endParaRPr lang="en-US" sz="1300" dirty="0"/>
          </a:p>
        </p:txBody>
      </p:sp>
      <p:sp>
        <p:nvSpPr>
          <p:cNvPr id="11" name="Shape 8"/>
          <p:cNvSpPr/>
          <p:nvPr/>
        </p:nvSpPr>
        <p:spPr>
          <a:xfrm>
            <a:off x="777240" y="2395728"/>
            <a:ext cx="10634472" cy="868680"/>
          </a:xfrm>
          <a:prstGeom prst="rect">
            <a:avLst/>
          </a:prstGeom>
          <a:solidFill>
            <a:srgbClr val="F7F5F2"/>
          </a:solidFill>
          <a:ln/>
        </p:spPr>
        <p:txBody>
          <a:bodyPr/>
          <a:p/>
        </p:txBody>
      </p:sp>
      <p:sp>
        <p:nvSpPr>
          <p:cNvPr id="12" name="Shape 9"/>
          <p:cNvSpPr/>
          <p:nvPr/>
        </p:nvSpPr>
        <p:spPr>
          <a:xfrm>
            <a:off x="777240" y="2395728"/>
            <a:ext cx="2651760" cy="868680"/>
          </a:xfrm>
          <a:prstGeom prst="rect">
            <a:avLst/>
          </a:prstGeom>
          <a:solidFill>
            <a:srgbClr val="F6E6E9"/>
          </a:solidFill>
          <a:ln/>
        </p:spPr>
        <p:txBody>
          <a:bodyPr/>
          <a:p/>
        </p:txBody>
      </p:sp>
      <p:sp>
        <p:nvSpPr>
          <p:cNvPr id="13" name="Shape 10"/>
          <p:cNvSpPr/>
          <p:nvPr/>
        </p:nvSpPr>
        <p:spPr>
          <a:xfrm>
            <a:off x="777240" y="2395728"/>
            <a:ext cx="54864" cy="868680"/>
          </a:xfrm>
          <a:prstGeom prst="rect">
            <a:avLst/>
          </a:prstGeom>
          <a:solidFill>
            <a:srgbClr val="A51C30"/>
          </a:solidFill>
          <a:ln/>
        </p:spPr>
        <p:txBody>
          <a:bodyPr/>
          <a:p/>
        </p:txBody>
      </p:sp>
      <p:sp>
        <p:nvSpPr>
          <p:cNvPr id="14" name="Text 11"/>
          <p:cNvSpPr txBox="1"/>
          <p:nvPr/>
        </p:nvSpPr>
        <p:spPr>
          <a:xfrm>
            <a:off x="1005840" y="2395728"/>
            <a:ext cx="2331720" cy="868680"/>
          </a:xfrm>
          <a:prstGeom prst="rect">
            <a:avLst/>
          </a:prstGeom>
          <a:noFill/>
          <a:ln/>
        </p:spPr>
        <p:txBody>
          <a:bodyPr wrap="square" lIns="0" tIns="0" rIns="0" bIns="0" rtlCol="0" anchor="ctr"/>
          <a:lstStyle/>
          <a:p>
            <a:pPr indent="0" marL="0">
              <a:buNone/>
            </a:pPr>
            <a:r>
              <a:rPr lang="en-US" sz="1500" b="1" dirty="0">
                <a:solidFill>
                  <a:srgbClr val="8A1626"/>
                </a:solidFill>
              </a:rPr>
              <a:t>What is Drishti?</a:t>
            </a:r>
            <a:endParaRPr lang="en-US" sz="1500" dirty="0"/>
          </a:p>
        </p:txBody>
      </p:sp>
      <p:sp>
        <p:nvSpPr>
          <p:cNvPr id="15" name="Text 12"/>
          <p:cNvSpPr txBox="1"/>
          <p:nvPr/>
        </p:nvSpPr>
        <p:spPr>
          <a:xfrm>
            <a:off x="3703320" y="2395728"/>
            <a:ext cx="7543800" cy="868680"/>
          </a:xfrm>
          <a:prstGeom prst="rect">
            <a:avLst/>
          </a:prstGeom>
          <a:noFill/>
          <a:ln/>
        </p:spPr>
        <p:txBody>
          <a:bodyPr wrap="square" lIns="0" tIns="0" rIns="0" bIns="0" rtlCol="0" anchor="ctr"/>
          <a:lstStyle/>
          <a:p>
            <a:pPr indent="0" marL="0">
              <a:buNone/>
            </a:pPr>
            <a:r>
              <a:rPr lang="en-US" sz="1300" dirty="0">
                <a:solidFill>
                  <a:srgbClr val="1A1A1A"/>
                </a:solidFill>
              </a:rPr>
              <a:t>A Java 21 server and a web console that turn any record into that screen, with BI on the same data and masks, and risk computed on demand: VaR and exposure for any scope, from the bank to one trade.</a:t>
            </a:r>
            <a:endParaRPr lang="en-US" sz="1300" dirty="0"/>
          </a:p>
        </p:txBody>
      </p:sp>
      <p:sp>
        <p:nvSpPr>
          <p:cNvPr id="16" name="Shape 13"/>
          <p:cNvSpPr/>
          <p:nvPr/>
        </p:nvSpPr>
        <p:spPr>
          <a:xfrm>
            <a:off x="777240" y="3383280"/>
            <a:ext cx="10634472" cy="868680"/>
          </a:xfrm>
          <a:prstGeom prst="rect">
            <a:avLst/>
          </a:prstGeom>
          <a:solidFill>
            <a:srgbClr val="F7F5F2"/>
          </a:solidFill>
          <a:ln/>
        </p:spPr>
        <p:txBody>
          <a:bodyPr/>
          <a:p/>
        </p:txBody>
      </p:sp>
      <p:sp>
        <p:nvSpPr>
          <p:cNvPr id="17" name="Shape 14"/>
          <p:cNvSpPr/>
          <p:nvPr/>
        </p:nvSpPr>
        <p:spPr>
          <a:xfrm>
            <a:off x="777240" y="3383280"/>
            <a:ext cx="2651760" cy="868680"/>
          </a:xfrm>
          <a:prstGeom prst="rect">
            <a:avLst/>
          </a:prstGeom>
          <a:solidFill>
            <a:srgbClr val="F6E6E9"/>
          </a:solidFill>
          <a:ln/>
        </p:spPr>
        <p:txBody>
          <a:bodyPr/>
          <a:p/>
        </p:txBody>
      </p:sp>
      <p:sp>
        <p:nvSpPr>
          <p:cNvPr id="18" name="Shape 15"/>
          <p:cNvSpPr/>
          <p:nvPr/>
        </p:nvSpPr>
        <p:spPr>
          <a:xfrm>
            <a:off x="777240" y="3383280"/>
            <a:ext cx="54864" cy="868680"/>
          </a:xfrm>
          <a:prstGeom prst="rect">
            <a:avLst/>
          </a:prstGeom>
          <a:solidFill>
            <a:srgbClr val="A51C30"/>
          </a:solidFill>
          <a:ln/>
        </p:spPr>
        <p:txBody>
          <a:bodyPr/>
          <a:p/>
        </p:txBody>
      </p:sp>
      <p:sp>
        <p:nvSpPr>
          <p:cNvPr id="19" name="Text 16"/>
          <p:cNvSpPr txBox="1"/>
          <p:nvPr/>
        </p:nvSpPr>
        <p:spPr>
          <a:xfrm>
            <a:off x="1005840" y="3383280"/>
            <a:ext cx="2331720" cy="868680"/>
          </a:xfrm>
          <a:prstGeom prst="rect">
            <a:avLst/>
          </a:prstGeom>
          <a:noFill/>
          <a:ln/>
        </p:spPr>
        <p:txBody>
          <a:bodyPr wrap="square" lIns="0" tIns="0" rIns="0" bIns="0" rtlCol="0" anchor="ctr"/>
          <a:lstStyle/>
          <a:p>
            <a:pPr indent="0" marL="0">
              <a:buNone/>
            </a:pPr>
            <a:r>
              <a:rPr lang="en-US" sz="1500" b="1" dirty="0">
                <a:solidFill>
                  <a:srgbClr val="8A1626"/>
                </a:solidFill>
              </a:rPr>
              <a:t>Why does it matter?</a:t>
            </a:r>
            <a:endParaRPr lang="en-US" sz="1500" dirty="0"/>
          </a:p>
        </p:txBody>
      </p:sp>
      <p:sp>
        <p:nvSpPr>
          <p:cNvPr id="20" name="Text 17"/>
          <p:cNvSpPr txBox="1"/>
          <p:nvPr/>
        </p:nvSpPr>
        <p:spPr>
          <a:xfrm>
            <a:off x="3703320" y="3383280"/>
            <a:ext cx="7543800" cy="868680"/>
          </a:xfrm>
          <a:prstGeom prst="rect">
            <a:avLst/>
          </a:prstGeom>
          <a:noFill/>
          <a:ln/>
        </p:spPr>
        <p:txBody>
          <a:bodyPr wrap="square" lIns="0" tIns="0" rIns="0" bIns="0" rtlCol="0" anchor="ctr"/>
          <a:lstStyle/>
          <a:p>
            <a:pPr indent="0" marL="0">
              <a:buNone/>
            </a:pPr>
            <a:r>
              <a:rPr lang="en-US" sz="1300" dirty="0">
                <a:solidFill>
                  <a:srgbClr val="1A1A1A"/>
                </a:solidFill>
              </a:rPr>
              <a:t>Every entity kind traditionally gets a bespoke screen, written once and rotting; every risk figure a stored number nobody can re-derive. Drishti makes a screen a paragraph and a figure a computation.</a:t>
            </a:r>
            <a:endParaRPr lang="en-US" sz="1300" dirty="0"/>
          </a:p>
        </p:txBody>
      </p:sp>
      <p:sp>
        <p:nvSpPr>
          <p:cNvPr id="21" name="Shape 18"/>
          <p:cNvSpPr/>
          <p:nvPr/>
        </p:nvSpPr>
        <p:spPr>
          <a:xfrm>
            <a:off x="777240" y="4370832"/>
            <a:ext cx="10634472" cy="868680"/>
          </a:xfrm>
          <a:prstGeom prst="rect">
            <a:avLst/>
          </a:prstGeom>
          <a:solidFill>
            <a:srgbClr val="F7F5F2"/>
          </a:solidFill>
          <a:ln/>
        </p:spPr>
        <p:txBody>
          <a:bodyPr/>
          <a:p/>
        </p:txBody>
      </p:sp>
      <p:sp>
        <p:nvSpPr>
          <p:cNvPr id="22" name="Shape 19"/>
          <p:cNvSpPr/>
          <p:nvPr/>
        </p:nvSpPr>
        <p:spPr>
          <a:xfrm>
            <a:off x="777240" y="4370832"/>
            <a:ext cx="2651760" cy="868680"/>
          </a:xfrm>
          <a:prstGeom prst="rect">
            <a:avLst/>
          </a:prstGeom>
          <a:solidFill>
            <a:srgbClr val="F6E6E9"/>
          </a:solidFill>
          <a:ln/>
        </p:spPr>
        <p:txBody>
          <a:bodyPr/>
          <a:p/>
        </p:txBody>
      </p:sp>
      <p:sp>
        <p:nvSpPr>
          <p:cNvPr id="23" name="Shape 20"/>
          <p:cNvSpPr/>
          <p:nvPr/>
        </p:nvSpPr>
        <p:spPr>
          <a:xfrm>
            <a:off x="777240" y="4370832"/>
            <a:ext cx="54864" cy="868680"/>
          </a:xfrm>
          <a:prstGeom prst="rect">
            <a:avLst/>
          </a:prstGeom>
          <a:solidFill>
            <a:srgbClr val="A51C30"/>
          </a:solidFill>
          <a:ln/>
        </p:spPr>
        <p:txBody>
          <a:bodyPr/>
          <a:p/>
        </p:txBody>
      </p:sp>
      <p:sp>
        <p:nvSpPr>
          <p:cNvPr id="24" name="Text 21"/>
          <p:cNvSpPr txBox="1"/>
          <p:nvPr/>
        </p:nvSpPr>
        <p:spPr>
          <a:xfrm>
            <a:off x="1005840" y="4370832"/>
            <a:ext cx="2331720" cy="868680"/>
          </a:xfrm>
          <a:prstGeom prst="rect">
            <a:avLst/>
          </a:prstGeom>
          <a:noFill/>
          <a:ln/>
        </p:spPr>
        <p:txBody>
          <a:bodyPr wrap="square" lIns="0" tIns="0" rIns="0" bIns="0" rtlCol="0" anchor="ctr"/>
          <a:lstStyle/>
          <a:p>
            <a:pPr indent="0" marL="0">
              <a:buNone/>
            </a:pPr>
            <a:r>
              <a:rPr lang="en-US" sz="1500" b="1" dirty="0">
                <a:solidFill>
                  <a:srgbClr val="8A1626"/>
                </a:solidFill>
              </a:rPr>
              <a:t>What can it do today?</a:t>
            </a:r>
            <a:endParaRPr lang="en-US" sz="1500" dirty="0"/>
          </a:p>
        </p:txBody>
      </p:sp>
      <p:sp>
        <p:nvSpPr>
          <p:cNvPr id="25" name="Text 22"/>
          <p:cNvSpPr txBox="1"/>
          <p:nvPr/>
        </p:nvSpPr>
        <p:spPr>
          <a:xfrm>
            <a:off x="3703320" y="4370832"/>
            <a:ext cx="7543800" cy="868680"/>
          </a:xfrm>
          <a:prstGeom prst="rect">
            <a:avLst/>
          </a:prstGeom>
          <a:noFill/>
          <a:ln/>
        </p:spPr>
        <p:txBody>
          <a:bodyPr wrap="square" lIns="0" tIns="0" rIns="0" bIns="0" rtlCol="0" anchor="ctr"/>
          <a:lstStyle/>
          <a:p>
            <a:pPr indent="0" marL="0">
              <a:buNone/>
            </a:pPr>
            <a:r>
              <a:rPr lang="en-US" sz="1300" dirty="0">
                <a:solidFill>
                  <a:srgbClr val="1A1A1A"/>
                </a:solidFill>
              </a:rPr>
              <a:t>Release 2.9.5: 11 packs, 219 Sutras, 103 commands with data contracts, 19 source plugins; VaR by any hierarchy, on Delta or Iceberg, equal to the cent; exposure; 3,312 Java test methods; 35.7M trades served.</a:t>
            </a:r>
            <a:endParaRPr lang="en-US" sz="1300" dirty="0"/>
          </a:p>
        </p:txBody>
      </p:sp>
      <p:sp>
        <p:nvSpPr>
          <p:cNvPr id="26" name="Shape 23"/>
          <p:cNvSpPr/>
          <p:nvPr/>
        </p:nvSpPr>
        <p:spPr>
          <a:xfrm>
            <a:off x="777240" y="5358384"/>
            <a:ext cx="10634472" cy="868680"/>
          </a:xfrm>
          <a:prstGeom prst="rect">
            <a:avLst/>
          </a:prstGeom>
          <a:solidFill>
            <a:srgbClr val="F7F5F2"/>
          </a:solidFill>
          <a:ln/>
        </p:spPr>
        <p:txBody>
          <a:bodyPr/>
          <a:p/>
        </p:txBody>
      </p:sp>
      <p:sp>
        <p:nvSpPr>
          <p:cNvPr id="27" name="Shape 24"/>
          <p:cNvSpPr/>
          <p:nvPr/>
        </p:nvSpPr>
        <p:spPr>
          <a:xfrm>
            <a:off x="777240" y="5358384"/>
            <a:ext cx="2651760" cy="868680"/>
          </a:xfrm>
          <a:prstGeom prst="rect">
            <a:avLst/>
          </a:prstGeom>
          <a:solidFill>
            <a:srgbClr val="F6E6E9"/>
          </a:solidFill>
          <a:ln/>
        </p:spPr>
        <p:txBody>
          <a:bodyPr/>
          <a:p/>
        </p:txBody>
      </p:sp>
      <p:sp>
        <p:nvSpPr>
          <p:cNvPr id="28" name="Shape 25"/>
          <p:cNvSpPr/>
          <p:nvPr/>
        </p:nvSpPr>
        <p:spPr>
          <a:xfrm>
            <a:off x="777240" y="5358384"/>
            <a:ext cx="54864" cy="868680"/>
          </a:xfrm>
          <a:prstGeom prst="rect">
            <a:avLst/>
          </a:prstGeom>
          <a:solidFill>
            <a:srgbClr val="A51C30"/>
          </a:solidFill>
          <a:ln/>
        </p:spPr>
        <p:txBody>
          <a:bodyPr/>
          <a:p/>
        </p:txBody>
      </p:sp>
      <p:sp>
        <p:nvSpPr>
          <p:cNvPr id="29" name="Text 26"/>
          <p:cNvSpPr txBox="1"/>
          <p:nvPr/>
        </p:nvSpPr>
        <p:spPr>
          <a:xfrm>
            <a:off x="1005840" y="5358384"/>
            <a:ext cx="2331720" cy="868680"/>
          </a:xfrm>
          <a:prstGeom prst="rect">
            <a:avLst/>
          </a:prstGeom>
          <a:noFill/>
          <a:ln/>
        </p:spPr>
        <p:txBody>
          <a:bodyPr wrap="square" lIns="0" tIns="0" rIns="0" bIns="0" rtlCol="0" anchor="ctr"/>
          <a:lstStyle/>
          <a:p>
            <a:pPr indent="0" marL="0">
              <a:buNone/>
            </a:pPr>
            <a:r>
              <a:rPr lang="en-US" sz="1500" b="1" dirty="0">
                <a:solidFill>
                  <a:srgbClr val="8A1626"/>
                </a:solidFill>
              </a:rPr>
              <a:t>Where is it going?</a:t>
            </a:r>
            <a:endParaRPr lang="en-US" sz="1500" dirty="0"/>
          </a:p>
        </p:txBody>
      </p:sp>
      <p:sp>
        <p:nvSpPr>
          <p:cNvPr id="30" name="Text 27"/>
          <p:cNvSpPr txBox="1"/>
          <p:nvPr/>
        </p:nvSpPr>
        <p:spPr>
          <a:xfrm>
            <a:off x="3703320" y="5358384"/>
            <a:ext cx="7543800" cy="868680"/>
          </a:xfrm>
          <a:prstGeom prst="rect">
            <a:avLst/>
          </a:prstGeom>
          <a:noFill/>
          <a:ln/>
        </p:spPr>
        <p:txBody>
          <a:bodyPr wrap="square" lIns="0" tIns="0" rIns="0" bIns="0" rtlCol="0" anchor="ctr"/>
          <a:lstStyle/>
          <a:p>
            <a:pPr indent="0" marL="0">
              <a:buNone/>
            </a:pPr>
            <a:r>
              <a:rPr lang="en-US" sz="1300" dirty="0">
                <a:solidFill>
                  <a:srgbClr val="1A1A1A"/>
                </a:solidFill>
              </a:rPr>
              <a:t>Built through 2.9.5. Designed: cluster scale-out and VaR sharding (2.9.6). Parked by the product owner: counterparty, balance-sheet and regulatory measures, then AI and GenUI.</a:t>
            </a:r>
            <a:endParaRPr lang="en-US" sz="13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hapter background"/>
          <p:cNvSpPr/>
          <p:nvPr/>
        </p:nvSpPr>
        <p:spPr>
          <a:xfrm>
            <a:off x="0" y="0"/>
            <a:ext cx="12191969"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Chapter watermark"/>
          <p:cNvSpPr txBox="1"/>
          <p:nvPr/>
        </p:nvSpPr>
        <p:spPr>
          <a:xfrm>
            <a:off x="4754880" y="-822960"/>
            <a:ext cx="7223760" cy="7863840"/>
          </a:xfrm>
          <a:prstGeom prst="rect">
            <a:avLst/>
          </a:prstGeom>
          <a:noFill/>
        </p:spPr>
        <p:txBody>
          <a:bodyPr wrap="none" lIns="0" rIns="0" tIns="0" bIns="0" anchor="ctr">
            <a:spAutoFit/>
          </a:bodyPr>
          <a:lstStyle/>
          <a:p>
            <a:pPr algn="r"/>
            <a:r>
              <a:rPr sz="42000" b="1" i="0">
                <a:solidFill>
                  <a:srgbClr val="B8394C"/>
                </a:solidFill>
              </a:rPr>
              <a:t>01</a:t>
            </a:r>
          </a:p>
        </p:txBody>
      </p:sp>
      <p:sp>
        <p:nvSpPr>
          <p:cNvPr id="4" name="Chapter name"/>
          <p:cNvSpPr txBox="1"/>
          <p:nvPr/>
        </p:nvSpPr>
        <p:spPr>
          <a:xfrm>
            <a:off x="822960" y="2514600"/>
            <a:ext cx="6949440" cy="1828800"/>
          </a:xfrm>
          <a:prstGeom prst="rect">
            <a:avLst/>
          </a:prstGeom>
          <a:noFill/>
        </p:spPr>
        <p:txBody>
          <a:bodyPr wrap="square" lIns="0" rIns="0" tIns="0" bIns="0" anchor="ctr">
            <a:spAutoFit/>
          </a:bodyPr>
          <a:lstStyle/>
          <a:p>
            <a:pPr algn="l"/>
            <a:r>
              <a:rPr sz="4400" b="1" i="0">
                <a:solidFill>
                  <a:srgbClr val="FFFFFF"/>
                </a:solidFill>
              </a:rPr>
              <a:t>The idea: a screen is a paragraph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THE CATEGORY</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What is a live entity terminal?</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Text 3"/>
          <p:cNvSpPr txBox="1"/>
          <p:nvPr/>
        </p:nvSpPr>
        <p:spPr>
          <a:xfrm>
            <a:off x="777240" y="1508760"/>
            <a:ext cx="10634472" cy="3931920"/>
          </a:xfrm>
          <a:prstGeom prst="rect">
            <a:avLst/>
          </a:prstGeom>
          <a:noFill/>
          <a:ln/>
        </p:spPr>
        <p:txBody>
          <a:bodyPr wrap="square" lIns="0" tIns="0" rIns="0" bIns="0" rtlCol="0" anchor="t"/>
          <a:lstStyle/>
          <a:p>
            <a:pPr indent="0" marL="0">
              <a:buNone/>
            </a:pPr>
            <a:r>
              <a:rPr lang="en-US" sz="1900" b="1" dirty="0">
                <a:solidFill>
                  <a:srgbClr val="A51C30"/>
                </a:solidFill>
              </a:rPr>
              <a:t>▪  One record, one dense screen</a:t>
            </a:r>
            <a:endParaRPr lang="en-US" sz="1900" dirty="0"/>
          </a:p>
          <a:p>
            <a:pPr indent="0" marL="0">
              <a:spcAft>
                <a:spcPts val="1800"/>
              </a:spcAft>
              <a:buNone/>
            </a:pPr>
            <a:r>
              <a:rPr lang="en-US" sz="1600" dirty="0">
                <a:solidFill>
                  <a:srgbClr val="4A5058"/>
                </a:solidFill>
              </a:rPr>
              <a:t>A swap, an FX trade, a netting set, a ticket or a gene variant, with its headline figures in a strip and its detail in up to twenty-two kinds of panel.</a:t>
            </a:r>
            <a:endParaRPr lang="en-US" sz="1900" dirty="0"/>
          </a:p>
          <a:p>
            <a:pPr indent="0" marL="0">
              <a:buNone/>
            </a:pPr>
            <a:r>
              <a:rPr lang="en-US" sz="1900" b="1" dirty="0">
                <a:solidFill>
                  <a:srgbClr val="A51C30"/>
                </a:solidFill>
              </a:rPr>
              <a:t>▪  Live, not refreshed</a:t>
            </a:r>
            <a:endParaRPr lang="en-US" sz="1900" dirty="0"/>
          </a:p>
          <a:p>
            <a:pPr indent="0" marL="0">
              <a:spcAft>
                <a:spcPts val="1800"/>
              </a:spcAft>
              <a:buNone/>
            </a:pPr>
            <a:r>
              <a:rPr lang="en-US" sz="1600" dirty="0">
                <a:solidFill>
                  <a:srgbClr val="4A5058"/>
                </a:solidFill>
              </a:rPr>
              <a:t>When the source changes, the open screen changes: only the changed figures are sent, measured at p99 11 ms from tick to frame.</a:t>
            </a:r>
            <a:endParaRPr lang="en-US" sz="1900" dirty="0"/>
          </a:p>
          <a:p>
            <a:pPr indent="0" marL="0">
              <a:buNone/>
            </a:pPr>
            <a:r>
              <a:rPr lang="en-US" sz="1900" b="1" dirty="0">
                <a:solidFill>
                  <a:srgbClr val="A51C30"/>
                </a:solidFill>
              </a:rPr>
              <a:t>▪  Linked</a:t>
            </a:r>
            <a:endParaRPr lang="en-US" sz="1900" dirty="0"/>
          </a:p>
          <a:p>
            <a:pPr indent="0" marL="0">
              <a:spcAft>
                <a:spcPts val="1800"/>
              </a:spcAft>
              <a:buNone/>
            </a:pPr>
            <a:r>
              <a:rPr lang="en-US" sz="1600" dirty="0">
                <a:solidFill>
                  <a:srgbClr val="4A5058"/>
                </a:solidFill>
              </a:rPr>
              <a:t>Every id on the screen is a link: a trade's counterparty, its netting set, its curve — one keystroke away, across systems.</a:t>
            </a:r>
            <a:endParaRPr lang="en-US" sz="1900" dirty="0"/>
          </a:p>
          <a:p>
            <a:pPr indent="0" marL="0">
              <a:buNone/>
            </a:pPr>
            <a:r>
              <a:rPr lang="en-US" sz="1900" b="1" dirty="0">
                <a:solidFill>
                  <a:srgbClr val="A51C30"/>
                </a:solidFill>
              </a:rPr>
              <a:t>▪  Explained</a:t>
            </a:r>
            <a:endParaRPr lang="en-US" sz="1900" dirty="0"/>
          </a:p>
          <a:p>
            <a:pPr indent="0" marL="0">
              <a:spcAft>
                <a:spcPts val="1800"/>
              </a:spcAft>
              <a:buNone/>
            </a:pPr>
            <a:r>
              <a:rPr lang="en-US" sz="1600" dirty="0">
                <a:solidFill>
                  <a:srgbClr val="4A5058"/>
                </a:solidFill>
              </a:rPr>
              <a:t>Every view says where its data came from, how fresh it is, and why it is laid out the way it is.</a:t>
            </a:r>
            <a:endParaRPr lang="en-US" sz="1900" dirty="0"/>
          </a:p>
        </p:txBody>
      </p:sp>
      <p:sp>
        <p:nvSpPr>
          <p:cNvPr id="7" name="Shape 4"/>
          <p:cNvSpPr/>
          <p:nvPr/>
        </p:nvSpPr>
        <p:spPr>
          <a:xfrm>
            <a:off x="777240" y="5550408"/>
            <a:ext cx="10634472" cy="694944"/>
          </a:xfrm>
          <a:prstGeom prst="rect">
            <a:avLst/>
          </a:prstGeom>
          <a:solidFill>
            <a:srgbClr val="F6E6E9"/>
          </a:solidFill>
          <a:ln/>
        </p:spPr>
        <p:txBody>
          <a:bodyPr/>
          <a:p/>
        </p:txBody>
      </p:sp>
      <p:sp>
        <p:nvSpPr>
          <p:cNvPr id="8" name="Shape 5"/>
          <p:cNvSpPr/>
          <p:nvPr/>
        </p:nvSpPr>
        <p:spPr>
          <a:xfrm>
            <a:off x="777240" y="5550408"/>
            <a:ext cx="54864" cy="694944"/>
          </a:xfrm>
          <a:prstGeom prst="rect">
            <a:avLst/>
          </a:prstGeom>
          <a:solidFill>
            <a:srgbClr val="A51C30"/>
          </a:solidFill>
          <a:ln/>
        </p:spPr>
        <p:txBody>
          <a:bodyPr/>
          <a:p/>
        </p:txBody>
      </p:sp>
      <p:sp>
        <p:nvSpPr>
          <p:cNvPr id="9" name="Text 6"/>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The terminal is the standard for dense, live screens — Drishti makes one for any record you have, not only the vendor's.</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THE PROBLEM</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Every entity kind gets a bespoke screen — and the screen rots</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444752"/>
            <a:ext cx="5166360" cy="384048"/>
          </a:xfrm>
          <a:prstGeom prst="rect">
            <a:avLst/>
          </a:prstGeom>
          <a:solidFill>
            <a:srgbClr val="F6E6E9"/>
          </a:solidFill>
          <a:ln/>
        </p:spPr>
        <p:txBody>
          <a:bodyPr/>
          <a:p/>
        </p:txBody>
      </p:sp>
      <p:sp>
        <p:nvSpPr>
          <p:cNvPr id="7" name="Text 4"/>
          <p:cNvSpPr txBox="1"/>
          <p:nvPr/>
        </p:nvSpPr>
        <p:spPr>
          <a:xfrm>
            <a:off x="941832" y="1444752"/>
            <a:ext cx="4846320" cy="384048"/>
          </a:xfrm>
          <a:prstGeom prst="rect">
            <a:avLst/>
          </a:prstGeom>
          <a:noFill/>
          <a:ln/>
        </p:spPr>
        <p:txBody>
          <a:bodyPr wrap="square" lIns="0" tIns="0" rIns="0" bIns="0" rtlCol="0" anchor="ctr"/>
          <a:lstStyle/>
          <a:p>
            <a:pPr indent="0" marL="0">
              <a:buNone/>
            </a:pPr>
            <a:r>
              <a:rPr lang="en-US" sz="1300" b="1" dirty="0">
                <a:solidFill>
                  <a:srgbClr val="8A1626"/>
                </a:solidFill>
              </a:rPr>
              <a:t>A screen per product, in the documents' own words</a:t>
            </a:r>
            <a:endParaRPr lang="en-US" sz="1300" dirty="0"/>
          </a:p>
        </p:txBody>
      </p:sp>
      <p:sp>
        <p:nvSpPr>
          <p:cNvPr id="8" name="Text 5"/>
          <p:cNvSpPr txBox="1"/>
          <p:nvPr/>
        </p:nvSpPr>
        <p:spPr>
          <a:xfrm>
            <a:off x="868680" y="1965960"/>
            <a:ext cx="4983480" cy="3474720"/>
          </a:xfrm>
          <a:prstGeom prst="rect">
            <a:avLst/>
          </a:prstGeom>
          <a:noFill/>
          <a:ln/>
        </p:spPr>
        <p:txBody>
          <a:bodyPr wrap="square" lIns="0" tIns="0" rIns="0" bIns="0" rtlCol="0" anchor="t"/>
          <a:lstStyle/>
          <a:p>
            <a:pPr indent="0" marL="0">
              <a:buNone/>
            </a:pPr>
            <a:r>
              <a:rPr lang="en-US" sz="1500" b="1" dirty="0">
                <a:solidFill>
                  <a:srgbClr val="A51C30"/>
                </a:solidFill>
              </a:rPr>
              <a:t>▪  Hundreds of entity kinds</a:t>
            </a:r>
            <a:endParaRPr lang="en-US" sz="1500" dirty="0"/>
          </a:p>
          <a:p>
            <a:pPr indent="0" marL="0">
              <a:spcAft>
                <a:spcPts val="900"/>
              </a:spcAft>
              <a:buNone/>
            </a:pPr>
            <a:r>
              <a:rPr lang="en-US" sz="1300" dirty="0">
                <a:solidFill>
                  <a:srgbClr val="4A5058"/>
                </a:solidFill>
              </a:rPr>
              <a:t>“Front-office, risk and operations staff look at hundreds of entity kinds.”</a:t>
            </a:r>
            <a:endParaRPr lang="en-US" sz="1500" dirty="0"/>
          </a:p>
          <a:p>
            <a:pPr indent="0" marL="0">
              <a:buNone/>
            </a:pPr>
            <a:r>
              <a:rPr lang="en-US" sz="1500" b="1" dirty="0">
                <a:solidFill>
                  <a:srgbClr val="A51C30"/>
                </a:solidFill>
              </a:rPr>
              <a:t>▪  Written once, rotting for ever</a:t>
            </a:r>
            <a:endParaRPr lang="en-US" sz="1500" dirty="0"/>
          </a:p>
          <a:p>
            <a:pPr indent="0" marL="0">
              <a:spcAft>
                <a:spcPts val="900"/>
              </a:spcAft>
              <a:buNone/>
            </a:pPr>
            <a:r>
              <a:rPr lang="en-US" sz="1300" dirty="0">
                <a:solidFill>
                  <a:srgbClr val="4A5058"/>
                </a:solidFill>
              </a:rPr>
              <a:t>“Each one traditionally gets a bespoke screen, written once and rotting forever.”</a:t>
            </a:r>
            <a:endParaRPr lang="en-US" sz="1500" dirty="0"/>
          </a:p>
          <a:p>
            <a:pPr indent="0" marL="0">
              <a:buNone/>
            </a:pPr>
            <a:r>
              <a:rPr lang="en-US" sz="1500" b="1" dirty="0">
                <a:solidFill>
                  <a:srgbClr val="A51C30"/>
                </a:solidFill>
              </a:rPr>
              <a:t>▪  Data outruns screens</a:t>
            </a:r>
            <a:endParaRPr lang="en-US" sz="1500" dirty="0"/>
          </a:p>
          <a:p>
            <a:pPr indent="0" marL="0">
              <a:spcAft>
                <a:spcPts val="900"/>
              </a:spcAft>
              <a:buNone/>
            </a:pPr>
            <a:r>
              <a:rPr lang="en-US" sz="1300" dirty="0">
                <a:solidFill>
                  <a:srgbClr val="4A5058"/>
                </a:solidFill>
              </a:rPr>
              <a:t>“The data changes shape faster than screens can be rebuilt.”</a:t>
            </a:r>
            <a:endParaRPr lang="en-US" sz="1500" dirty="0"/>
          </a:p>
        </p:txBody>
      </p:sp>
      <p:sp>
        <p:nvSpPr>
          <p:cNvPr id="9" name="Shape 6"/>
          <p:cNvSpPr/>
          <p:nvPr/>
        </p:nvSpPr>
        <p:spPr>
          <a:xfrm>
            <a:off x="6245352" y="1444752"/>
            <a:ext cx="5166360" cy="384048"/>
          </a:xfrm>
          <a:prstGeom prst="rect">
            <a:avLst/>
          </a:prstGeom>
          <a:solidFill>
            <a:srgbClr val="F6E6E9"/>
          </a:solidFill>
          <a:ln/>
        </p:spPr>
        <p:txBody>
          <a:bodyPr/>
          <a:p/>
        </p:txBody>
      </p:sp>
      <p:sp>
        <p:nvSpPr>
          <p:cNvPr id="10" name="Text 7"/>
          <p:cNvSpPr txBox="1"/>
          <p:nvPr/>
        </p:nvSpPr>
        <p:spPr>
          <a:xfrm>
            <a:off x="6409944" y="1444752"/>
            <a:ext cx="4846320" cy="384048"/>
          </a:xfrm>
          <a:prstGeom prst="rect">
            <a:avLst/>
          </a:prstGeom>
          <a:noFill/>
          <a:ln/>
        </p:spPr>
        <p:txBody>
          <a:bodyPr wrap="square" lIns="0" tIns="0" rIns="0" bIns="0" rtlCol="0" anchor="ctr"/>
          <a:lstStyle/>
          <a:p>
            <a:pPr indent="0" marL="0">
              <a:buNone/>
            </a:pPr>
            <a:r>
              <a:rPr lang="en-US" sz="1300" b="1" dirty="0">
                <a:solidFill>
                  <a:srgbClr val="8A1626"/>
                </a:solidFill>
              </a:rPr>
              <a:t>And what people do in the meantime</a:t>
            </a:r>
            <a:endParaRPr lang="en-US" sz="1300" dirty="0"/>
          </a:p>
        </p:txBody>
      </p:sp>
      <p:sp>
        <p:nvSpPr>
          <p:cNvPr id="11" name="Text 8"/>
          <p:cNvSpPr txBox="1"/>
          <p:nvPr/>
        </p:nvSpPr>
        <p:spPr>
          <a:xfrm>
            <a:off x="6336792" y="1965960"/>
            <a:ext cx="4983480" cy="3474720"/>
          </a:xfrm>
          <a:prstGeom prst="rect">
            <a:avLst/>
          </a:prstGeom>
          <a:noFill/>
          <a:ln/>
        </p:spPr>
        <p:txBody>
          <a:bodyPr wrap="square" lIns="0" tIns="0" rIns="0" bIns="0" rtlCol="0" anchor="t"/>
          <a:lstStyle/>
          <a:p>
            <a:pPr indent="0" marL="0">
              <a:buNone/>
            </a:pPr>
            <a:r>
              <a:rPr lang="en-US" sz="1500" b="1" dirty="0">
                <a:solidFill>
                  <a:srgbClr val="A51C30"/>
                </a:solidFill>
              </a:rPr>
              <a:t>▪  Tab between systems</a:t>
            </a:r>
            <a:endParaRPr lang="en-US" sz="1500" dirty="0"/>
          </a:p>
          <a:p>
            <a:pPr indent="0" marL="0">
              <a:spcAft>
                <a:spcPts val="900"/>
              </a:spcAft>
              <a:buNone/>
            </a:pPr>
            <a:r>
              <a:rPr lang="en-US" sz="1300" dirty="0">
                <a:solidFill>
                  <a:srgbClr val="4A5058"/>
                </a:solidFill>
              </a:rPr>
              <a:t>“A trade lives in one system, its netting set in another, its curve in a third … the desk tabs between them.”</a:t>
            </a:r>
            <a:endParaRPr lang="en-US" sz="1500" dirty="0"/>
          </a:p>
          <a:p>
            <a:pPr indent="0" marL="0">
              <a:buNone/>
            </a:pPr>
            <a:r>
              <a:rPr lang="en-US" sz="1500" b="1" dirty="0">
                <a:solidFill>
                  <a:srgbClr val="A51C30"/>
                </a:solidFill>
              </a:rPr>
              <a:t>▪  Wait for a screen</a:t>
            </a:r>
            <a:endParaRPr lang="en-US" sz="1500" dirty="0"/>
          </a:p>
          <a:p>
            <a:pPr indent="0" marL="0">
              <a:spcAft>
                <a:spcPts val="900"/>
              </a:spcAft>
              <a:buNone/>
            </a:pPr>
            <a:r>
              <a:rPr lang="en-US" sz="1300" dirty="0">
                <a:solidFill>
                  <a:srgbClr val="4A5058"/>
                </a:solidFill>
              </a:rPr>
              <a:t>“Every new product type waits for a screen.”</a:t>
            </a:r>
            <a:endParaRPr lang="en-US" sz="1500" dirty="0"/>
          </a:p>
          <a:p>
            <a:pPr indent="0" marL="0">
              <a:buNone/>
            </a:pPr>
            <a:r>
              <a:rPr lang="en-US" sz="1500" b="1" dirty="0">
                <a:solidFill>
                  <a:srgbClr val="A51C30"/>
                </a:solidFill>
              </a:rPr>
              <a:t>▪  Read raw JSON</a:t>
            </a:r>
            <a:endParaRPr lang="en-US" sz="1500" dirty="0"/>
          </a:p>
          <a:p>
            <a:pPr indent="0" marL="0">
              <a:spcAft>
                <a:spcPts val="900"/>
              </a:spcAft>
              <a:buNone/>
            </a:pPr>
            <a:r>
              <a:rPr lang="en-US" sz="1300" dirty="0">
                <a:solidFill>
                  <a:srgbClr val="4A5058"/>
                </a:solidFill>
              </a:rPr>
              <a:t>“A new feed or product has no screen at all, so on day one people read raw JSON or wait.”</a:t>
            </a:r>
            <a:endParaRPr lang="en-US" sz="1500" dirty="0"/>
          </a:p>
        </p:txBody>
      </p:sp>
      <p:sp>
        <p:nvSpPr>
          <p:cNvPr id="12" name="Shape 9"/>
          <p:cNvSpPr/>
          <p:nvPr/>
        </p:nvSpPr>
        <p:spPr>
          <a:xfrm>
            <a:off x="777240" y="5550408"/>
            <a:ext cx="10634472" cy="694944"/>
          </a:xfrm>
          <a:prstGeom prst="rect">
            <a:avLst/>
          </a:prstGeom>
          <a:solidFill>
            <a:srgbClr val="F6E6E9"/>
          </a:solidFill>
          <a:ln/>
        </p:spPr>
        <p:txBody>
          <a:bodyPr/>
          <a:p/>
        </p:txBody>
      </p:sp>
      <p:sp>
        <p:nvSpPr>
          <p:cNvPr id="13" name="Shape 10"/>
          <p:cNvSpPr/>
          <p:nvPr/>
        </p:nvSpPr>
        <p:spPr>
          <a:xfrm>
            <a:off x="777240" y="5550408"/>
            <a:ext cx="54864" cy="694944"/>
          </a:xfrm>
          <a:prstGeom prst="rect">
            <a:avLst/>
          </a:prstGeom>
          <a:solidFill>
            <a:srgbClr val="A51C30"/>
          </a:solidFill>
          <a:ln/>
        </p:spPr>
        <p:txBody>
          <a:bodyPr/>
          <a:p/>
        </p:txBody>
      </p:sp>
      <p:sp>
        <p:nvSpPr>
          <p:cNvPr id="14" name="Text 11"/>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Nobody here is short of data — they are short of a screen for it that is dense, live and linked.</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THE SHAPE OF THE FIX</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From a coded screen per product — to one grammar and inference</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600200"/>
            <a:ext cx="2103120" cy="123444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7" name="Text 4"/>
          <p:cNvSpPr txBox="1"/>
          <p:nvPr/>
        </p:nvSpPr>
        <p:spPr>
          <a:xfrm>
            <a:off x="914400" y="1709928"/>
            <a:ext cx="1828800" cy="329184"/>
          </a:xfrm>
          <a:prstGeom prst="rect">
            <a:avLst/>
          </a:prstGeom>
          <a:noFill/>
          <a:ln/>
        </p:spPr>
        <p:txBody>
          <a:bodyPr wrap="square" lIns="0" tIns="0" rIns="0" bIns="0" rtlCol="0" anchor="t"/>
          <a:lstStyle/>
          <a:p>
            <a:pPr indent="0" marL="0">
              <a:buNone/>
            </a:pPr>
            <a:r>
              <a:rPr lang="en-US" sz="1500" b="1" dirty="0">
                <a:solidFill>
                  <a:srgbClr val="1A1A1A"/>
                </a:solidFill>
              </a:rPr>
              <a:t>Your systems</a:t>
            </a:r>
            <a:endParaRPr lang="en-US" sz="1500" dirty="0"/>
          </a:p>
        </p:txBody>
      </p:sp>
      <p:sp>
        <p:nvSpPr>
          <p:cNvPr id="8" name="Text 5"/>
          <p:cNvSpPr txBox="1"/>
          <p:nvPr/>
        </p:nvSpPr>
        <p:spPr>
          <a:xfrm>
            <a:off x="914400" y="2057400"/>
            <a:ext cx="1828800" cy="713232"/>
          </a:xfrm>
          <a:prstGeom prst="rect">
            <a:avLst/>
          </a:prstGeom>
          <a:noFill/>
          <a:ln/>
        </p:spPr>
        <p:txBody>
          <a:bodyPr wrap="square" lIns="0" tIns="0" rIns="0" bIns="0" rtlCol="0" anchor="t"/>
          <a:lstStyle/>
          <a:p>
            <a:pPr indent="0" marL="0">
              <a:buNone/>
            </a:pPr>
            <a:r>
              <a:rPr lang="en-US" sz="1150" dirty="0">
                <a:solidFill>
                  <a:srgbClr val="4A5058"/>
                </a:solidFill>
              </a:rPr>
              <a:t>Trades, curves, tickets, variants</a:t>
            </a:r>
            <a:endParaRPr lang="en-US" sz="1150" dirty="0"/>
          </a:p>
        </p:txBody>
      </p:sp>
      <p:sp>
        <p:nvSpPr>
          <p:cNvPr id="9" name="Shape 6"/>
          <p:cNvSpPr/>
          <p:nvPr/>
        </p:nvSpPr>
        <p:spPr>
          <a:xfrm>
            <a:off x="3246120" y="1600200"/>
            <a:ext cx="2377440" cy="123444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10" name="Text 7"/>
          <p:cNvSpPr txBox="1"/>
          <p:nvPr/>
        </p:nvSpPr>
        <p:spPr>
          <a:xfrm>
            <a:off x="3383280" y="1709928"/>
            <a:ext cx="2103120" cy="329184"/>
          </a:xfrm>
          <a:prstGeom prst="rect">
            <a:avLst/>
          </a:prstGeom>
          <a:noFill/>
          <a:ln/>
        </p:spPr>
        <p:txBody>
          <a:bodyPr wrap="square" lIns="0" tIns="0" rIns="0" bIns="0" rtlCol="0" anchor="t"/>
          <a:lstStyle/>
          <a:p>
            <a:pPr indent="0" marL="0">
              <a:buNone/>
            </a:pPr>
            <a:r>
              <a:rPr lang="en-US" sz="1500" b="1" dirty="0">
                <a:solidFill>
                  <a:srgbClr val="1A1A1A"/>
                </a:solidFill>
              </a:rPr>
              <a:t>A screen per kind</a:t>
            </a:r>
            <a:endParaRPr lang="en-US" sz="1500" dirty="0"/>
          </a:p>
        </p:txBody>
      </p:sp>
      <p:sp>
        <p:nvSpPr>
          <p:cNvPr id="11" name="Text 8"/>
          <p:cNvSpPr txBox="1"/>
          <p:nvPr/>
        </p:nvSpPr>
        <p:spPr>
          <a:xfrm>
            <a:off x="3383280" y="2057400"/>
            <a:ext cx="2103120" cy="713232"/>
          </a:xfrm>
          <a:prstGeom prst="rect">
            <a:avLst/>
          </a:prstGeom>
          <a:noFill/>
          <a:ln/>
        </p:spPr>
        <p:txBody>
          <a:bodyPr wrap="square" lIns="0" tIns="0" rIns="0" bIns="0" rtlCol="0" anchor="t"/>
          <a:lstStyle/>
          <a:p>
            <a:pPr indent="0" marL="0">
              <a:buNone/>
            </a:pPr>
            <a:r>
              <a:rPr lang="en-US" sz="1150" dirty="0">
                <a:solidFill>
                  <a:srgbClr val="4A5058"/>
                </a:solidFill>
              </a:rPr>
              <a:t>Coded by a developer, per product</a:t>
            </a:r>
            <a:endParaRPr lang="en-US" sz="1150" dirty="0"/>
          </a:p>
        </p:txBody>
      </p:sp>
      <p:sp>
        <p:nvSpPr>
          <p:cNvPr id="12" name="Shape 9"/>
          <p:cNvSpPr/>
          <p:nvPr/>
        </p:nvSpPr>
        <p:spPr>
          <a:xfrm>
            <a:off x="5989320" y="1600200"/>
            <a:ext cx="2377440" cy="123444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13" name="Text 10"/>
          <p:cNvSpPr txBox="1"/>
          <p:nvPr/>
        </p:nvSpPr>
        <p:spPr>
          <a:xfrm>
            <a:off x="6126480" y="1709928"/>
            <a:ext cx="2103120" cy="329184"/>
          </a:xfrm>
          <a:prstGeom prst="rect">
            <a:avLst/>
          </a:prstGeom>
          <a:noFill/>
          <a:ln/>
        </p:spPr>
        <p:txBody>
          <a:bodyPr wrap="square" lIns="0" tIns="0" rIns="0" bIns="0" rtlCol="0" anchor="t"/>
          <a:lstStyle/>
          <a:p>
            <a:pPr indent="0" marL="0">
              <a:buNone/>
            </a:pPr>
            <a:r>
              <a:rPr lang="en-US" sz="1500" b="1" dirty="0">
                <a:solidFill>
                  <a:srgbClr val="1A1A1A"/>
                </a:solidFill>
              </a:rPr>
              <a:t>A backlog</a:t>
            </a:r>
            <a:endParaRPr lang="en-US" sz="1500" dirty="0"/>
          </a:p>
        </p:txBody>
      </p:sp>
      <p:sp>
        <p:nvSpPr>
          <p:cNvPr id="14" name="Text 11"/>
          <p:cNvSpPr txBox="1"/>
          <p:nvPr/>
        </p:nvSpPr>
        <p:spPr>
          <a:xfrm>
            <a:off x="6126480" y="2057400"/>
            <a:ext cx="2103120" cy="713232"/>
          </a:xfrm>
          <a:prstGeom prst="rect">
            <a:avLst/>
          </a:prstGeom>
          <a:noFill/>
          <a:ln/>
        </p:spPr>
        <p:txBody>
          <a:bodyPr wrap="square" lIns="0" tIns="0" rIns="0" bIns="0" rtlCol="0" anchor="t"/>
          <a:lstStyle/>
          <a:p>
            <a:pPr indent="0" marL="0">
              <a:buNone/>
            </a:pPr>
            <a:r>
              <a:rPr lang="en-US" sz="1150" dirty="0">
                <a:solidFill>
                  <a:srgbClr val="4A5058"/>
                </a:solidFill>
              </a:rPr>
              <a:t>New products wait for a screen</a:t>
            </a:r>
            <a:endParaRPr lang="en-US" sz="1150" dirty="0"/>
          </a:p>
        </p:txBody>
      </p:sp>
      <p:sp>
        <p:nvSpPr>
          <p:cNvPr id="15" name="Shape 12"/>
          <p:cNvSpPr/>
          <p:nvPr/>
        </p:nvSpPr>
        <p:spPr>
          <a:xfrm>
            <a:off x="8732520" y="1600200"/>
            <a:ext cx="2679192" cy="123444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16" name="Text 13"/>
          <p:cNvSpPr txBox="1"/>
          <p:nvPr/>
        </p:nvSpPr>
        <p:spPr>
          <a:xfrm>
            <a:off x="8869680" y="1709928"/>
            <a:ext cx="2404872" cy="329184"/>
          </a:xfrm>
          <a:prstGeom prst="rect">
            <a:avLst/>
          </a:prstGeom>
          <a:noFill/>
          <a:ln/>
        </p:spPr>
        <p:txBody>
          <a:bodyPr wrap="square" lIns="0" tIns="0" rIns="0" bIns="0" rtlCol="0" anchor="t"/>
          <a:lstStyle/>
          <a:p>
            <a:pPr indent="0" marL="0">
              <a:buNone/>
            </a:pPr>
            <a:r>
              <a:rPr lang="en-US" sz="1500" b="1" dirty="0">
                <a:solidFill>
                  <a:srgbClr val="1A1A1A"/>
                </a:solidFill>
              </a:rPr>
              <a:t>Drift</a:t>
            </a:r>
            <a:endParaRPr lang="en-US" sz="1500" dirty="0"/>
          </a:p>
        </p:txBody>
      </p:sp>
      <p:sp>
        <p:nvSpPr>
          <p:cNvPr id="17" name="Text 14"/>
          <p:cNvSpPr txBox="1"/>
          <p:nvPr/>
        </p:nvSpPr>
        <p:spPr>
          <a:xfrm>
            <a:off x="8869680" y="2057400"/>
            <a:ext cx="2404872" cy="713232"/>
          </a:xfrm>
          <a:prstGeom prst="rect">
            <a:avLst/>
          </a:prstGeom>
          <a:noFill/>
          <a:ln/>
        </p:spPr>
        <p:txBody>
          <a:bodyPr wrap="square" lIns="0" tIns="0" rIns="0" bIns="0" rtlCol="0" anchor="t"/>
          <a:lstStyle/>
          <a:p>
            <a:pPr indent="0" marL="0">
              <a:buNone/>
            </a:pPr>
            <a:r>
              <a:rPr lang="en-US" sz="1150" dirty="0">
                <a:solidFill>
                  <a:srgbClr val="4A5058"/>
                </a:solidFill>
              </a:rPr>
              <a:t>The data changes; the screen does not</a:t>
            </a:r>
            <a:endParaRPr lang="en-US" sz="1150" dirty="0"/>
          </a:p>
        </p:txBody>
      </p:sp>
      <p:sp>
        <p:nvSpPr>
          <p:cNvPr id="18" name="Shape 15"/>
          <p:cNvSpPr/>
          <p:nvPr/>
        </p:nvSpPr>
        <p:spPr>
          <a:xfrm>
            <a:off x="2880360" y="2217420"/>
            <a:ext cx="365760" cy="914"/>
          </a:xfrm>
          <a:prstGeom prst="line">
            <a:avLst/>
          </a:prstGeom>
          <a:noFill/>
          <a:ln w="22225">
            <a:solidFill>
              <a:srgbClr val="A51C30"/>
            </a:solidFill>
            <a:prstDash val="solid"/>
            <a:tailEnd type="triangle"/>
          </a:ln>
        </p:spPr>
        <p:txBody>
          <a:bodyPr/>
          <a:p/>
        </p:txBody>
      </p:sp>
      <p:sp>
        <p:nvSpPr>
          <p:cNvPr id="19" name="Shape 16"/>
          <p:cNvSpPr/>
          <p:nvPr/>
        </p:nvSpPr>
        <p:spPr>
          <a:xfrm>
            <a:off x="5623560" y="2217420"/>
            <a:ext cx="365760" cy="914"/>
          </a:xfrm>
          <a:prstGeom prst="line">
            <a:avLst/>
          </a:prstGeom>
          <a:noFill/>
          <a:ln w="22225">
            <a:solidFill>
              <a:srgbClr val="A51C30"/>
            </a:solidFill>
            <a:prstDash val="solid"/>
            <a:tailEnd type="triangle"/>
          </a:ln>
        </p:spPr>
        <p:txBody>
          <a:bodyPr/>
          <a:p/>
        </p:txBody>
      </p:sp>
      <p:sp>
        <p:nvSpPr>
          <p:cNvPr id="20" name="Shape 17"/>
          <p:cNvSpPr/>
          <p:nvPr/>
        </p:nvSpPr>
        <p:spPr>
          <a:xfrm>
            <a:off x="8366760" y="2217420"/>
            <a:ext cx="365760" cy="914"/>
          </a:xfrm>
          <a:prstGeom prst="line">
            <a:avLst/>
          </a:prstGeom>
          <a:noFill/>
          <a:ln w="22225">
            <a:solidFill>
              <a:srgbClr val="A51C30"/>
            </a:solidFill>
            <a:prstDash val="solid"/>
            <a:tailEnd type="triangle"/>
          </a:ln>
        </p:spPr>
        <p:txBody>
          <a:bodyPr/>
          <a:p/>
        </p:txBody>
      </p:sp>
      <p:sp>
        <p:nvSpPr>
          <p:cNvPr id="21" name="Shape 18"/>
          <p:cNvSpPr/>
          <p:nvPr/>
        </p:nvSpPr>
        <p:spPr>
          <a:xfrm>
            <a:off x="777240" y="3520440"/>
            <a:ext cx="2103120" cy="123444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22" name="Text 19"/>
          <p:cNvSpPr txBox="1"/>
          <p:nvPr/>
        </p:nvSpPr>
        <p:spPr>
          <a:xfrm>
            <a:off x="914400" y="3630168"/>
            <a:ext cx="1828800" cy="329184"/>
          </a:xfrm>
          <a:prstGeom prst="rect">
            <a:avLst/>
          </a:prstGeom>
          <a:noFill/>
          <a:ln/>
        </p:spPr>
        <p:txBody>
          <a:bodyPr wrap="square" lIns="0" tIns="0" rIns="0" bIns="0" rtlCol="0" anchor="t"/>
          <a:lstStyle/>
          <a:p>
            <a:pPr indent="0" marL="0">
              <a:buNone/>
            </a:pPr>
            <a:r>
              <a:rPr lang="en-US" sz="1500" b="1" dirty="0">
                <a:solidFill>
                  <a:srgbClr val="1A1A1A"/>
                </a:solidFill>
              </a:rPr>
              <a:t>Your systems</a:t>
            </a:r>
            <a:endParaRPr lang="en-US" sz="1500" dirty="0"/>
          </a:p>
        </p:txBody>
      </p:sp>
      <p:sp>
        <p:nvSpPr>
          <p:cNvPr id="23" name="Text 20"/>
          <p:cNvSpPr txBox="1"/>
          <p:nvPr/>
        </p:nvSpPr>
        <p:spPr>
          <a:xfrm>
            <a:off x="914400" y="3977640"/>
            <a:ext cx="1828800" cy="713232"/>
          </a:xfrm>
          <a:prstGeom prst="rect">
            <a:avLst/>
          </a:prstGeom>
          <a:noFill/>
          <a:ln/>
        </p:spPr>
        <p:txBody>
          <a:bodyPr wrap="square" lIns="0" tIns="0" rIns="0" bIns="0" rtlCol="0" anchor="t"/>
          <a:lstStyle/>
          <a:p>
            <a:pPr indent="0" marL="0">
              <a:buNone/>
            </a:pPr>
            <a:r>
              <a:rPr lang="en-US" sz="1150" dirty="0">
                <a:solidFill>
                  <a:srgbClr val="4A5058"/>
                </a:solidFill>
              </a:rPr>
              <a:t>Read where they are, through plugins</a:t>
            </a:r>
            <a:endParaRPr lang="en-US" sz="1150" dirty="0"/>
          </a:p>
        </p:txBody>
      </p:sp>
      <p:sp>
        <p:nvSpPr>
          <p:cNvPr id="24" name="Shape 21"/>
          <p:cNvSpPr/>
          <p:nvPr/>
        </p:nvSpPr>
        <p:spPr>
          <a:xfrm>
            <a:off x="3246120" y="3520440"/>
            <a:ext cx="5120640" cy="1234440"/>
          </a:xfrm>
          <a:prstGeom prst="rect">
            <a:avLst/>
          </a:prstGeom>
          <a:solidFill>
            <a:srgbClr val="F6E6E9"/>
          </a:solidFill>
          <a:ln w="12700">
            <a:solidFill>
              <a:srgbClr val="A51C30"/>
            </a:solidFill>
            <a:prstDash val="solid"/>
          </a:ln>
          <a:effectLst>
            <a:outerShdw sx="100000" sy="100000" kx="0" ky="0" algn="bl" rotWithShape="0" blurRad="50800" dist="19050" dir="5400000">
              <a:srgbClr val="000000">
                <a:alpha val="10000"/>
              </a:srgbClr>
            </a:outerShdw>
          </a:effectLst>
        </p:spPr>
        <p:txBody>
          <a:bodyPr/>
          <a:p/>
        </p:txBody>
      </p:sp>
      <p:sp>
        <p:nvSpPr>
          <p:cNvPr id="25" name="Text 22"/>
          <p:cNvSpPr txBox="1"/>
          <p:nvPr/>
        </p:nvSpPr>
        <p:spPr>
          <a:xfrm>
            <a:off x="3383280" y="3611880"/>
            <a:ext cx="4846320" cy="201168"/>
          </a:xfrm>
          <a:prstGeom prst="rect">
            <a:avLst/>
          </a:prstGeom>
          <a:noFill/>
          <a:ln/>
        </p:spPr>
        <p:txBody>
          <a:bodyPr wrap="square" lIns="0" tIns="0" rIns="0" bIns="0" rtlCol="0" anchor="ctr"/>
          <a:lstStyle/>
          <a:p>
            <a:pPr indent="0" marL="0">
              <a:buNone/>
            </a:pPr>
            <a:r>
              <a:rPr lang="en-US" sz="950" b="1" dirty="0">
                <a:solidFill>
                  <a:srgbClr val="A51C30"/>
                </a:solidFill>
              </a:rPr>
              <a:t>DRISHTI</a:t>
            </a:r>
            <a:endParaRPr lang="en-US" sz="950" dirty="0"/>
          </a:p>
        </p:txBody>
      </p:sp>
      <p:sp>
        <p:nvSpPr>
          <p:cNvPr id="26" name="Text 23"/>
          <p:cNvSpPr txBox="1"/>
          <p:nvPr/>
        </p:nvSpPr>
        <p:spPr>
          <a:xfrm>
            <a:off x="3383280" y="3831336"/>
            <a:ext cx="4846320" cy="329184"/>
          </a:xfrm>
          <a:prstGeom prst="rect">
            <a:avLst/>
          </a:prstGeom>
          <a:noFill/>
          <a:ln/>
        </p:spPr>
        <p:txBody>
          <a:bodyPr wrap="square" lIns="0" tIns="0" rIns="0" bIns="0" rtlCol="0" anchor="t"/>
          <a:lstStyle/>
          <a:p>
            <a:pPr indent="0" marL="0">
              <a:buNone/>
            </a:pPr>
            <a:r>
              <a:rPr lang="en-US" sz="1500" b="1" dirty="0">
                <a:solidFill>
                  <a:srgbClr val="1A1A1A"/>
                </a:solidFill>
              </a:rPr>
              <a:t>Sutra ⊕ inference</a:t>
            </a:r>
            <a:endParaRPr lang="en-US" sz="1500" dirty="0"/>
          </a:p>
        </p:txBody>
      </p:sp>
      <p:sp>
        <p:nvSpPr>
          <p:cNvPr id="27" name="Text 24"/>
          <p:cNvSpPr txBox="1"/>
          <p:nvPr/>
        </p:nvSpPr>
        <p:spPr>
          <a:xfrm>
            <a:off x="3383280" y="4178808"/>
            <a:ext cx="4846320" cy="512064"/>
          </a:xfrm>
          <a:prstGeom prst="rect">
            <a:avLst/>
          </a:prstGeom>
          <a:noFill/>
          <a:ln/>
        </p:spPr>
        <p:txBody>
          <a:bodyPr wrap="square" lIns="0" tIns="0" rIns="0" bIns="0" rtlCol="0" anchor="t"/>
          <a:lstStyle/>
          <a:p>
            <a:pPr indent="0" marL="0">
              <a:buNone/>
            </a:pPr>
            <a:r>
              <a:rPr lang="en-US" sz="1150" dirty="0">
                <a:solidFill>
                  <a:srgbClr val="4A5058"/>
                </a:solidFill>
              </a:rPr>
              <a:t>A short YAML Sutra describes the view; scored, explainable rules read the data's shape and fill the rest</a:t>
            </a:r>
            <a:endParaRPr lang="en-US" sz="1150" dirty="0"/>
          </a:p>
        </p:txBody>
      </p:sp>
      <p:sp>
        <p:nvSpPr>
          <p:cNvPr id="28" name="Shape 25"/>
          <p:cNvSpPr/>
          <p:nvPr/>
        </p:nvSpPr>
        <p:spPr>
          <a:xfrm>
            <a:off x="8732520" y="3520440"/>
            <a:ext cx="2679192" cy="123444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29" name="Text 26"/>
          <p:cNvSpPr txBox="1"/>
          <p:nvPr/>
        </p:nvSpPr>
        <p:spPr>
          <a:xfrm>
            <a:off x="8869680" y="3630168"/>
            <a:ext cx="2404872" cy="329184"/>
          </a:xfrm>
          <a:prstGeom prst="rect">
            <a:avLst/>
          </a:prstGeom>
          <a:noFill/>
          <a:ln/>
        </p:spPr>
        <p:txBody>
          <a:bodyPr wrap="square" lIns="0" tIns="0" rIns="0" bIns="0" rtlCol="0" anchor="t"/>
          <a:lstStyle/>
          <a:p>
            <a:pPr indent="0" marL="0">
              <a:buNone/>
            </a:pPr>
            <a:r>
              <a:rPr lang="en-US" sz="1500" b="1" dirty="0">
                <a:solidFill>
                  <a:srgbClr val="1A1A1A"/>
                </a:solidFill>
              </a:rPr>
              <a:t>A live view</a:t>
            </a:r>
            <a:endParaRPr lang="en-US" sz="1500" dirty="0"/>
          </a:p>
        </p:txBody>
      </p:sp>
      <p:sp>
        <p:nvSpPr>
          <p:cNvPr id="30" name="Text 27"/>
          <p:cNvSpPr txBox="1"/>
          <p:nvPr/>
        </p:nvSpPr>
        <p:spPr>
          <a:xfrm>
            <a:off x="8869680" y="3977640"/>
            <a:ext cx="2404872" cy="713232"/>
          </a:xfrm>
          <a:prstGeom prst="rect">
            <a:avLst/>
          </a:prstGeom>
          <a:noFill/>
          <a:ln/>
        </p:spPr>
        <p:txBody>
          <a:bodyPr wrap="square" lIns="0" tIns="0" rIns="0" bIns="0" rtlCol="0" anchor="t"/>
          <a:lstStyle/>
          <a:p>
            <a:pPr indent="0" marL="0">
              <a:buNone/>
            </a:pPr>
            <a:r>
              <a:rPr lang="en-US" sz="1150" dirty="0">
                <a:solidFill>
                  <a:srgbClr val="4A5058"/>
                </a:solidFill>
              </a:rPr>
              <a:t>Dense, linked, explained — day one</a:t>
            </a:r>
            <a:endParaRPr lang="en-US" sz="1150" dirty="0"/>
          </a:p>
        </p:txBody>
      </p:sp>
      <p:sp>
        <p:nvSpPr>
          <p:cNvPr id="31" name="Shape 28"/>
          <p:cNvSpPr/>
          <p:nvPr/>
        </p:nvSpPr>
        <p:spPr>
          <a:xfrm>
            <a:off x="2880360" y="4137660"/>
            <a:ext cx="365760" cy="914"/>
          </a:xfrm>
          <a:prstGeom prst="line">
            <a:avLst/>
          </a:prstGeom>
          <a:noFill/>
          <a:ln w="22225">
            <a:solidFill>
              <a:srgbClr val="A51C30"/>
            </a:solidFill>
            <a:prstDash val="solid"/>
            <a:tailEnd type="triangle"/>
          </a:ln>
        </p:spPr>
        <p:txBody>
          <a:bodyPr/>
          <a:p/>
        </p:txBody>
      </p:sp>
      <p:sp>
        <p:nvSpPr>
          <p:cNvPr id="32" name="Shape 29"/>
          <p:cNvSpPr/>
          <p:nvPr/>
        </p:nvSpPr>
        <p:spPr>
          <a:xfrm>
            <a:off x="8366760" y="4137660"/>
            <a:ext cx="365760" cy="914"/>
          </a:xfrm>
          <a:prstGeom prst="line">
            <a:avLst/>
          </a:prstGeom>
          <a:noFill/>
          <a:ln w="22225">
            <a:solidFill>
              <a:srgbClr val="A51C30"/>
            </a:solidFill>
            <a:prstDash val="solid"/>
            <a:tailEnd type="triangle"/>
          </a:ln>
        </p:spPr>
        <p:txBody>
          <a:bodyPr/>
          <a:p/>
        </p:txBody>
      </p:sp>
      <p:sp>
        <p:nvSpPr>
          <p:cNvPr id="33" name="Shape 30"/>
          <p:cNvSpPr/>
          <p:nvPr/>
        </p:nvSpPr>
        <p:spPr>
          <a:xfrm>
            <a:off x="777240" y="5550408"/>
            <a:ext cx="10634472" cy="694944"/>
          </a:xfrm>
          <a:prstGeom prst="rect">
            <a:avLst/>
          </a:prstGeom>
          <a:solidFill>
            <a:srgbClr val="F6E6E9"/>
          </a:solidFill>
          <a:ln/>
        </p:spPr>
        <p:txBody>
          <a:bodyPr/>
          <a:p/>
        </p:txBody>
      </p:sp>
      <p:sp>
        <p:nvSpPr>
          <p:cNvPr id="34" name="Shape 31"/>
          <p:cNvSpPr/>
          <p:nvPr/>
        </p:nvSpPr>
        <p:spPr>
          <a:xfrm>
            <a:off x="777240" y="5550408"/>
            <a:ext cx="54864" cy="694944"/>
          </a:xfrm>
          <a:prstGeom prst="rect">
            <a:avLst/>
          </a:prstGeom>
          <a:solidFill>
            <a:srgbClr val="A51C30"/>
          </a:solidFill>
          <a:ln/>
        </p:spPr>
        <p:txBody>
          <a:bodyPr/>
          <a:p/>
        </p:txBody>
      </p:sp>
      <p:sp>
        <p:nvSpPr>
          <p:cNvPr id="35" name="Text 32"/>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A brand-new product with no Sutra still renders a usable view on day one; a Sutra makes it beautiful.</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SIX GOALS</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Six goals the design is held to</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481328"/>
            <a:ext cx="475488" cy="475488"/>
          </a:xfrm>
          <a:prstGeom prst="ellipse">
            <a:avLst/>
          </a:prstGeom>
          <a:solidFill>
            <a:srgbClr val="A51C30"/>
          </a:solidFill>
          <a:ln/>
        </p:spPr>
        <p:txBody>
          <a:bodyPr/>
          <a:p/>
        </p:txBody>
      </p:sp>
      <p:sp>
        <p:nvSpPr>
          <p:cNvPr id="7" name="Text 4"/>
          <p:cNvSpPr txBox="1"/>
          <p:nvPr/>
        </p:nvSpPr>
        <p:spPr>
          <a:xfrm>
            <a:off x="777240" y="148132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8" name="Text 5"/>
          <p:cNvSpPr txBox="1"/>
          <p:nvPr/>
        </p:nvSpPr>
        <p:spPr>
          <a:xfrm>
            <a:off x="1435608" y="1463040"/>
            <a:ext cx="4480560" cy="329184"/>
          </a:xfrm>
          <a:prstGeom prst="rect">
            <a:avLst/>
          </a:prstGeom>
          <a:noFill/>
          <a:ln/>
        </p:spPr>
        <p:txBody>
          <a:bodyPr wrap="square" lIns="0" tIns="0" rIns="0" bIns="0" rtlCol="0" anchor="ctr"/>
          <a:lstStyle/>
          <a:p>
            <a:pPr indent="0" marL="0">
              <a:buNone/>
            </a:pPr>
            <a:r>
              <a:rPr lang="en-US" sz="1600" b="1" dirty="0">
                <a:solidFill>
                  <a:srgbClr val="1A1A1A"/>
                </a:solidFill>
              </a:rPr>
              <a:t>One grammar</a:t>
            </a:r>
            <a:endParaRPr lang="en-US" sz="1600" dirty="0"/>
          </a:p>
        </p:txBody>
      </p:sp>
      <p:sp>
        <p:nvSpPr>
          <p:cNvPr id="9" name="Text 6"/>
          <p:cNvSpPr txBox="1"/>
          <p:nvPr/>
        </p:nvSpPr>
        <p:spPr>
          <a:xfrm>
            <a:off x="1435608" y="1810512"/>
            <a:ext cx="4480560" cy="685800"/>
          </a:xfrm>
          <a:prstGeom prst="rect">
            <a:avLst/>
          </a:prstGeom>
          <a:noFill/>
          <a:ln/>
        </p:spPr>
        <p:txBody>
          <a:bodyPr wrap="square" lIns="0" tIns="0" rIns="0" bIns="0" rtlCol="0" anchor="t"/>
          <a:lstStyle/>
          <a:p>
            <a:pPr indent="0" marL="0">
              <a:buNone/>
            </a:pPr>
            <a:r>
              <a:rPr lang="en-US" sz="1300" dirty="0">
                <a:solidFill>
                  <a:srgbClr val="4A5058"/>
                </a:solidFill>
              </a:rPr>
              <a:t>Every view is a Sutra in Rachana, or inferred; no screen code.</a:t>
            </a:r>
            <a:endParaRPr lang="en-US" sz="1300" dirty="0"/>
          </a:p>
        </p:txBody>
      </p:sp>
      <p:sp>
        <p:nvSpPr>
          <p:cNvPr id="10" name="Shape 7"/>
          <p:cNvSpPr/>
          <p:nvPr/>
        </p:nvSpPr>
        <p:spPr>
          <a:xfrm>
            <a:off x="6217920" y="1481328"/>
            <a:ext cx="475488" cy="475488"/>
          </a:xfrm>
          <a:prstGeom prst="ellipse">
            <a:avLst/>
          </a:prstGeom>
          <a:solidFill>
            <a:srgbClr val="A51C30"/>
          </a:solidFill>
          <a:ln/>
        </p:spPr>
        <p:txBody>
          <a:bodyPr/>
          <a:p/>
        </p:txBody>
      </p:sp>
      <p:sp>
        <p:nvSpPr>
          <p:cNvPr id="11" name="Text 8"/>
          <p:cNvSpPr txBox="1"/>
          <p:nvPr/>
        </p:nvSpPr>
        <p:spPr>
          <a:xfrm>
            <a:off x="6217920" y="148132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9"/>
          <p:cNvSpPr txBox="1"/>
          <p:nvPr/>
        </p:nvSpPr>
        <p:spPr>
          <a:xfrm>
            <a:off x="6876288" y="1463040"/>
            <a:ext cx="4480560" cy="329184"/>
          </a:xfrm>
          <a:prstGeom prst="rect">
            <a:avLst/>
          </a:prstGeom>
          <a:noFill/>
          <a:ln/>
        </p:spPr>
        <p:txBody>
          <a:bodyPr wrap="square" lIns="0" tIns="0" rIns="0" bIns="0" rtlCol="0" anchor="ctr"/>
          <a:lstStyle/>
          <a:p>
            <a:pPr indent="0" marL="0">
              <a:buNone/>
            </a:pPr>
            <a:r>
              <a:rPr lang="en-US" sz="1600" b="1" dirty="0">
                <a:solidFill>
                  <a:srgbClr val="1A1A1A"/>
                </a:solidFill>
              </a:rPr>
              <a:t>Any source</a:t>
            </a:r>
            <a:endParaRPr lang="en-US" sz="1600" dirty="0"/>
          </a:p>
        </p:txBody>
      </p:sp>
      <p:sp>
        <p:nvSpPr>
          <p:cNvPr id="13" name="Text 10"/>
          <p:cNvSpPr txBox="1"/>
          <p:nvPr/>
        </p:nvSpPr>
        <p:spPr>
          <a:xfrm>
            <a:off x="6876288" y="1810512"/>
            <a:ext cx="4480560" cy="685800"/>
          </a:xfrm>
          <a:prstGeom prst="rect">
            <a:avLst/>
          </a:prstGeom>
          <a:noFill/>
          <a:ln/>
        </p:spPr>
        <p:txBody>
          <a:bodyPr wrap="square" lIns="0" tIns="0" rIns="0" bIns="0" rtlCol="0" anchor="t"/>
          <a:lstStyle/>
          <a:p>
            <a:pPr indent="0" marL="0">
              <a:buNone/>
            </a:pPr>
            <a:r>
              <a:rPr lang="en-US" sz="1300" dirty="0">
                <a:solidFill>
                  <a:srgbClr val="4A5058"/>
                </a:solidFill>
              </a:rPr>
              <a:t>Sources plug in through a small, Spring-free interface.</a:t>
            </a:r>
            <a:endParaRPr lang="en-US" sz="1300" dirty="0"/>
          </a:p>
        </p:txBody>
      </p:sp>
      <p:sp>
        <p:nvSpPr>
          <p:cNvPr id="14" name="Shape 11"/>
          <p:cNvSpPr/>
          <p:nvPr/>
        </p:nvSpPr>
        <p:spPr>
          <a:xfrm>
            <a:off x="777240" y="2779776"/>
            <a:ext cx="475488" cy="475488"/>
          </a:xfrm>
          <a:prstGeom prst="ellipse">
            <a:avLst/>
          </a:prstGeom>
          <a:solidFill>
            <a:srgbClr val="A51C30"/>
          </a:solidFill>
          <a:ln/>
        </p:spPr>
        <p:txBody>
          <a:bodyPr/>
          <a:p/>
        </p:txBody>
      </p:sp>
      <p:sp>
        <p:nvSpPr>
          <p:cNvPr id="15" name="Text 12"/>
          <p:cNvSpPr txBox="1"/>
          <p:nvPr/>
        </p:nvSpPr>
        <p:spPr>
          <a:xfrm>
            <a:off x="777240" y="277977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6" name="Text 13"/>
          <p:cNvSpPr txBox="1"/>
          <p:nvPr/>
        </p:nvSpPr>
        <p:spPr>
          <a:xfrm>
            <a:off x="1435608" y="2761488"/>
            <a:ext cx="4480560" cy="329184"/>
          </a:xfrm>
          <a:prstGeom prst="rect">
            <a:avLst/>
          </a:prstGeom>
          <a:noFill/>
          <a:ln/>
        </p:spPr>
        <p:txBody>
          <a:bodyPr wrap="square" lIns="0" tIns="0" rIns="0" bIns="0" rtlCol="0" anchor="ctr"/>
          <a:lstStyle/>
          <a:p>
            <a:pPr indent="0" marL="0">
              <a:buNone/>
            </a:pPr>
            <a:r>
              <a:rPr lang="en-US" sz="1600" b="1" dirty="0">
                <a:solidFill>
                  <a:srgbClr val="1A1A1A"/>
                </a:solidFill>
              </a:rPr>
              <a:t>Linked</a:t>
            </a:r>
            <a:endParaRPr lang="en-US" sz="1600" dirty="0"/>
          </a:p>
        </p:txBody>
      </p:sp>
      <p:sp>
        <p:nvSpPr>
          <p:cNvPr id="17" name="Text 14"/>
          <p:cNvSpPr txBox="1"/>
          <p:nvPr/>
        </p:nvSpPr>
        <p:spPr>
          <a:xfrm>
            <a:off x="1435608" y="3108960"/>
            <a:ext cx="4480560" cy="685800"/>
          </a:xfrm>
          <a:prstGeom prst="rect">
            <a:avLst/>
          </a:prstGeom>
          <a:noFill/>
          <a:ln/>
        </p:spPr>
        <p:txBody>
          <a:bodyPr wrap="square" lIns="0" tIns="0" rIns="0" bIns="0" rtlCol="0" anchor="t"/>
          <a:lstStyle/>
          <a:p>
            <a:pPr indent="0" marL="0">
              <a:buNone/>
            </a:pPr>
            <a:r>
              <a:rPr lang="en-US" sz="1300" dirty="0">
                <a:solidFill>
                  <a:srgbClr val="4A5058"/>
                </a:solidFill>
              </a:rPr>
              <a:t>Every id on a screen is navigable, across systems.</a:t>
            </a:r>
            <a:endParaRPr lang="en-US" sz="1300" dirty="0"/>
          </a:p>
        </p:txBody>
      </p:sp>
      <p:sp>
        <p:nvSpPr>
          <p:cNvPr id="18" name="Shape 15"/>
          <p:cNvSpPr/>
          <p:nvPr/>
        </p:nvSpPr>
        <p:spPr>
          <a:xfrm>
            <a:off x="6217920" y="2779776"/>
            <a:ext cx="475488" cy="475488"/>
          </a:xfrm>
          <a:prstGeom prst="ellipse">
            <a:avLst/>
          </a:prstGeom>
          <a:solidFill>
            <a:srgbClr val="A51C30"/>
          </a:solidFill>
          <a:ln/>
        </p:spPr>
        <p:txBody>
          <a:bodyPr/>
          <a:p/>
        </p:txBody>
      </p:sp>
      <p:sp>
        <p:nvSpPr>
          <p:cNvPr id="19" name="Text 16"/>
          <p:cNvSpPr txBox="1"/>
          <p:nvPr/>
        </p:nvSpPr>
        <p:spPr>
          <a:xfrm>
            <a:off x="6217920" y="277977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0" name="Text 17"/>
          <p:cNvSpPr txBox="1"/>
          <p:nvPr/>
        </p:nvSpPr>
        <p:spPr>
          <a:xfrm>
            <a:off x="6876288" y="2761488"/>
            <a:ext cx="4480560" cy="329184"/>
          </a:xfrm>
          <a:prstGeom prst="rect">
            <a:avLst/>
          </a:prstGeom>
          <a:noFill/>
          <a:ln/>
        </p:spPr>
        <p:txBody>
          <a:bodyPr wrap="square" lIns="0" tIns="0" rIns="0" bIns="0" rtlCol="0" anchor="ctr"/>
          <a:lstStyle/>
          <a:p>
            <a:pPr indent="0" marL="0">
              <a:buNone/>
            </a:pPr>
            <a:r>
              <a:rPr lang="en-US" sz="1600" b="1" dirty="0">
                <a:solidFill>
                  <a:srgbClr val="1A1A1A"/>
                </a:solidFill>
              </a:rPr>
              <a:t>Live</a:t>
            </a:r>
            <a:endParaRPr lang="en-US" sz="1600" dirty="0"/>
          </a:p>
        </p:txBody>
      </p:sp>
      <p:sp>
        <p:nvSpPr>
          <p:cNvPr id="21" name="Text 18"/>
          <p:cNvSpPr txBox="1"/>
          <p:nvPr/>
        </p:nvSpPr>
        <p:spPr>
          <a:xfrm>
            <a:off x="6876288" y="3108960"/>
            <a:ext cx="4480560" cy="685800"/>
          </a:xfrm>
          <a:prstGeom prst="rect">
            <a:avLst/>
          </a:prstGeom>
          <a:noFill/>
          <a:ln/>
        </p:spPr>
        <p:txBody>
          <a:bodyPr wrap="square" lIns="0" tIns="0" rIns="0" bIns="0" rtlCol="0" anchor="t"/>
          <a:lstStyle/>
          <a:p>
            <a:pPr indent="0" marL="0">
              <a:buNone/>
            </a:pPr>
            <a:r>
              <a:rPr lang="en-US" sz="1300" dirty="0">
                <a:solidFill>
                  <a:srgbClr val="4A5058"/>
                </a:solidFill>
              </a:rPr>
              <a:t>Changes reach the open view; p99 is measured and shown in the top bar.</a:t>
            </a:r>
            <a:endParaRPr lang="en-US" sz="1300" dirty="0"/>
          </a:p>
        </p:txBody>
      </p:sp>
      <p:sp>
        <p:nvSpPr>
          <p:cNvPr id="22" name="Shape 19"/>
          <p:cNvSpPr/>
          <p:nvPr/>
        </p:nvSpPr>
        <p:spPr>
          <a:xfrm>
            <a:off x="777240" y="4078224"/>
            <a:ext cx="475488" cy="475488"/>
          </a:xfrm>
          <a:prstGeom prst="ellipse">
            <a:avLst/>
          </a:prstGeom>
          <a:solidFill>
            <a:srgbClr val="A51C30"/>
          </a:solidFill>
          <a:ln/>
        </p:spPr>
        <p:txBody>
          <a:bodyPr/>
          <a:p/>
        </p:txBody>
      </p:sp>
      <p:sp>
        <p:nvSpPr>
          <p:cNvPr id="23" name="Text 20"/>
          <p:cNvSpPr txBox="1"/>
          <p:nvPr/>
        </p:nvSpPr>
        <p:spPr>
          <a:xfrm>
            <a:off x="777240" y="40782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4" name="Text 21"/>
          <p:cNvSpPr txBox="1"/>
          <p:nvPr/>
        </p:nvSpPr>
        <p:spPr>
          <a:xfrm>
            <a:off x="1435608" y="4059936"/>
            <a:ext cx="4480560" cy="329184"/>
          </a:xfrm>
          <a:prstGeom prst="rect">
            <a:avLst/>
          </a:prstGeom>
          <a:noFill/>
          <a:ln/>
        </p:spPr>
        <p:txBody>
          <a:bodyPr wrap="square" lIns="0" tIns="0" rIns="0" bIns="0" rtlCol="0" anchor="ctr"/>
          <a:lstStyle/>
          <a:p>
            <a:pPr indent="0" marL="0">
              <a:buNone/>
            </a:pPr>
            <a:r>
              <a:rPr lang="en-US" sz="1600" b="1" dirty="0">
                <a:solidFill>
                  <a:srgbClr val="1A1A1A"/>
                </a:solidFill>
              </a:rPr>
              <a:t>Provenance</a:t>
            </a:r>
            <a:endParaRPr lang="en-US" sz="1600" dirty="0"/>
          </a:p>
        </p:txBody>
      </p:sp>
      <p:sp>
        <p:nvSpPr>
          <p:cNvPr id="25" name="Text 22"/>
          <p:cNvSpPr txBox="1"/>
          <p:nvPr/>
        </p:nvSpPr>
        <p:spPr>
          <a:xfrm>
            <a:off x="1435608" y="4407408"/>
            <a:ext cx="4480560" cy="685800"/>
          </a:xfrm>
          <a:prstGeom prst="rect">
            <a:avLst/>
          </a:prstGeom>
          <a:noFill/>
          <a:ln/>
        </p:spPr>
        <p:txBody>
          <a:bodyPr wrap="square" lIns="0" tIns="0" rIns="0" bIns="0" rtlCol="0" anchor="t"/>
          <a:lstStyle/>
          <a:p>
            <a:pPr indent="0" marL="0">
              <a:buNone/>
            </a:pPr>
            <a:r>
              <a:rPr lang="en-US" sz="1300" dirty="0">
                <a:solidFill>
                  <a:srgbClr val="4A5058"/>
                </a:solidFill>
              </a:rPr>
              <a:t>Every view shows how it was built and where its data came from.</a:t>
            </a:r>
            <a:endParaRPr lang="en-US" sz="1300" dirty="0"/>
          </a:p>
        </p:txBody>
      </p:sp>
      <p:sp>
        <p:nvSpPr>
          <p:cNvPr id="26" name="Shape 23"/>
          <p:cNvSpPr/>
          <p:nvPr/>
        </p:nvSpPr>
        <p:spPr>
          <a:xfrm>
            <a:off x="6217920" y="4078224"/>
            <a:ext cx="475488" cy="475488"/>
          </a:xfrm>
          <a:prstGeom prst="ellipse">
            <a:avLst/>
          </a:prstGeom>
          <a:solidFill>
            <a:srgbClr val="A51C30"/>
          </a:solidFill>
          <a:ln/>
        </p:spPr>
        <p:txBody>
          <a:bodyPr/>
          <a:p/>
        </p:txBody>
      </p:sp>
      <p:sp>
        <p:nvSpPr>
          <p:cNvPr id="27" name="Text 24"/>
          <p:cNvSpPr txBox="1"/>
          <p:nvPr/>
        </p:nvSpPr>
        <p:spPr>
          <a:xfrm>
            <a:off x="6217920" y="40782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8" name="Text 25"/>
          <p:cNvSpPr txBox="1"/>
          <p:nvPr/>
        </p:nvSpPr>
        <p:spPr>
          <a:xfrm>
            <a:off x="6876288" y="4059936"/>
            <a:ext cx="4480560" cy="329184"/>
          </a:xfrm>
          <a:prstGeom prst="rect">
            <a:avLst/>
          </a:prstGeom>
          <a:noFill/>
          <a:ln/>
        </p:spPr>
        <p:txBody>
          <a:bodyPr wrap="square" lIns="0" tIns="0" rIns="0" bIns="0" rtlCol="0" anchor="ctr"/>
          <a:lstStyle/>
          <a:p>
            <a:pPr indent="0" marL="0">
              <a:buNone/>
            </a:pPr>
            <a:r>
              <a:rPr lang="en-US" sz="1600" b="1" dirty="0">
                <a:solidFill>
                  <a:srgbClr val="1A1A1A"/>
                </a:solidFill>
              </a:rPr>
              <a:t>Keyboard first</a:t>
            </a:r>
            <a:endParaRPr lang="en-US" sz="1600" dirty="0"/>
          </a:p>
        </p:txBody>
      </p:sp>
      <p:sp>
        <p:nvSpPr>
          <p:cNvPr id="29" name="Text 26"/>
          <p:cNvSpPr txBox="1"/>
          <p:nvPr/>
        </p:nvSpPr>
        <p:spPr>
          <a:xfrm>
            <a:off x="6876288" y="4407408"/>
            <a:ext cx="4480560" cy="685800"/>
          </a:xfrm>
          <a:prstGeom prst="rect">
            <a:avLst/>
          </a:prstGeom>
          <a:noFill/>
          <a:ln/>
        </p:spPr>
        <p:txBody>
          <a:bodyPr wrap="square" lIns="0" tIns="0" rIns="0" bIns="0" rtlCol="0" anchor="t"/>
          <a:lstStyle/>
          <a:p>
            <a:pPr indent="0" marL="0">
              <a:buNone/>
            </a:pPr>
            <a:r>
              <a:rPr lang="en-US" sz="1300" dirty="0">
                <a:solidFill>
                  <a:srgbClr val="4A5058"/>
                </a:solidFill>
              </a:rPr>
              <a:t>&lt;MNEMONIC&gt; &lt;ID&gt; &lt;GO&gt;, F-keys for panels, F9 for raw JSON.</a:t>
            </a:r>
            <a:endParaRPr lang="en-US" sz="1300" dirty="0"/>
          </a:p>
        </p:txBody>
      </p:sp>
      <p:sp>
        <p:nvSpPr>
          <p:cNvPr id="30" name="Shape 27"/>
          <p:cNvSpPr/>
          <p:nvPr/>
        </p:nvSpPr>
        <p:spPr>
          <a:xfrm>
            <a:off x="777240" y="5550408"/>
            <a:ext cx="10634472" cy="694944"/>
          </a:xfrm>
          <a:prstGeom prst="rect">
            <a:avLst/>
          </a:prstGeom>
          <a:solidFill>
            <a:srgbClr val="F6E6E9"/>
          </a:solidFill>
          <a:ln/>
        </p:spPr>
        <p:txBody>
          <a:bodyPr/>
          <a:p/>
        </p:txBody>
      </p:sp>
      <p:sp>
        <p:nvSpPr>
          <p:cNvPr id="31" name="Shape 28"/>
          <p:cNvSpPr/>
          <p:nvPr/>
        </p:nvSpPr>
        <p:spPr>
          <a:xfrm>
            <a:off x="777240" y="5550408"/>
            <a:ext cx="54864" cy="694944"/>
          </a:xfrm>
          <a:prstGeom prst="rect">
            <a:avLst/>
          </a:prstGeom>
          <a:solidFill>
            <a:srgbClr val="A51C30"/>
          </a:solidFill>
          <a:ln/>
        </p:spPr>
        <p:txBody>
          <a:bodyPr/>
          <a:p/>
        </p:txBody>
      </p:sp>
      <p:sp>
        <p:nvSpPr>
          <p:cNvPr id="32" name="Text 29"/>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Six goals, each one testable — the p99 is not a claim on a slide, it is in the top bar of every view.</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WHAT THE FIELD SAYS · FOUR FAMILIES OF PRODUCT</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Each family does part of the job, and is good at it</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554480"/>
          <a:ext cx="10634472" cy="914400"/>
        </p:xfrm>
        <a:graphic>
          <a:graphicData uri="http://schemas.openxmlformats.org/drawingml/2006/table">
            <a:tbl>
              <a:tblPr/>
              <a:tblGrid>
                <a:gridCol w="2377440"/>
                <a:gridCol w="2743200"/>
                <a:gridCol w="2606040"/>
                <a:gridCol w="2907792"/>
              </a:tblGrid>
              <a:tr h="411480">
                <a:tc>
                  <a:txBody>
                    <a:bodyPr/>
                    <a:lstStyle/>
                    <a:p>
                      <a:pPr indent="0" marL="0">
                        <a:buNone/>
                      </a:pPr>
                      <a:r>
                        <a:rPr lang="en-US" sz="1400" b="1" dirty="0">
                          <a:solidFill>
                            <a:srgbClr val="FFFFFF"/>
                          </a:solidFill>
                        </a:rPr>
                        <a:t>Family</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c>
                  <a:txBody>
                    <a:bodyPr/>
                    <a:lstStyle/>
                    <a:p>
                      <a:pPr indent="0" marL="0">
                        <a:buNone/>
                      </a:pPr>
                      <a:r>
                        <a:rPr lang="en-US" sz="1400" b="1" dirty="0">
                          <a:solidFill>
                            <a:srgbClr val="FFFFFF"/>
                          </a:solidFill>
                        </a:rPr>
                        <a:t>Examples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c>
                  <a:txBody>
                    <a:bodyPr/>
                    <a:lstStyle/>
                    <a:p>
                      <a:pPr indent="0" marL="0">
                        <a:buNone/>
                      </a:pPr>
                      <a:r>
                        <a:rPr lang="en-US" sz="1400" b="1" dirty="0">
                          <a:solidFill>
                            <a:srgbClr val="FFFFFF"/>
                          </a:solidFill>
                        </a:rPr>
                        <a:t>Good at</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c>
                  <a:txBody>
                    <a:bodyPr/>
                    <a:lstStyle/>
                    <a:p>
                      <a:pPr indent="0" marL="0">
                        <a:buNone/>
                      </a:pPr>
                      <a:r>
                        <a:rPr lang="en-US" sz="1400" b="1" dirty="0">
                          <a:solidFill>
                            <a:srgbClr val="FFFFFF"/>
                          </a:solidFill>
                        </a:rPr>
                        <a:t>What it leaves you</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r>
              <a:tr h="822960">
                <a:tc>
                  <a:txBody>
                    <a:bodyPr/>
                    <a:lstStyle/>
                    <a:p>
                      <a:pPr indent="0" marL="0">
                        <a:buNone/>
                      </a:pPr>
                      <a:r>
                        <a:rPr lang="en-US" sz="1400" b="1" dirty="0">
                          <a:solidFill>
                            <a:srgbClr val="8A1626"/>
                          </a:solidFill>
                        </a:rPr>
                        <a:t>Market data terminals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Bloomberg Terminal, LSEG Workspace, FactSet</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Dense, keyboard-driven, live screens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The vendor's screens, for the vendor's data</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822960">
                <a:tc>
                  <a:txBody>
                    <a:bodyPr/>
                    <a:lstStyle/>
                    <a:p>
                      <a:pPr indent="0" marL="0">
                        <a:buNone/>
                      </a:pPr>
                      <a:r>
                        <a:rPr lang="en-US" sz="1400" b="1" dirty="0">
                          <a:solidFill>
                            <a:srgbClr val="8A1626"/>
                          </a:solidFill>
                        </a:rPr>
                        <a:t>Trading and risk platforms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Murex, Calypso, in-house systems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Deep screens for every product they book</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A coded screen per product type, for that platform's data</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822960">
                <a:tc>
                  <a:txBody>
                    <a:bodyPr/>
                    <a:lstStyle/>
                    <a:p>
                      <a:pPr indent="0" marL="0">
                        <a:buNone/>
                      </a:pPr>
                      <a:r>
                        <a:rPr lang="en-US" sz="1400" b="1" dirty="0">
                          <a:solidFill>
                            <a:srgbClr val="8A1626"/>
                          </a:solidFill>
                        </a:rPr>
                        <a:t>Low-code internal tools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Retool, Appsmith, Power Apps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Internal screens assembled quickly</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A person still assembles each screen</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822960">
                <a:tc>
                  <a:txBody>
                    <a:bodyPr/>
                    <a:lstStyle/>
                    <a:p>
                      <a:pPr indent="0" marL="0">
                        <a:buNone/>
                      </a:pPr>
                      <a:r>
                        <a:rPr lang="en-US" sz="1400" b="1" dirty="0">
                          <a:solidFill>
                            <a:srgbClr val="8A1626"/>
                          </a:solidFill>
                        </a:rPr>
                        <a:t>BI and dashboards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Tableau, Power BI, Grafana</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Aggregates and charts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Weaker at one entity, live, with its links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bl>
          </a:graphicData>
        </a:graphic>
      </p:graphicFrame>
      <p:sp>
        <p:nvSpPr>
          <p:cNvPr id="7" name="Shape 3"/>
          <p:cNvSpPr/>
          <p:nvPr/>
        </p:nvSpPr>
        <p:spPr>
          <a:xfrm>
            <a:off x="777240" y="5550408"/>
            <a:ext cx="10634472" cy="694944"/>
          </a:xfrm>
          <a:prstGeom prst="rect">
            <a:avLst/>
          </a:prstGeom>
          <a:solidFill>
            <a:srgbClr val="F6E6E9"/>
          </a:solidFill>
          <a:ln/>
        </p:spPr>
        <p:txBody>
          <a:bodyPr/>
          <a:p/>
        </p:txBody>
      </p:sp>
      <p:sp>
        <p:nvSpPr>
          <p:cNvPr id="8" name="Shape 4"/>
          <p:cNvSpPr/>
          <p:nvPr/>
        </p:nvSpPr>
        <p:spPr>
          <a:xfrm>
            <a:off x="777240" y="5550408"/>
            <a:ext cx="54864" cy="694944"/>
          </a:xfrm>
          <a:prstGeom prst="rect">
            <a:avLst/>
          </a:prstGeom>
          <a:solidFill>
            <a:srgbClr val="A51C30"/>
          </a:solidFill>
          <a:ln/>
        </p:spPr>
        <p:txBody>
          <a:bodyPr/>
          <a:p/>
        </p:txBody>
      </p:sp>
      <p:sp>
        <p:nvSpPr>
          <p:cNvPr id="9" name="Text 5"/>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The screens that are dense and live are coded per product; the screens that are quick to make are not terminals.</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THE PRIMITIVES</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Eight primitives carry the whole model</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77240" y="1463040"/>
          <a:ext cx="10634472" cy="914400"/>
        </p:xfrm>
        <a:graphic>
          <a:graphicData uri="http://schemas.openxmlformats.org/drawingml/2006/table">
            <a:tbl>
              <a:tblPr/>
              <a:tblGrid>
                <a:gridCol w="1554480"/>
                <a:gridCol w="5486400"/>
                <a:gridCol w="3593592"/>
              </a:tblGrid>
              <a:tr h="512064">
                <a:tc>
                  <a:txBody>
                    <a:bodyPr/>
                    <a:lstStyle/>
                    <a:p>
                      <a:pPr indent="0" marL="0">
                        <a:buNone/>
                      </a:pPr>
                      <a:r>
                        <a:rPr lang="en-US" sz="1300" b="1" dirty="0">
                          <a:solidFill>
                            <a:srgbClr val="FFFFFF"/>
                          </a:solidFill>
                        </a:rPr>
                        <a:t>Primitive</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c>
                  <a:txBody>
                    <a:bodyPr/>
                    <a:lstStyle/>
                    <a:p>
                      <a:pPr indent="0" marL="0">
                        <a:buNone/>
                      </a:pPr>
                      <a:r>
                        <a:rPr lang="en-US" sz="1300" b="1" dirty="0">
                          <a:solidFill>
                            <a:srgbClr val="FFFFFF"/>
                          </a:solidFill>
                        </a:rPr>
                        <a:t>What it is</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c>
                  <a:txBody>
                    <a:bodyPr/>
                    <a:lstStyle/>
                    <a:p>
                      <a:pPr indent="0" marL="0">
                        <a:buNone/>
                      </a:pPr>
                      <a:r>
                        <a:rPr lang="en-US" sz="1300" b="1" dirty="0">
                          <a:solidFill>
                            <a:srgbClr val="FFFFFF"/>
                          </a:solidFill>
                        </a:rPr>
                        <a:t>Where you meet it</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r>
              <a:tr h="512064">
                <a:tc>
                  <a:txBody>
                    <a:bodyPr/>
                    <a:lstStyle/>
                    <a:p>
                      <a:pPr indent="0" marL="0">
                        <a:buNone/>
                      </a:pPr>
                      <a:r>
                        <a:rPr lang="en-US" sz="1300" b="1" dirty="0">
                          <a:solidFill>
                            <a:srgbClr val="8A1626"/>
                          </a:solidFill>
                        </a:rPr>
                        <a:t>Pack</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00" dirty="0">
                          <a:solidFill>
                            <a:srgbClr val="1A1A1A"/>
                          </a:solidFill>
                        </a:rPr>
                        <a:t>A folder for one domain: kinds, mnemonics, links, connectors, Sutras, samples, help text; packs inherit</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00" dirty="0">
                          <a:solidFill>
                            <a:srgbClr val="1A1A1A"/>
                          </a:solidFill>
                        </a:rPr>
                        <a:t>config/packs/ — 11 shipped, e.g. trading, market-risk, funds</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512064">
                <a:tc>
                  <a:txBody>
                    <a:bodyPr/>
                    <a:lstStyle/>
                    <a:p>
                      <a:pPr indent="0" marL="0">
                        <a:buNone/>
                      </a:pPr>
                      <a:r>
                        <a:rPr lang="en-US" sz="1300" b="1" dirty="0">
                          <a:solidFill>
                            <a:srgbClr val="8A1626"/>
                          </a:solidFill>
                        </a:rPr>
                        <a:t>Sutra</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A short, versioned YAML description of one view, in the Rachana grammar</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219 Sutras in the shipped packs; fragments from the UI kit</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8A1626"/>
                          </a:solidFill>
                        </a:rPr>
                        <a:t>Match</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00" dirty="0">
                          <a:solidFill>
                            <a:srgbClr val="1A1A1A"/>
                          </a:solidFill>
                        </a:rPr>
                        <a:t>kind + where (a closed expression) + priority; the highest match wins</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00" dirty="0">
                          <a:solidFill>
                            <a:srgbClr val="1A1A1A"/>
                          </a:solidFill>
                        </a:rPr>
                        <a:t>match: { kind: trade, where: …, priority: 10 }</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512064">
                <a:tc>
                  <a:txBody>
                    <a:bodyPr/>
                    <a:lstStyle/>
                    <a:p>
                      <a:pPr indent="0" marL="0">
                        <a:buNone/>
                      </a:pPr>
                      <a:r>
                        <a:rPr lang="en-US" sz="1300" b="1" dirty="0">
                          <a:solidFill>
                            <a:srgbClr val="8A1626"/>
                          </a:solidFill>
                        </a:rPr>
                        <a:t>Strip</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Up to eight headline figures across the top of a view</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Source, side, notional, status …</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8A1626"/>
                          </a:solidFill>
                        </a:rPr>
                        <a:t>Panel</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00" dirty="0">
                          <a:solidFill>
                            <a:srgbClr val="1A1A1A"/>
                          </a:solidFill>
                        </a:rPr>
                        <a:t>One of 22 kinds on a 12-column grid, each with an F-key</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00" dirty="0">
                          <a:solidFill>
                            <a:srgbClr val="1A1A1A"/>
                          </a:solidFill>
                        </a:rPr>
                        <a:t>table, ladder, pivot, surface, map …</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512064">
                <a:tc>
                  <a:txBody>
                    <a:bodyPr/>
                    <a:lstStyle/>
                    <a:p>
                      <a:pPr indent="0" marL="0">
                        <a:buNone/>
                      </a:pPr>
                      <a:r>
                        <a:rPr lang="en-US" sz="1300" b="1" dirty="0">
                          <a:solidFill>
                            <a:srgbClr val="8A1626"/>
                          </a:solidFill>
                        </a:rPr>
                        <a:t>Inference</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Explainable rules that read the data's shape and lay out what no Sutra covers</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infer: true; 'completed by inference'</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8A1626"/>
                          </a:solidFill>
                        </a:rPr>
                        <a:t>ViewModel</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00" dirty="0">
                          <a:solidFill>
                            <a:srgbClr val="1A1A1A"/>
                          </a:solidFill>
                        </a:rPr>
                        <a:t>Plain JSON the server returns and the browser draws</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00" dirty="0">
                          <a:solidFill>
                            <a:srgbClr val="1A1A1A"/>
                          </a:solidFill>
                        </a:rPr>
                        <a:t>GET /api/v1/views/{kind}/{id}</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512064">
                <a:tc>
                  <a:txBody>
                    <a:bodyPr/>
                    <a:lstStyle/>
                    <a:p>
                      <a:pPr indent="0" marL="0">
                        <a:buNone/>
                      </a:pPr>
                      <a:r>
                        <a:rPr lang="en-US" sz="1300" b="1" dirty="0">
                          <a:solidFill>
                            <a:srgbClr val="8A1626"/>
                          </a:solidFill>
                        </a:rPr>
                        <a:t>Frame</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A patch of what changed, sent over one live channel per browser</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Server-sent events</a:t>
                      </a:r>
                      <a:endParaRPr lang="en-US" sz="13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ARCHITECTURE</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From your systems to a view, in one direction</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481328"/>
            <a:ext cx="2514600" cy="896112"/>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7" name="Text 4"/>
          <p:cNvSpPr txBox="1"/>
          <p:nvPr/>
        </p:nvSpPr>
        <p:spPr>
          <a:xfrm>
            <a:off x="914400" y="1591056"/>
            <a:ext cx="2240280" cy="329184"/>
          </a:xfrm>
          <a:prstGeom prst="rect">
            <a:avLst/>
          </a:prstGeom>
          <a:noFill/>
          <a:ln/>
        </p:spPr>
        <p:txBody>
          <a:bodyPr wrap="square" lIns="0" tIns="0" rIns="0" bIns="0" rtlCol="0" anchor="t"/>
          <a:lstStyle/>
          <a:p>
            <a:pPr indent="0" marL="0">
              <a:buNone/>
            </a:pPr>
            <a:r>
              <a:rPr lang="en-US" sz="1400" b="1" dirty="0">
                <a:solidFill>
                  <a:srgbClr val="1A1A1A"/>
                </a:solidFill>
              </a:rPr>
              <a:t>Stores and lakes</a:t>
            </a:r>
            <a:endParaRPr lang="en-US" sz="1400" dirty="0"/>
          </a:p>
        </p:txBody>
      </p:sp>
      <p:sp>
        <p:nvSpPr>
          <p:cNvPr id="8" name="Text 5"/>
          <p:cNvSpPr txBox="1"/>
          <p:nvPr/>
        </p:nvSpPr>
        <p:spPr>
          <a:xfrm>
            <a:off x="914400" y="1938528"/>
            <a:ext cx="2240280" cy="374904"/>
          </a:xfrm>
          <a:prstGeom prst="rect">
            <a:avLst/>
          </a:prstGeom>
          <a:noFill/>
          <a:ln/>
        </p:spPr>
        <p:txBody>
          <a:bodyPr wrap="square" lIns="0" tIns="0" rIns="0" bIns="0" rtlCol="0" anchor="t"/>
          <a:lstStyle/>
          <a:p>
            <a:pPr indent="0" marL="0">
              <a:buNone/>
            </a:pPr>
            <a:r>
              <a:rPr lang="en-US" sz="1100" dirty="0">
                <a:solidFill>
                  <a:srgbClr val="4A5058"/>
                </a:solidFill>
              </a:rPr>
              <a:t>Delta, JDBC, Aerospike, Cassandra, MongoDB, Redis, Iceberg, DuckDB</a:t>
            </a:r>
            <a:endParaRPr lang="en-US" sz="1100" dirty="0"/>
          </a:p>
        </p:txBody>
      </p:sp>
      <p:sp>
        <p:nvSpPr>
          <p:cNvPr id="9" name="Shape 6"/>
          <p:cNvSpPr/>
          <p:nvPr/>
        </p:nvSpPr>
        <p:spPr>
          <a:xfrm>
            <a:off x="777240" y="2505456"/>
            <a:ext cx="2514600" cy="896112"/>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10" name="Text 7"/>
          <p:cNvSpPr txBox="1"/>
          <p:nvPr/>
        </p:nvSpPr>
        <p:spPr>
          <a:xfrm>
            <a:off x="914400" y="2615184"/>
            <a:ext cx="2240280" cy="329184"/>
          </a:xfrm>
          <a:prstGeom prst="rect">
            <a:avLst/>
          </a:prstGeom>
          <a:noFill/>
          <a:ln/>
        </p:spPr>
        <p:txBody>
          <a:bodyPr wrap="square" lIns="0" tIns="0" rIns="0" bIns="0" rtlCol="0" anchor="t"/>
          <a:lstStyle/>
          <a:p>
            <a:pPr indent="0" marL="0">
              <a:buNone/>
            </a:pPr>
            <a:r>
              <a:rPr lang="en-US" sz="1400" b="1" dirty="0">
                <a:solidFill>
                  <a:srgbClr val="1A1A1A"/>
                </a:solidFill>
              </a:rPr>
              <a:t>Streams and queues</a:t>
            </a:r>
            <a:endParaRPr lang="en-US" sz="1400" dirty="0"/>
          </a:p>
        </p:txBody>
      </p:sp>
      <p:sp>
        <p:nvSpPr>
          <p:cNvPr id="11" name="Text 8"/>
          <p:cNvSpPr txBox="1"/>
          <p:nvPr/>
        </p:nvSpPr>
        <p:spPr>
          <a:xfrm>
            <a:off x="914400" y="2962656"/>
            <a:ext cx="2240280" cy="374904"/>
          </a:xfrm>
          <a:prstGeom prst="rect">
            <a:avLst/>
          </a:prstGeom>
          <a:noFill/>
          <a:ln/>
        </p:spPr>
        <p:txBody>
          <a:bodyPr wrap="square" lIns="0" tIns="0" rIns="0" bIns="0" rtlCol="0" anchor="t"/>
          <a:lstStyle/>
          <a:p>
            <a:pPr indent="0" marL="0">
              <a:buNone/>
            </a:pPr>
            <a:r>
              <a:rPr lang="en-US" sz="1100" dirty="0">
                <a:solidFill>
                  <a:srgbClr val="4A5058"/>
                </a:solidFill>
              </a:rPr>
              <a:t>Kafka, ActiveMQ, RabbitMQ</a:t>
            </a:r>
            <a:endParaRPr lang="en-US" sz="1100" dirty="0"/>
          </a:p>
        </p:txBody>
      </p:sp>
      <p:sp>
        <p:nvSpPr>
          <p:cNvPr id="12" name="Shape 9"/>
          <p:cNvSpPr/>
          <p:nvPr/>
        </p:nvSpPr>
        <p:spPr>
          <a:xfrm>
            <a:off x="777240" y="3529584"/>
            <a:ext cx="2514600" cy="896112"/>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13" name="Text 10"/>
          <p:cNvSpPr txBox="1"/>
          <p:nvPr/>
        </p:nvSpPr>
        <p:spPr>
          <a:xfrm>
            <a:off x="914400" y="3639312"/>
            <a:ext cx="2240280" cy="329184"/>
          </a:xfrm>
          <a:prstGeom prst="rect">
            <a:avLst/>
          </a:prstGeom>
          <a:noFill/>
          <a:ln/>
        </p:spPr>
        <p:txBody>
          <a:bodyPr wrap="square" lIns="0" tIns="0" rIns="0" bIns="0" rtlCol="0" anchor="t"/>
          <a:lstStyle/>
          <a:p>
            <a:pPr indent="0" marL="0">
              <a:buNone/>
            </a:pPr>
            <a:r>
              <a:rPr lang="en-US" sz="1400" b="1" dirty="0">
                <a:solidFill>
                  <a:srgbClr val="1A1A1A"/>
                </a:solidFill>
              </a:rPr>
              <a:t>Files and services</a:t>
            </a:r>
            <a:endParaRPr lang="en-US" sz="1400" dirty="0"/>
          </a:p>
        </p:txBody>
      </p:sp>
      <p:sp>
        <p:nvSpPr>
          <p:cNvPr id="14" name="Text 11"/>
          <p:cNvSpPr txBox="1"/>
          <p:nvPr/>
        </p:nvSpPr>
        <p:spPr>
          <a:xfrm>
            <a:off x="914400" y="3986784"/>
            <a:ext cx="2240280" cy="374904"/>
          </a:xfrm>
          <a:prstGeom prst="rect">
            <a:avLst/>
          </a:prstGeom>
          <a:noFill/>
          <a:ln/>
        </p:spPr>
        <p:txBody>
          <a:bodyPr wrap="square" lIns="0" tIns="0" rIns="0" bIns="0" rtlCol="0" anchor="t"/>
          <a:lstStyle/>
          <a:p>
            <a:pPr indent="0" marL="0">
              <a:buNone/>
            </a:pPr>
            <a:r>
              <a:rPr lang="en-US" sz="1100" dirty="0">
                <a:solidFill>
                  <a:srgbClr val="4A5058"/>
                </a:solidFill>
              </a:rPr>
              <a:t>JSON Lines, CSV (deprecated), S3, REST</a:t>
            </a:r>
            <a:endParaRPr lang="en-US" sz="1100" dirty="0"/>
          </a:p>
        </p:txBody>
      </p:sp>
      <p:sp>
        <p:nvSpPr>
          <p:cNvPr id="15" name="Shape 12"/>
          <p:cNvSpPr/>
          <p:nvPr/>
        </p:nvSpPr>
        <p:spPr>
          <a:xfrm>
            <a:off x="777240" y="4553712"/>
            <a:ext cx="2514600" cy="896112"/>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16" name="Text 13"/>
          <p:cNvSpPr txBox="1"/>
          <p:nvPr/>
        </p:nvSpPr>
        <p:spPr>
          <a:xfrm>
            <a:off x="914400" y="4663440"/>
            <a:ext cx="2240280" cy="329184"/>
          </a:xfrm>
          <a:prstGeom prst="rect">
            <a:avLst/>
          </a:prstGeom>
          <a:noFill/>
          <a:ln/>
        </p:spPr>
        <p:txBody>
          <a:bodyPr wrap="square" lIns="0" tIns="0" rIns="0" bIns="0" rtlCol="0" anchor="t"/>
          <a:lstStyle/>
          <a:p>
            <a:pPr indent="0" marL="0">
              <a:buNone/>
            </a:pPr>
            <a:r>
              <a:rPr lang="en-US" sz="1400" b="1" dirty="0">
                <a:solidFill>
                  <a:srgbClr val="1A1A1A"/>
                </a:solidFill>
              </a:rPr>
              <a:t>Public market data</a:t>
            </a:r>
            <a:endParaRPr lang="en-US" sz="1400" dirty="0"/>
          </a:p>
        </p:txBody>
      </p:sp>
      <p:sp>
        <p:nvSpPr>
          <p:cNvPr id="17" name="Text 14"/>
          <p:cNvSpPr txBox="1"/>
          <p:nvPr/>
        </p:nvSpPr>
        <p:spPr>
          <a:xfrm>
            <a:off x="914400" y="5010912"/>
            <a:ext cx="2240280" cy="374904"/>
          </a:xfrm>
          <a:prstGeom prst="rect">
            <a:avLst/>
          </a:prstGeom>
          <a:noFill/>
          <a:ln/>
        </p:spPr>
        <p:txBody>
          <a:bodyPr wrap="square" lIns="0" tIns="0" rIns="0" bIns="0" rtlCol="0" anchor="t"/>
          <a:lstStyle/>
          <a:p>
            <a:pPr indent="0" marL="0">
              <a:buNone/>
            </a:pPr>
            <a:r>
              <a:rPr lang="en-US" sz="1100" dirty="0">
                <a:solidFill>
                  <a:srgbClr val="4A5058"/>
                </a:solidFill>
              </a:rPr>
              <a:t>SEC EDGAR, GLEIF, N-PORT, NY Fed, ECB, FRED</a:t>
            </a:r>
            <a:endParaRPr lang="en-US" sz="1100" dirty="0"/>
          </a:p>
        </p:txBody>
      </p:sp>
      <p:sp>
        <p:nvSpPr>
          <p:cNvPr id="18" name="Shape 15"/>
          <p:cNvSpPr/>
          <p:nvPr/>
        </p:nvSpPr>
        <p:spPr>
          <a:xfrm>
            <a:off x="3931920" y="1481328"/>
            <a:ext cx="4160520" cy="1828800"/>
          </a:xfrm>
          <a:prstGeom prst="rect">
            <a:avLst/>
          </a:prstGeom>
          <a:solidFill>
            <a:srgbClr val="F6E6E9"/>
          </a:solidFill>
          <a:ln w="12700">
            <a:solidFill>
              <a:srgbClr val="A51C30"/>
            </a:solidFill>
            <a:prstDash val="solid"/>
          </a:ln>
          <a:effectLst>
            <a:outerShdw sx="100000" sy="100000" kx="0" ky="0" algn="bl" rotWithShape="0" blurRad="50800" dist="19050" dir="5400000">
              <a:srgbClr val="000000">
                <a:alpha val="10000"/>
              </a:srgbClr>
            </a:outerShdw>
          </a:effectLst>
        </p:spPr>
        <p:txBody>
          <a:bodyPr/>
          <a:p/>
        </p:txBody>
      </p:sp>
      <p:sp>
        <p:nvSpPr>
          <p:cNvPr id="19" name="Text 16"/>
          <p:cNvSpPr txBox="1"/>
          <p:nvPr/>
        </p:nvSpPr>
        <p:spPr>
          <a:xfrm>
            <a:off x="4069080" y="1572768"/>
            <a:ext cx="3886200" cy="201168"/>
          </a:xfrm>
          <a:prstGeom prst="rect">
            <a:avLst/>
          </a:prstGeom>
          <a:noFill/>
          <a:ln/>
        </p:spPr>
        <p:txBody>
          <a:bodyPr wrap="square" lIns="0" tIns="0" rIns="0" bIns="0" rtlCol="0" anchor="ctr"/>
          <a:lstStyle/>
          <a:p>
            <a:pPr indent="0" marL="0">
              <a:buNone/>
            </a:pPr>
            <a:r>
              <a:rPr lang="en-US" sz="950" b="1" dirty="0">
                <a:solidFill>
                  <a:srgbClr val="A51C30"/>
                </a:solidFill>
              </a:rPr>
              <a:t>DRISHTI SERVER · JAVA 21 · ONE OF A CLUSTER</a:t>
            </a:r>
            <a:endParaRPr lang="en-US" sz="950" dirty="0"/>
          </a:p>
        </p:txBody>
      </p:sp>
      <p:sp>
        <p:nvSpPr>
          <p:cNvPr id="20" name="Text 17"/>
          <p:cNvSpPr txBox="1"/>
          <p:nvPr/>
        </p:nvSpPr>
        <p:spPr>
          <a:xfrm>
            <a:off x="4069080" y="1792224"/>
            <a:ext cx="3886200" cy="329184"/>
          </a:xfrm>
          <a:prstGeom prst="rect">
            <a:avLst/>
          </a:prstGeom>
          <a:noFill/>
          <a:ln/>
        </p:spPr>
        <p:txBody>
          <a:bodyPr wrap="square" lIns="0" tIns="0" rIns="0" bIns="0" rtlCol="0" anchor="t"/>
          <a:lstStyle/>
          <a:p>
            <a:pPr indent="0" marL="0">
              <a:buNone/>
            </a:pPr>
            <a:r>
              <a:rPr lang="en-US" sz="1500" b="1" dirty="0">
                <a:solidFill>
                  <a:srgbClr val="1A1A1A"/>
                </a:solidFill>
              </a:rPr>
              <a:t>Fetch, match, infer, link, bind</a:t>
            </a:r>
            <a:endParaRPr lang="en-US" sz="1500" dirty="0"/>
          </a:p>
        </p:txBody>
      </p:sp>
      <p:sp>
        <p:nvSpPr>
          <p:cNvPr id="21" name="Text 18"/>
          <p:cNvSpPr txBox="1"/>
          <p:nvPr/>
        </p:nvSpPr>
        <p:spPr>
          <a:xfrm>
            <a:off x="4069080" y="2139696"/>
            <a:ext cx="3886200" cy="1106424"/>
          </a:xfrm>
          <a:prstGeom prst="rect">
            <a:avLst/>
          </a:prstGeom>
          <a:noFill/>
          <a:ln/>
        </p:spPr>
        <p:txBody>
          <a:bodyPr wrap="square" lIns="0" tIns="0" rIns="0" bIns="0" rtlCol="0" anchor="t"/>
          <a:lstStyle/>
          <a:p>
            <a:pPr indent="0" marL="0">
              <a:buNone/>
            </a:pPr>
            <a:r>
              <a:rPr lang="en-US" sz="1200" dirty="0">
                <a:solidFill>
                  <a:srgbClr val="4A5058"/>
                </a:solidFill>
              </a:rPr>
              <a:t>Virtual threads fetch in parallel; the engine matches a Sutra, merges inference, links ids and binds values; BI answers on DuckDB; VaR and exposure engines compute any scope — 19 source plugins</a:t>
            </a:r>
            <a:endParaRPr lang="en-US" sz="1200" dirty="0"/>
          </a:p>
        </p:txBody>
      </p:sp>
      <p:sp>
        <p:nvSpPr>
          <p:cNvPr id="22" name="Shape 19"/>
          <p:cNvSpPr/>
          <p:nvPr/>
        </p:nvSpPr>
        <p:spPr>
          <a:xfrm>
            <a:off x="3931920" y="3611880"/>
            <a:ext cx="4160520" cy="178308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23" name="Text 20"/>
          <p:cNvSpPr txBox="1"/>
          <p:nvPr/>
        </p:nvSpPr>
        <p:spPr>
          <a:xfrm>
            <a:off x="4069080" y="3703320"/>
            <a:ext cx="3886200" cy="201168"/>
          </a:xfrm>
          <a:prstGeom prst="rect">
            <a:avLst/>
          </a:prstGeom>
          <a:noFill/>
          <a:ln/>
        </p:spPr>
        <p:txBody>
          <a:bodyPr wrap="square" lIns="0" tIns="0" rIns="0" bIns="0" rtlCol="0" anchor="ctr"/>
          <a:lstStyle/>
          <a:p>
            <a:pPr indent="0" marL="0">
              <a:buNone/>
            </a:pPr>
            <a:r>
              <a:rPr lang="en-US" sz="950" b="1" dirty="0">
                <a:solidFill>
                  <a:srgbClr val="A51C30"/>
                </a:solidFill>
              </a:rPr>
              <a:t>SAME SERVER</a:t>
            </a:r>
            <a:endParaRPr lang="en-US" sz="950" dirty="0"/>
          </a:p>
        </p:txBody>
      </p:sp>
      <p:sp>
        <p:nvSpPr>
          <p:cNvPr id="24" name="Text 21"/>
          <p:cNvSpPr txBox="1"/>
          <p:nvPr/>
        </p:nvSpPr>
        <p:spPr>
          <a:xfrm>
            <a:off x="4069080" y="3922776"/>
            <a:ext cx="3886200" cy="329184"/>
          </a:xfrm>
          <a:prstGeom prst="rect">
            <a:avLst/>
          </a:prstGeom>
          <a:noFill/>
          <a:ln/>
        </p:spPr>
        <p:txBody>
          <a:bodyPr wrap="square" lIns="0" tIns="0" rIns="0" bIns="0" rtlCol="0" anchor="t"/>
          <a:lstStyle/>
          <a:p>
            <a:pPr indent="0" marL="0">
              <a:buNone/>
            </a:pPr>
            <a:r>
              <a:rPr lang="en-US" sz="1500" b="1" dirty="0">
                <a:solidFill>
                  <a:srgbClr val="1A1A1A"/>
                </a:solidFill>
              </a:rPr>
              <a:t>Identity, packs, audit, Drishti*net</a:t>
            </a:r>
            <a:endParaRPr lang="en-US" sz="1500" dirty="0"/>
          </a:p>
        </p:txBody>
      </p:sp>
      <p:sp>
        <p:nvSpPr>
          <p:cNvPr id="25" name="Text 22"/>
          <p:cNvSpPr txBox="1"/>
          <p:nvPr/>
        </p:nvSpPr>
        <p:spPr>
          <a:xfrm>
            <a:off x="4069080" y="4270248"/>
            <a:ext cx="3886200" cy="1060704"/>
          </a:xfrm>
          <a:prstGeom prst="rect">
            <a:avLst/>
          </a:prstGeom>
          <a:noFill/>
          <a:ln/>
        </p:spPr>
        <p:txBody>
          <a:bodyPr wrap="square" lIns="0" tIns="0" rIns="0" bIns="0" rtlCol="0" anchor="t"/>
          <a:lstStyle/>
          <a:p>
            <a:pPr indent="0" marL="0">
              <a:buNone/>
            </a:pPr>
            <a:r>
              <a:rPr lang="en-US" sz="1200" dirty="0">
                <a:solidFill>
                  <a:srgbClr val="4A5058"/>
                </a:solidFill>
              </a:rPr>
              <a:t>Users, roles and masks; audit; a signed pack registry; commands switched off for everyone; peers by gossip on their own port, HTTP/2 between servers</a:t>
            </a:r>
            <a:endParaRPr lang="en-US" sz="1200" dirty="0"/>
          </a:p>
        </p:txBody>
      </p:sp>
      <p:sp>
        <p:nvSpPr>
          <p:cNvPr id="26" name="Shape 23"/>
          <p:cNvSpPr/>
          <p:nvPr/>
        </p:nvSpPr>
        <p:spPr>
          <a:xfrm>
            <a:off x="8897112" y="1481328"/>
            <a:ext cx="2514600" cy="896112"/>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27" name="Text 24"/>
          <p:cNvSpPr txBox="1"/>
          <p:nvPr/>
        </p:nvSpPr>
        <p:spPr>
          <a:xfrm>
            <a:off x="9034272" y="1591056"/>
            <a:ext cx="2240280" cy="329184"/>
          </a:xfrm>
          <a:prstGeom prst="rect">
            <a:avLst/>
          </a:prstGeom>
          <a:noFill/>
          <a:ln/>
        </p:spPr>
        <p:txBody>
          <a:bodyPr wrap="square" lIns="0" tIns="0" rIns="0" bIns="0" rtlCol="0" anchor="t"/>
          <a:lstStyle/>
          <a:p>
            <a:pPr indent="0" marL="0">
              <a:buNone/>
            </a:pPr>
            <a:r>
              <a:rPr lang="en-US" sz="1400" b="1" dirty="0">
                <a:solidFill>
                  <a:srgbClr val="1A1A1A"/>
                </a:solidFill>
              </a:rPr>
              <a:t>Console</a:t>
            </a:r>
            <a:endParaRPr lang="en-US" sz="1400" dirty="0"/>
          </a:p>
        </p:txBody>
      </p:sp>
      <p:sp>
        <p:nvSpPr>
          <p:cNvPr id="28" name="Text 25"/>
          <p:cNvSpPr txBox="1"/>
          <p:nvPr/>
        </p:nvSpPr>
        <p:spPr>
          <a:xfrm>
            <a:off x="9034272" y="1938528"/>
            <a:ext cx="2240280" cy="374904"/>
          </a:xfrm>
          <a:prstGeom prst="rect">
            <a:avLst/>
          </a:prstGeom>
          <a:noFill/>
          <a:ln/>
        </p:spPr>
        <p:txBody>
          <a:bodyPr wrap="square" lIns="0" tIns="0" rIns="0" bIns="0" rtlCol="0" anchor="t"/>
          <a:lstStyle/>
          <a:p>
            <a:pPr indent="0" marL="0">
              <a:buNone/>
            </a:pPr>
            <a:r>
              <a:rPr lang="en-US" sz="1100" dirty="0">
                <a:solidFill>
                  <a:srgbClr val="4A5058"/>
                </a:solidFill>
              </a:rPr>
              <a:t>Web terminal, any device</a:t>
            </a:r>
            <a:endParaRPr lang="en-US" sz="1100" dirty="0"/>
          </a:p>
        </p:txBody>
      </p:sp>
      <p:sp>
        <p:nvSpPr>
          <p:cNvPr id="29" name="Shape 26"/>
          <p:cNvSpPr/>
          <p:nvPr/>
        </p:nvSpPr>
        <p:spPr>
          <a:xfrm>
            <a:off x="8897112" y="2505456"/>
            <a:ext cx="2514600" cy="896112"/>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30" name="Text 27"/>
          <p:cNvSpPr txBox="1"/>
          <p:nvPr/>
        </p:nvSpPr>
        <p:spPr>
          <a:xfrm>
            <a:off x="9034272" y="2615184"/>
            <a:ext cx="2240280" cy="329184"/>
          </a:xfrm>
          <a:prstGeom prst="rect">
            <a:avLst/>
          </a:prstGeom>
          <a:noFill/>
          <a:ln/>
        </p:spPr>
        <p:txBody>
          <a:bodyPr wrap="square" lIns="0" tIns="0" rIns="0" bIns="0" rtlCol="0" anchor="t"/>
          <a:lstStyle/>
          <a:p>
            <a:pPr indent="0" marL="0">
              <a:buNone/>
            </a:pPr>
            <a:r>
              <a:rPr lang="en-US" sz="1400" b="1" dirty="0">
                <a:solidFill>
                  <a:srgbClr val="1A1A1A"/>
                </a:solidFill>
              </a:rPr>
              <a:t>REST API</a:t>
            </a:r>
            <a:endParaRPr lang="en-US" sz="1400" dirty="0"/>
          </a:p>
        </p:txBody>
      </p:sp>
      <p:sp>
        <p:nvSpPr>
          <p:cNvPr id="31" name="Text 28"/>
          <p:cNvSpPr txBox="1"/>
          <p:nvPr/>
        </p:nvSpPr>
        <p:spPr>
          <a:xfrm>
            <a:off x="9034272" y="2962656"/>
            <a:ext cx="2240280" cy="374904"/>
          </a:xfrm>
          <a:prstGeom prst="rect">
            <a:avLst/>
          </a:prstGeom>
          <a:noFill/>
          <a:ln/>
        </p:spPr>
        <p:txBody>
          <a:bodyPr wrap="square" lIns="0" tIns="0" rIns="0" bIns="0" rtlCol="0" anchor="t"/>
          <a:lstStyle/>
          <a:p>
            <a:pPr indent="0" marL="0">
              <a:buNone/>
            </a:pPr>
            <a:r>
              <a:rPr lang="en-US" sz="1100" dirty="0">
                <a:solidFill>
                  <a:srgbClr val="4A5058"/>
                </a:solidFill>
              </a:rPr>
              <a:t>/api/v1, OpenAPI at /api/docs</a:t>
            </a:r>
            <a:endParaRPr lang="en-US" sz="1100" dirty="0"/>
          </a:p>
        </p:txBody>
      </p:sp>
      <p:sp>
        <p:nvSpPr>
          <p:cNvPr id="32" name="Shape 29"/>
          <p:cNvSpPr/>
          <p:nvPr/>
        </p:nvSpPr>
        <p:spPr>
          <a:xfrm>
            <a:off x="8897112" y="3529584"/>
            <a:ext cx="2514600" cy="896112"/>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33" name="Text 30"/>
          <p:cNvSpPr txBox="1"/>
          <p:nvPr/>
        </p:nvSpPr>
        <p:spPr>
          <a:xfrm>
            <a:off x="9034272" y="3639312"/>
            <a:ext cx="2240280" cy="329184"/>
          </a:xfrm>
          <a:prstGeom prst="rect">
            <a:avLst/>
          </a:prstGeom>
          <a:noFill/>
          <a:ln/>
        </p:spPr>
        <p:txBody>
          <a:bodyPr wrap="square" lIns="0" tIns="0" rIns="0" bIns="0" rtlCol="0" anchor="t"/>
          <a:lstStyle/>
          <a:p>
            <a:pPr indent="0" marL="0">
              <a:buNone/>
            </a:pPr>
            <a:r>
              <a:rPr lang="en-US" sz="1400" b="1" dirty="0">
                <a:solidFill>
                  <a:srgbClr val="1A1A1A"/>
                </a:solidFill>
              </a:rPr>
              <a:t>CLI</a:t>
            </a:r>
            <a:endParaRPr lang="en-US" sz="1400" dirty="0"/>
          </a:p>
        </p:txBody>
      </p:sp>
      <p:sp>
        <p:nvSpPr>
          <p:cNvPr id="34" name="Text 31"/>
          <p:cNvSpPr txBox="1"/>
          <p:nvPr/>
        </p:nvSpPr>
        <p:spPr>
          <a:xfrm>
            <a:off x="9034272" y="3986784"/>
            <a:ext cx="2240280" cy="374904"/>
          </a:xfrm>
          <a:prstGeom prst="rect">
            <a:avLst/>
          </a:prstGeom>
          <a:noFill/>
          <a:ln/>
        </p:spPr>
        <p:txBody>
          <a:bodyPr wrap="square" lIns="0" tIns="0" rIns="0" bIns="0" rtlCol="0" anchor="t"/>
          <a:lstStyle/>
          <a:p>
            <a:pPr indent="0" marL="0">
              <a:buNone/>
            </a:pPr>
            <a:r>
              <a:rPr lang="en-US" sz="1100" dirty="0">
                <a:solidFill>
                  <a:srgbClr val="4A5058"/>
                </a:solidFill>
              </a:rPr>
              <a:t>tools/drishti.py, 22 groups</a:t>
            </a:r>
            <a:endParaRPr lang="en-US" sz="1100" dirty="0"/>
          </a:p>
        </p:txBody>
      </p:sp>
      <p:sp>
        <p:nvSpPr>
          <p:cNvPr id="35" name="Shape 32"/>
          <p:cNvSpPr/>
          <p:nvPr/>
        </p:nvSpPr>
        <p:spPr>
          <a:xfrm>
            <a:off x="8897112" y="4553712"/>
            <a:ext cx="2514600" cy="896112"/>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36" name="Text 33"/>
          <p:cNvSpPr txBox="1"/>
          <p:nvPr/>
        </p:nvSpPr>
        <p:spPr>
          <a:xfrm>
            <a:off x="9034272" y="4663440"/>
            <a:ext cx="2240280" cy="329184"/>
          </a:xfrm>
          <a:prstGeom prst="rect">
            <a:avLst/>
          </a:prstGeom>
          <a:noFill/>
          <a:ln/>
        </p:spPr>
        <p:txBody>
          <a:bodyPr wrap="square" lIns="0" tIns="0" rIns="0" bIns="0" rtlCol="0" anchor="t"/>
          <a:lstStyle/>
          <a:p>
            <a:pPr indent="0" marL="0">
              <a:buNone/>
            </a:pPr>
            <a:r>
              <a:rPr lang="en-US" sz="1400" b="1" dirty="0">
                <a:solidFill>
                  <a:srgbClr val="1A1A1A"/>
                </a:solidFill>
              </a:rPr>
              <a:t>Other apps</a:t>
            </a:r>
            <a:endParaRPr lang="en-US" sz="1400" dirty="0"/>
          </a:p>
        </p:txBody>
      </p:sp>
      <p:sp>
        <p:nvSpPr>
          <p:cNvPr id="37" name="Text 34"/>
          <p:cNvSpPr txBox="1"/>
          <p:nvPr/>
        </p:nvSpPr>
        <p:spPr>
          <a:xfrm>
            <a:off x="9034272" y="5010912"/>
            <a:ext cx="2240280" cy="374904"/>
          </a:xfrm>
          <a:prstGeom prst="rect">
            <a:avLst/>
          </a:prstGeom>
          <a:noFill/>
          <a:ln/>
        </p:spPr>
        <p:txBody>
          <a:bodyPr wrap="square" lIns="0" tIns="0" rIns="0" bIns="0" rtlCol="0" anchor="t"/>
          <a:lstStyle/>
          <a:p>
            <a:pPr indent="0" marL="0">
              <a:buNone/>
            </a:pPr>
            <a:r>
              <a:rPr lang="en-US" sz="1100" dirty="0">
                <a:solidFill>
                  <a:srgbClr val="4A5058"/>
                </a:solidFill>
              </a:rPr>
              <a:t>&lt;drishti-view&gt;, &lt;drishti-report&gt;</a:t>
            </a:r>
            <a:endParaRPr lang="en-US" sz="1100" dirty="0"/>
          </a:p>
        </p:txBody>
      </p:sp>
      <p:sp>
        <p:nvSpPr>
          <p:cNvPr id="38" name="Shape 35"/>
          <p:cNvSpPr/>
          <p:nvPr/>
        </p:nvSpPr>
        <p:spPr>
          <a:xfrm>
            <a:off x="3291840" y="2377440"/>
            <a:ext cx="640080" cy="914"/>
          </a:xfrm>
          <a:prstGeom prst="line">
            <a:avLst/>
          </a:prstGeom>
          <a:noFill/>
          <a:ln w="22225">
            <a:solidFill>
              <a:srgbClr val="A51C30"/>
            </a:solidFill>
            <a:prstDash val="solid"/>
            <a:tailEnd type="triangle"/>
          </a:ln>
        </p:spPr>
        <p:txBody>
          <a:bodyPr/>
          <a:p/>
        </p:txBody>
      </p:sp>
      <p:sp>
        <p:nvSpPr>
          <p:cNvPr id="39" name="Shape 36"/>
          <p:cNvSpPr/>
          <p:nvPr/>
        </p:nvSpPr>
        <p:spPr>
          <a:xfrm>
            <a:off x="8092440" y="2377440"/>
            <a:ext cx="804672" cy="914"/>
          </a:xfrm>
          <a:prstGeom prst="line">
            <a:avLst/>
          </a:prstGeom>
          <a:noFill/>
          <a:ln w="22225">
            <a:solidFill>
              <a:srgbClr val="A51C30"/>
            </a:solidFill>
            <a:prstDash val="solid"/>
            <a:tailEnd type="triangle"/>
          </a:ln>
        </p:spPr>
        <p:txBody>
          <a:bodyPr/>
          <a:p/>
        </p:txBody>
      </p:sp>
      <p:sp>
        <p:nvSpPr>
          <p:cNvPr id="40" name="Shape 37"/>
          <p:cNvSpPr/>
          <p:nvPr/>
        </p:nvSpPr>
        <p:spPr>
          <a:xfrm>
            <a:off x="6007608" y="3310128"/>
            <a:ext cx="914" cy="301752"/>
          </a:xfrm>
          <a:prstGeom prst="line">
            <a:avLst/>
          </a:prstGeom>
          <a:noFill/>
          <a:ln w="22225">
            <a:solidFill>
              <a:srgbClr val="A51C30"/>
            </a:solidFill>
            <a:prstDash val="solid"/>
            <a:tailEnd type="triangle"/>
          </a:ln>
        </p:spPr>
        <p:txBody>
          <a:bodyP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SEVEN STAGES</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One command, seven stages, one view</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1202436" y="1600200"/>
            <a:ext cx="548640" cy="548640"/>
          </a:xfrm>
          <a:prstGeom prst="ellipse">
            <a:avLst/>
          </a:prstGeom>
          <a:solidFill>
            <a:srgbClr val="A51C30"/>
          </a:solidFill>
          <a:ln/>
        </p:spPr>
        <p:txBody>
          <a:bodyPr/>
          <a:p/>
        </p:txBody>
      </p:sp>
      <p:sp>
        <p:nvSpPr>
          <p:cNvPr id="7" name="Text 4"/>
          <p:cNvSpPr txBox="1"/>
          <p:nvPr/>
        </p:nvSpPr>
        <p:spPr>
          <a:xfrm>
            <a:off x="1202436"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8" name="Shape 5"/>
          <p:cNvSpPr/>
          <p:nvPr/>
        </p:nvSpPr>
        <p:spPr>
          <a:xfrm>
            <a:off x="777240" y="2331720"/>
            <a:ext cx="1399032" cy="2011680"/>
          </a:xfrm>
          <a:prstGeom prst="rect">
            <a:avLst/>
          </a:prstGeom>
          <a:solidFill>
            <a:srgbClr val="F7F5F2"/>
          </a:solidFill>
          <a:ln/>
        </p:spPr>
        <p:txBody>
          <a:bodyPr/>
          <a:p/>
        </p:txBody>
      </p:sp>
      <p:sp>
        <p:nvSpPr>
          <p:cNvPr id="9" name="Text 6"/>
          <p:cNvSpPr txBox="1"/>
          <p:nvPr/>
        </p:nvSpPr>
        <p:spPr>
          <a:xfrm>
            <a:off x="868680" y="2423160"/>
            <a:ext cx="1216152" cy="365760"/>
          </a:xfrm>
          <a:prstGeom prst="rect">
            <a:avLst/>
          </a:prstGeom>
          <a:noFill/>
          <a:ln/>
        </p:spPr>
        <p:txBody>
          <a:bodyPr wrap="square" lIns="0" tIns="0" rIns="0" bIns="0" rtlCol="0" anchor="ctr"/>
          <a:lstStyle/>
          <a:p>
            <a:pPr algn="ctr" indent="0" marL="0">
              <a:buNone/>
            </a:pPr>
            <a:r>
              <a:rPr lang="en-US" sz="1500" b="1" dirty="0">
                <a:solidFill>
                  <a:srgbClr val="8A1626"/>
                </a:solidFill>
              </a:rPr>
              <a:t>Command</a:t>
            </a:r>
            <a:endParaRPr lang="en-US" sz="1500" dirty="0"/>
          </a:p>
        </p:txBody>
      </p:sp>
      <p:sp>
        <p:nvSpPr>
          <p:cNvPr id="10" name="Text 7"/>
          <p:cNvSpPr txBox="1"/>
          <p:nvPr/>
        </p:nvSpPr>
        <p:spPr>
          <a:xfrm>
            <a:off x="868680" y="2834640"/>
            <a:ext cx="1216152" cy="1417320"/>
          </a:xfrm>
          <a:prstGeom prst="rect">
            <a:avLst/>
          </a:prstGeom>
          <a:noFill/>
          <a:ln/>
        </p:spPr>
        <p:txBody>
          <a:bodyPr wrap="square" lIns="0" tIns="0" rIns="0" bIns="0" rtlCol="0" anchor="t"/>
          <a:lstStyle/>
          <a:p>
            <a:pPr algn="ctr" indent="0" marL="0">
              <a:buNone/>
            </a:pPr>
            <a:r>
              <a:rPr lang="en-US" sz="1200" dirty="0">
                <a:solidFill>
                  <a:srgbClr val="4A5058"/>
                </a:solidFill>
              </a:rPr>
              <a:t>TRD MX-20000001 &lt;GO&gt;, or plain words</a:t>
            </a:r>
            <a:endParaRPr lang="en-US" sz="1200" dirty="0"/>
          </a:p>
        </p:txBody>
      </p:sp>
      <p:sp>
        <p:nvSpPr>
          <p:cNvPr id="11" name="Shape 8"/>
          <p:cNvSpPr/>
          <p:nvPr/>
        </p:nvSpPr>
        <p:spPr>
          <a:xfrm>
            <a:off x="2738628" y="1600200"/>
            <a:ext cx="548640" cy="548640"/>
          </a:xfrm>
          <a:prstGeom prst="ellipse">
            <a:avLst/>
          </a:prstGeom>
          <a:solidFill>
            <a:srgbClr val="A51C30"/>
          </a:solidFill>
          <a:ln/>
        </p:spPr>
        <p:txBody>
          <a:bodyPr/>
          <a:p/>
        </p:txBody>
      </p:sp>
      <p:sp>
        <p:nvSpPr>
          <p:cNvPr id="12" name="Text 9"/>
          <p:cNvSpPr txBox="1"/>
          <p:nvPr/>
        </p:nvSpPr>
        <p:spPr>
          <a:xfrm>
            <a:off x="2738628"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Shape 10"/>
          <p:cNvSpPr/>
          <p:nvPr/>
        </p:nvSpPr>
        <p:spPr>
          <a:xfrm>
            <a:off x="2313432" y="2331720"/>
            <a:ext cx="1399032" cy="2011680"/>
          </a:xfrm>
          <a:prstGeom prst="rect">
            <a:avLst/>
          </a:prstGeom>
          <a:solidFill>
            <a:srgbClr val="F7F5F2"/>
          </a:solidFill>
          <a:ln/>
        </p:spPr>
        <p:txBody>
          <a:bodyPr/>
          <a:p/>
        </p:txBody>
      </p:sp>
      <p:sp>
        <p:nvSpPr>
          <p:cNvPr id="14" name="Text 11"/>
          <p:cNvSpPr txBox="1"/>
          <p:nvPr/>
        </p:nvSpPr>
        <p:spPr>
          <a:xfrm>
            <a:off x="2404872" y="2423160"/>
            <a:ext cx="1216152" cy="365760"/>
          </a:xfrm>
          <a:prstGeom prst="rect">
            <a:avLst/>
          </a:prstGeom>
          <a:noFill/>
          <a:ln/>
        </p:spPr>
        <p:txBody>
          <a:bodyPr wrap="square" lIns="0" tIns="0" rIns="0" bIns="0" rtlCol="0" anchor="ctr"/>
          <a:lstStyle/>
          <a:p>
            <a:pPr algn="ctr" indent="0" marL="0">
              <a:buNone/>
            </a:pPr>
            <a:r>
              <a:rPr lang="en-US" sz="1500" b="1" dirty="0">
                <a:solidFill>
                  <a:srgbClr val="8A1626"/>
                </a:solidFill>
              </a:rPr>
              <a:t>Fetch</a:t>
            </a:r>
            <a:endParaRPr lang="en-US" sz="1500" dirty="0"/>
          </a:p>
        </p:txBody>
      </p:sp>
      <p:sp>
        <p:nvSpPr>
          <p:cNvPr id="15" name="Text 12"/>
          <p:cNvSpPr txBox="1"/>
          <p:nvPr/>
        </p:nvSpPr>
        <p:spPr>
          <a:xfrm>
            <a:off x="2404872" y="2834640"/>
            <a:ext cx="1216152" cy="1417320"/>
          </a:xfrm>
          <a:prstGeom prst="rect">
            <a:avLst/>
          </a:prstGeom>
          <a:noFill/>
          <a:ln/>
        </p:spPr>
        <p:txBody>
          <a:bodyPr wrap="square" lIns="0" tIns="0" rIns="0" bIns="0" rtlCol="0" anchor="t"/>
          <a:lstStyle/>
          <a:p>
            <a:pPr algn="ctr" indent="0" marL="0">
              <a:buNone/>
            </a:pPr>
            <a:r>
              <a:rPr lang="en-US" sz="1200" dirty="0">
                <a:solidFill>
                  <a:srgbClr val="4A5058"/>
                </a:solidFill>
              </a:rPr>
              <a:t>Sources in parallel on virtual threads</a:t>
            </a:r>
            <a:endParaRPr lang="en-US" sz="1200" dirty="0"/>
          </a:p>
        </p:txBody>
      </p:sp>
      <p:sp>
        <p:nvSpPr>
          <p:cNvPr id="16" name="Shape 13"/>
          <p:cNvSpPr/>
          <p:nvPr/>
        </p:nvSpPr>
        <p:spPr>
          <a:xfrm>
            <a:off x="4274820" y="1600200"/>
            <a:ext cx="548640" cy="548640"/>
          </a:xfrm>
          <a:prstGeom prst="ellipse">
            <a:avLst/>
          </a:prstGeom>
          <a:solidFill>
            <a:srgbClr val="A51C30"/>
          </a:solidFill>
          <a:ln/>
        </p:spPr>
        <p:txBody>
          <a:bodyPr/>
          <a:p/>
        </p:txBody>
      </p:sp>
      <p:sp>
        <p:nvSpPr>
          <p:cNvPr id="17" name="Text 14"/>
          <p:cNvSpPr txBox="1"/>
          <p:nvPr/>
        </p:nvSpPr>
        <p:spPr>
          <a:xfrm>
            <a:off x="4274820"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8" name="Shape 15"/>
          <p:cNvSpPr/>
          <p:nvPr/>
        </p:nvSpPr>
        <p:spPr>
          <a:xfrm>
            <a:off x="3849624" y="2331720"/>
            <a:ext cx="1399032" cy="2011680"/>
          </a:xfrm>
          <a:prstGeom prst="rect">
            <a:avLst/>
          </a:prstGeom>
          <a:solidFill>
            <a:srgbClr val="F7F5F2"/>
          </a:solidFill>
          <a:ln/>
        </p:spPr>
        <p:txBody>
          <a:bodyPr/>
          <a:p/>
        </p:txBody>
      </p:sp>
      <p:sp>
        <p:nvSpPr>
          <p:cNvPr id="19" name="Text 16"/>
          <p:cNvSpPr txBox="1"/>
          <p:nvPr/>
        </p:nvSpPr>
        <p:spPr>
          <a:xfrm>
            <a:off x="3941064" y="2423160"/>
            <a:ext cx="1216152" cy="365760"/>
          </a:xfrm>
          <a:prstGeom prst="rect">
            <a:avLst/>
          </a:prstGeom>
          <a:noFill/>
          <a:ln/>
        </p:spPr>
        <p:txBody>
          <a:bodyPr wrap="square" lIns="0" tIns="0" rIns="0" bIns="0" rtlCol="0" anchor="ctr"/>
          <a:lstStyle/>
          <a:p>
            <a:pPr algn="ctr" indent="0" marL="0">
              <a:buNone/>
            </a:pPr>
            <a:r>
              <a:rPr lang="en-US" sz="1500" b="1" dirty="0">
                <a:solidFill>
                  <a:srgbClr val="8A1626"/>
                </a:solidFill>
              </a:rPr>
              <a:t>Classify</a:t>
            </a:r>
            <a:endParaRPr lang="en-US" sz="1500" dirty="0"/>
          </a:p>
        </p:txBody>
      </p:sp>
      <p:sp>
        <p:nvSpPr>
          <p:cNvPr id="20" name="Text 17"/>
          <p:cNvSpPr txBox="1"/>
          <p:nvPr/>
        </p:nvSpPr>
        <p:spPr>
          <a:xfrm>
            <a:off x="3941064" y="2834640"/>
            <a:ext cx="1216152" cy="1417320"/>
          </a:xfrm>
          <a:prstGeom prst="rect">
            <a:avLst/>
          </a:prstGeom>
          <a:noFill/>
          <a:ln/>
        </p:spPr>
        <p:txBody>
          <a:bodyPr wrap="square" lIns="0" tIns="0" rIns="0" bIns="0" rtlCol="0" anchor="t"/>
          <a:lstStyle/>
          <a:p>
            <a:pPr algn="ctr" indent="0" marL="0">
              <a:buNone/>
            </a:pPr>
            <a:r>
              <a:rPr lang="en-US" sz="1200" dirty="0">
                <a:solidFill>
                  <a:srgbClr val="4A5058"/>
                </a:solidFill>
              </a:rPr>
              <a:t>Which kind is this record?</a:t>
            </a:r>
            <a:endParaRPr lang="en-US" sz="1200" dirty="0"/>
          </a:p>
        </p:txBody>
      </p:sp>
      <p:sp>
        <p:nvSpPr>
          <p:cNvPr id="21" name="Shape 18"/>
          <p:cNvSpPr/>
          <p:nvPr/>
        </p:nvSpPr>
        <p:spPr>
          <a:xfrm>
            <a:off x="5811012" y="1600200"/>
            <a:ext cx="548640" cy="548640"/>
          </a:xfrm>
          <a:prstGeom prst="ellipse">
            <a:avLst/>
          </a:prstGeom>
          <a:solidFill>
            <a:srgbClr val="A51C30"/>
          </a:solidFill>
          <a:ln/>
        </p:spPr>
        <p:txBody>
          <a:bodyPr/>
          <a:p/>
        </p:txBody>
      </p:sp>
      <p:sp>
        <p:nvSpPr>
          <p:cNvPr id="22" name="Text 19"/>
          <p:cNvSpPr txBox="1"/>
          <p:nvPr/>
        </p:nvSpPr>
        <p:spPr>
          <a:xfrm>
            <a:off x="5811012"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3" name="Shape 20"/>
          <p:cNvSpPr/>
          <p:nvPr/>
        </p:nvSpPr>
        <p:spPr>
          <a:xfrm>
            <a:off x="5385816" y="2331720"/>
            <a:ext cx="1399032" cy="2011680"/>
          </a:xfrm>
          <a:prstGeom prst="rect">
            <a:avLst/>
          </a:prstGeom>
          <a:solidFill>
            <a:srgbClr val="F7F5F2"/>
          </a:solidFill>
          <a:ln/>
        </p:spPr>
        <p:txBody>
          <a:bodyPr/>
          <a:p/>
        </p:txBody>
      </p:sp>
      <p:sp>
        <p:nvSpPr>
          <p:cNvPr id="24" name="Text 21"/>
          <p:cNvSpPr txBox="1"/>
          <p:nvPr/>
        </p:nvSpPr>
        <p:spPr>
          <a:xfrm>
            <a:off x="5477256" y="2423160"/>
            <a:ext cx="1216152" cy="365760"/>
          </a:xfrm>
          <a:prstGeom prst="rect">
            <a:avLst/>
          </a:prstGeom>
          <a:noFill/>
          <a:ln/>
        </p:spPr>
        <p:txBody>
          <a:bodyPr wrap="square" lIns="0" tIns="0" rIns="0" bIns="0" rtlCol="0" anchor="ctr"/>
          <a:lstStyle/>
          <a:p>
            <a:pPr algn="ctr" indent="0" marL="0">
              <a:buNone/>
            </a:pPr>
            <a:r>
              <a:rPr lang="en-US" sz="1500" b="1" dirty="0">
                <a:solidFill>
                  <a:srgbClr val="8A1626"/>
                </a:solidFill>
              </a:rPr>
              <a:t>Fingerprint</a:t>
            </a:r>
            <a:endParaRPr lang="en-US" sz="1500" dirty="0"/>
          </a:p>
        </p:txBody>
      </p:sp>
      <p:sp>
        <p:nvSpPr>
          <p:cNvPr id="25" name="Text 22"/>
          <p:cNvSpPr txBox="1"/>
          <p:nvPr/>
        </p:nvSpPr>
        <p:spPr>
          <a:xfrm>
            <a:off x="5477256" y="2834640"/>
            <a:ext cx="1216152" cy="1417320"/>
          </a:xfrm>
          <a:prstGeom prst="rect">
            <a:avLst/>
          </a:prstGeom>
          <a:noFill/>
          <a:ln/>
        </p:spPr>
        <p:txBody>
          <a:bodyPr wrap="square" lIns="0" tIns="0" rIns="0" bIns="0" rtlCol="0" anchor="t"/>
          <a:lstStyle/>
          <a:p>
            <a:pPr algn="ctr" indent="0" marL="0">
              <a:buNone/>
            </a:pPr>
            <a:r>
              <a:rPr lang="en-US" sz="1200" dirty="0">
                <a:solidFill>
                  <a:srgbClr val="4A5058"/>
                </a:solidFill>
              </a:rPr>
              <a:t>The data's shape, hashed</a:t>
            </a:r>
            <a:endParaRPr lang="en-US" sz="1200" dirty="0"/>
          </a:p>
        </p:txBody>
      </p:sp>
      <p:sp>
        <p:nvSpPr>
          <p:cNvPr id="26" name="Shape 23"/>
          <p:cNvSpPr/>
          <p:nvPr/>
        </p:nvSpPr>
        <p:spPr>
          <a:xfrm>
            <a:off x="7347204" y="1600200"/>
            <a:ext cx="548640" cy="548640"/>
          </a:xfrm>
          <a:prstGeom prst="ellipse">
            <a:avLst/>
          </a:prstGeom>
          <a:solidFill>
            <a:srgbClr val="A51C30"/>
          </a:solidFill>
          <a:ln/>
        </p:spPr>
        <p:txBody>
          <a:bodyPr/>
          <a:p/>
        </p:txBody>
      </p:sp>
      <p:sp>
        <p:nvSpPr>
          <p:cNvPr id="27" name="Text 24"/>
          <p:cNvSpPr txBox="1"/>
          <p:nvPr/>
        </p:nvSpPr>
        <p:spPr>
          <a:xfrm>
            <a:off x="7347204"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8" name="Shape 25"/>
          <p:cNvSpPr/>
          <p:nvPr/>
        </p:nvSpPr>
        <p:spPr>
          <a:xfrm>
            <a:off x="6922008" y="2331720"/>
            <a:ext cx="1399032" cy="2011680"/>
          </a:xfrm>
          <a:prstGeom prst="rect">
            <a:avLst/>
          </a:prstGeom>
          <a:solidFill>
            <a:srgbClr val="F7F5F2"/>
          </a:solidFill>
          <a:ln/>
        </p:spPr>
        <p:txBody>
          <a:bodyPr/>
          <a:p/>
        </p:txBody>
      </p:sp>
      <p:sp>
        <p:nvSpPr>
          <p:cNvPr id="29" name="Text 26"/>
          <p:cNvSpPr txBox="1"/>
          <p:nvPr/>
        </p:nvSpPr>
        <p:spPr>
          <a:xfrm>
            <a:off x="7013448" y="2423160"/>
            <a:ext cx="1216152" cy="365760"/>
          </a:xfrm>
          <a:prstGeom prst="rect">
            <a:avLst/>
          </a:prstGeom>
          <a:noFill/>
          <a:ln/>
        </p:spPr>
        <p:txBody>
          <a:bodyPr wrap="square" lIns="0" tIns="0" rIns="0" bIns="0" rtlCol="0" anchor="ctr"/>
          <a:lstStyle/>
          <a:p>
            <a:pPr algn="ctr" indent="0" marL="0">
              <a:buNone/>
            </a:pPr>
            <a:r>
              <a:rPr lang="en-US" sz="1500" b="1" dirty="0">
                <a:solidFill>
                  <a:srgbClr val="8A1626"/>
                </a:solidFill>
              </a:rPr>
              <a:t>Layout</a:t>
            </a:r>
            <a:endParaRPr lang="en-US" sz="1500" dirty="0"/>
          </a:p>
        </p:txBody>
      </p:sp>
      <p:sp>
        <p:nvSpPr>
          <p:cNvPr id="30" name="Text 27"/>
          <p:cNvSpPr txBox="1"/>
          <p:nvPr/>
        </p:nvSpPr>
        <p:spPr>
          <a:xfrm>
            <a:off x="7013448" y="2834640"/>
            <a:ext cx="1216152" cy="1417320"/>
          </a:xfrm>
          <a:prstGeom prst="rect">
            <a:avLst/>
          </a:prstGeom>
          <a:noFill/>
          <a:ln/>
        </p:spPr>
        <p:txBody>
          <a:bodyPr wrap="square" lIns="0" tIns="0" rIns="0" bIns="0" rtlCol="0" anchor="t"/>
          <a:lstStyle/>
          <a:p>
            <a:pPr algn="ctr" indent="0" marL="0">
              <a:buNone/>
            </a:pPr>
            <a:r>
              <a:rPr lang="en-US" sz="1200" dirty="0">
                <a:solidFill>
                  <a:srgbClr val="4A5058"/>
                </a:solidFill>
              </a:rPr>
              <a:t>Sutra ⊕ inference, cached by shape</a:t>
            </a:r>
            <a:endParaRPr lang="en-US" sz="1200" dirty="0"/>
          </a:p>
        </p:txBody>
      </p:sp>
      <p:sp>
        <p:nvSpPr>
          <p:cNvPr id="31" name="Shape 28"/>
          <p:cNvSpPr/>
          <p:nvPr/>
        </p:nvSpPr>
        <p:spPr>
          <a:xfrm>
            <a:off x="8883396" y="1600200"/>
            <a:ext cx="548640" cy="548640"/>
          </a:xfrm>
          <a:prstGeom prst="ellipse">
            <a:avLst/>
          </a:prstGeom>
          <a:solidFill>
            <a:srgbClr val="A51C30"/>
          </a:solidFill>
          <a:ln/>
        </p:spPr>
        <p:txBody>
          <a:bodyPr/>
          <a:p/>
        </p:txBody>
      </p:sp>
      <p:sp>
        <p:nvSpPr>
          <p:cNvPr id="32" name="Text 29"/>
          <p:cNvSpPr txBox="1"/>
          <p:nvPr/>
        </p:nvSpPr>
        <p:spPr>
          <a:xfrm>
            <a:off x="8883396"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33" name="Shape 30"/>
          <p:cNvSpPr/>
          <p:nvPr/>
        </p:nvSpPr>
        <p:spPr>
          <a:xfrm>
            <a:off x="8458200" y="2331720"/>
            <a:ext cx="1399032" cy="2011680"/>
          </a:xfrm>
          <a:prstGeom prst="rect">
            <a:avLst/>
          </a:prstGeom>
          <a:solidFill>
            <a:srgbClr val="F7F5F2"/>
          </a:solidFill>
          <a:ln/>
        </p:spPr>
        <p:txBody>
          <a:bodyPr/>
          <a:p/>
        </p:txBody>
      </p:sp>
      <p:sp>
        <p:nvSpPr>
          <p:cNvPr id="34" name="Text 31"/>
          <p:cNvSpPr txBox="1"/>
          <p:nvPr/>
        </p:nvSpPr>
        <p:spPr>
          <a:xfrm>
            <a:off x="8549640" y="2423160"/>
            <a:ext cx="1216152" cy="365760"/>
          </a:xfrm>
          <a:prstGeom prst="rect">
            <a:avLst/>
          </a:prstGeom>
          <a:noFill/>
          <a:ln/>
        </p:spPr>
        <p:txBody>
          <a:bodyPr wrap="square" lIns="0" tIns="0" rIns="0" bIns="0" rtlCol="0" anchor="ctr"/>
          <a:lstStyle/>
          <a:p>
            <a:pPr algn="ctr" indent="0" marL="0">
              <a:buNone/>
            </a:pPr>
            <a:r>
              <a:rPr lang="en-US" sz="1500" b="1" dirty="0">
                <a:solidFill>
                  <a:srgbClr val="8A1626"/>
                </a:solidFill>
              </a:rPr>
              <a:t>Bind</a:t>
            </a:r>
            <a:endParaRPr lang="en-US" sz="1500" dirty="0"/>
          </a:p>
        </p:txBody>
      </p:sp>
      <p:sp>
        <p:nvSpPr>
          <p:cNvPr id="35" name="Text 32"/>
          <p:cNvSpPr txBox="1"/>
          <p:nvPr/>
        </p:nvSpPr>
        <p:spPr>
          <a:xfrm>
            <a:off x="8549640" y="2834640"/>
            <a:ext cx="1216152" cy="1417320"/>
          </a:xfrm>
          <a:prstGeom prst="rect">
            <a:avLst/>
          </a:prstGeom>
          <a:noFill/>
          <a:ln/>
        </p:spPr>
        <p:txBody>
          <a:bodyPr wrap="square" lIns="0" tIns="0" rIns="0" bIns="0" rtlCol="0" anchor="t"/>
          <a:lstStyle/>
          <a:p>
            <a:pPr algn="ctr" indent="0" marL="0">
              <a:buNone/>
            </a:pPr>
            <a:r>
              <a:rPr lang="en-US" sz="1200" dirty="0">
                <a:solidFill>
                  <a:srgbClr val="4A5058"/>
                </a:solidFill>
              </a:rPr>
              <a:t>Values into panels, in parallel</a:t>
            </a:r>
            <a:endParaRPr lang="en-US" sz="1200" dirty="0"/>
          </a:p>
        </p:txBody>
      </p:sp>
      <p:sp>
        <p:nvSpPr>
          <p:cNvPr id="36" name="Shape 33"/>
          <p:cNvSpPr/>
          <p:nvPr/>
        </p:nvSpPr>
        <p:spPr>
          <a:xfrm>
            <a:off x="10419588" y="1600200"/>
            <a:ext cx="548640" cy="548640"/>
          </a:xfrm>
          <a:prstGeom prst="ellipse">
            <a:avLst/>
          </a:prstGeom>
          <a:solidFill>
            <a:srgbClr val="A51C30"/>
          </a:solidFill>
          <a:ln/>
        </p:spPr>
        <p:txBody>
          <a:bodyPr/>
          <a:p/>
        </p:txBody>
      </p:sp>
      <p:sp>
        <p:nvSpPr>
          <p:cNvPr id="37" name="Text 34"/>
          <p:cNvSpPr txBox="1"/>
          <p:nvPr/>
        </p:nvSpPr>
        <p:spPr>
          <a:xfrm>
            <a:off x="10419588"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7</a:t>
            </a:r>
            <a:endParaRPr lang="en-US" sz="1600" dirty="0"/>
          </a:p>
        </p:txBody>
      </p:sp>
      <p:sp>
        <p:nvSpPr>
          <p:cNvPr id="38" name="Shape 35"/>
          <p:cNvSpPr/>
          <p:nvPr/>
        </p:nvSpPr>
        <p:spPr>
          <a:xfrm>
            <a:off x="9994392" y="2331720"/>
            <a:ext cx="1399032" cy="2011680"/>
          </a:xfrm>
          <a:prstGeom prst="rect">
            <a:avLst/>
          </a:prstGeom>
          <a:solidFill>
            <a:srgbClr val="F7F5F2"/>
          </a:solidFill>
          <a:ln/>
        </p:spPr>
        <p:txBody>
          <a:bodyPr/>
          <a:p/>
        </p:txBody>
      </p:sp>
      <p:sp>
        <p:nvSpPr>
          <p:cNvPr id="39" name="Text 36"/>
          <p:cNvSpPr txBox="1"/>
          <p:nvPr/>
        </p:nvSpPr>
        <p:spPr>
          <a:xfrm>
            <a:off x="10085832" y="2423160"/>
            <a:ext cx="1216152" cy="365760"/>
          </a:xfrm>
          <a:prstGeom prst="rect">
            <a:avLst/>
          </a:prstGeom>
          <a:noFill/>
          <a:ln/>
        </p:spPr>
        <p:txBody>
          <a:bodyPr wrap="square" lIns="0" tIns="0" rIns="0" bIns="0" rtlCol="0" anchor="ctr"/>
          <a:lstStyle/>
          <a:p>
            <a:pPr algn="ctr" indent="0" marL="0">
              <a:buNone/>
            </a:pPr>
            <a:r>
              <a:rPr lang="en-US" sz="1500" b="1" dirty="0">
                <a:solidFill>
                  <a:srgbClr val="8A1626"/>
                </a:solidFill>
              </a:rPr>
              <a:t>Link</a:t>
            </a:r>
            <a:endParaRPr lang="en-US" sz="1500" dirty="0"/>
          </a:p>
        </p:txBody>
      </p:sp>
      <p:sp>
        <p:nvSpPr>
          <p:cNvPr id="40" name="Text 37"/>
          <p:cNvSpPr txBox="1"/>
          <p:nvPr/>
        </p:nvSpPr>
        <p:spPr>
          <a:xfrm>
            <a:off x="10085832" y="2834640"/>
            <a:ext cx="1216152" cy="1417320"/>
          </a:xfrm>
          <a:prstGeom prst="rect">
            <a:avLst/>
          </a:prstGeom>
          <a:noFill/>
          <a:ln/>
        </p:spPr>
        <p:txBody>
          <a:bodyPr wrap="square" lIns="0" tIns="0" rIns="0" bIns="0" rtlCol="0" anchor="t"/>
          <a:lstStyle/>
          <a:p>
            <a:pPr algn="ctr" indent="0" marL="0">
              <a:buNone/>
            </a:pPr>
            <a:r>
              <a:rPr lang="en-US" sz="1200" dirty="0">
                <a:solidFill>
                  <a:srgbClr val="4A5058"/>
                </a:solidFill>
              </a:rPr>
              <a:t>Every id navigable, time-boxed</a:t>
            </a:r>
            <a:endParaRPr lang="en-US" sz="1200" dirty="0"/>
          </a:p>
        </p:txBody>
      </p:sp>
      <p:sp>
        <p:nvSpPr>
          <p:cNvPr id="41" name="Shape 38"/>
          <p:cNvSpPr/>
          <p:nvPr/>
        </p:nvSpPr>
        <p:spPr>
          <a:xfrm>
            <a:off x="777240" y="4526280"/>
            <a:ext cx="3410712" cy="868680"/>
          </a:xfrm>
          <a:prstGeom prst="rect">
            <a:avLst/>
          </a:prstGeom>
          <a:solidFill>
            <a:srgbClr val="F7F5F2"/>
          </a:solidFill>
          <a:ln/>
        </p:spPr>
        <p:txBody>
          <a:bodyPr/>
          <a:p/>
        </p:txBody>
      </p:sp>
      <p:sp>
        <p:nvSpPr>
          <p:cNvPr id="42" name="Shape 39"/>
          <p:cNvSpPr/>
          <p:nvPr/>
        </p:nvSpPr>
        <p:spPr>
          <a:xfrm>
            <a:off x="777240" y="4526280"/>
            <a:ext cx="45720" cy="868680"/>
          </a:xfrm>
          <a:prstGeom prst="rect">
            <a:avLst/>
          </a:prstGeom>
          <a:solidFill>
            <a:srgbClr val="A51C30"/>
          </a:solidFill>
          <a:ln/>
        </p:spPr>
        <p:txBody>
          <a:bodyPr/>
          <a:p/>
        </p:txBody>
      </p:sp>
      <p:sp>
        <p:nvSpPr>
          <p:cNvPr id="43" name="Text 40"/>
          <p:cNvSpPr txBox="1"/>
          <p:nvPr/>
        </p:nvSpPr>
        <p:spPr>
          <a:xfrm>
            <a:off x="978408" y="4636008"/>
            <a:ext cx="3090672" cy="502920"/>
          </a:xfrm>
          <a:prstGeom prst="rect">
            <a:avLst/>
          </a:prstGeom>
          <a:noFill/>
          <a:ln/>
        </p:spPr>
        <p:txBody>
          <a:bodyPr wrap="square" lIns="0" tIns="0" rIns="0" bIns="0" rtlCol="0" anchor="ctr"/>
          <a:lstStyle/>
          <a:p>
            <a:pPr indent="0" marL="0">
              <a:buNone/>
            </a:pPr>
            <a:r>
              <a:rPr lang="en-US" sz="2600" b="1" dirty="0">
                <a:solidFill>
                  <a:srgbClr val="8A1626"/>
                </a:solidFill>
              </a:rPr>
              <a:t>0.6 ms</a:t>
            </a:r>
            <a:endParaRPr lang="en-US" sz="2600" dirty="0"/>
          </a:p>
        </p:txBody>
      </p:sp>
      <p:sp>
        <p:nvSpPr>
          <p:cNvPr id="44" name="Text 41"/>
          <p:cNvSpPr txBox="1"/>
          <p:nvPr/>
        </p:nvSpPr>
        <p:spPr>
          <a:xfrm>
            <a:off x="978408" y="5129784"/>
            <a:ext cx="3090672" cy="192024"/>
          </a:xfrm>
          <a:prstGeom prst="rect">
            <a:avLst/>
          </a:prstGeom>
          <a:noFill/>
          <a:ln/>
        </p:spPr>
        <p:txBody>
          <a:bodyPr wrap="square" lIns="0" tIns="0" rIns="0" bIns="0" rtlCol="0" anchor="t"/>
          <a:lstStyle/>
          <a:p>
            <a:pPr indent="0" marL="0">
              <a:buNone/>
            </a:pPr>
            <a:r>
              <a:rPr lang="en-US" sz="1150" dirty="0">
                <a:solidFill>
                  <a:srgbClr val="4A5058"/>
                </a:solidFill>
              </a:rPr>
              <a:t>Server work for a warm view</a:t>
            </a:r>
            <a:endParaRPr lang="en-US" sz="1150" dirty="0"/>
          </a:p>
        </p:txBody>
      </p:sp>
      <p:sp>
        <p:nvSpPr>
          <p:cNvPr id="45" name="Shape 42"/>
          <p:cNvSpPr/>
          <p:nvPr/>
        </p:nvSpPr>
        <p:spPr>
          <a:xfrm>
            <a:off x="4389120" y="4526280"/>
            <a:ext cx="3410712" cy="868680"/>
          </a:xfrm>
          <a:prstGeom prst="rect">
            <a:avLst/>
          </a:prstGeom>
          <a:solidFill>
            <a:srgbClr val="F7F5F2"/>
          </a:solidFill>
          <a:ln/>
        </p:spPr>
        <p:txBody>
          <a:bodyPr/>
          <a:p/>
        </p:txBody>
      </p:sp>
      <p:sp>
        <p:nvSpPr>
          <p:cNvPr id="46" name="Shape 43"/>
          <p:cNvSpPr/>
          <p:nvPr/>
        </p:nvSpPr>
        <p:spPr>
          <a:xfrm>
            <a:off x="4389120" y="4526280"/>
            <a:ext cx="45720" cy="868680"/>
          </a:xfrm>
          <a:prstGeom prst="rect">
            <a:avLst/>
          </a:prstGeom>
          <a:solidFill>
            <a:srgbClr val="A51C30"/>
          </a:solidFill>
          <a:ln/>
        </p:spPr>
        <p:txBody>
          <a:bodyPr/>
          <a:p/>
        </p:txBody>
      </p:sp>
      <p:sp>
        <p:nvSpPr>
          <p:cNvPr id="47" name="Text 44"/>
          <p:cNvSpPr txBox="1"/>
          <p:nvPr/>
        </p:nvSpPr>
        <p:spPr>
          <a:xfrm>
            <a:off x="4590288" y="4636008"/>
            <a:ext cx="3090672" cy="502920"/>
          </a:xfrm>
          <a:prstGeom prst="rect">
            <a:avLst/>
          </a:prstGeom>
          <a:noFill/>
          <a:ln/>
        </p:spPr>
        <p:txBody>
          <a:bodyPr wrap="square" lIns="0" tIns="0" rIns="0" bIns="0" rtlCol="0" anchor="ctr"/>
          <a:lstStyle/>
          <a:p>
            <a:pPr indent="0" marL="0">
              <a:buNone/>
            </a:pPr>
            <a:r>
              <a:rPr lang="en-US" sz="2600" b="1" dirty="0">
                <a:solidFill>
                  <a:srgbClr val="8A1626"/>
                </a:solidFill>
              </a:rPr>
              <a:t>3.0 ms</a:t>
            </a:r>
            <a:endParaRPr lang="en-US" sz="2600" dirty="0"/>
          </a:p>
        </p:txBody>
      </p:sp>
      <p:sp>
        <p:nvSpPr>
          <p:cNvPr id="48" name="Text 45"/>
          <p:cNvSpPr txBox="1"/>
          <p:nvPr/>
        </p:nvSpPr>
        <p:spPr>
          <a:xfrm>
            <a:off x="4590288" y="5129784"/>
            <a:ext cx="3090672" cy="192024"/>
          </a:xfrm>
          <a:prstGeom prst="rect">
            <a:avLst/>
          </a:prstGeom>
          <a:noFill/>
          <a:ln/>
        </p:spPr>
        <p:txBody>
          <a:bodyPr wrap="square" lIns="0" tIns="0" rIns="0" bIns="0" rtlCol="0" anchor="t"/>
          <a:lstStyle/>
          <a:p>
            <a:pPr indent="0" marL="0">
              <a:buNone/>
            </a:pPr>
            <a:r>
              <a:rPr lang="en-US" sz="1150" dirty="0">
                <a:solidFill>
                  <a:srgbClr val="4A5058"/>
                </a:solidFill>
              </a:rPr>
              <a:t>Warm view over HTTP, p99 (gate: 50 ms)</a:t>
            </a:r>
            <a:endParaRPr lang="en-US" sz="1150" dirty="0"/>
          </a:p>
        </p:txBody>
      </p:sp>
      <p:sp>
        <p:nvSpPr>
          <p:cNvPr id="49" name="Shape 46"/>
          <p:cNvSpPr/>
          <p:nvPr/>
        </p:nvSpPr>
        <p:spPr>
          <a:xfrm>
            <a:off x="8001000" y="4526280"/>
            <a:ext cx="3410712" cy="868680"/>
          </a:xfrm>
          <a:prstGeom prst="rect">
            <a:avLst/>
          </a:prstGeom>
          <a:solidFill>
            <a:srgbClr val="F7F5F2"/>
          </a:solidFill>
          <a:ln/>
        </p:spPr>
        <p:txBody>
          <a:bodyPr/>
          <a:p/>
        </p:txBody>
      </p:sp>
      <p:sp>
        <p:nvSpPr>
          <p:cNvPr id="50" name="Shape 47"/>
          <p:cNvSpPr/>
          <p:nvPr/>
        </p:nvSpPr>
        <p:spPr>
          <a:xfrm>
            <a:off x="8001000" y="4526280"/>
            <a:ext cx="45720" cy="868680"/>
          </a:xfrm>
          <a:prstGeom prst="rect">
            <a:avLst/>
          </a:prstGeom>
          <a:solidFill>
            <a:srgbClr val="A51C30"/>
          </a:solidFill>
          <a:ln/>
        </p:spPr>
        <p:txBody>
          <a:bodyPr/>
          <a:p/>
        </p:txBody>
      </p:sp>
      <p:sp>
        <p:nvSpPr>
          <p:cNvPr id="51" name="Text 48"/>
          <p:cNvSpPr txBox="1"/>
          <p:nvPr/>
        </p:nvSpPr>
        <p:spPr>
          <a:xfrm>
            <a:off x="8202168" y="4636008"/>
            <a:ext cx="3090672" cy="502920"/>
          </a:xfrm>
          <a:prstGeom prst="rect">
            <a:avLst/>
          </a:prstGeom>
          <a:noFill/>
          <a:ln/>
        </p:spPr>
        <p:txBody>
          <a:bodyPr wrap="square" lIns="0" tIns="0" rIns="0" bIns="0" rtlCol="0" anchor="ctr"/>
          <a:lstStyle/>
          <a:p>
            <a:pPr indent="0" marL="0">
              <a:buNone/>
            </a:pPr>
            <a:r>
              <a:rPr lang="en-US" sz="2600" b="1" dirty="0">
                <a:solidFill>
                  <a:srgbClr val="8A1626"/>
                </a:solidFill>
              </a:rPr>
              <a:t>7.2 ms</a:t>
            </a:r>
            <a:endParaRPr lang="en-US" sz="2600" dirty="0"/>
          </a:p>
        </p:txBody>
      </p:sp>
      <p:sp>
        <p:nvSpPr>
          <p:cNvPr id="52" name="Text 49"/>
          <p:cNvSpPr txBox="1"/>
          <p:nvPr/>
        </p:nvSpPr>
        <p:spPr>
          <a:xfrm>
            <a:off x="8202168" y="5129784"/>
            <a:ext cx="3090672" cy="192024"/>
          </a:xfrm>
          <a:prstGeom prst="rect">
            <a:avLst/>
          </a:prstGeom>
          <a:noFill/>
          <a:ln/>
        </p:spPr>
        <p:txBody>
          <a:bodyPr wrap="square" lIns="0" tIns="0" rIns="0" bIns="0" rtlCol="0" anchor="t"/>
          <a:lstStyle/>
          <a:p>
            <a:pPr indent="0" marL="0">
              <a:buNone/>
            </a:pPr>
            <a:r>
              <a:rPr lang="en-US" sz="1150" dirty="0">
                <a:solidFill>
                  <a:srgbClr val="4A5058"/>
                </a:solidFill>
              </a:rPr>
              <a:t>Structured search over 750 trades</a:t>
            </a:r>
            <a:endParaRPr lang="en-US" sz="1150" dirty="0"/>
          </a:p>
        </p:txBody>
      </p:sp>
      <p:sp>
        <p:nvSpPr>
          <p:cNvPr id="53" name="Shape 50"/>
          <p:cNvSpPr/>
          <p:nvPr/>
        </p:nvSpPr>
        <p:spPr>
          <a:xfrm>
            <a:off x="777240" y="5550408"/>
            <a:ext cx="10634472" cy="694944"/>
          </a:xfrm>
          <a:prstGeom prst="rect">
            <a:avLst/>
          </a:prstGeom>
          <a:solidFill>
            <a:srgbClr val="F6E6E9"/>
          </a:solidFill>
          <a:ln/>
        </p:spPr>
        <p:txBody>
          <a:bodyPr/>
          <a:p/>
        </p:txBody>
      </p:sp>
      <p:sp>
        <p:nvSpPr>
          <p:cNvPr id="54" name="Shape 51"/>
          <p:cNvSpPr/>
          <p:nvPr/>
        </p:nvSpPr>
        <p:spPr>
          <a:xfrm>
            <a:off x="777240" y="5550408"/>
            <a:ext cx="54864" cy="694944"/>
          </a:xfrm>
          <a:prstGeom prst="rect">
            <a:avLst/>
          </a:prstGeom>
          <a:solidFill>
            <a:srgbClr val="A51C30"/>
          </a:solidFill>
          <a:ln/>
        </p:spPr>
        <p:txBody>
          <a:bodyPr/>
          <a:p/>
        </p:txBody>
      </p:sp>
      <p:sp>
        <p:nvSpPr>
          <p:cNvPr id="55" name="Text 52"/>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The expensive part — deciding the layout — happens once per shape, not once per request.</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ONE SUTRA, END TO END</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A swap's whole screen, in one short file</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463040"/>
            <a:ext cx="5897880" cy="3886200"/>
          </a:xfrm>
          <a:prstGeom prst="rect">
            <a:avLst/>
          </a:prstGeom>
          <a:solidFill>
            <a:srgbClr val="1E1E24"/>
          </a:solidFill>
          <a:ln/>
        </p:spPr>
        <p:txBody>
          <a:bodyPr/>
          <a:p/>
        </p:txBody>
      </p:sp>
      <p:sp>
        <p:nvSpPr>
          <p:cNvPr id="7" name="Shape 4"/>
          <p:cNvSpPr/>
          <p:nvPr/>
        </p:nvSpPr>
        <p:spPr>
          <a:xfrm>
            <a:off x="777240" y="1463040"/>
            <a:ext cx="5897880" cy="384048"/>
          </a:xfrm>
          <a:prstGeom prst="rect">
            <a:avLst/>
          </a:prstGeom>
          <a:solidFill>
            <a:srgbClr val="8A1626"/>
          </a:solidFill>
          <a:ln/>
        </p:spPr>
        <p:txBody>
          <a:bodyPr/>
          <a:p/>
        </p:txBody>
      </p:sp>
      <p:sp>
        <p:nvSpPr>
          <p:cNvPr id="8" name="Text 5"/>
          <p:cNvSpPr txBox="1"/>
          <p:nvPr/>
        </p:nvSpPr>
        <p:spPr>
          <a:xfrm>
            <a:off x="960120" y="1463040"/>
            <a:ext cx="5532120" cy="384048"/>
          </a:xfrm>
          <a:prstGeom prst="rect">
            <a:avLst/>
          </a:prstGeom>
          <a:noFill/>
          <a:ln/>
        </p:spPr>
        <p:txBody>
          <a:bodyPr wrap="square" lIns="0" tIns="0" rIns="0" bIns="0" rtlCol="0" anchor="ctr"/>
          <a:lstStyle/>
          <a:p>
            <a:pPr indent="0" marL="0">
              <a:buNone/>
            </a:pPr>
            <a:r>
              <a:rPr lang="en-US" sz="1300" b="1" dirty="0">
                <a:solidFill>
                  <a:srgbClr val="FFFFFF"/>
                </a:solidFill>
              </a:rPr>
              <a:t>murex/irs-fixfloat.v1.sutra.yaml (trimmed)</a:t>
            </a:r>
            <a:endParaRPr lang="en-US" sz="1300" dirty="0"/>
          </a:p>
        </p:txBody>
      </p:sp>
      <p:sp>
        <p:nvSpPr>
          <p:cNvPr id="9" name="Text 6"/>
          <p:cNvSpPr txBox="1"/>
          <p:nvPr/>
        </p:nvSpPr>
        <p:spPr>
          <a:xfrm>
            <a:off x="978408" y="1965960"/>
            <a:ext cx="5495544" cy="3273552"/>
          </a:xfrm>
          <a:prstGeom prst="rect">
            <a:avLst/>
          </a:prstGeom>
          <a:noFill/>
          <a:ln/>
        </p:spPr>
        <p:txBody>
          <a:bodyPr wrap="square" lIns="0" tIns="0" rIns="0" bIns="0" rtlCol="0" anchor="t"/>
          <a:lstStyle/>
          <a:p>
            <a:pPr indent="0" marL="0">
              <a:lnSpc>
                <a:spcPct val="105000"/>
              </a:lnSpc>
              <a:buNone/>
            </a:pPr>
            <a:r>
              <a:rPr lang="en-US" sz="1200" dirty="0">
                <a:solidFill>
                  <a:srgbClr val="F1EEE9"/>
                </a:solidFill>
                <a:latin typeface="Courier New" pitchFamily="34" charset="0"/>
                <a:ea typeface="Courier New" pitchFamily="34" charset="-122"/>
                <a:cs typeface="Courier New" pitchFamily="34" charset="-120"/>
              </a:rPr>
              <a:t>rachana: 1</a:t>
            </a:r>
            <a:endParaRPr lang="en-US" sz="1200" dirty="0"/>
          </a:p>
          <a:p>
            <a:pPr indent="0" marL="0">
              <a:lnSpc>
                <a:spcPct val="105000"/>
              </a:lnSpc>
              <a:buNone/>
            </a:pPr>
            <a:r>
              <a:rPr lang="en-US" sz="1200" dirty="0">
                <a:solidFill>
                  <a:srgbClr val="F1EEE9"/>
                </a:solidFill>
                <a:latin typeface="Courier New" pitchFamily="34" charset="0"/>
                <a:ea typeface="Courier New" pitchFamily="34" charset="-122"/>
                <a:cs typeface="Courier New" pitchFamily="34" charset="-120"/>
              </a:rPr>
              <a:t>sutra: irs-fixfloat</a:t>
            </a:r>
            <a:endParaRPr lang="en-US" sz="1200" dirty="0"/>
          </a:p>
          <a:p>
            <a:pPr indent="0" marL="0">
              <a:lnSpc>
                <a:spcPct val="105000"/>
              </a:lnSpc>
              <a:buNone/>
            </a:pPr>
            <a:r>
              <a:rPr lang="en-US" sz="1200" dirty="0">
                <a:solidFill>
                  <a:srgbClr val="F1EEE9"/>
                </a:solidFill>
                <a:latin typeface="Courier New" pitchFamily="34" charset="0"/>
                <a:ea typeface="Courier New" pitchFamily="34" charset="-122"/>
                <a:cs typeface="Courier New" pitchFamily="34" charset="-120"/>
              </a:rPr>
              <a:t>doc: { summary: "Exchanges fixed for floating …" }</a:t>
            </a:r>
            <a:endParaRPr lang="en-US" sz="1200" dirty="0"/>
          </a:p>
          <a:p>
            <a:pPr indent="0" marL="0">
              <a:lnSpc>
                <a:spcPct val="105000"/>
              </a:lnSpc>
              <a:buNone/>
            </a:pPr>
            <a:r>
              <a:rPr lang="en-US" sz="1200" dirty="0">
                <a:solidFill>
                  <a:srgbClr val="F1EEE9"/>
                </a:solidFill>
                <a:latin typeface="Courier New" pitchFamily="34" charset="0"/>
                <a:ea typeface="Courier New" pitchFamily="34" charset="-122"/>
                <a:cs typeface="Courier New" pitchFamily="34" charset="-120"/>
              </a:rPr>
              <a:t>match: { kind: trade, priority: 10, where:</a:t>
            </a:r>
            <a:endParaRPr lang="en-US" sz="1200" dirty="0"/>
          </a:p>
          <a:p>
            <a:pPr indent="0" marL="0">
              <a:lnSpc>
                <a:spcPct val="105000"/>
              </a:lnSpc>
              <a:buNone/>
            </a:pPr>
            <a:r>
              <a:rPr lang="en-US" sz="1200" dirty="0">
                <a:solidFill>
                  <a:srgbClr val="F1EEE9"/>
                </a:solidFill>
                <a:latin typeface="Courier New" pitchFamily="34" charset="0"/>
                <a:ea typeface="Courier New" pitchFamily="34" charset="-122"/>
                <a:cs typeface="Courier New" pitchFamily="34" charset="-120"/>
              </a:rPr>
              <a:t>  "$.SOURCE_SYSTEM == 'MUREX' &amp;&amp;</a:t>
            </a:r>
            <a:endParaRPr lang="en-US" sz="1200" dirty="0"/>
          </a:p>
          <a:p>
            <a:pPr indent="0" marL="0">
              <a:lnSpc>
                <a:spcPct val="105000"/>
              </a:lnSpc>
              <a:buNone/>
            </a:pPr>
            <a:r>
              <a:rPr lang="en-US" sz="1200" dirty="0">
                <a:solidFill>
                  <a:srgbClr val="F1EEE9"/>
                </a:solidFill>
                <a:latin typeface="Courier New" pitchFamily="34" charset="0"/>
                <a:ea typeface="Courier New" pitchFamily="34" charset="-122"/>
                <a:cs typeface="Courier New" pitchFamily="34" charset="-120"/>
              </a:rPr>
              <a:t>   $.PRODUCT_TYPE == 'IRS_FIXFLOAT'" }</a:t>
            </a:r>
            <a:endParaRPr lang="en-US" sz="1200" dirty="0"/>
          </a:p>
          <a:p>
            <a:pPr indent="0" marL="0">
              <a:lnSpc>
                <a:spcPct val="105000"/>
              </a:lnSpc>
              <a:buNone/>
            </a:pPr>
            <a:r>
              <a:rPr lang="en-US" sz="1200" dirty="0">
                <a:solidFill>
                  <a:srgbClr val="F1EEE9"/>
                </a:solidFill>
                <a:latin typeface="Courier New" pitchFamily="34" charset="0"/>
                <a:ea typeface="Courier New" pitchFamily="34" charset="-122"/>
                <a:cs typeface="Courier New" pitchFamily="34" charset="-120"/>
              </a:rPr>
              <a:t>title: { pill: "Rates · Interest rate swap",</a:t>
            </a:r>
            <a:endParaRPr lang="en-US" sz="1200" dirty="0"/>
          </a:p>
          <a:p>
            <a:pPr indent="0" marL="0">
              <a:lnSpc>
                <a:spcPct val="105000"/>
              </a:lnSpc>
              <a:buNone/>
            </a:pPr>
            <a:r>
              <a:rPr lang="en-US" sz="1200" dirty="0">
                <a:solidFill>
                  <a:srgbClr val="F1EEE9"/>
                </a:solidFill>
                <a:latin typeface="Courier New" pitchFamily="34" charset="0"/>
                <a:ea typeface="Courier New" pitchFamily="34" charset="-122"/>
                <a:cs typeface="Courier New" pitchFamily="34" charset="-120"/>
              </a:rPr>
              <a:t>         id: $.TRADE_ID }</a:t>
            </a:r>
            <a:endParaRPr lang="en-US" sz="1200" dirty="0"/>
          </a:p>
          <a:p>
            <a:pPr indent="0" marL="0">
              <a:lnSpc>
                <a:spcPct val="105000"/>
              </a:lnSpc>
              <a:buNone/>
            </a:pPr>
            <a:r>
              <a:rPr lang="en-US" sz="1200" dirty="0">
                <a:solidFill>
                  <a:srgbClr val="F1EEE9"/>
                </a:solidFill>
                <a:latin typeface="Courier New" pitchFamily="34" charset="0"/>
                <a:ea typeface="Courier New" pitchFamily="34" charset="-122"/>
                <a:cs typeface="Courier New" pitchFamily="34" charset="-120"/>
              </a:rPr>
              <a:t>strip:</a:t>
            </a:r>
            <a:endParaRPr lang="en-US" sz="1200" dirty="0"/>
          </a:p>
          <a:p>
            <a:pPr indent="0" marL="0">
              <a:lnSpc>
                <a:spcPct val="105000"/>
              </a:lnSpc>
              <a:buNone/>
            </a:pPr>
            <a:r>
              <a:rPr lang="en-US" sz="1200" dirty="0">
                <a:solidFill>
                  <a:srgbClr val="F1EEE9"/>
                </a:solidFill>
                <a:latin typeface="Courier New" pitchFamily="34" charset="0"/>
                <a:ea typeface="Courier New" pitchFamily="34" charset="-122"/>
                <a:cs typeface="Courier New" pitchFamily="34" charset="-120"/>
              </a:rPr>
              <a:t>  - { label: Source, bind: $.SOURCE_SYSTEM }</a:t>
            </a:r>
            <a:endParaRPr lang="en-US" sz="1200" dirty="0"/>
          </a:p>
          <a:p>
            <a:pPr indent="0" marL="0">
              <a:lnSpc>
                <a:spcPct val="105000"/>
              </a:lnSpc>
              <a:buNone/>
            </a:pPr>
            <a:r>
              <a:rPr lang="en-US" sz="1200" dirty="0">
                <a:solidFill>
                  <a:srgbClr val="F1EEE9"/>
                </a:solidFill>
                <a:latin typeface="Courier New" pitchFamily="34" charset="0"/>
                <a:ea typeface="Courier New" pitchFamily="34" charset="-122"/>
                <a:cs typeface="Courier New" pitchFamily="34" charset="-120"/>
              </a:rPr>
              <a:t>  - { label: Maturity, bind: $.MATURITY_DATE }</a:t>
            </a:r>
            <a:endParaRPr lang="en-US" sz="1200" dirty="0"/>
          </a:p>
          <a:p>
            <a:pPr indent="0" marL="0">
              <a:lnSpc>
                <a:spcPct val="105000"/>
              </a:lnSpc>
              <a:buNone/>
            </a:pPr>
            <a:r>
              <a:rPr lang="en-US" sz="1200" dirty="0">
                <a:solidFill>
                  <a:srgbClr val="F1EEE9"/>
                </a:solidFill>
                <a:latin typeface="Courier New" pitchFamily="34" charset="0"/>
                <a:ea typeface="Courier New" pitchFamily="34" charset="-122"/>
                <a:cs typeface="Courier New" pitchFamily="34" charset="-120"/>
              </a:rPr>
              <a:t>panels:</a:t>
            </a:r>
            <a:endParaRPr lang="en-US" sz="1200" dirty="0"/>
          </a:p>
          <a:p>
            <a:pPr indent="0" marL="0">
              <a:lnSpc>
                <a:spcPct val="105000"/>
              </a:lnSpc>
              <a:buNone/>
            </a:pPr>
            <a:r>
              <a:rPr lang="en-US" sz="1200" dirty="0">
                <a:solidFill>
                  <a:srgbClr val="F1EEE9"/>
                </a:solidFill>
                <a:latin typeface="Courier New" pitchFamily="34" charset="0"/>
                <a:ea typeface="Courier New" pitchFamily="34" charset="-122"/>
                <a:cs typeface="Courier New" pitchFamily="34" charset="-120"/>
              </a:rPr>
              <a:t>  - { use: trading/deal-ticket@1 }</a:t>
            </a:r>
            <a:endParaRPr lang="en-US" sz="1200" dirty="0"/>
          </a:p>
          <a:p>
            <a:pPr indent="0" marL="0">
              <a:lnSpc>
                <a:spcPct val="105000"/>
              </a:lnSpc>
              <a:buNone/>
            </a:pPr>
            <a:r>
              <a:rPr lang="en-US" sz="1200" dirty="0">
                <a:solidFill>
                  <a:srgbClr val="F1EEE9"/>
                </a:solidFill>
                <a:latin typeface="Courier New" pitchFamily="34" charset="0"/>
                <a:ea typeface="Courier New" pitchFamily="34" charset="-122"/>
                <a:cs typeface="Courier New" pitchFamily="34" charset="-120"/>
              </a:rPr>
              <a:t>  - { use: trading/legs@1, with: { rate-fmt: pct4 } }</a:t>
            </a:r>
            <a:endParaRPr lang="en-US" sz="1200" dirty="0"/>
          </a:p>
          <a:p>
            <a:pPr indent="0" marL="0">
              <a:lnSpc>
                <a:spcPct val="105000"/>
              </a:lnSpc>
              <a:buNone/>
            </a:pPr>
            <a:r>
              <a:rPr lang="en-US" sz="1200" dirty="0">
                <a:solidFill>
                  <a:srgbClr val="F1EEE9"/>
                </a:solidFill>
                <a:latin typeface="Courier New" pitchFamily="34" charset="0"/>
                <a:ea typeface="Courier New" pitchFamily="34" charset="-122"/>
                <a:cs typeface="Courier New" pitchFamily="34" charset="-120"/>
              </a:rPr>
              <a:t>  - { use: data-provenance@1 }</a:t>
            </a:r>
            <a:endParaRPr lang="en-US" sz="1200" dirty="0"/>
          </a:p>
          <a:p>
            <a:pPr indent="0" marL="0">
              <a:lnSpc>
                <a:spcPct val="105000"/>
              </a:lnSpc>
              <a:buNone/>
            </a:pPr>
            <a:r>
              <a:rPr lang="en-US" sz="1200" dirty="0">
                <a:solidFill>
                  <a:srgbClr val="F1EEE9"/>
                </a:solidFill>
                <a:latin typeface="Courier New" pitchFamily="34" charset="0"/>
                <a:ea typeface="Courier New" pitchFamily="34" charset="-122"/>
                <a:cs typeface="Courier New" pitchFamily="34" charset="-120"/>
              </a:rPr>
              <a:t>  - { use: risk-links@1 }</a:t>
            </a:r>
            <a:endParaRPr lang="en-US" sz="1200" dirty="0"/>
          </a:p>
        </p:txBody>
      </p:sp>
      <p:sp>
        <p:nvSpPr>
          <p:cNvPr id="10" name="Text 7"/>
          <p:cNvSpPr txBox="1"/>
          <p:nvPr/>
        </p:nvSpPr>
        <p:spPr>
          <a:xfrm>
            <a:off x="6949440" y="1463040"/>
            <a:ext cx="4462272" cy="3931920"/>
          </a:xfrm>
          <a:prstGeom prst="rect">
            <a:avLst/>
          </a:prstGeom>
          <a:noFill/>
          <a:ln/>
        </p:spPr>
        <p:txBody>
          <a:bodyPr wrap="square" lIns="0" tIns="0" rIns="0" bIns="0" rtlCol="0" anchor="t"/>
          <a:lstStyle/>
          <a:p>
            <a:pPr indent="0" marL="0">
              <a:buNone/>
            </a:pPr>
            <a:r>
              <a:rPr lang="en-US" sz="1500" b="1" dirty="0">
                <a:solidFill>
                  <a:srgbClr val="A51C30"/>
                </a:solidFill>
              </a:rPr>
              <a:t>▪  When it applies</a:t>
            </a:r>
            <a:endParaRPr lang="en-US" sz="1500" dirty="0"/>
          </a:p>
          <a:p>
            <a:pPr indent="0" marL="0">
              <a:spcAft>
                <a:spcPts val="900"/>
              </a:spcAft>
              <a:buNone/>
            </a:pPr>
            <a:r>
              <a:rPr lang="en-US" sz="1300" dirty="0">
                <a:solidFill>
                  <a:srgbClr val="4A5058"/>
                </a:solidFill>
              </a:rPr>
              <a:t>A MUREX trade whose PRODUCT_TYPE is IRS_FIXFLOAT; the highest priority match wins.</a:t>
            </a:r>
            <a:endParaRPr lang="en-US" sz="1500" dirty="0"/>
          </a:p>
          <a:p>
            <a:pPr indent="0" marL="0">
              <a:buNone/>
            </a:pPr>
            <a:r>
              <a:rPr lang="en-US" sz="1500" b="1" dirty="0">
                <a:solidFill>
                  <a:srgbClr val="A51C30"/>
                </a:solidFill>
              </a:rPr>
              <a:t>▪  What it shows</a:t>
            </a:r>
            <a:endParaRPr lang="en-US" sz="1500" dirty="0"/>
          </a:p>
          <a:p>
            <a:pPr indent="0" marL="0">
              <a:spcAft>
                <a:spcPts val="900"/>
              </a:spcAft>
              <a:buNone/>
            </a:pPr>
            <a:r>
              <a:rPr lang="en-US" sz="1300" dirty="0">
                <a:solidFill>
                  <a:srgbClr val="4A5058"/>
                </a:solidFill>
              </a:rPr>
              <a:t>A linked header, eight headline figures and fragments: the pack's deal ticket and legs, the UI kit's provenance and risk links; 132 pack files reuse the deal ticket.</a:t>
            </a:r>
            <a:endParaRPr lang="en-US" sz="1500" dirty="0"/>
          </a:p>
          <a:p>
            <a:pPr indent="0" marL="0">
              <a:buNone/>
            </a:pPr>
            <a:r>
              <a:rPr lang="en-US" sz="1500" b="1" dirty="0">
                <a:solidFill>
                  <a:srgbClr val="A51C30"/>
                </a:solidFill>
              </a:rPr>
              <a:t>▪  Documented in itself</a:t>
            </a:r>
            <a:endParaRPr lang="en-US" sz="1500" dirty="0"/>
          </a:p>
          <a:p>
            <a:pPr indent="0" marL="0">
              <a:spcAft>
                <a:spcPts val="900"/>
              </a:spcAft>
              <a:buNone/>
            </a:pPr>
            <a:r>
              <a:rPr lang="en-US" sz="1300" dirty="0">
                <a:solidFill>
                  <a:srgbClr val="4A5058"/>
                </a:solidFill>
              </a:rPr>
              <a:t>Since 2.7.0 every Sutra and fragment carries a doc: block (summary, params, examples) that the designer, the help and AI read.</a:t>
            </a:r>
            <a:endParaRPr lang="en-US" sz="1500" dirty="0"/>
          </a:p>
          <a:p>
            <a:pPr indent="0" marL="0">
              <a:buNone/>
            </a:pPr>
            <a:r>
              <a:rPr lang="en-US" sz="1500" b="1" dirty="0">
                <a:solidFill>
                  <a:srgbClr val="A51C30"/>
                </a:solidFill>
              </a:rPr>
              <a:t>▪  Shipped through review</a:t>
            </a:r>
            <a:endParaRPr lang="en-US" sz="1500" dirty="0"/>
          </a:p>
          <a:p>
            <a:pPr indent="0" marL="0">
              <a:spcAft>
                <a:spcPts val="900"/>
              </a:spcAft>
              <a:buNone/>
            </a:pPr>
            <a:r>
              <a:rPr lang="en-US" sz="1300" dirty="0">
                <a:solidFill>
                  <a:srgbClr val="4A5058"/>
                </a:solidFill>
              </a:rPr>
              <a:t>Rachana-EL has no side effects; a bad edit keeps the last good version live; in production a second person approves.</a:t>
            </a:r>
            <a:endParaRPr lang="en-US" sz="15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LIVE, END TO END</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One subscription per entity, one channel per browser</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600200"/>
            <a:ext cx="1874520" cy="146304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7" name="Text 4"/>
          <p:cNvSpPr txBox="1"/>
          <p:nvPr/>
        </p:nvSpPr>
        <p:spPr>
          <a:xfrm>
            <a:off x="914400" y="1709928"/>
            <a:ext cx="1600200" cy="329184"/>
          </a:xfrm>
          <a:prstGeom prst="rect">
            <a:avLst/>
          </a:prstGeom>
          <a:noFill/>
          <a:ln/>
        </p:spPr>
        <p:txBody>
          <a:bodyPr wrap="square" lIns="0" tIns="0" rIns="0" bIns="0" rtlCol="0" anchor="t"/>
          <a:lstStyle/>
          <a:p>
            <a:pPr indent="0" marL="0">
              <a:buNone/>
            </a:pPr>
            <a:r>
              <a:rPr lang="en-US" sz="1600" b="1" dirty="0">
                <a:solidFill>
                  <a:srgbClr val="1A1A1A"/>
                </a:solidFill>
              </a:rPr>
              <a:t>Source</a:t>
            </a:r>
            <a:endParaRPr lang="en-US" sz="1600" dirty="0"/>
          </a:p>
        </p:txBody>
      </p:sp>
      <p:sp>
        <p:nvSpPr>
          <p:cNvPr id="8" name="Text 5"/>
          <p:cNvSpPr txBox="1"/>
          <p:nvPr/>
        </p:nvSpPr>
        <p:spPr>
          <a:xfrm>
            <a:off x="914400" y="2057400"/>
            <a:ext cx="1600200" cy="941832"/>
          </a:xfrm>
          <a:prstGeom prst="rect">
            <a:avLst/>
          </a:prstGeom>
          <a:noFill/>
          <a:ln/>
        </p:spPr>
        <p:txBody>
          <a:bodyPr wrap="square" lIns="0" tIns="0" rIns="0" bIns="0" rtlCol="0" anchor="t"/>
          <a:lstStyle/>
          <a:p>
            <a:pPr indent="0" marL="0">
              <a:buNone/>
            </a:pPr>
            <a:r>
              <a:rPr lang="en-US" sz="1300" dirty="0">
                <a:solidFill>
                  <a:srgbClr val="4A5058"/>
                </a:solidFill>
              </a:rPr>
              <a:t>subscribe()</a:t>
            </a:r>
            <a:endParaRPr lang="en-US" sz="1300" dirty="0"/>
          </a:p>
        </p:txBody>
      </p:sp>
      <p:sp>
        <p:nvSpPr>
          <p:cNvPr id="9" name="Shape 6"/>
          <p:cNvSpPr/>
          <p:nvPr/>
        </p:nvSpPr>
        <p:spPr>
          <a:xfrm>
            <a:off x="2953512" y="1600200"/>
            <a:ext cx="1874520" cy="146304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10" name="Text 7"/>
          <p:cNvSpPr txBox="1"/>
          <p:nvPr/>
        </p:nvSpPr>
        <p:spPr>
          <a:xfrm>
            <a:off x="3090672" y="1709928"/>
            <a:ext cx="1600200" cy="329184"/>
          </a:xfrm>
          <a:prstGeom prst="rect">
            <a:avLst/>
          </a:prstGeom>
          <a:noFill/>
          <a:ln/>
        </p:spPr>
        <p:txBody>
          <a:bodyPr wrap="square" lIns="0" tIns="0" rIns="0" bIns="0" rtlCol="0" anchor="t"/>
          <a:lstStyle/>
          <a:p>
            <a:pPr indent="0" marL="0">
              <a:buNone/>
            </a:pPr>
            <a:r>
              <a:rPr lang="en-US" sz="1600" b="1" dirty="0">
                <a:solidFill>
                  <a:srgbClr val="1A1A1A"/>
                </a:solidFill>
              </a:rPr>
              <a:t>TopicHub</a:t>
            </a:r>
            <a:endParaRPr lang="en-US" sz="1600" dirty="0"/>
          </a:p>
        </p:txBody>
      </p:sp>
      <p:sp>
        <p:nvSpPr>
          <p:cNvPr id="11" name="Text 8"/>
          <p:cNvSpPr txBox="1"/>
          <p:nvPr/>
        </p:nvSpPr>
        <p:spPr>
          <a:xfrm>
            <a:off x="3090672" y="2057400"/>
            <a:ext cx="1600200" cy="941832"/>
          </a:xfrm>
          <a:prstGeom prst="rect">
            <a:avLst/>
          </a:prstGeom>
          <a:noFill/>
          <a:ln/>
        </p:spPr>
        <p:txBody>
          <a:bodyPr wrap="square" lIns="0" tIns="0" rIns="0" bIns="0" rtlCol="0" anchor="t"/>
          <a:lstStyle/>
          <a:p>
            <a:pPr indent="0" marL="0">
              <a:buNone/>
            </a:pPr>
            <a:r>
              <a:rPr lang="en-US" sz="1300" dirty="0">
                <a:solidFill>
                  <a:srgbClr val="4A5058"/>
                </a:solidFill>
              </a:rPr>
              <a:t>One topic per entity; latest wins</a:t>
            </a:r>
            <a:endParaRPr lang="en-US" sz="1300" dirty="0"/>
          </a:p>
        </p:txBody>
      </p:sp>
      <p:sp>
        <p:nvSpPr>
          <p:cNvPr id="12" name="Shape 9"/>
          <p:cNvSpPr/>
          <p:nvPr/>
        </p:nvSpPr>
        <p:spPr>
          <a:xfrm>
            <a:off x="2651760" y="2331720"/>
            <a:ext cx="301752" cy="914"/>
          </a:xfrm>
          <a:prstGeom prst="line">
            <a:avLst/>
          </a:prstGeom>
          <a:noFill/>
          <a:ln w="22225">
            <a:solidFill>
              <a:srgbClr val="A51C30"/>
            </a:solidFill>
            <a:prstDash val="solid"/>
            <a:tailEnd type="triangle"/>
          </a:ln>
        </p:spPr>
        <p:txBody>
          <a:bodyPr/>
          <a:p/>
        </p:txBody>
      </p:sp>
      <p:sp>
        <p:nvSpPr>
          <p:cNvPr id="13" name="Shape 10"/>
          <p:cNvSpPr/>
          <p:nvPr/>
        </p:nvSpPr>
        <p:spPr>
          <a:xfrm>
            <a:off x="5129784" y="1600200"/>
            <a:ext cx="1874520" cy="146304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14" name="Text 11"/>
          <p:cNvSpPr txBox="1"/>
          <p:nvPr/>
        </p:nvSpPr>
        <p:spPr>
          <a:xfrm>
            <a:off x="5266944" y="1709928"/>
            <a:ext cx="1600200" cy="329184"/>
          </a:xfrm>
          <a:prstGeom prst="rect">
            <a:avLst/>
          </a:prstGeom>
          <a:noFill/>
          <a:ln/>
        </p:spPr>
        <p:txBody>
          <a:bodyPr wrap="square" lIns="0" tIns="0" rIns="0" bIns="0" rtlCol="0" anchor="t"/>
          <a:lstStyle/>
          <a:p>
            <a:pPr indent="0" marL="0">
              <a:buNone/>
            </a:pPr>
            <a:r>
              <a:rPr lang="en-US" sz="1600" b="1" dirty="0">
                <a:solidFill>
                  <a:srgbClr val="1A1A1A"/>
                </a:solidFill>
              </a:rPr>
              <a:t>ViewStream</a:t>
            </a:r>
            <a:endParaRPr lang="en-US" sz="1600" dirty="0"/>
          </a:p>
        </p:txBody>
      </p:sp>
      <p:sp>
        <p:nvSpPr>
          <p:cNvPr id="15" name="Text 12"/>
          <p:cNvSpPr txBox="1"/>
          <p:nvPr/>
        </p:nvSpPr>
        <p:spPr>
          <a:xfrm>
            <a:off x="5266944" y="2057400"/>
            <a:ext cx="1600200" cy="941832"/>
          </a:xfrm>
          <a:prstGeom prst="rect">
            <a:avLst/>
          </a:prstGeom>
          <a:noFill/>
          <a:ln/>
        </p:spPr>
        <p:txBody>
          <a:bodyPr wrap="square" lIns="0" tIns="0" rIns="0" bIns="0" rtlCol="0" anchor="t"/>
          <a:lstStyle/>
          <a:p>
            <a:pPr indent="0" marL="0">
              <a:buNone/>
            </a:pPr>
            <a:r>
              <a:rPr lang="en-US" sz="1300" dirty="0">
                <a:solidFill>
                  <a:srgbClr val="4A5058"/>
                </a:solidFill>
              </a:rPr>
              <a:t>One per open view; cached layout</a:t>
            </a:r>
            <a:endParaRPr lang="en-US" sz="1300" dirty="0"/>
          </a:p>
        </p:txBody>
      </p:sp>
      <p:sp>
        <p:nvSpPr>
          <p:cNvPr id="16" name="Shape 13"/>
          <p:cNvSpPr/>
          <p:nvPr/>
        </p:nvSpPr>
        <p:spPr>
          <a:xfrm>
            <a:off x="4828032" y="2331720"/>
            <a:ext cx="301752" cy="914"/>
          </a:xfrm>
          <a:prstGeom prst="line">
            <a:avLst/>
          </a:prstGeom>
          <a:noFill/>
          <a:ln w="22225">
            <a:solidFill>
              <a:srgbClr val="A51C30"/>
            </a:solidFill>
            <a:prstDash val="solid"/>
            <a:tailEnd type="triangle"/>
          </a:ln>
        </p:spPr>
        <p:txBody>
          <a:bodyPr/>
          <a:p/>
        </p:txBody>
      </p:sp>
      <p:sp>
        <p:nvSpPr>
          <p:cNvPr id="17" name="Shape 14"/>
          <p:cNvSpPr/>
          <p:nvPr/>
        </p:nvSpPr>
        <p:spPr>
          <a:xfrm>
            <a:off x="7306056" y="1600200"/>
            <a:ext cx="1874520" cy="146304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18" name="Text 15"/>
          <p:cNvSpPr txBox="1"/>
          <p:nvPr/>
        </p:nvSpPr>
        <p:spPr>
          <a:xfrm>
            <a:off x="7443216" y="1709928"/>
            <a:ext cx="1600200" cy="329184"/>
          </a:xfrm>
          <a:prstGeom prst="rect">
            <a:avLst/>
          </a:prstGeom>
          <a:noFill/>
          <a:ln/>
        </p:spPr>
        <p:txBody>
          <a:bodyPr wrap="square" lIns="0" tIns="0" rIns="0" bIns="0" rtlCol="0" anchor="t"/>
          <a:lstStyle/>
          <a:p>
            <a:pPr indent="0" marL="0">
              <a:buNone/>
            </a:pPr>
            <a:r>
              <a:rPr lang="en-US" sz="1600" b="1" dirty="0">
                <a:solidFill>
                  <a:srgbClr val="1A1A1A"/>
                </a:solidFill>
              </a:rPr>
              <a:t>PatchDiffer</a:t>
            </a:r>
            <a:endParaRPr lang="en-US" sz="1600" dirty="0"/>
          </a:p>
        </p:txBody>
      </p:sp>
      <p:sp>
        <p:nvSpPr>
          <p:cNvPr id="19" name="Text 16"/>
          <p:cNvSpPr txBox="1"/>
          <p:nvPr/>
        </p:nvSpPr>
        <p:spPr>
          <a:xfrm>
            <a:off x="7443216" y="2057400"/>
            <a:ext cx="1600200" cy="941832"/>
          </a:xfrm>
          <a:prstGeom prst="rect">
            <a:avLst/>
          </a:prstGeom>
          <a:noFill/>
          <a:ln/>
        </p:spPr>
        <p:txBody>
          <a:bodyPr wrap="square" lIns="0" tIns="0" rIns="0" bIns="0" rtlCol="0" anchor="t"/>
          <a:lstStyle/>
          <a:p>
            <a:pPr indent="0" marL="0">
              <a:buNone/>
            </a:pPr>
            <a:r>
              <a:rPr lang="en-US" sz="1300" dirty="0">
                <a:solidFill>
                  <a:srgbClr val="4A5058"/>
                </a:solidFill>
              </a:rPr>
              <a:t>Old vs new ViewModel</a:t>
            </a:r>
            <a:endParaRPr lang="en-US" sz="1300" dirty="0"/>
          </a:p>
        </p:txBody>
      </p:sp>
      <p:sp>
        <p:nvSpPr>
          <p:cNvPr id="20" name="Shape 17"/>
          <p:cNvSpPr/>
          <p:nvPr/>
        </p:nvSpPr>
        <p:spPr>
          <a:xfrm>
            <a:off x="7004304" y="2331720"/>
            <a:ext cx="301752" cy="914"/>
          </a:xfrm>
          <a:prstGeom prst="line">
            <a:avLst/>
          </a:prstGeom>
          <a:noFill/>
          <a:ln w="22225">
            <a:solidFill>
              <a:srgbClr val="A51C30"/>
            </a:solidFill>
            <a:prstDash val="solid"/>
            <a:tailEnd type="triangle"/>
          </a:ln>
        </p:spPr>
        <p:txBody>
          <a:bodyPr/>
          <a:p/>
        </p:txBody>
      </p:sp>
      <p:sp>
        <p:nvSpPr>
          <p:cNvPr id="21" name="Shape 18"/>
          <p:cNvSpPr/>
          <p:nvPr/>
        </p:nvSpPr>
        <p:spPr>
          <a:xfrm>
            <a:off x="9482328" y="1600200"/>
            <a:ext cx="1874520" cy="146304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22" name="Text 19"/>
          <p:cNvSpPr txBox="1"/>
          <p:nvPr/>
        </p:nvSpPr>
        <p:spPr>
          <a:xfrm>
            <a:off x="9619488" y="1709928"/>
            <a:ext cx="1600200" cy="329184"/>
          </a:xfrm>
          <a:prstGeom prst="rect">
            <a:avLst/>
          </a:prstGeom>
          <a:noFill/>
          <a:ln/>
        </p:spPr>
        <p:txBody>
          <a:bodyPr wrap="square" lIns="0" tIns="0" rIns="0" bIns="0" rtlCol="0" anchor="t"/>
          <a:lstStyle/>
          <a:p>
            <a:pPr indent="0" marL="0">
              <a:buNone/>
            </a:pPr>
            <a:r>
              <a:rPr lang="en-US" sz="1600" b="1" dirty="0">
                <a:solidFill>
                  <a:srgbClr val="1A1A1A"/>
                </a:solidFill>
              </a:rPr>
              <a:t>Browser</a:t>
            </a:r>
            <a:endParaRPr lang="en-US" sz="1600" dirty="0"/>
          </a:p>
        </p:txBody>
      </p:sp>
      <p:sp>
        <p:nvSpPr>
          <p:cNvPr id="23" name="Text 20"/>
          <p:cNvSpPr txBox="1"/>
          <p:nvPr/>
        </p:nvSpPr>
        <p:spPr>
          <a:xfrm>
            <a:off x="9619488" y="2057400"/>
            <a:ext cx="1600200" cy="941832"/>
          </a:xfrm>
          <a:prstGeom prst="rect">
            <a:avLst/>
          </a:prstGeom>
          <a:noFill/>
          <a:ln/>
        </p:spPr>
        <p:txBody>
          <a:bodyPr wrap="square" lIns="0" tIns="0" rIns="0" bIns="0" rtlCol="0" anchor="t"/>
          <a:lstStyle/>
          <a:p>
            <a:pPr indent="0" marL="0">
              <a:buNone/>
            </a:pPr>
            <a:r>
              <a:rPr lang="en-US" sz="1300" dirty="0">
                <a:solidFill>
                  <a:srgbClr val="4A5058"/>
                </a:solidFill>
              </a:rPr>
              <a:t>Patches over one SSE channel</a:t>
            </a:r>
            <a:endParaRPr lang="en-US" sz="1300" dirty="0"/>
          </a:p>
        </p:txBody>
      </p:sp>
      <p:sp>
        <p:nvSpPr>
          <p:cNvPr id="24" name="Shape 21"/>
          <p:cNvSpPr/>
          <p:nvPr/>
        </p:nvSpPr>
        <p:spPr>
          <a:xfrm>
            <a:off x="9180576" y="2331720"/>
            <a:ext cx="301752" cy="914"/>
          </a:xfrm>
          <a:prstGeom prst="line">
            <a:avLst/>
          </a:prstGeom>
          <a:noFill/>
          <a:ln w="22225">
            <a:solidFill>
              <a:srgbClr val="A51C30"/>
            </a:solidFill>
            <a:prstDash val="solid"/>
            <a:tailEnd type="triangle"/>
          </a:ln>
        </p:spPr>
        <p:txBody>
          <a:bodyPr/>
          <a:p/>
        </p:txBody>
      </p:sp>
      <p:sp>
        <p:nvSpPr>
          <p:cNvPr id="25" name="Shape 22"/>
          <p:cNvSpPr/>
          <p:nvPr/>
        </p:nvSpPr>
        <p:spPr>
          <a:xfrm>
            <a:off x="777240" y="3474720"/>
            <a:ext cx="2507742" cy="1737360"/>
          </a:xfrm>
          <a:prstGeom prst="rect">
            <a:avLst/>
          </a:prstGeom>
          <a:solidFill>
            <a:srgbClr val="F7F5F2"/>
          </a:solidFill>
          <a:ln/>
        </p:spPr>
        <p:txBody>
          <a:bodyPr/>
          <a:p/>
        </p:txBody>
      </p:sp>
      <p:sp>
        <p:nvSpPr>
          <p:cNvPr id="26" name="Shape 23"/>
          <p:cNvSpPr/>
          <p:nvPr/>
        </p:nvSpPr>
        <p:spPr>
          <a:xfrm>
            <a:off x="777240" y="3474720"/>
            <a:ext cx="45720" cy="1737360"/>
          </a:xfrm>
          <a:prstGeom prst="rect">
            <a:avLst/>
          </a:prstGeom>
          <a:solidFill>
            <a:srgbClr val="A51C30"/>
          </a:solidFill>
          <a:ln/>
        </p:spPr>
        <p:txBody>
          <a:bodyPr/>
          <a:p/>
        </p:txBody>
      </p:sp>
      <p:sp>
        <p:nvSpPr>
          <p:cNvPr id="27" name="Text 24"/>
          <p:cNvSpPr txBox="1"/>
          <p:nvPr/>
        </p:nvSpPr>
        <p:spPr>
          <a:xfrm>
            <a:off x="978408" y="358444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2.4 ms</a:t>
            </a:r>
            <a:endParaRPr lang="en-US" sz="2600" dirty="0"/>
          </a:p>
        </p:txBody>
      </p:sp>
      <p:sp>
        <p:nvSpPr>
          <p:cNvPr id="28" name="Text 25"/>
          <p:cNvSpPr txBox="1"/>
          <p:nvPr/>
        </p:nvSpPr>
        <p:spPr>
          <a:xfrm>
            <a:off x="978408" y="4078224"/>
            <a:ext cx="2187702" cy="1060704"/>
          </a:xfrm>
          <a:prstGeom prst="rect">
            <a:avLst/>
          </a:prstGeom>
          <a:noFill/>
          <a:ln/>
        </p:spPr>
        <p:txBody>
          <a:bodyPr wrap="square" lIns="0" tIns="0" rIns="0" bIns="0" rtlCol="0" anchor="t"/>
          <a:lstStyle/>
          <a:p>
            <a:pPr indent="0" marL="0">
              <a:buNone/>
            </a:pPr>
            <a:r>
              <a:rPr lang="en-US" sz="1300" dirty="0">
                <a:solidFill>
                  <a:srgbClr val="4A5058"/>
                </a:solidFill>
              </a:rPr>
              <a:t>Tick to frame, p50</a:t>
            </a:r>
            <a:endParaRPr lang="en-US" sz="1300" dirty="0"/>
          </a:p>
        </p:txBody>
      </p:sp>
      <p:sp>
        <p:nvSpPr>
          <p:cNvPr id="29" name="Shape 26"/>
          <p:cNvSpPr/>
          <p:nvPr/>
        </p:nvSpPr>
        <p:spPr>
          <a:xfrm>
            <a:off x="3486150" y="3474720"/>
            <a:ext cx="2507742" cy="1737360"/>
          </a:xfrm>
          <a:prstGeom prst="rect">
            <a:avLst/>
          </a:prstGeom>
          <a:solidFill>
            <a:srgbClr val="F7F5F2"/>
          </a:solidFill>
          <a:ln/>
        </p:spPr>
        <p:txBody>
          <a:bodyPr/>
          <a:p/>
        </p:txBody>
      </p:sp>
      <p:sp>
        <p:nvSpPr>
          <p:cNvPr id="30" name="Shape 27"/>
          <p:cNvSpPr/>
          <p:nvPr/>
        </p:nvSpPr>
        <p:spPr>
          <a:xfrm>
            <a:off x="3486150" y="3474720"/>
            <a:ext cx="45720" cy="1737360"/>
          </a:xfrm>
          <a:prstGeom prst="rect">
            <a:avLst/>
          </a:prstGeom>
          <a:solidFill>
            <a:srgbClr val="A51C30"/>
          </a:solidFill>
          <a:ln/>
        </p:spPr>
        <p:txBody>
          <a:bodyPr/>
          <a:p/>
        </p:txBody>
      </p:sp>
      <p:sp>
        <p:nvSpPr>
          <p:cNvPr id="31" name="Text 28"/>
          <p:cNvSpPr txBox="1"/>
          <p:nvPr/>
        </p:nvSpPr>
        <p:spPr>
          <a:xfrm>
            <a:off x="3687318" y="358444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11.2 ms</a:t>
            </a:r>
            <a:endParaRPr lang="en-US" sz="2600" dirty="0"/>
          </a:p>
        </p:txBody>
      </p:sp>
      <p:sp>
        <p:nvSpPr>
          <p:cNvPr id="32" name="Text 29"/>
          <p:cNvSpPr txBox="1"/>
          <p:nvPr/>
        </p:nvSpPr>
        <p:spPr>
          <a:xfrm>
            <a:off x="3687318" y="4078224"/>
            <a:ext cx="2187702" cy="1060704"/>
          </a:xfrm>
          <a:prstGeom prst="rect">
            <a:avLst/>
          </a:prstGeom>
          <a:noFill/>
          <a:ln/>
        </p:spPr>
        <p:txBody>
          <a:bodyPr wrap="square" lIns="0" tIns="0" rIns="0" bIns="0" rtlCol="0" anchor="t"/>
          <a:lstStyle/>
          <a:p>
            <a:pPr indent="0" marL="0">
              <a:buNone/>
            </a:pPr>
            <a:r>
              <a:rPr lang="en-US" sz="1300" dirty="0">
                <a:solidFill>
                  <a:srgbClr val="4A5058"/>
                </a:solidFill>
              </a:rPr>
              <a:t>Tick to frame, p99 (gate: 40 ms)</a:t>
            </a:r>
            <a:endParaRPr lang="en-US" sz="1300" dirty="0"/>
          </a:p>
        </p:txBody>
      </p:sp>
      <p:sp>
        <p:nvSpPr>
          <p:cNvPr id="33" name="Shape 30"/>
          <p:cNvSpPr/>
          <p:nvPr/>
        </p:nvSpPr>
        <p:spPr>
          <a:xfrm>
            <a:off x="6195060" y="3474720"/>
            <a:ext cx="2507742" cy="1737360"/>
          </a:xfrm>
          <a:prstGeom prst="rect">
            <a:avLst/>
          </a:prstGeom>
          <a:solidFill>
            <a:srgbClr val="F7F5F2"/>
          </a:solidFill>
          <a:ln/>
        </p:spPr>
        <p:txBody>
          <a:bodyPr/>
          <a:p/>
        </p:txBody>
      </p:sp>
      <p:sp>
        <p:nvSpPr>
          <p:cNvPr id="34" name="Shape 31"/>
          <p:cNvSpPr/>
          <p:nvPr/>
        </p:nvSpPr>
        <p:spPr>
          <a:xfrm>
            <a:off x="6195060" y="3474720"/>
            <a:ext cx="45720" cy="1737360"/>
          </a:xfrm>
          <a:prstGeom prst="rect">
            <a:avLst/>
          </a:prstGeom>
          <a:solidFill>
            <a:srgbClr val="A51C30"/>
          </a:solidFill>
          <a:ln/>
        </p:spPr>
        <p:txBody>
          <a:bodyPr/>
          <a:p/>
        </p:txBody>
      </p:sp>
      <p:sp>
        <p:nvSpPr>
          <p:cNvPr id="35" name="Text 32"/>
          <p:cNvSpPr txBox="1"/>
          <p:nvPr/>
        </p:nvSpPr>
        <p:spPr>
          <a:xfrm>
            <a:off x="6396228" y="358444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50 ms</a:t>
            </a:r>
            <a:endParaRPr lang="en-US" sz="2600" dirty="0"/>
          </a:p>
        </p:txBody>
      </p:sp>
      <p:sp>
        <p:nvSpPr>
          <p:cNvPr id="36" name="Text 33"/>
          <p:cNvSpPr txBox="1"/>
          <p:nvPr/>
        </p:nvSpPr>
        <p:spPr>
          <a:xfrm>
            <a:off x="6396228" y="4078224"/>
            <a:ext cx="2187702" cy="1060704"/>
          </a:xfrm>
          <a:prstGeom prst="rect">
            <a:avLst/>
          </a:prstGeom>
          <a:noFill/>
          <a:ln/>
        </p:spPr>
        <p:txBody>
          <a:bodyPr wrap="square" lIns="0" tIns="0" rIns="0" bIns="0" rtlCol="0" anchor="t"/>
          <a:lstStyle/>
          <a:p>
            <a:pPr indent="0" marL="0">
              <a:buNone/>
            </a:pPr>
            <a:r>
              <a:rPr lang="en-US" sz="1300" dirty="0">
                <a:solidFill>
                  <a:srgbClr val="4A5058"/>
                </a:solidFill>
              </a:rPr>
              <a:t>A topic sends at once if it has not sent within this window</a:t>
            </a:r>
            <a:endParaRPr lang="en-US" sz="1300" dirty="0"/>
          </a:p>
        </p:txBody>
      </p:sp>
      <p:sp>
        <p:nvSpPr>
          <p:cNvPr id="37" name="Shape 34"/>
          <p:cNvSpPr/>
          <p:nvPr/>
        </p:nvSpPr>
        <p:spPr>
          <a:xfrm>
            <a:off x="8903970" y="3474720"/>
            <a:ext cx="2507742" cy="1737360"/>
          </a:xfrm>
          <a:prstGeom prst="rect">
            <a:avLst/>
          </a:prstGeom>
          <a:solidFill>
            <a:srgbClr val="F7F5F2"/>
          </a:solidFill>
          <a:ln/>
        </p:spPr>
        <p:txBody>
          <a:bodyPr/>
          <a:p/>
        </p:txBody>
      </p:sp>
      <p:sp>
        <p:nvSpPr>
          <p:cNvPr id="38" name="Shape 35"/>
          <p:cNvSpPr/>
          <p:nvPr/>
        </p:nvSpPr>
        <p:spPr>
          <a:xfrm>
            <a:off x="8903970" y="3474720"/>
            <a:ext cx="45720" cy="1737360"/>
          </a:xfrm>
          <a:prstGeom prst="rect">
            <a:avLst/>
          </a:prstGeom>
          <a:solidFill>
            <a:srgbClr val="A51C30"/>
          </a:solidFill>
          <a:ln/>
        </p:spPr>
        <p:txBody>
          <a:bodyPr/>
          <a:p/>
        </p:txBody>
      </p:sp>
      <p:sp>
        <p:nvSpPr>
          <p:cNvPr id="39" name="Text 36"/>
          <p:cNvSpPr txBox="1"/>
          <p:nvPr/>
        </p:nvSpPr>
        <p:spPr>
          <a:xfrm>
            <a:off x="9105138" y="358444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1</a:t>
            </a:r>
            <a:endParaRPr lang="en-US" sz="2600" dirty="0"/>
          </a:p>
        </p:txBody>
      </p:sp>
      <p:sp>
        <p:nvSpPr>
          <p:cNvPr id="40" name="Text 37"/>
          <p:cNvSpPr txBox="1"/>
          <p:nvPr/>
        </p:nvSpPr>
        <p:spPr>
          <a:xfrm>
            <a:off x="9105138" y="4078224"/>
            <a:ext cx="2187702" cy="1060704"/>
          </a:xfrm>
          <a:prstGeom prst="rect">
            <a:avLst/>
          </a:prstGeom>
          <a:noFill/>
          <a:ln/>
        </p:spPr>
        <p:txBody>
          <a:bodyPr wrap="square" lIns="0" tIns="0" rIns="0" bIns="0" rtlCol="0" anchor="t"/>
          <a:lstStyle/>
          <a:p>
            <a:pPr indent="0" marL="0">
              <a:buNone/>
            </a:pPr>
            <a:r>
              <a:rPr lang="en-US" sz="1300" dirty="0">
                <a:solidFill>
                  <a:srgbClr val="4A5058"/>
                </a:solidFill>
              </a:rPr>
              <a:t>Live channel per browser, however many views</a:t>
            </a:r>
            <a:endParaRPr lang="en-US" sz="1300" dirty="0"/>
          </a:p>
        </p:txBody>
      </p:sp>
      <p:sp>
        <p:nvSpPr>
          <p:cNvPr id="41" name="Shape 38"/>
          <p:cNvSpPr/>
          <p:nvPr/>
        </p:nvSpPr>
        <p:spPr>
          <a:xfrm>
            <a:off x="777240" y="5550408"/>
            <a:ext cx="10634472" cy="694944"/>
          </a:xfrm>
          <a:prstGeom prst="rect">
            <a:avLst/>
          </a:prstGeom>
          <a:solidFill>
            <a:srgbClr val="F6E6E9"/>
          </a:solidFill>
          <a:ln/>
        </p:spPr>
        <p:txBody>
          <a:bodyPr/>
          <a:p/>
        </p:txBody>
      </p:sp>
      <p:sp>
        <p:nvSpPr>
          <p:cNvPr id="42" name="Shape 39"/>
          <p:cNvSpPr/>
          <p:nvPr/>
        </p:nvSpPr>
        <p:spPr>
          <a:xfrm>
            <a:off x="777240" y="5550408"/>
            <a:ext cx="54864" cy="694944"/>
          </a:xfrm>
          <a:prstGeom prst="rect">
            <a:avLst/>
          </a:prstGeom>
          <a:solidFill>
            <a:srgbClr val="A51C30"/>
          </a:solidFill>
          <a:ln/>
        </p:spPr>
        <p:txBody>
          <a:bodyPr/>
          <a:p/>
        </p:txBody>
      </p:sp>
      <p:sp>
        <p:nvSpPr>
          <p:cNvPr id="43" name="Text 40"/>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A view does not poll and does not redraw — only the figures that changed travel, and only to the views that show them.</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BENEFITS</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What a grammar of screens buys</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463040"/>
            <a:ext cx="10634472" cy="676656"/>
          </a:xfrm>
          <a:prstGeom prst="rect">
            <a:avLst/>
          </a:prstGeom>
          <a:solidFill>
            <a:srgbClr val="F7F5F2"/>
          </a:solidFill>
          <a:ln w="9525">
            <a:solidFill>
              <a:srgbClr val="E3DED7"/>
            </a:solidFill>
            <a:prstDash val="solid"/>
          </a:ln>
        </p:spPr>
        <p:txBody>
          <a:bodyPr/>
          <a:p/>
        </p:txBody>
      </p:sp>
      <p:sp>
        <p:nvSpPr>
          <p:cNvPr id="7" name="Text 4"/>
          <p:cNvSpPr txBox="1"/>
          <p:nvPr/>
        </p:nvSpPr>
        <p:spPr>
          <a:xfrm>
            <a:off x="1005840" y="1463040"/>
            <a:ext cx="3291840" cy="676656"/>
          </a:xfrm>
          <a:prstGeom prst="rect">
            <a:avLst/>
          </a:prstGeom>
          <a:noFill/>
          <a:ln/>
        </p:spPr>
        <p:txBody>
          <a:bodyPr wrap="square" lIns="0" tIns="0" rIns="0" bIns="0" rtlCol="0" anchor="ctr"/>
          <a:lstStyle/>
          <a:p>
            <a:pPr indent="0" marL="0">
              <a:buNone/>
            </a:pPr>
            <a:r>
              <a:rPr lang="en-US" sz="1500" b="1" dirty="0">
                <a:solidFill>
                  <a:srgbClr val="8A1626"/>
                </a:solidFill>
              </a:rPr>
              <a:t>Day one, every product</a:t>
            </a:r>
            <a:endParaRPr lang="en-US" sz="1500" dirty="0"/>
          </a:p>
        </p:txBody>
      </p:sp>
      <p:sp>
        <p:nvSpPr>
          <p:cNvPr id="8" name="Text 5"/>
          <p:cNvSpPr txBox="1"/>
          <p:nvPr/>
        </p:nvSpPr>
        <p:spPr>
          <a:xfrm>
            <a:off x="4434840" y="1463040"/>
            <a:ext cx="6766560" cy="676656"/>
          </a:xfrm>
          <a:prstGeom prst="rect">
            <a:avLst/>
          </a:prstGeom>
          <a:noFill/>
          <a:ln/>
        </p:spPr>
        <p:txBody>
          <a:bodyPr wrap="square" lIns="0" tIns="0" rIns="0" bIns="0" rtlCol="0" anchor="ctr"/>
          <a:lstStyle/>
          <a:p>
            <a:pPr indent="0" marL="0">
              <a:buNone/>
            </a:pPr>
            <a:r>
              <a:rPr lang="en-US" sz="1350" dirty="0">
                <a:solidFill>
                  <a:srgbClr val="1A1A1A"/>
                </a:solidFill>
              </a:rPr>
              <a:t>Inference shows a new feed at once; nobody reads raw JSON.</a:t>
            </a:r>
            <a:endParaRPr lang="en-US" sz="1350" dirty="0"/>
          </a:p>
        </p:txBody>
      </p:sp>
      <p:sp>
        <p:nvSpPr>
          <p:cNvPr id="9" name="Shape 6"/>
          <p:cNvSpPr/>
          <p:nvPr/>
        </p:nvSpPr>
        <p:spPr>
          <a:xfrm>
            <a:off x="777240" y="2249424"/>
            <a:ext cx="10634472" cy="676656"/>
          </a:xfrm>
          <a:prstGeom prst="rect">
            <a:avLst/>
          </a:prstGeom>
          <a:solidFill>
            <a:srgbClr val="FFFFFF"/>
          </a:solidFill>
          <a:ln w="9525">
            <a:solidFill>
              <a:srgbClr val="E3DED7"/>
            </a:solidFill>
            <a:prstDash val="solid"/>
          </a:ln>
        </p:spPr>
        <p:txBody>
          <a:bodyPr/>
          <a:p/>
        </p:txBody>
      </p:sp>
      <p:sp>
        <p:nvSpPr>
          <p:cNvPr id="10" name="Text 7"/>
          <p:cNvSpPr txBox="1"/>
          <p:nvPr/>
        </p:nvSpPr>
        <p:spPr>
          <a:xfrm>
            <a:off x="1005840" y="2249424"/>
            <a:ext cx="3291840" cy="676656"/>
          </a:xfrm>
          <a:prstGeom prst="rect">
            <a:avLst/>
          </a:prstGeom>
          <a:noFill/>
          <a:ln/>
        </p:spPr>
        <p:txBody>
          <a:bodyPr wrap="square" lIns="0" tIns="0" rIns="0" bIns="0" rtlCol="0" anchor="ctr"/>
          <a:lstStyle/>
          <a:p>
            <a:pPr indent="0" marL="0">
              <a:buNone/>
            </a:pPr>
            <a:r>
              <a:rPr lang="en-US" sz="1500" b="1" dirty="0">
                <a:solidFill>
                  <a:srgbClr val="8A1626"/>
                </a:solidFill>
              </a:rPr>
              <a:t>Screens as reviewed data</a:t>
            </a:r>
            <a:endParaRPr lang="en-US" sz="1500" dirty="0"/>
          </a:p>
        </p:txBody>
      </p:sp>
      <p:sp>
        <p:nvSpPr>
          <p:cNvPr id="11" name="Text 8"/>
          <p:cNvSpPr txBox="1"/>
          <p:nvPr/>
        </p:nvSpPr>
        <p:spPr>
          <a:xfrm>
            <a:off x="4434840" y="2249424"/>
            <a:ext cx="6766560" cy="676656"/>
          </a:xfrm>
          <a:prstGeom prst="rect">
            <a:avLst/>
          </a:prstGeom>
          <a:noFill/>
          <a:ln/>
        </p:spPr>
        <p:txBody>
          <a:bodyPr wrap="square" lIns="0" tIns="0" rIns="0" bIns="0" rtlCol="0" anchor="ctr"/>
          <a:lstStyle/>
          <a:p>
            <a:pPr indent="0" marL="0">
              <a:buNone/>
            </a:pPr>
            <a:r>
              <a:rPr lang="en-US" sz="1350" dirty="0">
                <a:solidFill>
                  <a:srgbClr val="1A1A1A"/>
                </a:solidFill>
              </a:rPr>
              <a:t>A Sutra is versioned, tested, diffed and approved like code — without being code.</a:t>
            </a:r>
            <a:endParaRPr lang="en-US" sz="1350" dirty="0"/>
          </a:p>
        </p:txBody>
      </p:sp>
      <p:sp>
        <p:nvSpPr>
          <p:cNvPr id="12" name="Shape 9"/>
          <p:cNvSpPr/>
          <p:nvPr/>
        </p:nvSpPr>
        <p:spPr>
          <a:xfrm>
            <a:off x="777240" y="3035808"/>
            <a:ext cx="10634472" cy="676656"/>
          </a:xfrm>
          <a:prstGeom prst="rect">
            <a:avLst/>
          </a:prstGeom>
          <a:solidFill>
            <a:srgbClr val="F7F5F2"/>
          </a:solidFill>
          <a:ln w="9525">
            <a:solidFill>
              <a:srgbClr val="E3DED7"/>
            </a:solidFill>
            <a:prstDash val="solid"/>
          </a:ln>
        </p:spPr>
        <p:txBody>
          <a:bodyPr/>
          <a:p/>
        </p:txBody>
      </p:sp>
      <p:sp>
        <p:nvSpPr>
          <p:cNvPr id="13" name="Text 10"/>
          <p:cNvSpPr txBox="1"/>
          <p:nvPr/>
        </p:nvSpPr>
        <p:spPr>
          <a:xfrm>
            <a:off x="1005840" y="3035808"/>
            <a:ext cx="3291840" cy="676656"/>
          </a:xfrm>
          <a:prstGeom prst="rect">
            <a:avLst/>
          </a:prstGeom>
          <a:noFill/>
          <a:ln/>
        </p:spPr>
        <p:txBody>
          <a:bodyPr wrap="square" lIns="0" tIns="0" rIns="0" bIns="0" rtlCol="0" anchor="ctr"/>
          <a:lstStyle/>
          <a:p>
            <a:pPr indent="0" marL="0">
              <a:buNone/>
            </a:pPr>
            <a:r>
              <a:rPr lang="en-US" sz="1500" b="1" dirty="0">
                <a:solidFill>
                  <a:srgbClr val="8A1626"/>
                </a:solidFill>
              </a:rPr>
              <a:t>One place to look</a:t>
            </a:r>
            <a:endParaRPr lang="en-US" sz="1500" dirty="0"/>
          </a:p>
        </p:txBody>
      </p:sp>
      <p:sp>
        <p:nvSpPr>
          <p:cNvPr id="14" name="Text 11"/>
          <p:cNvSpPr txBox="1"/>
          <p:nvPr/>
        </p:nvSpPr>
        <p:spPr>
          <a:xfrm>
            <a:off x="4434840" y="3035808"/>
            <a:ext cx="6766560" cy="676656"/>
          </a:xfrm>
          <a:prstGeom prst="rect">
            <a:avLst/>
          </a:prstGeom>
          <a:noFill/>
          <a:ln/>
        </p:spPr>
        <p:txBody>
          <a:bodyPr wrap="square" lIns="0" tIns="0" rIns="0" bIns="0" rtlCol="0" anchor="ctr"/>
          <a:lstStyle/>
          <a:p>
            <a:pPr indent="0" marL="0">
              <a:buNone/>
            </a:pPr>
            <a:r>
              <a:rPr lang="en-US" sz="1350" dirty="0">
                <a:solidFill>
                  <a:srgbClr val="1A1A1A"/>
                </a:solidFill>
              </a:rPr>
              <a:t>A trade, its curve and its netting set from three systems on one linked screen.</a:t>
            </a:r>
            <a:endParaRPr lang="en-US" sz="1350" dirty="0"/>
          </a:p>
        </p:txBody>
      </p:sp>
      <p:sp>
        <p:nvSpPr>
          <p:cNvPr id="15" name="Shape 12"/>
          <p:cNvSpPr/>
          <p:nvPr/>
        </p:nvSpPr>
        <p:spPr>
          <a:xfrm>
            <a:off x="777240" y="3822192"/>
            <a:ext cx="10634472" cy="676656"/>
          </a:xfrm>
          <a:prstGeom prst="rect">
            <a:avLst/>
          </a:prstGeom>
          <a:solidFill>
            <a:srgbClr val="FFFFFF"/>
          </a:solidFill>
          <a:ln w="9525">
            <a:solidFill>
              <a:srgbClr val="E3DED7"/>
            </a:solidFill>
            <a:prstDash val="solid"/>
          </a:ln>
        </p:spPr>
        <p:txBody>
          <a:bodyPr/>
          <a:p/>
        </p:txBody>
      </p:sp>
      <p:sp>
        <p:nvSpPr>
          <p:cNvPr id="16" name="Text 13"/>
          <p:cNvSpPr txBox="1"/>
          <p:nvPr/>
        </p:nvSpPr>
        <p:spPr>
          <a:xfrm>
            <a:off x="1005840" y="3822192"/>
            <a:ext cx="3291840" cy="676656"/>
          </a:xfrm>
          <a:prstGeom prst="rect">
            <a:avLst/>
          </a:prstGeom>
          <a:noFill/>
          <a:ln/>
        </p:spPr>
        <p:txBody>
          <a:bodyPr wrap="square" lIns="0" tIns="0" rIns="0" bIns="0" rtlCol="0" anchor="ctr"/>
          <a:lstStyle/>
          <a:p>
            <a:pPr indent="0" marL="0">
              <a:buNone/>
            </a:pPr>
            <a:r>
              <a:rPr lang="en-US" sz="1500" b="1" dirty="0">
                <a:solidFill>
                  <a:srgbClr val="8A1626"/>
                </a:solidFill>
              </a:rPr>
              <a:t>Trust in the number</a:t>
            </a:r>
            <a:endParaRPr lang="en-US" sz="1500" dirty="0"/>
          </a:p>
        </p:txBody>
      </p:sp>
      <p:sp>
        <p:nvSpPr>
          <p:cNvPr id="17" name="Text 14"/>
          <p:cNvSpPr txBox="1"/>
          <p:nvPr/>
        </p:nvSpPr>
        <p:spPr>
          <a:xfrm>
            <a:off x="4434840" y="3822192"/>
            <a:ext cx="6766560" cy="676656"/>
          </a:xfrm>
          <a:prstGeom prst="rect">
            <a:avLst/>
          </a:prstGeom>
          <a:noFill/>
          <a:ln/>
        </p:spPr>
        <p:txBody>
          <a:bodyPr wrap="square" lIns="0" tIns="0" rIns="0" bIns="0" rtlCol="0" anchor="ctr"/>
          <a:lstStyle/>
          <a:p>
            <a:pPr indent="0" marL="0">
              <a:buNone/>
            </a:pPr>
            <a:r>
              <a:rPr lang="en-US" sz="1350" dirty="0">
                <a:solidFill>
                  <a:srgbClr val="1A1A1A"/>
                </a:solidFill>
              </a:rPr>
              <a:t>Provenance and freshness on every view; masks applied for every reader.</a:t>
            </a:r>
            <a:endParaRPr lang="en-US" sz="1350" dirty="0"/>
          </a:p>
        </p:txBody>
      </p:sp>
      <p:sp>
        <p:nvSpPr>
          <p:cNvPr id="18" name="Shape 15"/>
          <p:cNvSpPr/>
          <p:nvPr/>
        </p:nvSpPr>
        <p:spPr>
          <a:xfrm>
            <a:off x="777240" y="4608576"/>
            <a:ext cx="10634472" cy="676656"/>
          </a:xfrm>
          <a:prstGeom prst="rect">
            <a:avLst/>
          </a:prstGeom>
          <a:solidFill>
            <a:srgbClr val="F7F5F2"/>
          </a:solidFill>
          <a:ln w="9525">
            <a:solidFill>
              <a:srgbClr val="E3DED7"/>
            </a:solidFill>
            <a:prstDash val="solid"/>
          </a:ln>
        </p:spPr>
        <p:txBody>
          <a:bodyPr/>
          <a:p/>
        </p:txBody>
      </p:sp>
      <p:sp>
        <p:nvSpPr>
          <p:cNvPr id="19" name="Text 16"/>
          <p:cNvSpPr txBox="1"/>
          <p:nvPr/>
        </p:nvSpPr>
        <p:spPr>
          <a:xfrm>
            <a:off x="1005840" y="4608576"/>
            <a:ext cx="3291840" cy="676656"/>
          </a:xfrm>
          <a:prstGeom prst="rect">
            <a:avLst/>
          </a:prstGeom>
          <a:noFill/>
          <a:ln/>
        </p:spPr>
        <p:txBody>
          <a:bodyPr wrap="square" lIns="0" tIns="0" rIns="0" bIns="0" rtlCol="0" anchor="ctr"/>
          <a:lstStyle/>
          <a:p>
            <a:pPr indent="0" marL="0">
              <a:buNone/>
            </a:pPr>
            <a:r>
              <a:rPr lang="en-US" sz="1500" b="1" dirty="0">
                <a:solidFill>
                  <a:srgbClr val="8A1626"/>
                </a:solidFill>
              </a:rPr>
              <a:t>Anywhere it is needed</a:t>
            </a:r>
            <a:endParaRPr lang="en-US" sz="1500" dirty="0"/>
          </a:p>
        </p:txBody>
      </p:sp>
      <p:sp>
        <p:nvSpPr>
          <p:cNvPr id="20" name="Text 17"/>
          <p:cNvSpPr txBox="1"/>
          <p:nvPr/>
        </p:nvSpPr>
        <p:spPr>
          <a:xfrm>
            <a:off x="4434840" y="4608576"/>
            <a:ext cx="6766560" cy="676656"/>
          </a:xfrm>
          <a:prstGeom prst="rect">
            <a:avLst/>
          </a:prstGeom>
          <a:noFill/>
          <a:ln/>
        </p:spPr>
        <p:txBody>
          <a:bodyPr wrap="square" lIns="0" tIns="0" rIns="0" bIns="0" rtlCol="0" anchor="ctr"/>
          <a:lstStyle/>
          <a:p>
            <a:pPr indent="0" marL="0">
              <a:buNone/>
            </a:pPr>
            <a:r>
              <a:rPr lang="en-US" sz="1350" dirty="0">
                <a:solidFill>
                  <a:srgbClr val="1A1A1A"/>
                </a:solidFill>
              </a:rPr>
              <a:t>The console on any device, the API, the CLI, and the same view inside other apps.</a:t>
            </a:r>
            <a:endParaRPr lang="en-US" sz="1350" dirty="0"/>
          </a:p>
        </p:txBody>
      </p:sp>
      <p:sp>
        <p:nvSpPr>
          <p:cNvPr id="21" name="Shape 18"/>
          <p:cNvSpPr/>
          <p:nvPr/>
        </p:nvSpPr>
        <p:spPr>
          <a:xfrm>
            <a:off x="777240" y="5550408"/>
            <a:ext cx="10634472" cy="694944"/>
          </a:xfrm>
          <a:prstGeom prst="rect">
            <a:avLst/>
          </a:prstGeom>
          <a:solidFill>
            <a:srgbClr val="F6E6E9"/>
          </a:solidFill>
          <a:ln/>
        </p:spPr>
        <p:txBody>
          <a:bodyPr/>
          <a:p/>
        </p:txBody>
      </p:sp>
      <p:sp>
        <p:nvSpPr>
          <p:cNvPr id="22" name="Shape 19"/>
          <p:cNvSpPr/>
          <p:nvPr/>
        </p:nvSpPr>
        <p:spPr>
          <a:xfrm>
            <a:off x="777240" y="5550408"/>
            <a:ext cx="54864" cy="694944"/>
          </a:xfrm>
          <a:prstGeom prst="rect">
            <a:avLst/>
          </a:prstGeom>
          <a:solidFill>
            <a:srgbClr val="A51C30"/>
          </a:solidFill>
          <a:ln/>
        </p:spPr>
        <p:txBody>
          <a:bodyPr/>
          <a:p/>
        </p:txBody>
      </p:sp>
      <p:sp>
        <p:nvSpPr>
          <p:cNvPr id="23" name="Text 20"/>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The cost of a new screen falls from a project to a paragraph — and to nothing at all on day one.</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hapter background"/>
          <p:cNvSpPr/>
          <p:nvPr/>
        </p:nvSpPr>
        <p:spPr>
          <a:xfrm>
            <a:off x="0" y="0"/>
            <a:ext cx="12191969"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Chapter watermark"/>
          <p:cNvSpPr txBox="1"/>
          <p:nvPr/>
        </p:nvSpPr>
        <p:spPr>
          <a:xfrm>
            <a:off x="4754880" y="-822960"/>
            <a:ext cx="7223760" cy="7863840"/>
          </a:xfrm>
          <a:prstGeom prst="rect">
            <a:avLst/>
          </a:prstGeom>
          <a:noFill/>
        </p:spPr>
        <p:txBody>
          <a:bodyPr wrap="none" lIns="0" rIns="0" tIns="0" bIns="0" anchor="ctr">
            <a:spAutoFit/>
          </a:bodyPr>
          <a:lstStyle/>
          <a:p>
            <a:pPr algn="r"/>
            <a:r>
              <a:rPr sz="42000" b="1" i="0">
                <a:solidFill>
                  <a:srgbClr val="B8394C"/>
                </a:solidFill>
              </a:rPr>
              <a:t>02</a:t>
            </a:r>
          </a:p>
        </p:txBody>
      </p:sp>
      <p:sp>
        <p:nvSpPr>
          <p:cNvPr id="4" name="Chapter name"/>
          <p:cNvSpPr txBox="1"/>
          <p:nvPr/>
        </p:nvSpPr>
        <p:spPr>
          <a:xfrm>
            <a:off x="822960" y="2514600"/>
            <a:ext cx="6949440" cy="1828800"/>
          </a:xfrm>
          <a:prstGeom prst="rect">
            <a:avLst/>
          </a:prstGeom>
          <a:noFill/>
        </p:spPr>
        <p:txBody>
          <a:bodyPr wrap="square" lIns="0" rIns="0" tIns="0" bIns="0" anchor="ctr">
            <a:spAutoFit/>
          </a:bodyPr>
          <a:lstStyle/>
          <a:p>
            <a:pPr algn="l"/>
            <a:r>
              <a:rPr sz="4400" b="1" i="0">
                <a:solidFill>
                  <a:srgbClr val="FFFFFF"/>
                </a:solidFill>
              </a:rPr>
              <a:t>Drishti 2.9.5: the product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RELEASE 2.9.4 · JAVA 21 OR LATER</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Drishti 2.9.4 — overview</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417320"/>
            <a:ext cx="2507742" cy="1188720"/>
          </a:xfrm>
          <a:prstGeom prst="rect">
            <a:avLst/>
          </a:prstGeom>
          <a:solidFill>
            <a:srgbClr val="F7F5F2"/>
          </a:solidFill>
          <a:ln/>
        </p:spPr>
        <p:txBody>
          <a:bodyPr/>
          <a:p/>
        </p:txBody>
      </p:sp>
      <p:sp>
        <p:nvSpPr>
          <p:cNvPr id="7" name="Shape 4"/>
          <p:cNvSpPr/>
          <p:nvPr/>
        </p:nvSpPr>
        <p:spPr>
          <a:xfrm>
            <a:off x="777240" y="1417320"/>
            <a:ext cx="45720" cy="1188720"/>
          </a:xfrm>
          <a:prstGeom prst="rect">
            <a:avLst/>
          </a:prstGeom>
          <a:solidFill>
            <a:srgbClr val="A51C30"/>
          </a:solidFill>
          <a:ln/>
        </p:spPr>
        <p:txBody>
          <a:bodyPr/>
          <a:p/>
        </p:txBody>
      </p:sp>
      <p:sp>
        <p:nvSpPr>
          <p:cNvPr id="8" name="Text 5"/>
          <p:cNvSpPr txBox="1"/>
          <p:nvPr/>
        </p:nvSpPr>
        <p:spPr>
          <a:xfrm>
            <a:off x="978408" y="152704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11</a:t>
            </a:r>
            <a:endParaRPr lang="en-US" sz="2600" dirty="0"/>
          </a:p>
        </p:txBody>
      </p:sp>
      <p:sp>
        <p:nvSpPr>
          <p:cNvPr id="9" name="Text 6"/>
          <p:cNvSpPr txBox="1"/>
          <p:nvPr/>
        </p:nvSpPr>
        <p:spPr>
          <a:xfrm>
            <a:off x="978408" y="2020824"/>
            <a:ext cx="2187702" cy="512064"/>
          </a:xfrm>
          <a:prstGeom prst="rect">
            <a:avLst/>
          </a:prstGeom>
          <a:noFill/>
          <a:ln/>
        </p:spPr>
        <p:txBody>
          <a:bodyPr wrap="square" lIns="0" tIns="0" rIns="0" bIns="0" rtlCol="0" anchor="t"/>
          <a:lstStyle/>
          <a:p>
            <a:pPr indent="0" marL="0">
              <a:buNone/>
            </a:pPr>
            <a:r>
              <a:rPr lang="en-US" sz="1150" dirty="0">
                <a:solidFill>
                  <a:srgbClr val="4A5058"/>
                </a:solidFill>
              </a:rPr>
              <a:t>Packs: core, trading, market data and risk, counterparty risk, funds, US equities, GLEIF, economy, news</a:t>
            </a:r>
            <a:endParaRPr lang="en-US" sz="1150" dirty="0"/>
          </a:p>
        </p:txBody>
      </p:sp>
      <p:sp>
        <p:nvSpPr>
          <p:cNvPr id="10" name="Shape 7"/>
          <p:cNvSpPr/>
          <p:nvPr/>
        </p:nvSpPr>
        <p:spPr>
          <a:xfrm>
            <a:off x="3486150" y="1417320"/>
            <a:ext cx="2507742" cy="1188720"/>
          </a:xfrm>
          <a:prstGeom prst="rect">
            <a:avLst/>
          </a:prstGeom>
          <a:solidFill>
            <a:srgbClr val="F7F5F2"/>
          </a:solidFill>
          <a:ln/>
        </p:spPr>
        <p:txBody>
          <a:bodyPr/>
          <a:p/>
        </p:txBody>
      </p:sp>
      <p:sp>
        <p:nvSpPr>
          <p:cNvPr id="11" name="Shape 8"/>
          <p:cNvSpPr/>
          <p:nvPr/>
        </p:nvSpPr>
        <p:spPr>
          <a:xfrm>
            <a:off x="3486150" y="1417320"/>
            <a:ext cx="45720" cy="1188720"/>
          </a:xfrm>
          <a:prstGeom prst="rect">
            <a:avLst/>
          </a:prstGeom>
          <a:solidFill>
            <a:srgbClr val="A51C30"/>
          </a:solidFill>
          <a:ln/>
        </p:spPr>
        <p:txBody>
          <a:bodyPr/>
          <a:p/>
        </p:txBody>
      </p:sp>
      <p:sp>
        <p:nvSpPr>
          <p:cNvPr id="12" name="Text 9"/>
          <p:cNvSpPr txBox="1"/>
          <p:nvPr/>
        </p:nvSpPr>
        <p:spPr>
          <a:xfrm>
            <a:off x="3687318" y="152704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219</a:t>
            </a:r>
            <a:endParaRPr lang="en-US" sz="2600" dirty="0"/>
          </a:p>
        </p:txBody>
      </p:sp>
      <p:sp>
        <p:nvSpPr>
          <p:cNvPr id="13" name="Text 10"/>
          <p:cNvSpPr txBox="1"/>
          <p:nvPr/>
        </p:nvSpPr>
        <p:spPr>
          <a:xfrm>
            <a:off x="3687318" y="2020824"/>
            <a:ext cx="2187702" cy="512064"/>
          </a:xfrm>
          <a:prstGeom prst="rect">
            <a:avLst/>
          </a:prstGeom>
          <a:noFill/>
          <a:ln/>
        </p:spPr>
        <p:txBody>
          <a:bodyPr wrap="square" lIns="0" tIns="0" rIns="0" bIns="0" rtlCol="0" anchor="t"/>
          <a:lstStyle/>
          <a:p>
            <a:pPr indent="0" marL="0">
              <a:buNone/>
            </a:pPr>
            <a:r>
              <a:rPr lang="en-US" sz="1150" dirty="0">
                <a:solidFill>
                  <a:srgbClr val="4A5058"/>
                </a:solidFill>
              </a:rPr>
              <a:t>Sutras shipped in those packs, built from the UI kit</a:t>
            </a:r>
            <a:endParaRPr lang="en-US" sz="1150" dirty="0"/>
          </a:p>
        </p:txBody>
      </p:sp>
      <p:sp>
        <p:nvSpPr>
          <p:cNvPr id="14" name="Shape 11"/>
          <p:cNvSpPr/>
          <p:nvPr/>
        </p:nvSpPr>
        <p:spPr>
          <a:xfrm>
            <a:off x="6195060" y="1417320"/>
            <a:ext cx="2507742" cy="1188720"/>
          </a:xfrm>
          <a:prstGeom prst="rect">
            <a:avLst/>
          </a:prstGeom>
          <a:solidFill>
            <a:srgbClr val="F7F5F2"/>
          </a:solidFill>
          <a:ln/>
        </p:spPr>
        <p:txBody>
          <a:bodyPr/>
          <a:p/>
        </p:txBody>
      </p:sp>
      <p:sp>
        <p:nvSpPr>
          <p:cNvPr id="15" name="Shape 12"/>
          <p:cNvSpPr/>
          <p:nvPr/>
        </p:nvSpPr>
        <p:spPr>
          <a:xfrm>
            <a:off x="6195060" y="1417320"/>
            <a:ext cx="45720" cy="1188720"/>
          </a:xfrm>
          <a:prstGeom prst="rect">
            <a:avLst/>
          </a:prstGeom>
          <a:solidFill>
            <a:srgbClr val="A51C30"/>
          </a:solidFill>
          <a:ln/>
        </p:spPr>
        <p:txBody>
          <a:bodyPr/>
          <a:p/>
        </p:txBody>
      </p:sp>
      <p:sp>
        <p:nvSpPr>
          <p:cNvPr id="16" name="Text 13"/>
          <p:cNvSpPr txBox="1"/>
          <p:nvPr/>
        </p:nvSpPr>
        <p:spPr>
          <a:xfrm>
            <a:off x="6396228" y="152704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100</a:t>
            </a:r>
            <a:endParaRPr lang="en-US" sz="2600" dirty="0"/>
          </a:p>
        </p:txBody>
      </p:sp>
      <p:sp>
        <p:nvSpPr>
          <p:cNvPr id="17" name="Text 14"/>
          <p:cNvSpPr txBox="1"/>
          <p:nvPr/>
        </p:nvSpPr>
        <p:spPr>
          <a:xfrm>
            <a:off x="6396228" y="2020824"/>
            <a:ext cx="2187702" cy="512064"/>
          </a:xfrm>
          <a:prstGeom prst="rect">
            <a:avLst/>
          </a:prstGeom>
          <a:noFill/>
          <a:ln/>
        </p:spPr>
        <p:txBody>
          <a:bodyPr wrap="square" lIns="0" tIns="0" rIns="0" bIns="0" rtlCol="0" anchor="t"/>
          <a:lstStyle/>
          <a:p>
            <a:pPr indent="0" marL="0">
              <a:buNone/>
            </a:pPr>
            <a:r>
              <a:rPr lang="en-US" sz="1150" dirty="0">
                <a:solidFill>
                  <a:srgbClr val="4A5058"/>
                </a:solidFill>
              </a:rPr>
              <a:t>Commands, each with a machine-readable data contract</a:t>
            </a:r>
            <a:endParaRPr lang="en-US" sz="1150" dirty="0"/>
          </a:p>
        </p:txBody>
      </p:sp>
      <p:sp>
        <p:nvSpPr>
          <p:cNvPr id="18" name="Shape 15"/>
          <p:cNvSpPr/>
          <p:nvPr/>
        </p:nvSpPr>
        <p:spPr>
          <a:xfrm>
            <a:off x="8903970" y="1417320"/>
            <a:ext cx="2507742" cy="1188720"/>
          </a:xfrm>
          <a:prstGeom prst="rect">
            <a:avLst/>
          </a:prstGeom>
          <a:solidFill>
            <a:srgbClr val="F7F5F2"/>
          </a:solidFill>
          <a:ln/>
        </p:spPr>
        <p:txBody>
          <a:bodyPr/>
          <a:p/>
        </p:txBody>
      </p:sp>
      <p:sp>
        <p:nvSpPr>
          <p:cNvPr id="19" name="Shape 16"/>
          <p:cNvSpPr/>
          <p:nvPr/>
        </p:nvSpPr>
        <p:spPr>
          <a:xfrm>
            <a:off x="8903970" y="1417320"/>
            <a:ext cx="45720" cy="1188720"/>
          </a:xfrm>
          <a:prstGeom prst="rect">
            <a:avLst/>
          </a:prstGeom>
          <a:solidFill>
            <a:srgbClr val="A51C30"/>
          </a:solidFill>
          <a:ln/>
        </p:spPr>
        <p:txBody>
          <a:bodyPr/>
          <a:p/>
        </p:txBody>
      </p:sp>
      <p:sp>
        <p:nvSpPr>
          <p:cNvPr id="20" name="Text 17"/>
          <p:cNvSpPr txBox="1"/>
          <p:nvPr/>
        </p:nvSpPr>
        <p:spPr>
          <a:xfrm>
            <a:off x="9105138" y="152704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19</a:t>
            </a:r>
            <a:endParaRPr lang="en-US" sz="2600" dirty="0"/>
          </a:p>
        </p:txBody>
      </p:sp>
      <p:sp>
        <p:nvSpPr>
          <p:cNvPr id="21" name="Text 18"/>
          <p:cNvSpPr txBox="1"/>
          <p:nvPr/>
        </p:nvSpPr>
        <p:spPr>
          <a:xfrm>
            <a:off x="9105138" y="2020824"/>
            <a:ext cx="2187702" cy="512064"/>
          </a:xfrm>
          <a:prstGeom prst="rect">
            <a:avLst/>
          </a:prstGeom>
          <a:noFill/>
          <a:ln/>
        </p:spPr>
        <p:txBody>
          <a:bodyPr wrap="square" lIns="0" tIns="0" rIns="0" bIns="0" rtlCol="0" anchor="t"/>
          <a:lstStyle/>
          <a:p>
            <a:pPr indent="0" marL="0">
              <a:buNone/>
            </a:pPr>
            <a:r>
              <a:rPr lang="en-US" sz="1150" dirty="0">
                <a:solidFill>
                  <a:srgbClr val="4A5058"/>
                </a:solidFill>
              </a:rPr>
              <a:t>Source plugins behind one interface</a:t>
            </a:r>
            <a:endParaRPr lang="en-US" sz="1150" dirty="0"/>
          </a:p>
        </p:txBody>
      </p:sp>
      <p:sp>
        <p:nvSpPr>
          <p:cNvPr id="22" name="Text 19"/>
          <p:cNvSpPr txBox="1"/>
          <p:nvPr/>
        </p:nvSpPr>
        <p:spPr>
          <a:xfrm>
            <a:off x="777240" y="2834640"/>
            <a:ext cx="10634472" cy="2606040"/>
          </a:xfrm>
          <a:prstGeom prst="rect">
            <a:avLst/>
          </a:prstGeom>
          <a:noFill/>
          <a:ln/>
        </p:spPr>
        <p:txBody>
          <a:bodyPr wrap="square" lIns="0" tIns="0" rIns="0" bIns="0" rtlCol="0" anchor="t"/>
          <a:lstStyle/>
          <a:p>
            <a:pPr indent="0" marL="0">
              <a:buNone/>
            </a:pPr>
            <a:r>
              <a:rPr lang="en-US" sz="1500" b="1" dirty="0">
                <a:solidFill>
                  <a:srgbClr val="A51C30"/>
                </a:solidFill>
              </a:rPr>
              <a:t>▪  A terminal on any device</a:t>
            </a:r>
            <a:endParaRPr lang="en-US" sz="1500" dirty="0"/>
          </a:p>
          <a:p>
            <a:pPr indent="0" marL="0">
              <a:spcAft>
                <a:spcPts val="700"/>
              </a:spcAft>
              <a:buNone/>
            </a:pPr>
            <a:r>
              <a:rPr lang="en-US" sz="1300" dirty="0">
                <a:solidFill>
                  <a:srgbClr val="4A5058"/>
                </a:solidFill>
              </a:rPr>
              <a:t>Command line, history ranges, FUNC, DATAMAP, Knowledge and WHAT over production-shaped trades from ENDUR, CALYPSO and MUREX and public data from SEC, GLEIF and N-PORT; phones.</a:t>
            </a:r>
            <a:endParaRPr lang="en-US" sz="1500" dirty="0"/>
          </a:p>
          <a:p>
            <a:pPr indent="0" marL="0">
              <a:buNone/>
            </a:pPr>
            <a:r>
              <a:rPr lang="en-US" sz="1500" b="1" dirty="0">
                <a:solidFill>
                  <a:srgbClr val="A51C30"/>
                </a:solidFill>
              </a:rPr>
              <a:t>▪  Risk computed, never stored</a:t>
            </a:r>
            <a:endParaRPr lang="en-US" sz="1500" dirty="0"/>
          </a:p>
          <a:p>
            <a:pPr indent="0" marL="0">
              <a:spcAft>
                <a:spcPts val="700"/>
              </a:spcAft>
              <a:buNone/>
            </a:pPr>
            <a:r>
              <a:rPr lang="en-US" sz="1300" dirty="0">
                <a:solidFill>
                  <a:srgbClr val="4A5058"/>
                </a:solidFill>
              </a:rPr>
              <a:t>VaR and exposure for any scope, baskets and pre-deal what-ifs, official end-of-day records, in BI; VaR from scenario PVs in any reporting currency.</a:t>
            </a:r>
            <a:endParaRPr lang="en-US" sz="1500" dirty="0"/>
          </a:p>
          <a:p>
            <a:pPr indent="0" marL="0">
              <a:buNone/>
            </a:pPr>
            <a:r>
              <a:rPr lang="en-US" sz="1500" b="1" dirty="0">
                <a:solidFill>
                  <a:srgbClr val="A51C30"/>
                </a:solidFill>
              </a:rPr>
              <a:t>▪  Build and analyse without code</a:t>
            </a:r>
            <a:endParaRPr lang="en-US" sz="1500" dirty="0"/>
          </a:p>
          <a:p>
            <a:pPr indent="0" marL="0">
              <a:spcAft>
                <a:spcPts val="700"/>
              </a:spcAft>
              <a:buNone/>
            </a:pPr>
            <a:r>
              <a:rPr lang="en-US" sz="1300" dirty="0">
                <a:solidFill>
                  <a:srgbClr val="4A5058"/>
                </a:solidFill>
              </a:rPr>
              <a:t>The four-mode Sutra designer and the UI kit; BI Studio with runs, statements and charts of any table; Python data prep; forms that write back under four eyes.</a:t>
            </a:r>
            <a:endParaRPr lang="en-US" sz="1500" dirty="0"/>
          </a:p>
          <a:p>
            <a:pPr indent="0" marL="0">
              <a:buNone/>
            </a:pPr>
            <a:r>
              <a:rPr lang="en-US" sz="1500" b="1" dirty="0">
                <a:solidFill>
                  <a:srgbClr val="A51C30"/>
                </a:solidFill>
              </a:rPr>
              <a:t>▪  Run it, on one server or several</a:t>
            </a:r>
            <a:endParaRPr lang="en-US" sz="1500" dirty="0"/>
          </a:p>
          <a:p>
            <a:pPr indent="0" marL="0">
              <a:spcAft>
                <a:spcPts val="700"/>
              </a:spcAft>
              <a:buNone/>
            </a:pPr>
            <a:r>
              <a:rPr lang="en-US" sz="1300" dirty="0">
                <a:solidFill>
                  <a:srgbClr val="4A5058"/>
                </a:solidFill>
              </a:rPr>
              <a:t>Pack bundles with rollback, data-load signals, JSON Lines in and out, Delta and Iceberg side by side, a CLI for every step, Drishti*net clusters.</a:t>
            </a:r>
            <a:endParaRPr lang="en-US" sz="15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THE VIEW</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One trade, linked and explained</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40664" y="1386459"/>
            <a:ext cx="6931152" cy="4359402"/>
          </a:xfrm>
          <a:prstGeom prst="rect">
            <a:avLst/>
          </a:prstGeom>
          <a:solidFill>
            <a:srgbClr val="FFFFFF"/>
          </a:solidFill>
          <a:ln w="12700">
            <a:solidFill>
              <a:srgbClr val="E3DED7"/>
            </a:solidFill>
            <a:prstDash val="solid"/>
          </a:ln>
          <a:effectLst>
            <a:outerShdw sx="100000" sy="100000" kx="0" ky="0" algn="bl" rotWithShape="0" blurRad="76200" dist="25400" dir="5400000">
              <a:srgbClr val="000000">
                <a:alpha val="18000"/>
              </a:srgbClr>
            </a:outerShdw>
          </a:effectLst>
        </p:spPr>
        <p:txBody>
          <a:bodyPr/>
          <a:p/>
        </p:txBody>
      </p:sp>
      <p:pic>
        <p:nvPicPr>
          <p:cNvPr id="7" name="Image 0" descr="/tmp/claude-1000/-home-ashutosh-IdeaProjects-drishti/efa68c11-fb98-4f9a-8faa-96a952090c0e/scratchpad/deck/shots/view-trade.png">    </p:cNvPr>
          <p:cNvPicPr>
            <a:picLocks noChangeAspect="1"/>
          </p:cNvPicPr>
          <p:nvPr/>
        </p:nvPicPr>
        <p:blipFill>
          <a:blip r:embed="rId1"/>
          <a:stretch>
            <a:fillRect/>
          </a:stretch>
        </p:blipFill>
        <p:spPr>
          <a:xfrm>
            <a:off x="777240" y="1423035"/>
            <a:ext cx="6858000" cy="4286250"/>
          </a:xfrm>
          <a:prstGeom prst="rect">
            <a:avLst/>
          </a:prstGeom>
        </p:spPr>
      </p:pic>
      <p:sp>
        <p:nvSpPr>
          <p:cNvPr id="8" name="Text 4"/>
          <p:cNvSpPr txBox="1"/>
          <p:nvPr/>
        </p:nvSpPr>
        <p:spPr>
          <a:xfrm>
            <a:off x="7909560" y="1417320"/>
            <a:ext cx="3502152" cy="4297680"/>
          </a:xfrm>
          <a:prstGeom prst="rect">
            <a:avLst/>
          </a:prstGeom>
          <a:noFill/>
          <a:ln/>
        </p:spPr>
        <p:txBody>
          <a:bodyPr wrap="square" lIns="0" tIns="0" rIns="0" bIns="0" rtlCol="0" anchor="t"/>
          <a:lstStyle/>
          <a:p>
            <a:pPr indent="0" marL="0">
              <a:buNone/>
            </a:pPr>
            <a:r>
              <a:rPr lang="en-US" sz="1500" b="1" dirty="0">
                <a:solidFill>
                  <a:srgbClr val="A51C30"/>
                </a:solidFill>
              </a:rPr>
              <a:t>▪  Strip</a:t>
            </a:r>
            <a:endParaRPr lang="en-US" sz="1500" dirty="0"/>
          </a:p>
          <a:p>
            <a:pPr indent="0" marL="0">
              <a:spcAft>
                <a:spcPts val="800"/>
              </a:spcAft>
              <a:buNone/>
            </a:pPr>
            <a:r>
              <a:rPr lang="en-US" sz="1300" dirty="0">
                <a:solidFill>
                  <a:srgbClr val="4A5058"/>
                </a:solidFill>
              </a:rPr>
              <a:t>Source, side, notional, quantity, dates, status and portfolio.</a:t>
            </a:r>
            <a:endParaRPr lang="en-US" sz="1500" dirty="0"/>
          </a:p>
          <a:p>
            <a:pPr indent="0" marL="0">
              <a:buNone/>
            </a:pPr>
            <a:r>
              <a:rPr lang="en-US" sz="1500" b="1" dirty="0">
                <a:solidFill>
                  <a:srgbClr val="A51C30"/>
                </a:solidFill>
              </a:rPr>
              <a:t>▪  Panels by key</a:t>
            </a:r>
            <a:endParaRPr lang="en-US" sz="1500" dirty="0"/>
          </a:p>
          <a:p>
            <a:pPr indent="0" marL="0">
              <a:spcAft>
                <a:spcPts val="800"/>
              </a:spcAft>
              <a:buNone/>
            </a:pPr>
            <a:r>
              <a:rPr lang="en-US" sz="1300" dirty="0">
                <a:solidFill>
                  <a:srgbClr val="4A5058"/>
                </a:solidFill>
              </a:rPr>
              <a:t>F2 deal ticket, F3 legs, F4 cash flows, F6 netted payments; Alt+L to rearrange.</a:t>
            </a:r>
            <a:endParaRPr lang="en-US" sz="1500" dirty="0"/>
          </a:p>
          <a:p>
            <a:pPr indent="0" marL="0">
              <a:buNone/>
            </a:pPr>
            <a:r>
              <a:rPr lang="en-US" sz="1500" b="1" dirty="0">
                <a:solidFill>
                  <a:srgbClr val="A51C30"/>
                </a:solidFill>
              </a:rPr>
              <a:t>▪  Linked</a:t>
            </a:r>
            <a:endParaRPr lang="en-US" sz="1500" dirty="0"/>
          </a:p>
          <a:p>
            <a:pPr indent="0" marL="0">
              <a:spcAft>
                <a:spcPts val="800"/>
              </a:spcAft>
              <a:buNone/>
            </a:pPr>
            <a:r>
              <a:rPr lang="en-US" sz="1300" dirty="0">
                <a:solidFill>
                  <a:srgbClr val="4A5058"/>
                </a:solidFill>
              </a:rPr>
              <a:t>Counterparty, portfolio, legal entity and trader open in one click.</a:t>
            </a:r>
            <a:endParaRPr lang="en-US" sz="1500" dirty="0"/>
          </a:p>
          <a:p>
            <a:pPr indent="0" marL="0">
              <a:buNone/>
            </a:pPr>
            <a:r>
              <a:rPr lang="en-US" sz="1500" b="1" dirty="0">
                <a:solidFill>
                  <a:srgbClr val="A51C30"/>
                </a:solidFill>
              </a:rPr>
              <a:t>▪  Any day</a:t>
            </a:r>
            <a:endParaRPr lang="en-US" sz="1500" dirty="0"/>
          </a:p>
          <a:p>
            <a:pPr indent="0" marL="0">
              <a:spcAft>
                <a:spcPts val="800"/>
              </a:spcAft>
              <a:buNone/>
            </a:pPr>
            <a:r>
              <a:rPr lang="en-US" sz="1300" dirty="0">
                <a:solidFill>
                  <a:srgbClr val="4A5058"/>
                </a:solidFill>
              </a:rPr>
              <a:t>The business date in the top bar; Compare shows what changed between two days.</a:t>
            </a:r>
            <a:endParaRPr lang="en-US" sz="1500" dirty="0"/>
          </a:p>
        </p:txBody>
      </p:sp>
      <p:sp>
        <p:nvSpPr>
          <p:cNvPr id="9" name="Text 5"/>
          <p:cNvSpPr txBox="1"/>
          <p:nvPr/>
        </p:nvSpPr>
        <p:spPr>
          <a:xfrm>
            <a:off x="777240" y="5852160"/>
            <a:ext cx="6858000" cy="274320"/>
          </a:xfrm>
          <a:prstGeom prst="rect">
            <a:avLst/>
          </a:prstGeom>
          <a:noFill/>
          <a:ln/>
        </p:spPr>
        <p:txBody>
          <a:bodyPr wrap="square" lIns="0" tIns="0" rIns="0" bIns="0" rtlCol="0" anchor="t"/>
          <a:lstStyle/>
          <a:p>
            <a:pPr indent="0" marL="0">
              <a:buNone/>
            </a:pPr>
            <a:r>
              <a:rPr lang="en-US" sz="1050" i="1" dirty="0">
                <a:solidFill>
                  <a:srgbClr val="61666E"/>
                </a:solidFill>
              </a:rPr>
              <a:t>A MUREX interest rate swap, UPPER_SNAKE as production data is; captured on the demo lakes (tutorial 1).</a:t>
            </a:r>
            <a:endParaRPr lang="en-US" sz="105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ABOUT THIS PAGE</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Every view explains itself, in five layers</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40664" y="1386459"/>
            <a:ext cx="6931152" cy="4359402"/>
          </a:xfrm>
          <a:prstGeom prst="rect">
            <a:avLst/>
          </a:prstGeom>
          <a:solidFill>
            <a:srgbClr val="FFFFFF"/>
          </a:solidFill>
          <a:ln w="12700">
            <a:solidFill>
              <a:srgbClr val="E3DED7"/>
            </a:solidFill>
            <a:prstDash val="solid"/>
          </a:ln>
          <a:effectLst>
            <a:outerShdw sx="100000" sy="100000" kx="0" ky="0" algn="bl" rotWithShape="0" blurRad="76200" dist="25400" dir="5400000">
              <a:srgbClr val="000000">
                <a:alpha val="18000"/>
              </a:srgbClr>
            </a:outerShdw>
          </a:effectLst>
        </p:spPr>
        <p:txBody>
          <a:bodyPr/>
          <a:p/>
        </p:txBody>
      </p:sp>
      <p:pic>
        <p:nvPicPr>
          <p:cNvPr id="7" name="Image 0" descr="/home/ashutosh/IdeaProjects/drishti/docs/guides/img/about/01-var-drawer.jpg">    </p:cNvPr>
          <p:cNvPicPr>
            <a:picLocks noChangeAspect="1"/>
          </p:cNvPicPr>
          <p:nvPr/>
        </p:nvPicPr>
        <p:blipFill>
          <a:blip r:embed="rId1"/>
          <a:stretch>
            <a:fillRect/>
          </a:stretch>
        </p:blipFill>
        <p:spPr>
          <a:xfrm>
            <a:off x="777240" y="1423035"/>
            <a:ext cx="6858000" cy="4286250"/>
          </a:xfrm>
          <a:prstGeom prst="rect">
            <a:avLst/>
          </a:prstGeom>
        </p:spPr>
      </p:pic>
      <p:sp>
        <p:nvSpPr>
          <p:cNvPr id="8" name="Text 4"/>
          <p:cNvSpPr txBox="1"/>
          <p:nvPr/>
        </p:nvSpPr>
        <p:spPr>
          <a:xfrm>
            <a:off x="7909560" y="1417320"/>
            <a:ext cx="3502152" cy="4297680"/>
          </a:xfrm>
          <a:prstGeom prst="rect">
            <a:avLst/>
          </a:prstGeom>
          <a:noFill/>
          <a:ln/>
        </p:spPr>
        <p:txBody>
          <a:bodyPr wrap="square" lIns="0" tIns="0" rIns="0" bIns="0" rtlCol="0" anchor="t"/>
          <a:lstStyle/>
          <a:p>
            <a:pPr indent="0" marL="0">
              <a:buNone/>
            </a:pPr>
            <a:r>
              <a:rPr lang="en-US" sz="1500" b="1" dirty="0">
                <a:solidFill>
                  <a:srgbClr val="A51C30"/>
                </a:solidFill>
              </a:rPr>
              <a:t>▪  What you are looking at</a:t>
            </a:r>
            <a:endParaRPr lang="en-US" sz="1500" dirty="0"/>
          </a:p>
          <a:p>
            <a:pPr indent="0" marL="0">
              <a:spcAft>
                <a:spcPts val="800"/>
              </a:spcAft>
              <a:buNone/>
            </a:pPr>
            <a:r>
              <a:rPr lang="en-US" sz="1300" dirty="0">
                <a:solidFill>
                  <a:srgbClr val="4A5058"/>
                </a:solidFill>
              </a:rPr>
              <a:t>From the pack's own help text and glossary.</a:t>
            </a:r>
            <a:endParaRPr lang="en-US" sz="1500" dirty="0"/>
          </a:p>
          <a:p>
            <a:pPr indent="0" marL="0">
              <a:buNone/>
            </a:pPr>
            <a:r>
              <a:rPr lang="en-US" sz="1500" b="1" dirty="0">
                <a:solidFill>
                  <a:srgbClr val="A51C30"/>
                </a:solidFill>
              </a:rPr>
              <a:t>▪  Where the data came from</a:t>
            </a:r>
            <a:endParaRPr lang="en-US" sz="1500" dirty="0"/>
          </a:p>
          <a:p>
            <a:pPr indent="0" marL="0">
              <a:spcAft>
                <a:spcPts val="800"/>
              </a:spcAft>
              <a:buNone/>
            </a:pPr>
            <a:r>
              <a:rPr lang="en-US" sz="1300" dirty="0">
                <a:solidFill>
                  <a:srgbClr val="4A5058"/>
                </a:solidFill>
              </a:rPr>
              <a:t>Source, health, generation and freshness.</a:t>
            </a:r>
            <a:endParaRPr lang="en-US" sz="1500" dirty="0"/>
          </a:p>
          <a:p>
            <a:pPr indent="0" marL="0">
              <a:buNone/>
            </a:pPr>
            <a:r>
              <a:rPr lang="en-US" sz="1500" b="1" dirty="0">
                <a:solidFill>
                  <a:srgbClr val="A51C30"/>
                </a:solidFill>
              </a:rPr>
              <a:t>▪  Why it looks like this</a:t>
            </a:r>
            <a:endParaRPr lang="en-US" sz="1500" dirty="0"/>
          </a:p>
          <a:p>
            <a:pPr indent="0" marL="0">
              <a:spcAft>
                <a:spcPts val="800"/>
              </a:spcAft>
              <a:buNone/>
            </a:pPr>
            <a:r>
              <a:rPr lang="en-US" sz="1300" dirty="0">
                <a:solidFill>
                  <a:srgbClr val="4A5058"/>
                </a:solidFill>
              </a:rPr>
              <a:t>Which Sutra matched, which lost, what inference added.</a:t>
            </a:r>
            <a:endParaRPr lang="en-US" sz="1500" dirty="0"/>
          </a:p>
          <a:p>
            <a:pPr indent="0" marL="0">
              <a:buNone/>
            </a:pPr>
            <a:r>
              <a:rPr lang="en-US" sz="1500" b="1" dirty="0">
                <a:solidFill>
                  <a:srgbClr val="A51C30"/>
                </a:solidFill>
              </a:rPr>
              <a:t>▪  Masked for you</a:t>
            </a:r>
            <a:endParaRPr lang="en-US" sz="1500" dirty="0"/>
          </a:p>
          <a:p>
            <a:pPr indent="0" marL="0">
              <a:spcAft>
                <a:spcPts val="800"/>
              </a:spcAft>
              <a:buNone/>
            </a:pPr>
            <a:r>
              <a:rPr lang="en-US" sz="1300" dirty="0">
                <a:solidFill>
                  <a:srgbClr val="4A5058"/>
                </a:solidFill>
              </a:rPr>
              <a:t>Says which fields your role cannot see.</a:t>
            </a:r>
            <a:endParaRPr lang="en-US" sz="15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BUILD</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Design a screen without writing code — and ship it through review</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40664" y="1386459"/>
            <a:ext cx="6931152" cy="4359402"/>
          </a:xfrm>
          <a:prstGeom prst="rect">
            <a:avLst/>
          </a:prstGeom>
          <a:solidFill>
            <a:srgbClr val="FFFFFF"/>
          </a:solidFill>
          <a:ln w="12700">
            <a:solidFill>
              <a:srgbClr val="E3DED7"/>
            </a:solidFill>
            <a:prstDash val="solid"/>
          </a:ln>
          <a:effectLst>
            <a:outerShdw sx="100000" sy="100000" kx="0" ky="0" algn="bl" rotWithShape="0" blurRad="76200" dist="25400" dir="5400000">
              <a:srgbClr val="000000">
                <a:alpha val="18000"/>
              </a:srgbClr>
            </a:outerShdw>
          </a:effectLst>
        </p:spPr>
        <p:txBody>
          <a:bodyPr/>
          <a:p/>
        </p:txBody>
      </p:sp>
      <p:pic>
        <p:nvPicPr>
          <p:cNvPr id="7" name="Image 0" descr="/home/ashutosh/IdeaProjects/drishti/docs/guides/img/designer/02-workbench.jpg">    </p:cNvPr>
          <p:cNvPicPr>
            <a:picLocks noChangeAspect="1"/>
          </p:cNvPicPr>
          <p:nvPr/>
        </p:nvPicPr>
        <p:blipFill>
          <a:blip r:embed="rId1"/>
          <a:stretch>
            <a:fillRect/>
          </a:stretch>
        </p:blipFill>
        <p:spPr>
          <a:xfrm>
            <a:off x="777240" y="1423035"/>
            <a:ext cx="6858000" cy="4286250"/>
          </a:xfrm>
          <a:prstGeom prst="rect">
            <a:avLst/>
          </a:prstGeom>
        </p:spPr>
      </p:pic>
      <p:sp>
        <p:nvSpPr>
          <p:cNvPr id="8" name="Text 4"/>
          <p:cNvSpPr txBox="1"/>
          <p:nvPr/>
        </p:nvSpPr>
        <p:spPr>
          <a:xfrm>
            <a:off x="7909560" y="1417320"/>
            <a:ext cx="3502152" cy="4297680"/>
          </a:xfrm>
          <a:prstGeom prst="rect">
            <a:avLst/>
          </a:prstGeom>
          <a:noFill/>
          <a:ln/>
        </p:spPr>
        <p:txBody>
          <a:bodyPr wrap="square" lIns="0" tIns="0" rIns="0" bIns="0" rtlCol="0" anchor="t"/>
          <a:lstStyle/>
          <a:p>
            <a:pPr indent="0" marL="0">
              <a:buNone/>
            </a:pPr>
            <a:r>
              <a:rPr lang="en-US" sz="1500" b="1" dirty="0">
                <a:solidFill>
                  <a:srgbClr val="A51C30"/>
                </a:solidFill>
              </a:rPr>
              <a:t>▪  From data you have</a:t>
            </a:r>
            <a:endParaRPr lang="en-US" sz="1500" dirty="0"/>
          </a:p>
          <a:p>
            <a:pPr indent="0" marL="0">
              <a:spcAft>
                <a:spcPts val="800"/>
              </a:spcAft>
              <a:buNone/>
            </a:pPr>
            <a:r>
              <a:rPr lang="en-US" sz="1300" dirty="0">
                <a:solidFill>
                  <a:srgbClr val="4A5058"/>
                </a:solidFill>
              </a:rPr>
              <a:t>Start from JSON files, a schema or stored entities.</a:t>
            </a:r>
            <a:endParaRPr lang="en-US" sz="1500" dirty="0"/>
          </a:p>
          <a:p>
            <a:pPr indent="0" marL="0">
              <a:buNone/>
            </a:pPr>
            <a:r>
              <a:rPr lang="en-US" sz="1500" b="1" dirty="0">
                <a:solidFill>
                  <a:srgbClr val="A51C30"/>
                </a:solidFill>
              </a:rPr>
              <a:t>▪  Drag, or type</a:t>
            </a:r>
            <a:endParaRPr lang="en-US" sz="1500" dirty="0"/>
          </a:p>
          <a:p>
            <a:pPr indent="0" marL="0">
              <a:spcAft>
                <a:spcPts val="800"/>
              </a:spcAft>
              <a:buNone/>
            </a:pPr>
            <a:r>
              <a:rPr lang="en-US" sz="1300" dirty="0">
                <a:solidFill>
                  <a:srgbClr val="4A5058"/>
                </a:solidFill>
              </a:rPr>
              <a:t>Palette and inspector, or the YAML tab with completion.</a:t>
            </a:r>
            <a:endParaRPr lang="en-US" sz="1500" dirty="0"/>
          </a:p>
          <a:p>
            <a:pPr indent="0" marL="0">
              <a:buNone/>
            </a:pPr>
            <a:r>
              <a:rPr lang="en-US" sz="1500" b="1" dirty="0">
                <a:solidFill>
                  <a:srgbClr val="A51C30"/>
                </a:solidFill>
              </a:rPr>
              <a:t>▪  Tested before shipped</a:t>
            </a:r>
            <a:endParaRPr lang="en-US" sz="1500" dirty="0"/>
          </a:p>
          <a:p>
            <a:pPr indent="0" marL="0">
              <a:spcAft>
                <a:spcPts val="800"/>
              </a:spcAft>
              <a:buNone/>
            </a:pPr>
            <a:r>
              <a:rPr lang="en-US" sz="1300" dirty="0">
                <a:solidFill>
                  <a:srgbClr val="4A5058"/>
                </a:solidFill>
              </a:rPr>
              <a:t>Sutra tests run on sample data in the tests tab.</a:t>
            </a:r>
            <a:endParaRPr lang="en-US" sz="1500" dirty="0"/>
          </a:p>
          <a:p>
            <a:pPr indent="0" marL="0">
              <a:buNone/>
            </a:pPr>
            <a:r>
              <a:rPr lang="en-US" sz="1500" b="1" dirty="0">
                <a:solidFill>
                  <a:srgbClr val="A51C30"/>
                </a:solidFill>
              </a:rPr>
              <a:t>▪  Four eyes</a:t>
            </a:r>
            <a:endParaRPr lang="en-US" sz="1500" dirty="0"/>
          </a:p>
          <a:p>
            <a:pPr indent="0" marL="0">
              <a:spcAft>
                <a:spcPts val="800"/>
              </a:spcAft>
              <a:buNone/>
            </a:pPr>
            <a:r>
              <a:rPr lang="en-US" sz="1300" dirty="0">
                <a:solidFill>
                  <a:srgbClr val="4A5058"/>
                </a:solidFill>
              </a:rPr>
              <a:t>An approver reviews the evidence and cannot approve their own.</a:t>
            </a:r>
            <a:endParaRPr lang="en-US" sz="15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RŪPAKA · BI INSIDE THE TERMINAL</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Business intelligence on the same data, rules and masks</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463040"/>
            <a:ext cx="10634472" cy="676656"/>
          </a:xfrm>
          <a:prstGeom prst="rect">
            <a:avLst/>
          </a:prstGeom>
          <a:solidFill>
            <a:srgbClr val="F7F5F2"/>
          </a:solidFill>
          <a:ln w="9525">
            <a:solidFill>
              <a:srgbClr val="E3DED7"/>
            </a:solidFill>
            <a:prstDash val="solid"/>
          </a:ln>
        </p:spPr>
        <p:txBody>
          <a:bodyPr/>
          <a:p/>
        </p:txBody>
      </p:sp>
      <p:sp>
        <p:nvSpPr>
          <p:cNvPr id="7" name="Text 4"/>
          <p:cNvSpPr txBox="1"/>
          <p:nvPr/>
        </p:nvSpPr>
        <p:spPr>
          <a:xfrm>
            <a:off x="1005840" y="1463040"/>
            <a:ext cx="3291840" cy="676656"/>
          </a:xfrm>
          <a:prstGeom prst="rect">
            <a:avLst/>
          </a:prstGeom>
          <a:noFill/>
          <a:ln/>
        </p:spPr>
        <p:txBody>
          <a:bodyPr wrap="square" lIns="0" tIns="0" rIns="0" bIns="0" rtlCol="0" anchor="ctr"/>
          <a:lstStyle/>
          <a:p>
            <a:pPr indent="0" marL="0">
              <a:buNone/>
            </a:pPr>
            <a:r>
              <a:rPr lang="en-US" sz="1500" b="1" dirty="0">
                <a:solidFill>
                  <a:srgbClr val="8A1626"/>
                </a:solidFill>
              </a:rPr>
              <a:t>Models rooted in packs</a:t>
            </a:r>
            <a:endParaRPr lang="en-US" sz="1500" dirty="0"/>
          </a:p>
        </p:txBody>
      </p:sp>
      <p:sp>
        <p:nvSpPr>
          <p:cNvPr id="8" name="Text 5"/>
          <p:cNvSpPr txBox="1"/>
          <p:nvPr/>
        </p:nvSpPr>
        <p:spPr>
          <a:xfrm>
            <a:off x="4434840" y="1463040"/>
            <a:ext cx="6766560" cy="676656"/>
          </a:xfrm>
          <a:prstGeom prst="rect">
            <a:avLst/>
          </a:prstGeom>
          <a:noFill/>
          <a:ln/>
        </p:spPr>
        <p:txBody>
          <a:bodyPr wrap="square" lIns="0" tIns="0" rIns="0" bIns="0" rtlCol="0" anchor="ctr"/>
          <a:lstStyle/>
          <a:p>
            <a:pPr indent="0" marL="0">
              <a:buNone/>
            </a:pPr>
            <a:r>
              <a:rPr lang="en-US" sz="1350" dirty="0">
                <a:solidFill>
                  <a:srgbClr val="1A1A1A"/>
                </a:solidFill>
              </a:rPr>
              <a:t>Datasets and data models built from the packs' kinds, with the relationships the packs suggest.</a:t>
            </a:r>
            <a:endParaRPr lang="en-US" sz="1350" dirty="0"/>
          </a:p>
        </p:txBody>
      </p:sp>
      <p:sp>
        <p:nvSpPr>
          <p:cNvPr id="9" name="Shape 6"/>
          <p:cNvSpPr/>
          <p:nvPr/>
        </p:nvSpPr>
        <p:spPr>
          <a:xfrm>
            <a:off x="777240" y="2249424"/>
            <a:ext cx="10634472" cy="676656"/>
          </a:xfrm>
          <a:prstGeom prst="rect">
            <a:avLst/>
          </a:prstGeom>
          <a:solidFill>
            <a:srgbClr val="FFFFFF"/>
          </a:solidFill>
          <a:ln w="9525">
            <a:solidFill>
              <a:srgbClr val="E3DED7"/>
            </a:solidFill>
            <a:prstDash val="solid"/>
          </a:ln>
        </p:spPr>
        <p:txBody>
          <a:bodyPr/>
          <a:p/>
        </p:txBody>
      </p:sp>
      <p:sp>
        <p:nvSpPr>
          <p:cNvPr id="10" name="Text 7"/>
          <p:cNvSpPr txBox="1"/>
          <p:nvPr/>
        </p:nvSpPr>
        <p:spPr>
          <a:xfrm>
            <a:off x="1005840" y="2249424"/>
            <a:ext cx="3291840" cy="676656"/>
          </a:xfrm>
          <a:prstGeom prst="rect">
            <a:avLst/>
          </a:prstGeom>
          <a:noFill/>
          <a:ln/>
        </p:spPr>
        <p:txBody>
          <a:bodyPr wrap="square" lIns="0" tIns="0" rIns="0" bIns="0" rtlCol="0" anchor="ctr"/>
          <a:lstStyle/>
          <a:p>
            <a:pPr indent="0" marL="0">
              <a:buNone/>
            </a:pPr>
            <a:r>
              <a:rPr lang="en-US" sz="1500" b="1" dirty="0">
                <a:solidFill>
                  <a:srgbClr val="8A1626"/>
                </a:solidFill>
              </a:rPr>
              <a:t>Three languages, one plan</a:t>
            </a:r>
            <a:endParaRPr lang="en-US" sz="1500" dirty="0"/>
          </a:p>
        </p:txBody>
      </p:sp>
      <p:sp>
        <p:nvSpPr>
          <p:cNvPr id="11" name="Text 8"/>
          <p:cNvSpPr txBox="1"/>
          <p:nvPr/>
        </p:nvSpPr>
        <p:spPr>
          <a:xfrm>
            <a:off x="4434840" y="2249424"/>
            <a:ext cx="6766560" cy="676656"/>
          </a:xfrm>
          <a:prstGeom prst="rect">
            <a:avLst/>
          </a:prstGeom>
          <a:noFill/>
          <a:ln/>
        </p:spPr>
        <p:txBody>
          <a:bodyPr wrap="square" lIns="0" tIns="0" rIns="0" bIns="0" rtlCol="0" anchor="ctr"/>
          <a:lstStyle/>
          <a:p>
            <a:pPr indent="0" marL="0">
              <a:buNone/>
            </a:pPr>
            <a:r>
              <a:rPr lang="en-US" sz="1350" dirty="0">
                <a:solidFill>
                  <a:srgbClr val="1A1A1A"/>
                </a:solidFill>
              </a:rPr>
              <a:t>A Python-like expression language, read-only SQL and Python meet in one plan, your row rules and masks applied.</a:t>
            </a:r>
            <a:endParaRPr lang="en-US" sz="1350" dirty="0"/>
          </a:p>
        </p:txBody>
      </p:sp>
      <p:sp>
        <p:nvSpPr>
          <p:cNvPr id="12" name="Shape 9"/>
          <p:cNvSpPr/>
          <p:nvPr/>
        </p:nvSpPr>
        <p:spPr>
          <a:xfrm>
            <a:off x="777240" y="3035808"/>
            <a:ext cx="10634472" cy="676656"/>
          </a:xfrm>
          <a:prstGeom prst="rect">
            <a:avLst/>
          </a:prstGeom>
          <a:solidFill>
            <a:srgbClr val="F7F5F2"/>
          </a:solidFill>
          <a:ln w="9525">
            <a:solidFill>
              <a:srgbClr val="E3DED7"/>
            </a:solidFill>
            <a:prstDash val="solid"/>
          </a:ln>
        </p:spPr>
        <p:txBody>
          <a:bodyPr/>
          <a:p/>
        </p:txBody>
      </p:sp>
      <p:sp>
        <p:nvSpPr>
          <p:cNvPr id="13" name="Text 10"/>
          <p:cNvSpPr txBox="1"/>
          <p:nvPr/>
        </p:nvSpPr>
        <p:spPr>
          <a:xfrm>
            <a:off x="1005840" y="3035808"/>
            <a:ext cx="3291840" cy="676656"/>
          </a:xfrm>
          <a:prstGeom prst="rect">
            <a:avLst/>
          </a:prstGeom>
          <a:noFill/>
          <a:ln/>
        </p:spPr>
        <p:txBody>
          <a:bodyPr wrap="square" lIns="0" tIns="0" rIns="0" bIns="0" rtlCol="0" anchor="ctr"/>
          <a:lstStyle/>
          <a:p>
            <a:pPr indent="0" marL="0">
              <a:buNone/>
            </a:pPr>
            <a:r>
              <a:rPr lang="en-US" sz="1500" b="1" dirty="0">
                <a:solidFill>
                  <a:srgbClr val="8A1626"/>
                </a:solidFill>
              </a:rPr>
              <a:t>Servers compute</a:t>
            </a:r>
            <a:endParaRPr lang="en-US" sz="1500" dirty="0"/>
          </a:p>
        </p:txBody>
      </p:sp>
      <p:sp>
        <p:nvSpPr>
          <p:cNvPr id="14" name="Text 11"/>
          <p:cNvSpPr txBox="1"/>
          <p:nvPr/>
        </p:nvSpPr>
        <p:spPr>
          <a:xfrm>
            <a:off x="4434840" y="3035808"/>
            <a:ext cx="6766560" cy="676656"/>
          </a:xfrm>
          <a:prstGeom prst="rect">
            <a:avLst/>
          </a:prstGeom>
          <a:noFill/>
          <a:ln/>
        </p:spPr>
        <p:txBody>
          <a:bodyPr wrap="square" lIns="0" tIns="0" rIns="0" bIns="0" rtlCol="0" anchor="ctr"/>
          <a:lstStyle/>
          <a:p>
            <a:pPr indent="0" marL="0">
              <a:buNone/>
            </a:pPr>
            <a:r>
              <a:rPr lang="en-US" sz="1350" dirty="0">
                <a:solidFill>
                  <a:srgbClr val="1A1A1A"/>
                </a:solidFill>
              </a:rPr>
              <a:t>The Java server and the console's sandbox answer every number; the browser draws; standing queries push live.</a:t>
            </a:r>
            <a:endParaRPr lang="en-US" sz="1350" dirty="0"/>
          </a:p>
        </p:txBody>
      </p:sp>
      <p:sp>
        <p:nvSpPr>
          <p:cNvPr id="15" name="Shape 12"/>
          <p:cNvSpPr/>
          <p:nvPr/>
        </p:nvSpPr>
        <p:spPr>
          <a:xfrm>
            <a:off x="777240" y="3822192"/>
            <a:ext cx="10634472" cy="676656"/>
          </a:xfrm>
          <a:prstGeom prst="rect">
            <a:avLst/>
          </a:prstGeom>
          <a:solidFill>
            <a:srgbClr val="FFFFFF"/>
          </a:solidFill>
          <a:ln w="9525">
            <a:solidFill>
              <a:srgbClr val="E3DED7"/>
            </a:solidFill>
            <a:prstDash val="solid"/>
          </a:ln>
        </p:spPr>
        <p:txBody>
          <a:bodyPr/>
          <a:p/>
        </p:txBody>
      </p:sp>
      <p:sp>
        <p:nvSpPr>
          <p:cNvPr id="16" name="Text 13"/>
          <p:cNvSpPr txBox="1"/>
          <p:nvPr/>
        </p:nvSpPr>
        <p:spPr>
          <a:xfrm>
            <a:off x="1005840" y="3822192"/>
            <a:ext cx="3291840" cy="676656"/>
          </a:xfrm>
          <a:prstGeom prst="rect">
            <a:avLst/>
          </a:prstGeom>
          <a:noFill/>
          <a:ln/>
        </p:spPr>
        <p:txBody>
          <a:bodyPr wrap="square" lIns="0" tIns="0" rIns="0" bIns="0" rtlCol="0" anchor="ctr"/>
          <a:lstStyle/>
          <a:p>
            <a:pPr indent="0" marL="0">
              <a:buNone/>
            </a:pPr>
            <a:r>
              <a:rPr lang="en-US" sz="1500" b="1" dirty="0">
                <a:solidFill>
                  <a:srgbClr val="8A1626"/>
                </a:solidFill>
              </a:rPr>
              <a:t>Governed</a:t>
            </a:r>
            <a:endParaRPr lang="en-US" sz="1500" dirty="0"/>
          </a:p>
        </p:txBody>
      </p:sp>
      <p:sp>
        <p:nvSpPr>
          <p:cNvPr id="17" name="Text 14"/>
          <p:cNvSpPr txBox="1"/>
          <p:nvPr/>
        </p:nvSpPr>
        <p:spPr>
          <a:xfrm>
            <a:off x="4434840" y="3822192"/>
            <a:ext cx="6766560" cy="676656"/>
          </a:xfrm>
          <a:prstGeom prst="rect">
            <a:avLst/>
          </a:prstGeom>
          <a:noFill/>
          <a:ln/>
        </p:spPr>
        <p:txBody>
          <a:bodyPr wrap="square" lIns="0" tIns="0" rIns="0" bIns="0" rtlCol="0" anchor="ctr"/>
          <a:lstStyle/>
          <a:p>
            <a:pPr indent="0" marL="0">
              <a:buNone/>
            </a:pPr>
            <a:r>
              <a:rPr lang="en-US" sz="1350" dirty="0">
                <a:solidFill>
                  <a:srgbClr val="1A1A1A"/>
                </a:solidFill>
              </a:rPr>
              <a:t>Versions and diffs, four-eyes review, certification, lineage past the connector, bundles with rollback.</a:t>
            </a:r>
            <a:endParaRPr lang="en-US" sz="1350" dirty="0"/>
          </a:p>
        </p:txBody>
      </p:sp>
      <p:sp>
        <p:nvSpPr>
          <p:cNvPr id="18" name="Shape 15"/>
          <p:cNvSpPr/>
          <p:nvPr/>
        </p:nvSpPr>
        <p:spPr>
          <a:xfrm>
            <a:off x="777240" y="4608576"/>
            <a:ext cx="10634472" cy="676656"/>
          </a:xfrm>
          <a:prstGeom prst="rect">
            <a:avLst/>
          </a:prstGeom>
          <a:solidFill>
            <a:srgbClr val="F7F5F2"/>
          </a:solidFill>
          <a:ln w="9525">
            <a:solidFill>
              <a:srgbClr val="E3DED7"/>
            </a:solidFill>
            <a:prstDash val="solid"/>
          </a:ln>
        </p:spPr>
        <p:txBody>
          <a:bodyPr/>
          <a:p/>
        </p:txBody>
      </p:sp>
      <p:sp>
        <p:nvSpPr>
          <p:cNvPr id="19" name="Text 16"/>
          <p:cNvSpPr txBox="1"/>
          <p:nvPr/>
        </p:nvSpPr>
        <p:spPr>
          <a:xfrm>
            <a:off x="1005840" y="4608576"/>
            <a:ext cx="3291840" cy="676656"/>
          </a:xfrm>
          <a:prstGeom prst="rect">
            <a:avLst/>
          </a:prstGeom>
          <a:noFill/>
          <a:ln/>
        </p:spPr>
        <p:txBody>
          <a:bodyPr wrap="square" lIns="0" tIns="0" rIns="0" bIns="0" rtlCol="0" anchor="ctr"/>
          <a:lstStyle/>
          <a:p>
            <a:pPr indent="0" marL="0">
              <a:buNone/>
            </a:pPr>
            <a:r>
              <a:rPr lang="en-US" sz="1500" b="1" dirty="0">
                <a:solidFill>
                  <a:srgbClr val="8A1626"/>
                </a:solidFill>
              </a:rPr>
              <a:t>Everywhere it is needed</a:t>
            </a:r>
            <a:endParaRPr lang="en-US" sz="1500" dirty="0"/>
          </a:p>
        </p:txBody>
      </p:sp>
      <p:sp>
        <p:nvSpPr>
          <p:cNvPr id="20" name="Text 17"/>
          <p:cNvSpPr txBox="1"/>
          <p:nvPr/>
        </p:nvSpPr>
        <p:spPr>
          <a:xfrm>
            <a:off x="4434840" y="4608576"/>
            <a:ext cx="6766560" cy="676656"/>
          </a:xfrm>
          <a:prstGeom prst="rect">
            <a:avLst/>
          </a:prstGeom>
          <a:noFill/>
          <a:ln/>
        </p:spPr>
        <p:txBody>
          <a:bodyPr wrap="square" lIns="0" tIns="0" rIns="0" bIns="0" rtlCol="0" anchor="ctr"/>
          <a:lstStyle/>
          <a:p>
            <a:pPr indent="0" marL="0">
              <a:buNone/>
            </a:pPr>
            <a:r>
              <a:rPr lang="en-US" sz="1350" dirty="0">
                <a:solidFill>
                  <a:srgbClr val="1A1A1A"/>
                </a:solidFill>
              </a:rPr>
              <a:t>Subscriptions and alerts per reader, PDF, PNG, Excel and CSV, and &lt;drishti-report&gt; in other apps.</a:t>
            </a:r>
            <a:endParaRPr lang="en-US" sz="1350" dirty="0"/>
          </a:p>
        </p:txBody>
      </p:sp>
      <p:sp>
        <p:nvSpPr>
          <p:cNvPr id="21" name="Shape 18"/>
          <p:cNvSpPr/>
          <p:nvPr/>
        </p:nvSpPr>
        <p:spPr>
          <a:xfrm>
            <a:off x="777240" y="5550408"/>
            <a:ext cx="10634472" cy="694944"/>
          </a:xfrm>
          <a:prstGeom prst="rect">
            <a:avLst/>
          </a:prstGeom>
          <a:solidFill>
            <a:srgbClr val="F6E6E9"/>
          </a:solidFill>
          <a:ln/>
        </p:spPr>
        <p:txBody>
          <a:bodyPr/>
          <a:p/>
        </p:txBody>
      </p:sp>
      <p:sp>
        <p:nvSpPr>
          <p:cNvPr id="22" name="Shape 19"/>
          <p:cNvSpPr/>
          <p:nvPr/>
        </p:nvSpPr>
        <p:spPr>
          <a:xfrm>
            <a:off x="777240" y="5550408"/>
            <a:ext cx="54864" cy="694944"/>
          </a:xfrm>
          <a:prstGeom prst="rect">
            <a:avLst/>
          </a:prstGeom>
          <a:solidFill>
            <a:srgbClr val="A51C30"/>
          </a:solidFill>
          <a:ln/>
        </p:spPr>
        <p:txBody>
          <a:bodyPr/>
          <a:p/>
        </p:txBody>
      </p:sp>
      <p:sp>
        <p:nvSpPr>
          <p:cNvPr id="23" name="Text 20"/>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A report reader sees exactly the rows and masks they see on the terminal — BI cannot leak around them.</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BI STUDIO · 2.4</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Reports, models, boards and themes in one studio</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40664" y="1386459"/>
            <a:ext cx="6931152" cy="4359402"/>
          </a:xfrm>
          <a:prstGeom prst="rect">
            <a:avLst/>
          </a:prstGeom>
          <a:solidFill>
            <a:srgbClr val="FFFFFF"/>
          </a:solidFill>
          <a:ln w="12700">
            <a:solidFill>
              <a:srgbClr val="E3DED7"/>
            </a:solidFill>
            <a:prstDash val="solid"/>
          </a:ln>
          <a:effectLst>
            <a:outerShdw sx="100000" sy="100000" kx="0" ky="0" algn="bl" rotWithShape="0" blurRad="76200" dist="25400" dir="5400000">
              <a:srgbClr val="000000">
                <a:alpha val="18000"/>
              </a:srgbClr>
            </a:outerShdw>
          </a:effectLst>
        </p:spPr>
        <p:txBody>
          <a:bodyPr/>
          <a:p/>
        </p:txBody>
      </p:sp>
      <p:pic>
        <p:nvPicPr>
          <p:cNvPr id="7" name="Image 0" descr="/home/ashutosh/IdeaProjects/drishti/docs/guides/img/designer/02-workbench.jpg">    </p:cNvPr>
          <p:cNvPicPr>
            <a:picLocks noChangeAspect="1"/>
          </p:cNvPicPr>
          <p:nvPr/>
        </p:nvPicPr>
        <p:blipFill>
          <a:blip r:embed="rId1"/>
          <a:stretch>
            <a:fillRect/>
          </a:stretch>
        </p:blipFill>
        <p:spPr>
          <a:xfrm>
            <a:off x="777240" y="1423035"/>
            <a:ext cx="6858000" cy="4286250"/>
          </a:xfrm>
          <a:prstGeom prst="rect">
            <a:avLst/>
          </a:prstGeom>
        </p:spPr>
      </p:pic>
      <p:sp>
        <p:nvSpPr>
          <p:cNvPr id="8" name="Text 4"/>
          <p:cNvSpPr txBox="1"/>
          <p:nvPr/>
        </p:nvSpPr>
        <p:spPr>
          <a:xfrm>
            <a:off x="7909560" y="1417320"/>
            <a:ext cx="3502152" cy="4297680"/>
          </a:xfrm>
          <a:prstGeom prst="rect">
            <a:avLst/>
          </a:prstGeom>
          <a:noFill/>
          <a:ln/>
        </p:spPr>
        <p:txBody>
          <a:bodyPr wrap="square" lIns="0" tIns="0" rIns="0" bIns="0" rtlCol="0" anchor="t"/>
          <a:lstStyle/>
          <a:p>
            <a:pPr indent="0" marL="0">
              <a:buNone/>
            </a:pPr>
            <a:r>
              <a:rPr lang="en-US" sz="1500" b="1" dirty="0">
                <a:solidFill>
                  <a:srgbClr val="A51C30"/>
                </a:solidFill>
              </a:rPr>
              <a:t>▪  Explorer and tabs</a:t>
            </a:r>
            <a:endParaRPr lang="en-US" sz="1500" dirty="0"/>
          </a:p>
          <a:p>
            <a:pPr indent="0" marL="0">
              <a:spcAft>
                <a:spcPts val="800"/>
              </a:spcAft>
              <a:buNone/>
            </a:pPr>
            <a:r>
              <a:rPr lang="en-US" sz="1300" dirty="0">
                <a:solidFill>
                  <a:srgbClr val="4A5058"/>
                </a:solidFill>
              </a:rPr>
              <a:t>Every item you may edit, by kind, with New; open items as tabs.</a:t>
            </a:r>
            <a:endParaRPr lang="en-US" sz="1500" dirty="0"/>
          </a:p>
          <a:p>
            <a:pPr indent="0" marL="0">
              <a:buNone/>
            </a:pPr>
            <a:r>
              <a:rPr lang="en-US" sz="1500" b="1" dirty="0">
                <a:solidFill>
                  <a:srgbClr val="A51C30"/>
                </a:solidFill>
              </a:rPr>
              <a:t>▪  Problems and Query</a:t>
            </a:r>
            <a:endParaRPr lang="en-US" sz="1500" dirty="0"/>
          </a:p>
          <a:p>
            <a:pPr indent="0" marL="0">
              <a:spcAft>
                <a:spcPts val="800"/>
              </a:spcAft>
              <a:buNone/>
            </a:pPr>
            <a:r>
              <a:rPr lang="en-US" sz="1300" dirty="0">
                <a:solidFill>
                  <a:srgbClr val="4A5058"/>
                </a:solidFill>
              </a:rPr>
              <a:t>The server checks the draft a second after each change; each visual's query and SQL.</a:t>
            </a:r>
            <a:endParaRPr lang="en-US" sz="1500" dirty="0"/>
          </a:p>
          <a:p>
            <a:pPr indent="0" marL="0">
              <a:buNone/>
            </a:pPr>
            <a:r>
              <a:rPr lang="en-US" sz="1500" b="1" dirty="0">
                <a:solidFill>
                  <a:srgbClr val="A51C30"/>
                </a:solidFill>
              </a:rPr>
              <a:t>▪  A generated Format pane</a:t>
            </a:r>
            <a:endParaRPr lang="en-US" sz="1500" dirty="0"/>
          </a:p>
          <a:p>
            <a:pPr indent="0" marL="0">
              <a:spcAft>
                <a:spcPts val="800"/>
              </a:spcAft>
              <a:buNone/>
            </a:pPr>
            <a:r>
              <a:rPr lang="en-US" sz="1300" dirty="0">
                <a:solidFill>
                  <a:srgbClr val="4A5058"/>
                </a:solidFill>
              </a:rPr>
              <a:t>Typed formats, conditional formatting, themes, tooltip pages, small multiples, the matrix.</a:t>
            </a:r>
            <a:endParaRPr lang="en-US" sz="1500" dirty="0"/>
          </a:p>
          <a:p>
            <a:pPr indent="0" marL="0">
              <a:buNone/>
            </a:pPr>
            <a:r>
              <a:rPr lang="en-US" sz="1500" b="1" dirty="0">
                <a:solidFill>
                  <a:srgbClr val="A51C30"/>
                </a:solidFill>
              </a:rPr>
              <a:t>▪  Boards are reports</a:t>
            </a:r>
            <a:endParaRPr lang="en-US" sz="1500" dirty="0"/>
          </a:p>
          <a:p>
            <a:pPr indent="0" marL="0">
              <a:spcAft>
                <a:spcPts val="800"/>
              </a:spcAft>
              <a:buNone/>
            </a:pPr>
            <a:r>
              <a:rPr lang="en-US" sz="1300" dirty="0">
                <a:solidFill>
                  <a:srgbClr val="4A5058"/>
                </a:solidFill>
              </a:rPr>
              <a:t>Board pages of live tiles beside the report's own visuals, with kiosk mode and alerts.</a:t>
            </a:r>
            <a:endParaRPr lang="en-US" sz="15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PYTHON · DATA PREP AND THE CONSOLE</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Python where it belongs: on the server, or on your own rows</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40664" y="1386459"/>
            <a:ext cx="6931152" cy="4359402"/>
          </a:xfrm>
          <a:prstGeom prst="rect">
            <a:avLst/>
          </a:prstGeom>
          <a:solidFill>
            <a:srgbClr val="FFFFFF"/>
          </a:solidFill>
          <a:ln w="12700">
            <a:solidFill>
              <a:srgbClr val="E3DED7"/>
            </a:solidFill>
            <a:prstDash val="solid"/>
          </a:ln>
          <a:effectLst>
            <a:outerShdw sx="100000" sy="100000" kx="0" ky="0" algn="bl" rotWithShape="0" blurRad="76200" dist="25400" dir="5400000">
              <a:srgbClr val="000000">
                <a:alpha val="18000"/>
              </a:srgbClr>
            </a:outerShdw>
          </a:effectLst>
        </p:spPr>
        <p:txBody>
          <a:bodyPr/>
          <a:p/>
        </p:txBody>
      </p:sp>
      <p:pic>
        <p:nvPicPr>
          <p:cNvPr id="7" name="Image 0" descr="/home/ashutosh/IdeaProjects/drishti/docs/guides/img/about/01-var-drawer.jpg">    </p:cNvPr>
          <p:cNvPicPr>
            <a:picLocks noChangeAspect="1"/>
          </p:cNvPicPr>
          <p:nvPr/>
        </p:nvPicPr>
        <p:blipFill>
          <a:blip r:embed="rId1"/>
          <a:stretch>
            <a:fillRect/>
          </a:stretch>
        </p:blipFill>
        <p:spPr>
          <a:xfrm>
            <a:off x="777240" y="1423035"/>
            <a:ext cx="6858000" cy="4286250"/>
          </a:xfrm>
          <a:prstGeom prst="rect">
            <a:avLst/>
          </a:prstGeom>
        </p:spPr>
      </p:pic>
      <p:sp>
        <p:nvSpPr>
          <p:cNvPr id="8" name="Text 4"/>
          <p:cNvSpPr txBox="1"/>
          <p:nvPr/>
        </p:nvSpPr>
        <p:spPr>
          <a:xfrm>
            <a:off x="7909560" y="1417320"/>
            <a:ext cx="3502152" cy="4297680"/>
          </a:xfrm>
          <a:prstGeom prst="rect">
            <a:avLst/>
          </a:prstGeom>
          <a:noFill/>
          <a:ln/>
        </p:spPr>
        <p:txBody>
          <a:bodyPr wrap="square" lIns="0" tIns="0" rIns="0" bIns="0" rtlCol="0" anchor="t"/>
          <a:lstStyle/>
          <a:p>
            <a:pPr indent="0" marL="0">
              <a:buNone/>
            </a:pPr>
            <a:r>
              <a:rPr lang="en-US" sz="1500" b="1" dirty="0">
                <a:solidFill>
                  <a:srgbClr val="A51C30"/>
                </a:solidFill>
              </a:rPr>
              <a:t>▪  Transforms, step by step</a:t>
            </a:r>
            <a:endParaRPr lang="en-US" sz="1500" dirty="0"/>
          </a:p>
          <a:p>
            <a:pPr indent="0" marL="0">
              <a:spcAft>
                <a:spcPts val="800"/>
              </a:spcAft>
              <a:buNone/>
            </a:pPr>
            <a:r>
              <a:rPr lang="en-US" sz="1300" dirty="0">
                <a:solidFill>
                  <a:srgbClr val="4A5058"/>
                </a:solidFill>
              </a:rPr>
              <a:t>Inputs read through a pack's connector as you; 21 tested snippets; a profile after each step.</a:t>
            </a:r>
            <a:endParaRPr lang="en-US" sz="1500" dirty="0"/>
          </a:p>
          <a:p>
            <a:pPr indent="0" marL="0">
              <a:buNone/>
            </a:pPr>
            <a:r>
              <a:rPr lang="en-US" sz="1500" b="1" dirty="0">
                <a:solidFill>
                  <a:srgbClr val="A51C30"/>
                </a:solidFill>
              </a:rPr>
              <a:t>▪  Sandboxed, warm</a:t>
            </a:r>
            <a:endParaRPr lang="en-US" sz="1500" dirty="0"/>
          </a:p>
          <a:p>
            <a:pPr indent="0" marL="0">
              <a:spcAft>
                <a:spcPts val="800"/>
              </a:spcAft>
              <a:buNone/>
            </a:pPr>
            <a:r>
              <a:rPr lang="en-US" sz="1300" dirty="0">
                <a:solidFill>
                  <a:srgbClr val="4A5058"/>
                </a:solidFill>
              </a:rPr>
              <a:t>Measures, visuals and Transforms run in a fork-server child with limits.</a:t>
            </a:r>
            <a:endParaRPr lang="en-US" sz="1500" dirty="0"/>
          </a:p>
          <a:p>
            <a:pPr indent="0" marL="0">
              <a:buNone/>
            </a:pPr>
            <a:r>
              <a:rPr lang="en-US" sz="1500" b="1" dirty="0">
                <a:solidFill>
                  <a:srgbClr val="A51C30"/>
                </a:solidFill>
              </a:rPr>
              <a:t>▪  Your own Python</a:t>
            </a:r>
            <a:endParaRPr lang="en-US" sz="1500" dirty="0"/>
          </a:p>
          <a:p>
            <a:pPr indent="0" marL="0">
              <a:spcAft>
                <a:spcPts val="800"/>
              </a:spcAft>
              <a:buNone/>
            </a:pPr>
            <a:r>
              <a:rPr lang="en-US" sz="1300" dirty="0">
                <a:solidFill>
                  <a:srgbClr val="4A5058"/>
                </a:solidFill>
              </a:rPr>
              <a:t>BI → Python console: pandas on a masked extract, in your browser.</a:t>
            </a:r>
            <a:endParaRPr lang="en-US" sz="1500" dirty="0"/>
          </a:p>
          <a:p>
            <a:pPr indent="0" marL="0">
              <a:buNone/>
            </a:pPr>
            <a:r>
              <a:rPr lang="en-US" sz="1500" b="1" dirty="0">
                <a:solidFill>
                  <a:srgbClr val="A51C30"/>
                </a:solidFill>
              </a:rPr>
              <a:t>▪  Promote to the server</a:t>
            </a:r>
            <a:endParaRPr lang="en-US" sz="1500" dirty="0"/>
          </a:p>
          <a:p>
            <a:pPr indent="0" marL="0">
              <a:spcAft>
                <a:spcPts val="800"/>
              </a:spcAft>
              <a:buNone/>
            </a:pPr>
            <a:r>
              <a:rPr lang="en-US" sz="1300" dirty="0">
                <a:solidFill>
                  <a:srgbClr val="4A5058"/>
                </a:solidFill>
              </a:rPr>
              <a:t>The same code run again on the backend, compared, kept as a notebook draft.</a:t>
            </a:r>
            <a:endParaRPr lang="en-US" sz="15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SEARCH AND PIVOT</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Ask in a grammar or in plain words; pivot what comes back</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40664" y="1391412"/>
            <a:ext cx="5468112" cy="4029456"/>
          </a:xfrm>
          <a:prstGeom prst="rect">
            <a:avLst/>
          </a:prstGeom>
          <a:solidFill>
            <a:srgbClr val="FFFFFF"/>
          </a:solidFill>
          <a:ln w="12700">
            <a:solidFill>
              <a:srgbClr val="E3DED7"/>
            </a:solidFill>
            <a:prstDash val="solid"/>
          </a:ln>
          <a:effectLst>
            <a:outerShdw sx="100000" sy="100000" kx="0" ky="0" algn="bl" rotWithShape="0" blurRad="76200" dist="25400" dir="5400000">
              <a:srgbClr val="000000">
                <a:alpha val="18000"/>
              </a:srgbClr>
            </a:outerShdw>
          </a:effectLst>
        </p:spPr>
        <p:txBody>
          <a:bodyPr/>
          <a:p/>
        </p:txBody>
      </p:sp>
      <p:pic>
        <p:nvPicPr>
          <p:cNvPr id="7" name="Image 0" descr="/home/ashutosh/IdeaProjects/drishti/drishti-console/web/static/img/guide/pivot-search.png">    </p:cNvPr>
          <p:cNvPicPr>
            <a:picLocks noChangeAspect="1"/>
          </p:cNvPicPr>
          <p:nvPr/>
        </p:nvPicPr>
        <p:blipFill>
          <a:blip r:embed="rId1"/>
          <a:stretch>
            <a:fillRect/>
          </a:stretch>
        </p:blipFill>
        <p:spPr>
          <a:xfrm>
            <a:off x="777240" y="1427988"/>
            <a:ext cx="5394960" cy="3956304"/>
          </a:xfrm>
          <a:prstGeom prst="rect">
            <a:avLst/>
          </a:prstGeom>
        </p:spPr>
      </p:pic>
      <p:sp>
        <p:nvSpPr>
          <p:cNvPr id="8" name="Shape 4"/>
          <p:cNvSpPr/>
          <p:nvPr/>
        </p:nvSpPr>
        <p:spPr>
          <a:xfrm>
            <a:off x="6400800" y="1417320"/>
            <a:ext cx="5010912" cy="1325880"/>
          </a:xfrm>
          <a:prstGeom prst="rect">
            <a:avLst/>
          </a:prstGeom>
          <a:solidFill>
            <a:srgbClr val="1E1E24"/>
          </a:solidFill>
          <a:ln/>
        </p:spPr>
        <p:txBody>
          <a:bodyPr/>
          <a:p/>
        </p:txBody>
      </p:sp>
      <p:sp>
        <p:nvSpPr>
          <p:cNvPr id="9" name="Text 5"/>
          <p:cNvSpPr txBox="1"/>
          <p:nvPr/>
        </p:nvSpPr>
        <p:spPr>
          <a:xfrm>
            <a:off x="6601968" y="1581912"/>
            <a:ext cx="4608576" cy="1051560"/>
          </a:xfrm>
          <a:prstGeom prst="rect">
            <a:avLst/>
          </a:prstGeom>
          <a:noFill/>
          <a:ln/>
        </p:spPr>
        <p:txBody>
          <a:bodyPr wrap="square" lIns="0" tIns="0" rIns="0" bIns="0" rtlCol="0" anchor="t"/>
          <a:lstStyle/>
          <a:p>
            <a:pPr indent="0" marL="0">
              <a:lnSpc>
                <a:spcPct val="105000"/>
              </a:lnSpc>
              <a:buNone/>
            </a:pPr>
            <a:r>
              <a:rPr lang="en-US" sz="1250" dirty="0">
                <a:solidFill>
                  <a:srgbClr val="F1EEE9"/>
                </a:solidFill>
                <a:latin typeface="Courier New" pitchFamily="34" charset="0"/>
                <a:ea typeface="Courier New" pitchFamily="34" charset="-122"/>
                <a:cs typeface="Courier New" pitchFamily="34" charset="-120"/>
              </a:rPr>
              <a:t>TRD where QUANTITY &gt; 1bn order by QUANTITY desc</a:t>
            </a:r>
            <a:endParaRPr lang="en-US" sz="1250" dirty="0"/>
          </a:p>
          <a:p>
            <a:pPr indent="0" marL="0">
              <a:lnSpc>
                <a:spcPct val="105000"/>
              </a:lnSpc>
              <a:buNone/>
            </a:pPr>
            <a:r>
              <a:rPr lang="en-US" sz="1250" dirty="0">
                <a:solidFill>
                  <a:srgbClr val="F1EEE9"/>
                </a:solidFill>
                <a:latin typeface="Courier New" pitchFamily="34" charset="0"/>
                <a:ea typeface="Courier New" pitchFamily="34" charset="-122"/>
                <a:cs typeface="Courier New" pitchFamily="34" charset="-120"/>
              </a:rPr>
              <a:t>amended trades over 5m in BOOK-RATES-3</a:t>
            </a:r>
            <a:endParaRPr lang="en-US" sz="1250" dirty="0"/>
          </a:p>
          <a:p>
            <a:pPr indent="0" marL="0">
              <a:lnSpc>
                <a:spcPct val="105000"/>
              </a:lnSpc>
              <a:buNone/>
            </a:pPr>
            <a:r>
              <a:rPr lang="en-US" sz="1250" dirty="0">
                <a:solidFill>
                  <a:srgbClr val="F1EEE9"/>
                </a:solidFill>
                <a:latin typeface="Courier New" pitchFamily="34" charset="0"/>
                <a:ea typeface="Courier New" pitchFamily="34" charset="-122"/>
                <a:cs typeface="Courier New" pitchFamily="34" charset="-120"/>
              </a:rPr>
              <a:t>FORM trading &lt;GO&gt;</a:t>
            </a:r>
            <a:endParaRPr lang="en-US" sz="1250" dirty="0"/>
          </a:p>
        </p:txBody>
      </p:sp>
      <p:sp>
        <p:nvSpPr>
          <p:cNvPr id="10" name="Shape 6"/>
          <p:cNvSpPr/>
          <p:nvPr/>
        </p:nvSpPr>
        <p:spPr>
          <a:xfrm>
            <a:off x="6400800" y="2926080"/>
            <a:ext cx="2404872" cy="1143000"/>
          </a:xfrm>
          <a:prstGeom prst="rect">
            <a:avLst/>
          </a:prstGeom>
          <a:solidFill>
            <a:srgbClr val="F7F5F2"/>
          </a:solidFill>
          <a:ln/>
        </p:spPr>
        <p:txBody>
          <a:bodyPr/>
          <a:p/>
        </p:txBody>
      </p:sp>
      <p:sp>
        <p:nvSpPr>
          <p:cNvPr id="11" name="Shape 7"/>
          <p:cNvSpPr/>
          <p:nvPr/>
        </p:nvSpPr>
        <p:spPr>
          <a:xfrm>
            <a:off x="6400800" y="2926080"/>
            <a:ext cx="45720" cy="1143000"/>
          </a:xfrm>
          <a:prstGeom prst="rect">
            <a:avLst/>
          </a:prstGeom>
          <a:solidFill>
            <a:srgbClr val="A51C30"/>
          </a:solidFill>
          <a:ln/>
        </p:spPr>
        <p:txBody>
          <a:bodyPr/>
          <a:p/>
        </p:txBody>
      </p:sp>
      <p:sp>
        <p:nvSpPr>
          <p:cNvPr id="12" name="Text 8"/>
          <p:cNvSpPr txBox="1"/>
          <p:nvPr/>
        </p:nvSpPr>
        <p:spPr>
          <a:xfrm>
            <a:off x="6601968" y="3035808"/>
            <a:ext cx="2084832" cy="502920"/>
          </a:xfrm>
          <a:prstGeom prst="rect">
            <a:avLst/>
          </a:prstGeom>
          <a:noFill/>
          <a:ln/>
        </p:spPr>
        <p:txBody>
          <a:bodyPr wrap="square" lIns="0" tIns="0" rIns="0" bIns="0" rtlCol="0" anchor="ctr"/>
          <a:lstStyle/>
          <a:p>
            <a:pPr indent="0" marL="0">
              <a:buNone/>
            </a:pPr>
            <a:r>
              <a:rPr lang="en-US" sz="2600" b="1" dirty="0">
                <a:solidFill>
                  <a:srgbClr val="8A1626"/>
                </a:solidFill>
              </a:rPr>
              <a:t>134 ms</a:t>
            </a:r>
            <a:endParaRPr lang="en-US" sz="2600" dirty="0"/>
          </a:p>
        </p:txBody>
      </p:sp>
      <p:sp>
        <p:nvSpPr>
          <p:cNvPr id="13" name="Text 9"/>
          <p:cNvSpPr txBox="1"/>
          <p:nvPr/>
        </p:nvSpPr>
        <p:spPr>
          <a:xfrm>
            <a:off x="6601968" y="3529584"/>
            <a:ext cx="2084832" cy="466344"/>
          </a:xfrm>
          <a:prstGeom prst="rect">
            <a:avLst/>
          </a:prstGeom>
          <a:noFill/>
          <a:ln/>
        </p:spPr>
        <p:txBody>
          <a:bodyPr wrap="square" lIns="0" tIns="0" rIns="0" bIns="0" rtlCol="0" anchor="t"/>
          <a:lstStyle/>
          <a:p>
            <a:pPr indent="0" marL="0">
              <a:buNone/>
            </a:pPr>
            <a:r>
              <a:rPr lang="en-US" sz="1150" dirty="0">
                <a:solidFill>
                  <a:srgbClr val="4A5058"/>
                </a:solidFill>
              </a:rPr>
              <a:t>Search all 1M trades a day, 2,017 matches</a:t>
            </a:r>
            <a:endParaRPr lang="en-US" sz="1150" dirty="0"/>
          </a:p>
        </p:txBody>
      </p:sp>
      <p:sp>
        <p:nvSpPr>
          <p:cNvPr id="14" name="Shape 10"/>
          <p:cNvSpPr/>
          <p:nvPr/>
        </p:nvSpPr>
        <p:spPr>
          <a:xfrm>
            <a:off x="9006840" y="2926080"/>
            <a:ext cx="2404872" cy="1143000"/>
          </a:xfrm>
          <a:prstGeom prst="rect">
            <a:avLst/>
          </a:prstGeom>
          <a:solidFill>
            <a:srgbClr val="F7F5F2"/>
          </a:solidFill>
          <a:ln/>
        </p:spPr>
        <p:txBody>
          <a:bodyPr/>
          <a:p/>
        </p:txBody>
      </p:sp>
      <p:sp>
        <p:nvSpPr>
          <p:cNvPr id="15" name="Shape 11"/>
          <p:cNvSpPr/>
          <p:nvPr/>
        </p:nvSpPr>
        <p:spPr>
          <a:xfrm>
            <a:off x="9006840" y="2926080"/>
            <a:ext cx="45720" cy="1143000"/>
          </a:xfrm>
          <a:prstGeom prst="rect">
            <a:avLst/>
          </a:prstGeom>
          <a:solidFill>
            <a:srgbClr val="A51C30"/>
          </a:solidFill>
          <a:ln/>
        </p:spPr>
        <p:txBody>
          <a:bodyPr/>
          <a:p/>
        </p:txBody>
      </p:sp>
      <p:sp>
        <p:nvSpPr>
          <p:cNvPr id="16" name="Text 12"/>
          <p:cNvSpPr txBox="1"/>
          <p:nvPr/>
        </p:nvSpPr>
        <p:spPr>
          <a:xfrm>
            <a:off x="9208008" y="3035808"/>
            <a:ext cx="2084832" cy="502920"/>
          </a:xfrm>
          <a:prstGeom prst="rect">
            <a:avLst/>
          </a:prstGeom>
          <a:noFill/>
          <a:ln/>
        </p:spPr>
        <p:txBody>
          <a:bodyPr wrap="square" lIns="0" tIns="0" rIns="0" bIns="0" rtlCol="0" anchor="ctr"/>
          <a:lstStyle/>
          <a:p>
            <a:pPr indent="0" marL="0">
              <a:buNone/>
            </a:pPr>
            <a:r>
              <a:rPr lang="en-US" sz="2600" b="1" dirty="0">
                <a:solidFill>
                  <a:srgbClr val="8A1626"/>
                </a:solidFill>
              </a:rPr>
              <a:t>29 ms</a:t>
            </a:r>
            <a:endParaRPr lang="en-US" sz="2600" dirty="0"/>
          </a:p>
        </p:txBody>
      </p:sp>
      <p:sp>
        <p:nvSpPr>
          <p:cNvPr id="17" name="Text 13"/>
          <p:cNvSpPr txBox="1"/>
          <p:nvPr/>
        </p:nvSpPr>
        <p:spPr>
          <a:xfrm>
            <a:off x="9208008" y="3529584"/>
            <a:ext cx="2084832" cy="466344"/>
          </a:xfrm>
          <a:prstGeom prst="rect">
            <a:avLst/>
          </a:prstGeom>
          <a:noFill/>
          <a:ln/>
        </p:spPr>
        <p:txBody>
          <a:bodyPr wrap="square" lIns="0" tIns="0" rIns="0" bIns="0" rtlCol="0" anchor="t"/>
          <a:lstStyle/>
          <a:p>
            <a:pPr indent="0" marL="0">
              <a:buNone/>
            </a:pPr>
            <a:r>
              <a:rPr lang="en-US" sz="1150" dirty="0">
                <a:solidFill>
                  <a:srgbClr val="4A5058"/>
                </a:solidFill>
              </a:rPr>
              <a:t>Type-ahead at 1M trades a day</a:t>
            </a:r>
            <a:endParaRPr lang="en-US" sz="1150" dirty="0"/>
          </a:p>
        </p:txBody>
      </p:sp>
      <p:sp>
        <p:nvSpPr>
          <p:cNvPr id="18" name="Text 14"/>
          <p:cNvSpPr txBox="1"/>
          <p:nvPr/>
        </p:nvSpPr>
        <p:spPr>
          <a:xfrm>
            <a:off x="6400800" y="4206240"/>
            <a:ext cx="5010912" cy="548640"/>
          </a:xfrm>
          <a:prstGeom prst="rect">
            <a:avLst/>
          </a:prstGeom>
          <a:noFill/>
          <a:ln/>
        </p:spPr>
        <p:txBody>
          <a:bodyPr wrap="square" lIns="0" tIns="0" rIns="0" bIns="0" rtlCol="0" anchor="ctr"/>
          <a:lstStyle/>
          <a:p>
            <a:pPr indent="0" marL="0">
              <a:buNone/>
            </a:pPr>
            <a:r>
              <a:rPr lang="en-US" sz="1100" i="1" dirty="0">
                <a:solidFill>
                  <a:srgbClr val="61666E"/>
                </a:solidFill>
              </a:rPr>
              <a:t>Measured on a 24-core workstation, 1,000,000 trades a day for three days (5.2 GB).</a:t>
            </a:r>
            <a:endParaRPr lang="en-US" sz="1100" dirty="0"/>
          </a:p>
        </p:txBody>
      </p:sp>
      <p:sp>
        <p:nvSpPr>
          <p:cNvPr id="19" name="Shape 15"/>
          <p:cNvSpPr/>
          <p:nvPr/>
        </p:nvSpPr>
        <p:spPr>
          <a:xfrm>
            <a:off x="777240" y="5550408"/>
            <a:ext cx="10634472" cy="694944"/>
          </a:xfrm>
          <a:prstGeom prst="rect">
            <a:avLst/>
          </a:prstGeom>
          <a:solidFill>
            <a:srgbClr val="F6E6E9"/>
          </a:solidFill>
          <a:ln/>
        </p:spPr>
        <p:txBody>
          <a:bodyPr/>
          <a:p/>
        </p:txBody>
      </p:sp>
      <p:sp>
        <p:nvSpPr>
          <p:cNvPr id="20" name="Shape 16"/>
          <p:cNvSpPr/>
          <p:nvPr/>
        </p:nvSpPr>
        <p:spPr>
          <a:xfrm>
            <a:off x="777240" y="5550408"/>
            <a:ext cx="54864" cy="694944"/>
          </a:xfrm>
          <a:prstGeom prst="rect">
            <a:avLst/>
          </a:prstGeom>
          <a:solidFill>
            <a:srgbClr val="A51C30"/>
          </a:solidFill>
          <a:ln/>
        </p:spPr>
        <p:txBody>
          <a:bodyPr/>
          <a:p/>
        </p:txBody>
      </p:sp>
      <p:sp>
        <p:nvSpPr>
          <p:cNvPr id="21" name="Text 17"/>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Search is a question in the terminal's own grammar — and its answer is a view you can pivot, compare and share.</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COLLABORATION</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Share what you see, discuss it, and prove what was said</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40664" y="1380744"/>
            <a:ext cx="5193792" cy="3273552"/>
          </a:xfrm>
          <a:prstGeom prst="rect">
            <a:avLst/>
          </a:prstGeom>
          <a:solidFill>
            <a:srgbClr val="FFFFFF"/>
          </a:solidFill>
          <a:ln w="12700">
            <a:solidFill>
              <a:srgbClr val="E3DED7"/>
            </a:solidFill>
            <a:prstDash val="solid"/>
          </a:ln>
          <a:effectLst>
            <a:outerShdw sx="100000" sy="100000" kx="0" ky="0" algn="bl" rotWithShape="0" blurRad="76200" dist="25400" dir="5400000">
              <a:srgbClr val="000000">
                <a:alpha val="18000"/>
              </a:srgbClr>
            </a:outerShdw>
          </a:effectLst>
        </p:spPr>
        <p:txBody>
          <a:bodyPr/>
          <a:p/>
        </p:txBody>
      </p:sp>
      <p:pic>
        <p:nvPicPr>
          <p:cNvPr id="7" name="Image 0" descr="/home/ashutosh/IdeaProjects/drishti/docs/guides/img/collab/01-share-dialog.jpg">    </p:cNvPr>
          <p:cNvPicPr>
            <a:picLocks noChangeAspect="1"/>
          </p:cNvPicPr>
          <p:nvPr/>
        </p:nvPicPr>
        <p:blipFill>
          <a:blip r:embed="rId1"/>
          <a:stretch>
            <a:fillRect/>
          </a:stretch>
        </p:blipFill>
        <p:spPr>
          <a:xfrm>
            <a:off x="777240" y="1417320"/>
            <a:ext cx="5120640" cy="3200400"/>
          </a:xfrm>
          <a:prstGeom prst="rect">
            <a:avLst/>
          </a:prstGeom>
        </p:spPr>
      </p:pic>
      <p:sp>
        <p:nvSpPr>
          <p:cNvPr id="8" name="Shape 4"/>
          <p:cNvSpPr/>
          <p:nvPr/>
        </p:nvSpPr>
        <p:spPr>
          <a:xfrm>
            <a:off x="6227064" y="1380744"/>
            <a:ext cx="5193792" cy="3273552"/>
          </a:xfrm>
          <a:prstGeom prst="rect">
            <a:avLst/>
          </a:prstGeom>
          <a:solidFill>
            <a:srgbClr val="FFFFFF"/>
          </a:solidFill>
          <a:ln w="12700">
            <a:solidFill>
              <a:srgbClr val="E3DED7"/>
            </a:solidFill>
            <a:prstDash val="solid"/>
          </a:ln>
          <a:effectLst>
            <a:outerShdw sx="100000" sy="100000" kx="0" ky="0" algn="bl" rotWithShape="0" blurRad="76200" dist="25400" dir="5400000">
              <a:srgbClr val="000000">
                <a:alpha val="18000"/>
              </a:srgbClr>
            </a:outerShdw>
          </a:effectLst>
        </p:spPr>
        <p:txBody>
          <a:bodyPr/>
          <a:p/>
        </p:txBody>
      </p:sp>
      <p:pic>
        <p:nvPicPr>
          <p:cNvPr id="9" name="Image 1" descr="/home/ashutosh/IdeaProjects/drishti/docs/guides/img/collab/07-discussion-author.jpg">    </p:cNvPr>
          <p:cNvPicPr>
            <a:picLocks noChangeAspect="1"/>
          </p:cNvPicPr>
          <p:nvPr/>
        </p:nvPicPr>
        <p:blipFill>
          <a:blip r:embed="rId2"/>
          <a:stretch>
            <a:fillRect/>
          </a:stretch>
        </p:blipFill>
        <p:spPr>
          <a:xfrm>
            <a:off x="6263640" y="1417320"/>
            <a:ext cx="5120640" cy="3200400"/>
          </a:xfrm>
          <a:prstGeom prst="rect">
            <a:avLst/>
          </a:prstGeom>
        </p:spPr>
      </p:pic>
      <p:sp>
        <p:nvSpPr>
          <p:cNvPr id="10" name="Text 5"/>
          <p:cNvSpPr txBox="1"/>
          <p:nvPr/>
        </p:nvSpPr>
        <p:spPr>
          <a:xfrm>
            <a:off x="777240" y="4709160"/>
            <a:ext cx="5120640" cy="274320"/>
          </a:xfrm>
          <a:prstGeom prst="rect">
            <a:avLst/>
          </a:prstGeom>
          <a:noFill/>
          <a:ln/>
        </p:spPr>
        <p:txBody>
          <a:bodyPr wrap="square" lIns="0" tIns="0" rIns="0" bIns="0" rtlCol="0" anchor="t"/>
          <a:lstStyle/>
          <a:p>
            <a:pPr indent="0" marL="0">
              <a:buNone/>
            </a:pPr>
            <a:r>
              <a:rPr lang="en-US" sz="1050" i="1" dirty="0">
                <a:solidFill>
                  <a:srgbClr val="61666E"/>
                </a:solidFill>
              </a:rPr>
              <a:t>Share with a note, to people or roles.</a:t>
            </a:r>
            <a:endParaRPr lang="en-US" sz="1050" dirty="0"/>
          </a:p>
        </p:txBody>
      </p:sp>
      <p:sp>
        <p:nvSpPr>
          <p:cNvPr id="11" name="Text 6"/>
          <p:cNvSpPr txBox="1"/>
          <p:nvPr/>
        </p:nvSpPr>
        <p:spPr>
          <a:xfrm>
            <a:off x="6263640" y="4709160"/>
            <a:ext cx="5120640" cy="274320"/>
          </a:xfrm>
          <a:prstGeom prst="rect">
            <a:avLst/>
          </a:prstGeom>
          <a:noFill/>
          <a:ln/>
        </p:spPr>
        <p:txBody>
          <a:bodyPr wrap="square" lIns="0" tIns="0" rIns="0" bIns="0" rtlCol="0" anchor="t"/>
          <a:lstStyle/>
          <a:p>
            <a:pPr indent="0" marL="0">
              <a:buNone/>
            </a:pPr>
            <a:r>
              <a:rPr lang="en-US" sz="1050" i="1" dirty="0">
                <a:solidFill>
                  <a:srgbClr val="61666E"/>
                </a:solidFill>
              </a:rPr>
              <a:t>A discussion thread with @mentions and quoted fields.</a:t>
            </a:r>
            <a:endParaRPr lang="en-US" sz="1050" dirty="0"/>
          </a:p>
        </p:txBody>
      </p:sp>
      <p:sp>
        <p:nvSpPr>
          <p:cNvPr id="12" name="Shape 7"/>
          <p:cNvSpPr/>
          <p:nvPr/>
        </p:nvSpPr>
        <p:spPr>
          <a:xfrm>
            <a:off x="777240" y="5257800"/>
            <a:ext cx="10634472" cy="694944"/>
          </a:xfrm>
          <a:prstGeom prst="rect">
            <a:avLst/>
          </a:prstGeom>
          <a:solidFill>
            <a:srgbClr val="F6E6E9"/>
          </a:solidFill>
          <a:ln/>
        </p:spPr>
        <p:txBody>
          <a:bodyPr/>
          <a:p/>
        </p:txBody>
      </p:sp>
      <p:sp>
        <p:nvSpPr>
          <p:cNvPr id="13" name="Shape 8"/>
          <p:cNvSpPr/>
          <p:nvPr/>
        </p:nvSpPr>
        <p:spPr>
          <a:xfrm>
            <a:off x="777240" y="5257800"/>
            <a:ext cx="54864" cy="694944"/>
          </a:xfrm>
          <a:prstGeom prst="rect">
            <a:avLst/>
          </a:prstGeom>
          <a:solidFill>
            <a:srgbClr val="A51C30"/>
          </a:solidFill>
          <a:ln/>
        </p:spPr>
        <p:txBody>
          <a:bodyPr/>
          <a:p/>
        </p:txBody>
      </p:sp>
      <p:sp>
        <p:nvSpPr>
          <p:cNvPr id="14" name="Text 9"/>
          <p:cNvSpPr txBox="1"/>
          <p:nvPr/>
        </p:nvSpPr>
        <p:spPr>
          <a:xfrm>
            <a:off x="1033272" y="5330952"/>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Every comment is hash-chained and sealable; retract and hide never delete — evidence, not just conversation.</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DATA LOADS</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Tell Drishti new data has landed — and it acts on it</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40664" y="1392174"/>
            <a:ext cx="5742432" cy="3616452"/>
          </a:xfrm>
          <a:prstGeom prst="rect">
            <a:avLst/>
          </a:prstGeom>
          <a:solidFill>
            <a:srgbClr val="FFFFFF"/>
          </a:solidFill>
          <a:ln w="12700">
            <a:solidFill>
              <a:srgbClr val="E3DED7"/>
            </a:solidFill>
            <a:prstDash val="solid"/>
          </a:ln>
          <a:effectLst>
            <a:outerShdw sx="100000" sy="100000" kx="0" ky="0" algn="bl" rotWithShape="0" blurRad="76200" dist="25400" dir="5400000">
              <a:srgbClr val="000000">
                <a:alpha val="18000"/>
              </a:srgbClr>
            </a:outerShdw>
          </a:effectLst>
        </p:spPr>
        <p:txBody>
          <a:bodyPr/>
          <a:p/>
        </p:txBody>
      </p:sp>
      <p:pic>
        <p:nvPicPr>
          <p:cNvPr id="7" name="Image 0" descr="/tmp/claude-1000/-home-ashutosh-IdeaProjects-drishti/efa68c11-fb98-4f9a-8faa-96a952090c0e/scratchpad/deck/shots/loads-crop.jpg">    </p:cNvPr>
          <p:cNvPicPr>
            <a:picLocks noChangeAspect="1"/>
          </p:cNvPicPr>
          <p:nvPr/>
        </p:nvPicPr>
        <p:blipFill>
          <a:blip r:embed="rId1"/>
          <a:stretch>
            <a:fillRect/>
          </a:stretch>
        </p:blipFill>
        <p:spPr>
          <a:xfrm>
            <a:off x="777240" y="1428750"/>
            <a:ext cx="5669280" cy="3543300"/>
          </a:xfrm>
          <a:prstGeom prst="rect">
            <a:avLst/>
          </a:prstGeom>
        </p:spPr>
      </p:pic>
      <p:sp>
        <p:nvSpPr>
          <p:cNvPr id="8" name="Shape 4"/>
          <p:cNvSpPr/>
          <p:nvPr/>
        </p:nvSpPr>
        <p:spPr>
          <a:xfrm>
            <a:off x="6720840" y="1417320"/>
            <a:ext cx="4690872" cy="1188720"/>
          </a:xfrm>
          <a:prstGeom prst="rect">
            <a:avLst/>
          </a:prstGeom>
          <a:solidFill>
            <a:srgbClr val="1E1E24"/>
          </a:solidFill>
          <a:ln/>
        </p:spPr>
        <p:txBody>
          <a:bodyPr/>
          <a:p/>
        </p:txBody>
      </p:sp>
      <p:sp>
        <p:nvSpPr>
          <p:cNvPr id="9" name="Text 5"/>
          <p:cNvSpPr txBox="1"/>
          <p:nvPr/>
        </p:nvSpPr>
        <p:spPr>
          <a:xfrm>
            <a:off x="6922008" y="1581912"/>
            <a:ext cx="4288536" cy="914400"/>
          </a:xfrm>
          <a:prstGeom prst="rect">
            <a:avLst/>
          </a:prstGeom>
          <a:noFill/>
          <a:ln/>
        </p:spPr>
        <p:txBody>
          <a:bodyPr wrap="square" lIns="0" tIns="0" rIns="0" bIns="0" rtlCol="0" anchor="t"/>
          <a:lstStyle/>
          <a:p>
            <a:pPr indent="0" marL="0">
              <a:lnSpc>
                <a:spcPct val="105000"/>
              </a:lnSpc>
              <a:buNone/>
            </a:pPr>
            <a:r>
              <a:rPr lang="en-US" sz="1150" dirty="0">
                <a:solidFill>
                  <a:srgbClr val="F1EEE9"/>
                </a:solidFill>
                <a:latin typeface="Courier New" pitchFamily="34" charset="0"/>
                <a:ea typeface="Courier New" pitchFamily="34" charset="-122"/>
                <a:cs typeface="Courier New" pitchFamily="34" charset="-120"/>
              </a:rPr>
              <a:t>drishti.py data landed --pack trading \</a:t>
            </a:r>
            <a:endParaRPr lang="en-US" sz="1150" dirty="0"/>
          </a:p>
          <a:p>
            <a:pPr indent="0" marL="0">
              <a:lnSpc>
                <a:spcPct val="105000"/>
              </a:lnSpc>
              <a:buNone/>
            </a:pPr>
            <a:r>
              <a:rPr lang="en-US" sz="1150" dirty="0">
                <a:solidFill>
                  <a:srgbClr val="F1EEE9"/>
                </a:solidFill>
                <a:latin typeface="Courier New" pitchFamily="34" charset="0"/>
                <a:ea typeface="Courier New" pitchFamily="34" charset="-122"/>
                <a:cs typeface="Courier New" pitchFamily="34" charset="-120"/>
              </a:rPr>
              <a:t>    --kind trade --date 2026-10-05 --rows 10000</a:t>
            </a:r>
            <a:endParaRPr lang="en-US" sz="1150" dirty="0"/>
          </a:p>
          <a:p>
            <a:pPr indent="0" marL="0">
              <a:lnSpc>
                <a:spcPct val="105000"/>
              </a:lnSpc>
              <a:buNone/>
            </a:pPr>
            <a:r>
              <a:rPr lang="en-US" sz="1150" dirty="0">
                <a:solidFill>
                  <a:srgbClr val="F1EEE9"/>
                </a:solidFill>
                <a:latin typeface="Courier New" pitchFamily="34" charset="0"/>
                <a:ea typeface="Courier New" pitchFamily="34" charset="-122"/>
                <a:cs typeface="Courier New" pitchFamily="34" charset="-120"/>
              </a:rPr>
              <a:t># or POST /api/v1/packs/trading/loads</a:t>
            </a:r>
            <a:endParaRPr lang="en-US" sz="1150" dirty="0"/>
          </a:p>
        </p:txBody>
      </p:sp>
      <p:sp>
        <p:nvSpPr>
          <p:cNvPr id="10" name="Text 6"/>
          <p:cNvSpPr txBox="1"/>
          <p:nvPr/>
        </p:nvSpPr>
        <p:spPr>
          <a:xfrm>
            <a:off x="6720840" y="2788920"/>
            <a:ext cx="4690872" cy="2651760"/>
          </a:xfrm>
          <a:prstGeom prst="rect">
            <a:avLst/>
          </a:prstGeom>
          <a:noFill/>
          <a:ln/>
        </p:spPr>
        <p:txBody>
          <a:bodyPr wrap="square" lIns="0" tIns="0" rIns="0" bIns="0" rtlCol="0" anchor="t"/>
          <a:lstStyle/>
          <a:p>
            <a:pPr indent="0" marL="0">
              <a:buNone/>
            </a:pPr>
            <a:r>
              <a:rPr lang="en-US" sz="1400" b="1" dirty="0">
                <a:solidFill>
                  <a:srgbClr val="A51C30"/>
                </a:solidFill>
              </a:rPr>
              <a:t>▪  Refresh, verify, alert, notify</a:t>
            </a:r>
            <a:endParaRPr lang="en-US" sz="1400" dirty="0"/>
          </a:p>
          <a:p>
            <a:pPr indent="0" marL="0">
              <a:spcAft>
                <a:spcPts val="700"/>
              </a:spcAft>
              <a:buNone/>
            </a:pPr>
            <a:r>
              <a:rPr lang="en-US" sz="1250" dirty="0">
                <a:solidFill>
                  <a:srgbClr val="4A5058"/>
                </a:solidFill>
              </a:rPr>
              <a:t>Caches refreshed, the date checked, alert rules run on it, bell, inbox and email.</a:t>
            </a:r>
            <a:endParaRPr lang="en-US" sz="1400" dirty="0"/>
          </a:p>
          <a:p>
            <a:pPr indent="0" marL="0">
              <a:buNone/>
            </a:pPr>
            <a:r>
              <a:rPr lang="en-US" sz="1400" b="1" dirty="0">
                <a:solidFill>
                  <a:srgbClr val="A51C30"/>
                </a:solidFill>
              </a:rPr>
              <a:t>▪  Late is a fact, said once</a:t>
            </a:r>
            <a:endParaRPr lang="en-US" sz="1400" dirty="0"/>
          </a:p>
          <a:p>
            <a:pPr indent="0" marL="0">
              <a:spcAft>
                <a:spcPts val="700"/>
              </a:spcAft>
              <a:buNone/>
            </a:pPr>
            <a:r>
              <a:rPr lang="en-US" sz="1250" dirty="0">
                <a:solidFill>
                  <a:srgbClr val="4A5058"/>
                </a:solidFill>
              </a:rPr>
              <a:t>Per-kind expectations with time zone and calendar; Health shows 'data late'.</a:t>
            </a:r>
            <a:endParaRPr lang="en-US" sz="1400" dirty="0"/>
          </a:p>
          <a:p>
            <a:pPr indent="0" marL="0">
              <a:buNone/>
            </a:pPr>
            <a:r>
              <a:rPr lang="en-US" sz="1400" b="1" dirty="0">
                <a:solidFill>
                  <a:srgbClr val="A51C30"/>
                </a:solidFill>
              </a:rPr>
              <a:t>▪  Safe to repeat</a:t>
            </a:r>
            <a:endParaRPr lang="en-US" sz="1400" dirty="0"/>
          </a:p>
          <a:p>
            <a:pPr indent="0" marL="0">
              <a:spcAft>
                <a:spcPts val="700"/>
              </a:spcAft>
              <a:buNone/>
            </a:pPr>
            <a:r>
              <a:rPr lang="en-US" sz="1250" dirty="0">
                <a:solidFill>
                  <a:srgbClr val="4A5058"/>
                </a:solidFill>
              </a:rPr>
              <a:t>Idempotent per pack, kind, date and batch; token scope loads:write.</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PACKS · FROM A FOLDER TO PRODUCTION</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From a folder of JSON Lines to a deployed pack</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417320"/>
            <a:ext cx="4937760" cy="2331720"/>
          </a:xfrm>
          <a:prstGeom prst="rect">
            <a:avLst/>
          </a:prstGeom>
          <a:solidFill>
            <a:srgbClr val="1E1E24"/>
          </a:solidFill>
          <a:ln/>
        </p:spPr>
        <p:txBody>
          <a:bodyPr/>
          <a:p/>
        </p:txBody>
      </p:sp>
      <p:sp>
        <p:nvSpPr>
          <p:cNvPr id="7" name="Shape 4"/>
          <p:cNvSpPr/>
          <p:nvPr/>
        </p:nvSpPr>
        <p:spPr>
          <a:xfrm>
            <a:off x="777240" y="1417320"/>
            <a:ext cx="4937760" cy="384048"/>
          </a:xfrm>
          <a:prstGeom prst="rect">
            <a:avLst/>
          </a:prstGeom>
          <a:solidFill>
            <a:srgbClr val="8A1626"/>
          </a:solidFill>
          <a:ln/>
        </p:spPr>
        <p:txBody>
          <a:bodyPr/>
          <a:p/>
        </p:txBody>
      </p:sp>
      <p:sp>
        <p:nvSpPr>
          <p:cNvPr id="8" name="Text 5"/>
          <p:cNvSpPr txBox="1"/>
          <p:nvPr/>
        </p:nvSpPr>
        <p:spPr>
          <a:xfrm>
            <a:off x="960120" y="1417320"/>
            <a:ext cx="4572000" cy="384048"/>
          </a:xfrm>
          <a:prstGeom prst="rect">
            <a:avLst/>
          </a:prstGeom>
          <a:noFill/>
          <a:ln/>
        </p:spPr>
        <p:txBody>
          <a:bodyPr wrap="square" lIns="0" tIns="0" rIns="0" bIns="0" rtlCol="0" anchor="ctr"/>
          <a:lstStyle/>
          <a:p>
            <a:pPr indent="0" marL="0">
              <a:buNone/>
            </a:pPr>
            <a:r>
              <a:rPr lang="en-US" sz="1300" b="1" dirty="0">
                <a:solidFill>
                  <a:srgbClr val="FFFFFF"/>
                </a:solidFill>
              </a:rPr>
              <a:t>One command</a:t>
            </a:r>
            <a:endParaRPr lang="en-US" sz="1300" dirty="0"/>
          </a:p>
        </p:txBody>
      </p:sp>
      <p:sp>
        <p:nvSpPr>
          <p:cNvPr id="9" name="Text 6"/>
          <p:cNvSpPr txBox="1"/>
          <p:nvPr/>
        </p:nvSpPr>
        <p:spPr>
          <a:xfrm>
            <a:off x="978408" y="1920240"/>
            <a:ext cx="4535424" cy="1719072"/>
          </a:xfrm>
          <a:prstGeom prst="rect">
            <a:avLst/>
          </a:prstGeom>
          <a:noFill/>
          <a:ln/>
        </p:spPr>
        <p:txBody>
          <a:bodyPr wrap="square" lIns="0" tIns="0" rIns="0" bIns="0" rtlCol="0" anchor="t"/>
          <a:lstStyle/>
          <a:p>
            <a:pPr indent="0" marL="0">
              <a:lnSpc>
                <a:spcPct val="105000"/>
              </a:lnSpc>
              <a:buNone/>
            </a:pPr>
            <a:r>
              <a:rPr lang="en-US" sz="1150" dirty="0">
                <a:solidFill>
                  <a:srgbClr val="F1EEE9"/>
                </a:solidFill>
                <a:latin typeface="Courier New" pitchFamily="34" charset="0"/>
                <a:ea typeface="Courier New" pitchFamily="34" charset="-122"/>
                <a:cs typeface="Courier New" pitchFamily="34" charset="-120"/>
              </a:rPr>
              <a:t>drishti.py pack make ./trades --pack desk \</a:t>
            </a:r>
            <a:endParaRPr lang="en-US" sz="1150" dirty="0"/>
          </a:p>
          <a:p>
            <a:pPr indent="0" marL="0">
              <a:lnSpc>
                <a:spcPct val="105000"/>
              </a:lnSpc>
              <a:buNone/>
            </a:pPr>
            <a:r>
              <a:rPr lang="en-US" sz="1150" dirty="0">
                <a:solidFill>
                  <a:srgbClr val="F1EEE9"/>
                </a:solidFill>
                <a:latin typeface="Courier New" pitchFamily="34" charset="0"/>
                <a:ea typeface="Courier New" pitchFamily="34" charset="-122"/>
                <a:cs typeface="Courier New" pitchFamily="34" charset="-120"/>
              </a:rPr>
              <a:t>    --kind trade --key TRADE_ID \</a:t>
            </a:r>
            <a:endParaRPr lang="en-US" sz="1150" dirty="0"/>
          </a:p>
          <a:p>
            <a:pPr indent="0" marL="0">
              <a:lnSpc>
                <a:spcPct val="105000"/>
              </a:lnSpc>
              <a:buNone/>
            </a:pPr>
            <a:r>
              <a:rPr lang="en-US" sz="1150" dirty="0">
                <a:solidFill>
                  <a:srgbClr val="F1EEE9"/>
                </a:solidFill>
                <a:latin typeface="Courier New" pitchFamily="34" charset="0"/>
                <a:ea typeface="Courier New" pitchFamily="34" charset="-122"/>
                <a:cs typeface="Courier New" pitchFamily="34" charset="-120"/>
              </a:rPr>
              <a:t>    --match PRODUCT_TYPE --date TRADE_DATE</a:t>
            </a:r>
            <a:endParaRPr lang="en-US" sz="1150" dirty="0"/>
          </a:p>
          <a:p>
            <a:pPr indent="0" marL="0">
              <a:lnSpc>
                <a:spcPct val="105000"/>
              </a:lnSpc>
              <a:buNone/>
            </a:pPr>
            <a:r>
              <a:rPr lang="en-US" sz="1150" dirty="0">
                <a:solidFill>
                  <a:srgbClr val="F1EEE9"/>
                </a:solidFill>
                <a:latin typeface="Courier New" pitchFamily="34" charset="0"/>
                <a:ea typeface="Courier New" pitchFamily="34" charset="-122"/>
                <a:cs typeface="Courier New" pitchFamily="34" charset="-120"/>
              </a:rPr>
              <a:t># → desk/ pack, sutras per product type,</a:t>
            </a:r>
            <a:endParaRPr lang="en-US" sz="1150" dirty="0"/>
          </a:p>
          <a:p>
            <a:pPr indent="0" marL="0">
              <a:lnSpc>
                <a:spcPct val="105000"/>
              </a:lnSpc>
              <a:buNone/>
            </a:pPr>
            <a:r>
              <a:rPr lang="en-US" sz="1150" dirty="0">
                <a:solidFill>
                  <a:srgbClr val="F1EEE9"/>
                </a:solidFill>
                <a:latin typeface="Courier New" pitchFamily="34" charset="0"/>
                <a:ea typeface="Courier New" pitchFamily="34" charset="-122"/>
                <a:cs typeface="Courier New" pitchFamily="34" charset="-120"/>
              </a:rPr>
              <a:t>#   Delta lake by date, desk.tar.gz + sha256,</a:t>
            </a:r>
            <a:endParaRPr lang="en-US" sz="1150" dirty="0"/>
          </a:p>
          <a:p>
            <a:pPr indent="0" marL="0">
              <a:lnSpc>
                <a:spcPct val="105000"/>
              </a:lnSpc>
              <a:buNone/>
            </a:pPr>
            <a:r>
              <a:rPr lang="en-US" sz="1150" dirty="0">
                <a:solidFill>
                  <a:srgbClr val="F1EEE9"/>
                </a:solidFill>
                <a:latin typeface="Courier New" pitchFamily="34" charset="0"/>
                <a:ea typeface="Courier New" pitchFamily="34" charset="-122"/>
                <a:cs typeface="Courier New" pitchFamily="34" charset="-120"/>
              </a:rPr>
              <a:t>#   README.txt, run scripts</a:t>
            </a:r>
            <a:endParaRPr lang="en-US" sz="1150" dirty="0"/>
          </a:p>
        </p:txBody>
      </p:sp>
      <p:sp>
        <p:nvSpPr>
          <p:cNvPr id="10" name="Shape 7"/>
          <p:cNvSpPr/>
          <p:nvPr/>
        </p:nvSpPr>
        <p:spPr>
          <a:xfrm>
            <a:off x="5952744" y="1383723"/>
            <a:ext cx="5495544" cy="2901833"/>
          </a:xfrm>
          <a:prstGeom prst="rect">
            <a:avLst/>
          </a:prstGeom>
          <a:solidFill>
            <a:srgbClr val="FFFFFF"/>
          </a:solidFill>
          <a:ln w="12700">
            <a:solidFill>
              <a:srgbClr val="E3DED7"/>
            </a:solidFill>
            <a:prstDash val="solid"/>
          </a:ln>
          <a:effectLst>
            <a:outerShdw sx="100000" sy="100000" kx="0" ky="0" algn="bl" rotWithShape="0" blurRad="76200" dist="25400" dir="5400000">
              <a:srgbClr val="000000">
                <a:alpha val="18000"/>
              </a:srgbClr>
            </a:outerShdw>
          </a:effectLst>
        </p:spPr>
        <p:txBody>
          <a:bodyPr/>
          <a:p/>
        </p:txBody>
      </p:sp>
      <p:pic>
        <p:nvPicPr>
          <p:cNvPr id="11" name="Image 0" descr="/home/ashutosh/IdeaProjects/drishti/docs/guides/img/deploy/02-deploy-preview.jpg">    </p:cNvPr>
          <p:cNvPicPr>
            <a:picLocks noChangeAspect="1"/>
          </p:cNvPicPr>
          <p:nvPr/>
        </p:nvPicPr>
        <p:blipFill>
          <a:blip r:embed="rId1"/>
          <a:stretch>
            <a:fillRect/>
          </a:stretch>
        </p:blipFill>
        <p:spPr>
          <a:xfrm>
            <a:off x="5989320" y="1420299"/>
            <a:ext cx="5422392" cy="2828681"/>
          </a:xfrm>
          <a:prstGeom prst="rect">
            <a:avLst/>
          </a:prstGeom>
        </p:spPr>
      </p:pic>
      <p:sp>
        <p:nvSpPr>
          <p:cNvPr id="12" name="Text 8"/>
          <p:cNvSpPr txBox="1"/>
          <p:nvPr/>
        </p:nvSpPr>
        <p:spPr>
          <a:xfrm>
            <a:off x="777240" y="3931920"/>
            <a:ext cx="4937760" cy="1554480"/>
          </a:xfrm>
          <a:prstGeom prst="rect">
            <a:avLst/>
          </a:prstGeom>
          <a:noFill/>
          <a:ln/>
        </p:spPr>
        <p:txBody>
          <a:bodyPr wrap="square" lIns="0" tIns="0" rIns="0" bIns="0" rtlCol="0" anchor="t"/>
          <a:lstStyle/>
          <a:p>
            <a:pPr indent="0" marL="0">
              <a:buNone/>
            </a:pPr>
            <a:r>
              <a:rPr lang="en-US" sz="1400" b="1" dirty="0">
                <a:solidFill>
                  <a:srgbClr val="A51C30"/>
                </a:solidFill>
              </a:rPr>
              <a:t>▪  Checked before it lands</a:t>
            </a:r>
            <a:endParaRPr lang="en-US" sz="1400" dirty="0"/>
          </a:p>
          <a:p>
            <a:pPr indent="0" marL="0">
              <a:spcAft>
                <a:spcPts val="600"/>
              </a:spcAft>
              <a:buNone/>
            </a:pPr>
            <a:r>
              <a:rPr lang="en-US" sz="1250" dirty="0">
                <a:solidFill>
                  <a:srgbClr val="4A5058"/>
                </a:solidFill>
              </a:rPr>
              <a:t>Checksums, paths, server version, Sutra tests and an optional Ed25519 signature.</a:t>
            </a:r>
            <a:endParaRPr lang="en-US" sz="1400" dirty="0"/>
          </a:p>
          <a:p>
            <a:pPr indent="0" marL="0">
              <a:buNone/>
            </a:pPr>
            <a:r>
              <a:rPr lang="en-US" sz="1400" b="1" dirty="0">
                <a:solidFill>
                  <a:srgbClr val="A51C30"/>
                </a:solidFill>
              </a:rPr>
              <a:t>▪  Never stuck</a:t>
            </a:r>
            <a:endParaRPr lang="en-US" sz="1400" dirty="0"/>
          </a:p>
          <a:p>
            <a:pPr indent="0" marL="0">
              <a:spcAft>
                <a:spcPts val="600"/>
              </a:spcAft>
              <a:buNone/>
            </a:pPr>
            <a:r>
              <a:rPr lang="en-US" sz="1250" dirty="0">
                <a:solidFill>
                  <a:srgbClr val="4A5058"/>
                </a:solidFill>
              </a:rPr>
              <a:t>The previous version is kept; a failed deploy rolls back; history has Roll back.</a:t>
            </a:r>
            <a:endParaRPr lang="en-US" sz="1400" dirty="0"/>
          </a:p>
        </p:txBody>
      </p:sp>
      <p:sp>
        <p:nvSpPr>
          <p:cNvPr id="13" name="Shape 9"/>
          <p:cNvSpPr/>
          <p:nvPr/>
        </p:nvSpPr>
        <p:spPr>
          <a:xfrm>
            <a:off x="777240" y="5550408"/>
            <a:ext cx="10634472" cy="694944"/>
          </a:xfrm>
          <a:prstGeom prst="rect">
            <a:avLst/>
          </a:prstGeom>
          <a:solidFill>
            <a:srgbClr val="F6E6E9"/>
          </a:solidFill>
          <a:ln/>
        </p:spPr>
        <p:txBody>
          <a:bodyPr/>
          <a:p/>
        </p:txBody>
      </p:sp>
      <p:sp>
        <p:nvSpPr>
          <p:cNvPr id="14" name="Shape 10"/>
          <p:cNvSpPr/>
          <p:nvPr/>
        </p:nvSpPr>
        <p:spPr>
          <a:xfrm>
            <a:off x="777240" y="5550408"/>
            <a:ext cx="54864" cy="694944"/>
          </a:xfrm>
          <a:prstGeom prst="rect">
            <a:avLst/>
          </a:prstGeom>
          <a:solidFill>
            <a:srgbClr val="A51C30"/>
          </a:solidFill>
          <a:ln/>
        </p:spPr>
        <p:txBody>
          <a:bodyPr/>
          <a:p/>
        </p:txBody>
      </p:sp>
      <p:sp>
        <p:nvSpPr>
          <p:cNvPr id="15" name="Text 11"/>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Archives carry the pack, never the data — where data lives stays an admin's decision.</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THE CLI · TOOLS/DRISHTI.PY</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Every build step from the command line</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1508760"/>
          <a:ext cx="10634472" cy="3657600"/>
        </p:xfrm>
        <a:graphic>
          <a:graphicData uri="http://schemas.openxmlformats.org/drawingml/2006/table">
            <a:tbl>
              <a:tblPr/>
              <a:tblGrid>
                <a:gridCol w="2331720"/>
                <a:gridCol w="4206240"/>
                <a:gridCol w="4096512"/>
              </a:tblGrid>
              <a:tr h="457200">
                <a:tc>
                  <a:txBody>
                    <a:bodyPr/>
                    <a:lstStyle/>
                    <a:p>
                      <a:pPr indent="0" marL="0">
                        <a:buNone/>
                      </a:pPr>
                      <a:r>
                        <a:rPr lang="en-US" sz="1400" b="1" dirty="0">
                          <a:solidFill>
                            <a:srgbClr val="FFFFFF"/>
                          </a:solidFill>
                        </a:rPr>
                        <a:t>Group</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c>
                  <a:txBody>
                    <a:bodyPr/>
                    <a:lstStyle/>
                    <a:p>
                      <a:pPr indent="0" marL="0">
                        <a:buNone/>
                      </a:pPr>
                      <a:r>
                        <a:rPr lang="en-US" sz="1400" b="1" dirty="0">
                          <a:solidFill>
                            <a:srgbClr val="FFFFFF"/>
                          </a:solidFill>
                        </a:rPr>
                        <a:t>What it does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c>
                  <a:txBody>
                    <a:bodyPr/>
                    <a:lstStyle/>
                    <a:p>
                      <a:pPr indent="0" marL="0">
                        <a:buNone/>
                      </a:pPr>
                      <a:r>
                        <a:rPr lang="en-US" sz="1400" b="1" dirty="0">
                          <a:solidFill>
                            <a:srgbClr val="FFFFFF"/>
                          </a:solidFill>
                        </a:rPr>
                        <a:t>Examples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r>
              <a:tr h="457200">
                <a:tc>
                  <a:txBody>
                    <a:bodyPr/>
                    <a:lstStyle/>
                    <a:p>
                      <a:pPr indent="0" marL="0">
                        <a:buNone/>
                      </a:pPr>
                      <a:r>
                        <a:rPr lang="en-US" sz="1400" b="1" dirty="0">
                          <a:solidFill>
                            <a:srgbClr val="8A1626"/>
                          </a:solidFill>
                        </a:rPr>
                        <a:t>sutra · pack</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Lint, test, preview Sutras; make, sign, deploy packs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sutra test, pack make, deploy, rollback</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457200">
                <a:tc>
                  <a:txBody>
                    <a:bodyPr/>
                    <a:lstStyle/>
                    <a:p>
                      <a:pPr indent="0" marL="0">
                        <a:buNone/>
                      </a:pPr>
                      <a:r>
                        <a:rPr lang="en-US" sz="1400" b="1" dirty="0">
                          <a:solidFill>
                            <a:srgbClr val="8A1626"/>
                          </a:solidFill>
                        </a:rPr>
                        <a:t>data · lake · convert</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Ingest JSONL, build lakes, turn CSV into JSONL</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landed, lake demo --names, convert</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8A1626"/>
                          </a:solidFill>
                        </a:rPr>
                        <a:t>server · connector · net</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Packs and commands on or off, connectors, members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packs off, commands off, net members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457200">
                <a:tc>
                  <a:txBody>
                    <a:bodyPr/>
                    <a:lstStyle/>
                    <a:p>
                      <a:pPr indent="0" marL="0">
                        <a:buNone/>
                      </a:pPr>
                      <a:r>
                        <a:rPr lang="en-US" sz="1400" b="1" dirty="0">
                          <a:solidFill>
                            <a:srgbClr val="8A1626"/>
                          </a:solidFill>
                        </a:rPr>
                        <a:t>bi · design · view</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Models, SQL, runs, statements; designs; a view</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bi sql --format jsonl, bi runs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8A1626"/>
                          </a:solidFill>
                        </a:rPr>
                        <a:t>history · contract</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An entity over days; every command's contract</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history TRD 1000015 30, contract check</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457200">
                <a:tc>
                  <a:txBody>
                    <a:bodyPr/>
                    <a:lstStyle/>
                    <a:p>
                      <a:pPr indent="0" marL="0">
                        <a:buNone/>
                      </a:pPr>
                      <a:r>
                        <a:rPr lang="en-US" sz="1400" b="1" dirty="0">
                          <a:solidFill>
                            <a:srgbClr val="8A1626"/>
                          </a:solidFill>
                        </a:rPr>
                        <a:t>var · exposure · compute</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The risk engines as you see them; reactive kinds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var show … --ccy EUR, exposure profile</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8A1626"/>
                          </a:solidFill>
                        </a:rPr>
                        <a:t>change · edits · doctor</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Write-back changes, Admin → Edits, a setup check</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change submit, edits status, doctor</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bl>
          </a:graphicData>
        </a:graphic>
      </p:graphicFrame>
      <p:sp>
        <p:nvSpPr>
          <p:cNvPr id="7" name="Shape 3"/>
          <p:cNvSpPr/>
          <p:nvPr/>
        </p:nvSpPr>
        <p:spPr>
          <a:xfrm>
            <a:off x="777240" y="5550408"/>
            <a:ext cx="10634472" cy="694944"/>
          </a:xfrm>
          <a:prstGeom prst="rect">
            <a:avLst/>
          </a:prstGeom>
          <a:solidFill>
            <a:srgbClr val="F6E6E9"/>
          </a:solidFill>
          <a:ln/>
        </p:spPr>
        <p:txBody>
          <a:bodyPr/>
          <a:p/>
        </p:txBody>
      </p:sp>
      <p:sp>
        <p:nvSpPr>
          <p:cNvPr id="8" name="Shape 4"/>
          <p:cNvSpPr/>
          <p:nvPr/>
        </p:nvSpPr>
        <p:spPr>
          <a:xfrm>
            <a:off x="777240" y="5550408"/>
            <a:ext cx="54864" cy="694944"/>
          </a:xfrm>
          <a:prstGeom prst="rect">
            <a:avLst/>
          </a:prstGeom>
          <a:solidFill>
            <a:srgbClr val="A51C30"/>
          </a:solidFill>
          <a:ln/>
        </p:spPr>
        <p:txBody>
          <a:bodyPr/>
          <a:p/>
        </p:txBody>
      </p:sp>
      <p:sp>
        <p:nvSpPr>
          <p:cNvPr id="9" name="Text 5"/>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Anything the console can build, a script can build — and a pipeline can check it.</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DRISHTI ELEMENTS · NO IFRAME</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The same live view, inside other web applications</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417320"/>
            <a:ext cx="5486400" cy="1691640"/>
          </a:xfrm>
          <a:prstGeom prst="rect">
            <a:avLst/>
          </a:prstGeom>
          <a:solidFill>
            <a:srgbClr val="1E1E24"/>
          </a:solidFill>
          <a:ln/>
        </p:spPr>
        <p:txBody>
          <a:bodyPr/>
          <a:p/>
        </p:txBody>
      </p:sp>
      <p:sp>
        <p:nvSpPr>
          <p:cNvPr id="7" name="Text 4"/>
          <p:cNvSpPr txBox="1"/>
          <p:nvPr/>
        </p:nvSpPr>
        <p:spPr>
          <a:xfrm>
            <a:off x="978408" y="1581912"/>
            <a:ext cx="5084064" cy="1417320"/>
          </a:xfrm>
          <a:prstGeom prst="rect">
            <a:avLst/>
          </a:prstGeom>
          <a:noFill/>
          <a:ln/>
        </p:spPr>
        <p:txBody>
          <a:bodyPr wrap="square" lIns="0" tIns="0" rIns="0" bIns="0" rtlCol="0" anchor="t"/>
          <a:lstStyle/>
          <a:p>
            <a:pPr indent="0" marL="0">
              <a:lnSpc>
                <a:spcPct val="105000"/>
              </a:lnSpc>
              <a:buNone/>
            </a:pPr>
            <a:r>
              <a:rPr lang="en-US" sz="1150" dirty="0">
                <a:solidFill>
                  <a:srgbClr val="F1EEE9"/>
                </a:solidFill>
                <a:latin typeface="Courier New" pitchFamily="34" charset="0"/>
                <a:ea typeface="Courier New" pitchFamily="34" charset="-122"/>
                <a:cs typeface="Courier New" pitchFamily="34" charset="-120"/>
              </a:rPr>
              <a:t>&lt;script type="module" src=</a:t>
            </a:r>
            <a:endParaRPr lang="en-US" sz="1150" dirty="0"/>
          </a:p>
          <a:p>
            <a:pPr indent="0" marL="0">
              <a:lnSpc>
                <a:spcPct val="105000"/>
              </a:lnSpc>
              <a:buNone/>
            </a:pPr>
            <a:r>
              <a:rPr lang="en-US" sz="1150" dirty="0">
                <a:solidFill>
                  <a:srgbClr val="F1EEE9"/>
                </a:solidFill>
                <a:latin typeface="Courier New" pitchFamily="34" charset="0"/>
                <a:ea typeface="Courier New" pitchFamily="34" charset="-122"/>
                <a:cs typeface="Courier New" pitchFamily="34" charset="-120"/>
              </a:rPr>
              <a:t>  "/embed/v1/elements/1.4.2/drishti-elements.js"&gt;</a:t>
            </a:r>
            <a:endParaRPr lang="en-US" sz="1150" dirty="0"/>
          </a:p>
          <a:p>
            <a:pPr indent="0" marL="0">
              <a:lnSpc>
                <a:spcPct val="105000"/>
              </a:lnSpc>
              <a:buNone/>
            </a:pPr>
            <a:r>
              <a:rPr lang="en-US" sz="1150" dirty="0">
                <a:solidFill>
                  <a:srgbClr val="F1EEE9"/>
                </a:solidFill>
                <a:latin typeface="Courier New" pitchFamily="34" charset="0"/>
                <a:ea typeface="Courier New" pitchFamily="34" charset="-122"/>
                <a:cs typeface="Courier New" pitchFamily="34" charset="-120"/>
              </a:rPr>
              <a:t>&lt;/script&gt;</a:t>
            </a:r>
            <a:endParaRPr lang="en-US" sz="1150" dirty="0"/>
          </a:p>
          <a:p>
            <a:pPr indent="0" marL="0">
              <a:lnSpc>
                <a:spcPct val="105000"/>
              </a:lnSpc>
              <a:buNone/>
            </a:pPr>
            <a:endParaRPr lang="en-US" sz="1150" dirty="0"/>
          </a:p>
          <a:p>
            <a:pPr indent="0" marL="0">
              <a:lnSpc>
                <a:spcPct val="105000"/>
              </a:lnSpc>
              <a:buNone/>
            </a:pPr>
            <a:r>
              <a:rPr lang="en-US" sz="1150" dirty="0">
                <a:solidFill>
                  <a:srgbClr val="F1EEE9"/>
                </a:solidFill>
                <a:latin typeface="Courier New" pitchFamily="34" charset="0"/>
                <a:ea typeface="Courier New" pitchFamily="34" charset="-122"/>
                <a:cs typeface="Courier New" pitchFamily="34" charset="-120"/>
              </a:rPr>
              <a:t>&lt;drishti-view server="https://drishti.example"</a:t>
            </a:r>
            <a:endParaRPr lang="en-US" sz="1150" dirty="0"/>
          </a:p>
          <a:p>
            <a:pPr indent="0" marL="0">
              <a:lnSpc>
                <a:spcPct val="105000"/>
              </a:lnSpc>
              <a:buNone/>
            </a:pPr>
            <a:r>
              <a:rPr lang="en-US" sz="1150" dirty="0">
                <a:solidFill>
                  <a:srgbClr val="F1EEE9"/>
                </a:solidFill>
                <a:latin typeface="Courier New" pitchFamily="34" charset="0"/>
                <a:ea typeface="Courier New" pitchFamily="34" charset="-122"/>
                <a:cs typeface="Courier New" pitchFamily="34" charset="-120"/>
              </a:rPr>
              <a:t>  kind="trade" entity="MX-20000001"&gt;&lt;/drishti-view&gt;</a:t>
            </a:r>
            <a:endParaRPr lang="en-US" sz="1150" dirty="0"/>
          </a:p>
        </p:txBody>
      </p:sp>
      <p:sp>
        <p:nvSpPr>
          <p:cNvPr id="8" name="Shape 5"/>
          <p:cNvSpPr/>
          <p:nvPr/>
        </p:nvSpPr>
        <p:spPr>
          <a:xfrm>
            <a:off x="6455664" y="1483519"/>
            <a:ext cx="4992624" cy="1559243"/>
          </a:xfrm>
          <a:prstGeom prst="rect">
            <a:avLst/>
          </a:prstGeom>
          <a:solidFill>
            <a:srgbClr val="FFFFFF"/>
          </a:solidFill>
          <a:ln w="12700">
            <a:solidFill>
              <a:srgbClr val="E3DED7"/>
            </a:solidFill>
            <a:prstDash val="solid"/>
          </a:ln>
          <a:effectLst>
            <a:outerShdw sx="100000" sy="100000" kx="0" ky="0" algn="bl" rotWithShape="0" blurRad="76200" dist="25400" dir="5400000">
              <a:srgbClr val="000000">
                <a:alpha val="18000"/>
              </a:srgbClr>
            </a:outerShdw>
          </a:effectLst>
        </p:spPr>
        <p:txBody>
          <a:bodyPr/>
          <a:p/>
        </p:txBody>
      </p:sp>
      <p:pic>
        <p:nvPicPr>
          <p:cNvPr id="9" name="Image 0" descr="/tmp/claude-1000/-home-ashutosh-IdeaProjects-drishti/efa68c11-fb98-4f9a-8faa-96a952090c0e/scratchpad/deck/shots/embed-crop.png">    </p:cNvPr>
          <p:cNvPicPr>
            <a:picLocks noChangeAspect="1"/>
          </p:cNvPicPr>
          <p:nvPr/>
        </p:nvPicPr>
        <p:blipFill>
          <a:blip r:embed="rId1"/>
          <a:stretch>
            <a:fillRect/>
          </a:stretch>
        </p:blipFill>
        <p:spPr>
          <a:xfrm>
            <a:off x="6492240" y="1520095"/>
            <a:ext cx="4919472" cy="1486091"/>
          </a:xfrm>
          <a:prstGeom prst="rect">
            <a:avLst/>
          </a:prstGeom>
        </p:spPr>
      </p:pic>
      <p:sp>
        <p:nvSpPr>
          <p:cNvPr id="10" name="Text 6"/>
          <p:cNvSpPr txBox="1"/>
          <p:nvPr/>
        </p:nvSpPr>
        <p:spPr>
          <a:xfrm>
            <a:off x="6492240" y="3172968"/>
            <a:ext cx="4919472" cy="274320"/>
          </a:xfrm>
          <a:prstGeom prst="rect">
            <a:avLst/>
          </a:prstGeom>
          <a:noFill/>
          <a:ln/>
        </p:spPr>
        <p:txBody>
          <a:bodyPr wrap="square" lIns="0" tIns="0" rIns="0" bIns="0" rtlCol="0" anchor="t"/>
          <a:lstStyle/>
          <a:p>
            <a:pPr indent="0" marL="0">
              <a:buNone/>
            </a:pPr>
            <a:r>
              <a:rPr lang="en-US" sz="1050" i="1" dirty="0">
                <a:solidFill>
                  <a:srgbClr val="61666E"/>
                </a:solidFill>
              </a:rPr>
              <a:t>Admin → Embedding: host apps, origins, scopes and usage.</a:t>
            </a:r>
            <a:endParaRPr lang="en-US" sz="1050" dirty="0"/>
          </a:p>
        </p:txBody>
      </p:sp>
      <p:sp>
        <p:nvSpPr>
          <p:cNvPr id="11" name="Shape 7"/>
          <p:cNvSpPr/>
          <p:nvPr/>
        </p:nvSpPr>
        <p:spPr>
          <a:xfrm>
            <a:off x="777240" y="3611880"/>
            <a:ext cx="2507742" cy="1691640"/>
          </a:xfrm>
          <a:prstGeom prst="rect">
            <a:avLst/>
          </a:prstGeom>
          <a:solidFill>
            <a:srgbClr val="F7F5F2"/>
          </a:solidFill>
          <a:ln/>
        </p:spPr>
        <p:txBody>
          <a:bodyPr/>
          <a:p/>
        </p:txBody>
      </p:sp>
      <p:sp>
        <p:nvSpPr>
          <p:cNvPr id="12" name="Shape 8"/>
          <p:cNvSpPr/>
          <p:nvPr/>
        </p:nvSpPr>
        <p:spPr>
          <a:xfrm>
            <a:off x="777240" y="3611880"/>
            <a:ext cx="45720" cy="1691640"/>
          </a:xfrm>
          <a:prstGeom prst="rect">
            <a:avLst/>
          </a:prstGeom>
          <a:solidFill>
            <a:srgbClr val="A51C30"/>
          </a:solidFill>
          <a:ln/>
        </p:spPr>
        <p:txBody>
          <a:bodyPr/>
          <a:p/>
        </p:txBody>
      </p:sp>
      <p:sp>
        <p:nvSpPr>
          <p:cNvPr id="13" name="Text 9"/>
          <p:cNvSpPr txBox="1"/>
          <p:nvPr/>
        </p:nvSpPr>
        <p:spPr>
          <a:xfrm>
            <a:off x="978408" y="372160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HTML</a:t>
            </a:r>
            <a:endParaRPr lang="en-US" sz="2600" dirty="0"/>
          </a:p>
        </p:txBody>
      </p:sp>
      <p:sp>
        <p:nvSpPr>
          <p:cNvPr id="14" name="Text 10"/>
          <p:cNvSpPr txBox="1"/>
          <p:nvPr/>
        </p:nvSpPr>
        <p:spPr>
          <a:xfrm>
            <a:off x="978408" y="4215384"/>
            <a:ext cx="2187702" cy="1014984"/>
          </a:xfrm>
          <a:prstGeom prst="rect">
            <a:avLst/>
          </a:prstGeom>
          <a:noFill/>
          <a:ln/>
        </p:spPr>
        <p:txBody>
          <a:bodyPr wrap="square" lIns="0" tIns="0" rIns="0" bIns="0" rtlCol="0" anchor="t"/>
          <a:lstStyle/>
          <a:p>
            <a:pPr indent="0" marL="0">
              <a:buNone/>
            </a:pPr>
            <a:r>
              <a:rPr lang="en-US" sz="1300" dirty="0">
                <a:solidFill>
                  <a:srgbClr val="4A5058"/>
                </a:solidFill>
              </a:rPr>
              <a:t>Over the wire: the console's own templates, sanitised, in a Shadow DOM</a:t>
            </a:r>
            <a:endParaRPr lang="en-US" sz="1300" dirty="0"/>
          </a:p>
        </p:txBody>
      </p:sp>
      <p:sp>
        <p:nvSpPr>
          <p:cNvPr id="15" name="Shape 11"/>
          <p:cNvSpPr/>
          <p:nvPr/>
        </p:nvSpPr>
        <p:spPr>
          <a:xfrm>
            <a:off x="3486150" y="3611880"/>
            <a:ext cx="2507742" cy="1691640"/>
          </a:xfrm>
          <a:prstGeom prst="rect">
            <a:avLst/>
          </a:prstGeom>
          <a:solidFill>
            <a:srgbClr val="F7F5F2"/>
          </a:solidFill>
          <a:ln/>
        </p:spPr>
        <p:txBody>
          <a:bodyPr/>
          <a:p/>
        </p:txBody>
      </p:sp>
      <p:sp>
        <p:nvSpPr>
          <p:cNvPr id="16" name="Shape 12"/>
          <p:cNvSpPr/>
          <p:nvPr/>
        </p:nvSpPr>
        <p:spPr>
          <a:xfrm>
            <a:off x="3486150" y="3611880"/>
            <a:ext cx="45720" cy="1691640"/>
          </a:xfrm>
          <a:prstGeom prst="rect">
            <a:avLst/>
          </a:prstGeom>
          <a:solidFill>
            <a:srgbClr val="A51C30"/>
          </a:solidFill>
          <a:ln/>
        </p:spPr>
        <p:txBody>
          <a:bodyPr/>
          <a:p/>
        </p:txBody>
      </p:sp>
      <p:sp>
        <p:nvSpPr>
          <p:cNvPr id="17" name="Text 13"/>
          <p:cNvSpPr txBox="1"/>
          <p:nvPr/>
        </p:nvSpPr>
        <p:spPr>
          <a:xfrm>
            <a:off x="3687318" y="372160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1 stream</a:t>
            </a:r>
            <a:endParaRPr lang="en-US" sz="2600" dirty="0"/>
          </a:p>
        </p:txBody>
      </p:sp>
      <p:sp>
        <p:nvSpPr>
          <p:cNvPr id="18" name="Text 14"/>
          <p:cNvSpPr txBox="1"/>
          <p:nvPr/>
        </p:nvSpPr>
        <p:spPr>
          <a:xfrm>
            <a:off x="3687318" y="4215384"/>
            <a:ext cx="2187702" cy="1014984"/>
          </a:xfrm>
          <a:prstGeom prst="rect">
            <a:avLst/>
          </a:prstGeom>
          <a:noFill/>
          <a:ln/>
        </p:spPr>
        <p:txBody>
          <a:bodyPr wrap="square" lIns="0" tIns="0" rIns="0" bIns="0" rtlCol="0" anchor="t"/>
          <a:lstStyle/>
          <a:p>
            <a:pPr indent="0" marL="0">
              <a:buNone/>
            </a:pPr>
            <a:r>
              <a:rPr lang="en-US" sz="1300" dirty="0">
                <a:solidFill>
                  <a:srgbClr val="4A5058"/>
                </a:solidFill>
              </a:rPr>
              <a:t>Shared by every element on the host page</a:t>
            </a:r>
            <a:endParaRPr lang="en-US" sz="1300" dirty="0"/>
          </a:p>
        </p:txBody>
      </p:sp>
      <p:sp>
        <p:nvSpPr>
          <p:cNvPr id="19" name="Shape 15"/>
          <p:cNvSpPr/>
          <p:nvPr/>
        </p:nvSpPr>
        <p:spPr>
          <a:xfrm>
            <a:off x="6195060" y="3611880"/>
            <a:ext cx="2507742" cy="1691640"/>
          </a:xfrm>
          <a:prstGeom prst="rect">
            <a:avLst/>
          </a:prstGeom>
          <a:solidFill>
            <a:srgbClr val="F7F5F2"/>
          </a:solidFill>
          <a:ln/>
        </p:spPr>
        <p:txBody>
          <a:bodyPr/>
          <a:p/>
        </p:txBody>
      </p:sp>
      <p:sp>
        <p:nvSpPr>
          <p:cNvPr id="20" name="Shape 16"/>
          <p:cNvSpPr/>
          <p:nvPr/>
        </p:nvSpPr>
        <p:spPr>
          <a:xfrm>
            <a:off x="6195060" y="3611880"/>
            <a:ext cx="45720" cy="1691640"/>
          </a:xfrm>
          <a:prstGeom prst="rect">
            <a:avLst/>
          </a:prstGeom>
          <a:solidFill>
            <a:srgbClr val="A51C30"/>
          </a:solidFill>
          <a:ln/>
        </p:spPr>
        <p:txBody>
          <a:bodyPr/>
          <a:p/>
        </p:txBody>
      </p:sp>
      <p:sp>
        <p:nvSpPr>
          <p:cNvPr id="21" name="Text 17"/>
          <p:cNvSpPr txBox="1"/>
          <p:nvPr/>
        </p:nvSpPr>
        <p:spPr>
          <a:xfrm>
            <a:off x="6396228" y="372160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@container</a:t>
            </a:r>
            <a:endParaRPr lang="en-US" sz="2600" dirty="0"/>
          </a:p>
        </p:txBody>
      </p:sp>
      <p:sp>
        <p:nvSpPr>
          <p:cNvPr id="22" name="Text 18"/>
          <p:cNvSpPr txBox="1"/>
          <p:nvPr/>
        </p:nvSpPr>
        <p:spPr>
          <a:xfrm>
            <a:off x="6396228" y="4215384"/>
            <a:ext cx="2187702" cy="1014984"/>
          </a:xfrm>
          <a:prstGeom prst="rect">
            <a:avLst/>
          </a:prstGeom>
          <a:noFill/>
          <a:ln/>
        </p:spPr>
        <p:txBody>
          <a:bodyPr wrap="square" lIns="0" tIns="0" rIns="0" bIns="0" rtlCol="0" anchor="t"/>
          <a:lstStyle/>
          <a:p>
            <a:pPr indent="0" marL="0">
              <a:buNone/>
            </a:pPr>
            <a:r>
              <a:rPr lang="en-US" sz="1300" dirty="0">
                <a:solidFill>
                  <a:srgbClr val="4A5058"/>
                </a:solidFill>
              </a:rPr>
              <a:t>Responsive to its own box: a sidebar gets the narrow layout</a:t>
            </a:r>
            <a:endParaRPr lang="en-US" sz="1300" dirty="0"/>
          </a:p>
        </p:txBody>
      </p:sp>
      <p:sp>
        <p:nvSpPr>
          <p:cNvPr id="23" name="Shape 19"/>
          <p:cNvSpPr/>
          <p:nvPr/>
        </p:nvSpPr>
        <p:spPr>
          <a:xfrm>
            <a:off x="8903970" y="3611880"/>
            <a:ext cx="2507742" cy="1691640"/>
          </a:xfrm>
          <a:prstGeom prst="rect">
            <a:avLst/>
          </a:prstGeom>
          <a:solidFill>
            <a:srgbClr val="F7F5F2"/>
          </a:solidFill>
          <a:ln/>
        </p:spPr>
        <p:txBody>
          <a:bodyPr/>
          <a:p/>
        </p:txBody>
      </p:sp>
      <p:sp>
        <p:nvSpPr>
          <p:cNvPr id="24" name="Shape 20"/>
          <p:cNvSpPr/>
          <p:nvPr/>
        </p:nvSpPr>
        <p:spPr>
          <a:xfrm>
            <a:off x="8903970" y="3611880"/>
            <a:ext cx="45720" cy="1691640"/>
          </a:xfrm>
          <a:prstGeom prst="rect">
            <a:avLst/>
          </a:prstGeom>
          <a:solidFill>
            <a:srgbClr val="A51C30"/>
          </a:solidFill>
          <a:ln/>
        </p:spPr>
        <p:txBody>
          <a:bodyPr/>
          <a:p/>
        </p:txBody>
      </p:sp>
      <p:sp>
        <p:nvSpPr>
          <p:cNvPr id="25" name="Text 21"/>
          <p:cNvSpPr txBox="1"/>
          <p:nvPr/>
        </p:nvSpPr>
        <p:spPr>
          <a:xfrm>
            <a:off x="9105138" y="372160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Masked</a:t>
            </a:r>
            <a:endParaRPr lang="en-US" sz="2600" dirty="0"/>
          </a:p>
        </p:txBody>
      </p:sp>
      <p:sp>
        <p:nvSpPr>
          <p:cNvPr id="26" name="Text 22"/>
          <p:cNvSpPr txBox="1"/>
          <p:nvPr/>
        </p:nvSpPr>
        <p:spPr>
          <a:xfrm>
            <a:off x="9105138" y="4215384"/>
            <a:ext cx="2187702" cy="1014984"/>
          </a:xfrm>
          <a:prstGeom prst="rect">
            <a:avLst/>
          </a:prstGeom>
          <a:noFill/>
          <a:ln/>
        </p:spPr>
        <p:txBody>
          <a:bodyPr wrap="square" lIns="0" tIns="0" rIns="0" bIns="0" rtlCol="0" anchor="t"/>
          <a:lstStyle/>
          <a:p>
            <a:pPr indent="0" marL="0">
              <a:buNone/>
            </a:pPr>
            <a:r>
              <a:rPr lang="en-US" sz="1300" dirty="0">
                <a:solidFill>
                  <a:srgbClr val="4A5058"/>
                </a:solidFill>
              </a:rPr>
              <a:t>Always, whatever the user's roles; every call audited</a:t>
            </a:r>
            <a:endParaRPr lang="en-US" sz="1300" dirty="0"/>
          </a:p>
        </p:txBody>
      </p:sp>
      <p:sp>
        <p:nvSpPr>
          <p:cNvPr id="27" name="Shape 23"/>
          <p:cNvSpPr/>
          <p:nvPr/>
        </p:nvSpPr>
        <p:spPr>
          <a:xfrm>
            <a:off x="777240" y="5550408"/>
            <a:ext cx="10634472" cy="694944"/>
          </a:xfrm>
          <a:prstGeom prst="rect">
            <a:avLst/>
          </a:prstGeom>
          <a:solidFill>
            <a:srgbClr val="F6E6E9"/>
          </a:solidFill>
          <a:ln/>
        </p:spPr>
        <p:txBody>
          <a:bodyPr/>
          <a:p/>
        </p:txBody>
      </p:sp>
      <p:sp>
        <p:nvSpPr>
          <p:cNvPr id="28" name="Shape 24"/>
          <p:cNvSpPr/>
          <p:nvPr/>
        </p:nvSpPr>
        <p:spPr>
          <a:xfrm>
            <a:off x="777240" y="5550408"/>
            <a:ext cx="54864" cy="694944"/>
          </a:xfrm>
          <a:prstGeom prst="rect">
            <a:avLst/>
          </a:prstGeom>
          <a:solidFill>
            <a:srgbClr val="A51C30"/>
          </a:solidFill>
          <a:ln/>
        </p:spPr>
        <p:txBody>
          <a:bodyPr/>
          <a:p/>
        </p:txBody>
      </p:sp>
      <p:sp>
        <p:nvSpPr>
          <p:cNvPr id="29" name="Text 25"/>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Other teams get the view, not a copy of it — still live, still masked, still audited.</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DRISHTI*NET · 2.5, GOSSIP AND HTTP/2 IN 2.6.7</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Several servers, one Drishti</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600200"/>
            <a:ext cx="1874520" cy="146304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7" name="Text 4"/>
          <p:cNvSpPr txBox="1"/>
          <p:nvPr/>
        </p:nvSpPr>
        <p:spPr>
          <a:xfrm>
            <a:off x="914400" y="1709928"/>
            <a:ext cx="1600200" cy="329184"/>
          </a:xfrm>
          <a:prstGeom prst="rect">
            <a:avLst/>
          </a:prstGeom>
          <a:noFill/>
          <a:ln/>
        </p:spPr>
        <p:txBody>
          <a:bodyPr wrap="square" lIns="0" tIns="0" rIns="0" bIns="0" rtlCol="0" anchor="t"/>
          <a:lstStyle/>
          <a:p>
            <a:pPr indent="0" marL="0">
              <a:buNone/>
            </a:pPr>
            <a:r>
              <a:rPr lang="en-US" sz="1600" b="1" dirty="0">
                <a:solidFill>
                  <a:srgbClr val="1A1A1A"/>
                </a:solidFill>
              </a:rPr>
              <a:t>Console</a:t>
            </a:r>
            <a:endParaRPr lang="en-US" sz="1600" dirty="0"/>
          </a:p>
        </p:txBody>
      </p:sp>
      <p:sp>
        <p:nvSpPr>
          <p:cNvPr id="8" name="Text 5"/>
          <p:cNvSpPr txBox="1"/>
          <p:nvPr/>
        </p:nvSpPr>
        <p:spPr>
          <a:xfrm>
            <a:off x="914400" y="2057400"/>
            <a:ext cx="1600200" cy="941832"/>
          </a:xfrm>
          <a:prstGeom prst="rect">
            <a:avLst/>
          </a:prstGeom>
          <a:noFill/>
          <a:ln/>
        </p:spPr>
        <p:txBody>
          <a:bodyPr wrap="square" lIns="0" tIns="0" rIns="0" bIns="0" rtlCol="0" anchor="t"/>
          <a:lstStyle/>
          <a:p>
            <a:pPr indent="0" marL="0">
              <a:buNone/>
            </a:pPr>
            <a:r>
              <a:rPr lang="en-US" sz="1300" dirty="0">
                <a:solidFill>
                  <a:srgbClr val="4A5058"/>
                </a:solidFill>
              </a:rPr>
              <a:t>Given one server; learns the rest; fails over</a:t>
            </a:r>
            <a:endParaRPr lang="en-US" sz="1300" dirty="0"/>
          </a:p>
        </p:txBody>
      </p:sp>
      <p:sp>
        <p:nvSpPr>
          <p:cNvPr id="9" name="Shape 6"/>
          <p:cNvSpPr/>
          <p:nvPr/>
        </p:nvSpPr>
        <p:spPr>
          <a:xfrm>
            <a:off x="2953512" y="1600200"/>
            <a:ext cx="1874520" cy="146304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10" name="Text 7"/>
          <p:cNvSpPr txBox="1"/>
          <p:nvPr/>
        </p:nvSpPr>
        <p:spPr>
          <a:xfrm>
            <a:off x="3090672" y="1709928"/>
            <a:ext cx="1600200" cy="329184"/>
          </a:xfrm>
          <a:prstGeom prst="rect">
            <a:avLst/>
          </a:prstGeom>
          <a:noFill/>
          <a:ln/>
        </p:spPr>
        <p:txBody>
          <a:bodyPr wrap="square" lIns="0" tIns="0" rIns="0" bIns="0" rtlCol="0" anchor="t"/>
          <a:lstStyle/>
          <a:p>
            <a:pPr indent="0" marL="0">
              <a:buNone/>
            </a:pPr>
            <a:r>
              <a:rPr lang="en-US" sz="1600" b="1" dirty="0">
                <a:solidFill>
                  <a:srgbClr val="1A1A1A"/>
                </a:solidFill>
              </a:rPr>
              <a:t>Any node</a:t>
            </a:r>
            <a:endParaRPr lang="en-US" sz="1600" dirty="0"/>
          </a:p>
        </p:txBody>
      </p:sp>
      <p:sp>
        <p:nvSpPr>
          <p:cNvPr id="11" name="Text 8"/>
          <p:cNvSpPr txBox="1"/>
          <p:nvPr/>
        </p:nvSpPr>
        <p:spPr>
          <a:xfrm>
            <a:off x="3090672" y="2057400"/>
            <a:ext cx="1600200" cy="941832"/>
          </a:xfrm>
          <a:prstGeom prst="rect">
            <a:avLst/>
          </a:prstGeom>
          <a:noFill/>
          <a:ln/>
        </p:spPr>
        <p:txBody>
          <a:bodyPr wrap="square" lIns="0" tIns="0" rIns="0" bIns="0" rtlCol="0" anchor="t"/>
          <a:lstStyle/>
          <a:p>
            <a:pPr indent="0" marL="0">
              <a:buNone/>
            </a:pPr>
            <a:r>
              <a:rPr lang="en-US" sz="1300" dirty="0">
                <a:solidFill>
                  <a:srgbClr val="4A5058"/>
                </a:solidFill>
              </a:rPr>
              <a:t>Signed calls; your roles checked</a:t>
            </a:r>
            <a:endParaRPr lang="en-US" sz="1300" dirty="0"/>
          </a:p>
        </p:txBody>
      </p:sp>
      <p:sp>
        <p:nvSpPr>
          <p:cNvPr id="12" name="Shape 9"/>
          <p:cNvSpPr/>
          <p:nvPr/>
        </p:nvSpPr>
        <p:spPr>
          <a:xfrm>
            <a:off x="2651760" y="2331720"/>
            <a:ext cx="301752" cy="914"/>
          </a:xfrm>
          <a:prstGeom prst="line">
            <a:avLst/>
          </a:prstGeom>
          <a:noFill/>
          <a:ln w="22225">
            <a:solidFill>
              <a:srgbClr val="A51C30"/>
            </a:solidFill>
            <a:prstDash val="solid"/>
            <a:tailEnd type="triangle"/>
          </a:ln>
        </p:spPr>
        <p:txBody>
          <a:bodyPr/>
          <a:p/>
        </p:txBody>
      </p:sp>
      <p:sp>
        <p:nvSpPr>
          <p:cNvPr id="13" name="Shape 10"/>
          <p:cNvSpPr/>
          <p:nvPr/>
        </p:nvSpPr>
        <p:spPr>
          <a:xfrm>
            <a:off x="5129784" y="1600200"/>
            <a:ext cx="1874520" cy="146304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14" name="Text 11"/>
          <p:cNvSpPr txBox="1"/>
          <p:nvPr/>
        </p:nvSpPr>
        <p:spPr>
          <a:xfrm>
            <a:off x="5266944" y="1709928"/>
            <a:ext cx="1600200" cy="329184"/>
          </a:xfrm>
          <a:prstGeom prst="rect">
            <a:avLst/>
          </a:prstGeom>
          <a:noFill/>
          <a:ln/>
        </p:spPr>
        <p:txBody>
          <a:bodyPr wrap="square" lIns="0" tIns="0" rIns="0" bIns="0" rtlCol="0" anchor="t"/>
          <a:lstStyle/>
          <a:p>
            <a:pPr indent="0" marL="0">
              <a:buNone/>
            </a:pPr>
            <a:r>
              <a:rPr lang="en-US" sz="1600" b="1" dirty="0">
                <a:solidFill>
                  <a:srgbClr val="1A1A1A"/>
                </a:solidFill>
              </a:rPr>
              <a:t>Capability table</a:t>
            </a:r>
            <a:endParaRPr lang="en-US" sz="1600" dirty="0"/>
          </a:p>
        </p:txBody>
      </p:sp>
      <p:sp>
        <p:nvSpPr>
          <p:cNvPr id="15" name="Text 12"/>
          <p:cNvSpPr txBox="1"/>
          <p:nvPr/>
        </p:nvSpPr>
        <p:spPr>
          <a:xfrm>
            <a:off x="5266944" y="2057400"/>
            <a:ext cx="1600200" cy="941832"/>
          </a:xfrm>
          <a:prstGeom prst="rect">
            <a:avLst/>
          </a:prstGeom>
          <a:noFill/>
          <a:ln/>
        </p:spPr>
        <p:txBody>
          <a:bodyPr wrap="square" lIns="0" tIns="0" rIns="0" bIns="0" rtlCol="0" anchor="t"/>
          <a:lstStyle/>
          <a:p>
            <a:pPr indent="0" marL="0">
              <a:buNone/>
            </a:pPr>
            <a:r>
              <a:rPr lang="en-US" sz="1300" dirty="0">
                <a:solidFill>
                  <a:srgbClr val="4A5058"/>
                </a:solidFill>
              </a:rPr>
              <a:t>Who renders each kind, who holds its data</a:t>
            </a:r>
            <a:endParaRPr lang="en-US" sz="1300" dirty="0"/>
          </a:p>
        </p:txBody>
      </p:sp>
      <p:sp>
        <p:nvSpPr>
          <p:cNvPr id="16" name="Shape 13"/>
          <p:cNvSpPr/>
          <p:nvPr/>
        </p:nvSpPr>
        <p:spPr>
          <a:xfrm>
            <a:off x="4828032" y="2331720"/>
            <a:ext cx="301752" cy="914"/>
          </a:xfrm>
          <a:prstGeom prst="line">
            <a:avLst/>
          </a:prstGeom>
          <a:noFill/>
          <a:ln w="22225">
            <a:solidFill>
              <a:srgbClr val="A51C30"/>
            </a:solidFill>
            <a:prstDash val="solid"/>
            <a:tailEnd type="triangle"/>
          </a:ln>
        </p:spPr>
        <p:txBody>
          <a:bodyPr/>
          <a:p/>
        </p:txBody>
      </p:sp>
      <p:sp>
        <p:nvSpPr>
          <p:cNvPr id="17" name="Shape 14"/>
          <p:cNvSpPr/>
          <p:nvPr/>
        </p:nvSpPr>
        <p:spPr>
          <a:xfrm>
            <a:off x="7306056" y="1600200"/>
            <a:ext cx="1874520" cy="146304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18" name="Text 15"/>
          <p:cNvSpPr txBox="1"/>
          <p:nvPr/>
        </p:nvSpPr>
        <p:spPr>
          <a:xfrm>
            <a:off x="7443216" y="1709928"/>
            <a:ext cx="1600200" cy="329184"/>
          </a:xfrm>
          <a:prstGeom prst="rect">
            <a:avLst/>
          </a:prstGeom>
          <a:noFill/>
          <a:ln/>
        </p:spPr>
        <p:txBody>
          <a:bodyPr wrap="square" lIns="0" tIns="0" rIns="0" bIns="0" rtlCol="0" anchor="t"/>
          <a:lstStyle/>
          <a:p>
            <a:pPr indent="0" marL="0">
              <a:buNone/>
            </a:pPr>
            <a:r>
              <a:rPr lang="en-US" sz="1600" b="1" dirty="0">
                <a:solidFill>
                  <a:srgbClr val="1A1A1A"/>
                </a:solidFill>
              </a:rPr>
              <a:t>Forward or fetch</a:t>
            </a:r>
            <a:endParaRPr lang="en-US" sz="1600" dirty="0"/>
          </a:p>
        </p:txBody>
      </p:sp>
      <p:sp>
        <p:nvSpPr>
          <p:cNvPr id="19" name="Text 16"/>
          <p:cNvSpPr txBox="1"/>
          <p:nvPr/>
        </p:nvSpPr>
        <p:spPr>
          <a:xfrm>
            <a:off x="7443216" y="2057400"/>
            <a:ext cx="1600200" cy="941832"/>
          </a:xfrm>
          <a:prstGeom prst="rect">
            <a:avLst/>
          </a:prstGeom>
          <a:noFill/>
          <a:ln/>
        </p:spPr>
        <p:txBody>
          <a:bodyPr wrap="square" lIns="0" tIns="0" rIns="0" bIns="0" rtlCol="0" anchor="t"/>
          <a:lstStyle/>
          <a:p>
            <a:pPr indent="0" marL="0">
              <a:buNone/>
            </a:pPr>
            <a:r>
              <a:rPr lang="en-US" sz="1300" dirty="0">
                <a:solidFill>
                  <a:srgbClr val="4A5058"/>
                </a:solidFill>
              </a:rPr>
              <a:t>Newest pack served; masked on both nodes</a:t>
            </a:r>
            <a:endParaRPr lang="en-US" sz="1300" dirty="0"/>
          </a:p>
        </p:txBody>
      </p:sp>
      <p:sp>
        <p:nvSpPr>
          <p:cNvPr id="20" name="Shape 17"/>
          <p:cNvSpPr/>
          <p:nvPr/>
        </p:nvSpPr>
        <p:spPr>
          <a:xfrm>
            <a:off x="7004304" y="2331720"/>
            <a:ext cx="301752" cy="914"/>
          </a:xfrm>
          <a:prstGeom prst="line">
            <a:avLst/>
          </a:prstGeom>
          <a:noFill/>
          <a:ln w="22225">
            <a:solidFill>
              <a:srgbClr val="A51C30"/>
            </a:solidFill>
            <a:prstDash val="solid"/>
            <a:tailEnd type="triangle"/>
          </a:ln>
        </p:spPr>
        <p:txBody>
          <a:bodyPr/>
          <a:p/>
        </p:txBody>
      </p:sp>
      <p:sp>
        <p:nvSpPr>
          <p:cNvPr id="21" name="Shape 18"/>
          <p:cNvSpPr/>
          <p:nvPr/>
        </p:nvSpPr>
        <p:spPr>
          <a:xfrm>
            <a:off x="9482328" y="1600200"/>
            <a:ext cx="1874520" cy="146304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22" name="Text 19"/>
          <p:cNvSpPr txBox="1"/>
          <p:nvPr/>
        </p:nvSpPr>
        <p:spPr>
          <a:xfrm>
            <a:off x="9619488" y="1709928"/>
            <a:ext cx="1600200" cy="329184"/>
          </a:xfrm>
          <a:prstGeom prst="rect">
            <a:avLst/>
          </a:prstGeom>
          <a:noFill/>
          <a:ln/>
        </p:spPr>
        <p:txBody>
          <a:bodyPr wrap="square" lIns="0" tIns="0" rIns="0" bIns="0" rtlCol="0" anchor="t"/>
          <a:lstStyle/>
          <a:p>
            <a:pPr indent="0" marL="0">
              <a:buNone/>
            </a:pPr>
            <a:r>
              <a:rPr lang="en-US" sz="1600" b="1" dirty="0">
                <a:solidFill>
                  <a:srgbClr val="1A1A1A"/>
                </a:solidFill>
              </a:rPr>
              <a:t>Scatter-gather</a:t>
            </a:r>
            <a:endParaRPr lang="en-US" sz="1600" dirty="0"/>
          </a:p>
        </p:txBody>
      </p:sp>
      <p:sp>
        <p:nvSpPr>
          <p:cNvPr id="23" name="Text 20"/>
          <p:cNvSpPr txBox="1"/>
          <p:nvPr/>
        </p:nvSpPr>
        <p:spPr>
          <a:xfrm>
            <a:off x="9619488" y="2057400"/>
            <a:ext cx="1600200" cy="941832"/>
          </a:xfrm>
          <a:prstGeom prst="rect">
            <a:avLst/>
          </a:prstGeom>
          <a:noFill/>
          <a:ln/>
        </p:spPr>
        <p:txBody>
          <a:bodyPr wrap="square" lIns="0" tIns="0" rIns="0" bIns="0" rtlCol="0" anchor="t"/>
          <a:lstStyle/>
          <a:p>
            <a:pPr indent="0" marL="0">
              <a:buNone/>
            </a:pPr>
            <a:r>
              <a:rPr lang="en-US" sz="1300" dirty="0">
                <a:solidFill>
                  <a:srgbClr val="4A5058"/>
                </a:solidFill>
              </a:rPr>
              <a:t>A search asks every shard, once</a:t>
            </a:r>
            <a:endParaRPr lang="en-US" sz="1300" dirty="0"/>
          </a:p>
        </p:txBody>
      </p:sp>
      <p:sp>
        <p:nvSpPr>
          <p:cNvPr id="24" name="Shape 21"/>
          <p:cNvSpPr/>
          <p:nvPr/>
        </p:nvSpPr>
        <p:spPr>
          <a:xfrm>
            <a:off x="9180576" y="2331720"/>
            <a:ext cx="301752" cy="914"/>
          </a:xfrm>
          <a:prstGeom prst="line">
            <a:avLst/>
          </a:prstGeom>
          <a:noFill/>
          <a:ln w="22225">
            <a:solidFill>
              <a:srgbClr val="A51C30"/>
            </a:solidFill>
            <a:prstDash val="solid"/>
            <a:tailEnd type="triangle"/>
          </a:ln>
        </p:spPr>
        <p:txBody>
          <a:bodyPr/>
          <a:p/>
        </p:txBody>
      </p:sp>
      <p:sp>
        <p:nvSpPr>
          <p:cNvPr id="25" name="Shape 22"/>
          <p:cNvSpPr/>
          <p:nvPr/>
        </p:nvSpPr>
        <p:spPr>
          <a:xfrm>
            <a:off x="777240" y="3337560"/>
            <a:ext cx="2560320" cy="960120"/>
          </a:xfrm>
          <a:prstGeom prst="rect">
            <a:avLst/>
          </a:prstGeom>
          <a:solidFill>
            <a:srgbClr val="F7F5F2"/>
          </a:solidFill>
          <a:ln/>
        </p:spPr>
        <p:txBody>
          <a:bodyPr/>
          <a:p/>
        </p:txBody>
      </p:sp>
      <p:sp>
        <p:nvSpPr>
          <p:cNvPr id="26" name="Shape 23"/>
          <p:cNvSpPr/>
          <p:nvPr/>
        </p:nvSpPr>
        <p:spPr>
          <a:xfrm>
            <a:off x="777240" y="3337560"/>
            <a:ext cx="45720" cy="960120"/>
          </a:xfrm>
          <a:prstGeom prst="rect">
            <a:avLst/>
          </a:prstGeom>
          <a:solidFill>
            <a:srgbClr val="A51C30"/>
          </a:solidFill>
          <a:ln/>
        </p:spPr>
        <p:txBody>
          <a:bodyPr/>
          <a:p/>
        </p:txBody>
      </p:sp>
      <p:sp>
        <p:nvSpPr>
          <p:cNvPr id="27" name="Text 24"/>
          <p:cNvSpPr txBox="1"/>
          <p:nvPr/>
        </p:nvSpPr>
        <p:spPr>
          <a:xfrm>
            <a:off x="978408" y="3410712"/>
            <a:ext cx="2240279" cy="384048"/>
          </a:xfrm>
          <a:prstGeom prst="rect">
            <a:avLst/>
          </a:prstGeom>
          <a:noFill/>
          <a:ln/>
        </p:spPr>
        <p:txBody>
          <a:bodyPr wrap="square" lIns="0" tIns="0" rIns="0" bIns="0" rtlCol="0" anchor="ctr"/>
          <a:lstStyle/>
          <a:p>
            <a:pPr indent="0" marL="0">
              <a:buNone/>
            </a:pPr>
            <a:r>
              <a:rPr lang="en-US" sz="2600" b="1" dirty="0">
                <a:solidFill>
                  <a:srgbClr val="8A1626"/>
                </a:solidFill>
              </a:rPr>
              <a:t>52 ms</a:t>
            </a:r>
            <a:endParaRPr lang="en-US" sz="2600" dirty="0"/>
          </a:p>
        </p:txBody>
      </p:sp>
      <p:sp>
        <p:nvSpPr>
          <p:cNvPr id="28" name="Text 25"/>
          <p:cNvSpPr txBox="1"/>
          <p:nvPr/>
        </p:nvSpPr>
        <p:spPr>
          <a:xfrm>
            <a:off x="978408" y="3813048"/>
            <a:ext cx="2240279" cy="438912"/>
          </a:xfrm>
          <a:prstGeom prst="rect">
            <a:avLst/>
          </a:prstGeom>
          <a:noFill/>
          <a:ln/>
        </p:spPr>
        <p:txBody>
          <a:bodyPr wrap="square" lIns="0" tIns="0" rIns="0" bIns="0" rtlCol="0" anchor="t"/>
          <a:lstStyle/>
          <a:p>
            <a:pPr indent="0" marL="0">
              <a:buNone/>
            </a:pPr>
            <a:r>
              <a:rPr lang="en-US" sz="1300" dirty="0">
                <a:solidFill>
                  <a:srgbClr val="4A5058"/>
                </a:solidFill>
              </a:rPr>
              <a:t>Three servers converge after the third starts</a:t>
            </a:r>
            <a:endParaRPr lang="en-US" sz="1300" dirty="0"/>
          </a:p>
        </p:txBody>
      </p:sp>
      <p:sp>
        <p:nvSpPr>
          <p:cNvPr id="29" name="Shape 26"/>
          <p:cNvSpPr/>
          <p:nvPr/>
        </p:nvSpPr>
        <p:spPr>
          <a:xfrm>
            <a:off x="3474720" y="3337560"/>
            <a:ext cx="2560320" cy="960120"/>
          </a:xfrm>
          <a:prstGeom prst="rect">
            <a:avLst/>
          </a:prstGeom>
          <a:solidFill>
            <a:srgbClr val="F7F5F2"/>
          </a:solidFill>
          <a:ln/>
        </p:spPr>
        <p:txBody>
          <a:bodyPr/>
          <a:p/>
        </p:txBody>
      </p:sp>
      <p:sp>
        <p:nvSpPr>
          <p:cNvPr id="30" name="Shape 27"/>
          <p:cNvSpPr/>
          <p:nvPr/>
        </p:nvSpPr>
        <p:spPr>
          <a:xfrm>
            <a:off x="3474720" y="3337560"/>
            <a:ext cx="45720" cy="960120"/>
          </a:xfrm>
          <a:prstGeom prst="rect">
            <a:avLst/>
          </a:prstGeom>
          <a:solidFill>
            <a:srgbClr val="A51C30"/>
          </a:solidFill>
          <a:ln/>
        </p:spPr>
        <p:txBody>
          <a:bodyPr/>
          <a:p/>
        </p:txBody>
      </p:sp>
      <p:sp>
        <p:nvSpPr>
          <p:cNvPr id="31" name="Text 28"/>
          <p:cNvSpPr txBox="1"/>
          <p:nvPr/>
        </p:nvSpPr>
        <p:spPr>
          <a:xfrm>
            <a:off x="3675888" y="3410712"/>
            <a:ext cx="2240279" cy="384048"/>
          </a:xfrm>
          <a:prstGeom prst="rect">
            <a:avLst/>
          </a:prstGeom>
          <a:noFill/>
          <a:ln/>
        </p:spPr>
        <p:txBody>
          <a:bodyPr wrap="square" lIns="0" tIns="0" rIns="0" bIns="0" rtlCol="0" anchor="ctr"/>
          <a:lstStyle/>
          <a:p>
            <a:pPr indent="0" marL="0">
              <a:buNone/>
            </a:pPr>
            <a:r>
              <a:rPr lang="en-US" sz="2600" b="1" dirty="0">
                <a:solidFill>
                  <a:srgbClr val="8A1626"/>
                </a:solidFill>
              </a:rPr>
              <a:t>0 wrong</a:t>
            </a:r>
            <a:endParaRPr lang="en-US" sz="2600" dirty="0"/>
          </a:p>
        </p:txBody>
      </p:sp>
      <p:sp>
        <p:nvSpPr>
          <p:cNvPr id="32" name="Text 29"/>
          <p:cNvSpPr txBox="1"/>
          <p:nvPr/>
        </p:nvSpPr>
        <p:spPr>
          <a:xfrm>
            <a:off x="3675888" y="3813048"/>
            <a:ext cx="2240279" cy="438912"/>
          </a:xfrm>
          <a:prstGeom prst="rect">
            <a:avLst/>
          </a:prstGeom>
          <a:noFill/>
          <a:ln/>
        </p:spPr>
        <p:txBody>
          <a:bodyPr wrap="square" lIns="0" tIns="0" rIns="0" bIns="0" rtlCol="0" anchor="t"/>
          <a:lstStyle/>
          <a:p>
            <a:pPr indent="0" marL="0">
              <a:buNone/>
            </a:pPr>
            <a:r>
              <a:rPr lang="en-US" sz="1300" dirty="0">
                <a:solidFill>
                  <a:srgbClr val="4A5058"/>
                </a:solidFill>
              </a:rPr>
              <a:t>of 146,498 answers checked in a 2-hour soak with kills</a:t>
            </a:r>
            <a:endParaRPr lang="en-US" sz="1300" dirty="0"/>
          </a:p>
        </p:txBody>
      </p:sp>
      <p:sp>
        <p:nvSpPr>
          <p:cNvPr id="33" name="Shape 30"/>
          <p:cNvSpPr/>
          <p:nvPr/>
        </p:nvSpPr>
        <p:spPr>
          <a:xfrm>
            <a:off x="777240" y="4407408"/>
            <a:ext cx="2560320" cy="960120"/>
          </a:xfrm>
          <a:prstGeom prst="rect">
            <a:avLst/>
          </a:prstGeom>
          <a:solidFill>
            <a:srgbClr val="F7F5F2"/>
          </a:solidFill>
          <a:ln/>
        </p:spPr>
        <p:txBody>
          <a:bodyPr/>
          <a:p/>
        </p:txBody>
      </p:sp>
      <p:sp>
        <p:nvSpPr>
          <p:cNvPr id="34" name="Shape 31"/>
          <p:cNvSpPr/>
          <p:nvPr/>
        </p:nvSpPr>
        <p:spPr>
          <a:xfrm>
            <a:off x="777240" y="4407408"/>
            <a:ext cx="45720" cy="960120"/>
          </a:xfrm>
          <a:prstGeom prst="rect">
            <a:avLst/>
          </a:prstGeom>
          <a:solidFill>
            <a:srgbClr val="A51C30"/>
          </a:solidFill>
          <a:ln/>
        </p:spPr>
        <p:txBody>
          <a:bodyPr/>
          <a:p/>
        </p:txBody>
      </p:sp>
      <p:sp>
        <p:nvSpPr>
          <p:cNvPr id="35" name="Text 32"/>
          <p:cNvSpPr txBox="1"/>
          <p:nvPr/>
        </p:nvSpPr>
        <p:spPr>
          <a:xfrm>
            <a:off x="978408" y="4480560"/>
            <a:ext cx="2240279" cy="384048"/>
          </a:xfrm>
          <a:prstGeom prst="rect">
            <a:avLst/>
          </a:prstGeom>
          <a:noFill/>
          <a:ln/>
        </p:spPr>
        <p:txBody>
          <a:bodyPr wrap="square" lIns="0" tIns="0" rIns="0" bIns="0" rtlCol="0" anchor="ctr"/>
          <a:lstStyle/>
          <a:p>
            <a:pPr indent="0" marL="0">
              <a:buNone/>
            </a:pPr>
            <a:r>
              <a:rPr lang="en-US" sz="2600" b="1" dirty="0">
                <a:solidFill>
                  <a:srgbClr val="8A1626"/>
                </a:solidFill>
              </a:rPr>
              <a:t>117 ms</a:t>
            </a:r>
            <a:endParaRPr lang="en-US" sz="2600" dirty="0"/>
          </a:p>
        </p:txBody>
      </p:sp>
      <p:sp>
        <p:nvSpPr>
          <p:cNvPr id="36" name="Text 33"/>
          <p:cNvSpPr txBox="1"/>
          <p:nvPr/>
        </p:nvSpPr>
        <p:spPr>
          <a:xfrm>
            <a:off x="978408" y="4882896"/>
            <a:ext cx="2240279" cy="438912"/>
          </a:xfrm>
          <a:prstGeom prst="rect">
            <a:avLst/>
          </a:prstGeom>
          <a:noFill/>
          <a:ln/>
        </p:spPr>
        <p:txBody>
          <a:bodyPr wrap="square" lIns="0" tIns="0" rIns="0" bIns="0" rtlCol="0" anchor="t"/>
          <a:lstStyle/>
          <a:p>
            <a:pPr indent="0" marL="0">
              <a:buNone/>
            </a:pPr>
            <a:r>
              <a:rPr lang="en-US" sz="1300" dirty="0">
                <a:solidFill>
                  <a:srgbClr val="4A5058"/>
                </a:solidFill>
              </a:rPr>
              <a:t>p99 between servers on HTTP/2 (370 ms on HTTP/1.1)</a:t>
            </a:r>
            <a:endParaRPr lang="en-US" sz="1300" dirty="0"/>
          </a:p>
        </p:txBody>
      </p:sp>
      <p:sp>
        <p:nvSpPr>
          <p:cNvPr id="37" name="Shape 34"/>
          <p:cNvSpPr/>
          <p:nvPr/>
        </p:nvSpPr>
        <p:spPr>
          <a:xfrm>
            <a:off x="3474720" y="4407408"/>
            <a:ext cx="2560320" cy="960120"/>
          </a:xfrm>
          <a:prstGeom prst="rect">
            <a:avLst/>
          </a:prstGeom>
          <a:solidFill>
            <a:srgbClr val="F7F5F2"/>
          </a:solidFill>
          <a:ln/>
        </p:spPr>
        <p:txBody>
          <a:bodyPr/>
          <a:p/>
        </p:txBody>
      </p:sp>
      <p:sp>
        <p:nvSpPr>
          <p:cNvPr id="38" name="Shape 35"/>
          <p:cNvSpPr/>
          <p:nvPr/>
        </p:nvSpPr>
        <p:spPr>
          <a:xfrm>
            <a:off x="3474720" y="4407408"/>
            <a:ext cx="45720" cy="960120"/>
          </a:xfrm>
          <a:prstGeom prst="rect">
            <a:avLst/>
          </a:prstGeom>
          <a:solidFill>
            <a:srgbClr val="A51C30"/>
          </a:solidFill>
          <a:ln/>
        </p:spPr>
        <p:txBody>
          <a:bodyPr/>
          <a:p/>
        </p:txBody>
      </p:sp>
      <p:sp>
        <p:nvSpPr>
          <p:cNvPr id="39" name="Text 36"/>
          <p:cNvSpPr txBox="1"/>
          <p:nvPr/>
        </p:nvSpPr>
        <p:spPr>
          <a:xfrm>
            <a:off x="3675888" y="4480560"/>
            <a:ext cx="2240279" cy="384048"/>
          </a:xfrm>
          <a:prstGeom prst="rect">
            <a:avLst/>
          </a:prstGeom>
          <a:noFill/>
          <a:ln/>
        </p:spPr>
        <p:txBody>
          <a:bodyPr wrap="square" lIns="0" tIns="0" rIns="0" bIns="0" rtlCol="0" anchor="ctr"/>
          <a:lstStyle/>
          <a:p>
            <a:pPr indent="0" marL="0">
              <a:buNone/>
            </a:pPr>
            <a:r>
              <a:rPr lang="en-US" sz="2600" b="1" dirty="0">
                <a:solidFill>
                  <a:srgbClr val="8A1626"/>
                </a:solidFill>
              </a:rPr>
              <a:t>13,542</a:t>
            </a:r>
            <a:endParaRPr lang="en-US" sz="2600" dirty="0"/>
          </a:p>
        </p:txBody>
      </p:sp>
      <p:sp>
        <p:nvSpPr>
          <p:cNvPr id="40" name="Text 37"/>
          <p:cNvSpPr txBox="1"/>
          <p:nvPr/>
        </p:nvSpPr>
        <p:spPr>
          <a:xfrm>
            <a:off x="3675888" y="4882896"/>
            <a:ext cx="2240279" cy="438912"/>
          </a:xfrm>
          <a:prstGeom prst="rect">
            <a:avLst/>
          </a:prstGeom>
          <a:noFill/>
          <a:ln/>
        </p:spPr>
        <p:txBody>
          <a:bodyPr wrap="square" lIns="0" tIns="0" rIns="0" bIns="0" rtlCol="0" anchor="t"/>
          <a:lstStyle/>
          <a:p>
            <a:pPr indent="0" marL="0">
              <a:buNone/>
            </a:pPr>
            <a:r>
              <a:rPr lang="en-US" sz="1300" dirty="0">
                <a:solidFill>
                  <a:srgbClr val="4A5058"/>
                </a:solidFill>
              </a:rPr>
              <a:t>Signed calls through a key rotation, none refused</a:t>
            </a:r>
            <a:endParaRPr lang="en-US" sz="1300" dirty="0"/>
          </a:p>
        </p:txBody>
      </p:sp>
      <p:pic>
        <p:nvPicPr>
          <p:cNvPr id="91" name="Admin Net members" descr="Admin -&gt; Net -&gt; Members on drishti-main after drishti-b left: the member table beside the hash ring (one arc per member, green alive, grey left; this node outlined, the console's server dashed; 2 / 3 alive)"/>
          <p:cNvPicPr>
            <a:picLocks noChangeAspect="1"/>
          </p:cNvPicPr>
          <p:nvPr/>
        </p:nvPicPr>
        <p:blipFill>
          <a:blip r:embed="rId4"/>
          <a:stretch>
            <a:fillRect/>
          </a:stretch>
        </p:blipFill>
        <p:spPr>
          <a:xfrm>
            <a:off x="6549322" y="3454750"/>
            <a:ext cx="4862389" cy="1795588"/>
          </a:xfrm>
          <a:prstGeom prst="rect">
            <a:avLst/>
          </a:prstGeom>
        </p:spPr>
      </p:pic>
      <p:sp>
        <p:nvSpPr>
          <p:cNvPr id="41" name="Shape 38"/>
          <p:cNvSpPr/>
          <p:nvPr/>
        </p:nvSpPr>
        <p:spPr>
          <a:xfrm>
            <a:off x="777240" y="5550408"/>
            <a:ext cx="10634472" cy="694944"/>
          </a:xfrm>
          <a:prstGeom prst="rect">
            <a:avLst/>
          </a:prstGeom>
          <a:solidFill>
            <a:srgbClr val="F6E6E9"/>
          </a:solidFill>
          <a:ln/>
        </p:spPr>
        <p:txBody>
          <a:bodyPr/>
          <a:p/>
        </p:txBody>
      </p:sp>
      <p:sp>
        <p:nvSpPr>
          <p:cNvPr id="42" name="Shape 39"/>
          <p:cNvSpPr/>
          <p:nvPr/>
        </p:nvSpPr>
        <p:spPr>
          <a:xfrm>
            <a:off x="777240" y="5550408"/>
            <a:ext cx="54864" cy="694944"/>
          </a:xfrm>
          <a:prstGeom prst="rect">
            <a:avLst/>
          </a:prstGeom>
          <a:solidFill>
            <a:srgbClr val="A51C30"/>
          </a:solidFill>
          <a:ln/>
        </p:spPr>
        <p:txBody>
          <a:bodyPr/>
          <a:p/>
        </p:txBody>
      </p:sp>
      <p:sp>
        <p:nvSpPr>
          <p:cNvPr id="43" name="Text 40"/>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Each node keeps its own packs, connectors and data — the user cannot tell which one answered; an administrator can.</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ON A PHONE</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The same terminal in a pocket</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813469" y="1380744"/>
            <a:ext cx="1847781" cy="3913632"/>
          </a:xfrm>
          <a:prstGeom prst="rect">
            <a:avLst/>
          </a:prstGeom>
          <a:solidFill>
            <a:srgbClr val="FFFFFF"/>
          </a:solidFill>
          <a:ln w="12700">
            <a:solidFill>
              <a:srgbClr val="E3DED7"/>
            </a:solidFill>
            <a:prstDash val="solid"/>
          </a:ln>
          <a:effectLst>
            <a:outerShdw sx="100000" sy="100000" kx="0" ky="0" algn="bl" rotWithShape="0" blurRad="76200" dist="25400" dir="5400000">
              <a:srgbClr val="000000">
                <a:alpha val="18000"/>
              </a:srgbClr>
            </a:outerShdw>
          </a:effectLst>
        </p:spPr>
        <p:txBody>
          <a:bodyPr/>
          <a:p/>
        </p:txBody>
      </p:sp>
      <p:pic>
        <p:nvPicPr>
          <p:cNvPr id="7" name="Image 0" descr="/tmp/claude-1000/-home-ashutosh-IdeaProjects-drishti/efa68c11-fb98-4f9a-8faa-96a952090c0e/scratchpad/deck/shots/phone-trade.png">    </p:cNvPr>
          <p:cNvPicPr>
            <a:picLocks noChangeAspect="1"/>
          </p:cNvPicPr>
          <p:nvPr/>
        </p:nvPicPr>
        <p:blipFill>
          <a:blip r:embed="rId1"/>
          <a:stretch>
            <a:fillRect/>
          </a:stretch>
        </p:blipFill>
        <p:spPr>
          <a:xfrm>
            <a:off x="850045" y="1417320"/>
            <a:ext cx="1774629" cy="3840480"/>
          </a:xfrm>
          <a:prstGeom prst="rect">
            <a:avLst/>
          </a:prstGeom>
        </p:spPr>
      </p:pic>
      <p:sp>
        <p:nvSpPr>
          <p:cNvPr id="8" name="Text 4"/>
          <p:cNvSpPr txBox="1"/>
          <p:nvPr/>
        </p:nvSpPr>
        <p:spPr>
          <a:xfrm>
            <a:off x="777240" y="5321808"/>
            <a:ext cx="1920240" cy="274320"/>
          </a:xfrm>
          <a:prstGeom prst="rect">
            <a:avLst/>
          </a:prstGeom>
          <a:noFill/>
          <a:ln/>
        </p:spPr>
        <p:txBody>
          <a:bodyPr wrap="square" lIns="0" tIns="0" rIns="0" bIns="0" rtlCol="0" anchor="t"/>
          <a:lstStyle/>
          <a:p>
            <a:pPr indent="0" marL="0">
              <a:buNone/>
            </a:pPr>
            <a:r>
              <a:rPr lang="en-US" sz="1050" i="1" dirty="0">
                <a:solidFill>
                  <a:srgbClr val="61666E"/>
                </a:solidFill>
              </a:rPr>
              <a:t>A live trade</a:t>
            </a:r>
            <a:endParaRPr lang="en-US" sz="1050" dirty="0"/>
          </a:p>
        </p:txBody>
      </p:sp>
      <p:sp>
        <p:nvSpPr>
          <p:cNvPr id="9" name="Shape 5"/>
          <p:cNvSpPr/>
          <p:nvPr/>
        </p:nvSpPr>
        <p:spPr>
          <a:xfrm>
            <a:off x="3053749" y="1380744"/>
            <a:ext cx="1847781" cy="3913632"/>
          </a:xfrm>
          <a:prstGeom prst="rect">
            <a:avLst/>
          </a:prstGeom>
          <a:solidFill>
            <a:srgbClr val="FFFFFF"/>
          </a:solidFill>
          <a:ln w="12700">
            <a:solidFill>
              <a:srgbClr val="E3DED7"/>
            </a:solidFill>
            <a:prstDash val="solid"/>
          </a:ln>
          <a:effectLst>
            <a:outerShdw sx="100000" sy="100000" kx="0" ky="0" algn="bl" rotWithShape="0" blurRad="76200" dist="25400" dir="5400000">
              <a:srgbClr val="000000">
                <a:alpha val="18000"/>
              </a:srgbClr>
            </a:outerShdw>
          </a:effectLst>
        </p:spPr>
        <p:txBody>
          <a:bodyPr/>
          <a:p/>
        </p:txBody>
      </p:sp>
      <p:pic>
        <p:nvPicPr>
          <p:cNvPr id="10" name="Image 1" descr="/home/ashutosh/IdeaProjects/drishti/docs/guides/img/about/03-var-phone.jpg">    </p:cNvPr>
          <p:cNvPicPr>
            <a:picLocks noChangeAspect="1"/>
          </p:cNvPicPr>
          <p:nvPr/>
        </p:nvPicPr>
        <p:blipFill>
          <a:blip r:embed="rId2"/>
          <a:stretch>
            <a:fillRect/>
          </a:stretch>
        </p:blipFill>
        <p:spPr>
          <a:xfrm>
            <a:off x="3090325" y="1417320"/>
            <a:ext cx="1774629" cy="3840480"/>
          </a:xfrm>
          <a:prstGeom prst="rect">
            <a:avLst/>
          </a:prstGeom>
        </p:spPr>
      </p:pic>
      <p:sp>
        <p:nvSpPr>
          <p:cNvPr id="11" name="Text 6"/>
          <p:cNvSpPr txBox="1"/>
          <p:nvPr/>
        </p:nvSpPr>
        <p:spPr>
          <a:xfrm>
            <a:off x="3017520" y="5321808"/>
            <a:ext cx="1920240" cy="274320"/>
          </a:xfrm>
          <a:prstGeom prst="rect">
            <a:avLst/>
          </a:prstGeom>
          <a:noFill/>
          <a:ln/>
        </p:spPr>
        <p:txBody>
          <a:bodyPr wrap="square" lIns="0" tIns="0" rIns="0" bIns="0" rtlCol="0" anchor="t"/>
          <a:lstStyle/>
          <a:p>
            <a:pPr indent="0" marL="0">
              <a:buNone/>
            </a:pPr>
            <a:r>
              <a:rPr lang="en-US" sz="1050" i="1" dirty="0">
                <a:solidFill>
                  <a:srgbClr val="61666E"/>
                </a:solidFill>
              </a:rPr>
              <a:t>About this page</a:t>
            </a:r>
            <a:endParaRPr lang="en-US" sz="1050" dirty="0"/>
          </a:p>
        </p:txBody>
      </p:sp>
      <p:sp>
        <p:nvSpPr>
          <p:cNvPr id="12" name="Shape 7"/>
          <p:cNvSpPr/>
          <p:nvPr/>
        </p:nvSpPr>
        <p:spPr>
          <a:xfrm>
            <a:off x="5294029" y="1380744"/>
            <a:ext cx="1847781" cy="3913632"/>
          </a:xfrm>
          <a:prstGeom prst="rect">
            <a:avLst/>
          </a:prstGeom>
          <a:solidFill>
            <a:srgbClr val="FFFFFF"/>
          </a:solidFill>
          <a:ln w="12700">
            <a:solidFill>
              <a:srgbClr val="E3DED7"/>
            </a:solidFill>
            <a:prstDash val="solid"/>
          </a:ln>
          <a:effectLst>
            <a:outerShdw sx="100000" sy="100000" kx="0" ky="0" algn="bl" rotWithShape="0" blurRad="76200" dist="25400" dir="5400000">
              <a:srgbClr val="000000">
                <a:alpha val="18000"/>
              </a:srgbClr>
            </a:outerShdw>
          </a:effectLst>
        </p:spPr>
        <p:txBody>
          <a:bodyPr/>
          <a:p/>
        </p:txBody>
      </p:sp>
      <p:pic>
        <p:nvPicPr>
          <p:cNvPr id="13" name="Image 2" descr="/home/ashutosh/IdeaProjects/drishti/docs/guides/img/collab/06-shared-phone.jpg">    </p:cNvPr>
          <p:cNvPicPr>
            <a:picLocks noChangeAspect="1"/>
          </p:cNvPicPr>
          <p:nvPr/>
        </p:nvPicPr>
        <p:blipFill>
          <a:blip r:embed="rId3"/>
          <a:stretch>
            <a:fillRect/>
          </a:stretch>
        </p:blipFill>
        <p:spPr>
          <a:xfrm>
            <a:off x="5330605" y="1417320"/>
            <a:ext cx="1774629" cy="3840480"/>
          </a:xfrm>
          <a:prstGeom prst="rect">
            <a:avLst/>
          </a:prstGeom>
        </p:spPr>
      </p:pic>
      <p:sp>
        <p:nvSpPr>
          <p:cNvPr id="14" name="Text 8"/>
          <p:cNvSpPr txBox="1"/>
          <p:nvPr/>
        </p:nvSpPr>
        <p:spPr>
          <a:xfrm>
            <a:off x="5257800" y="5321808"/>
            <a:ext cx="1920240" cy="274320"/>
          </a:xfrm>
          <a:prstGeom prst="rect">
            <a:avLst/>
          </a:prstGeom>
          <a:noFill/>
          <a:ln/>
        </p:spPr>
        <p:txBody>
          <a:bodyPr wrap="square" lIns="0" tIns="0" rIns="0" bIns="0" rtlCol="0" anchor="t"/>
          <a:lstStyle/>
          <a:p>
            <a:pPr indent="0" marL="0">
              <a:buNone/>
            </a:pPr>
            <a:r>
              <a:rPr lang="en-US" sz="1050" i="1" dirty="0">
                <a:solidFill>
                  <a:srgbClr val="61666E"/>
                </a:solidFill>
              </a:rPr>
              <a:t>A shared view</a:t>
            </a:r>
            <a:endParaRPr lang="en-US" sz="1050" dirty="0"/>
          </a:p>
        </p:txBody>
      </p:sp>
      <p:sp>
        <p:nvSpPr>
          <p:cNvPr id="15" name="Shape 9"/>
          <p:cNvSpPr/>
          <p:nvPr/>
        </p:nvSpPr>
        <p:spPr>
          <a:xfrm>
            <a:off x="7534309" y="1380744"/>
            <a:ext cx="1847781" cy="3913632"/>
          </a:xfrm>
          <a:prstGeom prst="rect">
            <a:avLst/>
          </a:prstGeom>
          <a:solidFill>
            <a:srgbClr val="FFFFFF"/>
          </a:solidFill>
          <a:ln w="12700">
            <a:solidFill>
              <a:srgbClr val="E3DED7"/>
            </a:solidFill>
            <a:prstDash val="solid"/>
          </a:ln>
          <a:effectLst>
            <a:outerShdw sx="100000" sy="100000" kx="0" ky="0" algn="bl" rotWithShape="0" blurRad="76200" dist="25400" dir="5400000">
              <a:srgbClr val="000000">
                <a:alpha val="18000"/>
              </a:srgbClr>
            </a:outerShdw>
          </a:effectLst>
        </p:spPr>
        <p:txBody>
          <a:bodyPr/>
          <a:p/>
        </p:txBody>
      </p:sp>
      <p:pic>
        <p:nvPicPr>
          <p:cNvPr id="16" name="Image 3" descr="/home/ashutosh/IdeaProjects/drishti/docs/guides/img/loads/06-phone.jpg">    </p:cNvPr>
          <p:cNvPicPr>
            <a:picLocks noChangeAspect="1"/>
          </p:cNvPicPr>
          <p:nvPr/>
        </p:nvPicPr>
        <p:blipFill>
          <a:blip r:embed="rId4"/>
          <a:stretch>
            <a:fillRect/>
          </a:stretch>
        </p:blipFill>
        <p:spPr>
          <a:xfrm>
            <a:off x="7570885" y="1417320"/>
            <a:ext cx="1774629" cy="3840480"/>
          </a:xfrm>
          <a:prstGeom prst="rect">
            <a:avLst/>
          </a:prstGeom>
        </p:spPr>
      </p:pic>
      <p:sp>
        <p:nvSpPr>
          <p:cNvPr id="17" name="Text 10"/>
          <p:cNvSpPr txBox="1"/>
          <p:nvPr/>
        </p:nvSpPr>
        <p:spPr>
          <a:xfrm>
            <a:off x="7498080" y="5321808"/>
            <a:ext cx="1920240" cy="274320"/>
          </a:xfrm>
          <a:prstGeom prst="rect">
            <a:avLst/>
          </a:prstGeom>
          <a:noFill/>
          <a:ln/>
        </p:spPr>
        <p:txBody>
          <a:bodyPr wrap="square" lIns="0" tIns="0" rIns="0" bIns="0" rtlCol="0" anchor="t"/>
          <a:lstStyle/>
          <a:p>
            <a:pPr indent="0" marL="0">
              <a:buNone/>
            </a:pPr>
            <a:r>
              <a:rPr lang="en-US" sz="1050" i="1" dirty="0">
                <a:solidFill>
                  <a:srgbClr val="61666E"/>
                </a:solidFill>
              </a:rPr>
              <a:t>Data loads</a:t>
            </a:r>
            <a:endParaRPr lang="en-US" sz="1050" dirty="0"/>
          </a:p>
        </p:txBody>
      </p:sp>
      <p:sp>
        <p:nvSpPr>
          <p:cNvPr id="18" name="Text 11"/>
          <p:cNvSpPr txBox="1"/>
          <p:nvPr/>
        </p:nvSpPr>
        <p:spPr>
          <a:xfrm>
            <a:off x="9738360" y="1417320"/>
            <a:ext cx="1673352" cy="4023360"/>
          </a:xfrm>
          <a:prstGeom prst="rect">
            <a:avLst/>
          </a:prstGeom>
          <a:noFill/>
          <a:ln/>
        </p:spPr>
        <p:txBody>
          <a:bodyPr wrap="square" lIns="0" tIns="0" rIns="0" bIns="0" rtlCol="0" anchor="t"/>
          <a:lstStyle/>
          <a:p>
            <a:pPr indent="0" marL="0">
              <a:buNone/>
            </a:pPr>
            <a:r>
              <a:rPr lang="en-US" sz="1600" b="1" dirty="0">
                <a:solidFill>
                  <a:srgbClr val="A51C30"/>
                </a:solidFill>
              </a:rPr>
              <a:t>▪  44 px</a:t>
            </a:r>
            <a:endParaRPr lang="en-US" sz="1600" dirty="0"/>
          </a:p>
          <a:p>
            <a:pPr indent="0" marL="0">
              <a:spcAft>
                <a:spcPts val="1000"/>
              </a:spcAft>
              <a:buNone/>
            </a:pPr>
            <a:r>
              <a:rPr lang="en-US" sz="1150" dirty="0">
                <a:solidFill>
                  <a:srgbClr val="4A5058"/>
                </a:solidFill>
              </a:rPr>
              <a:t>Every control, on touch screens only</a:t>
            </a:r>
            <a:endParaRPr lang="en-US" sz="1600" dirty="0"/>
          </a:p>
          <a:p>
            <a:pPr indent="0" marL="0">
              <a:buNone/>
            </a:pPr>
            <a:r>
              <a:rPr lang="en-US" sz="1600" b="1" dirty="0">
                <a:solidFill>
                  <a:srgbClr val="A51C30"/>
                </a:solidFill>
              </a:rPr>
              <a:t>▪  390 px</a:t>
            </a:r>
            <a:endParaRPr lang="en-US" sz="1600" dirty="0"/>
          </a:p>
          <a:p>
            <a:pPr indent="0" marL="0">
              <a:spcAft>
                <a:spcPts val="1000"/>
              </a:spcAft>
              <a:buNone/>
            </a:pPr>
            <a:r>
              <a:rPr lang="en-US" sz="1150" dirty="0">
                <a:solidFill>
                  <a:srgbClr val="4A5058"/>
                </a:solidFill>
              </a:rPr>
              <a:t>Every page tested at phone width</a:t>
            </a:r>
            <a:endParaRPr lang="en-US" sz="1600" dirty="0"/>
          </a:p>
          <a:p>
            <a:pPr indent="0" marL="0">
              <a:buNone/>
            </a:pPr>
            <a:r>
              <a:rPr lang="en-US" sz="1600" b="1" dirty="0">
                <a:solidFill>
                  <a:srgbClr val="A51C30"/>
                </a:solidFill>
              </a:rPr>
              <a:t>▪  3 engines</a:t>
            </a:r>
            <a:endParaRPr lang="en-US" sz="1600" dirty="0"/>
          </a:p>
          <a:p>
            <a:pPr indent="0" marL="0">
              <a:spcAft>
                <a:spcPts val="1000"/>
              </a:spcAft>
              <a:buNone/>
            </a:pPr>
            <a:r>
              <a:rPr lang="en-US" sz="1150" dirty="0">
                <a:solidFill>
                  <a:srgbClr val="4A5058"/>
                </a:solidFill>
              </a:rPr>
              <a:t>Embedded views in Chromium, Firefox, WebKit</a:t>
            </a:r>
            <a:endParaRPr lang="en-US" sz="16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Chapter background"/>
          <p:cNvSpPr/>
          <p:nvPr/>
        </p:nvSpPr>
        <p:spPr>
          <a:xfrm>
            <a:off x="0" y="0"/>
            <a:ext cx="12191969"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Chapter watermark"/>
          <p:cNvSpPr txBox="1"/>
          <p:nvPr/>
        </p:nvSpPr>
        <p:spPr>
          <a:xfrm>
            <a:off x="4754880" y="-822960"/>
            <a:ext cx="7223760" cy="7863840"/>
          </a:xfrm>
          <a:prstGeom prst="rect">
            <a:avLst/>
          </a:prstGeom>
          <a:noFill/>
        </p:spPr>
        <p:txBody>
          <a:bodyPr wrap="none" lIns="0" rIns="0" tIns="0" bIns="0" anchor="ctr">
            <a:spAutoFit/>
          </a:bodyPr>
          <a:lstStyle/>
          <a:p>
            <a:pPr algn="r"/>
            <a:r>
              <a:rPr sz="42000" b="1" i="0">
                <a:solidFill>
                  <a:srgbClr val="B8394C"/>
                </a:solidFill>
              </a:rPr>
              <a:t>04</a:t>
            </a:r>
          </a:p>
        </p:txBody>
      </p:sp>
      <p:sp>
        <p:nvSpPr>
          <p:cNvPr id="4" name="Chapter name"/>
          <p:cNvSpPr txBox="1"/>
          <p:nvPr/>
        </p:nvSpPr>
        <p:spPr>
          <a:xfrm>
            <a:off x="822960" y="2514600"/>
            <a:ext cx="6949440" cy="1828800"/>
          </a:xfrm>
          <a:prstGeom prst="rect">
            <a:avLst/>
          </a:prstGeom>
          <a:noFill/>
        </p:spPr>
        <p:txBody>
          <a:bodyPr wrap="square" lIns="0" rIns="0" tIns="0" bIns="0" anchor="ctr">
            <a:spAutoFit/>
          </a:bodyPr>
          <a:lstStyle/>
          <a:p>
            <a:pPr algn="l"/>
            <a:r>
              <a:rPr sz="4400" b="1" i="0">
                <a:solidFill>
                  <a:srgbClr val="FFFFFF"/>
                </a:solidFill>
              </a:rPr>
              <a:t>Security, drawn as flows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THREE SEAMS, ONE RULE</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Authentication, authorization and audit are kept apart</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463040"/>
            <a:ext cx="3410712" cy="3886200"/>
          </a:xfrm>
          <a:prstGeom prst="rect">
            <a:avLst/>
          </a:prstGeom>
          <a:solidFill>
            <a:srgbClr val="F7F5F2"/>
          </a:solidFill>
          <a:ln/>
        </p:spPr>
        <p:txBody>
          <a:bodyPr/>
          <a:p/>
        </p:txBody>
      </p:sp>
      <p:sp>
        <p:nvSpPr>
          <p:cNvPr id="7" name="Shape 4"/>
          <p:cNvSpPr/>
          <p:nvPr/>
        </p:nvSpPr>
        <p:spPr>
          <a:xfrm>
            <a:off x="777240" y="1463040"/>
            <a:ext cx="3410712" cy="868680"/>
          </a:xfrm>
          <a:prstGeom prst="rect">
            <a:avLst/>
          </a:prstGeom>
          <a:solidFill>
            <a:srgbClr val="8A1626"/>
          </a:solidFill>
          <a:ln/>
        </p:spPr>
        <p:txBody>
          <a:bodyPr/>
          <a:p/>
        </p:txBody>
      </p:sp>
      <p:sp>
        <p:nvSpPr>
          <p:cNvPr id="8" name="Text 5"/>
          <p:cNvSpPr txBox="1"/>
          <p:nvPr/>
        </p:nvSpPr>
        <p:spPr>
          <a:xfrm>
            <a:off x="960120" y="1463040"/>
            <a:ext cx="3044952" cy="868680"/>
          </a:xfrm>
          <a:prstGeom prst="rect">
            <a:avLst/>
          </a:prstGeom>
          <a:noFill/>
          <a:ln/>
        </p:spPr>
        <p:txBody>
          <a:bodyPr wrap="square" lIns="0" tIns="0" rIns="0" bIns="0" rtlCol="0" anchor="ctr"/>
          <a:lstStyle/>
          <a:p>
            <a:pPr indent="0" marL="0">
              <a:buNone/>
            </a:pPr>
            <a:r>
              <a:rPr lang="en-US" sz="1800" b="1" dirty="0">
                <a:solidFill>
                  <a:srgbClr val="FFFFFF"/>
                </a:solidFill>
              </a:rPr>
              <a:t>Authentication</a:t>
            </a:r>
            <a:endParaRPr lang="en-US" sz="1800" dirty="0"/>
          </a:p>
          <a:p>
            <a:pPr indent="0" marL="0">
              <a:buNone/>
            </a:pPr>
            <a:r>
              <a:rPr lang="en-US" sz="1250" dirty="0">
                <a:solidFill>
                  <a:srgbClr val="F6E6E9"/>
                </a:solidFill>
              </a:rPr>
              <a:t>Who you are</a:t>
            </a:r>
            <a:endParaRPr lang="en-US" sz="1800" dirty="0"/>
          </a:p>
        </p:txBody>
      </p:sp>
      <p:sp>
        <p:nvSpPr>
          <p:cNvPr id="9" name="Text 6"/>
          <p:cNvSpPr txBox="1"/>
          <p:nvPr/>
        </p:nvSpPr>
        <p:spPr>
          <a:xfrm>
            <a:off x="960120" y="2514600"/>
            <a:ext cx="3090672"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1A"/>
                </a:solidFill>
              </a:rPr>
              <a:t>Local passwords: PBKDF2-SHA256, 240,000 iterations</a:t>
            </a:r>
            <a:endParaRPr lang="en-US" sz="1300" dirty="0"/>
          </a:p>
          <a:p>
            <a:pPr marL="342900" indent="-342900">
              <a:spcAft>
                <a:spcPts val="800"/>
              </a:spcAft>
              <a:buSzPct val="100000"/>
              <a:buChar char="•"/>
            </a:pPr>
            <a:r>
              <a:rPr lang="en-US" sz="1300" dirty="0">
                <a:solidFill>
                  <a:srgbClr val="1A1A1A"/>
                </a:solidFill>
              </a:rPr>
              <a:t>Or SSO over OIDC: Keycloak, Entra, Okta, Ping</a:t>
            </a:r>
            <a:endParaRPr lang="en-US" sz="1300" dirty="0"/>
          </a:p>
          <a:p>
            <a:pPr marL="342900" indent="-342900">
              <a:spcAft>
                <a:spcPts val="800"/>
              </a:spcAft>
              <a:buSzPct val="100000"/>
              <a:buChar char="•"/>
            </a:pPr>
            <a:r>
              <a:rPr lang="en-US" sz="1300" dirty="0">
                <a:solidFill>
                  <a:srgbClr val="1A1A1A"/>
                </a:solidFill>
              </a:rPr>
              <a:t>Lockout after 5 failures in 15 minutes</a:t>
            </a:r>
            <a:endParaRPr lang="en-US" sz="1300" dirty="0"/>
          </a:p>
          <a:p>
            <a:pPr marL="342900" indent="-342900">
              <a:spcAft>
                <a:spcPts val="800"/>
              </a:spcAft>
              <a:buSzPct val="100000"/>
              <a:buChar char="•"/>
            </a:pPr>
            <a:r>
              <a:rPr lang="en-US" sz="1300" dirty="0">
                <a:solidFill>
                  <a:srgbClr val="1A1A1A"/>
                </a:solidFill>
              </a:rPr>
              <a:t>Disable a user and their sessions end everywhere</a:t>
            </a:r>
            <a:endParaRPr lang="en-US" sz="1300" dirty="0"/>
          </a:p>
        </p:txBody>
      </p:sp>
      <p:sp>
        <p:nvSpPr>
          <p:cNvPr id="10" name="Shape 7"/>
          <p:cNvSpPr/>
          <p:nvPr/>
        </p:nvSpPr>
        <p:spPr>
          <a:xfrm>
            <a:off x="4389120" y="1463040"/>
            <a:ext cx="3410712" cy="3886200"/>
          </a:xfrm>
          <a:prstGeom prst="rect">
            <a:avLst/>
          </a:prstGeom>
          <a:solidFill>
            <a:srgbClr val="F7F5F2"/>
          </a:solidFill>
          <a:ln/>
        </p:spPr>
        <p:txBody>
          <a:bodyPr/>
          <a:p/>
        </p:txBody>
      </p:sp>
      <p:sp>
        <p:nvSpPr>
          <p:cNvPr id="11" name="Shape 8"/>
          <p:cNvSpPr/>
          <p:nvPr/>
        </p:nvSpPr>
        <p:spPr>
          <a:xfrm>
            <a:off x="4389120" y="1463040"/>
            <a:ext cx="3410712" cy="868680"/>
          </a:xfrm>
          <a:prstGeom prst="rect">
            <a:avLst/>
          </a:prstGeom>
          <a:solidFill>
            <a:srgbClr val="8A1626"/>
          </a:solidFill>
          <a:ln/>
        </p:spPr>
        <p:txBody>
          <a:bodyPr/>
          <a:p/>
        </p:txBody>
      </p:sp>
      <p:sp>
        <p:nvSpPr>
          <p:cNvPr id="12" name="Text 9"/>
          <p:cNvSpPr txBox="1"/>
          <p:nvPr/>
        </p:nvSpPr>
        <p:spPr>
          <a:xfrm>
            <a:off x="4572000" y="1463040"/>
            <a:ext cx="3044952" cy="868680"/>
          </a:xfrm>
          <a:prstGeom prst="rect">
            <a:avLst/>
          </a:prstGeom>
          <a:noFill/>
          <a:ln/>
        </p:spPr>
        <p:txBody>
          <a:bodyPr wrap="square" lIns="0" tIns="0" rIns="0" bIns="0" rtlCol="0" anchor="ctr"/>
          <a:lstStyle/>
          <a:p>
            <a:pPr indent="0" marL="0">
              <a:buNone/>
            </a:pPr>
            <a:r>
              <a:rPr lang="en-US" sz="1800" b="1" dirty="0">
                <a:solidFill>
                  <a:srgbClr val="FFFFFF"/>
                </a:solidFill>
              </a:rPr>
              <a:t>Authorization</a:t>
            </a:r>
            <a:endParaRPr lang="en-US" sz="1800" dirty="0"/>
          </a:p>
          <a:p>
            <a:pPr indent="0" marL="0">
              <a:buNone/>
            </a:pPr>
            <a:r>
              <a:rPr lang="en-US" sz="1250" dirty="0">
                <a:solidFill>
                  <a:srgbClr val="F6E6E9"/>
                </a:solidFill>
              </a:rPr>
              <a:t>What you may see and do</a:t>
            </a:r>
            <a:endParaRPr lang="en-US" sz="1800" dirty="0"/>
          </a:p>
        </p:txBody>
      </p:sp>
      <p:sp>
        <p:nvSpPr>
          <p:cNvPr id="13" name="Text 10"/>
          <p:cNvSpPr txBox="1"/>
          <p:nvPr/>
        </p:nvSpPr>
        <p:spPr>
          <a:xfrm>
            <a:off x="4572000" y="2514600"/>
            <a:ext cx="3090672"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1A"/>
                </a:solidFill>
              </a:rPr>
              <a:t>Roles name the kinds you may open</a:t>
            </a:r>
            <a:endParaRPr lang="en-US" sz="1300" dirty="0"/>
          </a:p>
          <a:p>
            <a:pPr marL="342900" indent="-342900">
              <a:spcAft>
                <a:spcPts val="800"/>
              </a:spcAft>
              <a:buSzPct val="100000"/>
              <a:buChar char="•"/>
            </a:pPr>
            <a:r>
              <a:rPr lang="en-US" sz="1300" dirty="0">
                <a:solidFill>
                  <a:srgbClr val="1A1A1A"/>
                </a:solidFill>
              </a:rPr>
              <a:t>Powers: raw, author, approve, calc, layout; BI: bi, bi-author, bi-steward</a:t>
            </a:r>
            <a:endParaRPr lang="en-US" sz="1300" dirty="0"/>
          </a:p>
          <a:p>
            <a:pPr marL="342900" indent="-342900">
              <a:spcAft>
                <a:spcPts val="800"/>
              </a:spcAft>
              <a:buSzPct val="100000"/>
              <a:buChar char="•"/>
            </a:pPr>
            <a:r>
              <a:rPr lang="en-US" sz="1300" dirty="0">
                <a:solidFill>
                  <a:srgbClr val="1A1A1A"/>
                </a:solidFill>
              </a:rPr>
              <a:t>Masked fields shown as ••• without raw</a:t>
            </a:r>
            <a:endParaRPr lang="en-US" sz="1300" dirty="0"/>
          </a:p>
          <a:p>
            <a:pPr marL="342900" indent="-342900">
              <a:spcAft>
                <a:spcPts val="800"/>
              </a:spcAft>
              <a:buSzPct val="100000"/>
              <a:buChar char="•"/>
            </a:pPr>
            <a:r>
              <a:rPr lang="en-US" sz="1300" dirty="0">
                <a:solidFill>
                  <a:srgbClr val="1A1A1A"/>
                </a:solidFill>
              </a:rPr>
              <a:t>Packs assigned per user</a:t>
            </a:r>
            <a:endParaRPr lang="en-US" sz="1300" dirty="0"/>
          </a:p>
        </p:txBody>
      </p:sp>
      <p:sp>
        <p:nvSpPr>
          <p:cNvPr id="14" name="Shape 11"/>
          <p:cNvSpPr/>
          <p:nvPr/>
        </p:nvSpPr>
        <p:spPr>
          <a:xfrm>
            <a:off x="8001000" y="1463040"/>
            <a:ext cx="3410712" cy="3886200"/>
          </a:xfrm>
          <a:prstGeom prst="rect">
            <a:avLst/>
          </a:prstGeom>
          <a:solidFill>
            <a:srgbClr val="F7F5F2"/>
          </a:solidFill>
          <a:ln/>
        </p:spPr>
        <p:txBody>
          <a:bodyPr/>
          <a:p/>
        </p:txBody>
      </p:sp>
      <p:sp>
        <p:nvSpPr>
          <p:cNvPr id="15" name="Shape 12"/>
          <p:cNvSpPr/>
          <p:nvPr/>
        </p:nvSpPr>
        <p:spPr>
          <a:xfrm>
            <a:off x="8001000" y="1463040"/>
            <a:ext cx="3410712" cy="868680"/>
          </a:xfrm>
          <a:prstGeom prst="rect">
            <a:avLst/>
          </a:prstGeom>
          <a:solidFill>
            <a:srgbClr val="8A1626"/>
          </a:solidFill>
          <a:ln/>
        </p:spPr>
        <p:txBody>
          <a:bodyPr/>
          <a:p/>
        </p:txBody>
      </p:sp>
      <p:sp>
        <p:nvSpPr>
          <p:cNvPr id="16" name="Text 13"/>
          <p:cNvSpPr txBox="1"/>
          <p:nvPr/>
        </p:nvSpPr>
        <p:spPr>
          <a:xfrm>
            <a:off x="8183880" y="1463040"/>
            <a:ext cx="3044952" cy="868680"/>
          </a:xfrm>
          <a:prstGeom prst="rect">
            <a:avLst/>
          </a:prstGeom>
          <a:noFill/>
          <a:ln/>
        </p:spPr>
        <p:txBody>
          <a:bodyPr wrap="square" lIns="0" tIns="0" rIns="0" bIns="0" rtlCol="0" anchor="ctr"/>
          <a:lstStyle/>
          <a:p>
            <a:pPr indent="0" marL="0">
              <a:buNone/>
            </a:pPr>
            <a:r>
              <a:rPr lang="en-US" sz="1800" b="1" dirty="0">
                <a:solidFill>
                  <a:srgbClr val="FFFFFF"/>
                </a:solidFill>
              </a:rPr>
              <a:t>Audit</a:t>
            </a:r>
            <a:endParaRPr lang="en-US" sz="1800" dirty="0"/>
          </a:p>
          <a:p>
            <a:pPr indent="0" marL="0">
              <a:buNone/>
            </a:pPr>
            <a:r>
              <a:rPr lang="en-US" sz="1250" dirty="0">
                <a:solidFill>
                  <a:srgbClr val="F6E6E9"/>
                </a:solidFill>
              </a:rPr>
              <a:t>What happened</a:t>
            </a:r>
            <a:endParaRPr lang="en-US" sz="1800" dirty="0"/>
          </a:p>
        </p:txBody>
      </p:sp>
      <p:sp>
        <p:nvSpPr>
          <p:cNvPr id="17" name="Text 14"/>
          <p:cNvSpPr txBox="1"/>
          <p:nvPr/>
        </p:nvSpPr>
        <p:spPr>
          <a:xfrm>
            <a:off x="8183880" y="2514600"/>
            <a:ext cx="3090672"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1A"/>
                </a:solidFill>
              </a:rPr>
              <a:t>Sign-ins, changes, token use, purges</a:t>
            </a:r>
            <a:endParaRPr lang="en-US" sz="1300" dirty="0"/>
          </a:p>
          <a:p>
            <a:pPr marL="342900" indent="-342900">
              <a:spcAft>
                <a:spcPts val="800"/>
              </a:spcAft>
              <a:buSzPct val="100000"/>
              <a:buChar char="•"/>
            </a:pPr>
            <a:r>
              <a:rPr lang="en-US" sz="1300" dirty="0">
                <a:solidFill>
                  <a:srgbClr val="1A1A1A"/>
                </a:solidFill>
              </a:rPr>
              <a:t>Access log: who viewed what, for which date</a:t>
            </a:r>
            <a:endParaRPr lang="en-US" sz="1300" dirty="0"/>
          </a:p>
          <a:p>
            <a:pPr marL="342900" indent="-342900">
              <a:spcAft>
                <a:spcPts val="800"/>
              </a:spcAft>
              <a:buSzPct val="100000"/>
              <a:buChar char="•"/>
            </a:pPr>
            <a:r>
              <a:rPr lang="en-US" sz="1300" dirty="0">
                <a:solidFill>
                  <a:srgbClr val="1A1A1A"/>
                </a:solidFill>
              </a:rPr>
              <a:t>Hash-chained collaboration, sealed</a:t>
            </a:r>
            <a:endParaRPr lang="en-US" sz="1300" dirty="0"/>
          </a:p>
          <a:p>
            <a:pPr marL="342900" indent="-342900">
              <a:spcAft>
                <a:spcPts val="800"/>
              </a:spcAft>
              <a:buSzPct val="100000"/>
              <a:buChar char="•"/>
            </a:pPr>
            <a:r>
              <a:rPr lang="en-US" sz="1300" dirty="0">
                <a:solidFill>
                  <a:srgbClr val="1A1A1A"/>
                </a:solidFill>
              </a:rPr>
              <a:t>Legal holds and an eDiscovery export</a:t>
            </a:r>
            <a:endParaRPr lang="en-US" sz="1300" dirty="0"/>
          </a:p>
        </p:txBody>
      </p:sp>
      <p:sp>
        <p:nvSpPr>
          <p:cNvPr id="18" name="Shape 15"/>
          <p:cNvSpPr/>
          <p:nvPr/>
        </p:nvSpPr>
        <p:spPr>
          <a:xfrm>
            <a:off x="777240" y="5550408"/>
            <a:ext cx="10634472" cy="694944"/>
          </a:xfrm>
          <a:prstGeom prst="rect">
            <a:avLst/>
          </a:prstGeom>
          <a:solidFill>
            <a:srgbClr val="F6E6E9"/>
          </a:solidFill>
          <a:ln/>
        </p:spPr>
        <p:txBody>
          <a:bodyPr/>
          <a:p/>
        </p:txBody>
      </p:sp>
      <p:sp>
        <p:nvSpPr>
          <p:cNvPr id="19" name="Shape 16"/>
          <p:cNvSpPr/>
          <p:nvPr/>
        </p:nvSpPr>
        <p:spPr>
          <a:xfrm>
            <a:off x="777240" y="5550408"/>
            <a:ext cx="54864" cy="694944"/>
          </a:xfrm>
          <a:prstGeom prst="rect">
            <a:avLst/>
          </a:prstGeom>
          <a:solidFill>
            <a:srgbClr val="A51C30"/>
          </a:solidFill>
          <a:ln/>
        </p:spPr>
        <p:txBody>
          <a:bodyPr/>
          <a:p/>
        </p:txBody>
      </p:sp>
      <p:sp>
        <p:nvSpPr>
          <p:cNvPr id="20" name="Text 17"/>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A mask is applied where a value leaves — in views, search, emails, chat bridges and snapshots alike.</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FLOW · SIGNING IN</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Authentication — a person signs in to the console</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417320"/>
            <a:ext cx="6309360" cy="3977640"/>
          </a:xfrm>
          <a:prstGeom prst="rect">
            <a:avLst/>
          </a:prstGeom>
          <a:solidFill>
            <a:srgbClr val="1E1E24"/>
          </a:solidFill>
          <a:ln/>
        </p:spPr>
        <p:txBody>
          <a:bodyPr/>
          <a:p/>
        </p:txBody>
      </p:sp>
      <p:sp>
        <p:nvSpPr>
          <p:cNvPr id="7" name="Shape 4"/>
          <p:cNvSpPr/>
          <p:nvPr/>
        </p:nvSpPr>
        <p:spPr>
          <a:xfrm>
            <a:off x="777240" y="1417320"/>
            <a:ext cx="6309360" cy="384048"/>
          </a:xfrm>
          <a:prstGeom prst="rect">
            <a:avLst/>
          </a:prstGeom>
          <a:solidFill>
            <a:srgbClr val="8A1626"/>
          </a:solidFill>
          <a:ln/>
        </p:spPr>
        <p:txBody>
          <a:bodyPr/>
          <a:p/>
        </p:txBody>
      </p:sp>
      <p:sp>
        <p:nvSpPr>
          <p:cNvPr id="8" name="Text 5"/>
          <p:cNvSpPr txBox="1"/>
          <p:nvPr/>
        </p:nvSpPr>
        <p:spPr>
          <a:xfrm>
            <a:off x="960120" y="1417320"/>
            <a:ext cx="5943600" cy="384048"/>
          </a:xfrm>
          <a:prstGeom prst="rect">
            <a:avLst/>
          </a:prstGeom>
          <a:noFill/>
          <a:ln/>
        </p:spPr>
        <p:txBody>
          <a:bodyPr wrap="square" lIns="0" tIns="0" rIns="0" bIns="0" rtlCol="0" anchor="ctr"/>
          <a:lstStyle/>
          <a:p>
            <a:pPr indent="0" marL="0">
              <a:buNone/>
            </a:pPr>
            <a:r>
              <a:rPr lang="en-US" sz="1300" b="1" dirty="0">
                <a:solidFill>
                  <a:srgbClr val="FFFFFF"/>
                </a:solidFill>
              </a:rPr>
              <a:t>Browser  →  Console  →  Server</a:t>
            </a:r>
            <a:endParaRPr lang="en-US" sz="1300" dirty="0"/>
          </a:p>
        </p:txBody>
      </p:sp>
      <p:sp>
        <p:nvSpPr>
          <p:cNvPr id="9" name="Text 6"/>
          <p:cNvSpPr txBox="1"/>
          <p:nvPr/>
        </p:nvSpPr>
        <p:spPr>
          <a:xfrm>
            <a:off x="978408" y="1920240"/>
            <a:ext cx="5907024" cy="3364992"/>
          </a:xfrm>
          <a:prstGeom prst="rect">
            <a:avLst/>
          </a:prstGeom>
          <a:noFill/>
          <a:ln/>
        </p:spPr>
        <p:txBody>
          <a:bodyPr wrap="square" lIns="0" tIns="0" rIns="0" bIns="0" rtlCol="0" anchor="t"/>
          <a:lstStyle/>
          <a:p>
            <a:pPr indent="0" marL="0">
              <a:lnSpc>
                <a:spcPct val="105000"/>
              </a:lnSpc>
              <a:buNone/>
            </a:pPr>
            <a:r>
              <a:rPr lang="en-US" sz="1200" dirty="0">
                <a:solidFill>
                  <a:srgbClr val="E8B8C0"/>
                </a:solidFill>
                <a:latin typeface="Courier New" pitchFamily="34" charset="0"/>
                <a:ea typeface="Courier New" pitchFamily="34" charset="-122"/>
                <a:cs typeface="Courier New" pitchFamily="34" charset="-120"/>
              </a:rPr>
              <a:t>1. Browser → console: any page but landing, help</a:t>
            </a:r>
            <a:endParaRPr lang="en-US" sz="1200" dirty="0"/>
          </a:p>
          <a:p>
            <a:pPr indent="0" marL="0">
              <a:lnSpc>
                <a:spcPct val="105000"/>
              </a:lnSpc>
              <a:buNone/>
            </a:pPr>
            <a:r>
              <a:rPr lang="en-US" sz="1200" dirty="0">
                <a:solidFill>
                  <a:srgbClr val="E8B8C0"/>
                </a:solidFill>
                <a:latin typeface="Courier New" pitchFamily="34" charset="0"/>
                <a:ea typeface="Courier New" pitchFamily="34" charset="-122"/>
                <a:cs typeface="Courier New" pitchFamily="34" charset="-120"/>
              </a:rPr>
              <a:t>   → 303 to /login (or to the identity provider)</a:t>
            </a:r>
            <a:endParaRPr lang="en-US" sz="1200" dirty="0"/>
          </a:p>
          <a:p>
            <a:pPr indent="0" marL="0">
              <a:lnSpc>
                <a:spcPct val="105000"/>
              </a:lnSpc>
              <a:buNone/>
            </a:pPr>
            <a:r>
              <a:rPr lang="en-US" sz="1200" dirty="0">
                <a:solidFill>
                  <a:srgbClr val="E8B8C0"/>
                </a:solidFill>
                <a:latin typeface="Courier New" pitchFamily="34" charset="0"/>
                <a:ea typeface="Courier New" pitchFamily="34" charset="-122"/>
                <a:cs typeface="Courier New" pitchFamily="34" charset="-120"/>
              </a:rPr>
              <a:t>2. Password: server checks PBKDF2-SHA256 hash</a:t>
            </a:r>
            <a:endParaRPr lang="en-US" sz="1200" dirty="0"/>
          </a:p>
          <a:p>
            <a:pPr indent="0" marL="0">
              <a:lnSpc>
                <a:spcPct val="105000"/>
              </a:lnSpc>
              <a:buNone/>
            </a:pPr>
            <a:r>
              <a:rPr lang="en-US" sz="1200" dirty="0">
                <a:solidFill>
                  <a:srgbClr val="E8B8C0"/>
                </a:solidFill>
                <a:latin typeface="Courier New" pitchFamily="34" charset="0"/>
                <a:ea typeface="Courier New" pitchFamily="34" charset="-122"/>
                <a:cs typeface="Courier New" pitchFamily="34" charset="-120"/>
              </a:rPr>
              <a:t>   or OIDC: server verifies the ID token itself</a:t>
            </a:r>
            <a:endParaRPr lang="en-US" sz="1200" dirty="0"/>
          </a:p>
          <a:p>
            <a:pPr indent="0" marL="0">
              <a:lnSpc>
                <a:spcPct val="105000"/>
              </a:lnSpc>
              <a:buNone/>
            </a:pPr>
            <a:r>
              <a:rPr lang="en-US" sz="1200" dirty="0">
                <a:solidFill>
                  <a:srgbClr val="E8B8C0"/>
                </a:solidFill>
                <a:latin typeface="Courier New" pitchFamily="34" charset="0"/>
                <a:ea typeface="Courier New" pitchFamily="34" charset="-122"/>
                <a:cs typeface="Courier New" pitchFamily="34" charset="-120"/>
              </a:rPr>
              <a:t>3. Server → signed session; console sets cookie</a:t>
            </a:r>
            <a:endParaRPr lang="en-US" sz="1200" dirty="0"/>
          </a:p>
          <a:p>
            <a:pPr indent="0" marL="0">
              <a:lnSpc>
                <a:spcPct val="105000"/>
              </a:lnSpc>
              <a:buNone/>
            </a:pPr>
            <a:r>
              <a:rPr lang="en-US" sz="1200" dirty="0">
                <a:solidFill>
                  <a:srgbClr val="E8B8C0"/>
                </a:solidFill>
                <a:latin typeface="Courier New" pitchFamily="34" charset="0"/>
                <a:ea typeface="Courier New" pitchFamily="34" charset="-122"/>
                <a:cs typeface="Courier New" pitchFamily="34" charset="-120"/>
              </a:rPr>
              <a:t>   HttpOnly, SameSite=Lax, Secure by default</a:t>
            </a:r>
            <a:endParaRPr lang="en-US" sz="1200" dirty="0"/>
          </a:p>
          <a:p>
            <a:pPr indent="0" marL="0">
              <a:lnSpc>
                <a:spcPct val="105000"/>
              </a:lnSpc>
              <a:buNone/>
            </a:pPr>
            <a:r>
              <a:rPr lang="en-US" sz="1200" dirty="0">
                <a:solidFill>
                  <a:srgbClr val="E8B8C0"/>
                </a:solidFill>
                <a:latin typeface="Courier New" pitchFamily="34" charset="0"/>
                <a:ea typeface="Courier New" pitchFamily="34" charset="-122"/>
                <a:cs typeface="Courier New" pitchFamily="34" charset="-120"/>
              </a:rPr>
              <a:t>4. Every write: same-origin check (else 403)</a:t>
            </a:r>
            <a:endParaRPr lang="en-US" sz="1200" dirty="0"/>
          </a:p>
          <a:p>
            <a:pPr indent="0" marL="0">
              <a:lnSpc>
                <a:spcPct val="105000"/>
              </a:lnSpc>
              <a:buNone/>
            </a:pPr>
            <a:r>
              <a:rPr lang="en-US" sz="1200" dirty="0">
                <a:solidFill>
                  <a:srgbClr val="E8B8C0"/>
                </a:solidFill>
                <a:latin typeface="Courier New" pitchFamily="34" charset="0"/>
                <a:ea typeface="Courier New" pitchFamily="34" charset="-122"/>
                <a:cs typeface="Courier New" pitchFamily="34" charset="-120"/>
              </a:rPr>
              <a:t>   and JSON only (else 415)</a:t>
            </a:r>
            <a:endParaRPr lang="en-US" sz="1200" dirty="0"/>
          </a:p>
          <a:p>
            <a:pPr indent="0" marL="0">
              <a:lnSpc>
                <a:spcPct val="105000"/>
              </a:lnSpc>
              <a:buNone/>
            </a:pPr>
            <a:r>
              <a:rPr lang="en-US" sz="1200" dirty="0">
                <a:solidFill>
                  <a:srgbClr val="E8B8C0"/>
                </a:solidFill>
                <a:latin typeface="Courier New" pitchFamily="34" charset="0"/>
                <a:ea typeface="Courier New" pitchFamily="34" charset="-122"/>
                <a:cs typeface="Courier New" pitchFamily="34" charset="-120"/>
              </a:rPr>
              <a:t>5. Every 10 s: is this user still enabled?</a:t>
            </a:r>
            <a:endParaRPr lang="en-US" sz="1200" dirty="0"/>
          </a:p>
          <a:p>
            <a:pPr indent="0" marL="0">
              <a:lnSpc>
                <a:spcPct val="105000"/>
              </a:lnSpc>
              <a:buNone/>
            </a:pPr>
            <a:r>
              <a:rPr lang="en-US" sz="1200" dirty="0">
                <a:solidFill>
                  <a:srgbClr val="E8B8C0"/>
                </a:solidFill>
                <a:latin typeface="Courier New" pitchFamily="34" charset="0"/>
                <a:ea typeface="Courier New" pitchFamily="34" charset="-122"/>
                <a:cs typeface="Courier New" pitchFamily="34" charset="-120"/>
              </a:rPr>
              <a:t>   disabled, deleted or reset → session ends</a:t>
            </a:r>
            <a:endParaRPr lang="en-US" sz="1200" dirty="0"/>
          </a:p>
        </p:txBody>
      </p:sp>
      <p:sp>
        <p:nvSpPr>
          <p:cNvPr id="10" name="Text 7"/>
          <p:cNvSpPr txBox="1"/>
          <p:nvPr/>
        </p:nvSpPr>
        <p:spPr>
          <a:xfrm>
            <a:off x="7406640" y="1417320"/>
            <a:ext cx="4005072" cy="3977640"/>
          </a:xfrm>
          <a:prstGeom prst="rect">
            <a:avLst/>
          </a:prstGeom>
          <a:noFill/>
          <a:ln/>
        </p:spPr>
        <p:txBody>
          <a:bodyPr wrap="square" lIns="0" tIns="0" rIns="0" bIns="0" rtlCol="0" anchor="t"/>
          <a:lstStyle/>
          <a:p>
            <a:pPr indent="0" marL="0">
              <a:buNone/>
            </a:pPr>
            <a:r>
              <a:rPr lang="en-US" sz="1500" b="1" dirty="0">
                <a:solidFill>
                  <a:srgbClr val="A51C30"/>
                </a:solidFill>
              </a:rPr>
              <a:t>▪  Lockout</a:t>
            </a:r>
            <a:endParaRPr lang="en-US" sz="1500" dirty="0"/>
          </a:p>
          <a:p>
            <a:pPr indent="0" marL="0">
              <a:spcAft>
                <a:spcPts val="900"/>
              </a:spcAft>
              <a:buNone/>
            </a:pPr>
            <a:r>
              <a:rPr lang="en-US" sz="1300" dirty="0">
                <a:solidFill>
                  <a:srgbClr val="4A5058"/>
                </a:solidFill>
              </a:rPr>
              <a:t>Five failed sign-ins lock the account for fifteen minutes; an admin's reset unlocks it.</a:t>
            </a:r>
            <a:endParaRPr lang="en-US" sz="1500" dirty="0"/>
          </a:p>
          <a:p>
            <a:pPr indent="0" marL="0">
              <a:buNone/>
            </a:pPr>
            <a:r>
              <a:rPr lang="en-US" sz="1500" b="1" dirty="0">
                <a:solidFill>
                  <a:srgbClr val="A51C30"/>
                </a:solidFill>
              </a:rPr>
              <a:t>▪  The last admin is protected</a:t>
            </a:r>
            <a:endParaRPr lang="en-US" sz="1500" dirty="0"/>
          </a:p>
          <a:p>
            <a:pPr indent="0" marL="0">
              <a:spcAft>
                <a:spcPts val="900"/>
              </a:spcAft>
              <a:buNone/>
            </a:pPr>
            <a:r>
              <a:rPr lang="en-US" sz="1300" dirty="0">
                <a:solidFill>
                  <a:srgbClr val="4A5058"/>
                </a:solidFill>
              </a:rPr>
              <a:t>You cannot remove the last administrator, on any node of a cluster.</a:t>
            </a:r>
            <a:endParaRPr lang="en-US" sz="1500" dirty="0"/>
          </a:p>
          <a:p>
            <a:pPr indent="0" marL="0">
              <a:buNone/>
            </a:pPr>
            <a:r>
              <a:rPr lang="en-US" sz="1500" b="1" dirty="0">
                <a:solidFill>
                  <a:srgbClr val="A51C30"/>
                </a:solidFill>
              </a:rPr>
              <a:t>▪  Forced change</a:t>
            </a:r>
            <a:endParaRPr lang="en-US" sz="1500" dirty="0"/>
          </a:p>
          <a:p>
            <a:pPr indent="0" marL="0">
              <a:spcAft>
                <a:spcPts val="900"/>
              </a:spcAft>
              <a:buNone/>
            </a:pPr>
            <a:r>
              <a:rPr lang="en-US" sz="1300" dirty="0">
                <a:solidFill>
                  <a:srgbClr val="4A5058"/>
                </a:solidFill>
              </a:rPr>
              <a:t>The development admin is flagged in every page until its password changes.</a:t>
            </a:r>
            <a:endParaRPr lang="en-US" sz="1500" dirty="0"/>
          </a:p>
        </p:txBody>
      </p:sp>
      <p:sp>
        <p:nvSpPr>
          <p:cNvPr id="11" name="Shape 8"/>
          <p:cNvSpPr/>
          <p:nvPr/>
        </p:nvSpPr>
        <p:spPr>
          <a:xfrm>
            <a:off x="777240" y="5550408"/>
            <a:ext cx="10634472" cy="694944"/>
          </a:xfrm>
          <a:prstGeom prst="rect">
            <a:avLst/>
          </a:prstGeom>
          <a:solidFill>
            <a:srgbClr val="F6E6E9"/>
          </a:solidFill>
          <a:ln/>
        </p:spPr>
        <p:txBody>
          <a:bodyPr/>
          <a:p/>
        </p:txBody>
      </p:sp>
      <p:sp>
        <p:nvSpPr>
          <p:cNvPr id="12" name="Shape 9"/>
          <p:cNvSpPr/>
          <p:nvPr/>
        </p:nvSpPr>
        <p:spPr>
          <a:xfrm>
            <a:off x="777240" y="5550408"/>
            <a:ext cx="54864" cy="694944"/>
          </a:xfrm>
          <a:prstGeom prst="rect">
            <a:avLst/>
          </a:prstGeom>
          <a:solidFill>
            <a:srgbClr val="A51C30"/>
          </a:solidFill>
          <a:ln/>
        </p:spPr>
        <p:txBody>
          <a:bodyPr/>
          <a:p/>
        </p:txBody>
      </p:sp>
      <p:sp>
        <p:nvSpPr>
          <p:cNvPr id="13" name="Text 10"/>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A cross-site form cannot post: writes must come from the console and must be JSON.</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FLOW · PERSONAL API TOKENS</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Authorization — a script acts as its owner, never as more</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1463040"/>
          <a:ext cx="6675120" cy="914400"/>
        </p:xfrm>
        <a:graphic>
          <a:graphicData uri="http://schemas.openxmlformats.org/drawingml/2006/table">
            <a:tbl>
              <a:tblPr/>
              <a:tblGrid>
                <a:gridCol w="1600200"/>
                <a:gridCol w="2926080"/>
                <a:gridCol w="2148840"/>
              </a:tblGrid>
              <a:tr h="658368">
                <a:tc>
                  <a:txBody>
                    <a:bodyPr/>
                    <a:lstStyle/>
                    <a:p>
                      <a:pPr indent="0" marL="0">
                        <a:buNone/>
                      </a:pPr>
                      <a:r>
                        <a:rPr lang="en-US" sz="1350" b="1" dirty="0">
                          <a:solidFill>
                            <a:srgbClr val="FFFFFF"/>
                          </a:solidFill>
                        </a:rPr>
                        <a:t>Scope</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c>
                  <a:txBody>
                    <a:bodyPr/>
                    <a:lstStyle/>
                    <a:p>
                      <a:pPr indent="0" marL="0">
                        <a:buNone/>
                      </a:pPr>
                      <a:r>
                        <a:rPr lang="en-US" sz="1350" b="1" dirty="0">
                          <a:solidFill>
                            <a:srgbClr val="FFFFFF"/>
                          </a:solidFill>
                        </a:rPr>
                        <a:t>Opens</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c>
                  <a:txBody>
                    <a:bodyPr/>
                    <a:lstStyle/>
                    <a:p>
                      <a:pPr indent="0" marL="0">
                        <a:buNone/>
                      </a:pPr>
                      <a:r>
                        <a:rPr lang="en-US" sz="1350" b="1" dirty="0">
                          <a:solidFill>
                            <a:srgbClr val="FFFFFF"/>
                          </a:solidFill>
                        </a:rPr>
                        <a:t>Still required</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r>
              <a:tr h="658368">
                <a:tc>
                  <a:txBody>
                    <a:bodyPr/>
                    <a:lstStyle/>
                    <a:p>
                      <a:pPr indent="0" marL="0">
                        <a:buNone/>
                      </a:pPr>
                      <a:r>
                        <a:rPr lang="en-US" sz="1350" b="1" dirty="0">
                          <a:solidFill>
                            <a:srgbClr val="8A1626"/>
                          </a:solidFill>
                        </a:rPr>
                        <a:t>(none)</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50" dirty="0">
                          <a:solidFill>
                            <a:srgbClr val="1A1A1A"/>
                          </a:solidFill>
                        </a:rPr>
                        <a:t>Read: views, search, explain, read-only commands</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50" dirty="0">
                          <a:solidFill>
                            <a:srgbClr val="1A1A1A"/>
                          </a:solidFill>
                        </a:rPr>
                        <a:t>The owner's roles and packs</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658368">
                <a:tc>
                  <a:txBody>
                    <a:bodyPr/>
                    <a:lstStyle/>
                    <a:p>
                      <a:pPr indent="0" marL="0">
                        <a:buNone/>
                      </a:pPr>
                      <a:r>
                        <a:rPr lang="en-US" sz="1350" b="1" dirty="0">
                          <a:solidFill>
                            <a:srgbClr val="8A1626"/>
                          </a:solidFill>
                        </a:rPr>
                        <a:t>design:write · bi:write</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350" dirty="0">
                          <a:solidFill>
                            <a:srgbClr val="1A1A1A"/>
                          </a:solidFill>
                        </a:rPr>
                        <a:t>Create and save designs and BI items</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350" dirty="0">
                          <a:solidFill>
                            <a:srgbClr val="1A1A1A"/>
                          </a:solidFill>
                        </a:rPr>
                        <a:t>The author or bi-author power</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658368">
                <a:tc>
                  <a:txBody>
                    <a:bodyPr/>
                    <a:lstStyle/>
                    <a:p>
                      <a:pPr indent="0" marL="0">
                        <a:buNone/>
                      </a:pPr>
                      <a:r>
                        <a:rPr lang="en-US" sz="1350" b="1" dirty="0">
                          <a:solidFill>
                            <a:srgbClr val="8A1626"/>
                          </a:solidFill>
                        </a:rPr>
                        <a:t>design:approve · bi:approve</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50" dirty="0">
                          <a:solidFill>
                            <a:srgbClr val="1A1A1A"/>
                          </a:solidFill>
                        </a:rPr>
                        <a:t>Approve someone else's design or BI item</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50" dirty="0">
                          <a:solidFill>
                            <a:srgbClr val="1A1A1A"/>
                          </a:solidFill>
                        </a:rPr>
                        <a:t>The approve power; never your own</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658368">
                <a:tc>
                  <a:txBody>
                    <a:bodyPr/>
                    <a:lstStyle/>
                    <a:p>
                      <a:pPr indent="0" marL="0">
                        <a:buNone/>
                      </a:pPr>
                      <a:r>
                        <a:rPr lang="en-US" sz="1350" b="1" dirty="0">
                          <a:solidFill>
                            <a:srgbClr val="8A1626"/>
                          </a:solidFill>
                        </a:rPr>
                        <a:t>packs:admin</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350" dirty="0">
                          <a:solidFill>
                            <a:srgbClr val="1A1A1A"/>
                          </a:solidFill>
                        </a:rPr>
                        <a:t>Deploy, roll back and switch packs</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350" dirty="0">
                          <a:solidFill>
                            <a:srgbClr val="1A1A1A"/>
                          </a:solidFill>
                        </a:rPr>
                        <a:t>The admin role</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658368">
                <a:tc>
                  <a:txBody>
                    <a:bodyPr/>
                    <a:lstStyle/>
                    <a:p>
                      <a:pPr indent="0" marL="0">
                        <a:buNone/>
                      </a:pPr>
                      <a:r>
                        <a:rPr lang="en-US" sz="1350" b="1" dirty="0">
                          <a:solidFill>
                            <a:srgbClr val="8A1626"/>
                          </a:solidFill>
                        </a:rPr>
                        <a:t>loads:write</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50" dirty="0">
                          <a:solidFill>
                            <a:srgbClr val="1A1A1A"/>
                          </a:solidFill>
                        </a:rPr>
                        <a:t>Say a batch of data landed</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50" dirty="0">
                          <a:solidFill>
                            <a:srgbClr val="1A1A1A"/>
                          </a:solidFill>
                        </a:rPr>
                        <a:t>The pack in the owner's packs</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bl>
          </a:graphicData>
        </a:graphic>
      </p:graphicFrame>
      <p:sp>
        <p:nvSpPr>
          <p:cNvPr id="7" name="Text 3"/>
          <p:cNvSpPr txBox="1"/>
          <p:nvPr/>
        </p:nvSpPr>
        <p:spPr>
          <a:xfrm>
            <a:off x="7726680" y="1463040"/>
            <a:ext cx="3685032" cy="3931920"/>
          </a:xfrm>
          <a:prstGeom prst="rect">
            <a:avLst/>
          </a:prstGeom>
          <a:noFill/>
          <a:ln/>
        </p:spPr>
        <p:txBody>
          <a:bodyPr wrap="square" lIns="0" tIns="0" rIns="0" bIns="0" rtlCol="0" anchor="t"/>
          <a:lstStyle/>
          <a:p>
            <a:pPr indent="0" marL="0">
              <a:buNone/>
            </a:pPr>
            <a:r>
              <a:rPr lang="en-US" sz="1500" b="1" dirty="0">
                <a:solidFill>
                  <a:srgbClr val="A51C30"/>
                </a:solidFill>
              </a:rPr>
              <a:t>▪  Hashes only</a:t>
            </a:r>
            <a:endParaRPr lang="en-US" sz="1500" dirty="0"/>
          </a:p>
          <a:p>
            <a:pPr indent="0" marL="0">
              <a:spcAft>
                <a:spcPts val="900"/>
              </a:spcAft>
              <a:buNone/>
            </a:pPr>
            <a:r>
              <a:rPr lang="en-US" sz="1300" dirty="0">
                <a:solidFill>
                  <a:srgbClr val="4A5058"/>
                </a:solidFill>
              </a:rPr>
              <a:t>Secrets are stored as SHA-256; shown once.</a:t>
            </a:r>
            <a:endParaRPr lang="en-US" sz="1500" dirty="0"/>
          </a:p>
          <a:p>
            <a:pPr indent="0" marL="0">
              <a:buNone/>
            </a:pPr>
            <a:r>
              <a:rPr lang="en-US" sz="1500" b="1" dirty="0">
                <a:solidFill>
                  <a:srgbClr val="A51C30"/>
                </a:solidFill>
              </a:rPr>
              <a:t>▪  Write scopes expire</a:t>
            </a:r>
            <a:endParaRPr lang="en-US" sz="1500" dirty="0"/>
          </a:p>
          <a:p>
            <a:pPr indent="0" marL="0">
              <a:spcAft>
                <a:spcPts val="900"/>
              </a:spcAft>
              <a:buNone/>
            </a:pPr>
            <a:r>
              <a:rPr lang="en-US" sz="1300" dirty="0">
                <a:solidFill>
                  <a:srgbClr val="4A5058"/>
                </a:solidFill>
              </a:rPr>
              <a:t>At most 90 days.</a:t>
            </a:r>
            <a:endParaRPr lang="en-US" sz="1500" dirty="0"/>
          </a:p>
          <a:p>
            <a:pPr indent="0" marL="0">
              <a:buNone/>
            </a:pPr>
            <a:r>
              <a:rPr lang="en-US" sz="1500" b="1" dirty="0">
                <a:solidFill>
                  <a:srgbClr val="A51C30"/>
                </a:solidFill>
              </a:rPr>
              <a:t>▪  Never open</a:t>
            </a:r>
            <a:endParaRPr lang="en-US" sz="1500" dirty="0"/>
          </a:p>
          <a:p>
            <a:pPr indent="0" marL="0">
              <a:spcAft>
                <a:spcPts val="900"/>
              </a:spcAft>
              <a:buNone/>
            </a:pPr>
            <a:r>
              <a:rPr lang="en-US" sz="1300" dirty="0">
                <a:solidFill>
                  <a:srgbClr val="4A5058"/>
                </a:solidFill>
              </a:rPr>
              <a:t>Users, roles, tokens, sign-in, caches and collaboration state.</a:t>
            </a:r>
            <a:endParaRPr lang="en-US" sz="1500" dirty="0"/>
          </a:p>
          <a:p>
            <a:pPr indent="0" marL="0">
              <a:buNone/>
            </a:pPr>
            <a:r>
              <a:rPr lang="en-US" sz="1500" b="1" dirty="0">
                <a:solidFill>
                  <a:srgbClr val="A51C30"/>
                </a:solidFill>
              </a:rPr>
              <a:t>▪  Audited</a:t>
            </a:r>
            <a:endParaRPr lang="en-US" sz="1500" dirty="0"/>
          </a:p>
          <a:p>
            <a:pPr indent="0" marL="0">
              <a:spcAft>
                <a:spcPts val="900"/>
              </a:spcAft>
              <a:buNone/>
            </a:pPr>
            <a:r>
              <a:rPr lang="en-US" sz="1300" dirty="0">
                <a:solidFill>
                  <a:srgbClr val="4A5058"/>
                </a:solidFill>
              </a:rPr>
              <a:t>Every write and every refusal.</a:t>
            </a:r>
            <a:endParaRPr lang="en-US" sz="1500" dirty="0"/>
          </a:p>
        </p:txBody>
      </p:sp>
      <p:sp>
        <p:nvSpPr>
          <p:cNvPr id="8" name="Shape 4"/>
          <p:cNvSpPr/>
          <p:nvPr/>
        </p:nvSpPr>
        <p:spPr>
          <a:xfrm>
            <a:off x="777240" y="5550408"/>
            <a:ext cx="10634472" cy="694944"/>
          </a:xfrm>
          <a:prstGeom prst="rect">
            <a:avLst/>
          </a:prstGeom>
          <a:solidFill>
            <a:srgbClr val="F6E6E9"/>
          </a:solidFill>
          <a:ln/>
        </p:spPr>
        <p:txBody>
          <a:bodyPr/>
          <a:p/>
        </p:txBody>
      </p:sp>
      <p:sp>
        <p:nvSpPr>
          <p:cNvPr id="9" name="Shape 5"/>
          <p:cNvSpPr/>
          <p:nvPr/>
        </p:nvSpPr>
        <p:spPr>
          <a:xfrm>
            <a:off x="777240" y="5550408"/>
            <a:ext cx="54864" cy="694944"/>
          </a:xfrm>
          <a:prstGeom prst="rect">
            <a:avLst/>
          </a:prstGeom>
          <a:solidFill>
            <a:srgbClr val="A51C30"/>
          </a:solidFill>
          <a:ln/>
        </p:spPr>
        <p:txBody>
          <a:bodyPr/>
          <a:p/>
        </p:txBody>
      </p:sp>
      <p:sp>
        <p:nvSpPr>
          <p:cNvPr id="10" name="Text 6"/>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A scope only opens the endpoint — the owner's roles are still checked on every call.</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FLOW · EMBEDDING A VIEW IN ANOTHER APP</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Token exchange — the host proves itself, and the user</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417320"/>
            <a:ext cx="6583680" cy="3977640"/>
          </a:xfrm>
          <a:prstGeom prst="rect">
            <a:avLst/>
          </a:prstGeom>
          <a:solidFill>
            <a:srgbClr val="1E1E24"/>
          </a:solidFill>
          <a:ln/>
        </p:spPr>
        <p:txBody>
          <a:bodyPr/>
          <a:p/>
        </p:txBody>
      </p:sp>
      <p:sp>
        <p:nvSpPr>
          <p:cNvPr id="7" name="Shape 4"/>
          <p:cNvSpPr/>
          <p:nvPr/>
        </p:nvSpPr>
        <p:spPr>
          <a:xfrm>
            <a:off x="777240" y="1417320"/>
            <a:ext cx="6583680" cy="384048"/>
          </a:xfrm>
          <a:prstGeom prst="rect">
            <a:avLst/>
          </a:prstGeom>
          <a:solidFill>
            <a:srgbClr val="8A1626"/>
          </a:solidFill>
          <a:ln/>
        </p:spPr>
        <p:txBody>
          <a:bodyPr/>
          <a:p/>
        </p:txBody>
      </p:sp>
      <p:sp>
        <p:nvSpPr>
          <p:cNvPr id="8" name="Text 5"/>
          <p:cNvSpPr txBox="1"/>
          <p:nvPr/>
        </p:nvSpPr>
        <p:spPr>
          <a:xfrm>
            <a:off x="960120" y="1417320"/>
            <a:ext cx="6217920" cy="384048"/>
          </a:xfrm>
          <a:prstGeom prst="rect">
            <a:avLst/>
          </a:prstGeom>
          <a:noFill/>
          <a:ln/>
        </p:spPr>
        <p:txBody>
          <a:bodyPr wrap="square" lIns="0" tIns="0" rIns="0" bIns="0" rtlCol="0" anchor="ctr"/>
          <a:lstStyle/>
          <a:p>
            <a:pPr indent="0" marL="0">
              <a:buNone/>
            </a:pPr>
            <a:r>
              <a:rPr lang="en-US" sz="1300" b="1" dirty="0">
                <a:solidFill>
                  <a:srgbClr val="FFFFFF"/>
                </a:solidFill>
              </a:rPr>
              <a:t>Host app  →  Server  →  Console  →  Browser</a:t>
            </a:r>
            <a:endParaRPr lang="en-US" sz="1300" dirty="0"/>
          </a:p>
        </p:txBody>
      </p:sp>
      <p:sp>
        <p:nvSpPr>
          <p:cNvPr id="9" name="Text 6"/>
          <p:cNvSpPr txBox="1"/>
          <p:nvPr/>
        </p:nvSpPr>
        <p:spPr>
          <a:xfrm>
            <a:off x="978408" y="1920240"/>
            <a:ext cx="6181344" cy="3364992"/>
          </a:xfrm>
          <a:prstGeom prst="rect">
            <a:avLst/>
          </a:prstGeom>
          <a:noFill/>
          <a:ln/>
        </p:spPr>
        <p:txBody>
          <a:bodyPr wrap="square" lIns="0" tIns="0" rIns="0" bIns="0" rtlCol="0" anchor="t"/>
          <a:lstStyle/>
          <a:p>
            <a:pPr indent="0" marL="0">
              <a:lnSpc>
                <a:spcPct val="105000"/>
              </a:lnSpc>
              <a:buNone/>
            </a:pPr>
            <a:r>
              <a:rPr lang="en-US" sz="1150" dirty="0">
                <a:solidFill>
                  <a:srgbClr val="E8B8C0"/>
                </a:solidFill>
                <a:latin typeface="Courier New" pitchFamily="34" charset="0"/>
                <a:ea typeface="Courier New" pitchFamily="34" charset="-122"/>
                <a:cs typeface="Courier New" pitchFamily="34" charset="-120"/>
              </a:rPr>
              <a:t>1. Host server → POST /api/v1/embed/token  (RFC 8693)</a:t>
            </a:r>
            <a:endParaRPr lang="en-US" sz="1150" dirty="0"/>
          </a:p>
          <a:p>
            <a:pPr indent="0" marL="0">
              <a:lnSpc>
                <a:spcPct val="105000"/>
              </a:lnSpc>
              <a:buNone/>
            </a:pPr>
            <a:r>
              <a:rPr lang="en-US" sz="1150" dirty="0">
                <a:solidFill>
                  <a:srgbClr val="E8B8C0"/>
                </a:solidFill>
                <a:latin typeface="Courier New" pitchFamily="34" charset="0"/>
                <a:ea typeface="Courier New" pitchFamily="34" charset="-122"/>
                <a:cs typeface="Courier New" pitchFamily="34" charset="-120"/>
              </a:rPr>
              <a:t>   client: secret (hash stored) or private_key_jwt</a:t>
            </a:r>
            <a:endParaRPr lang="en-US" sz="1150" dirty="0"/>
          </a:p>
          <a:p>
            <a:pPr indent="0" marL="0">
              <a:lnSpc>
                <a:spcPct val="105000"/>
              </a:lnSpc>
              <a:buNone/>
            </a:pPr>
            <a:r>
              <a:rPr lang="en-US" sz="1150" dirty="0">
                <a:solidFill>
                  <a:srgbClr val="E8B8C0"/>
                </a:solidFill>
                <a:latin typeface="Courier New" pitchFamily="34" charset="0"/>
                <a:ea typeface="Courier New" pitchFamily="34" charset="-122"/>
                <a:cs typeface="Courier New" pitchFamily="34" charset="-120"/>
              </a:rPr>
              <a:t>   subject: the IdP's ID token, or a host-signed</a:t>
            </a:r>
            <a:endParaRPr lang="en-US" sz="1150" dirty="0"/>
          </a:p>
          <a:p>
            <a:pPr indent="0" marL="0">
              <a:lnSpc>
                <a:spcPct val="105000"/>
              </a:lnSpc>
              <a:buNone/>
            </a:pPr>
            <a:r>
              <a:rPr lang="en-US" sz="1150" dirty="0">
                <a:solidFill>
                  <a:srgbClr val="E8B8C0"/>
                </a:solidFill>
                <a:latin typeface="Courier New" pitchFamily="34" charset="0"/>
                <a:ea typeface="Courier New" pitchFamily="34" charset="-122"/>
                <a:cs typeface="Courier New" pitchFamily="34" charset="-120"/>
              </a:rPr>
              <a:t>            assertion (≤ 60 s, used once)</a:t>
            </a:r>
            <a:endParaRPr lang="en-US" sz="1150" dirty="0"/>
          </a:p>
          <a:p>
            <a:pPr indent="0" marL="0">
              <a:lnSpc>
                <a:spcPct val="105000"/>
              </a:lnSpc>
              <a:buNone/>
            </a:pPr>
            <a:r>
              <a:rPr lang="en-US" sz="1150" dirty="0">
                <a:solidFill>
                  <a:srgbClr val="E8B8C0"/>
                </a:solidFill>
                <a:latin typeface="Courier New" pitchFamily="34" charset="0"/>
                <a:ea typeface="Courier New" pitchFamily="34" charset="-122"/>
                <a:cs typeface="Courier New" pitchFamily="34" charset="-120"/>
              </a:rPr>
              <a:t>2. Server → ES256 token, 300 s (max 900)</a:t>
            </a:r>
            <a:endParaRPr lang="en-US" sz="1150" dirty="0"/>
          </a:p>
          <a:p>
            <a:pPr indent="0" marL="0">
              <a:lnSpc>
                <a:spcPct val="105000"/>
              </a:lnSpc>
              <a:buNone/>
            </a:pPr>
            <a:r>
              <a:rPr lang="en-US" sz="1150" dirty="0">
                <a:solidFill>
                  <a:srgbClr val="E8B8C0"/>
                </a:solidFill>
                <a:latin typeface="Courier New" pitchFamily="34" charset="0"/>
                <a:ea typeface="Courier New" pitchFamily="34" charset="-122"/>
                <a:cs typeface="Courier New" pitchFamily="34" charset="-120"/>
              </a:rPr>
              <a:t>   audience = app, origin-bound, scopes embed:view</a:t>
            </a:r>
            <a:endParaRPr lang="en-US" sz="1150" dirty="0"/>
          </a:p>
          <a:p>
            <a:pPr indent="0" marL="0">
              <a:lnSpc>
                <a:spcPct val="105000"/>
              </a:lnSpc>
              <a:buNone/>
            </a:pPr>
            <a:r>
              <a:rPr lang="en-US" sz="1150" dirty="0">
                <a:solidFill>
                  <a:srgbClr val="E8B8C0"/>
                </a:solidFill>
                <a:latin typeface="Courier New" pitchFamily="34" charset="0"/>
                <a:ea typeface="Courier New" pitchFamily="34" charset="-122"/>
                <a:cs typeface="Courier New" pitchFamily="34" charset="-120"/>
              </a:rPr>
              <a:t>3. Browser → console /embed/v1/... with the token</a:t>
            </a:r>
            <a:endParaRPr lang="en-US" sz="1150" dirty="0"/>
          </a:p>
          <a:p>
            <a:pPr indent="0" marL="0">
              <a:lnSpc>
                <a:spcPct val="105000"/>
              </a:lnSpc>
              <a:buNone/>
            </a:pPr>
            <a:r>
              <a:rPr lang="en-US" sz="1150" dirty="0">
                <a:solidFill>
                  <a:srgbClr val="E8B8C0"/>
                </a:solidFill>
                <a:latin typeface="Courier New" pitchFamily="34" charset="0"/>
                <a:ea typeface="Courier New" pitchFamily="34" charset="-122"/>
                <a:cs typeface="Courier New" pitchFamily="34" charset="-120"/>
              </a:rPr>
              <a:t>   console checks signature (JWKS), audience, origin</a:t>
            </a:r>
            <a:endParaRPr lang="en-US" sz="1150" dirty="0"/>
          </a:p>
          <a:p>
            <a:pPr indent="0" marL="0">
              <a:lnSpc>
                <a:spcPct val="105000"/>
              </a:lnSpc>
              <a:buNone/>
            </a:pPr>
            <a:r>
              <a:rPr lang="en-US" sz="1150" dirty="0">
                <a:solidFill>
                  <a:srgbClr val="E8B8C0"/>
                </a:solidFill>
                <a:latin typeface="Courier New" pitchFamily="34" charset="0"/>
                <a:ea typeface="Courier New" pitchFamily="34" charset="-122"/>
                <a:cs typeface="Courier New" pitchFamily="34" charset="-120"/>
              </a:rPr>
              <a:t>4. Server checks again: app, user, origin, kind,</a:t>
            </a:r>
            <a:endParaRPr lang="en-US" sz="1150" dirty="0"/>
          </a:p>
          <a:p>
            <a:pPr indent="0" marL="0">
              <a:lnSpc>
                <a:spcPct val="105000"/>
              </a:lnSpc>
              <a:buNone/>
            </a:pPr>
            <a:r>
              <a:rPr lang="en-US" sz="1150" dirty="0">
                <a:solidFill>
                  <a:srgbClr val="E8B8C0"/>
                </a:solidFill>
                <a:latin typeface="Courier New" pitchFamily="34" charset="0"/>
                <a:ea typeface="Courier New" pitchFamily="34" charset="-122"/>
                <a:cs typeface="Courier New" pitchFamily="34" charset="-120"/>
              </a:rPr>
              <a:t>   rate limit — and always masks</a:t>
            </a:r>
            <a:endParaRPr lang="en-US" sz="1150" dirty="0"/>
          </a:p>
          <a:p>
            <a:pPr indent="0" marL="0">
              <a:lnSpc>
                <a:spcPct val="105000"/>
              </a:lnSpc>
              <a:buNone/>
            </a:pPr>
            <a:r>
              <a:rPr lang="en-US" sz="1150" dirty="0">
                <a:solidFill>
                  <a:srgbClr val="E8B8C0"/>
                </a:solidFill>
                <a:latin typeface="Courier New" pitchFamily="34" charset="0"/>
                <a:ea typeface="Courier New" pitchFamily="34" charset="-122"/>
                <a:cs typeface="Courier New" pitchFamily="34" charset="-120"/>
              </a:rPr>
              <a:t>5. Live stream: event: token → renewed in place</a:t>
            </a:r>
            <a:endParaRPr lang="en-US" sz="1150" dirty="0"/>
          </a:p>
        </p:txBody>
      </p:sp>
      <p:sp>
        <p:nvSpPr>
          <p:cNvPr id="10" name="Text 7"/>
          <p:cNvSpPr txBox="1"/>
          <p:nvPr/>
        </p:nvSpPr>
        <p:spPr>
          <a:xfrm>
            <a:off x="7635240" y="1417320"/>
            <a:ext cx="3776472" cy="3977640"/>
          </a:xfrm>
          <a:prstGeom prst="rect">
            <a:avLst/>
          </a:prstGeom>
          <a:noFill/>
          <a:ln/>
        </p:spPr>
        <p:txBody>
          <a:bodyPr wrap="square" lIns="0" tIns="0" rIns="0" bIns="0" rtlCol="0" anchor="t"/>
          <a:lstStyle/>
          <a:p>
            <a:pPr indent="0" marL="0">
              <a:buNone/>
            </a:pPr>
            <a:r>
              <a:rPr lang="en-US" sz="1500" b="1" dirty="0">
                <a:solidFill>
                  <a:srgbClr val="A51C30"/>
                </a:solidFill>
              </a:rPr>
              <a:t>▪  Off by default</a:t>
            </a:r>
            <a:endParaRPr lang="en-US" sz="1500" dirty="0"/>
          </a:p>
          <a:p>
            <a:pPr indent="0" marL="0">
              <a:spcAft>
                <a:spcPts val="900"/>
              </a:spcAft>
              <a:buNone/>
            </a:pPr>
            <a:r>
              <a:rPr lang="en-US" sz="1300" dirty="0">
                <a:solidFill>
                  <a:srgbClr val="4A5058"/>
                </a:solidFill>
              </a:rPr>
              <a:t>drishti.embed.enabled; each host app registered by an admin.</a:t>
            </a:r>
            <a:endParaRPr lang="en-US" sz="1500" dirty="0"/>
          </a:p>
          <a:p>
            <a:pPr indent="0" marL="0">
              <a:buNone/>
            </a:pPr>
            <a:r>
              <a:rPr lang="en-US" sz="1500" b="1" dirty="0">
                <a:solidFill>
                  <a:srgbClr val="A51C30"/>
                </a:solidFill>
              </a:rPr>
              <a:t>▪  Always masked</a:t>
            </a:r>
            <a:endParaRPr lang="en-US" sz="1500" dirty="0"/>
          </a:p>
          <a:p>
            <a:pPr indent="0" marL="0">
              <a:spcAft>
                <a:spcPts val="900"/>
              </a:spcAft>
              <a:buNone/>
            </a:pPr>
            <a:r>
              <a:rPr lang="en-US" sz="1300" dirty="0">
                <a:solidFill>
                  <a:srgbClr val="4A5058"/>
                </a:solidFill>
              </a:rPr>
              <a:t>An embedded view never shows raw values, whatever the user's roles.</a:t>
            </a:r>
            <a:endParaRPr lang="en-US" sz="1500" dirty="0"/>
          </a:p>
          <a:p>
            <a:pPr indent="0" marL="0">
              <a:buNone/>
            </a:pPr>
            <a:r>
              <a:rPr lang="en-US" sz="1500" b="1" dirty="0">
                <a:solidFill>
                  <a:srgbClr val="A51C30"/>
                </a:solidFill>
              </a:rPr>
              <a:t>▪  CORS, exactly</a:t>
            </a:r>
            <a:endParaRPr lang="en-US" sz="1500" dirty="0"/>
          </a:p>
          <a:p>
            <a:pPr indent="0" marL="0">
              <a:spcAft>
                <a:spcPts val="900"/>
              </a:spcAft>
              <a:buNone/>
            </a:pPr>
            <a:r>
              <a:rPr lang="en-US" sz="1300" dirty="0">
                <a:solidFill>
                  <a:srgbClr val="4A5058"/>
                </a:solidFill>
              </a:rPr>
              <a:t>Only registered origins; never *, never credentials.</a:t>
            </a:r>
            <a:endParaRPr lang="en-US" sz="1500" dirty="0"/>
          </a:p>
        </p:txBody>
      </p:sp>
      <p:sp>
        <p:nvSpPr>
          <p:cNvPr id="11" name="Shape 8"/>
          <p:cNvSpPr/>
          <p:nvPr/>
        </p:nvSpPr>
        <p:spPr>
          <a:xfrm>
            <a:off x="777240" y="5550408"/>
            <a:ext cx="10634472" cy="694944"/>
          </a:xfrm>
          <a:prstGeom prst="rect">
            <a:avLst/>
          </a:prstGeom>
          <a:solidFill>
            <a:srgbClr val="F6E6E9"/>
          </a:solidFill>
          <a:ln/>
        </p:spPr>
        <p:txBody>
          <a:bodyPr/>
          <a:p/>
        </p:txBody>
      </p:sp>
      <p:sp>
        <p:nvSpPr>
          <p:cNvPr id="12" name="Shape 9"/>
          <p:cNvSpPr/>
          <p:nvPr/>
        </p:nvSpPr>
        <p:spPr>
          <a:xfrm>
            <a:off x="777240" y="5550408"/>
            <a:ext cx="54864" cy="694944"/>
          </a:xfrm>
          <a:prstGeom prst="rect">
            <a:avLst/>
          </a:prstGeom>
          <a:solidFill>
            <a:srgbClr val="A51C30"/>
          </a:solidFill>
          <a:ln/>
        </p:spPr>
        <p:txBody>
          <a:bodyPr/>
          <a:p/>
        </p:txBody>
      </p:sp>
      <p:sp>
        <p:nvSpPr>
          <p:cNvPr id="13" name="Text 10"/>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The token proves who and where; the server still decides what — on every call.</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COMPLIANCE</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Evidence, not just conversation</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463040"/>
            <a:ext cx="2507742" cy="1828800"/>
          </a:xfrm>
          <a:prstGeom prst="rect">
            <a:avLst/>
          </a:prstGeom>
          <a:solidFill>
            <a:srgbClr val="F7F5F2"/>
          </a:solidFill>
          <a:ln/>
        </p:spPr>
        <p:txBody>
          <a:bodyPr/>
          <a:p/>
        </p:txBody>
      </p:sp>
      <p:sp>
        <p:nvSpPr>
          <p:cNvPr id="7" name="Shape 4"/>
          <p:cNvSpPr/>
          <p:nvPr/>
        </p:nvSpPr>
        <p:spPr>
          <a:xfrm>
            <a:off x="777240" y="1463040"/>
            <a:ext cx="45720" cy="1828800"/>
          </a:xfrm>
          <a:prstGeom prst="rect">
            <a:avLst/>
          </a:prstGeom>
          <a:solidFill>
            <a:srgbClr val="A51C30"/>
          </a:solidFill>
          <a:ln/>
        </p:spPr>
        <p:txBody>
          <a:bodyPr/>
          <a:p/>
        </p:txBody>
      </p:sp>
      <p:sp>
        <p:nvSpPr>
          <p:cNvPr id="8" name="Text 5"/>
          <p:cNvSpPr txBox="1"/>
          <p:nvPr/>
        </p:nvSpPr>
        <p:spPr>
          <a:xfrm>
            <a:off x="978408" y="157276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Chained</a:t>
            </a:r>
            <a:endParaRPr lang="en-US" sz="2600" dirty="0"/>
          </a:p>
        </p:txBody>
      </p:sp>
      <p:sp>
        <p:nvSpPr>
          <p:cNvPr id="9" name="Text 6"/>
          <p:cNvSpPr txBox="1"/>
          <p:nvPr/>
        </p:nvSpPr>
        <p:spPr>
          <a:xfrm>
            <a:off x="978408" y="2066544"/>
            <a:ext cx="2187702" cy="1152144"/>
          </a:xfrm>
          <a:prstGeom prst="rect">
            <a:avLst/>
          </a:prstGeom>
          <a:noFill/>
          <a:ln/>
        </p:spPr>
        <p:txBody>
          <a:bodyPr wrap="square" lIns="0" tIns="0" rIns="0" bIns="0" rtlCol="0" anchor="t"/>
          <a:lstStyle/>
          <a:p>
            <a:pPr indent="0" marL="0">
              <a:buNone/>
            </a:pPr>
            <a:r>
              <a:rPr lang="en-US" sz="1300" dirty="0">
                <a:solidFill>
                  <a:srgbClr val="4A5058"/>
                </a:solidFill>
              </a:rPr>
              <a:t>Every revision of a thread or share hashes the one before</a:t>
            </a:r>
            <a:endParaRPr lang="en-US" sz="1300" dirty="0"/>
          </a:p>
        </p:txBody>
      </p:sp>
      <p:sp>
        <p:nvSpPr>
          <p:cNvPr id="10" name="Shape 7"/>
          <p:cNvSpPr/>
          <p:nvPr/>
        </p:nvSpPr>
        <p:spPr>
          <a:xfrm>
            <a:off x="3486150" y="1463040"/>
            <a:ext cx="2507742" cy="1828800"/>
          </a:xfrm>
          <a:prstGeom prst="rect">
            <a:avLst/>
          </a:prstGeom>
          <a:solidFill>
            <a:srgbClr val="F7F5F2"/>
          </a:solidFill>
          <a:ln/>
        </p:spPr>
        <p:txBody>
          <a:bodyPr/>
          <a:p/>
        </p:txBody>
      </p:sp>
      <p:sp>
        <p:nvSpPr>
          <p:cNvPr id="11" name="Shape 8"/>
          <p:cNvSpPr/>
          <p:nvPr/>
        </p:nvSpPr>
        <p:spPr>
          <a:xfrm>
            <a:off x="3486150" y="1463040"/>
            <a:ext cx="45720" cy="1828800"/>
          </a:xfrm>
          <a:prstGeom prst="rect">
            <a:avLst/>
          </a:prstGeom>
          <a:solidFill>
            <a:srgbClr val="A51C30"/>
          </a:solidFill>
          <a:ln/>
        </p:spPr>
        <p:txBody>
          <a:bodyPr/>
          <a:p/>
        </p:txBody>
      </p:sp>
      <p:sp>
        <p:nvSpPr>
          <p:cNvPr id="12" name="Text 9"/>
          <p:cNvSpPr txBox="1"/>
          <p:nvPr/>
        </p:nvSpPr>
        <p:spPr>
          <a:xfrm>
            <a:off x="3687318" y="157276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Sealed</a:t>
            </a:r>
            <a:endParaRPr lang="en-US" sz="2600" dirty="0"/>
          </a:p>
        </p:txBody>
      </p:sp>
      <p:sp>
        <p:nvSpPr>
          <p:cNvPr id="13" name="Text 10"/>
          <p:cNvSpPr txBox="1"/>
          <p:nvPr/>
        </p:nvSpPr>
        <p:spPr>
          <a:xfrm>
            <a:off x="3687318" y="2066544"/>
            <a:ext cx="2187702" cy="1152144"/>
          </a:xfrm>
          <a:prstGeom prst="rect">
            <a:avLst/>
          </a:prstGeom>
          <a:noFill/>
          <a:ln/>
        </p:spPr>
        <p:txBody>
          <a:bodyPr wrap="square" lIns="0" tIns="0" rIns="0" bIns="0" rtlCol="0" anchor="t"/>
          <a:lstStyle/>
          <a:p>
            <a:pPr indent="0" marL="0">
              <a:buNone/>
            </a:pPr>
            <a:r>
              <a:rPr lang="en-US" sz="1300" dirty="0">
                <a:solidFill>
                  <a:srgbClr val="4A5058"/>
                </a:solidFill>
              </a:rPr>
              <a:t>Seals cover comments, thread heads, holds and audit; verify on demand</a:t>
            </a:r>
            <a:endParaRPr lang="en-US" sz="1300" dirty="0"/>
          </a:p>
        </p:txBody>
      </p:sp>
      <p:sp>
        <p:nvSpPr>
          <p:cNvPr id="14" name="Shape 11"/>
          <p:cNvSpPr/>
          <p:nvPr/>
        </p:nvSpPr>
        <p:spPr>
          <a:xfrm>
            <a:off x="6195060" y="1463040"/>
            <a:ext cx="2507742" cy="1828800"/>
          </a:xfrm>
          <a:prstGeom prst="rect">
            <a:avLst/>
          </a:prstGeom>
          <a:solidFill>
            <a:srgbClr val="F7F5F2"/>
          </a:solidFill>
          <a:ln/>
        </p:spPr>
        <p:txBody>
          <a:bodyPr/>
          <a:p/>
        </p:txBody>
      </p:sp>
      <p:sp>
        <p:nvSpPr>
          <p:cNvPr id="15" name="Shape 12"/>
          <p:cNvSpPr/>
          <p:nvPr/>
        </p:nvSpPr>
        <p:spPr>
          <a:xfrm>
            <a:off x="6195060" y="1463040"/>
            <a:ext cx="45720" cy="1828800"/>
          </a:xfrm>
          <a:prstGeom prst="rect">
            <a:avLst/>
          </a:prstGeom>
          <a:solidFill>
            <a:srgbClr val="A51C30"/>
          </a:solidFill>
          <a:ln/>
        </p:spPr>
        <p:txBody>
          <a:bodyPr/>
          <a:p/>
        </p:txBody>
      </p:sp>
      <p:sp>
        <p:nvSpPr>
          <p:cNvPr id="16" name="Text 13"/>
          <p:cNvSpPr txBox="1"/>
          <p:nvPr/>
        </p:nvSpPr>
        <p:spPr>
          <a:xfrm>
            <a:off x="6396228" y="157276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Held</a:t>
            </a:r>
            <a:endParaRPr lang="en-US" sz="2600" dirty="0"/>
          </a:p>
        </p:txBody>
      </p:sp>
      <p:sp>
        <p:nvSpPr>
          <p:cNvPr id="17" name="Text 14"/>
          <p:cNvSpPr txBox="1"/>
          <p:nvPr/>
        </p:nvSpPr>
        <p:spPr>
          <a:xfrm>
            <a:off x="6396228" y="2066544"/>
            <a:ext cx="2187702" cy="1152144"/>
          </a:xfrm>
          <a:prstGeom prst="rect">
            <a:avLst/>
          </a:prstGeom>
          <a:noFill/>
          <a:ln/>
        </p:spPr>
        <p:txBody>
          <a:bodyPr wrap="square" lIns="0" tIns="0" rIns="0" bIns="0" rtlCol="0" anchor="t"/>
          <a:lstStyle/>
          <a:p>
            <a:pPr indent="0" marL="0">
              <a:buNone/>
            </a:pPr>
            <a:r>
              <a:rPr lang="en-US" sz="1300" dirty="0">
                <a:solidFill>
                  <a:srgbClr val="4A5058"/>
                </a:solidFill>
              </a:rPr>
              <a:t>Legal holds by entity, user, thread or all (423 while held)</a:t>
            </a:r>
            <a:endParaRPr lang="en-US" sz="1300" dirty="0"/>
          </a:p>
        </p:txBody>
      </p:sp>
      <p:sp>
        <p:nvSpPr>
          <p:cNvPr id="18" name="Shape 15"/>
          <p:cNvSpPr/>
          <p:nvPr/>
        </p:nvSpPr>
        <p:spPr>
          <a:xfrm>
            <a:off x="8903970" y="1463040"/>
            <a:ext cx="2507742" cy="1828800"/>
          </a:xfrm>
          <a:prstGeom prst="rect">
            <a:avLst/>
          </a:prstGeom>
          <a:solidFill>
            <a:srgbClr val="F7F5F2"/>
          </a:solidFill>
          <a:ln/>
        </p:spPr>
        <p:txBody>
          <a:bodyPr/>
          <a:p/>
        </p:txBody>
      </p:sp>
      <p:sp>
        <p:nvSpPr>
          <p:cNvPr id="19" name="Shape 16"/>
          <p:cNvSpPr/>
          <p:nvPr/>
        </p:nvSpPr>
        <p:spPr>
          <a:xfrm>
            <a:off x="8903970" y="1463040"/>
            <a:ext cx="45720" cy="1828800"/>
          </a:xfrm>
          <a:prstGeom prst="rect">
            <a:avLst/>
          </a:prstGeom>
          <a:solidFill>
            <a:srgbClr val="A51C30"/>
          </a:solidFill>
          <a:ln/>
        </p:spPr>
        <p:txBody>
          <a:bodyPr/>
          <a:p/>
        </p:txBody>
      </p:sp>
      <p:sp>
        <p:nvSpPr>
          <p:cNvPr id="20" name="Text 17"/>
          <p:cNvSpPr txBox="1"/>
          <p:nvPr/>
        </p:nvSpPr>
        <p:spPr>
          <a:xfrm>
            <a:off x="9105138" y="157276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Exported</a:t>
            </a:r>
            <a:endParaRPr lang="en-US" sz="2600" dirty="0"/>
          </a:p>
        </p:txBody>
      </p:sp>
      <p:sp>
        <p:nvSpPr>
          <p:cNvPr id="21" name="Text 18"/>
          <p:cNvSpPr txBox="1"/>
          <p:nvPr/>
        </p:nvSpPr>
        <p:spPr>
          <a:xfrm>
            <a:off x="9105138" y="2066544"/>
            <a:ext cx="2187702" cy="1152144"/>
          </a:xfrm>
          <a:prstGeom prst="rect">
            <a:avLst/>
          </a:prstGeom>
          <a:noFill/>
          <a:ln/>
        </p:spPr>
        <p:txBody>
          <a:bodyPr wrap="square" lIns="0" tIns="0" rIns="0" bIns="0" rtlCol="0" anchor="t"/>
          <a:lstStyle/>
          <a:p>
            <a:pPr indent="0" marL="0">
              <a:buNone/>
            </a:pPr>
            <a:r>
              <a:rPr lang="en-US" sz="1300" dirty="0">
                <a:solidFill>
                  <a:srgbClr val="4A5058"/>
                </a:solidFill>
              </a:rPr>
              <a:t>eDiscovery zip with a manifest; one-shot download</a:t>
            </a:r>
            <a:endParaRPr lang="en-US" sz="1300" dirty="0"/>
          </a:p>
        </p:txBody>
      </p:sp>
      <p:sp>
        <p:nvSpPr>
          <p:cNvPr id="22" name="Text 19"/>
          <p:cNvSpPr txBox="1"/>
          <p:nvPr/>
        </p:nvSpPr>
        <p:spPr>
          <a:xfrm>
            <a:off x="777240" y="3520440"/>
            <a:ext cx="10634472" cy="1920240"/>
          </a:xfrm>
          <a:prstGeom prst="rect">
            <a:avLst/>
          </a:prstGeom>
          <a:noFill/>
          <a:ln/>
        </p:spPr>
        <p:txBody>
          <a:bodyPr wrap="square" lIns="0" tIns="0" rIns="0" bIns="0" rtlCol="0" anchor="t"/>
          <a:lstStyle/>
          <a:p>
            <a:pPr indent="0" marL="0">
              <a:buNone/>
            </a:pPr>
            <a:r>
              <a:rPr lang="en-US" sz="1800" b="1" dirty="0">
                <a:solidFill>
                  <a:srgbClr val="A51C30"/>
                </a:solidFill>
              </a:rPr>
              <a:t>▪  Retract and hide, never delete</a:t>
            </a:r>
            <a:endParaRPr lang="en-US" sz="1800" dirty="0"/>
          </a:p>
          <a:p>
            <a:pPr indent="0" marL="0">
              <a:spcAft>
                <a:spcPts val="1400"/>
              </a:spcAft>
              <a:buNone/>
            </a:pPr>
            <a:r>
              <a:rPr lang="en-US" sz="1500" dirty="0">
                <a:solidFill>
                  <a:srgbClr val="4A5058"/>
                </a:solidFill>
              </a:rPr>
              <a:t>Retention keeps for ever by default; a hidden comment is still in the record.</a:t>
            </a:r>
            <a:endParaRPr lang="en-US" sz="1800" dirty="0"/>
          </a:p>
          <a:p>
            <a:pPr indent="0" marL="0">
              <a:buNone/>
            </a:pPr>
            <a:r>
              <a:rPr lang="en-US" sz="1800" b="1" dirty="0">
                <a:solidFill>
                  <a:srgbClr val="A51C30"/>
                </a:solidFill>
              </a:rPr>
              <a:t>▪  Measured</a:t>
            </a:r>
            <a:endParaRPr lang="en-US" sz="1800" dirty="0"/>
          </a:p>
          <a:p>
            <a:pPr indent="0" marL="0">
              <a:spcAft>
                <a:spcPts val="1400"/>
              </a:spcAft>
              <a:buNone/>
            </a:pPr>
            <a:r>
              <a:rPr lang="en-US" sz="1500" dirty="0">
                <a:solidFill>
                  <a:srgbClr val="4A5058"/>
                </a:solidFill>
              </a:rPr>
              <a:t>An export of 8,300 comments builds in 2.0 s and downloads (19.8 MB) in 3.1 s.</a:t>
            </a:r>
            <a:endParaRPr lang="en-US" sz="1800" dirty="0"/>
          </a:p>
          <a:p>
            <a:pPr indent="0" marL="0">
              <a:buNone/>
            </a:pPr>
            <a:r>
              <a:rPr lang="en-US" sz="1800" b="1" dirty="0">
                <a:solidFill>
                  <a:srgbClr val="A51C30"/>
                </a:solidFill>
              </a:rPr>
              <a:t>▪  Only for compliance</a:t>
            </a:r>
            <a:endParaRPr lang="en-US" sz="1800" dirty="0"/>
          </a:p>
          <a:p>
            <a:pPr indent="0" marL="0">
              <a:spcAft>
                <a:spcPts val="1400"/>
              </a:spcAft>
              <a:buNone/>
            </a:pPr>
            <a:r>
              <a:rPr lang="en-US" sz="1500" dirty="0">
                <a:solidFill>
                  <a:srgbClr val="4A5058"/>
                </a:solidFill>
              </a:rPr>
              <a:t>Legal holds and the export need the compliance power; an export downloads once.</a:t>
            </a:r>
            <a:endParaRPr lang="en-US" sz="1800" dirty="0"/>
          </a:p>
        </p:txBody>
      </p:sp>
      <p:sp>
        <p:nvSpPr>
          <p:cNvPr id="23" name="Shape 20"/>
          <p:cNvSpPr/>
          <p:nvPr/>
        </p:nvSpPr>
        <p:spPr>
          <a:xfrm>
            <a:off x="777240" y="5550408"/>
            <a:ext cx="10634472" cy="694944"/>
          </a:xfrm>
          <a:prstGeom prst="rect">
            <a:avLst/>
          </a:prstGeom>
          <a:solidFill>
            <a:srgbClr val="F6E6E9"/>
          </a:solidFill>
          <a:ln/>
        </p:spPr>
        <p:txBody>
          <a:bodyPr/>
          <a:p/>
        </p:txBody>
      </p:sp>
      <p:sp>
        <p:nvSpPr>
          <p:cNvPr id="24" name="Shape 21"/>
          <p:cNvSpPr/>
          <p:nvPr/>
        </p:nvSpPr>
        <p:spPr>
          <a:xfrm>
            <a:off x="777240" y="5550408"/>
            <a:ext cx="54864" cy="694944"/>
          </a:xfrm>
          <a:prstGeom prst="rect">
            <a:avLst/>
          </a:prstGeom>
          <a:solidFill>
            <a:srgbClr val="A51C30"/>
          </a:solidFill>
          <a:ln/>
        </p:spPr>
        <p:txBody>
          <a:bodyPr/>
          <a:p/>
        </p:txBody>
      </p:sp>
      <p:sp>
        <p:nvSpPr>
          <p:cNvPr id="25" name="Text 22"/>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Tamper evidence is the honest claim: Drishti cannot stop a database administrator, but it shows when one acted.</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Chapter background"/>
          <p:cNvSpPr/>
          <p:nvPr/>
        </p:nvSpPr>
        <p:spPr>
          <a:xfrm>
            <a:off x="0" y="0"/>
            <a:ext cx="12191969"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Chapter watermark"/>
          <p:cNvSpPr txBox="1"/>
          <p:nvPr/>
        </p:nvSpPr>
        <p:spPr>
          <a:xfrm>
            <a:off x="4754880" y="-822960"/>
            <a:ext cx="7223760" cy="7863840"/>
          </a:xfrm>
          <a:prstGeom prst="rect">
            <a:avLst/>
          </a:prstGeom>
          <a:noFill/>
        </p:spPr>
        <p:txBody>
          <a:bodyPr wrap="none" lIns="0" rIns="0" tIns="0" bIns="0" anchor="ctr">
            <a:spAutoFit/>
          </a:bodyPr>
          <a:lstStyle/>
          <a:p>
            <a:pPr algn="r"/>
            <a:r>
              <a:rPr sz="42000" b="1" i="0">
                <a:solidFill>
                  <a:srgbClr val="B8394C"/>
                </a:solidFill>
              </a:rPr>
              <a:t>05</a:t>
            </a:r>
          </a:p>
        </p:txBody>
      </p:sp>
      <p:sp>
        <p:nvSpPr>
          <p:cNvPr id="4" name="Chapter name"/>
          <p:cNvSpPr txBox="1"/>
          <p:nvPr/>
        </p:nvSpPr>
        <p:spPr>
          <a:xfrm>
            <a:off x="822960" y="2514600"/>
            <a:ext cx="6949440" cy="1828800"/>
          </a:xfrm>
          <a:prstGeom prst="rect">
            <a:avLst/>
          </a:prstGeom>
          <a:noFill/>
        </p:spPr>
        <p:txBody>
          <a:bodyPr wrap="square" lIns="0" rIns="0" tIns="0" bIns="0" anchor="ctr">
            <a:spAutoFit/>
          </a:bodyPr>
          <a:lstStyle/>
          <a:p>
            <a:pPr algn="l"/>
            <a:r>
              <a:rPr sz="4400" b="1" i="0">
                <a:solidFill>
                  <a:srgbClr val="FFFFFF"/>
                </a:solidFill>
              </a:rPr>
              <a:t>Evidence, by the numbers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ERRORS AS A CONTRACT</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243 error codes, every one documented</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417320"/>
            <a:ext cx="5394960" cy="2377440"/>
          </a:xfrm>
          <a:prstGeom prst="rect">
            <a:avLst/>
          </a:prstGeom>
          <a:solidFill>
            <a:srgbClr val="1E1E24"/>
          </a:solidFill>
          <a:ln/>
        </p:spPr>
        <p:txBody>
          <a:bodyPr/>
          <a:p/>
        </p:txBody>
      </p:sp>
      <p:sp>
        <p:nvSpPr>
          <p:cNvPr id="7" name="Text 4"/>
          <p:cNvSpPr txBox="1"/>
          <p:nvPr/>
        </p:nvSpPr>
        <p:spPr>
          <a:xfrm>
            <a:off x="978408" y="1581912"/>
            <a:ext cx="4992624" cy="2103120"/>
          </a:xfrm>
          <a:prstGeom prst="rect">
            <a:avLst/>
          </a:prstGeom>
          <a:noFill/>
          <a:ln/>
        </p:spPr>
        <p:txBody>
          <a:bodyPr wrap="square" lIns="0" tIns="0" rIns="0" bIns="0" rtlCol="0" anchor="t"/>
          <a:lstStyle/>
          <a:p>
            <a:pPr indent="0" marL="0">
              <a:lnSpc>
                <a:spcPct val="105000"/>
              </a:lnSpc>
              <a:buNone/>
            </a:pPr>
            <a:r>
              <a:rPr lang="en-US" sz="1150" dirty="0">
                <a:solidFill>
                  <a:srgbClr val="F1EEE9"/>
                </a:solidFill>
                <a:latin typeface="Courier New" pitchFamily="34" charset="0"/>
                <a:ea typeface="Courier New" pitchFamily="34" charset="-122"/>
                <a:cs typeface="Courier New" pitchFamily="34" charset="-120"/>
              </a:rPr>
              <a:t>$ curl -s server/api/v1/views/trade/NOPE-404</a:t>
            </a:r>
            <a:endParaRPr lang="en-US" sz="1150" dirty="0"/>
          </a:p>
          <a:p>
            <a:pPr indent="0" marL="0">
              <a:lnSpc>
                <a:spcPct val="105000"/>
              </a:lnSpc>
              <a:buNone/>
            </a:pPr>
            <a:r>
              <a:rPr lang="en-US" sz="1150" dirty="0">
                <a:solidFill>
                  <a:srgbClr val="F1EEE9"/>
                </a:solidFill>
                <a:latin typeface="Courier New" pitchFamily="34" charset="0"/>
                <a:ea typeface="Courier New" pitchFamily="34" charset="-122"/>
                <a:cs typeface="Courier New" pitchFamily="34" charset="-120"/>
              </a:rPr>
              <a:t>Content-Type: application/problem+json</a:t>
            </a:r>
            <a:endParaRPr lang="en-US" sz="1150" dirty="0"/>
          </a:p>
          <a:p>
            <a:pPr indent="0" marL="0">
              <a:lnSpc>
                <a:spcPct val="105000"/>
              </a:lnSpc>
              <a:buNone/>
            </a:pPr>
            <a:r>
              <a:rPr lang="en-US" sz="1150" dirty="0">
                <a:solidFill>
                  <a:srgbClr val="F1EEE9"/>
                </a:solidFill>
                <a:latin typeface="Courier New" pitchFamily="34" charset="0"/>
                <a:ea typeface="Courier New" pitchFamily="34" charset="-122"/>
                <a:cs typeface="Courier New" pitchFamily="34" charset="-120"/>
              </a:rPr>
              <a:t>{ "status": 404,</a:t>
            </a:r>
            <a:endParaRPr lang="en-US" sz="1150" dirty="0"/>
          </a:p>
          <a:p>
            <a:pPr indent="0" marL="0">
              <a:lnSpc>
                <a:spcPct val="105000"/>
              </a:lnSpc>
              <a:buNone/>
            </a:pPr>
            <a:r>
              <a:rPr lang="en-US" sz="1150" dirty="0">
                <a:solidFill>
                  <a:srgbClr val="F1EEE9"/>
                </a:solidFill>
                <a:latin typeface="Courier New" pitchFamily="34" charset="0"/>
                <a:ea typeface="Courier New" pitchFamily="34" charset="-122"/>
                <a:cs typeface="Courier New" pitchFamily="34" charset="-120"/>
              </a:rPr>
              <a:t>  "code":   "DRS-1001",</a:t>
            </a:r>
            <a:endParaRPr lang="en-US" sz="1150" dirty="0"/>
          </a:p>
          <a:p>
            <a:pPr indent="0" marL="0">
              <a:lnSpc>
                <a:spcPct val="105000"/>
              </a:lnSpc>
              <a:buNone/>
            </a:pPr>
            <a:r>
              <a:rPr lang="en-US" sz="1150" dirty="0">
                <a:solidFill>
                  <a:srgbClr val="F1EEE9"/>
                </a:solidFill>
                <a:latin typeface="Courier New" pitchFamily="34" charset="0"/>
                <a:ea typeface="Courier New" pitchFamily="34" charset="-122"/>
                <a:cs typeface="Courier New" pitchFamily="34" charset="-120"/>
              </a:rPr>
              <a:t>  "title":  "entity not found",</a:t>
            </a:r>
            <a:endParaRPr lang="en-US" sz="1150" dirty="0"/>
          </a:p>
          <a:p>
            <a:pPr indent="0" marL="0">
              <a:lnSpc>
                <a:spcPct val="105000"/>
              </a:lnSpc>
              <a:buNone/>
            </a:pPr>
            <a:r>
              <a:rPr lang="en-US" sz="1150" dirty="0">
                <a:solidFill>
                  <a:srgbClr val="F1EEE9"/>
                </a:solidFill>
                <a:latin typeface="Courier New" pitchFamily="34" charset="0"/>
                <a:ea typeface="Courier New" pitchFamily="34" charset="-122"/>
                <a:cs typeface="Courier New" pitchFamily="34" charset="-120"/>
              </a:rPr>
              <a:t>  "detail": "no source holds the entity" }</a:t>
            </a:r>
            <a:endParaRPr lang="en-US" sz="11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446520" y="1417320"/>
          <a:ext cx="4965192" cy="914400"/>
        </p:xfrm>
        <a:graphic>
          <a:graphicData uri="http://schemas.openxmlformats.org/drawingml/2006/table">
            <a:tbl>
              <a:tblPr/>
              <a:tblGrid>
                <a:gridCol w="1325880"/>
                <a:gridCol w="2770632"/>
                <a:gridCol w="868680"/>
              </a:tblGrid>
              <a:tr h="0">
                <a:tc>
                  <a:txBody>
                    <a:bodyPr/>
                    <a:lstStyle/>
                    <a:p>
                      <a:pPr indent="0" marL="0">
                        <a:buNone/>
                      </a:pPr>
                      <a:r>
                        <a:rPr lang="en-US" sz="1200" b="1" dirty="0">
                          <a:solidFill>
                            <a:srgbClr val="FFFFFF"/>
                          </a:solidFill>
                        </a:rPr>
                        <a:t>Family</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c>
                  <a:txBody>
                    <a:bodyPr/>
                    <a:lstStyle/>
                    <a:p>
                      <a:pPr indent="0" marL="0">
                        <a:buNone/>
                      </a:pPr>
                      <a:r>
                        <a:rPr lang="en-US" sz="1200" b="1" dirty="0">
                          <a:solidFill>
                            <a:srgbClr val="FFFFFF"/>
                          </a:solidFill>
                        </a:rPr>
                        <a:t>Area</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c>
                  <a:txBody>
                    <a:bodyPr/>
                    <a:lstStyle/>
                    <a:p>
                      <a:pPr indent="0" marL="0">
                        <a:buNone/>
                      </a:pPr>
                      <a:r>
                        <a:rPr lang="en-US" sz="1200" b="1" dirty="0">
                          <a:solidFill>
                            <a:srgbClr val="FFFFFF"/>
                          </a:solidFill>
                        </a:rPr>
                        <a:t>Codes</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r>
              <a:tr h="0">
                <a:tc>
                  <a:txBody>
                    <a:bodyPr/>
                    <a:lstStyle/>
                    <a:p>
                      <a:pPr indent="0" marL="0">
                        <a:buNone/>
                      </a:pPr>
                      <a:r>
                        <a:rPr lang="en-US" sz="1200" b="1" dirty="0">
                          <a:solidFill>
                            <a:srgbClr val="8A1626"/>
                          </a:solidFill>
                        </a:rPr>
                        <a:t>DRS-1xxx</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200" dirty="0">
                          <a:solidFill>
                            <a:srgbClr val="1A1A1A"/>
                          </a:solidFill>
                        </a:rPr>
                        <a:t>Entities and sources</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200" dirty="0">
                          <a:solidFill>
                            <a:srgbClr val="1A1A1A"/>
                          </a:solidFill>
                        </a:rPr>
                        <a:t>13</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0">
                <a:tc>
                  <a:txBody>
                    <a:bodyPr/>
                    <a:lstStyle/>
                    <a:p>
                      <a:pPr indent="0" marL="0">
                        <a:buNone/>
                      </a:pPr>
                      <a:r>
                        <a:rPr lang="en-US" sz="1200" b="1" dirty="0">
                          <a:solidFill>
                            <a:srgbClr val="8A1626"/>
                          </a:solidFill>
                        </a:rPr>
                        <a:t>DRS-2/3xxx</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Grammar, Sutras, inference</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11</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8A1626"/>
                          </a:solidFill>
                        </a:rPr>
                        <a:t>DRS-4xxx</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200" dirty="0">
                          <a:solidFill>
                            <a:srgbClr val="1A1A1A"/>
                          </a:solidFill>
                        </a:rPr>
                        <a:t>Commands and search</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200" dirty="0">
                          <a:solidFill>
                            <a:srgbClr val="1A1A1A"/>
                          </a:solidFill>
                        </a:rPr>
                        <a:t>18</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0">
                <a:tc>
                  <a:txBody>
                    <a:bodyPr/>
                    <a:lstStyle/>
                    <a:p>
                      <a:pPr indent="0" marL="0">
                        <a:buNone/>
                      </a:pPr>
                      <a:r>
                        <a:rPr lang="en-US" sz="1200" b="1" dirty="0">
                          <a:solidFill>
                            <a:srgbClr val="8A1626"/>
                          </a:solidFill>
                        </a:rPr>
                        <a:t>DRS-5xxx</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Requests, Drishti*net, VaR, exposure</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48</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8A1626"/>
                          </a:solidFill>
                        </a:rPr>
                        <a:t>DRS-6xxx</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200" dirty="0">
                          <a:solidFill>
                            <a:srgbClr val="1A1A1A"/>
                          </a:solidFill>
                        </a:rPr>
                        <a:t>Users, roles, tokens</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200" dirty="0">
                          <a:solidFill>
                            <a:srgbClr val="1A1A1A"/>
                          </a:solidFill>
                        </a:rPr>
                        <a:t>11</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0">
                <a:tc>
                  <a:txBody>
                    <a:bodyPr/>
                    <a:lstStyle/>
                    <a:p>
                      <a:pPr indent="0" marL="0">
                        <a:buNone/>
                      </a:pPr>
                      <a:r>
                        <a:rPr lang="en-US" sz="1200" b="1" dirty="0">
                          <a:solidFill>
                            <a:srgbClr val="8A1626"/>
                          </a:solidFill>
                        </a:rPr>
                        <a:t>DRS-7xxx</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Collaboration</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16</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8A1626"/>
                          </a:solidFill>
                        </a:rPr>
                        <a:t>DRS-8xxx</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200" dirty="0">
                          <a:solidFill>
                            <a:srgbClr val="1A1A1A"/>
                          </a:solidFill>
                        </a:rPr>
                        <a:t>Embedding</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200" dirty="0">
                          <a:solidFill>
                            <a:srgbClr val="1A1A1A"/>
                          </a:solidFill>
                        </a:rPr>
                        <a:t>6</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0">
                <a:tc>
                  <a:txBody>
                    <a:bodyPr/>
                    <a:lstStyle/>
                    <a:p>
                      <a:pPr indent="0" marL="0">
                        <a:buNone/>
                      </a:pPr>
                      <a:r>
                        <a:rPr lang="en-US" sz="1200" b="1" dirty="0">
                          <a:solidFill>
                            <a:srgbClr val="8A1626"/>
                          </a:solidFill>
                        </a:rPr>
                        <a:t>DRS-9xxx</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Business intelligence, runs</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120</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bl>
          </a:graphicData>
        </a:graphic>
      </p:graphicFrame>
      <p:sp>
        <p:nvSpPr>
          <p:cNvPr id="9" name="Shape 5"/>
          <p:cNvSpPr/>
          <p:nvPr/>
        </p:nvSpPr>
        <p:spPr>
          <a:xfrm>
            <a:off x="777240" y="3931920"/>
            <a:ext cx="1664208" cy="1371600"/>
          </a:xfrm>
          <a:prstGeom prst="rect">
            <a:avLst/>
          </a:prstGeom>
          <a:solidFill>
            <a:srgbClr val="F7F5F2"/>
          </a:solidFill>
          <a:ln/>
        </p:spPr>
        <p:txBody>
          <a:bodyPr/>
          <a:p/>
        </p:txBody>
      </p:sp>
      <p:sp>
        <p:nvSpPr>
          <p:cNvPr id="10" name="Shape 6"/>
          <p:cNvSpPr/>
          <p:nvPr/>
        </p:nvSpPr>
        <p:spPr>
          <a:xfrm>
            <a:off x="777240" y="3931920"/>
            <a:ext cx="45720" cy="1371600"/>
          </a:xfrm>
          <a:prstGeom prst="rect">
            <a:avLst/>
          </a:prstGeom>
          <a:solidFill>
            <a:srgbClr val="A51C30"/>
          </a:solidFill>
          <a:ln/>
        </p:spPr>
        <p:txBody>
          <a:bodyPr/>
          <a:p/>
        </p:txBody>
      </p:sp>
      <p:sp>
        <p:nvSpPr>
          <p:cNvPr id="11" name="Text 7"/>
          <p:cNvSpPr txBox="1"/>
          <p:nvPr/>
        </p:nvSpPr>
        <p:spPr>
          <a:xfrm>
            <a:off x="978408" y="4041648"/>
            <a:ext cx="1344168" cy="502920"/>
          </a:xfrm>
          <a:prstGeom prst="rect">
            <a:avLst/>
          </a:prstGeom>
          <a:noFill/>
          <a:ln/>
        </p:spPr>
        <p:txBody>
          <a:bodyPr wrap="square" lIns="0" tIns="0" rIns="0" bIns="0" rtlCol="0" anchor="ctr"/>
          <a:lstStyle/>
          <a:p>
            <a:pPr indent="0" marL="0">
              <a:buNone/>
            </a:pPr>
            <a:r>
              <a:rPr lang="en-US" sz="2600" b="1" dirty="0">
                <a:solidFill>
                  <a:srgbClr val="8A1626"/>
                </a:solidFill>
              </a:rPr>
              <a:t>243</a:t>
            </a:r>
            <a:endParaRPr lang="en-US" sz="2600" dirty="0"/>
          </a:p>
        </p:txBody>
      </p:sp>
      <p:sp>
        <p:nvSpPr>
          <p:cNvPr id="12" name="Text 8"/>
          <p:cNvSpPr txBox="1"/>
          <p:nvPr/>
        </p:nvSpPr>
        <p:spPr>
          <a:xfrm>
            <a:off x="978408" y="4535424"/>
            <a:ext cx="1344168" cy="694944"/>
          </a:xfrm>
          <a:prstGeom prst="rect">
            <a:avLst/>
          </a:prstGeom>
          <a:noFill/>
          <a:ln/>
        </p:spPr>
        <p:txBody>
          <a:bodyPr wrap="square" lIns="0" tIns="0" rIns="0" bIns="0" rtlCol="0" anchor="t"/>
          <a:lstStyle/>
          <a:p>
            <a:pPr indent="0" marL="0">
              <a:buNone/>
            </a:pPr>
            <a:r>
              <a:rPr lang="en-US" sz="1300" dirty="0">
                <a:solidFill>
                  <a:srgbClr val="4A5058"/>
                </a:solidFill>
              </a:rPr>
              <a:t>Codes in nine families, one table</a:t>
            </a:r>
            <a:endParaRPr lang="en-US" sz="1300" dirty="0"/>
          </a:p>
        </p:txBody>
      </p:sp>
      <p:sp>
        <p:nvSpPr>
          <p:cNvPr id="13" name="Shape 9"/>
          <p:cNvSpPr/>
          <p:nvPr/>
        </p:nvSpPr>
        <p:spPr>
          <a:xfrm>
            <a:off x="2642616" y="3931920"/>
            <a:ext cx="1664208" cy="1371600"/>
          </a:xfrm>
          <a:prstGeom prst="rect">
            <a:avLst/>
          </a:prstGeom>
          <a:solidFill>
            <a:srgbClr val="F7F5F2"/>
          </a:solidFill>
          <a:ln/>
        </p:spPr>
        <p:txBody>
          <a:bodyPr/>
          <a:p/>
        </p:txBody>
      </p:sp>
      <p:sp>
        <p:nvSpPr>
          <p:cNvPr id="14" name="Shape 10"/>
          <p:cNvSpPr/>
          <p:nvPr/>
        </p:nvSpPr>
        <p:spPr>
          <a:xfrm>
            <a:off x="2642616" y="3931920"/>
            <a:ext cx="45720" cy="1371600"/>
          </a:xfrm>
          <a:prstGeom prst="rect">
            <a:avLst/>
          </a:prstGeom>
          <a:solidFill>
            <a:srgbClr val="A51C30"/>
          </a:solidFill>
          <a:ln/>
        </p:spPr>
        <p:txBody>
          <a:bodyPr/>
          <a:p/>
        </p:txBody>
      </p:sp>
      <p:sp>
        <p:nvSpPr>
          <p:cNvPr id="15" name="Text 11"/>
          <p:cNvSpPr txBox="1"/>
          <p:nvPr/>
        </p:nvSpPr>
        <p:spPr>
          <a:xfrm>
            <a:off x="2843784" y="4041648"/>
            <a:ext cx="1344168" cy="502920"/>
          </a:xfrm>
          <a:prstGeom prst="rect">
            <a:avLst/>
          </a:prstGeom>
          <a:noFill/>
          <a:ln/>
        </p:spPr>
        <p:txBody>
          <a:bodyPr wrap="square" lIns="0" tIns="0" rIns="0" bIns="0" rtlCol="0" anchor="ctr"/>
          <a:lstStyle/>
          <a:p>
            <a:pPr indent="0" marL="0">
              <a:buNone/>
            </a:pPr>
            <a:r>
              <a:rPr lang="en-US" sz="2600" b="1" dirty="0">
                <a:solidFill>
                  <a:srgbClr val="8A1626"/>
                </a:solidFill>
              </a:rPr>
              <a:t>47</a:t>
            </a:r>
            <a:endParaRPr lang="en-US" sz="2600" dirty="0"/>
          </a:p>
        </p:txBody>
      </p:sp>
      <p:sp>
        <p:nvSpPr>
          <p:cNvPr id="16" name="Text 12"/>
          <p:cNvSpPr txBox="1"/>
          <p:nvPr/>
        </p:nvSpPr>
        <p:spPr>
          <a:xfrm>
            <a:off x="2843784" y="4535424"/>
            <a:ext cx="1344168" cy="694944"/>
          </a:xfrm>
          <a:prstGeom prst="rect">
            <a:avLst/>
          </a:prstGeom>
          <a:noFill/>
          <a:ln/>
        </p:spPr>
        <p:txBody>
          <a:bodyPr wrap="square" lIns="0" tIns="0" rIns="0" bIns="0" rtlCol="0" anchor="t"/>
          <a:lstStyle/>
          <a:p>
            <a:pPr indent="0" marL="0">
              <a:buNone/>
            </a:pPr>
            <a:r>
              <a:rPr lang="en-US" sz="1300" dirty="0">
                <a:solidFill>
                  <a:srgbClr val="4A5058"/>
                </a:solidFill>
              </a:rPr>
              <a:t>Sutra problem codes in the grammar reference</a:t>
            </a:r>
            <a:endParaRPr lang="en-US" sz="1300" dirty="0"/>
          </a:p>
        </p:txBody>
      </p:sp>
      <p:sp>
        <p:nvSpPr>
          <p:cNvPr id="17" name="Shape 13"/>
          <p:cNvSpPr/>
          <p:nvPr/>
        </p:nvSpPr>
        <p:spPr>
          <a:xfrm>
            <a:off x="4507992" y="3931920"/>
            <a:ext cx="1664208" cy="1371600"/>
          </a:xfrm>
          <a:prstGeom prst="rect">
            <a:avLst/>
          </a:prstGeom>
          <a:solidFill>
            <a:srgbClr val="F7F5F2"/>
          </a:solidFill>
          <a:ln/>
        </p:spPr>
        <p:txBody>
          <a:bodyPr/>
          <a:p/>
        </p:txBody>
      </p:sp>
      <p:sp>
        <p:nvSpPr>
          <p:cNvPr id="18" name="Shape 14"/>
          <p:cNvSpPr/>
          <p:nvPr/>
        </p:nvSpPr>
        <p:spPr>
          <a:xfrm>
            <a:off x="4507992" y="3931920"/>
            <a:ext cx="45720" cy="1371600"/>
          </a:xfrm>
          <a:prstGeom prst="rect">
            <a:avLst/>
          </a:prstGeom>
          <a:solidFill>
            <a:srgbClr val="A51C30"/>
          </a:solidFill>
          <a:ln/>
        </p:spPr>
        <p:txBody>
          <a:bodyPr/>
          <a:p/>
        </p:txBody>
      </p:sp>
      <p:sp>
        <p:nvSpPr>
          <p:cNvPr id="19" name="Text 15"/>
          <p:cNvSpPr txBox="1"/>
          <p:nvPr/>
        </p:nvSpPr>
        <p:spPr>
          <a:xfrm>
            <a:off x="4709160" y="4041648"/>
            <a:ext cx="1344168" cy="502920"/>
          </a:xfrm>
          <a:prstGeom prst="rect">
            <a:avLst/>
          </a:prstGeom>
          <a:noFill/>
          <a:ln/>
        </p:spPr>
        <p:txBody>
          <a:bodyPr wrap="square" lIns="0" tIns="0" rIns="0" bIns="0" rtlCol="0" anchor="ctr"/>
          <a:lstStyle/>
          <a:p>
            <a:pPr indent="0" marL="0">
              <a:buNone/>
            </a:pPr>
            <a:r>
              <a:rPr lang="en-US" sz="2600" b="1" dirty="0">
                <a:solidFill>
                  <a:srgbClr val="8A1626"/>
                </a:solidFill>
              </a:rPr>
              <a:t>RFC 7807</a:t>
            </a:r>
            <a:endParaRPr lang="en-US" sz="2600" dirty="0"/>
          </a:p>
        </p:txBody>
      </p:sp>
      <p:sp>
        <p:nvSpPr>
          <p:cNvPr id="20" name="Text 16"/>
          <p:cNvSpPr txBox="1"/>
          <p:nvPr/>
        </p:nvSpPr>
        <p:spPr>
          <a:xfrm>
            <a:off x="4709160" y="4535424"/>
            <a:ext cx="1344168" cy="694944"/>
          </a:xfrm>
          <a:prstGeom prst="rect">
            <a:avLst/>
          </a:prstGeom>
          <a:noFill/>
          <a:ln/>
        </p:spPr>
        <p:txBody>
          <a:bodyPr wrap="square" lIns="0" tIns="0" rIns="0" bIns="0" rtlCol="0" anchor="t"/>
          <a:lstStyle/>
          <a:p>
            <a:pPr indent="0" marL="0">
              <a:buNone/>
            </a:pPr>
            <a:r>
              <a:rPr lang="en-US" sz="1300" dirty="0">
                <a:solidFill>
                  <a:srgbClr val="4A5058"/>
                </a:solidFill>
              </a:rPr>
              <a:t>problem+json, the same shape everywhere</a:t>
            </a:r>
            <a:endParaRPr lang="en-US" sz="1300" dirty="0"/>
          </a:p>
        </p:txBody>
      </p:sp>
      <p:sp>
        <p:nvSpPr>
          <p:cNvPr id="21" name="Shape 17"/>
          <p:cNvSpPr/>
          <p:nvPr/>
        </p:nvSpPr>
        <p:spPr>
          <a:xfrm>
            <a:off x="777240" y="5550408"/>
            <a:ext cx="10634472" cy="694944"/>
          </a:xfrm>
          <a:prstGeom prst="rect">
            <a:avLst/>
          </a:prstGeom>
          <a:solidFill>
            <a:srgbClr val="F6E6E9"/>
          </a:solidFill>
          <a:ln/>
        </p:spPr>
        <p:txBody>
          <a:bodyPr/>
          <a:p/>
        </p:txBody>
      </p:sp>
      <p:sp>
        <p:nvSpPr>
          <p:cNvPr id="22" name="Shape 18"/>
          <p:cNvSpPr/>
          <p:nvPr/>
        </p:nvSpPr>
        <p:spPr>
          <a:xfrm>
            <a:off x="777240" y="5550408"/>
            <a:ext cx="54864" cy="694944"/>
          </a:xfrm>
          <a:prstGeom prst="rect">
            <a:avLst/>
          </a:prstGeom>
          <a:solidFill>
            <a:srgbClr val="A51C30"/>
          </a:solidFill>
          <a:ln/>
        </p:spPr>
        <p:txBody>
          <a:bodyPr/>
          <a:p/>
        </p:txBody>
      </p:sp>
      <p:sp>
        <p:nvSpPr>
          <p:cNvPr id="23" name="Text 19"/>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Errors are a contract: a stable code, an HTTP status and a row that says what to do.</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HOW IT IS TESTED</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3,312 Java test methods, three browsers, one gate</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417320"/>
            <a:ext cx="2507742" cy="1188720"/>
          </a:xfrm>
          <a:prstGeom prst="rect">
            <a:avLst/>
          </a:prstGeom>
          <a:solidFill>
            <a:srgbClr val="F7F5F2"/>
          </a:solidFill>
          <a:ln/>
        </p:spPr>
        <p:txBody>
          <a:bodyPr/>
          <a:p/>
        </p:txBody>
      </p:sp>
      <p:sp>
        <p:nvSpPr>
          <p:cNvPr id="7" name="Shape 4"/>
          <p:cNvSpPr/>
          <p:nvPr/>
        </p:nvSpPr>
        <p:spPr>
          <a:xfrm>
            <a:off x="777240" y="1417320"/>
            <a:ext cx="45720" cy="1188720"/>
          </a:xfrm>
          <a:prstGeom prst="rect">
            <a:avLst/>
          </a:prstGeom>
          <a:solidFill>
            <a:srgbClr val="A51C30"/>
          </a:solidFill>
          <a:ln/>
        </p:spPr>
        <p:txBody>
          <a:bodyPr/>
          <a:p/>
        </p:txBody>
      </p:sp>
      <p:sp>
        <p:nvSpPr>
          <p:cNvPr id="8" name="Text 5"/>
          <p:cNvSpPr txBox="1"/>
          <p:nvPr/>
        </p:nvSpPr>
        <p:spPr>
          <a:xfrm>
            <a:off x="978408" y="152704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3,312</a:t>
            </a:r>
            <a:endParaRPr lang="en-US" sz="2600" dirty="0"/>
          </a:p>
        </p:txBody>
      </p:sp>
      <p:sp>
        <p:nvSpPr>
          <p:cNvPr id="9" name="Text 6"/>
          <p:cNvSpPr txBox="1"/>
          <p:nvPr/>
        </p:nvSpPr>
        <p:spPr>
          <a:xfrm>
            <a:off x="978408" y="2020824"/>
            <a:ext cx="2187702" cy="512064"/>
          </a:xfrm>
          <a:prstGeom prst="rect">
            <a:avLst/>
          </a:prstGeom>
          <a:noFill/>
          <a:ln/>
        </p:spPr>
        <p:txBody>
          <a:bodyPr wrap="square" lIns="0" tIns="0" rIns="0" bIns="0" rtlCol="0" anchor="t"/>
          <a:lstStyle/>
          <a:p>
            <a:pPr indent="0" marL="0">
              <a:buNone/>
            </a:pPr>
            <a:r>
              <a:rPr lang="en-US" sz="1150" dirty="0">
                <a:solidFill>
                  <a:srgbClr val="4A5058"/>
                </a:solidFill>
              </a:rPr>
              <a:t>Java test methods (46 parameterised); the run expands them</a:t>
            </a:r>
            <a:endParaRPr lang="en-US" sz="1150" dirty="0"/>
          </a:p>
        </p:txBody>
      </p:sp>
      <p:sp>
        <p:nvSpPr>
          <p:cNvPr id="10" name="Shape 7"/>
          <p:cNvSpPr/>
          <p:nvPr/>
        </p:nvSpPr>
        <p:spPr>
          <a:xfrm>
            <a:off x="3486150" y="1417320"/>
            <a:ext cx="2507742" cy="1188720"/>
          </a:xfrm>
          <a:prstGeom prst="rect">
            <a:avLst/>
          </a:prstGeom>
          <a:solidFill>
            <a:srgbClr val="F7F5F2"/>
          </a:solidFill>
          <a:ln/>
        </p:spPr>
        <p:txBody>
          <a:bodyPr/>
          <a:p/>
        </p:txBody>
      </p:sp>
      <p:sp>
        <p:nvSpPr>
          <p:cNvPr id="11" name="Shape 8"/>
          <p:cNvSpPr/>
          <p:nvPr/>
        </p:nvSpPr>
        <p:spPr>
          <a:xfrm>
            <a:off x="3486150" y="1417320"/>
            <a:ext cx="45720" cy="1188720"/>
          </a:xfrm>
          <a:prstGeom prst="rect">
            <a:avLst/>
          </a:prstGeom>
          <a:solidFill>
            <a:srgbClr val="A51C30"/>
          </a:solidFill>
          <a:ln/>
        </p:spPr>
        <p:txBody>
          <a:bodyPr/>
          <a:p/>
        </p:txBody>
      </p:sp>
      <p:sp>
        <p:nvSpPr>
          <p:cNvPr id="12" name="Text 9"/>
          <p:cNvSpPr txBox="1"/>
          <p:nvPr/>
        </p:nvSpPr>
        <p:spPr>
          <a:xfrm>
            <a:off x="3687318" y="152704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2,220</a:t>
            </a:r>
            <a:endParaRPr lang="en-US" sz="2600" dirty="0"/>
          </a:p>
        </p:txBody>
      </p:sp>
      <p:sp>
        <p:nvSpPr>
          <p:cNvPr id="13" name="Text 10"/>
          <p:cNvSpPr txBox="1"/>
          <p:nvPr/>
        </p:nvSpPr>
        <p:spPr>
          <a:xfrm>
            <a:off x="3687318" y="2020824"/>
            <a:ext cx="2187702" cy="512064"/>
          </a:xfrm>
          <a:prstGeom prst="rect">
            <a:avLst/>
          </a:prstGeom>
          <a:noFill/>
          <a:ln/>
        </p:spPr>
        <p:txBody>
          <a:bodyPr wrap="square" lIns="0" tIns="0" rIns="0" bIns="0" rtlCol="0" anchor="t"/>
          <a:lstStyle/>
          <a:p>
            <a:pPr indent="0" marL="0">
              <a:buNone/>
            </a:pPr>
            <a:r>
              <a:rPr lang="en-US" sz="1150" dirty="0">
                <a:solidFill>
                  <a:srgbClr val="4A5058"/>
                </a:solidFill>
              </a:rPr>
              <a:t>Console test functions, 640 of them in a browser</a:t>
            </a:r>
            <a:endParaRPr lang="en-US" sz="1150" dirty="0"/>
          </a:p>
        </p:txBody>
      </p:sp>
      <p:sp>
        <p:nvSpPr>
          <p:cNvPr id="14" name="Shape 11"/>
          <p:cNvSpPr/>
          <p:nvPr/>
        </p:nvSpPr>
        <p:spPr>
          <a:xfrm>
            <a:off x="6195060" y="1417320"/>
            <a:ext cx="2507742" cy="1188720"/>
          </a:xfrm>
          <a:prstGeom prst="rect">
            <a:avLst/>
          </a:prstGeom>
          <a:solidFill>
            <a:srgbClr val="F7F5F2"/>
          </a:solidFill>
          <a:ln/>
        </p:spPr>
        <p:txBody>
          <a:bodyPr/>
          <a:p/>
        </p:txBody>
      </p:sp>
      <p:sp>
        <p:nvSpPr>
          <p:cNvPr id="15" name="Shape 12"/>
          <p:cNvSpPr/>
          <p:nvPr/>
        </p:nvSpPr>
        <p:spPr>
          <a:xfrm>
            <a:off x="6195060" y="1417320"/>
            <a:ext cx="45720" cy="1188720"/>
          </a:xfrm>
          <a:prstGeom prst="rect">
            <a:avLst/>
          </a:prstGeom>
          <a:solidFill>
            <a:srgbClr val="A51C30"/>
          </a:solidFill>
          <a:ln/>
        </p:spPr>
        <p:txBody>
          <a:bodyPr/>
          <a:p/>
        </p:txBody>
      </p:sp>
      <p:sp>
        <p:nvSpPr>
          <p:cNvPr id="16" name="Text 13"/>
          <p:cNvSpPr txBox="1"/>
          <p:nvPr/>
        </p:nvSpPr>
        <p:spPr>
          <a:xfrm>
            <a:off x="6396228" y="152704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621</a:t>
            </a:r>
            <a:endParaRPr lang="en-US" sz="2600" dirty="0"/>
          </a:p>
        </p:txBody>
      </p:sp>
      <p:sp>
        <p:nvSpPr>
          <p:cNvPr id="17" name="Text 14"/>
          <p:cNvSpPr txBox="1"/>
          <p:nvPr/>
        </p:nvSpPr>
        <p:spPr>
          <a:xfrm>
            <a:off x="6396228" y="2020824"/>
            <a:ext cx="2187702" cy="512064"/>
          </a:xfrm>
          <a:prstGeom prst="rect">
            <a:avLst/>
          </a:prstGeom>
          <a:noFill/>
          <a:ln/>
        </p:spPr>
        <p:txBody>
          <a:bodyPr wrap="square" lIns="0" tIns="0" rIns="0" bIns="0" rtlCol="0" anchor="t"/>
          <a:lstStyle/>
          <a:p>
            <a:pPr indent="0" marL="0">
              <a:buNone/>
            </a:pPr>
            <a:r>
              <a:rPr lang="en-US" sz="1150" dirty="0">
                <a:solidFill>
                  <a:srgbClr val="4A5058"/>
                </a:solidFill>
              </a:rPr>
              <a:t>CLI, generator and tool test functions</a:t>
            </a:r>
            <a:endParaRPr lang="en-US" sz="1150" dirty="0"/>
          </a:p>
        </p:txBody>
      </p:sp>
      <p:sp>
        <p:nvSpPr>
          <p:cNvPr id="18" name="Shape 15"/>
          <p:cNvSpPr/>
          <p:nvPr/>
        </p:nvSpPr>
        <p:spPr>
          <a:xfrm>
            <a:off x="8903970" y="1417320"/>
            <a:ext cx="2507742" cy="1188720"/>
          </a:xfrm>
          <a:prstGeom prst="rect">
            <a:avLst/>
          </a:prstGeom>
          <a:solidFill>
            <a:srgbClr val="F7F5F2"/>
          </a:solidFill>
          <a:ln/>
        </p:spPr>
        <p:txBody>
          <a:bodyPr/>
          <a:p/>
        </p:txBody>
      </p:sp>
      <p:sp>
        <p:nvSpPr>
          <p:cNvPr id="19" name="Shape 16"/>
          <p:cNvSpPr/>
          <p:nvPr/>
        </p:nvSpPr>
        <p:spPr>
          <a:xfrm>
            <a:off x="8903970" y="1417320"/>
            <a:ext cx="45720" cy="1188720"/>
          </a:xfrm>
          <a:prstGeom prst="rect">
            <a:avLst/>
          </a:prstGeom>
          <a:solidFill>
            <a:srgbClr val="A51C30"/>
          </a:solidFill>
          <a:ln/>
        </p:spPr>
        <p:txBody>
          <a:bodyPr/>
          <a:p/>
        </p:txBody>
      </p:sp>
      <p:sp>
        <p:nvSpPr>
          <p:cNvPr id="20" name="Text 17"/>
          <p:cNvSpPr txBox="1"/>
          <p:nvPr/>
        </p:nvSpPr>
        <p:spPr>
          <a:xfrm>
            <a:off x="9105138" y="152704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3</a:t>
            </a:r>
            <a:endParaRPr lang="en-US" sz="2600" dirty="0"/>
          </a:p>
        </p:txBody>
      </p:sp>
      <p:sp>
        <p:nvSpPr>
          <p:cNvPr id="21" name="Text 18"/>
          <p:cNvSpPr txBox="1"/>
          <p:nvPr/>
        </p:nvSpPr>
        <p:spPr>
          <a:xfrm>
            <a:off x="9105138" y="2020824"/>
            <a:ext cx="2187702" cy="512064"/>
          </a:xfrm>
          <a:prstGeom prst="rect">
            <a:avLst/>
          </a:prstGeom>
          <a:noFill/>
          <a:ln/>
        </p:spPr>
        <p:txBody>
          <a:bodyPr wrap="square" lIns="0" tIns="0" rIns="0" bIns="0" rtlCol="0" anchor="t"/>
          <a:lstStyle/>
          <a:p>
            <a:pPr indent="0" marL="0">
              <a:buNone/>
            </a:pPr>
            <a:r>
              <a:rPr lang="en-US" sz="1150" dirty="0">
                <a:solidFill>
                  <a:srgbClr val="4A5058"/>
                </a:solidFill>
              </a:rPr>
              <a:t>Browser engines for embedded views</a:t>
            </a:r>
            <a:endParaRPr lang="en-US" sz="1150" dirty="0"/>
          </a:p>
        </p:txBody>
      </p:sp>
      <p:sp>
        <p:nvSpPr>
          <p:cNvPr id="22" name="Text 19"/>
          <p:cNvSpPr txBox="1"/>
          <p:nvPr/>
        </p:nvSpPr>
        <p:spPr>
          <a:xfrm>
            <a:off x="777240" y="2834640"/>
            <a:ext cx="10634472" cy="2606040"/>
          </a:xfrm>
          <a:prstGeom prst="rect">
            <a:avLst/>
          </a:prstGeom>
          <a:noFill/>
          <a:ln/>
        </p:spPr>
        <p:txBody>
          <a:bodyPr wrap="square" lIns="0" tIns="0" rIns="0" bIns="0" rtlCol="0" anchor="t"/>
          <a:lstStyle/>
          <a:p>
            <a:pPr indent="0" marL="0">
              <a:buNone/>
            </a:pPr>
            <a:r>
              <a:rPr lang="en-US" sz="1500" b="1" dirty="0">
                <a:solidFill>
                  <a:srgbClr val="A51C30"/>
                </a:solidFill>
              </a:rPr>
              <a:t>▪  Gates in every build</a:t>
            </a:r>
            <a:endParaRPr lang="en-US" sz="1500" dirty="0"/>
          </a:p>
          <a:p>
            <a:pPr indent="0" marL="0">
              <a:spcAft>
                <a:spcPts val="700"/>
              </a:spcAft>
              <a:buNone/>
            </a:pPr>
            <a:r>
              <a:rPr lang="en-US" sz="1300" dirty="0">
                <a:solidFill>
                  <a:srgbClr val="4A5058"/>
                </a:solidFill>
              </a:rPr>
              <a:t>Error Prone and Spotless; ArchUnit for module direction; licence headers; no file over 1,500 lines; branding literals; JSONL from every generator and on every export; READMEs for every pack.</a:t>
            </a:r>
            <a:endParaRPr lang="en-US" sz="1500" dirty="0"/>
          </a:p>
          <a:p>
            <a:pPr indent="0" marL="0">
              <a:buNone/>
            </a:pPr>
            <a:r>
              <a:rPr lang="en-US" sz="1500" b="1" dirty="0">
                <a:solidFill>
                  <a:srgbClr val="A51C30"/>
                </a:solidFill>
              </a:rPr>
              <a:t>▪  Pages at three widths</a:t>
            </a:r>
            <a:endParaRPr lang="en-US" sz="1500" dirty="0"/>
          </a:p>
          <a:p>
            <a:pPr indent="0" marL="0">
              <a:spcAft>
                <a:spcPts val="700"/>
              </a:spcAft>
              <a:buNone/>
            </a:pPr>
            <a:r>
              <a:rPr lang="en-US" sz="1300" dirty="0">
                <a:solidFill>
                  <a:srgbClr val="4A5058"/>
                </a:solidFill>
              </a:rPr>
              <a:t>Every page at 390, 1,600 and 2,560 px; at 390 with touch: real content, 44 px targets, nothing clipped.</a:t>
            </a:r>
            <a:endParaRPr lang="en-US" sz="1500" dirty="0"/>
          </a:p>
          <a:p>
            <a:pPr indent="0" marL="0">
              <a:buNone/>
            </a:pPr>
            <a:r>
              <a:rPr lang="en-US" sz="1500" b="1" dirty="0">
                <a:solidFill>
                  <a:srgbClr val="A51C30"/>
                </a:solidFill>
              </a:rPr>
              <a:t>▪  Numbers checked against an oracle</a:t>
            </a:r>
            <a:endParaRPr lang="en-US" sz="1500" dirty="0"/>
          </a:p>
          <a:p>
            <a:pPr indent="0" marL="0">
              <a:spcAft>
                <a:spcPts val="700"/>
              </a:spcAft>
              <a:buNone/>
            </a:pPr>
            <a:r>
              <a:rPr lang="en-US" sz="1300" dirty="0">
                <a:solidFill>
                  <a:srgbClr val="4A5058"/>
                </a:solidFill>
              </a:rPr>
              <a:t>VaR and ES recomputed from the input files and compared with the server; intraday equals the same data loaded as one run, to the cent; Delta and Iceberg equal to the cent (2.9.5).</a:t>
            </a:r>
            <a:endParaRPr lang="en-US" sz="15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39</a:t>
            </a:fld>
            <a:endParaRPr lang="en-US"/>
          </a:p>
        </p:txBody>
      </p:sp>
      <p:sp>
        <p:nvSpPr>
          <p:cNvPr id="26" name="Rectangle 25"/>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ectangle 26"/>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Any failing test in any of the three suites stops the push — on Java 21 and on Java 25.</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PERFORMANCE · MEASURED</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Fast where people wait</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graphicFrame>
        <p:nvGraphicFramePr>
          <p:cNvPr id="6" name="Chart 0" descr=""/>
          <p:cNvGraphicFramePr/>
          <p:nvPr/>
        </p:nvGraphicFramePr>
        <p:xfrm>
          <a:off x="777240" y="1417320"/>
          <a:ext cx="6766560" cy="3977640"/>
        </p:xfrm>
        <a:graphic xmlns:a="http://schemas.openxmlformats.org/drawingml/2006/main">
          <a:graphicData uri="http://schemas.openxmlformats.org/drawingml/2006/chart">
            <c:chart xmlns:c="http://schemas.openxmlformats.org/drawingml/2006/chart" r:id="rId1"/>
          </a:graphicData>
        </a:graphic>
      </p:graphicFrame>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772400" y="1554480"/>
          <a:ext cx="3639312" cy="914400"/>
        </p:xfrm>
        <a:graphic>
          <a:graphicData uri="http://schemas.openxmlformats.org/drawingml/2006/table">
            <a:tbl>
              <a:tblPr/>
              <a:tblGrid>
                <a:gridCol w="1371600"/>
                <a:gridCol w="822960"/>
                <a:gridCol w="1444752"/>
              </a:tblGrid>
              <a:tr h="0">
                <a:tc>
                  <a:txBody>
                    <a:bodyPr/>
                    <a:lstStyle/>
                    <a:p>
                      <a:pPr indent="0" marL="0">
                        <a:buNone/>
                      </a:pPr>
                      <a:r>
                        <a:rPr lang="en-US" sz="1200" b="1" dirty="0">
                          <a:solidFill>
                            <a:srgbClr val="FFFFFF"/>
                          </a:solidFill>
                        </a:rPr>
                        <a:t>Gate</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c>
                  <a:txBody>
                    <a:bodyPr/>
                    <a:lstStyle/>
                    <a:p>
                      <a:pPr indent="0" marL="0">
                        <a:buNone/>
                      </a:pPr>
                      <a:r>
                        <a:rPr lang="en-US" sz="1200" b="1" dirty="0">
                          <a:solidFill>
                            <a:srgbClr val="FFFFFF"/>
                          </a:solidFill>
                        </a:rPr>
                        <a:t>Target</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c>
                  <a:txBody>
                    <a:bodyPr/>
                    <a:lstStyle/>
                    <a:p>
                      <a:pPr indent="0" marL="0">
                        <a:buNone/>
                      </a:pPr>
                      <a:r>
                        <a:rPr lang="en-US" sz="1200" b="1" dirty="0">
                          <a:solidFill>
                            <a:srgbClr val="FFFFFF"/>
                          </a:solidFill>
                        </a:rPr>
                        <a:t>Measured</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r>
              <a:tr h="0">
                <a:tc>
                  <a:txBody>
                    <a:bodyPr/>
                    <a:lstStyle/>
                    <a:p>
                      <a:pPr indent="0" marL="0">
                        <a:buNone/>
                      </a:pPr>
                      <a:r>
                        <a:rPr lang="en-US" sz="1200" b="1" dirty="0">
                          <a:solidFill>
                            <a:srgbClr val="8A1626"/>
                          </a:solidFill>
                        </a:rPr>
                        <a:t>Warm view p99</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200" dirty="0">
                          <a:solidFill>
                            <a:srgbClr val="1A1A1A"/>
                          </a:solidFill>
                        </a:rPr>
                        <a:t>&lt; 50 ms</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200" dirty="0">
                          <a:solidFill>
                            <a:srgbClr val="1A1A1A"/>
                          </a:solidFill>
                        </a:rPr>
                        <a:t>3.0 ms</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0">
                <a:tc>
                  <a:txBody>
                    <a:bodyPr/>
                    <a:lstStyle/>
                    <a:p>
                      <a:pPr indent="0" marL="0">
                        <a:buNone/>
                      </a:pPr>
                      <a:r>
                        <a:rPr lang="en-US" sz="1200" b="1" dirty="0">
                          <a:solidFill>
                            <a:srgbClr val="8A1626"/>
                          </a:solidFill>
                        </a:rPr>
                        <a:t>Live p99</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&lt; 40 ms</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11.2 ms</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8A1626"/>
                          </a:solidFill>
                        </a:rPr>
                        <a:t>History, 30 days</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200" dirty="0">
                          <a:solidFill>
                            <a:srgbClr val="1A1A1A"/>
                          </a:solidFill>
                        </a:rPr>
                        <a:t>—</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200" dirty="0">
                          <a:solidFill>
                            <a:srgbClr val="1A1A1A"/>
                          </a:solidFill>
                        </a:rPr>
                        <a:t>13 ms cold, &lt; 1 ms warm</a:t>
                      </a:r>
                      <a:endParaRPr lang="en-US" sz="12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bl>
          </a:graphicData>
        </a:graphic>
      </p:graphicFrame>
      <p:sp>
        <p:nvSpPr>
          <p:cNvPr id="8" name="Text 3"/>
          <p:cNvSpPr txBox="1"/>
          <p:nvPr/>
        </p:nvSpPr>
        <p:spPr>
          <a:xfrm>
            <a:off x="7772400" y="3291840"/>
            <a:ext cx="3639312" cy="2103120"/>
          </a:xfrm>
          <a:prstGeom prst="rect">
            <a:avLst/>
          </a:prstGeom>
          <a:noFill/>
          <a:ln/>
        </p:spPr>
        <p:txBody>
          <a:bodyPr wrap="square" lIns="0" tIns="0" rIns="0" bIns="0" rtlCol="0" anchor="t"/>
          <a:lstStyle/>
          <a:p>
            <a:pPr indent="0" marL="0">
              <a:buNone/>
            </a:pPr>
            <a:r>
              <a:rPr lang="en-US" sz="1400" b="1" dirty="0">
                <a:solidFill>
                  <a:srgbClr val="A51C30"/>
                </a:solidFill>
              </a:rPr>
              <a:t>▪  One workstation</a:t>
            </a:r>
            <a:endParaRPr lang="en-US" sz="1400" dirty="0"/>
          </a:p>
          <a:p>
            <a:pPr indent="0" marL="0">
              <a:spcAft>
                <a:spcPts val="800"/>
              </a:spcAft>
              <a:buNone/>
            </a:pPr>
            <a:r>
              <a:rPr lang="en-US" sz="1250" dirty="0">
                <a:solidFill>
                  <a:srgbClr val="4A5058"/>
                </a:solidFill>
              </a:rPr>
              <a:t>24 cores; 1,000,000 trades a day for three days, 5.2 GB.</a:t>
            </a:r>
            <a:endParaRPr lang="en-US" sz="1400" dirty="0"/>
          </a:p>
          <a:p>
            <a:pPr indent="0" marL="0">
              <a:buNone/>
            </a:pPr>
            <a:r>
              <a:rPr lang="en-US" sz="1400" b="1" dirty="0">
                <a:solidFill>
                  <a:srgbClr val="A51C30"/>
                </a:solidFill>
              </a:rPr>
              <a:t>▪  Cold vs cached</a:t>
            </a:r>
            <a:endParaRPr lang="en-US" sz="1400" dirty="0"/>
          </a:p>
          <a:p>
            <a:pPr indent="0" marL="0">
              <a:spcAft>
                <a:spcPts val="800"/>
              </a:spcAft>
              <a:buNone/>
            </a:pPr>
            <a:r>
              <a:rPr lang="en-US" sz="1250" dirty="0">
                <a:solidFill>
                  <a:srgbClr val="4A5058"/>
                </a:solidFill>
              </a:rPr>
              <a:t>Opening a trade cold is 137–157 ms; from the cache 48 ms.</a:t>
            </a:r>
            <a:endParaRPr lang="en-US" sz="1400" dirty="0"/>
          </a:p>
        </p:txBody>
      </p:sp>
      <p:sp>
        <p:nvSpPr>
          <p:cNvPr id="9" name="Shape 4"/>
          <p:cNvSpPr/>
          <p:nvPr/>
        </p:nvSpPr>
        <p:spPr>
          <a:xfrm>
            <a:off x="777240" y="5550408"/>
            <a:ext cx="10634472" cy="694944"/>
          </a:xfrm>
          <a:prstGeom prst="rect">
            <a:avLst/>
          </a:prstGeom>
          <a:solidFill>
            <a:srgbClr val="F6E6E9"/>
          </a:solidFill>
          <a:ln/>
        </p:spPr>
        <p:txBody>
          <a:bodyPr/>
          <a:p/>
        </p:txBody>
      </p:sp>
      <p:sp>
        <p:nvSpPr>
          <p:cNvPr id="10" name="Shape 5"/>
          <p:cNvSpPr/>
          <p:nvPr/>
        </p:nvSpPr>
        <p:spPr>
          <a:xfrm>
            <a:off x="777240" y="5550408"/>
            <a:ext cx="54864" cy="694944"/>
          </a:xfrm>
          <a:prstGeom prst="rect">
            <a:avLst/>
          </a:prstGeom>
          <a:solidFill>
            <a:srgbClr val="A51C30"/>
          </a:solidFill>
          <a:ln/>
        </p:spPr>
        <p:txBody>
          <a:bodyPr/>
          <a:p/>
        </p:txBody>
      </p:sp>
      <p:sp>
        <p:nvSpPr>
          <p:cNvPr id="11" name="Text 6"/>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The gates are written down first and measured after — and every one has headroom.</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SCALE · 35.7 MILLION TRADES</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Tens of millions of trades, fifty users, no failures</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417320"/>
            <a:ext cx="2507742" cy="1188720"/>
          </a:xfrm>
          <a:prstGeom prst="rect">
            <a:avLst/>
          </a:prstGeom>
          <a:solidFill>
            <a:srgbClr val="F7F5F2"/>
          </a:solidFill>
          <a:ln/>
        </p:spPr>
        <p:txBody>
          <a:bodyPr/>
          <a:p/>
        </p:txBody>
      </p:sp>
      <p:sp>
        <p:nvSpPr>
          <p:cNvPr id="7" name="Shape 4"/>
          <p:cNvSpPr/>
          <p:nvPr/>
        </p:nvSpPr>
        <p:spPr>
          <a:xfrm>
            <a:off x="777240" y="1417320"/>
            <a:ext cx="45720" cy="1188720"/>
          </a:xfrm>
          <a:prstGeom prst="rect">
            <a:avLst/>
          </a:prstGeom>
          <a:solidFill>
            <a:srgbClr val="A51C30"/>
          </a:solidFill>
          <a:ln/>
        </p:spPr>
        <p:txBody>
          <a:bodyPr/>
          <a:p/>
        </p:txBody>
      </p:sp>
      <p:sp>
        <p:nvSpPr>
          <p:cNvPr id="8" name="Text 5"/>
          <p:cNvSpPr txBox="1"/>
          <p:nvPr/>
        </p:nvSpPr>
        <p:spPr>
          <a:xfrm>
            <a:off x="978408" y="152704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35.7M</a:t>
            </a:r>
            <a:endParaRPr lang="en-US" sz="2600" dirty="0"/>
          </a:p>
        </p:txBody>
      </p:sp>
      <p:sp>
        <p:nvSpPr>
          <p:cNvPr id="9" name="Text 6"/>
          <p:cNvSpPr txBox="1"/>
          <p:nvPr/>
        </p:nvSpPr>
        <p:spPr>
          <a:xfrm>
            <a:off x="978408" y="2020824"/>
            <a:ext cx="2187702" cy="512064"/>
          </a:xfrm>
          <a:prstGeom prst="rect">
            <a:avLst/>
          </a:prstGeom>
          <a:noFill/>
          <a:ln/>
        </p:spPr>
        <p:txBody>
          <a:bodyPr wrap="square" lIns="0" tIns="0" rIns="0" bIns="0" rtlCol="0" anchor="t"/>
          <a:lstStyle/>
          <a:p>
            <a:pPr indent="0" marL="0">
              <a:buNone/>
            </a:pPr>
            <a:r>
              <a:rPr lang="en-US" sz="1150" dirty="0">
                <a:solidFill>
                  <a:srgbClr val="4A5058"/>
                </a:solidFill>
              </a:rPr>
              <a:t>Trades: ENDUR, CALYPSO, MUREX, 30 days, loaded while serving</a:t>
            </a:r>
            <a:endParaRPr lang="en-US" sz="1150" dirty="0"/>
          </a:p>
        </p:txBody>
      </p:sp>
      <p:sp>
        <p:nvSpPr>
          <p:cNvPr id="10" name="Shape 7"/>
          <p:cNvSpPr/>
          <p:nvPr/>
        </p:nvSpPr>
        <p:spPr>
          <a:xfrm>
            <a:off x="3486150" y="1417320"/>
            <a:ext cx="2507742" cy="1188720"/>
          </a:xfrm>
          <a:prstGeom prst="rect">
            <a:avLst/>
          </a:prstGeom>
          <a:solidFill>
            <a:srgbClr val="F7F5F2"/>
          </a:solidFill>
          <a:ln/>
        </p:spPr>
        <p:txBody>
          <a:bodyPr/>
          <a:p/>
        </p:txBody>
      </p:sp>
      <p:sp>
        <p:nvSpPr>
          <p:cNvPr id="11" name="Shape 8"/>
          <p:cNvSpPr/>
          <p:nvPr/>
        </p:nvSpPr>
        <p:spPr>
          <a:xfrm>
            <a:off x="3486150" y="1417320"/>
            <a:ext cx="45720" cy="1188720"/>
          </a:xfrm>
          <a:prstGeom prst="rect">
            <a:avLst/>
          </a:prstGeom>
          <a:solidFill>
            <a:srgbClr val="A51C30"/>
          </a:solidFill>
          <a:ln/>
        </p:spPr>
        <p:txBody>
          <a:bodyPr/>
          <a:p/>
        </p:txBody>
      </p:sp>
      <p:sp>
        <p:nvSpPr>
          <p:cNvPr id="12" name="Text 9"/>
          <p:cNvSpPr txBox="1"/>
          <p:nvPr/>
        </p:nvSpPr>
        <p:spPr>
          <a:xfrm>
            <a:off x="3687318" y="152704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179/s</a:t>
            </a:r>
            <a:endParaRPr lang="en-US" sz="2600" dirty="0"/>
          </a:p>
        </p:txBody>
      </p:sp>
      <p:sp>
        <p:nvSpPr>
          <p:cNvPr id="13" name="Text 10"/>
          <p:cNvSpPr txBox="1"/>
          <p:nvPr/>
        </p:nvSpPr>
        <p:spPr>
          <a:xfrm>
            <a:off x="3687318" y="2020824"/>
            <a:ext cx="2187702" cy="512064"/>
          </a:xfrm>
          <a:prstGeom prst="rect">
            <a:avLst/>
          </a:prstGeom>
          <a:noFill/>
          <a:ln/>
        </p:spPr>
        <p:txBody>
          <a:bodyPr wrap="square" lIns="0" tIns="0" rIns="0" bIns="0" rtlCol="0" anchor="t"/>
          <a:lstStyle/>
          <a:p>
            <a:pPr indent="0" marL="0">
              <a:buNone/>
            </a:pPr>
            <a:r>
              <a:rPr lang="en-US" sz="1150" dirty="0">
                <a:solidFill>
                  <a:srgbClr val="4A5058"/>
                </a:solidFill>
              </a:rPr>
              <a:t>Requests a second, 50 users against the server, 0 failures</a:t>
            </a:r>
            <a:endParaRPr lang="en-US" sz="1150" dirty="0"/>
          </a:p>
        </p:txBody>
      </p:sp>
      <p:sp>
        <p:nvSpPr>
          <p:cNvPr id="14" name="Shape 11"/>
          <p:cNvSpPr/>
          <p:nvPr/>
        </p:nvSpPr>
        <p:spPr>
          <a:xfrm>
            <a:off x="6195060" y="1417320"/>
            <a:ext cx="2507742" cy="1188720"/>
          </a:xfrm>
          <a:prstGeom prst="rect">
            <a:avLst/>
          </a:prstGeom>
          <a:solidFill>
            <a:srgbClr val="F7F5F2"/>
          </a:solidFill>
          <a:ln/>
        </p:spPr>
        <p:txBody>
          <a:bodyPr/>
          <a:p/>
        </p:txBody>
      </p:sp>
      <p:sp>
        <p:nvSpPr>
          <p:cNvPr id="15" name="Shape 12"/>
          <p:cNvSpPr/>
          <p:nvPr/>
        </p:nvSpPr>
        <p:spPr>
          <a:xfrm>
            <a:off x="6195060" y="1417320"/>
            <a:ext cx="45720" cy="1188720"/>
          </a:xfrm>
          <a:prstGeom prst="rect">
            <a:avLst/>
          </a:prstGeom>
          <a:solidFill>
            <a:srgbClr val="A51C30"/>
          </a:solidFill>
          <a:ln/>
        </p:spPr>
        <p:txBody>
          <a:bodyPr/>
          <a:p/>
        </p:txBody>
      </p:sp>
      <p:sp>
        <p:nvSpPr>
          <p:cNvPr id="16" name="Text 13"/>
          <p:cNvSpPr txBox="1"/>
          <p:nvPr/>
        </p:nvSpPr>
        <p:spPr>
          <a:xfrm>
            <a:off x="6396228" y="152704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0.21 s</a:t>
            </a:r>
            <a:endParaRPr lang="en-US" sz="2600" dirty="0"/>
          </a:p>
        </p:txBody>
      </p:sp>
      <p:sp>
        <p:nvSpPr>
          <p:cNvPr id="17" name="Text 14"/>
          <p:cNvSpPr txBox="1"/>
          <p:nvPr/>
        </p:nvSpPr>
        <p:spPr>
          <a:xfrm>
            <a:off x="6396228" y="2020824"/>
            <a:ext cx="2187702" cy="512064"/>
          </a:xfrm>
          <a:prstGeom prst="rect">
            <a:avLst/>
          </a:prstGeom>
          <a:noFill/>
          <a:ln/>
        </p:spPr>
        <p:txBody>
          <a:bodyPr wrap="square" lIns="0" tIns="0" rIns="0" bIns="0" rtlCol="0" anchor="t"/>
          <a:lstStyle/>
          <a:p>
            <a:pPr indent="0" marL="0">
              <a:buNone/>
            </a:pPr>
            <a:r>
              <a:rPr lang="en-US" sz="1150" dirty="0">
                <a:solidFill>
                  <a:srgbClr val="4A5058"/>
                </a:solidFill>
              </a:rPr>
              <a:t>Form search p50, from 5.8 s before the form was kept per data version</a:t>
            </a:r>
            <a:endParaRPr lang="en-US" sz="1150" dirty="0"/>
          </a:p>
        </p:txBody>
      </p:sp>
      <p:sp>
        <p:nvSpPr>
          <p:cNvPr id="18" name="Shape 15"/>
          <p:cNvSpPr/>
          <p:nvPr/>
        </p:nvSpPr>
        <p:spPr>
          <a:xfrm>
            <a:off x="8903970" y="1417320"/>
            <a:ext cx="2507742" cy="1188720"/>
          </a:xfrm>
          <a:prstGeom prst="rect">
            <a:avLst/>
          </a:prstGeom>
          <a:solidFill>
            <a:srgbClr val="F7F5F2"/>
          </a:solidFill>
          <a:ln/>
        </p:spPr>
        <p:txBody>
          <a:bodyPr/>
          <a:p/>
        </p:txBody>
      </p:sp>
      <p:sp>
        <p:nvSpPr>
          <p:cNvPr id="19" name="Shape 16"/>
          <p:cNvSpPr/>
          <p:nvPr/>
        </p:nvSpPr>
        <p:spPr>
          <a:xfrm>
            <a:off x="8903970" y="1417320"/>
            <a:ext cx="45720" cy="1188720"/>
          </a:xfrm>
          <a:prstGeom prst="rect">
            <a:avLst/>
          </a:prstGeom>
          <a:solidFill>
            <a:srgbClr val="A51C30"/>
          </a:solidFill>
          <a:ln/>
        </p:spPr>
        <p:txBody>
          <a:bodyPr/>
          <a:p/>
        </p:txBody>
      </p:sp>
      <p:sp>
        <p:nvSpPr>
          <p:cNvPr id="20" name="Text 17"/>
          <p:cNvSpPr txBox="1"/>
          <p:nvPr/>
        </p:nvSpPr>
        <p:spPr>
          <a:xfrm>
            <a:off x="9105138" y="152704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182/s</a:t>
            </a:r>
            <a:endParaRPr lang="en-US" sz="2600" dirty="0"/>
          </a:p>
        </p:txBody>
      </p:sp>
      <p:sp>
        <p:nvSpPr>
          <p:cNvPr id="21" name="Text 18"/>
          <p:cNvSpPr txBox="1"/>
          <p:nvPr/>
        </p:nvSpPr>
        <p:spPr>
          <a:xfrm>
            <a:off x="9105138" y="2020824"/>
            <a:ext cx="2187702" cy="512064"/>
          </a:xfrm>
          <a:prstGeom prst="rect">
            <a:avLst/>
          </a:prstGeom>
          <a:noFill/>
          <a:ln/>
        </p:spPr>
        <p:txBody>
          <a:bodyPr wrap="square" lIns="0" tIns="0" rIns="0" bIns="0" rtlCol="0" anchor="t"/>
          <a:lstStyle/>
          <a:p>
            <a:pPr indent="0" marL="0">
              <a:buNone/>
            </a:pPr>
            <a:r>
              <a:rPr lang="en-US" sz="1150" dirty="0">
                <a:solidFill>
                  <a:srgbClr val="4A5058"/>
                </a:solidFill>
              </a:rPr>
              <a:t>Console pages a second, 50 users, 0 failures</a:t>
            </a:r>
            <a:endParaRPr lang="en-US" sz="11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2880360"/>
          <a:ext cx="10634472" cy="914400"/>
        </p:xfrm>
        <a:graphic>
          <a:graphicData uri="http://schemas.openxmlformats.org/drawingml/2006/table">
            <a:tbl>
              <a:tblPr/>
              <a:tblGrid>
                <a:gridCol w="1463040"/>
                <a:gridCol w="4754880"/>
                <a:gridCol w="822960"/>
                <a:gridCol w="3593592"/>
              </a:tblGrid>
              <a:tr h="475488">
                <a:tc>
                  <a:txBody>
                    <a:bodyPr/>
                    <a:lstStyle/>
                    <a:p>
                      <a:pPr indent="0" marL="0">
                        <a:buNone/>
                      </a:pPr>
                      <a:r>
                        <a:rPr lang="en-US" sz="1400" b="1" dirty="0">
                          <a:solidFill>
                            <a:srgbClr val="FFFFFF"/>
                          </a:solidFill>
                        </a:rPr>
                        <a:t>Data</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c>
                  <a:txBody>
                    <a:bodyPr/>
                    <a:lstStyle/>
                    <a:p>
                      <a:pPr indent="0" marL="0">
                        <a:buNone/>
                      </a:pPr>
                      <a:r>
                        <a:rPr lang="en-US" sz="1400" b="1" dirty="0">
                          <a:solidFill>
                            <a:srgbClr val="FFFFFF"/>
                          </a:solidFill>
                        </a:rPr>
                        <a:t>Measure</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c>
                  <a:txBody>
                    <a:bodyPr/>
                    <a:lstStyle/>
                    <a:p>
                      <a:pPr indent="0" marL="0">
                        <a:buNone/>
                      </a:pPr>
                      <a:r>
                        <a:rPr lang="en-US" sz="1400" b="1" dirty="0">
                          <a:solidFill>
                            <a:srgbClr val="FFFFFF"/>
                          </a:solidFill>
                        </a:rPr>
                        <a:t>Users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c>
                  <a:txBody>
                    <a:bodyPr/>
                    <a:lstStyle/>
                    <a:p>
                      <a:pPr indent="0" marL="0">
                        <a:buNone/>
                      </a:pPr>
                      <a:r>
                        <a:rPr lang="en-US" sz="1400" b="1" dirty="0">
                          <a:solidFill>
                            <a:srgbClr val="FFFFFF"/>
                          </a:solidFill>
                        </a:rPr>
                        <a:t>Result</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r>
              <a:tr h="475488">
                <a:tc>
                  <a:txBody>
                    <a:bodyPr/>
                    <a:lstStyle/>
                    <a:p>
                      <a:pPr indent="0" marL="0">
                        <a:buNone/>
                      </a:pPr>
                      <a:r>
                        <a:rPr lang="en-US" sz="1400" b="1" dirty="0">
                          <a:solidFill>
                            <a:srgbClr val="8A1626"/>
                          </a:solidFill>
                        </a:rPr>
                        <a:t>35.7M trades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Single trade / grouped page, p50 / p95</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50</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0.16 / 0.73 s, 0.17 / 0.73 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475488">
                <a:tc>
                  <a:txBody>
                    <a:bodyPr/>
                    <a:lstStyle/>
                    <a:p>
                      <a:pPr indent="0" marL="0">
                        <a:buNone/>
                      </a:pPr>
                      <a:r>
                        <a:rPr lang="en-US" sz="1400" b="1" dirty="0">
                          <a:solidFill>
                            <a:srgbClr val="8A1626"/>
                          </a:solidFill>
                        </a:rPr>
                        <a:t>35.7M trades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Server heap while serving</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50</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3.7 GB of 8 GB</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8A1626"/>
                          </a:solidFill>
                        </a:rPr>
                        <a:t>400,000 restated</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A day reloaded, 10 % amended, while serving</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30</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2 min 54 s, 202 requests/s, 0 failures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475488">
                <a:tc>
                  <a:txBody>
                    <a:bodyPr/>
                    <a:lstStyle/>
                    <a:p>
                      <a:pPr indent="0" marL="0">
                        <a:buNone/>
                      </a:pPr>
                      <a:r>
                        <a:rPr lang="en-US" sz="1400" b="1" dirty="0">
                          <a:solidFill>
                            <a:srgbClr val="8A1626"/>
                          </a:solidFill>
                        </a:rPr>
                        <a:t>8.2M trades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Single trade / grouped page from disk, p50</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50</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18 ms / 70 ms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bl>
          </a:graphicData>
        </a:graphic>
      </p:graphicFrame>
      <p:sp>
        <p:nvSpPr>
          <p:cNvPr id="23" name="Shape 19"/>
          <p:cNvSpPr/>
          <p:nvPr/>
        </p:nvSpPr>
        <p:spPr>
          <a:xfrm>
            <a:off x="777240" y="5550408"/>
            <a:ext cx="10634472" cy="694944"/>
          </a:xfrm>
          <a:prstGeom prst="rect">
            <a:avLst/>
          </a:prstGeom>
          <a:solidFill>
            <a:srgbClr val="F6E6E9"/>
          </a:solidFill>
          <a:ln/>
        </p:spPr>
        <p:txBody>
          <a:bodyPr/>
          <a:p/>
        </p:txBody>
      </p:sp>
      <p:sp>
        <p:nvSpPr>
          <p:cNvPr id="24" name="Shape 20"/>
          <p:cNvSpPr/>
          <p:nvPr/>
        </p:nvSpPr>
        <p:spPr>
          <a:xfrm>
            <a:off x="777240" y="5550408"/>
            <a:ext cx="54864" cy="694944"/>
          </a:xfrm>
          <a:prstGeom prst="rect">
            <a:avLst/>
          </a:prstGeom>
          <a:solidFill>
            <a:srgbClr val="A51C30"/>
          </a:solidFill>
          <a:ln/>
        </p:spPr>
        <p:txBody>
          <a:bodyPr/>
          <a:p/>
        </p:txBody>
      </p:sp>
      <p:sp>
        <p:nvSpPr>
          <p:cNvPr id="25" name="Text 21"/>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One workstation, an 8 GB heap: the figures and their method are in PERFORMANCE.md and SCALE_STRATEGY.md.</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ADVERSARIAL QA · SIX ROUNDS AND FOUR SOAKS</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Written to break a promise — and fixed</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417320"/>
            <a:ext cx="2507742" cy="1188720"/>
          </a:xfrm>
          <a:prstGeom prst="rect">
            <a:avLst/>
          </a:prstGeom>
          <a:solidFill>
            <a:srgbClr val="F7F5F2"/>
          </a:solidFill>
          <a:ln/>
        </p:spPr>
        <p:txBody>
          <a:bodyPr/>
          <a:p/>
        </p:txBody>
      </p:sp>
      <p:sp>
        <p:nvSpPr>
          <p:cNvPr id="7" name="Shape 4"/>
          <p:cNvSpPr/>
          <p:nvPr/>
        </p:nvSpPr>
        <p:spPr>
          <a:xfrm>
            <a:off x="777240" y="1417320"/>
            <a:ext cx="45720" cy="1188720"/>
          </a:xfrm>
          <a:prstGeom prst="rect">
            <a:avLst/>
          </a:prstGeom>
          <a:solidFill>
            <a:srgbClr val="A51C30"/>
          </a:solidFill>
          <a:ln/>
        </p:spPr>
        <p:txBody>
          <a:bodyPr/>
          <a:p/>
        </p:txBody>
      </p:sp>
      <p:sp>
        <p:nvSpPr>
          <p:cNvPr id="8" name="Text 5"/>
          <p:cNvSpPr txBox="1"/>
          <p:nvPr/>
        </p:nvSpPr>
        <p:spPr>
          <a:xfrm>
            <a:off x="978408" y="152704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94</a:t>
            </a:r>
            <a:endParaRPr lang="en-US" sz="2600" dirty="0"/>
          </a:p>
        </p:txBody>
      </p:sp>
      <p:sp>
        <p:nvSpPr>
          <p:cNvPr id="9" name="Text 6"/>
          <p:cNvSpPr txBox="1"/>
          <p:nvPr/>
        </p:nvSpPr>
        <p:spPr>
          <a:xfrm>
            <a:off x="978408" y="2020824"/>
            <a:ext cx="2187702" cy="512064"/>
          </a:xfrm>
          <a:prstGeom prst="rect">
            <a:avLst/>
          </a:prstGeom>
          <a:noFill/>
          <a:ln/>
        </p:spPr>
        <p:txBody>
          <a:bodyPr wrap="square" lIns="0" tIns="0" rIns="0" bIns="0" rtlCol="0" anchor="t"/>
          <a:lstStyle/>
          <a:p>
            <a:pPr indent="0" marL="0">
              <a:buNone/>
            </a:pPr>
            <a:r>
              <a:rPr lang="en-US" sz="1150" dirty="0">
                <a:solidFill>
                  <a:srgbClr val="4A5058"/>
                </a:solidFill>
              </a:rPr>
              <a:t>Findings in round one (10 high), security, data and UX</a:t>
            </a:r>
            <a:endParaRPr lang="en-US" sz="1150" dirty="0"/>
          </a:p>
        </p:txBody>
      </p:sp>
      <p:sp>
        <p:nvSpPr>
          <p:cNvPr id="10" name="Shape 7"/>
          <p:cNvSpPr/>
          <p:nvPr/>
        </p:nvSpPr>
        <p:spPr>
          <a:xfrm>
            <a:off x="3486150" y="1417320"/>
            <a:ext cx="2507742" cy="1188720"/>
          </a:xfrm>
          <a:prstGeom prst="rect">
            <a:avLst/>
          </a:prstGeom>
          <a:solidFill>
            <a:srgbClr val="F7F5F2"/>
          </a:solidFill>
          <a:ln/>
        </p:spPr>
        <p:txBody>
          <a:bodyPr/>
          <a:p/>
        </p:txBody>
      </p:sp>
      <p:sp>
        <p:nvSpPr>
          <p:cNvPr id="11" name="Shape 8"/>
          <p:cNvSpPr/>
          <p:nvPr/>
        </p:nvSpPr>
        <p:spPr>
          <a:xfrm>
            <a:off x="3486150" y="1417320"/>
            <a:ext cx="45720" cy="1188720"/>
          </a:xfrm>
          <a:prstGeom prst="rect">
            <a:avLst/>
          </a:prstGeom>
          <a:solidFill>
            <a:srgbClr val="A51C30"/>
          </a:solidFill>
          <a:ln/>
        </p:spPr>
        <p:txBody>
          <a:bodyPr/>
          <a:p/>
        </p:txBody>
      </p:sp>
      <p:sp>
        <p:nvSpPr>
          <p:cNvPr id="12" name="Text 9"/>
          <p:cNvSpPr txBox="1"/>
          <p:nvPr/>
        </p:nvSpPr>
        <p:spPr>
          <a:xfrm>
            <a:off x="3687318" y="152704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72</a:t>
            </a:r>
            <a:endParaRPr lang="en-US" sz="2600" dirty="0"/>
          </a:p>
        </p:txBody>
      </p:sp>
      <p:sp>
        <p:nvSpPr>
          <p:cNvPr id="13" name="Text 10"/>
          <p:cNvSpPr txBox="1"/>
          <p:nvPr/>
        </p:nvSpPr>
        <p:spPr>
          <a:xfrm>
            <a:off x="3687318" y="2020824"/>
            <a:ext cx="2187702" cy="512064"/>
          </a:xfrm>
          <a:prstGeom prst="rect">
            <a:avLst/>
          </a:prstGeom>
          <a:noFill/>
          <a:ln/>
        </p:spPr>
        <p:txBody>
          <a:bodyPr wrap="square" lIns="0" tIns="0" rIns="0" bIns="0" rtlCol="0" anchor="t"/>
          <a:lstStyle/>
          <a:p>
            <a:pPr indent="0" marL="0">
              <a:buNone/>
            </a:pPr>
            <a:r>
              <a:rPr lang="en-US" sz="1150" dirty="0">
                <a:solidFill>
                  <a:srgbClr val="4A5058"/>
                </a:solidFill>
              </a:rPr>
              <a:t>Findings in round two, the build workbench (0 high)</a:t>
            </a:r>
            <a:endParaRPr lang="en-US" sz="1150" dirty="0"/>
          </a:p>
        </p:txBody>
      </p:sp>
      <p:sp>
        <p:nvSpPr>
          <p:cNvPr id="14" name="Shape 11"/>
          <p:cNvSpPr/>
          <p:nvPr/>
        </p:nvSpPr>
        <p:spPr>
          <a:xfrm>
            <a:off x="6195060" y="1417320"/>
            <a:ext cx="2507742" cy="1188720"/>
          </a:xfrm>
          <a:prstGeom prst="rect">
            <a:avLst/>
          </a:prstGeom>
          <a:solidFill>
            <a:srgbClr val="F7F5F2"/>
          </a:solidFill>
          <a:ln/>
        </p:spPr>
        <p:txBody>
          <a:bodyPr/>
          <a:p/>
        </p:txBody>
      </p:sp>
      <p:sp>
        <p:nvSpPr>
          <p:cNvPr id="15" name="Shape 12"/>
          <p:cNvSpPr/>
          <p:nvPr/>
        </p:nvSpPr>
        <p:spPr>
          <a:xfrm>
            <a:off x="6195060" y="1417320"/>
            <a:ext cx="45720" cy="1188720"/>
          </a:xfrm>
          <a:prstGeom prst="rect">
            <a:avLst/>
          </a:prstGeom>
          <a:solidFill>
            <a:srgbClr val="A51C30"/>
          </a:solidFill>
          <a:ln/>
        </p:spPr>
        <p:txBody>
          <a:bodyPr/>
          <a:p/>
        </p:txBody>
      </p:sp>
      <p:sp>
        <p:nvSpPr>
          <p:cNvPr id="16" name="Text 13"/>
          <p:cNvSpPr txBox="1"/>
          <p:nvPr/>
        </p:nvSpPr>
        <p:spPr>
          <a:xfrm>
            <a:off x="6396228" y="152704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~100</a:t>
            </a:r>
            <a:endParaRPr lang="en-US" sz="2600" dirty="0"/>
          </a:p>
        </p:txBody>
      </p:sp>
      <p:sp>
        <p:nvSpPr>
          <p:cNvPr id="17" name="Text 14"/>
          <p:cNvSpPr txBox="1"/>
          <p:nvPr/>
        </p:nvSpPr>
        <p:spPr>
          <a:xfrm>
            <a:off x="6396228" y="2020824"/>
            <a:ext cx="2187702" cy="512064"/>
          </a:xfrm>
          <a:prstGeom prst="rect">
            <a:avLst/>
          </a:prstGeom>
          <a:noFill/>
          <a:ln/>
        </p:spPr>
        <p:txBody>
          <a:bodyPr wrap="square" lIns="0" tIns="0" rIns="0" bIns="0" rtlCol="0" anchor="t"/>
          <a:lstStyle/>
          <a:p>
            <a:pPr indent="0" marL="0">
              <a:buNone/>
            </a:pPr>
            <a:r>
              <a:rPr lang="en-US" sz="1150" dirty="0">
                <a:solidFill>
                  <a:srgbClr val="4A5058"/>
                </a:solidFill>
              </a:rPr>
              <a:t>Findings fixed in 2.6.6's six-hour QA, five of them P1</a:t>
            </a:r>
            <a:endParaRPr lang="en-US" sz="1150" dirty="0"/>
          </a:p>
        </p:txBody>
      </p:sp>
      <p:sp>
        <p:nvSpPr>
          <p:cNvPr id="18" name="Shape 15"/>
          <p:cNvSpPr/>
          <p:nvPr/>
        </p:nvSpPr>
        <p:spPr>
          <a:xfrm>
            <a:off x="8903970" y="1417320"/>
            <a:ext cx="2507742" cy="1188720"/>
          </a:xfrm>
          <a:prstGeom prst="rect">
            <a:avLst/>
          </a:prstGeom>
          <a:solidFill>
            <a:srgbClr val="F7F5F2"/>
          </a:solidFill>
          <a:ln/>
        </p:spPr>
        <p:txBody>
          <a:bodyPr/>
          <a:p/>
        </p:txBody>
      </p:sp>
      <p:sp>
        <p:nvSpPr>
          <p:cNvPr id="19" name="Shape 16"/>
          <p:cNvSpPr/>
          <p:nvPr/>
        </p:nvSpPr>
        <p:spPr>
          <a:xfrm>
            <a:off x="8903970" y="1417320"/>
            <a:ext cx="45720" cy="1188720"/>
          </a:xfrm>
          <a:prstGeom prst="rect">
            <a:avLst/>
          </a:prstGeom>
          <a:solidFill>
            <a:srgbClr val="A51C30"/>
          </a:solidFill>
          <a:ln/>
        </p:spPr>
        <p:txBody>
          <a:bodyPr/>
          <a:p/>
        </p:txBody>
      </p:sp>
      <p:sp>
        <p:nvSpPr>
          <p:cNvPr id="20" name="Text 17"/>
          <p:cNvSpPr txBox="1"/>
          <p:nvPr/>
        </p:nvSpPr>
        <p:spPr>
          <a:xfrm>
            <a:off x="9105138" y="1527048"/>
            <a:ext cx="2187702" cy="502920"/>
          </a:xfrm>
          <a:prstGeom prst="rect">
            <a:avLst/>
          </a:prstGeom>
          <a:noFill/>
          <a:ln/>
        </p:spPr>
        <p:txBody>
          <a:bodyPr wrap="square" lIns="0" tIns="0" rIns="0" bIns="0" rtlCol="0" anchor="ctr"/>
          <a:lstStyle/>
          <a:p>
            <a:pPr indent="0" marL="0">
              <a:buNone/>
            </a:pPr>
            <a:r>
              <a:rPr lang="en-US" sz="2600" b="1" dirty="0">
                <a:solidFill>
                  <a:srgbClr val="8A1626"/>
                </a:solidFill>
              </a:rPr>
              <a:t>4,640</a:t>
            </a:r>
            <a:endParaRPr lang="en-US" sz="2600" dirty="0"/>
          </a:p>
        </p:txBody>
      </p:sp>
      <p:sp>
        <p:nvSpPr>
          <p:cNvPr id="21" name="Text 18"/>
          <p:cNvSpPr txBox="1"/>
          <p:nvPr/>
        </p:nvSpPr>
        <p:spPr>
          <a:xfrm>
            <a:off x="9105138" y="2020824"/>
            <a:ext cx="2187702" cy="512064"/>
          </a:xfrm>
          <a:prstGeom prst="rect">
            <a:avLst/>
          </a:prstGeom>
          <a:noFill/>
          <a:ln/>
        </p:spPr>
        <p:txBody>
          <a:bodyPr wrap="square" lIns="0" tIns="0" rIns="0" bIns="0" rtlCol="0" anchor="t"/>
          <a:lstStyle/>
          <a:p>
            <a:pPr indent="0" marL="0">
              <a:buNone/>
            </a:pPr>
            <a:r>
              <a:rPr lang="en-US" sz="1150" dirty="0">
                <a:solidFill>
                  <a:srgbClr val="4A5058"/>
                </a:solidFill>
              </a:rPr>
              <a:t>Randomised searches matched brute force exactly</a:t>
            </a:r>
            <a:endParaRPr lang="en-US" sz="11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2880360"/>
          <a:ext cx="10634472" cy="2523744"/>
        </p:xfrm>
        <a:graphic>
          <a:graphicData uri="http://schemas.openxmlformats.org/drawingml/2006/table">
            <a:tbl>
              <a:tblPr/>
              <a:tblGrid>
                <a:gridCol w="1463040"/>
                <a:gridCol w="4754880"/>
                <a:gridCol w="822960"/>
                <a:gridCol w="3593592"/>
              </a:tblGrid>
              <a:tr h="420624">
                <a:tc>
                  <a:txBody>
                    <a:bodyPr/>
                    <a:lstStyle/>
                    <a:p>
                      <a:pPr indent="0" marL="0">
                        <a:buNone/>
                      </a:pPr>
                      <a:r>
                        <a:rPr lang="en-US" sz="1400" b="1" dirty="0">
                          <a:solidFill>
                            <a:srgbClr val="FFFFFF"/>
                          </a:solidFill>
                        </a:rPr>
                        <a:t>Round</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c>
                  <a:txBody>
                    <a:bodyPr/>
                    <a:lstStyle/>
                    <a:p>
                      <a:pPr indent="0" marL="0">
                        <a:buNone/>
                      </a:pPr>
                      <a:r>
                        <a:rPr lang="en-US" sz="1400" b="1" dirty="0">
                          <a:solidFill>
                            <a:srgbClr val="FFFFFF"/>
                          </a:solidFill>
                        </a:rPr>
                        <a:t>Scope</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c>
                  <a:txBody>
                    <a:bodyPr/>
                    <a:lstStyle/>
                    <a:p>
                      <a:pPr indent="0" marL="0">
                        <a:buNone/>
                      </a:pPr>
                      <a:r>
                        <a:rPr lang="en-US" sz="1400" b="1" dirty="0">
                          <a:solidFill>
                            <a:srgbClr val="FFFFFF"/>
                          </a:solidFill>
                        </a:rPr>
                        <a:t>High</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c>
                  <a:txBody>
                    <a:bodyPr/>
                    <a:lstStyle/>
                    <a:p>
                      <a:pPr indent="0" marL="0">
                        <a:buNone/>
                      </a:pPr>
                      <a:r>
                        <a:rPr lang="en-US" sz="1400" b="1" dirty="0">
                          <a:solidFill>
                            <a:srgbClr val="FFFFFF"/>
                          </a:solidFill>
                        </a:rPr>
                        <a:t>Outcome</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r>
              <a:tr h="420624">
                <a:tc>
                  <a:txBody>
                    <a:bodyPr/>
                    <a:lstStyle/>
                    <a:p>
                      <a:pPr indent="0" marL="0">
                        <a:buNone/>
                      </a:pPr>
                      <a:r>
                        <a:rPr lang="en-US" sz="1400" b="1" dirty="0">
                          <a:solidFill>
                            <a:srgbClr val="8A1626"/>
                          </a:solidFill>
                        </a:rPr>
                        <a:t>2026-10-01</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Security, data and UX of 1.13</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10</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All high fixed, each with its commit</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420624">
                <a:tc>
                  <a:txBody>
                    <a:bodyPr/>
                    <a:lstStyle/>
                    <a:p>
                      <a:pPr indent="0" marL="0">
                        <a:buNone/>
                      </a:pPr>
                      <a:r>
                        <a:rPr lang="en-US" sz="1400" b="1" dirty="0">
                          <a:solidFill>
                            <a:srgbClr val="8A1626"/>
                          </a:solidFill>
                        </a:rPr>
                        <a:t>2026-10-03</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Build workbench: 25 endpoints × 6 callers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0</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All 18 medium fixed</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8A1626"/>
                          </a:solidFill>
                        </a:rPr>
                        <a:t>2026-10-05</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Data safety and behaviour (two rounds)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2</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All resolved or owned</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420624">
                <a:tc>
                  <a:txBody>
                    <a:bodyPr/>
                    <a:lstStyle/>
                    <a:p>
                      <a:pPr indent="0" marL="0">
                        <a:buNone/>
                      </a:pPr>
                      <a:r>
                        <a:rPr lang="en-US" sz="1400" b="1" dirty="0">
                          <a:solidFill>
                            <a:srgbClr val="8A1626"/>
                          </a:solidFill>
                        </a:rPr>
                        <a:t>2026-10-20</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2.6.5: two testers, four rounds, four soaks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5 P1</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All P1 fixed; SOAK4-01 open</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8A1626"/>
                          </a:solidFill>
                        </a:rPr>
                        <a:t>2026-10-21</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BI runs: planner, sharing, adoption</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400" dirty="0">
                          <a:solidFill>
                            <a:srgbClr val="1A1A1A"/>
                          </a:solidFill>
                        </a:rPr>
                        <a:t>Masks hold both ways</a:t>
                      </a:r>
                      <a:endParaRPr lang="en-US" sz="140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bl>
          </a:graphicData>
        </a:graphic>
      </p:graphicFrame>
      <p:sp>
        <p:nvSpPr>
          <p:cNvPr id="23" name="Shape 19"/>
          <p:cNvSpPr/>
          <p:nvPr/>
        </p:nvSpPr>
        <p:spPr>
          <a:xfrm>
            <a:off x="777240" y="5550408"/>
            <a:ext cx="10634472" cy="694944"/>
          </a:xfrm>
          <a:prstGeom prst="rect">
            <a:avLst/>
          </a:prstGeom>
          <a:solidFill>
            <a:srgbClr val="F6E6E9"/>
          </a:solidFill>
          <a:ln/>
        </p:spPr>
        <p:txBody>
          <a:bodyPr/>
          <a:p/>
        </p:txBody>
      </p:sp>
      <p:sp>
        <p:nvSpPr>
          <p:cNvPr id="24" name="Shape 20"/>
          <p:cNvSpPr/>
          <p:nvPr/>
        </p:nvSpPr>
        <p:spPr>
          <a:xfrm>
            <a:off x="777240" y="5550408"/>
            <a:ext cx="54864" cy="694944"/>
          </a:xfrm>
          <a:prstGeom prst="rect">
            <a:avLst/>
          </a:prstGeom>
          <a:solidFill>
            <a:srgbClr val="A51C30"/>
          </a:solidFill>
          <a:ln/>
        </p:spPr>
        <p:txBody>
          <a:bodyPr/>
          <a:p/>
        </p:txBody>
      </p:sp>
      <p:sp>
        <p:nvSpPr>
          <p:cNvPr id="25" name="Text 21"/>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No XSS anywhere, about 250 settings that match the code, 190 grammar fuzz cases with clean problem codes.</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THE DRILL · TOOLS/DRILL.SH</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Nothing reaches main without the full gate</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554480"/>
            <a:ext cx="1572768" cy="150876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7" name="Text 4"/>
          <p:cNvSpPr txBox="1"/>
          <p:nvPr/>
        </p:nvSpPr>
        <p:spPr>
          <a:xfrm>
            <a:off x="914400" y="1664208"/>
            <a:ext cx="1298448" cy="329184"/>
          </a:xfrm>
          <a:prstGeom prst="rect">
            <a:avLst/>
          </a:prstGeom>
          <a:noFill/>
          <a:ln/>
        </p:spPr>
        <p:txBody>
          <a:bodyPr wrap="square" lIns="0" tIns="0" rIns="0" bIns="0" rtlCol="0" anchor="t"/>
          <a:lstStyle/>
          <a:p>
            <a:pPr indent="0" marL="0">
              <a:buNone/>
            </a:pPr>
            <a:r>
              <a:rPr lang="en-US" sz="1600" b="1" dirty="0">
                <a:solidFill>
                  <a:srgbClr val="1A1A1A"/>
                </a:solidFill>
              </a:rPr>
              <a:t>Licences</a:t>
            </a:r>
            <a:endParaRPr lang="en-US" sz="1600" dirty="0"/>
          </a:p>
        </p:txBody>
      </p:sp>
      <p:sp>
        <p:nvSpPr>
          <p:cNvPr id="8" name="Text 5"/>
          <p:cNvSpPr txBox="1"/>
          <p:nvPr/>
        </p:nvSpPr>
        <p:spPr>
          <a:xfrm>
            <a:off x="914400" y="2011680"/>
            <a:ext cx="1298448" cy="987552"/>
          </a:xfrm>
          <a:prstGeom prst="rect">
            <a:avLst/>
          </a:prstGeom>
          <a:noFill/>
          <a:ln/>
        </p:spPr>
        <p:txBody>
          <a:bodyPr wrap="square" lIns="0" tIns="0" rIns="0" bIns="0" rtlCol="0" anchor="t"/>
          <a:lstStyle/>
          <a:p>
            <a:pPr indent="0" marL="0">
              <a:buNone/>
            </a:pPr>
            <a:r>
              <a:rPr lang="en-US" sz="1250" dirty="0">
                <a:solidFill>
                  <a:srgbClr val="4A5058"/>
                </a:solidFill>
              </a:rPr>
              <a:t>A header on every file</a:t>
            </a:r>
            <a:endParaRPr lang="en-US" sz="1250" dirty="0"/>
          </a:p>
        </p:txBody>
      </p:sp>
      <p:sp>
        <p:nvSpPr>
          <p:cNvPr id="9" name="Shape 6"/>
          <p:cNvSpPr/>
          <p:nvPr/>
        </p:nvSpPr>
        <p:spPr>
          <a:xfrm>
            <a:off x="2578608" y="1554480"/>
            <a:ext cx="1572768" cy="150876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10" name="Text 7"/>
          <p:cNvSpPr txBox="1"/>
          <p:nvPr/>
        </p:nvSpPr>
        <p:spPr>
          <a:xfrm>
            <a:off x="2715768" y="1664208"/>
            <a:ext cx="1298448" cy="329184"/>
          </a:xfrm>
          <a:prstGeom prst="rect">
            <a:avLst/>
          </a:prstGeom>
          <a:noFill/>
          <a:ln/>
        </p:spPr>
        <p:txBody>
          <a:bodyPr wrap="square" lIns="0" tIns="0" rIns="0" bIns="0" rtlCol="0" anchor="t"/>
          <a:lstStyle/>
          <a:p>
            <a:pPr indent="0" marL="0">
              <a:buNone/>
            </a:pPr>
            <a:r>
              <a:rPr lang="en-US" sz="1600" b="1" dirty="0">
                <a:solidFill>
                  <a:srgbClr val="1A1A1A"/>
                </a:solidFill>
              </a:rPr>
              <a:t>Java 21</a:t>
            </a:r>
            <a:endParaRPr lang="en-US" sz="1600" dirty="0"/>
          </a:p>
        </p:txBody>
      </p:sp>
      <p:sp>
        <p:nvSpPr>
          <p:cNvPr id="11" name="Text 8"/>
          <p:cNvSpPr txBox="1"/>
          <p:nvPr/>
        </p:nvSpPr>
        <p:spPr>
          <a:xfrm>
            <a:off x="2715768" y="2011680"/>
            <a:ext cx="1298448" cy="987552"/>
          </a:xfrm>
          <a:prstGeom prst="rect">
            <a:avLst/>
          </a:prstGeom>
          <a:noFill/>
          <a:ln/>
        </p:spPr>
        <p:txBody>
          <a:bodyPr wrap="square" lIns="0" tIns="0" rIns="0" bIns="0" rtlCol="0" anchor="t"/>
          <a:lstStyle/>
          <a:p>
            <a:pPr indent="0" marL="0">
              <a:buNone/>
            </a:pPr>
            <a:r>
              <a:rPr lang="en-US" sz="1250" dirty="0">
                <a:solidFill>
                  <a:srgbClr val="4A5058"/>
                </a:solidFill>
              </a:rPr>
              <a:t>Full verify; bytecode pinned to 21</a:t>
            </a:r>
            <a:endParaRPr lang="en-US" sz="1250" dirty="0"/>
          </a:p>
        </p:txBody>
      </p:sp>
      <p:sp>
        <p:nvSpPr>
          <p:cNvPr id="12" name="Shape 9"/>
          <p:cNvSpPr/>
          <p:nvPr/>
        </p:nvSpPr>
        <p:spPr>
          <a:xfrm>
            <a:off x="2350008" y="2304288"/>
            <a:ext cx="228600" cy="914"/>
          </a:xfrm>
          <a:prstGeom prst="line">
            <a:avLst/>
          </a:prstGeom>
          <a:noFill/>
          <a:ln w="22225">
            <a:solidFill>
              <a:srgbClr val="A51C30"/>
            </a:solidFill>
            <a:prstDash val="solid"/>
            <a:tailEnd type="triangle"/>
          </a:ln>
        </p:spPr>
        <p:txBody>
          <a:bodyPr/>
          <a:p/>
        </p:txBody>
      </p:sp>
      <p:sp>
        <p:nvSpPr>
          <p:cNvPr id="13" name="Shape 10"/>
          <p:cNvSpPr/>
          <p:nvPr/>
        </p:nvSpPr>
        <p:spPr>
          <a:xfrm>
            <a:off x="4379976" y="1554480"/>
            <a:ext cx="1572768" cy="150876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14" name="Text 11"/>
          <p:cNvSpPr txBox="1"/>
          <p:nvPr/>
        </p:nvSpPr>
        <p:spPr>
          <a:xfrm>
            <a:off x="4517136" y="1664208"/>
            <a:ext cx="1298448" cy="329184"/>
          </a:xfrm>
          <a:prstGeom prst="rect">
            <a:avLst/>
          </a:prstGeom>
          <a:noFill/>
          <a:ln/>
        </p:spPr>
        <p:txBody>
          <a:bodyPr wrap="square" lIns="0" tIns="0" rIns="0" bIns="0" rtlCol="0" anchor="t"/>
          <a:lstStyle/>
          <a:p>
            <a:pPr indent="0" marL="0">
              <a:buNone/>
            </a:pPr>
            <a:r>
              <a:rPr lang="en-US" sz="1600" b="1" dirty="0">
                <a:solidFill>
                  <a:srgbClr val="1A1A1A"/>
                </a:solidFill>
              </a:rPr>
              <a:t>Java 25</a:t>
            </a:r>
            <a:endParaRPr lang="en-US" sz="1600" dirty="0"/>
          </a:p>
        </p:txBody>
      </p:sp>
      <p:sp>
        <p:nvSpPr>
          <p:cNvPr id="15" name="Text 12"/>
          <p:cNvSpPr txBox="1"/>
          <p:nvPr/>
        </p:nvSpPr>
        <p:spPr>
          <a:xfrm>
            <a:off x="4517136" y="2011680"/>
            <a:ext cx="1298448" cy="987552"/>
          </a:xfrm>
          <a:prstGeom prst="rect">
            <a:avLst/>
          </a:prstGeom>
          <a:noFill/>
          <a:ln/>
        </p:spPr>
        <p:txBody>
          <a:bodyPr wrap="square" lIns="0" tIns="0" rIns="0" bIns="0" rtlCol="0" anchor="t"/>
          <a:lstStyle/>
          <a:p>
            <a:pPr indent="0" marL="0">
              <a:buNone/>
            </a:pPr>
            <a:r>
              <a:rPr lang="en-US" sz="1250" dirty="0">
                <a:solidFill>
                  <a:srgbClr val="4A5058"/>
                </a:solidFill>
              </a:rPr>
              <a:t>Verify in a copy of the commit</a:t>
            </a:r>
            <a:endParaRPr lang="en-US" sz="1250" dirty="0"/>
          </a:p>
        </p:txBody>
      </p:sp>
      <p:sp>
        <p:nvSpPr>
          <p:cNvPr id="16" name="Shape 13"/>
          <p:cNvSpPr/>
          <p:nvPr/>
        </p:nvSpPr>
        <p:spPr>
          <a:xfrm>
            <a:off x="4151376" y="2304288"/>
            <a:ext cx="228600" cy="914"/>
          </a:xfrm>
          <a:prstGeom prst="line">
            <a:avLst/>
          </a:prstGeom>
          <a:noFill/>
          <a:ln w="22225">
            <a:solidFill>
              <a:srgbClr val="A51C30"/>
            </a:solidFill>
            <a:prstDash val="solid"/>
            <a:tailEnd type="triangle"/>
          </a:ln>
        </p:spPr>
        <p:txBody>
          <a:bodyPr/>
          <a:p/>
        </p:txBody>
      </p:sp>
      <p:sp>
        <p:nvSpPr>
          <p:cNvPr id="17" name="Shape 14"/>
          <p:cNvSpPr/>
          <p:nvPr/>
        </p:nvSpPr>
        <p:spPr>
          <a:xfrm>
            <a:off x="6181344" y="1554480"/>
            <a:ext cx="1572768" cy="150876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18" name="Text 15"/>
          <p:cNvSpPr txBox="1"/>
          <p:nvPr/>
        </p:nvSpPr>
        <p:spPr>
          <a:xfrm>
            <a:off x="6318504" y="1664208"/>
            <a:ext cx="1298448" cy="329184"/>
          </a:xfrm>
          <a:prstGeom prst="rect">
            <a:avLst/>
          </a:prstGeom>
          <a:noFill/>
          <a:ln/>
        </p:spPr>
        <p:txBody>
          <a:bodyPr wrap="square" lIns="0" tIns="0" rIns="0" bIns="0" rtlCol="0" anchor="t"/>
          <a:lstStyle/>
          <a:p>
            <a:pPr indent="0" marL="0">
              <a:buNone/>
            </a:pPr>
            <a:r>
              <a:rPr lang="en-US" sz="1600" b="1" dirty="0">
                <a:solidFill>
                  <a:srgbClr val="1A1A1A"/>
                </a:solidFill>
              </a:rPr>
              <a:t>Console</a:t>
            </a:r>
            <a:endParaRPr lang="en-US" sz="1600" dirty="0"/>
          </a:p>
        </p:txBody>
      </p:sp>
      <p:sp>
        <p:nvSpPr>
          <p:cNvPr id="19" name="Text 16"/>
          <p:cNvSpPr txBox="1"/>
          <p:nvPr/>
        </p:nvSpPr>
        <p:spPr>
          <a:xfrm>
            <a:off x="6318504" y="2011680"/>
            <a:ext cx="1298448" cy="987552"/>
          </a:xfrm>
          <a:prstGeom prst="rect">
            <a:avLst/>
          </a:prstGeom>
          <a:noFill/>
          <a:ln/>
        </p:spPr>
        <p:txBody>
          <a:bodyPr wrap="square" lIns="0" tIns="0" rIns="0" bIns="0" rtlCol="0" anchor="t"/>
          <a:lstStyle/>
          <a:p>
            <a:pPr indent="0" marL="0">
              <a:buNone/>
            </a:pPr>
            <a:r>
              <a:rPr lang="en-US" sz="1250" dirty="0">
                <a:solidFill>
                  <a:srgbClr val="4A5058"/>
                </a:solidFill>
              </a:rPr>
              <a:t>Tests on parallel workers</a:t>
            </a:r>
            <a:endParaRPr lang="en-US" sz="1250" dirty="0"/>
          </a:p>
        </p:txBody>
      </p:sp>
      <p:sp>
        <p:nvSpPr>
          <p:cNvPr id="20" name="Shape 17"/>
          <p:cNvSpPr/>
          <p:nvPr/>
        </p:nvSpPr>
        <p:spPr>
          <a:xfrm>
            <a:off x="5952744" y="2304288"/>
            <a:ext cx="228600" cy="914"/>
          </a:xfrm>
          <a:prstGeom prst="line">
            <a:avLst/>
          </a:prstGeom>
          <a:noFill/>
          <a:ln w="22225">
            <a:solidFill>
              <a:srgbClr val="A51C30"/>
            </a:solidFill>
            <a:prstDash val="solid"/>
            <a:tailEnd type="triangle"/>
          </a:ln>
        </p:spPr>
        <p:txBody>
          <a:bodyPr/>
          <a:p/>
        </p:txBody>
      </p:sp>
      <p:sp>
        <p:nvSpPr>
          <p:cNvPr id="21" name="Shape 18"/>
          <p:cNvSpPr/>
          <p:nvPr/>
        </p:nvSpPr>
        <p:spPr>
          <a:xfrm>
            <a:off x="7982712" y="1554480"/>
            <a:ext cx="1572768" cy="150876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22" name="Text 19"/>
          <p:cNvSpPr txBox="1"/>
          <p:nvPr/>
        </p:nvSpPr>
        <p:spPr>
          <a:xfrm>
            <a:off x="8119872" y="1664208"/>
            <a:ext cx="1298448" cy="329184"/>
          </a:xfrm>
          <a:prstGeom prst="rect">
            <a:avLst/>
          </a:prstGeom>
          <a:noFill/>
          <a:ln/>
        </p:spPr>
        <p:txBody>
          <a:bodyPr wrap="square" lIns="0" tIns="0" rIns="0" bIns="0" rtlCol="0" anchor="t"/>
          <a:lstStyle/>
          <a:p>
            <a:pPr indent="0" marL="0">
              <a:buNone/>
            </a:pPr>
            <a:r>
              <a:rPr lang="en-US" sz="1600" b="1" dirty="0">
                <a:solidFill>
                  <a:srgbClr val="1A1A1A"/>
                </a:solidFill>
              </a:rPr>
              <a:t>Tools</a:t>
            </a:r>
            <a:endParaRPr lang="en-US" sz="1600" dirty="0"/>
          </a:p>
        </p:txBody>
      </p:sp>
      <p:sp>
        <p:nvSpPr>
          <p:cNvPr id="23" name="Text 20"/>
          <p:cNvSpPr txBox="1"/>
          <p:nvPr/>
        </p:nvSpPr>
        <p:spPr>
          <a:xfrm>
            <a:off x="8119872" y="2011680"/>
            <a:ext cx="1298448" cy="987552"/>
          </a:xfrm>
          <a:prstGeom prst="rect">
            <a:avLst/>
          </a:prstGeom>
          <a:noFill/>
          <a:ln/>
        </p:spPr>
        <p:txBody>
          <a:bodyPr wrap="square" lIns="0" tIns="0" rIns="0" bIns="0" rtlCol="0" anchor="t"/>
          <a:lstStyle/>
          <a:p>
            <a:pPr indent="0" marL="0">
              <a:buNone/>
            </a:pPr>
            <a:r>
              <a:rPr lang="en-US" sz="1250" dirty="0">
                <a:solidFill>
                  <a:srgbClr val="4A5058"/>
                </a:solidFill>
              </a:rPr>
              <a:t>CLI tests</a:t>
            </a:r>
            <a:endParaRPr lang="en-US" sz="1250" dirty="0"/>
          </a:p>
        </p:txBody>
      </p:sp>
      <p:sp>
        <p:nvSpPr>
          <p:cNvPr id="24" name="Shape 21"/>
          <p:cNvSpPr/>
          <p:nvPr/>
        </p:nvSpPr>
        <p:spPr>
          <a:xfrm>
            <a:off x="7754112" y="2304288"/>
            <a:ext cx="228600" cy="914"/>
          </a:xfrm>
          <a:prstGeom prst="line">
            <a:avLst/>
          </a:prstGeom>
          <a:noFill/>
          <a:ln w="22225">
            <a:solidFill>
              <a:srgbClr val="A51C30"/>
            </a:solidFill>
            <a:prstDash val="solid"/>
            <a:tailEnd type="triangle"/>
          </a:ln>
        </p:spPr>
        <p:txBody>
          <a:bodyPr/>
          <a:p/>
        </p:txBody>
      </p:sp>
      <p:sp>
        <p:nvSpPr>
          <p:cNvPr id="25" name="Shape 22"/>
          <p:cNvSpPr/>
          <p:nvPr/>
        </p:nvSpPr>
        <p:spPr>
          <a:xfrm>
            <a:off x="9784080" y="1554480"/>
            <a:ext cx="1572768" cy="1508760"/>
          </a:xfrm>
          <a:prstGeom prst="rect">
            <a:avLst/>
          </a:prstGeom>
          <a:solidFill>
            <a:srgbClr val="F6E6E9"/>
          </a:solidFill>
          <a:ln w="12700">
            <a:solidFill>
              <a:srgbClr val="A51C30"/>
            </a:solidFill>
            <a:prstDash val="solid"/>
          </a:ln>
          <a:effectLst>
            <a:outerShdw sx="100000" sy="100000" kx="0" ky="0" algn="bl" rotWithShape="0" blurRad="50800" dist="19050" dir="5400000">
              <a:srgbClr val="000000">
                <a:alpha val="10000"/>
              </a:srgbClr>
            </a:outerShdw>
          </a:effectLst>
        </p:spPr>
        <p:txBody>
          <a:bodyPr/>
          <a:p/>
        </p:txBody>
      </p:sp>
      <p:sp>
        <p:nvSpPr>
          <p:cNvPr id="26" name="Text 23"/>
          <p:cNvSpPr txBox="1"/>
          <p:nvPr/>
        </p:nvSpPr>
        <p:spPr>
          <a:xfrm>
            <a:off x="9921240" y="1664208"/>
            <a:ext cx="1298448" cy="329184"/>
          </a:xfrm>
          <a:prstGeom prst="rect">
            <a:avLst/>
          </a:prstGeom>
          <a:noFill/>
          <a:ln/>
        </p:spPr>
        <p:txBody>
          <a:bodyPr wrap="square" lIns="0" tIns="0" rIns="0" bIns="0" rtlCol="0" anchor="t"/>
          <a:lstStyle/>
          <a:p>
            <a:pPr indent="0" marL="0">
              <a:buNone/>
            </a:pPr>
            <a:r>
              <a:rPr lang="en-US" sz="1600" b="1" dirty="0">
                <a:solidFill>
                  <a:srgbClr val="1A1A1A"/>
                </a:solidFill>
              </a:rPr>
              <a:t>Push</a:t>
            </a:r>
            <a:endParaRPr lang="en-US" sz="1600" dirty="0"/>
          </a:p>
        </p:txBody>
      </p:sp>
      <p:sp>
        <p:nvSpPr>
          <p:cNvPr id="27" name="Text 24"/>
          <p:cNvSpPr txBox="1"/>
          <p:nvPr/>
        </p:nvSpPr>
        <p:spPr>
          <a:xfrm>
            <a:off x="9921240" y="2011680"/>
            <a:ext cx="1298448" cy="987552"/>
          </a:xfrm>
          <a:prstGeom prst="rect">
            <a:avLst/>
          </a:prstGeom>
          <a:noFill/>
          <a:ln/>
        </p:spPr>
        <p:txBody>
          <a:bodyPr wrap="square" lIns="0" tIns="0" rIns="0" bIns="0" rtlCol="0" anchor="t"/>
          <a:lstStyle/>
          <a:p>
            <a:pPr indent="0" marL="0">
              <a:buNone/>
            </a:pPr>
            <a:r>
              <a:rPr lang="en-US" sz="1250" dirty="0">
                <a:solidFill>
                  <a:srgbClr val="4A5058"/>
                </a:solidFill>
              </a:rPr>
              <a:t>develop, then main</a:t>
            </a:r>
            <a:endParaRPr lang="en-US" sz="1250" dirty="0"/>
          </a:p>
        </p:txBody>
      </p:sp>
      <p:sp>
        <p:nvSpPr>
          <p:cNvPr id="28" name="Shape 25"/>
          <p:cNvSpPr/>
          <p:nvPr/>
        </p:nvSpPr>
        <p:spPr>
          <a:xfrm>
            <a:off x="9555480" y="2304288"/>
            <a:ext cx="228600" cy="914"/>
          </a:xfrm>
          <a:prstGeom prst="line">
            <a:avLst/>
          </a:prstGeom>
          <a:noFill/>
          <a:ln w="22225">
            <a:solidFill>
              <a:srgbClr val="A51C30"/>
            </a:solidFill>
            <a:prstDash val="solid"/>
            <a:tailEnd type="triangle"/>
          </a:ln>
        </p:spPr>
        <p:txBody>
          <a:bodyPr/>
          <a:p/>
        </p:txBody>
      </p:sp>
      <p:sp>
        <p:nvSpPr>
          <p:cNvPr id="29" name="Shape 26"/>
          <p:cNvSpPr/>
          <p:nvPr/>
        </p:nvSpPr>
        <p:spPr>
          <a:xfrm>
            <a:off x="777240" y="3337560"/>
            <a:ext cx="3410712" cy="1920240"/>
          </a:xfrm>
          <a:prstGeom prst="rect">
            <a:avLst/>
          </a:prstGeom>
          <a:solidFill>
            <a:srgbClr val="F7F5F2"/>
          </a:solidFill>
          <a:ln/>
        </p:spPr>
        <p:txBody>
          <a:bodyPr/>
          <a:p/>
        </p:txBody>
      </p:sp>
      <p:sp>
        <p:nvSpPr>
          <p:cNvPr id="30" name="Shape 27"/>
          <p:cNvSpPr/>
          <p:nvPr/>
        </p:nvSpPr>
        <p:spPr>
          <a:xfrm>
            <a:off x="777240" y="3337560"/>
            <a:ext cx="45720" cy="1920240"/>
          </a:xfrm>
          <a:prstGeom prst="rect">
            <a:avLst/>
          </a:prstGeom>
          <a:solidFill>
            <a:srgbClr val="A51C30"/>
          </a:solidFill>
          <a:ln/>
        </p:spPr>
        <p:txBody>
          <a:bodyPr/>
          <a:p/>
        </p:txBody>
      </p:sp>
      <p:sp>
        <p:nvSpPr>
          <p:cNvPr id="31" name="Text 28"/>
          <p:cNvSpPr txBox="1"/>
          <p:nvPr/>
        </p:nvSpPr>
        <p:spPr>
          <a:xfrm>
            <a:off x="978408" y="3447288"/>
            <a:ext cx="3090672" cy="502920"/>
          </a:xfrm>
          <a:prstGeom prst="rect">
            <a:avLst/>
          </a:prstGeom>
          <a:noFill/>
          <a:ln/>
        </p:spPr>
        <p:txBody>
          <a:bodyPr wrap="square" lIns="0" tIns="0" rIns="0" bIns="0" rtlCol="0" anchor="ctr"/>
          <a:lstStyle/>
          <a:p>
            <a:pPr indent="0" marL="0">
              <a:buNone/>
            </a:pPr>
            <a:r>
              <a:rPr lang="en-US" sz="2600" b="1" dirty="0">
                <a:solidFill>
                  <a:srgbClr val="8A1626"/>
                </a:solidFill>
              </a:rPr>
              <a:t>48 min</a:t>
            </a:r>
            <a:endParaRPr lang="en-US" sz="2600" dirty="0"/>
          </a:p>
        </p:txBody>
      </p:sp>
      <p:sp>
        <p:nvSpPr>
          <p:cNvPr id="32" name="Text 29"/>
          <p:cNvSpPr txBox="1"/>
          <p:nvPr/>
        </p:nvSpPr>
        <p:spPr>
          <a:xfrm>
            <a:off x="978408" y="3941064"/>
            <a:ext cx="3090672" cy="1243584"/>
          </a:xfrm>
          <a:prstGeom prst="rect">
            <a:avLst/>
          </a:prstGeom>
          <a:noFill/>
          <a:ln/>
        </p:spPr>
        <p:txBody>
          <a:bodyPr wrap="square" lIns="0" tIns="0" rIns="0" bIns="0" rtlCol="0" anchor="t"/>
          <a:lstStyle/>
          <a:p>
            <a:pPr indent="0" marL="0">
              <a:buNone/>
            </a:pPr>
            <a:r>
              <a:rPr lang="en-US" sz="1300" dirty="0">
                <a:solidFill>
                  <a:srgbClr val="4A5058"/>
                </a:solidFill>
              </a:rPr>
              <a:t>A full drill of 2.9.2: Java 21 in 815 s, then Java 25, console and tools side by side in 2,082 s</a:t>
            </a:r>
            <a:endParaRPr lang="en-US" sz="1300" dirty="0"/>
          </a:p>
        </p:txBody>
      </p:sp>
      <p:sp>
        <p:nvSpPr>
          <p:cNvPr id="33" name="Shape 30"/>
          <p:cNvSpPr/>
          <p:nvPr/>
        </p:nvSpPr>
        <p:spPr>
          <a:xfrm>
            <a:off x="4389120" y="3337560"/>
            <a:ext cx="3410712" cy="1920240"/>
          </a:xfrm>
          <a:prstGeom prst="rect">
            <a:avLst/>
          </a:prstGeom>
          <a:solidFill>
            <a:srgbClr val="F7F5F2"/>
          </a:solidFill>
          <a:ln/>
        </p:spPr>
        <p:txBody>
          <a:bodyPr/>
          <a:p/>
        </p:txBody>
      </p:sp>
      <p:sp>
        <p:nvSpPr>
          <p:cNvPr id="34" name="Shape 31"/>
          <p:cNvSpPr/>
          <p:nvPr/>
        </p:nvSpPr>
        <p:spPr>
          <a:xfrm>
            <a:off x="4389120" y="3337560"/>
            <a:ext cx="45720" cy="1920240"/>
          </a:xfrm>
          <a:prstGeom prst="rect">
            <a:avLst/>
          </a:prstGeom>
          <a:solidFill>
            <a:srgbClr val="A51C30"/>
          </a:solidFill>
          <a:ln/>
        </p:spPr>
        <p:txBody>
          <a:bodyPr/>
          <a:p/>
        </p:txBody>
      </p:sp>
      <p:sp>
        <p:nvSpPr>
          <p:cNvPr id="35" name="Text 32"/>
          <p:cNvSpPr txBox="1"/>
          <p:nvPr/>
        </p:nvSpPr>
        <p:spPr>
          <a:xfrm>
            <a:off x="4590288" y="3447288"/>
            <a:ext cx="3090672" cy="502920"/>
          </a:xfrm>
          <a:prstGeom prst="rect">
            <a:avLst/>
          </a:prstGeom>
          <a:noFill/>
          <a:ln/>
        </p:spPr>
        <p:txBody>
          <a:bodyPr wrap="square" lIns="0" tIns="0" rIns="0" bIns="0" rtlCol="0" anchor="ctr"/>
          <a:lstStyle/>
          <a:p>
            <a:pPr indent="0" marL="0">
              <a:buNone/>
            </a:pPr>
            <a:r>
              <a:rPr lang="en-US" sz="2600" b="1" dirty="0">
                <a:solidFill>
                  <a:srgbClr val="8A1626"/>
                </a:solidFill>
              </a:rPr>
              <a:t>42</a:t>
            </a:r>
            <a:endParaRPr lang="en-US" sz="2600" dirty="0"/>
          </a:p>
        </p:txBody>
      </p:sp>
      <p:sp>
        <p:nvSpPr>
          <p:cNvPr id="36" name="Text 33"/>
          <p:cNvSpPr txBox="1"/>
          <p:nvPr/>
        </p:nvSpPr>
        <p:spPr>
          <a:xfrm>
            <a:off x="4590288" y="3941064"/>
            <a:ext cx="3090672" cy="1243584"/>
          </a:xfrm>
          <a:prstGeom prst="rect">
            <a:avLst/>
          </a:prstGeom>
          <a:noFill/>
          <a:ln/>
        </p:spPr>
        <p:txBody>
          <a:bodyPr wrap="square" lIns="0" tIns="0" rIns="0" bIns="0" rtlCol="0" anchor="t"/>
          <a:lstStyle/>
          <a:p>
            <a:pPr indent="0" marL="0">
              <a:buNone/>
            </a:pPr>
            <a:r>
              <a:rPr lang="en-US" sz="1300" dirty="0">
                <a:solidFill>
                  <a:srgbClr val="4A5058"/>
                </a:solidFill>
              </a:rPr>
              <a:t>Tagged releases, 1.0 to 2.9.3, 30 Sep to 27 Oct 2026; 2.9.4 next</a:t>
            </a:r>
            <a:endParaRPr lang="en-US" sz="1300" dirty="0"/>
          </a:p>
        </p:txBody>
      </p:sp>
      <p:sp>
        <p:nvSpPr>
          <p:cNvPr id="37" name="Shape 34"/>
          <p:cNvSpPr/>
          <p:nvPr/>
        </p:nvSpPr>
        <p:spPr>
          <a:xfrm>
            <a:off x="8001000" y="3337560"/>
            <a:ext cx="3410712" cy="1920240"/>
          </a:xfrm>
          <a:prstGeom prst="rect">
            <a:avLst/>
          </a:prstGeom>
          <a:solidFill>
            <a:srgbClr val="F7F5F2"/>
          </a:solidFill>
          <a:ln/>
        </p:spPr>
        <p:txBody>
          <a:bodyPr/>
          <a:p/>
        </p:txBody>
      </p:sp>
      <p:sp>
        <p:nvSpPr>
          <p:cNvPr id="38" name="Shape 35"/>
          <p:cNvSpPr/>
          <p:nvPr/>
        </p:nvSpPr>
        <p:spPr>
          <a:xfrm>
            <a:off x="8001000" y="3337560"/>
            <a:ext cx="45720" cy="1920240"/>
          </a:xfrm>
          <a:prstGeom prst="rect">
            <a:avLst/>
          </a:prstGeom>
          <a:solidFill>
            <a:srgbClr val="A51C30"/>
          </a:solidFill>
          <a:ln/>
        </p:spPr>
        <p:txBody>
          <a:bodyPr/>
          <a:p/>
        </p:txBody>
      </p:sp>
      <p:sp>
        <p:nvSpPr>
          <p:cNvPr id="39" name="Text 36"/>
          <p:cNvSpPr txBox="1"/>
          <p:nvPr/>
        </p:nvSpPr>
        <p:spPr>
          <a:xfrm>
            <a:off x="8202168" y="3447288"/>
            <a:ext cx="3090672" cy="502920"/>
          </a:xfrm>
          <a:prstGeom prst="rect">
            <a:avLst/>
          </a:prstGeom>
          <a:noFill/>
          <a:ln/>
        </p:spPr>
        <p:txBody>
          <a:bodyPr wrap="square" lIns="0" tIns="0" rIns="0" bIns="0" rtlCol="0" anchor="ctr"/>
          <a:lstStyle/>
          <a:p>
            <a:pPr indent="0" marL="0">
              <a:buNone/>
            </a:pPr>
            <a:r>
              <a:rPr lang="en-US" sz="2600" b="1" dirty="0">
                <a:solidFill>
                  <a:srgbClr val="8A1626"/>
                </a:solidFill>
              </a:rPr>
              <a:t>2,272</a:t>
            </a:r>
            <a:endParaRPr lang="en-US" sz="2600" dirty="0"/>
          </a:p>
        </p:txBody>
      </p:sp>
      <p:sp>
        <p:nvSpPr>
          <p:cNvPr id="40" name="Text 37"/>
          <p:cNvSpPr txBox="1"/>
          <p:nvPr/>
        </p:nvSpPr>
        <p:spPr>
          <a:xfrm>
            <a:off x="8202168" y="3941064"/>
            <a:ext cx="3090672" cy="1243584"/>
          </a:xfrm>
          <a:prstGeom prst="rect">
            <a:avLst/>
          </a:prstGeom>
          <a:noFill/>
          <a:ln/>
        </p:spPr>
        <p:txBody>
          <a:bodyPr wrap="square" lIns="0" tIns="0" rIns="0" bIns="0" rtlCol="0" anchor="t"/>
          <a:lstStyle/>
          <a:p>
            <a:pPr indent="0" marL="0">
              <a:buNone/>
            </a:pPr>
            <a:r>
              <a:rPr lang="en-US" sz="1300" dirty="0">
                <a:solidFill>
                  <a:srgbClr val="4A5058"/>
                </a:solidFill>
              </a:rPr>
              <a:t>Commits on release-2.9.4, every push through the drill</a:t>
            </a:r>
            <a:endParaRPr lang="en-US" sz="1300" dirty="0"/>
          </a:p>
        </p:txBody>
      </p:sp>
      <p:sp>
        <p:nvSpPr>
          <p:cNvPr id="41" name="Shape 38"/>
          <p:cNvSpPr/>
          <p:nvPr/>
        </p:nvSpPr>
        <p:spPr>
          <a:xfrm>
            <a:off x="777240" y="5550408"/>
            <a:ext cx="10634472" cy="694944"/>
          </a:xfrm>
          <a:prstGeom prst="rect">
            <a:avLst/>
          </a:prstGeom>
          <a:solidFill>
            <a:srgbClr val="F6E6E9"/>
          </a:solidFill>
          <a:ln/>
        </p:spPr>
        <p:txBody>
          <a:bodyPr/>
          <a:p/>
        </p:txBody>
      </p:sp>
      <p:sp>
        <p:nvSpPr>
          <p:cNvPr id="42" name="Shape 39"/>
          <p:cNvSpPr/>
          <p:nvPr/>
        </p:nvSpPr>
        <p:spPr>
          <a:xfrm>
            <a:off x="777240" y="5550408"/>
            <a:ext cx="54864" cy="694944"/>
          </a:xfrm>
          <a:prstGeom prst="rect">
            <a:avLst/>
          </a:prstGeom>
          <a:solidFill>
            <a:srgbClr val="A51C30"/>
          </a:solidFill>
          <a:ln/>
        </p:spPr>
        <p:txBody>
          <a:bodyPr/>
          <a:p/>
        </p:txBody>
      </p:sp>
      <p:sp>
        <p:nvSpPr>
          <p:cNvPr id="43" name="Text 40"/>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A failed test stops the push; a flaky one is retried once and written down — never ignored.</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SIZE · GIT LS-FILES</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Where the work is</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graphicFrame>
        <p:nvGraphicFramePr>
          <p:cNvPr id="6" name="Chart 0" descr=""/>
          <p:cNvGraphicFramePr/>
          <p:nvPr/>
        </p:nvGraphicFramePr>
        <p:xfrm>
          <a:off x="777240" y="1417320"/>
          <a:ext cx="6766560" cy="397764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7772400" y="1463040"/>
            <a:ext cx="3639312" cy="3931920"/>
          </a:xfrm>
          <a:prstGeom prst="rect">
            <a:avLst/>
          </a:prstGeom>
          <a:noFill/>
          <a:ln/>
        </p:spPr>
        <p:txBody>
          <a:bodyPr wrap="square" lIns="0" tIns="0" rIns="0" bIns="0" rtlCol="0" anchor="t"/>
          <a:lstStyle/>
          <a:p>
            <a:pPr indent="0" marL="0">
              <a:buNone/>
            </a:pPr>
            <a:r>
              <a:rPr lang="en-US" sz="1500" b="1" dirty="0">
                <a:solidFill>
                  <a:srgbClr val="A51C30"/>
                </a:solidFill>
              </a:rPr>
              <a:t>▪  238 guides and references</a:t>
            </a:r>
            <a:endParaRPr lang="en-US" sz="1500" dirty="0"/>
          </a:p>
          <a:p>
            <a:pPr indent="0" marL="0">
              <a:spcAft>
                <a:spcPts val="1000"/>
              </a:spcAft>
              <a:buNone/>
            </a:pPr>
            <a:r>
              <a:rPr lang="en-US" sz="1300" dirty="0">
                <a:solidFill>
                  <a:srgbClr val="4A5058"/>
                </a:solidFill>
              </a:rPr>
              <a:t>User, admin, CLI, BI, packs, connectors, contracts, Knowledge, 28 tutorials and 22 ADRs; two documents per measure.</a:t>
            </a:r>
            <a:endParaRPr lang="en-US" sz="1500" dirty="0"/>
          </a:p>
          <a:p>
            <a:pPr indent="0" marL="0">
              <a:buNone/>
            </a:pPr>
            <a:r>
              <a:rPr lang="en-US" sz="1500" b="1" dirty="0">
                <a:solidFill>
                  <a:srgbClr val="A51C30"/>
                </a:solidFill>
              </a:rPr>
              <a:t>▪  Every screen documented</a:t>
            </a:r>
            <a:endParaRPr lang="en-US" sz="1500" dirty="0"/>
          </a:p>
          <a:p>
            <a:pPr indent="0" marL="0">
              <a:spcAft>
                <a:spcPts val="1000"/>
              </a:spcAft>
              <a:buNone/>
            </a:pPr>
            <a:r>
              <a:rPr lang="en-US" sz="1300" dirty="0">
                <a:solidFill>
                  <a:srgbClr val="4A5058"/>
                </a:solidFill>
              </a:rPr>
              <a:t>351 pictures retaken on the 2.9 UI in 2.9.4, by a script, over the demo lakes.</a:t>
            </a:r>
            <a:endParaRPr lang="en-US" sz="1500" dirty="0"/>
          </a:p>
          <a:p>
            <a:pPr indent="0" marL="0">
              <a:buNone/>
            </a:pPr>
            <a:r>
              <a:rPr lang="en-US" sz="1500" b="1" dirty="0">
                <a:solidFill>
                  <a:srgbClr val="A51C30"/>
                </a:solidFill>
              </a:rPr>
              <a:t>▪  20 modules, 19 plugins</a:t>
            </a:r>
            <a:endParaRPr lang="en-US" sz="1500" dirty="0"/>
          </a:p>
          <a:p>
            <a:pPr indent="0" marL="0">
              <a:spcAft>
                <a:spcPts val="1000"/>
              </a:spcAft>
              <a:buNone/>
            </a:pPr>
            <a:r>
              <a:rPr lang="en-US" sz="1300" dirty="0">
                <a:solidFill>
                  <a:srgbClr val="4A5058"/>
                </a:solidFill>
              </a:rPr>
              <a:t>Plus a server, integration tests and benchmarks; the risk engines in drishti-compute.</a:t>
            </a:r>
            <a:endParaRPr lang="en-US" sz="15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Chapter background"/>
          <p:cNvSpPr/>
          <p:nvPr/>
        </p:nvSpPr>
        <p:spPr>
          <a:xfrm>
            <a:off x="0" y="0"/>
            <a:ext cx="12191969"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Chapter watermark"/>
          <p:cNvSpPr txBox="1"/>
          <p:nvPr/>
        </p:nvSpPr>
        <p:spPr>
          <a:xfrm>
            <a:off x="4754880" y="-822960"/>
            <a:ext cx="7223760" cy="7863840"/>
          </a:xfrm>
          <a:prstGeom prst="rect">
            <a:avLst/>
          </a:prstGeom>
          <a:noFill/>
        </p:spPr>
        <p:txBody>
          <a:bodyPr wrap="none" lIns="0" rIns="0" tIns="0" bIns="0" anchor="ctr">
            <a:spAutoFit/>
          </a:bodyPr>
          <a:lstStyle/>
          <a:p>
            <a:pPr algn="r"/>
            <a:r>
              <a:rPr sz="42000" b="1" i="0">
                <a:solidFill>
                  <a:srgbClr val="B8394C"/>
                </a:solidFill>
              </a:rPr>
              <a:t>06</a:t>
            </a:r>
          </a:p>
        </p:txBody>
      </p:sp>
      <p:sp>
        <p:nvSpPr>
          <p:cNvPr id="4" name="Chapter name"/>
          <p:cNvSpPr txBox="1"/>
          <p:nvPr/>
        </p:nvSpPr>
        <p:spPr>
          <a:xfrm>
            <a:off x="822960" y="2514600"/>
            <a:ext cx="6949440" cy="1828800"/>
          </a:xfrm>
          <a:prstGeom prst="rect">
            <a:avLst/>
          </a:prstGeom>
          <a:noFill/>
        </p:spPr>
        <p:txBody>
          <a:bodyPr wrap="square" lIns="0" rIns="0" tIns="0" bIns="0" anchor="ctr">
            <a:spAutoFit/>
          </a:bodyPr>
          <a:lstStyle/>
          <a:p>
            <a:pPr algn="l"/>
            <a:r>
              <a:rPr sz="4400" b="1" i="0">
                <a:solidFill>
                  <a:srgbClr val="FFFFFF"/>
                </a:solidFill>
              </a:rPr>
              <a:t>Where it is going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ROADMAP · AS THE PLAN STATES IT</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What is built, designed and parked</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777240" y="1463040"/>
          <a:ext cx="10634472" cy="4389120"/>
        </p:xfrm>
        <a:graphic>
          <a:graphicData uri="http://schemas.openxmlformats.org/drawingml/2006/table">
            <a:tbl>
              <a:tblPr/>
              <a:tblGrid>
                <a:gridCol w="2194560"/>
                <a:gridCol w="4937760"/>
                <a:gridCol w="3502152"/>
              </a:tblGrid>
              <a:tr h="548640">
                <a:tc>
                  <a:txBody>
                    <a:bodyPr/>
                    <a:lstStyle/>
                    <a:p>
                      <a:pPr indent="0" marL="0">
                        <a:buNone/>
                      </a:pPr>
                      <a:r>
                        <a:rPr lang="en-US" sz="1350" b="1" dirty="0">
                          <a:solidFill>
                            <a:srgbClr val="FFFFFF"/>
                          </a:solidFill>
                        </a:rPr>
                        <a:t>Item</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c>
                  <a:txBody>
                    <a:bodyPr/>
                    <a:lstStyle/>
                    <a:p>
                      <a:pPr indent="0" marL="0">
                        <a:buNone/>
                      </a:pPr>
                      <a:r>
                        <a:rPr lang="en-US" sz="1350" b="1" dirty="0">
                          <a:solidFill>
                            <a:srgbClr val="FFFFFF"/>
                          </a:solidFill>
                        </a:rPr>
                        <a:t>What it is</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c>
                  <a:txBody>
                    <a:bodyPr/>
                    <a:lstStyle/>
                    <a:p>
                      <a:pPr indent="0" marL="0">
                        <a:buNone/>
                      </a:pPr>
                      <a:r>
                        <a:rPr lang="en-US" sz="1350" b="1" dirty="0">
                          <a:solidFill>
                            <a:srgbClr val="FFFFFF"/>
                          </a:solidFill>
                        </a:rPr>
                        <a:t>Status in the documents</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8A1626"/>
                    </a:solidFill>
                  </a:tcPr>
                </a:tc>
              </a:tr>
              <a:tr h="548640">
                <a:tc>
                  <a:txBody>
                    <a:bodyPr/>
                    <a:lstStyle/>
                    <a:p>
                      <a:pPr indent="0" marL="0">
                        <a:buNone/>
                      </a:pPr>
                      <a:r>
                        <a:rPr lang="en-US" sz="1350" b="1" dirty="0">
                          <a:solidFill>
                            <a:srgbClr val="8A1626"/>
                          </a:solidFill>
                        </a:rPr>
                        <a:t>2.6.0 to 2.9.5</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50" dirty="0">
                          <a:solidFill>
                            <a:srgbClr val="1A1A1A"/>
                          </a:solidFill>
                        </a:rPr>
                        <a:t>Statements, history, BI runs, Sutra Next, contracts, computed VaR and exposure, funds, DATAMAP, PV VaR, JSONL; hierarchies by columns, Iceberg equal to Delta, official results to S3</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50" dirty="0">
                          <a:solidFill>
                            <a:srgbClr val="1A1A1A"/>
                          </a:solidFill>
                        </a:rPr>
                        <a:t>Built</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548640">
                <a:tc>
                  <a:txBody>
                    <a:bodyPr/>
                    <a:lstStyle/>
                    <a:p>
                      <a:pPr indent="0" marL="0">
                        <a:buNone/>
                      </a:pPr>
                      <a:r>
                        <a:rPr lang="en-US" sz="1350" b="1" dirty="0">
                          <a:solidFill>
                            <a:srgbClr val="8A1626"/>
                          </a:solidFill>
                        </a:rPr>
                        <a:t>2.9.6</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350" dirty="0">
                          <a:solidFill>
                            <a:srgbClr val="1A1A1A"/>
                          </a:solidFill>
                        </a:rPr>
                        <a:t>10-day and stressed VaR; editions; the 2.3M benchmark; Delta in-place schema evolution; Delta↔Iceberg conversion; the Glue and S3 Tables runs</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350" dirty="0">
                          <a:solidFill>
                            <a:srgbClr val="1A1A1A"/>
                          </a:solidFill>
                        </a:rPr>
                        <a:t>Next release</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548640">
                <a:tc>
                  <a:txBody>
                    <a:bodyPr/>
                    <a:lstStyle/>
                    <a:p>
                      <a:pPr indent="0" marL="0">
                        <a:buNone/>
                      </a:pPr>
                      <a:r>
                        <a:rPr lang="en-US" sz="1350" b="1" dirty="0">
                          <a:solidFill>
                            <a:srgbClr val="8A1626"/>
                          </a:solidFill>
                        </a:rPr>
                        <a:t>VaR across servers</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50" dirty="0">
                          <a:solidFill>
                            <a:srgbClr val="1A1A1A"/>
                          </a:solidFill>
                        </a:rPr>
                        <a:t>Cluster scale-out: one date's position rows sharded across Drishti*net members, partial vectors gathered</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50" dirty="0">
                          <a:solidFill>
                            <a:srgbClr val="1A1A1A"/>
                          </a:solidFill>
                        </a:rPr>
                        <a:t>Designed, for 2.9.6 (VAR_GUIDE §28)</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548640">
                <a:tc>
                  <a:txBody>
                    <a:bodyPr/>
                    <a:lstStyle/>
                    <a:p>
                      <a:pPr indent="0" marL="0">
                        <a:buNone/>
                      </a:pPr>
                      <a:r>
                        <a:rPr lang="en-US" sz="1350" b="1" dirty="0">
                          <a:solidFill>
                            <a:srgbClr val="8A1626"/>
                          </a:solidFill>
                        </a:rPr>
                        <a:t>Trading and market risk</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350" dirty="0">
                          <a:solidFill>
                            <a:srgbClr val="1A1A1A"/>
                          </a:solidFill>
                        </a:rPr>
                        <a:t>Valuation totals, stress, FRTB, SIMM and P&amp;L explain computed for any scope</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350" dirty="0">
                          <a:solidFill>
                            <a:srgbClr val="1A1A1A"/>
                          </a:solidFill>
                        </a:rPr>
                        <a:t>Planned, parked</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548640">
                <a:tc>
                  <a:txBody>
                    <a:bodyPr/>
                    <a:lstStyle/>
                    <a:p>
                      <a:pPr indent="0" marL="0">
                        <a:buNone/>
                      </a:pPr>
                      <a:r>
                        <a:rPr lang="en-US" sz="1350" b="1" dirty="0">
                          <a:solidFill>
                            <a:srgbClr val="8A1626"/>
                          </a:solidFill>
                        </a:rPr>
                        <a:t>2.10.0 and 2.11.0</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50" dirty="0">
                          <a:solidFill>
                            <a:srgbClr val="1A1A1A"/>
                          </a:solidFill>
                        </a:rPr>
                        <a:t>Counterparty risk (SA-CCR, CVA, collateral, margin); balance sheet (large exposures, LCR, NSFR, IRRBB, IFRS 9)</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50" dirty="0">
                          <a:solidFill>
                            <a:srgbClr val="1A1A1A"/>
                          </a:solidFill>
                        </a:rPr>
                        <a:t>Planned, parked</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r h="548640">
                <a:tc>
                  <a:txBody>
                    <a:bodyPr/>
                    <a:lstStyle/>
                    <a:p>
                      <a:pPr indent="0" marL="0">
                        <a:buNone/>
                      </a:pPr>
                      <a:r>
                        <a:rPr lang="en-US" sz="1350" b="1" dirty="0">
                          <a:solidFill>
                            <a:srgbClr val="8A1626"/>
                          </a:solidFill>
                        </a:rPr>
                        <a:t>2.12.0 AI and GenUI</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350" dirty="0">
                          <a:solidFill>
                            <a:srgbClr val="1A1A1A"/>
                          </a:solidFill>
                        </a:rPr>
                        <a:t>The Sajha MCP connector, AI management, screens composed from UI-kit docstrings</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indent="0" marL="0">
                        <a:buNone/>
                      </a:pPr>
                      <a:r>
                        <a:rPr lang="en-US" sz="1350" dirty="0">
                          <a:solidFill>
                            <a:srgbClr val="1A1A1A"/>
                          </a:solidFill>
                        </a:rPr>
                        <a:t>Parked until 2.11.0</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548640">
                <a:tc>
                  <a:txBody>
                    <a:bodyPr/>
                    <a:lstStyle/>
                    <a:p>
                      <a:pPr indent="0" marL="0">
                        <a:buNone/>
                      </a:pPr>
                      <a:r>
                        <a:rPr lang="en-US" sz="1350" b="1" dirty="0">
                          <a:solidFill>
                            <a:srgbClr val="8A1626"/>
                          </a:solidFill>
                        </a:rPr>
                        <a:t>Super scale</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50" dirty="0">
                          <a:solidFill>
                            <a:srgbClr val="1A1A1A"/>
                          </a:solidFill>
                        </a:rPr>
                        <a:t>500 GB a day for 7 years across a cluster (SUPER_SCALE.md); test data from seeds</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c>
                  <a:txBody>
                    <a:bodyPr/>
                    <a:lstStyle/>
                    <a:p>
                      <a:pPr indent="0" marL="0">
                        <a:buNone/>
                      </a:pPr>
                      <a:r>
                        <a:rPr lang="en-US" sz="1350" dirty="0">
                          <a:solidFill>
                            <a:srgbClr val="1A1A1A"/>
                          </a:solidFill>
                        </a:rPr>
                        <a:t>Designed scale-out; seeds planned</a:t>
                      </a:r>
                      <a:endParaRPr lang="en-US" sz="1350" dirty="0"/>
                    </a:p>
                  </a:txBody>
                  <a:tcPr marL="88900" marR="88900" marT="50800" marB="508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2"/>
                    </a:solidFill>
                  </a:tcPr>
                </a:tc>
              </a:tr>
            </a:tbl>
          </a:graphicData>
        </a:graphic>
      </p:graphicFrame>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3"/>
          <p:cNvSpPr/>
          <p:nvPr>
            <p:ph idx="103" type="body" hasCustomPrompt="1"/>
          </p:nvPr>
        </p:nvSpPr>
        <p:spPr>
          <a:xfrm>
            <a:off x="777240" y="457200"/>
            <a:ext cx="10634472" cy="237744"/>
          </a:xfrm>
          <a:prstGeom prst="rect">
            <a:avLst/>
          </a:prstGeom>
          <a:noFill/>
          <a:ln/>
        </p:spPr>
        <p:txBody>
          <a:bodyPr wrap="square" lIns="0" tIns="0" rIns="0" bIns="0" rtlCol="0"/>
          <a:lstStyle/>
          <a:p>
            <a:pPr algn="l" indent="0" marL="0">
              <a:buNone/>
            </a:pPr>
            <a:r>
              <a:rPr lang="en-US" sz="1050" b="1" spc="100" kern="0" dirty="0">
                <a:solidFill>
                  <a:srgbClr val="A51C30"/>
                </a:solidFill>
              </a:rPr>
              <a:t>WHERE TO START</a:t>
            </a:r>
            <a:endParaRPr lang="en-US" sz="1050" dirty="0"/>
          </a:p>
        </p:txBody>
      </p:sp>
      <p:sp>
        <p:nvSpPr>
          <p:cNvPr id="3" name="Text 3"/>
          <p:cNvSpPr/>
          <p:nvPr>
            <p:ph idx="104" type="title" hasCustomPrompt="1"/>
          </p:nvPr>
        </p:nvSpPr>
        <p:spPr>
          <a:xfrm>
            <a:off x="777240" y="731520"/>
            <a:ext cx="10634472" cy="502920"/>
          </a:xfrm>
          <a:prstGeom prst="rect">
            <a:avLst/>
          </a:prstGeom>
          <a:noFill/>
          <a:ln/>
        </p:spPr>
        <p:txBody>
          <a:bodyPr wrap="square" lIns="0" tIns="0" rIns="0" bIns="0" rtlCol="0" anchor="t"/>
          <a:lstStyle/>
          <a:p>
            <a:pPr algn="l" indent="0" marL="0">
              <a:buNone/>
            </a:pPr>
            <a:r>
              <a:rPr lang="en-US" sz="2600" b="1" dirty="0">
                <a:solidFill>
                  <a:srgbClr val="1A1A1A"/>
                </a:solidFill>
              </a:rPr>
              <a:t>From a clone to a live view in about fifteen minutes</a:t>
            </a:r>
            <a:endParaRPr lang="en-US" sz="2600" dirty="0"/>
          </a:p>
        </p:txBody>
      </p:sp>
      <p:sp>
        <p:nvSpPr>
          <p:cNvPr id="4" name="Shape 2"/>
          <p:cNvSpPr/>
          <p:nvPr/>
        </p:nvSpPr>
        <p:spPr>
          <a:xfrm>
            <a:off x="777240" y="1280160"/>
            <a:ext cx="10634472" cy="9144"/>
          </a:xfrm>
          <a:prstGeom prst="rect">
            <a:avLst/>
          </a:prstGeom>
          <a:solidFill>
            <a:srgbClr val="E3DED7"/>
          </a:solidFill>
          <a:ln/>
        </p:spPr>
        <p:txBody>
          <a:bodyPr/>
          <a:p/>
        </p:txBody>
      </p:sp>
      <p:sp>
        <p:nvSpPr>
          <p:cNvPr id="6" name="Shape 3"/>
          <p:cNvSpPr/>
          <p:nvPr/>
        </p:nvSpPr>
        <p:spPr>
          <a:xfrm>
            <a:off x="777240" y="1417320"/>
            <a:ext cx="6035040" cy="3931920"/>
          </a:xfrm>
          <a:prstGeom prst="rect">
            <a:avLst/>
          </a:prstGeom>
          <a:solidFill>
            <a:srgbClr val="1E1E24"/>
          </a:solidFill>
          <a:ln/>
        </p:spPr>
        <p:txBody>
          <a:bodyPr/>
          <a:p/>
        </p:txBody>
      </p:sp>
      <p:sp>
        <p:nvSpPr>
          <p:cNvPr id="7" name="Shape 4"/>
          <p:cNvSpPr/>
          <p:nvPr/>
        </p:nvSpPr>
        <p:spPr>
          <a:xfrm>
            <a:off x="777240" y="1417320"/>
            <a:ext cx="6035040" cy="384048"/>
          </a:xfrm>
          <a:prstGeom prst="rect">
            <a:avLst/>
          </a:prstGeom>
          <a:solidFill>
            <a:srgbClr val="8A1626"/>
          </a:solidFill>
          <a:ln/>
        </p:spPr>
        <p:txBody>
          <a:bodyPr/>
          <a:p/>
        </p:txBody>
      </p:sp>
      <p:sp>
        <p:nvSpPr>
          <p:cNvPr id="8" name="Text 5"/>
          <p:cNvSpPr txBox="1"/>
          <p:nvPr/>
        </p:nvSpPr>
        <p:spPr>
          <a:xfrm>
            <a:off x="960120" y="1417320"/>
            <a:ext cx="5669280" cy="384048"/>
          </a:xfrm>
          <a:prstGeom prst="rect">
            <a:avLst/>
          </a:prstGeom>
          <a:noFill/>
          <a:ln/>
        </p:spPr>
        <p:txBody>
          <a:bodyPr wrap="square" lIns="0" tIns="0" rIns="0" bIns="0" rtlCol="0" anchor="ctr"/>
          <a:lstStyle/>
          <a:p>
            <a:pPr indent="0" marL="0">
              <a:buNone/>
            </a:pPr>
            <a:r>
              <a:rPr lang="en-US" sz="1300" b="1" dirty="0">
                <a:solidFill>
                  <a:srgbClr val="FFFFFF"/>
                </a:solidFill>
              </a:rPr>
              <a:t>Seven commands</a:t>
            </a:r>
            <a:endParaRPr lang="en-US" sz="1300" dirty="0"/>
          </a:p>
        </p:txBody>
      </p:sp>
      <p:sp>
        <p:nvSpPr>
          <p:cNvPr id="9" name="Text 6"/>
          <p:cNvSpPr txBox="1"/>
          <p:nvPr/>
        </p:nvSpPr>
        <p:spPr>
          <a:xfrm>
            <a:off x="978408" y="1920240"/>
            <a:ext cx="5632704" cy="3319272"/>
          </a:xfrm>
          <a:prstGeom prst="rect">
            <a:avLst/>
          </a:prstGeom>
          <a:noFill/>
          <a:ln/>
        </p:spPr>
        <p:txBody>
          <a:bodyPr wrap="square" lIns="0" tIns="0" rIns="0" bIns="0" rtlCol="0" anchor="t"/>
          <a:lstStyle/>
          <a:p>
            <a:pPr indent="0" marL="0">
              <a:lnSpc>
                <a:spcPct val="105000"/>
              </a:lnSpc>
              <a:buNone/>
            </a:pPr>
            <a:r>
              <a:rPr lang="en-US" sz="1250" dirty="0">
                <a:solidFill>
                  <a:srgbClr val="F1EEE9"/>
                </a:solidFill>
                <a:latin typeface="Courier New" pitchFamily="34" charset="0"/>
                <a:ea typeface="Courier New" pitchFamily="34" charset="-122"/>
                <a:cs typeface="Courier New" pitchFamily="34" charset="-120"/>
              </a:rPr>
              <a:t>./mvnw -q package -DskipTests -pl drishti-server -am</a:t>
            </a:r>
            <a:endParaRPr lang="en-US" sz="1250" dirty="0"/>
          </a:p>
          <a:p>
            <a:pPr indent="0" marL="0">
              <a:lnSpc>
                <a:spcPct val="105000"/>
              </a:lnSpc>
              <a:buNone/>
            </a:pPr>
            <a:r>
              <a:rPr lang="en-US" sz="1250" dirty="0">
                <a:solidFill>
                  <a:srgbClr val="F1EEE9"/>
                </a:solidFill>
                <a:latin typeface="Courier New" pitchFamily="34" charset="0"/>
                <a:ea typeface="Courier New" pitchFamily="34" charset="-122"/>
                <a:cs typeface="Courier New" pitchFamily="34" charset="-120"/>
              </a:rPr>
              <a:t>uv venv --python 3.13 drishti-console/.venv</a:t>
            </a:r>
            <a:endParaRPr lang="en-US" sz="1250" dirty="0"/>
          </a:p>
          <a:p>
            <a:pPr indent="0" marL="0">
              <a:lnSpc>
                <a:spcPct val="105000"/>
              </a:lnSpc>
              <a:buNone/>
            </a:pPr>
            <a:r>
              <a:rPr lang="en-US" sz="1250" dirty="0">
                <a:solidFill>
                  <a:srgbClr val="F1EEE9"/>
                </a:solidFill>
                <a:latin typeface="Courier New" pitchFamily="34" charset="0"/>
                <a:ea typeface="Courier New" pitchFamily="34" charset="-122"/>
                <a:cs typeface="Courier New" pitchFamily="34" charset="-120"/>
              </a:rPr>
              <a:t>uv pip install --python drishti-console/.venv/bin/python \</a:t>
            </a:r>
            <a:endParaRPr lang="en-US" sz="1250" dirty="0"/>
          </a:p>
          <a:p>
            <a:pPr indent="0" marL="0">
              <a:lnSpc>
                <a:spcPct val="105000"/>
              </a:lnSpc>
              <a:buNone/>
            </a:pPr>
            <a:r>
              <a:rPr lang="en-US" sz="1250" dirty="0">
                <a:solidFill>
                  <a:srgbClr val="F1EEE9"/>
                </a:solidFill>
                <a:latin typeface="Courier New" pitchFamily="34" charset="0"/>
                <a:ea typeface="Courier New" pitchFamily="34" charset="-122"/>
                <a:cs typeface="Courier New" pitchFamily="34" charset="-120"/>
              </a:rPr>
              <a:t>    -r drishti-console/requirements.txt</a:t>
            </a:r>
            <a:endParaRPr lang="en-US" sz="1250" dirty="0"/>
          </a:p>
          <a:p>
            <a:pPr indent="0" marL="0">
              <a:lnSpc>
                <a:spcPct val="105000"/>
              </a:lnSpc>
              <a:buNone/>
            </a:pPr>
            <a:r>
              <a:rPr lang="en-US" sz="1250" dirty="0">
                <a:solidFill>
                  <a:srgbClr val="F1EEE9"/>
                </a:solidFill>
                <a:latin typeface="Courier New" pitchFamily="34" charset="0"/>
                <a:ea typeface="Courier New" pitchFamily="34" charset="-122"/>
                <a:cs typeface="Courier New" pitchFamily="34" charset="-120"/>
              </a:rPr>
              <a:t>python tools/drishti.py lake demo</a:t>
            </a:r>
            <a:endParaRPr lang="en-US" sz="1250" dirty="0"/>
          </a:p>
          <a:p>
            <a:pPr indent="0" marL="0">
              <a:lnSpc>
                <a:spcPct val="105000"/>
              </a:lnSpc>
              <a:buNone/>
            </a:pPr>
            <a:r>
              <a:rPr lang="en-US" sz="1250" dirty="0">
                <a:solidFill>
                  <a:srgbClr val="F1EEE9"/>
                </a:solidFill>
                <a:latin typeface="Courier New" pitchFamily="34" charset="0"/>
                <a:ea typeface="Courier New" pitchFamily="34" charset="-122"/>
                <a:cs typeface="Courier New" pitchFamily="34" charset="-120"/>
              </a:rPr>
              <a:t>java -Djava.io.tmpdir=data/tmp/server -Xmx4g \</a:t>
            </a:r>
            <a:endParaRPr lang="en-US" sz="1250" dirty="0"/>
          </a:p>
          <a:p>
            <a:pPr indent="0" marL="0">
              <a:lnSpc>
                <a:spcPct val="105000"/>
              </a:lnSpc>
              <a:buNone/>
            </a:pPr>
            <a:r>
              <a:rPr lang="en-US" sz="1250" dirty="0">
                <a:solidFill>
                  <a:srgbClr val="F1EEE9"/>
                </a:solidFill>
                <a:latin typeface="Courier New" pitchFamily="34" charset="0"/>
                <a:ea typeface="Courier New" pitchFamily="34" charset="-122"/>
                <a:cs typeface="Courier New" pitchFamily="34" charset="-120"/>
              </a:rPr>
              <a:t>    -jar drishti-server/target/drishti-server-&lt;v&gt;-exec.jar</a:t>
            </a:r>
            <a:endParaRPr lang="en-US" sz="1250" dirty="0"/>
          </a:p>
          <a:p>
            <a:pPr indent="0" marL="0">
              <a:lnSpc>
                <a:spcPct val="105000"/>
              </a:lnSpc>
              <a:buNone/>
            </a:pPr>
            <a:r>
              <a:rPr lang="en-US" sz="1250" dirty="0">
                <a:solidFill>
                  <a:srgbClr val="F1EEE9"/>
                </a:solidFill>
                <a:latin typeface="Courier New" pitchFamily="34" charset="0"/>
                <a:ea typeface="Courier New" pitchFamily="34" charset="-122"/>
                <a:cs typeface="Courier New" pitchFamily="34" charset="-120"/>
              </a:rPr>
              <a:t>python drishti-console/run_drishti_web.py</a:t>
            </a:r>
            <a:endParaRPr lang="en-US" sz="1250" dirty="0"/>
          </a:p>
          <a:p>
            <a:pPr indent="0" marL="0">
              <a:lnSpc>
                <a:spcPct val="105000"/>
              </a:lnSpc>
              <a:buNone/>
            </a:pPr>
            <a:r>
              <a:rPr lang="en-US" sz="1250" dirty="0">
                <a:solidFill>
                  <a:srgbClr val="F1EEE9"/>
                </a:solidFill>
                <a:latin typeface="Courier New" pitchFamily="34" charset="0"/>
                <a:ea typeface="Courier New" pitchFamily="34" charset="-122"/>
                <a:cs typeface="Courier New" pitchFamily="34" charset="-120"/>
              </a:rPr>
              <a:t># open :17480/t → TRD MX-20000001 &lt;GO&gt;</a:t>
            </a:r>
            <a:endParaRPr lang="en-US" sz="1250" dirty="0"/>
          </a:p>
          <a:p>
            <a:pPr indent="0" marL="0">
              <a:lnSpc>
                <a:spcPct val="105000"/>
              </a:lnSpc>
              <a:buNone/>
            </a:pPr>
            <a:r>
              <a:rPr lang="en-US" sz="1250" dirty="0">
                <a:solidFill>
                  <a:srgbClr val="F1EEE9"/>
                </a:solidFill>
                <a:latin typeface="Courier New" pitchFamily="34" charset="0"/>
                <a:ea typeface="Courier New" pitchFamily="34" charset="-122"/>
                <a:cs typeface="Courier New" pitchFamily="34" charset="-120"/>
              </a:rPr>
              <a:t>#                  VAR BANK &lt;GO&gt;   EXP BANK &lt;GO&gt;</a:t>
            </a:r>
            <a:endParaRPr lang="en-US" sz="1250" dirty="0"/>
          </a:p>
        </p:txBody>
      </p:sp>
      <p:sp>
        <p:nvSpPr>
          <p:cNvPr id="10" name="Shape 7"/>
          <p:cNvSpPr/>
          <p:nvPr/>
        </p:nvSpPr>
        <p:spPr>
          <a:xfrm>
            <a:off x="7086600" y="1417320"/>
            <a:ext cx="4325112" cy="86868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11" name="Text 8"/>
          <p:cNvSpPr txBox="1"/>
          <p:nvPr/>
        </p:nvSpPr>
        <p:spPr>
          <a:xfrm>
            <a:off x="7223760" y="1527048"/>
            <a:ext cx="4050792" cy="329184"/>
          </a:xfrm>
          <a:prstGeom prst="rect">
            <a:avLst/>
          </a:prstGeom>
          <a:noFill/>
          <a:ln/>
        </p:spPr>
        <p:txBody>
          <a:bodyPr wrap="square" lIns="0" tIns="0" rIns="0" bIns="0" rtlCol="0" anchor="t"/>
          <a:lstStyle/>
          <a:p>
            <a:pPr indent="0" marL="0">
              <a:buNone/>
            </a:pPr>
            <a:r>
              <a:rPr lang="en-US" sz="1500" b="1" dirty="0">
                <a:solidFill>
                  <a:srgbClr val="1A1A1A"/>
                </a:solidFill>
              </a:rPr>
              <a:t>GETTING_STARTED</a:t>
            </a:r>
            <a:endParaRPr lang="en-US" sz="1500" dirty="0"/>
          </a:p>
        </p:txBody>
      </p:sp>
      <p:sp>
        <p:nvSpPr>
          <p:cNvPr id="12" name="Text 9"/>
          <p:cNvSpPr txBox="1"/>
          <p:nvPr/>
        </p:nvSpPr>
        <p:spPr>
          <a:xfrm>
            <a:off x="7223760" y="1874520"/>
            <a:ext cx="4050792" cy="347472"/>
          </a:xfrm>
          <a:prstGeom prst="rect">
            <a:avLst/>
          </a:prstGeom>
          <a:noFill/>
          <a:ln/>
        </p:spPr>
        <p:txBody>
          <a:bodyPr wrap="square" lIns="0" tIns="0" rIns="0" bIns="0" rtlCol="0" anchor="t"/>
          <a:lstStyle/>
          <a:p>
            <a:pPr indent="0" marL="0">
              <a:buNone/>
            </a:pPr>
            <a:r>
              <a:rPr lang="en-US" sz="1250" dirty="0">
                <a:solidFill>
                  <a:srgbClr val="4A5058"/>
                </a:solidFill>
              </a:rPr>
              <a:t>About 15 minutes: build, the demo lakes, a view</a:t>
            </a:r>
            <a:endParaRPr lang="en-US" sz="1250" dirty="0"/>
          </a:p>
        </p:txBody>
      </p:sp>
      <p:sp>
        <p:nvSpPr>
          <p:cNvPr id="13" name="Shape 10"/>
          <p:cNvSpPr/>
          <p:nvPr/>
        </p:nvSpPr>
        <p:spPr>
          <a:xfrm>
            <a:off x="7086600" y="2423160"/>
            <a:ext cx="4325112" cy="86868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14" name="Text 11"/>
          <p:cNvSpPr txBox="1"/>
          <p:nvPr/>
        </p:nvSpPr>
        <p:spPr>
          <a:xfrm>
            <a:off x="7223760" y="2532888"/>
            <a:ext cx="4050792" cy="329184"/>
          </a:xfrm>
          <a:prstGeom prst="rect">
            <a:avLst/>
          </a:prstGeom>
          <a:noFill/>
          <a:ln/>
        </p:spPr>
        <p:txBody>
          <a:bodyPr wrap="square" lIns="0" tIns="0" rIns="0" bIns="0" rtlCol="0" anchor="t"/>
          <a:lstStyle/>
          <a:p>
            <a:pPr indent="0" marL="0">
              <a:buNone/>
            </a:pPr>
            <a:r>
              <a:rPr lang="en-US" sz="1500" b="1" dirty="0">
                <a:solidFill>
                  <a:srgbClr val="1A1A1A"/>
                </a:solidFill>
              </a:rPr>
              <a:t>IDE_GUIDE</a:t>
            </a:r>
            <a:endParaRPr lang="en-US" sz="1500" dirty="0"/>
          </a:p>
        </p:txBody>
      </p:sp>
      <p:sp>
        <p:nvSpPr>
          <p:cNvPr id="15" name="Text 12"/>
          <p:cNvSpPr txBox="1"/>
          <p:nvPr/>
        </p:nvSpPr>
        <p:spPr>
          <a:xfrm>
            <a:off x="7223760" y="2880360"/>
            <a:ext cx="4050792" cy="347472"/>
          </a:xfrm>
          <a:prstGeom prst="rect">
            <a:avLst/>
          </a:prstGeom>
          <a:noFill/>
          <a:ln/>
        </p:spPr>
        <p:txBody>
          <a:bodyPr wrap="square" lIns="0" tIns="0" rIns="0" bIns="0" rtlCol="0" anchor="t"/>
          <a:lstStyle/>
          <a:p>
            <a:pPr indent="0" marL="0">
              <a:buNone/>
            </a:pPr>
            <a:r>
              <a:rPr lang="en-US" sz="1250" dirty="0">
                <a:solidFill>
                  <a:srgbClr val="4A5058"/>
                </a:solidFill>
              </a:rPr>
              <a:t>Server in IntelliJ, console in PyCharm</a:t>
            </a:r>
            <a:endParaRPr lang="en-US" sz="1250" dirty="0"/>
          </a:p>
        </p:txBody>
      </p:sp>
      <p:sp>
        <p:nvSpPr>
          <p:cNvPr id="16" name="Shape 13"/>
          <p:cNvSpPr/>
          <p:nvPr/>
        </p:nvSpPr>
        <p:spPr>
          <a:xfrm>
            <a:off x="7086600" y="3429000"/>
            <a:ext cx="4325112" cy="86868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17" name="Text 14"/>
          <p:cNvSpPr txBox="1"/>
          <p:nvPr/>
        </p:nvSpPr>
        <p:spPr>
          <a:xfrm>
            <a:off x="7223760" y="3538728"/>
            <a:ext cx="4050792" cy="329184"/>
          </a:xfrm>
          <a:prstGeom prst="rect">
            <a:avLst/>
          </a:prstGeom>
          <a:noFill/>
          <a:ln/>
        </p:spPr>
        <p:txBody>
          <a:bodyPr wrap="square" lIns="0" tIns="0" rIns="0" bIns="0" rtlCol="0" anchor="t"/>
          <a:lstStyle/>
          <a:p>
            <a:pPr indent="0" marL="0">
              <a:buNone/>
            </a:pPr>
            <a:r>
              <a:rPr lang="en-US" sz="1500" b="1" dirty="0">
                <a:solidFill>
                  <a:srgbClr val="1A1A1A"/>
                </a:solidFill>
              </a:rPr>
              <a:t>CLI_GUIDE</a:t>
            </a:r>
            <a:endParaRPr lang="en-US" sz="1500" dirty="0"/>
          </a:p>
        </p:txBody>
      </p:sp>
      <p:sp>
        <p:nvSpPr>
          <p:cNvPr id="18" name="Text 15"/>
          <p:cNvSpPr txBox="1"/>
          <p:nvPr/>
        </p:nvSpPr>
        <p:spPr>
          <a:xfrm>
            <a:off x="7223760" y="3886200"/>
            <a:ext cx="4050792" cy="347472"/>
          </a:xfrm>
          <a:prstGeom prst="rect">
            <a:avLst/>
          </a:prstGeom>
          <a:noFill/>
          <a:ln/>
        </p:spPr>
        <p:txBody>
          <a:bodyPr wrap="square" lIns="0" tIns="0" rIns="0" bIns="0" rtlCol="0" anchor="t"/>
          <a:lstStyle/>
          <a:p>
            <a:pPr indent="0" marL="0">
              <a:buNone/>
            </a:pPr>
            <a:r>
              <a:rPr lang="en-US" sz="1250" dirty="0">
                <a:solidFill>
                  <a:srgbClr val="4A5058"/>
                </a:solidFill>
              </a:rPr>
              <a:t>pack make, history, var, exposure, convert</a:t>
            </a:r>
            <a:endParaRPr lang="en-US" sz="1250" dirty="0"/>
          </a:p>
        </p:txBody>
      </p:sp>
      <p:sp>
        <p:nvSpPr>
          <p:cNvPr id="19" name="Shape 16"/>
          <p:cNvSpPr/>
          <p:nvPr/>
        </p:nvSpPr>
        <p:spPr>
          <a:xfrm>
            <a:off x="7086600" y="4434840"/>
            <a:ext cx="4325112" cy="868680"/>
          </a:xfrm>
          <a:prstGeom prst="rect">
            <a:avLst/>
          </a:prstGeom>
          <a:solidFill>
            <a:srgbClr val="FFFFFF"/>
          </a:solidFill>
          <a:ln w="12700">
            <a:solidFill>
              <a:srgbClr val="E3DED7"/>
            </a:solidFill>
            <a:prstDash val="solid"/>
          </a:ln>
          <a:effectLst>
            <a:outerShdw sx="100000" sy="100000" kx="0" ky="0" algn="bl" rotWithShape="0" blurRad="50800" dist="19050" dir="5400000">
              <a:srgbClr val="000000">
                <a:alpha val="10000"/>
              </a:srgbClr>
            </a:outerShdw>
          </a:effectLst>
        </p:spPr>
        <p:txBody>
          <a:bodyPr/>
          <a:p/>
        </p:txBody>
      </p:sp>
      <p:sp>
        <p:nvSpPr>
          <p:cNvPr id="20" name="Text 17"/>
          <p:cNvSpPr txBox="1"/>
          <p:nvPr/>
        </p:nvSpPr>
        <p:spPr>
          <a:xfrm>
            <a:off x="7223760" y="4544568"/>
            <a:ext cx="4050792" cy="329184"/>
          </a:xfrm>
          <a:prstGeom prst="rect">
            <a:avLst/>
          </a:prstGeom>
          <a:noFill/>
          <a:ln/>
        </p:spPr>
        <p:txBody>
          <a:bodyPr wrap="square" lIns="0" tIns="0" rIns="0" bIns="0" rtlCol="0" anchor="t"/>
          <a:lstStyle/>
          <a:p>
            <a:pPr indent="0" marL="0">
              <a:buNone/>
            </a:pPr>
            <a:r>
              <a:rPr lang="en-US" sz="1500" b="1" dirty="0">
                <a:solidFill>
                  <a:srgbClr val="1A1A1A"/>
                </a:solidFill>
              </a:rPr>
              <a:t>USER_GUIDE</a:t>
            </a:r>
            <a:endParaRPr lang="en-US" sz="1500" dirty="0"/>
          </a:p>
        </p:txBody>
      </p:sp>
      <p:sp>
        <p:nvSpPr>
          <p:cNvPr id="21" name="Text 18"/>
          <p:cNvSpPr txBox="1"/>
          <p:nvPr/>
        </p:nvSpPr>
        <p:spPr>
          <a:xfrm>
            <a:off x="7223760" y="4892040"/>
            <a:ext cx="4050792" cy="347472"/>
          </a:xfrm>
          <a:prstGeom prst="rect">
            <a:avLst/>
          </a:prstGeom>
          <a:noFill/>
          <a:ln/>
        </p:spPr>
        <p:txBody>
          <a:bodyPr wrap="square" lIns="0" tIns="0" rIns="0" bIns="0" rtlCol="0" anchor="t"/>
          <a:lstStyle/>
          <a:p>
            <a:pPr indent="0" marL="0">
              <a:buNone/>
            </a:pPr>
            <a:r>
              <a:rPr lang="en-US" sz="1250" dirty="0">
                <a:solidFill>
                  <a:srgbClr val="4A5058"/>
                </a:solidFill>
              </a:rPr>
              <a:t>Every page, every key; 28 tutorials beside it</a:t>
            </a:r>
            <a:endParaRPr lang="en-US" sz="1250" dirty="0"/>
          </a:p>
        </p:txBody>
      </p:sp>
      <p:sp>
        <p:nvSpPr>
          <p:cNvPr id="22" name="Shape 19"/>
          <p:cNvSpPr/>
          <p:nvPr/>
        </p:nvSpPr>
        <p:spPr>
          <a:xfrm>
            <a:off x="777240" y="5550408"/>
            <a:ext cx="10634472" cy="694944"/>
          </a:xfrm>
          <a:prstGeom prst="rect">
            <a:avLst/>
          </a:prstGeom>
          <a:solidFill>
            <a:srgbClr val="F6E6E9"/>
          </a:solidFill>
          <a:ln/>
        </p:spPr>
        <p:txBody>
          <a:bodyPr/>
          <a:p/>
        </p:txBody>
      </p:sp>
      <p:sp>
        <p:nvSpPr>
          <p:cNvPr id="23" name="Shape 20"/>
          <p:cNvSpPr/>
          <p:nvPr/>
        </p:nvSpPr>
        <p:spPr>
          <a:xfrm>
            <a:off x="777240" y="5550408"/>
            <a:ext cx="54864" cy="694944"/>
          </a:xfrm>
          <a:prstGeom prst="rect">
            <a:avLst/>
          </a:prstGeom>
          <a:solidFill>
            <a:srgbClr val="A51C30"/>
          </a:solidFill>
          <a:ln/>
        </p:spPr>
        <p:txBody>
          <a:bodyPr/>
          <a:p/>
        </p:txBody>
      </p:sp>
      <p:sp>
        <p:nvSpPr>
          <p:cNvPr id="24" name="Text 21"/>
          <p:cNvSpPr txBox="1"/>
          <p:nvPr/>
        </p:nvSpPr>
        <p:spPr>
          <a:xfrm>
            <a:off x="1033272" y="5623560"/>
            <a:ext cx="10177272" cy="548640"/>
          </a:xfrm>
          <a:prstGeom prst="rect">
            <a:avLst/>
          </a:prstGeom>
          <a:noFill/>
          <a:ln/>
        </p:spPr>
        <p:txBody>
          <a:bodyPr wrap="square" lIns="0" tIns="0" rIns="0" bIns="0" rtlCol="0" anchor="ctr"/>
          <a:lstStyle/>
          <a:p>
            <a:pPr indent="0" marL="0">
              <a:buNone/>
            </a:pPr>
            <a:r>
              <a:rPr lang="en-US" sz="1400" b="1" dirty="0">
                <a:solidFill>
                  <a:srgbClr val="A51C30"/>
                </a:solidFill>
              </a:rPr>
              <a:t>Key insight  </a:t>
            </a:r>
            <a:pPr indent="0" marL="0">
              <a:buNone/>
            </a:pPr>
            <a:r>
              <a:rPr lang="en-US" sz="1400" b="1" dirty="0">
                <a:solidFill>
                  <a:srgbClr val="8A1626"/>
                </a:solidFill>
              </a:rPr>
              <a:t>Start with your own JSON Lines: one pack make, one deploy, and your records have a terminal.</a:t>
            </a:r>
            <a:endParaRPr lang="en-US" sz="14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5586984" y="1463040"/>
            <a:ext cx="1024128" cy="256032"/>
          </a:xfrm>
          <a:prstGeom prst="arc">
            <a:avLst>
              <a:gd name="adj1" fmla="val 12000000"/>
              <a:gd name="adj2" fmla="val 20400000"/>
            </a:avLst>
          </a:prstGeom>
          <a:ln w="25400">
            <a:solidFill>
              <a:srgbClr val="C4384B"/>
            </a:solidFill>
            <a:prstDash val="solid"/>
          </a:ln>
        </p:spPr>
        <p:txBody>
          <a:bodyPr/>
          <a:p/>
        </p:txBody>
      </p:sp>
      <p:sp>
        <p:nvSpPr>
          <p:cNvPr id="3" name="Shape 1"/>
          <p:cNvSpPr/>
          <p:nvPr/>
        </p:nvSpPr>
        <p:spPr>
          <a:xfrm>
            <a:off x="5586984" y="1609344"/>
            <a:ext cx="1024128" cy="256032"/>
          </a:xfrm>
          <a:prstGeom prst="arc">
            <a:avLst>
              <a:gd name="adj1" fmla="val 12000000"/>
              <a:gd name="adj2" fmla="val 20400000"/>
            </a:avLst>
          </a:prstGeom>
          <a:ln w="25400">
            <a:solidFill>
              <a:srgbClr val="C4384B"/>
            </a:solidFill>
            <a:prstDash val="solid"/>
          </a:ln>
        </p:spPr>
        <p:txBody>
          <a:bodyPr/>
          <a:p/>
        </p:txBody>
      </p:sp>
      <p:sp>
        <p:nvSpPr>
          <p:cNvPr id="4" name="Shape 2"/>
          <p:cNvSpPr/>
          <p:nvPr/>
        </p:nvSpPr>
        <p:spPr>
          <a:xfrm>
            <a:off x="5586984" y="1755648"/>
            <a:ext cx="1024128" cy="256032"/>
          </a:xfrm>
          <a:prstGeom prst="arc">
            <a:avLst>
              <a:gd name="adj1" fmla="val 12000000"/>
              <a:gd name="adj2" fmla="val 20400000"/>
            </a:avLst>
          </a:prstGeom>
          <a:ln w="25400">
            <a:solidFill>
              <a:srgbClr val="C4384B"/>
            </a:solidFill>
            <a:prstDash val="solid"/>
          </a:ln>
        </p:spPr>
        <p:txBody>
          <a:bodyPr/>
          <a:p/>
        </p:txBody>
      </p:sp>
      <p:sp>
        <p:nvSpPr>
          <p:cNvPr id="5" name="Text 3"/>
          <p:cNvSpPr txBox="1"/>
          <p:nvPr/>
        </p:nvSpPr>
        <p:spPr>
          <a:xfrm>
            <a:off x="1234440" y="2514600"/>
            <a:ext cx="9720072" cy="914400"/>
          </a:xfrm>
          <a:prstGeom prst="rect">
            <a:avLst/>
          </a:prstGeom>
          <a:noFill/>
          <a:ln/>
        </p:spPr>
        <p:txBody>
          <a:bodyPr wrap="square" lIns="0" tIns="0" rIns="0" bIns="0" rtlCol="0" anchor="ctr"/>
          <a:lstStyle/>
          <a:p>
            <a:pPr algn="ctr" indent="0" marL="0">
              <a:buNone/>
            </a:pPr>
            <a:r>
              <a:rPr lang="en-US" sz="4400" b="1" dirty="0">
                <a:solidFill>
                  <a:srgbClr val="FFFFFF"/>
                </a:solidFill>
              </a:rPr>
              <a:t>Thank you</a:t>
            </a:r>
            <a:endParaRPr lang="en-US" sz="4400" dirty="0"/>
          </a:p>
        </p:txBody>
      </p:sp>
      <p:sp>
        <p:nvSpPr>
          <p:cNvPr id="6" name="Shape 4"/>
          <p:cNvSpPr/>
          <p:nvPr/>
        </p:nvSpPr>
        <p:spPr>
          <a:xfrm>
            <a:off x="5413248" y="3611880"/>
            <a:ext cx="1371600" cy="36576"/>
          </a:xfrm>
          <a:prstGeom prst="rect">
            <a:avLst/>
          </a:prstGeom>
          <a:solidFill>
            <a:srgbClr val="C4384B"/>
          </a:solidFill>
          <a:ln/>
        </p:spPr>
        <p:txBody>
          <a:bodyPr/>
          <a:p/>
        </p:txBody>
      </p:sp>
      <p:sp>
        <p:nvSpPr>
          <p:cNvPr id="7" name="Text 5"/>
          <p:cNvSpPr txBox="1"/>
          <p:nvPr/>
        </p:nvSpPr>
        <p:spPr>
          <a:xfrm>
            <a:off x="1234440" y="3840480"/>
            <a:ext cx="9720072" cy="640080"/>
          </a:xfrm>
          <a:prstGeom prst="rect">
            <a:avLst/>
          </a:prstGeom>
          <a:noFill/>
          <a:ln/>
        </p:spPr>
        <p:txBody>
          <a:bodyPr wrap="square" lIns="0" tIns="0" rIns="0" bIns="0" rtlCol="0" anchor="ctr"/>
          <a:lstStyle/>
          <a:p>
            <a:pPr algn="ctr" indent="0" marL="0">
              <a:buNone/>
            </a:pPr>
            <a:r>
              <a:rPr lang="en-US" sz="2400" i="1" dirty="0">
                <a:solidFill>
                  <a:srgbClr val="F6E6E9"/>
                </a:solidFill>
              </a:rPr>
              <a:t>Any data. Any domain. One grammar.</a:t>
            </a:r>
            <a:endParaRPr lang="en-US" sz="2400" dirty="0"/>
          </a:p>
        </p:txBody>
      </p:sp>
      <p:sp>
        <p:nvSpPr>
          <p:cNvPr id="8" name="Text 6"/>
          <p:cNvSpPr txBox="1"/>
          <p:nvPr/>
        </p:nvSpPr>
        <p:spPr>
          <a:xfrm>
            <a:off x="1234440" y="4754880"/>
            <a:ext cx="9720072" cy="365760"/>
          </a:xfrm>
          <a:prstGeom prst="rect">
            <a:avLst/>
          </a:prstGeom>
          <a:noFill/>
          <a:ln/>
        </p:spPr>
        <p:txBody>
          <a:bodyPr wrap="square" lIns="0" tIns="0" rIns="0" bIns="0" rtlCol="0" anchor="ctr"/>
          <a:lstStyle/>
          <a:p>
            <a:pPr algn="ctr" indent="0" marL="0">
              <a:buNone/>
            </a:pPr>
            <a:r>
              <a:rPr lang="en-US" sz="1300" dirty="0">
                <a:solidFill>
                  <a:srgbClr val="F6E6E9"/>
                </a:solidFill>
              </a:rPr>
              <a:t>Drishti • Ashutosh Sinha • October 2026 • Release 2.9.5</a:t>
            </a:r>
            <a:endParaRPr lang="en-US" sz="1300" dirty="0"/>
          </a:p>
        </p:txBody>
      </p:sp>
      <p:sp>
        <p:nvSpPr>
          <p:cNvPr id="25" name="Slide Number Placeholder 0"/>
          <p:cNvSpPr>
            <a:spLocks noGrp="1"/>
          </p:cNvSpPr>
          <p:nvPr>
            <p:ph type="sldNum" sz="quarter" idx="4294967295"/>
          </p:nvPr>
        </p:nvSpPr>
        <p:spPr>
          <a:xfrm>
            <a:off x="777240" y="6437376"/>
            <a:ext cx="10634472"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F6E6E9"/>
                </a:solidFill>
              </a:defRPr>
            </a:lvl1pPr>
          </a:lstStyle>
          <a:p>
            <a:pPr algn="r"/>
            <a:fld id="{F7021451-1387-4CA6-816F-3879F97B5CBC}" type="slidenum">
              <a:rPr b="1" lang="en-US"/>
              <a:t>48</a:t>
            </a:fld>
            <a:endParaRPr lang="en-US"/>
          </a:p>
        </p:txBody>
      </p:sp>
      <p:sp>
        <p:nvSpPr>
          <p:cNvPr id="26" name="Copyright"/>
          <p:cNvSpPr txBox="1"/>
          <p:nvPr/>
        </p:nvSpPr>
        <p:spPr>
          <a:xfrm>
            <a:off x="1234440" y="5257800"/>
            <a:ext cx="9720072" cy="274320"/>
          </a:xfrm>
          <a:prstGeom prst="rect">
            <a:avLst/>
          </a:prstGeom>
          <a:noFill/>
        </p:spPr>
        <p:txBody>
          <a:bodyPr wrap="square" lIns="0" rIns="0" tIns="0" bIns="0" anchor="ctr">
            <a:spAutoFit/>
          </a:bodyPr>
          <a:lstStyle/>
          <a:p>
            <a:pPr algn="ctr"/>
            <a:r>
              <a:rPr sz="1000" b="0" i="0">
                <a:solidFill>
                  <a:srgbClr val="E8C9CF"/>
                </a:solidFill>
              </a:rPr>
              <a:t>Copyright © 2026 Ashutosh Sinha. All rights reserved. Proprietary and confidential.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SINCE THE LAST EDITION · 2.6.0 → 2.9.5</a:t>
            </a:r>
          </a:p>
        </p:txBody>
      </p:sp>
      <p:sp>
        <p:nvSpPr>
          <p:cNvPr id="3" name="Title 2"/>
          <p:cNvSpPr>
            <a:spLocks noGrp="1"/>
          </p:cNvSpPr>
          <p:nvPr>
            <p:ph type="title" idx="104"/>
          </p:nvPr>
        </p:nvSpPr>
        <p:spPr/>
        <p:txBody>
          <a:bodyPr lIns="0" rIns="0" tIns="0" bIns="0" anchor="t"/>
          <a:lstStyle/>
          <a:p>
            <a:r>
              <a:t>Ten releases in eight days, each one drilled before main moved</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Timeline axis"/>
          <p:cNvSpPr/>
          <p:nvPr/>
        </p:nvSpPr>
        <p:spPr>
          <a:xfrm>
            <a:off x="777240" y="3717036"/>
            <a:ext cx="10634472" cy="27432"/>
          </a:xfrm>
          <a:prstGeom prst="rect">
            <a:avLst/>
          </a:prstGeom>
          <a:solidFill>
            <a:srgbClr val="CFC8B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777240" y="3803904"/>
            <a:ext cx="548640" cy="365760"/>
          </a:xfrm>
          <a:prstGeom prst="rect">
            <a:avLst/>
          </a:prstGeom>
          <a:noFill/>
        </p:spPr>
        <p:txBody>
          <a:bodyPr wrap="square" lIns="0" rIns="0" tIns="0" bIns="0" anchor="t">
            <a:spAutoFit/>
          </a:bodyPr>
          <a:lstStyle/>
          <a:p>
            <a:pPr algn="l"/>
            <a:r>
              <a:rPr sz="1050" b="1" i="0">
                <a:solidFill>
                  <a:srgbClr val="61666E"/>
                </a:solidFill>
              </a:rPr>
              <a:t>2.6.0</a:t>
            </a:r>
          </a:p>
          <a:p>
            <a:pPr algn="l"/>
            <a:r>
              <a:rPr sz="1000" b="0" i="0">
                <a:solidFill>
                  <a:srgbClr val="61666E"/>
                </a:solidFill>
              </a:rPr>
              <a:t>20 Oct</a:t>
            </a:r>
          </a:p>
        </p:txBody>
      </p:sp>
      <p:sp>
        <p:nvSpPr>
          <p:cNvPr id="28" name="Release 2.6.5"/>
          <p:cNvSpPr/>
          <p:nvPr/>
        </p:nvSpPr>
        <p:spPr>
          <a:xfrm>
            <a:off x="1591056" y="3611880"/>
            <a:ext cx="237744" cy="237744"/>
          </a:xfrm>
          <a:prstGeom prst="ellipse">
            <a:avLst/>
          </a:prstGeom>
          <a:solidFill>
            <a:srgbClr val="A51C3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cxnSp>
        <p:nvCxnSpPr>
          <p:cNvPr id="29" name="Connector 28"/>
          <p:cNvCxnSpPr/>
          <p:nvPr/>
        </p:nvCxnSpPr>
        <p:spPr>
          <a:xfrm>
            <a:off x="1709928" y="3438144"/>
            <a:ext cx="0" cy="173736"/>
          </a:xfrm>
          <a:prstGeom prst="line">
            <a:avLst/>
          </a:prstGeom>
          <a:ln w="12700">
            <a:solidFill>
              <a:srgbClr val="CFC8BE"/>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777240" y="1682496"/>
            <a:ext cx="1865376" cy="1755648"/>
          </a:xfrm>
          <a:prstGeom prst="rect">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886968" y="1737360"/>
            <a:ext cx="1682496" cy="1664207"/>
          </a:xfrm>
          <a:prstGeom prst="rect">
            <a:avLst/>
          </a:prstGeom>
          <a:noFill/>
        </p:spPr>
        <p:txBody>
          <a:bodyPr wrap="square" lIns="0" rIns="0" tIns="0" bIns="0" anchor="t">
            <a:spAutoFit/>
          </a:bodyPr>
          <a:lstStyle/>
          <a:p>
            <a:pPr algn="l">
              <a:spcAft>
                <a:spcPts val="100"/>
              </a:spcAft>
            </a:pPr>
            <a:r>
              <a:rPr sz="1400" b="1" i="0">
                <a:solidFill>
                  <a:srgbClr val="A51C30"/>
                </a:solidFill>
              </a:rPr>
              <a:t>2.6.5  </a:t>
            </a:r>
            <a:r>
              <a:rPr sz="1100" b="0" i="0">
                <a:solidFill>
                  <a:srgbClr val="61666E"/>
                </a:solidFill>
              </a:rPr>
              <a:t>20 Oct</a:t>
            </a:r>
          </a:p>
          <a:p>
            <a:pPr algn="l">
              <a:spcAft>
                <a:spcPts val="200"/>
              </a:spcAft>
            </a:pPr>
            <a:r>
              <a:rPr sz="1200" b="1" i="0">
                <a:solidFill>
                  <a:srgbClr val="8A1626"/>
                </a:solidFill>
              </a:rPr>
              <a:t>History queries</a:t>
            </a:r>
          </a:p>
          <a:p>
            <a:pPr algn="l"/>
            <a:r>
              <a:rPr sz="1050" b="0" i="0">
                <a:solidFill>
                  <a:srgbClr val="1A1A1A"/>
                </a:solidFill>
              </a:rPr>
              <a:t>Any entity over time from the command line, on every connector and across Drishti*net</a:t>
            </a:r>
          </a:p>
        </p:txBody>
      </p:sp>
      <p:sp>
        <p:nvSpPr>
          <p:cNvPr id="32" name="Release 2.6.7"/>
          <p:cNvSpPr/>
          <p:nvPr/>
        </p:nvSpPr>
        <p:spPr>
          <a:xfrm>
            <a:off x="2565400" y="3611880"/>
            <a:ext cx="237744" cy="237744"/>
          </a:xfrm>
          <a:prstGeom prst="ellipse">
            <a:avLst/>
          </a:prstGeom>
          <a:solidFill>
            <a:srgbClr val="A51C3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cxnSp>
        <p:nvCxnSpPr>
          <p:cNvPr id="33" name="Connector 32"/>
          <p:cNvCxnSpPr/>
          <p:nvPr/>
        </p:nvCxnSpPr>
        <p:spPr>
          <a:xfrm>
            <a:off x="2684272" y="3849624"/>
            <a:ext cx="0" cy="173736"/>
          </a:xfrm>
          <a:prstGeom prst="line">
            <a:avLst/>
          </a:prstGeom>
          <a:ln w="12700">
            <a:solidFill>
              <a:srgbClr val="CFC8BE"/>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1751584" y="4023360"/>
            <a:ext cx="1865376" cy="1755648"/>
          </a:xfrm>
          <a:prstGeom prst="rect">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xtBox 34"/>
          <p:cNvSpPr txBox="1"/>
          <p:nvPr/>
        </p:nvSpPr>
        <p:spPr>
          <a:xfrm>
            <a:off x="1861312" y="4078224"/>
            <a:ext cx="1682496" cy="1664207"/>
          </a:xfrm>
          <a:prstGeom prst="rect">
            <a:avLst/>
          </a:prstGeom>
          <a:noFill/>
        </p:spPr>
        <p:txBody>
          <a:bodyPr wrap="square" lIns="0" rIns="0" tIns="0" bIns="0" anchor="t">
            <a:spAutoFit/>
          </a:bodyPr>
          <a:lstStyle/>
          <a:p>
            <a:pPr algn="l">
              <a:spcAft>
                <a:spcPts val="100"/>
              </a:spcAft>
            </a:pPr>
            <a:r>
              <a:rPr sz="1400" b="1" i="0">
                <a:solidFill>
                  <a:srgbClr val="A51C30"/>
                </a:solidFill>
              </a:rPr>
              <a:t>2.6.7  </a:t>
            </a:r>
            <a:r>
              <a:rPr sz="1100" b="0" i="0">
                <a:solidFill>
                  <a:srgbClr val="61666E"/>
                </a:solidFill>
              </a:rPr>
              <a:t>21 Oct</a:t>
            </a:r>
          </a:p>
          <a:p>
            <a:pPr algn="l">
              <a:spcAft>
                <a:spcPts val="200"/>
              </a:spcAft>
            </a:pPr>
            <a:r>
              <a:rPr sz="1200" b="1" i="0">
                <a:solidFill>
                  <a:srgbClr val="8A1626"/>
                </a:solidFill>
              </a:rPr>
              <a:t>BI runs · charts</a:t>
            </a:r>
          </a:p>
          <a:p>
            <a:pPr algn="l"/>
            <a:r>
              <a:rPr sz="1050" b="0" i="0">
                <a:solidFill>
                  <a:srgbClr val="1A1A1A"/>
                </a:solidFill>
              </a:rPr>
              <a:t>Heavy questions become shareable runs; chart any table; Delta and Iceberg side by side; gossip port, HTTP/2 (with the 2.6.6 QA)</a:t>
            </a:r>
          </a:p>
        </p:txBody>
      </p:sp>
      <p:sp>
        <p:nvSpPr>
          <p:cNvPr id="36" name="Release 2.7.0"/>
          <p:cNvSpPr/>
          <p:nvPr/>
        </p:nvSpPr>
        <p:spPr>
          <a:xfrm>
            <a:off x="3539744" y="3611880"/>
            <a:ext cx="237744" cy="237744"/>
          </a:xfrm>
          <a:prstGeom prst="ellipse">
            <a:avLst/>
          </a:prstGeom>
          <a:solidFill>
            <a:srgbClr val="A51C3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cxnSp>
        <p:nvCxnSpPr>
          <p:cNvPr id="37" name="Connector 36"/>
          <p:cNvCxnSpPr/>
          <p:nvPr/>
        </p:nvCxnSpPr>
        <p:spPr>
          <a:xfrm>
            <a:off x="3658616" y="3438144"/>
            <a:ext cx="0" cy="173736"/>
          </a:xfrm>
          <a:prstGeom prst="line">
            <a:avLst/>
          </a:prstGeom>
          <a:ln w="12700">
            <a:solidFill>
              <a:srgbClr val="CFC8BE"/>
            </a:solidFill>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2725928" y="1682496"/>
            <a:ext cx="1865376" cy="1755648"/>
          </a:xfrm>
          <a:prstGeom prst="rect">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xtBox 38"/>
          <p:cNvSpPr txBox="1"/>
          <p:nvPr/>
        </p:nvSpPr>
        <p:spPr>
          <a:xfrm>
            <a:off x="2835656" y="1737360"/>
            <a:ext cx="1682496" cy="1664207"/>
          </a:xfrm>
          <a:prstGeom prst="rect">
            <a:avLst/>
          </a:prstGeom>
          <a:noFill/>
        </p:spPr>
        <p:txBody>
          <a:bodyPr wrap="square" lIns="0" rIns="0" tIns="0" bIns="0" anchor="t">
            <a:spAutoFit/>
          </a:bodyPr>
          <a:lstStyle/>
          <a:p>
            <a:pPr algn="l">
              <a:spcAft>
                <a:spcPts val="100"/>
              </a:spcAft>
            </a:pPr>
            <a:r>
              <a:rPr sz="1400" b="1" i="0">
                <a:solidFill>
                  <a:srgbClr val="A51C30"/>
                </a:solidFill>
              </a:rPr>
              <a:t>2.7.0  </a:t>
            </a:r>
            <a:r>
              <a:rPr sz="1100" b="0" i="0">
                <a:solidFill>
                  <a:srgbClr val="61666E"/>
                </a:solidFill>
              </a:rPr>
              <a:t>24 Oct</a:t>
            </a:r>
          </a:p>
          <a:p>
            <a:pPr algn="l">
              <a:spcAft>
                <a:spcPts val="200"/>
              </a:spcAft>
            </a:pPr>
            <a:r>
              <a:rPr sz="1200" b="1" i="0">
                <a:solidFill>
                  <a:srgbClr val="8A1626"/>
                </a:solidFill>
              </a:rPr>
              <a:t>Sutra Next</a:t>
            </a:r>
          </a:p>
          <a:p>
            <a:pPr algn="l"/>
            <a:r>
              <a:rPr sz="1050" b="0" i="0">
                <a:solidFill>
                  <a:srgbClr val="1A1A1A"/>
                </a:solidFill>
              </a:rPr>
              <a:t>The UI kit, events and children, refresh, forms, the four-mode Sutra designer; us-equities and gleif packs</a:t>
            </a:r>
          </a:p>
        </p:txBody>
      </p:sp>
      <p:sp>
        <p:nvSpPr>
          <p:cNvPr id="40" name="Release 2.8.0"/>
          <p:cNvSpPr/>
          <p:nvPr/>
        </p:nvSpPr>
        <p:spPr>
          <a:xfrm>
            <a:off x="4514088" y="3611880"/>
            <a:ext cx="237744" cy="237744"/>
          </a:xfrm>
          <a:prstGeom prst="ellipse">
            <a:avLst/>
          </a:prstGeom>
          <a:solidFill>
            <a:srgbClr val="A51C3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cxnSp>
        <p:nvCxnSpPr>
          <p:cNvPr id="41" name="Connector 40"/>
          <p:cNvCxnSpPr/>
          <p:nvPr/>
        </p:nvCxnSpPr>
        <p:spPr>
          <a:xfrm>
            <a:off x="4632960" y="3849624"/>
            <a:ext cx="0" cy="173736"/>
          </a:xfrm>
          <a:prstGeom prst="line">
            <a:avLst/>
          </a:prstGeom>
          <a:ln w="12700">
            <a:solidFill>
              <a:srgbClr val="CFC8BE"/>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3700272" y="4023360"/>
            <a:ext cx="1865376" cy="1755648"/>
          </a:xfrm>
          <a:prstGeom prst="rect">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3810000" y="4078224"/>
            <a:ext cx="1682496" cy="1664207"/>
          </a:xfrm>
          <a:prstGeom prst="rect">
            <a:avLst/>
          </a:prstGeom>
          <a:noFill/>
        </p:spPr>
        <p:txBody>
          <a:bodyPr wrap="square" lIns="0" rIns="0" tIns="0" bIns="0" anchor="t">
            <a:spAutoFit/>
          </a:bodyPr>
          <a:lstStyle/>
          <a:p>
            <a:pPr algn="l">
              <a:spcAft>
                <a:spcPts val="100"/>
              </a:spcAft>
            </a:pPr>
            <a:r>
              <a:rPr sz="1400" b="1" i="0">
                <a:solidFill>
                  <a:srgbClr val="A51C30"/>
                </a:solidFill>
              </a:rPr>
              <a:t>2.8.0  </a:t>
            </a:r>
            <a:r>
              <a:rPr sz="1100" b="0" i="0">
                <a:solidFill>
                  <a:srgbClr val="61666E"/>
                </a:solidFill>
              </a:rPr>
              <a:t>26 Oct</a:t>
            </a:r>
          </a:p>
          <a:p>
            <a:pPr algn="l">
              <a:spcAft>
                <a:spcPts val="200"/>
              </a:spcAft>
            </a:pPr>
            <a:r>
              <a:rPr sz="1200" b="1" i="0">
                <a:solidFill>
                  <a:srgbClr val="8A1626"/>
                </a:solidFill>
              </a:rPr>
              <a:t>Contracts · VaR</a:t>
            </a:r>
          </a:p>
          <a:p>
            <a:pPr algn="l"/>
            <a:r>
              <a:rPr sz="1050" b="0" i="0">
                <a:solidFill>
                  <a:srgbClr val="1A1A1A"/>
                </a:solidFill>
              </a:rPr>
              <a:t>A data contract for every command; VaR computed for any scope; Admin → Commands; write-back; branding from configuration</a:t>
            </a:r>
          </a:p>
        </p:txBody>
      </p:sp>
      <p:sp>
        <p:nvSpPr>
          <p:cNvPr id="44" name="Release 2.9.0"/>
          <p:cNvSpPr/>
          <p:nvPr/>
        </p:nvSpPr>
        <p:spPr>
          <a:xfrm>
            <a:off x="5488432" y="3611880"/>
            <a:ext cx="237744" cy="237744"/>
          </a:xfrm>
          <a:prstGeom prst="ellipse">
            <a:avLst/>
          </a:prstGeom>
          <a:solidFill>
            <a:srgbClr val="A51C3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cxnSp>
        <p:nvCxnSpPr>
          <p:cNvPr id="45" name="Connector 44"/>
          <p:cNvCxnSpPr/>
          <p:nvPr/>
        </p:nvCxnSpPr>
        <p:spPr>
          <a:xfrm>
            <a:off x="5607304" y="3438144"/>
            <a:ext cx="0" cy="173736"/>
          </a:xfrm>
          <a:prstGeom prst="line">
            <a:avLst/>
          </a:prstGeom>
          <a:ln w="12700">
            <a:solidFill>
              <a:srgbClr val="CFC8BE"/>
            </a:solidFill>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4674616" y="1682496"/>
            <a:ext cx="1865376" cy="1755648"/>
          </a:xfrm>
          <a:prstGeom prst="rect">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xtBox 46"/>
          <p:cNvSpPr txBox="1"/>
          <p:nvPr/>
        </p:nvSpPr>
        <p:spPr>
          <a:xfrm>
            <a:off x="4784344" y="1737360"/>
            <a:ext cx="1682496" cy="1664207"/>
          </a:xfrm>
          <a:prstGeom prst="rect">
            <a:avLst/>
          </a:prstGeom>
          <a:noFill/>
        </p:spPr>
        <p:txBody>
          <a:bodyPr wrap="square" lIns="0" rIns="0" tIns="0" bIns="0" anchor="t">
            <a:spAutoFit/>
          </a:bodyPr>
          <a:lstStyle/>
          <a:p>
            <a:pPr algn="l">
              <a:spcAft>
                <a:spcPts val="100"/>
              </a:spcAft>
            </a:pPr>
            <a:r>
              <a:rPr sz="1400" b="1" i="0">
                <a:solidFill>
                  <a:srgbClr val="A51C30"/>
                </a:solidFill>
              </a:rPr>
              <a:t>2.9.0  </a:t>
            </a:r>
            <a:r>
              <a:rPr sz="1100" b="0" i="0">
                <a:solidFill>
                  <a:srgbClr val="61666E"/>
                </a:solidFill>
              </a:rPr>
              <a:t>26 Oct</a:t>
            </a:r>
          </a:p>
          <a:p>
            <a:pPr algn="l">
              <a:spcAft>
                <a:spcPts val="200"/>
              </a:spcAft>
            </a:pPr>
            <a:r>
              <a:rPr sz="1200" b="1" i="0">
                <a:solidFill>
                  <a:srgbClr val="8A1626"/>
                </a:solidFill>
              </a:rPr>
              <a:t>Exposure</a:t>
            </a:r>
          </a:p>
          <a:p>
            <a:pPr algn="l"/>
            <a:r>
              <a:rPr sz="1050" b="0" i="0">
                <a:solidFill>
                  <a:srgbClr val="1A1A1A"/>
                </a:solidFill>
              </a:rPr>
              <a:t>EE and PFE computed for any scope, the stored profile retired; VaR and exposure in BI</a:t>
            </a:r>
          </a:p>
        </p:txBody>
      </p:sp>
      <p:sp>
        <p:nvSpPr>
          <p:cNvPr id="48" name="Release 2.9.1"/>
          <p:cNvSpPr/>
          <p:nvPr/>
        </p:nvSpPr>
        <p:spPr>
          <a:xfrm>
            <a:off x="6462776" y="3611880"/>
            <a:ext cx="237744" cy="237744"/>
          </a:xfrm>
          <a:prstGeom prst="ellipse">
            <a:avLst/>
          </a:prstGeom>
          <a:solidFill>
            <a:srgbClr val="A51C3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cxnSp>
        <p:nvCxnSpPr>
          <p:cNvPr id="49" name="Connector 48"/>
          <p:cNvCxnSpPr/>
          <p:nvPr/>
        </p:nvCxnSpPr>
        <p:spPr>
          <a:xfrm>
            <a:off x="6581648" y="3849624"/>
            <a:ext cx="0" cy="173736"/>
          </a:xfrm>
          <a:prstGeom prst="line">
            <a:avLst/>
          </a:prstGeom>
          <a:ln w="12700">
            <a:solidFill>
              <a:srgbClr val="CFC8BE"/>
            </a:solidFill>
          </a:ln>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5648959" y="4023360"/>
            <a:ext cx="1865376" cy="1755648"/>
          </a:xfrm>
          <a:prstGeom prst="rect">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xtBox 50"/>
          <p:cNvSpPr txBox="1"/>
          <p:nvPr/>
        </p:nvSpPr>
        <p:spPr>
          <a:xfrm>
            <a:off x="5758687" y="4078224"/>
            <a:ext cx="1682496" cy="1664207"/>
          </a:xfrm>
          <a:prstGeom prst="rect">
            <a:avLst/>
          </a:prstGeom>
          <a:noFill/>
        </p:spPr>
        <p:txBody>
          <a:bodyPr wrap="square" lIns="0" rIns="0" tIns="0" bIns="0" anchor="t">
            <a:spAutoFit/>
          </a:bodyPr>
          <a:lstStyle/>
          <a:p>
            <a:pPr algn="l">
              <a:spcAft>
                <a:spcPts val="100"/>
              </a:spcAft>
            </a:pPr>
            <a:r>
              <a:rPr sz="1400" b="1" i="0">
                <a:solidFill>
                  <a:srgbClr val="A51C30"/>
                </a:solidFill>
              </a:rPr>
              <a:t>2.9.1  </a:t>
            </a:r>
            <a:r>
              <a:rPr sz="1100" b="0" i="0">
                <a:solidFill>
                  <a:srgbClr val="61666E"/>
                </a:solidFill>
              </a:rPr>
              <a:t>26 Oct</a:t>
            </a:r>
          </a:p>
          <a:p>
            <a:pPr algn="l">
              <a:spcAft>
                <a:spcPts val="200"/>
              </a:spcAft>
            </a:pPr>
            <a:r>
              <a:rPr sz="1200" b="1" i="0">
                <a:solidFill>
                  <a:srgbClr val="8A1626"/>
                </a:solidFill>
              </a:rPr>
              <a:t>FUNC · analytics</a:t>
            </a:r>
          </a:p>
          <a:p>
            <a:pPr algn="l"/>
            <a:r>
              <a:rPr sz="1050" b="0" i="0">
                <a:solidFill>
                  <a:srgbClr val="1A1A1A"/>
                </a:solidFill>
              </a:rPr>
              <a:t>Every command in one directory; groupings and analytics computed; External data</a:t>
            </a:r>
          </a:p>
        </p:txBody>
      </p:sp>
      <p:sp>
        <p:nvSpPr>
          <p:cNvPr id="52" name="Release 2.9.2"/>
          <p:cNvSpPr/>
          <p:nvPr/>
        </p:nvSpPr>
        <p:spPr>
          <a:xfrm>
            <a:off x="7437120" y="3611880"/>
            <a:ext cx="237744" cy="237744"/>
          </a:xfrm>
          <a:prstGeom prst="ellipse">
            <a:avLst/>
          </a:prstGeom>
          <a:solidFill>
            <a:srgbClr val="A51C3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cxnSp>
        <p:nvCxnSpPr>
          <p:cNvPr id="53" name="Connector 52"/>
          <p:cNvCxnSpPr/>
          <p:nvPr/>
        </p:nvCxnSpPr>
        <p:spPr>
          <a:xfrm>
            <a:off x="7555992" y="3438144"/>
            <a:ext cx="0" cy="173736"/>
          </a:xfrm>
          <a:prstGeom prst="line">
            <a:avLst/>
          </a:prstGeom>
          <a:ln w="12700">
            <a:solidFill>
              <a:srgbClr val="CFC8BE"/>
            </a:solidFill>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6623304" y="1682496"/>
            <a:ext cx="1865376" cy="1755648"/>
          </a:xfrm>
          <a:prstGeom prst="rect">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TextBox 54"/>
          <p:cNvSpPr txBox="1"/>
          <p:nvPr/>
        </p:nvSpPr>
        <p:spPr>
          <a:xfrm>
            <a:off x="6733032" y="1737360"/>
            <a:ext cx="1682496" cy="1664207"/>
          </a:xfrm>
          <a:prstGeom prst="rect">
            <a:avLst/>
          </a:prstGeom>
          <a:noFill/>
        </p:spPr>
        <p:txBody>
          <a:bodyPr wrap="square" lIns="0" rIns="0" tIns="0" bIns="0" anchor="t">
            <a:spAutoFit/>
          </a:bodyPr>
          <a:lstStyle/>
          <a:p>
            <a:pPr algn="l">
              <a:spcAft>
                <a:spcPts val="100"/>
              </a:spcAft>
            </a:pPr>
            <a:r>
              <a:rPr sz="1400" b="1" i="0">
                <a:solidFill>
                  <a:srgbClr val="A51C30"/>
                </a:solidFill>
              </a:rPr>
              <a:t>2.9.2  </a:t>
            </a:r>
            <a:r>
              <a:rPr sz="1100" b="0" i="0">
                <a:solidFill>
                  <a:srgbClr val="61666E"/>
                </a:solidFill>
              </a:rPr>
              <a:t>26 Oct</a:t>
            </a:r>
          </a:p>
          <a:p>
            <a:pPr algn="l">
              <a:spcAft>
                <a:spcPts val="200"/>
              </a:spcAft>
            </a:pPr>
            <a:r>
              <a:rPr sz="1200" b="1" i="0">
                <a:solidFill>
                  <a:srgbClr val="8A1626"/>
                </a:solidFill>
              </a:rPr>
              <a:t>Funds · Knowledge</a:t>
            </a:r>
          </a:p>
          <a:p>
            <a:pPr algn="l"/>
            <a:r>
              <a:rPr sz="1050" b="0" i="0">
                <a:solidFill>
                  <a:srgbClr val="1A1A1A"/>
                </a:solidFill>
              </a:rPr>
              <a:t>Funds and ETFs; Knowledge and WHAT; Construct your basket; the pre-deal what-if</a:t>
            </a:r>
          </a:p>
        </p:txBody>
      </p:sp>
      <p:sp>
        <p:nvSpPr>
          <p:cNvPr id="56" name="Release 2.9.3"/>
          <p:cNvSpPr/>
          <p:nvPr/>
        </p:nvSpPr>
        <p:spPr>
          <a:xfrm>
            <a:off x="8411464" y="3611880"/>
            <a:ext cx="237744" cy="237744"/>
          </a:xfrm>
          <a:prstGeom prst="ellipse">
            <a:avLst/>
          </a:prstGeom>
          <a:solidFill>
            <a:srgbClr val="A51C3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cxnSp>
        <p:nvCxnSpPr>
          <p:cNvPr id="57" name="Connector 56"/>
          <p:cNvCxnSpPr/>
          <p:nvPr/>
        </p:nvCxnSpPr>
        <p:spPr>
          <a:xfrm>
            <a:off x="8530336" y="3849624"/>
            <a:ext cx="0" cy="173736"/>
          </a:xfrm>
          <a:prstGeom prst="line">
            <a:avLst/>
          </a:prstGeom>
          <a:ln w="12700">
            <a:solidFill>
              <a:srgbClr val="CFC8BE"/>
            </a:solidFill>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7597648" y="4023360"/>
            <a:ext cx="1865376" cy="1755648"/>
          </a:xfrm>
          <a:prstGeom prst="rect">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xtBox 58"/>
          <p:cNvSpPr txBox="1"/>
          <p:nvPr/>
        </p:nvSpPr>
        <p:spPr>
          <a:xfrm>
            <a:off x="7707376" y="4078224"/>
            <a:ext cx="1682496" cy="1664207"/>
          </a:xfrm>
          <a:prstGeom prst="rect">
            <a:avLst/>
          </a:prstGeom>
          <a:noFill/>
        </p:spPr>
        <p:txBody>
          <a:bodyPr wrap="square" lIns="0" rIns="0" tIns="0" bIns="0" anchor="t">
            <a:spAutoFit/>
          </a:bodyPr>
          <a:lstStyle/>
          <a:p>
            <a:pPr algn="l">
              <a:spcAft>
                <a:spcPts val="100"/>
              </a:spcAft>
            </a:pPr>
            <a:r>
              <a:rPr sz="1400" b="1" i="0">
                <a:solidFill>
                  <a:srgbClr val="A51C30"/>
                </a:solidFill>
              </a:rPr>
              <a:t>2.9.3  </a:t>
            </a:r>
            <a:r>
              <a:rPr sz="1100" b="0" i="0">
                <a:solidFill>
                  <a:srgbClr val="61666E"/>
                </a:solidFill>
              </a:rPr>
              <a:t>27 Oct</a:t>
            </a:r>
          </a:p>
          <a:p>
            <a:pPr algn="l">
              <a:spcAft>
                <a:spcPts val="200"/>
              </a:spcAft>
            </a:pPr>
            <a:r>
              <a:rPr sz="1200" b="1" i="0">
                <a:solidFill>
                  <a:srgbClr val="8A1626"/>
                </a:solidFill>
              </a:rPr>
              <a:t>DATAMAP</a:t>
            </a:r>
          </a:p>
          <a:p>
            <a:pPr algn="l"/>
            <a:r>
              <a:rPr sz="1050" b="0" i="0">
                <a:solidFill>
                  <a:srgbClr val="1A1A1A"/>
                </a:solidFill>
              </a:rPr>
              <a:t>The data map; the fact of the day on Home; index members from the tracking ETFs</a:t>
            </a:r>
          </a:p>
        </p:txBody>
      </p:sp>
      <p:sp>
        <p:nvSpPr>
          <p:cNvPr id="60" name="Release 2.9.4"/>
          <p:cNvSpPr/>
          <p:nvPr/>
        </p:nvSpPr>
        <p:spPr>
          <a:xfrm>
            <a:off x="9385808" y="3611880"/>
            <a:ext cx="237744" cy="237744"/>
          </a:xfrm>
          <a:prstGeom prst="ellipse">
            <a:avLst/>
          </a:prstGeom>
          <a:solidFill>
            <a:srgbClr val="A51C3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cxnSp>
        <p:nvCxnSpPr>
          <p:cNvPr id="61" name="Connector 60"/>
          <p:cNvCxnSpPr/>
          <p:nvPr/>
        </p:nvCxnSpPr>
        <p:spPr>
          <a:xfrm>
            <a:off x="9504680" y="3438144"/>
            <a:ext cx="0" cy="173736"/>
          </a:xfrm>
          <a:prstGeom prst="line">
            <a:avLst/>
          </a:prstGeom>
          <a:ln w="12700">
            <a:solidFill>
              <a:srgbClr val="CFC8BE"/>
            </a:solidFill>
          </a:ln>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8571992" y="1682496"/>
            <a:ext cx="1865376" cy="1755648"/>
          </a:xfrm>
          <a:prstGeom prst="rect">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xtBox 62"/>
          <p:cNvSpPr txBox="1"/>
          <p:nvPr/>
        </p:nvSpPr>
        <p:spPr>
          <a:xfrm>
            <a:off x="8681720" y="1737360"/>
            <a:ext cx="1682496" cy="1664207"/>
          </a:xfrm>
          <a:prstGeom prst="rect">
            <a:avLst/>
          </a:prstGeom>
          <a:noFill/>
        </p:spPr>
        <p:txBody>
          <a:bodyPr wrap="square" lIns="0" rIns="0" tIns="0" bIns="0" anchor="t">
            <a:spAutoFit/>
          </a:bodyPr>
          <a:lstStyle/>
          <a:p>
            <a:pPr algn="l">
              <a:spcAft>
                <a:spcPts val="100"/>
              </a:spcAft>
            </a:pPr>
            <a:r>
              <a:rPr sz="1400" b="1" i="0">
                <a:solidFill>
                  <a:srgbClr val="A51C30"/>
                </a:solidFill>
              </a:rPr>
              <a:t>2.9.4  </a:t>
            </a:r>
            <a:r>
              <a:rPr sz="1100" b="0" i="0">
                <a:solidFill>
                  <a:srgbClr val="61666E"/>
                </a:solidFill>
              </a:rPr>
              <a:t>27 Oct</a:t>
            </a:r>
          </a:p>
          <a:p>
            <a:pPr algn="l">
              <a:spcAft>
                <a:spcPts val="200"/>
              </a:spcAft>
            </a:pPr>
            <a:r>
              <a:rPr sz="1200" b="1" i="0">
                <a:solidFill>
                  <a:srgbClr val="8A1626"/>
                </a:solidFill>
              </a:rPr>
              <a:t>PV VaR · JSONL</a:t>
            </a:r>
          </a:p>
          <a:p>
            <a:pPr algn="l"/>
            <a:r>
              <a:rPr sz="1050" b="0" i="0">
                <a:solidFill>
                  <a:srgbClr val="1A1A1A"/>
                </a:solidFill>
              </a:rPr>
              <a:t>VaR from scenario PVs in any currency, any input contract, intraday from files and Kafka; window and confidence; JSONL everywhere; names configurable</a:t>
            </a:r>
          </a:p>
        </p:txBody>
      </p:sp>
      <p:sp>
        <p:nvSpPr>
          <p:cNvPr id="64" name="Release 2.9.5"/>
          <p:cNvSpPr/>
          <p:nvPr/>
        </p:nvSpPr>
        <p:spPr>
          <a:xfrm>
            <a:off x="10360152" y="3611880"/>
            <a:ext cx="237744" cy="237744"/>
          </a:xfrm>
          <a:prstGeom prst="ellipse">
            <a:avLst/>
          </a:prstGeom>
          <a:solidFill>
            <a:srgbClr val="8A1626"/>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cxnSp>
        <p:nvCxnSpPr>
          <p:cNvPr id="65" name="Connector 64"/>
          <p:cNvCxnSpPr/>
          <p:nvPr/>
        </p:nvCxnSpPr>
        <p:spPr>
          <a:xfrm>
            <a:off x="10479024" y="3849624"/>
            <a:ext cx="0" cy="173736"/>
          </a:xfrm>
          <a:prstGeom prst="line">
            <a:avLst/>
          </a:prstGeom>
          <a:ln w="12700">
            <a:solidFill>
              <a:srgbClr val="CFC8BE"/>
            </a:solidFill>
          </a:ln>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9546336" y="4023360"/>
            <a:ext cx="1865376" cy="1755648"/>
          </a:xfrm>
          <a:prstGeom prst="rect">
            <a:avLst/>
          </a:prstGeom>
          <a:solidFill>
            <a:srgbClr val="F6E6E9"/>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TextBox 66"/>
          <p:cNvSpPr txBox="1"/>
          <p:nvPr/>
        </p:nvSpPr>
        <p:spPr>
          <a:xfrm>
            <a:off x="9656064" y="4078224"/>
            <a:ext cx="1682496" cy="1664207"/>
          </a:xfrm>
          <a:prstGeom prst="rect">
            <a:avLst/>
          </a:prstGeom>
          <a:noFill/>
        </p:spPr>
        <p:txBody>
          <a:bodyPr wrap="square" lIns="0" rIns="0" tIns="0" bIns="0" anchor="t">
            <a:spAutoFit/>
          </a:bodyPr>
          <a:lstStyle/>
          <a:p>
            <a:pPr algn="l">
              <a:spcAft>
                <a:spcPts val="100"/>
              </a:spcAft>
            </a:pPr>
            <a:r>
              <a:rPr sz="1400" b="1" i="0">
                <a:solidFill>
                  <a:srgbClr val="A51C30"/>
                </a:solidFill>
              </a:rPr>
              <a:t>2.9.5  </a:t>
            </a:r>
            <a:r>
              <a:rPr sz="1100" b="0" i="0">
                <a:solidFill>
                  <a:srgbClr val="61666E"/>
                </a:solidFill>
              </a:rPr>
              <a:t>28 Oct</a:t>
            </a:r>
          </a:p>
          <a:p>
            <a:pPr algn="l">
              <a:spcAft>
                <a:spcPts val="200"/>
              </a:spcAft>
            </a:pPr>
            <a:r>
              <a:rPr sz="1200" b="1" i="0">
                <a:solidFill>
                  <a:srgbClr val="8A1626"/>
                </a:solidFill>
              </a:rPr>
              <a:t>Trees · Iceberg</a:t>
            </a:r>
          </a:p>
          <a:p>
            <a:pPr algn="l"/>
            <a:r>
              <a:rPr sz="1050" b="0" i="0">
                <a:solidFill>
                  <a:srgbClr val="1A1A1A"/>
                </a:solidFill>
              </a:rPr>
              <a:t>Limit letters and any tree by columns; Iceberg equal to Delta; official results to S3; airtight upgrades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hapter background"/>
          <p:cNvSpPr/>
          <p:nvPr/>
        </p:nvSpPr>
        <p:spPr>
          <a:xfrm>
            <a:off x="0" y="0"/>
            <a:ext cx="12191969"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Chapter watermark"/>
          <p:cNvSpPr txBox="1"/>
          <p:nvPr/>
        </p:nvSpPr>
        <p:spPr>
          <a:xfrm>
            <a:off x="4754880" y="-822960"/>
            <a:ext cx="7223760" cy="7863840"/>
          </a:xfrm>
          <a:prstGeom prst="rect">
            <a:avLst/>
          </a:prstGeom>
          <a:noFill/>
        </p:spPr>
        <p:txBody>
          <a:bodyPr wrap="none" lIns="0" rIns="0" tIns="0" bIns="0" anchor="ctr">
            <a:spAutoFit/>
          </a:bodyPr>
          <a:lstStyle/>
          <a:p>
            <a:pPr algn="r"/>
            <a:r>
              <a:rPr sz="42000" b="1" i="0">
                <a:solidFill>
                  <a:srgbClr val="B8394C"/>
                </a:solidFill>
              </a:rPr>
              <a:t>03</a:t>
            </a:r>
          </a:p>
        </p:txBody>
      </p:sp>
      <p:sp>
        <p:nvSpPr>
          <p:cNvPr id="4" name="Chapter name"/>
          <p:cNvSpPr txBox="1"/>
          <p:nvPr/>
        </p:nvSpPr>
        <p:spPr>
          <a:xfrm>
            <a:off x="822960" y="2514600"/>
            <a:ext cx="6949440" cy="1828800"/>
          </a:xfrm>
          <a:prstGeom prst="rect">
            <a:avLst/>
          </a:prstGeom>
          <a:noFill/>
        </p:spPr>
        <p:txBody>
          <a:bodyPr wrap="square" lIns="0" rIns="0" tIns="0" bIns="0" anchor="ctr">
            <a:spAutoFit/>
          </a:bodyPr>
          <a:lstStyle/>
          <a:p>
            <a:pPr algn="l"/>
            <a:r>
              <a:rPr sz="4400" b="1" i="0">
                <a:solidFill>
                  <a:srgbClr val="FFFFFF"/>
                </a:solidFill>
              </a:rPr>
              <a:t>What 2.6.5 to 2.9.5 added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HISTORY QUERIES · 2.6.5</a:t>
            </a:r>
          </a:p>
        </p:txBody>
      </p:sp>
      <p:sp>
        <p:nvSpPr>
          <p:cNvPr id="3" name="Title 2"/>
          <p:cNvSpPr>
            <a:spLocks noGrp="1"/>
          </p:cNvSpPr>
          <p:nvPr>
            <p:ph type="title" idx="104"/>
          </p:nvPr>
        </p:nvSpPr>
        <p:spPr/>
        <p:txBody>
          <a:bodyPr lIns="0" rIns="0" tIns="0" bIns="0" anchor="t"/>
          <a:lstStyle/>
          <a:p>
            <a:r>
              <a:t>Type a range after an id and see the entity over time</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pic>
        <p:nvPicPr>
          <p:cNvPr id="26" name="Trade history page" descr="02-trade-history.jpg"/>
          <p:cNvPicPr>
            <a:picLocks noChangeAspect="1"/>
          </p:cNvPicPr>
          <p:nvPr/>
        </p:nvPicPr>
        <p:blipFill>
          <a:blip r:embed="rId2"/>
          <a:stretch>
            <a:fillRect/>
          </a:stretch>
        </p:blipFill>
        <p:spPr>
          <a:xfrm>
            <a:off x="777240" y="1444752"/>
            <a:ext cx="6400800" cy="3931920"/>
          </a:xfrm>
          <a:prstGeom prst="rect">
            <a:avLst/>
          </a:prstGeom>
          <a:ln w="9525">
            <a:solidFill>
              <a:srgbClr val="CFC8BE"/>
            </a:solidFill>
          </a:ln>
        </p:spPr>
      </p:pic>
      <p:sp>
        <p:nvSpPr>
          <p:cNvPr id="27" name="TextBox 26"/>
          <p:cNvSpPr txBox="1"/>
          <p:nvPr/>
        </p:nvSpPr>
        <p:spPr>
          <a:xfrm>
            <a:off x="777240" y="5413248"/>
            <a:ext cx="6400800" cy="274320"/>
          </a:xfrm>
          <a:prstGeom prst="rect">
            <a:avLst/>
          </a:prstGeom>
          <a:noFill/>
        </p:spPr>
        <p:txBody>
          <a:bodyPr wrap="square" lIns="0" rIns="0" tIns="0" bIns="0" anchor="t">
            <a:spAutoFit/>
          </a:bodyPr>
          <a:lstStyle/>
          <a:p>
            <a:pPr algn="l"/>
            <a:r>
              <a:rPr sz="1050" b="0" i="1">
                <a:solidFill>
                  <a:srgbClr val="61666E"/>
                </a:solidFill>
              </a:rPr>
              <a:t>TRD 1000015 30: one row per business day, changed cells marked ▲/▼, restated days flagged (tutorial 21).</a:t>
            </a:r>
          </a:p>
        </p:txBody>
      </p:sp>
      <p:sp>
        <p:nvSpPr>
          <p:cNvPr id="28" name="Rectangle 27"/>
          <p:cNvSpPr/>
          <p:nvPr/>
        </p:nvSpPr>
        <p:spPr>
          <a:xfrm>
            <a:off x="7452360" y="1444752"/>
            <a:ext cx="3959352" cy="1783080"/>
          </a:xfrm>
          <a:prstGeom prst="rect">
            <a:avLst/>
          </a:prstGeom>
          <a:solidFill>
            <a:srgbClr val="1E1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Rectangle 28"/>
          <p:cNvSpPr/>
          <p:nvPr/>
        </p:nvSpPr>
        <p:spPr>
          <a:xfrm>
            <a:off x="7452360" y="1444752"/>
            <a:ext cx="3959352" cy="329184"/>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7589520" y="1444752"/>
            <a:ext cx="3685032" cy="329184"/>
          </a:xfrm>
          <a:prstGeom prst="rect">
            <a:avLst/>
          </a:prstGeom>
          <a:noFill/>
        </p:spPr>
        <p:txBody>
          <a:bodyPr wrap="square" lIns="0" rIns="0" tIns="0" bIns="0" anchor="ctr">
            <a:spAutoFit/>
          </a:bodyPr>
          <a:lstStyle/>
          <a:p>
            <a:pPr algn="l"/>
            <a:r>
              <a:rPr sz="1150" b="1" i="0">
                <a:solidFill>
                  <a:srgbClr val="FFFFFF"/>
                </a:solidFill>
              </a:rPr>
              <a:t>One grammar, any range</a:t>
            </a:r>
          </a:p>
        </p:txBody>
      </p:sp>
      <p:sp>
        <p:nvSpPr>
          <p:cNvPr id="31" name="TextBox 30"/>
          <p:cNvSpPr txBox="1"/>
          <p:nvPr/>
        </p:nvSpPr>
        <p:spPr>
          <a:xfrm>
            <a:off x="7616952" y="1883664"/>
            <a:ext cx="3685032" cy="1280160"/>
          </a:xfrm>
          <a:prstGeom prst="rect">
            <a:avLst/>
          </a:prstGeom>
          <a:noFill/>
        </p:spPr>
        <p:txBody>
          <a:bodyPr wrap="square" lIns="0" rIns="0" tIns="0" bIns="0" anchor="t">
            <a:spAutoFit/>
          </a:bodyPr>
          <a:lstStyle/>
          <a:p>
            <a:pPr algn="l">
              <a:spcAft>
                <a:spcPts val="200"/>
              </a:spcAft>
            </a:pPr>
            <a:r>
              <a:rPr sz="1150" b="0" i="0">
                <a:solidFill>
                  <a:srgbClr val="F1EEE9"/>
                </a:solidFill>
                <a:latin typeface="Courier New"/>
              </a:rPr>
              <a:t>TRD 1000015 30</a:t>
            </a:r>
          </a:p>
          <a:p>
            <a:pPr algn="l">
              <a:spcAft>
                <a:spcPts val="200"/>
              </a:spcAft>
            </a:pPr>
            <a:r>
              <a:rPr sz="1150" b="0" i="0">
                <a:solidFill>
                  <a:srgbClr val="F1EEE9"/>
                </a:solidFill>
                <a:latin typeface="Courier New"/>
              </a:rPr>
              <a:t>TRD 1000015 3M DIFF</a:t>
            </a:r>
          </a:p>
          <a:p>
            <a:pPr algn="l">
              <a:spcAft>
                <a:spcPts val="200"/>
              </a:spcAft>
            </a:pPr>
            <a:r>
              <a:rPr sz="1150" b="0" i="0">
                <a:solidFill>
                  <a:srgbClr val="F1EEE9"/>
                </a:solidFill>
                <a:latin typeface="Courier New"/>
              </a:rPr>
              <a:t>TRD 1000015 FROM 2026-09-01 TO 2026-09-30</a:t>
            </a:r>
          </a:p>
          <a:p>
            <a:pPr algn="l">
              <a:spcAft>
                <a:spcPts val="200"/>
              </a:spcAft>
            </a:pPr>
            <a:r>
              <a:rPr sz="1150" b="0" i="0">
                <a:solidFill>
                  <a:srgbClr val="F1EEE9"/>
                </a:solidFill>
                <a:latin typeface="Courier New"/>
              </a:rPr>
              <a:t>trade 1000015 last month</a:t>
            </a:r>
          </a:p>
        </p:txBody>
      </p:sp>
      <p:sp>
        <p:nvSpPr>
          <p:cNvPr id="32" name="Rectangle 31"/>
          <p:cNvSpPr/>
          <p:nvPr/>
        </p:nvSpPr>
        <p:spPr>
          <a:xfrm>
            <a:off x="7452360" y="3364992"/>
            <a:ext cx="1258824" cy="102412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7543800" y="3401568"/>
            <a:ext cx="1121664" cy="384048"/>
          </a:xfrm>
          <a:prstGeom prst="rect">
            <a:avLst/>
          </a:prstGeom>
          <a:noFill/>
        </p:spPr>
        <p:txBody>
          <a:bodyPr wrap="square" lIns="0" rIns="0" tIns="0" bIns="0" anchor="ctr">
            <a:spAutoFit/>
          </a:bodyPr>
          <a:lstStyle/>
          <a:p>
            <a:pPr algn="l"/>
            <a:r>
              <a:rPr sz="1900" b="1" i="0">
                <a:solidFill>
                  <a:srgbClr val="8A1626"/>
                </a:solidFill>
              </a:rPr>
              <a:t>13 ms</a:t>
            </a:r>
          </a:p>
        </p:txBody>
      </p:sp>
      <p:sp>
        <p:nvSpPr>
          <p:cNvPr id="34" name="TextBox 33"/>
          <p:cNvSpPr txBox="1"/>
          <p:nvPr/>
        </p:nvSpPr>
        <p:spPr>
          <a:xfrm>
            <a:off x="7543800" y="3785615"/>
            <a:ext cx="1121664" cy="585216"/>
          </a:xfrm>
          <a:prstGeom prst="rect">
            <a:avLst/>
          </a:prstGeom>
          <a:noFill/>
        </p:spPr>
        <p:txBody>
          <a:bodyPr wrap="square" lIns="0" rIns="0" tIns="0" bIns="0" anchor="t">
            <a:spAutoFit/>
          </a:bodyPr>
          <a:lstStyle/>
          <a:p>
            <a:pPr algn="l"/>
            <a:r>
              <a:rPr sz="1100" b="0" i="0">
                <a:solidFill>
                  <a:srgbClr val="4A5058"/>
                </a:solidFill>
              </a:rPr>
              <a:t>30 days of one trade among 10,000, cold</a:t>
            </a:r>
          </a:p>
        </p:txBody>
      </p:sp>
      <p:sp>
        <p:nvSpPr>
          <p:cNvPr id="35" name="Rectangle 34"/>
          <p:cNvSpPr/>
          <p:nvPr/>
        </p:nvSpPr>
        <p:spPr>
          <a:xfrm>
            <a:off x="8802624" y="3364992"/>
            <a:ext cx="1258824" cy="102412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8894064" y="3401568"/>
            <a:ext cx="1121664" cy="384048"/>
          </a:xfrm>
          <a:prstGeom prst="rect">
            <a:avLst/>
          </a:prstGeom>
          <a:noFill/>
        </p:spPr>
        <p:txBody>
          <a:bodyPr wrap="square" lIns="0" rIns="0" tIns="0" bIns="0" anchor="ctr">
            <a:spAutoFit/>
          </a:bodyPr>
          <a:lstStyle/>
          <a:p>
            <a:pPr algn="l"/>
            <a:r>
              <a:rPr sz="1900" b="1" i="0">
                <a:solidFill>
                  <a:srgbClr val="8A1626"/>
                </a:solidFill>
              </a:rPr>
              <a:t>&lt; 1 ms</a:t>
            </a:r>
          </a:p>
        </p:txBody>
      </p:sp>
      <p:sp>
        <p:nvSpPr>
          <p:cNvPr id="37" name="TextBox 36"/>
          <p:cNvSpPr txBox="1"/>
          <p:nvPr/>
        </p:nvSpPr>
        <p:spPr>
          <a:xfrm>
            <a:off x="8894064" y="3785615"/>
            <a:ext cx="1121664" cy="585216"/>
          </a:xfrm>
          <a:prstGeom prst="rect">
            <a:avLst/>
          </a:prstGeom>
          <a:noFill/>
        </p:spPr>
        <p:txBody>
          <a:bodyPr wrap="square" lIns="0" rIns="0" tIns="0" bIns="0" anchor="t">
            <a:spAutoFit/>
          </a:bodyPr>
          <a:lstStyle/>
          <a:p>
            <a:pPr algn="l"/>
            <a:r>
              <a:rPr sz="1100" b="0" i="0">
                <a:solidFill>
                  <a:srgbClr val="4A5058"/>
                </a:solidFill>
              </a:rPr>
              <a:t>the same, warm</a:t>
            </a:r>
          </a:p>
        </p:txBody>
      </p:sp>
      <p:sp>
        <p:nvSpPr>
          <p:cNvPr id="38" name="Rectangle 37"/>
          <p:cNvSpPr/>
          <p:nvPr/>
        </p:nvSpPr>
        <p:spPr>
          <a:xfrm>
            <a:off x="10152888" y="3364992"/>
            <a:ext cx="1258824" cy="102412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xtBox 38"/>
          <p:cNvSpPr txBox="1"/>
          <p:nvPr/>
        </p:nvSpPr>
        <p:spPr>
          <a:xfrm>
            <a:off x="10244328" y="3401568"/>
            <a:ext cx="1121664" cy="384048"/>
          </a:xfrm>
          <a:prstGeom prst="rect">
            <a:avLst/>
          </a:prstGeom>
          <a:noFill/>
        </p:spPr>
        <p:txBody>
          <a:bodyPr wrap="square" lIns="0" rIns="0" tIns="0" bIns="0" anchor="ctr">
            <a:spAutoFit/>
          </a:bodyPr>
          <a:lstStyle/>
          <a:p>
            <a:pPr algn="l"/>
            <a:r>
              <a:rPr sz="1900" b="1" i="0">
                <a:solidFill>
                  <a:srgbClr val="8A1626"/>
                </a:solidFill>
              </a:rPr>
              <a:t>0.3 ms</a:t>
            </a:r>
          </a:p>
        </p:txBody>
      </p:sp>
      <p:sp>
        <p:nvSpPr>
          <p:cNvPr id="40" name="TextBox 39"/>
          <p:cNvSpPr txBox="1"/>
          <p:nvPr/>
        </p:nvSpPr>
        <p:spPr>
          <a:xfrm>
            <a:off x="10244328" y="3785615"/>
            <a:ext cx="1121664" cy="585216"/>
          </a:xfrm>
          <a:prstGeom prst="rect">
            <a:avLst/>
          </a:prstGeom>
          <a:noFill/>
        </p:spPr>
        <p:txBody>
          <a:bodyPr wrap="square" lIns="0" rIns="0" tIns="0" bIns="0" anchor="t">
            <a:spAutoFit/>
          </a:bodyPr>
          <a:lstStyle/>
          <a:p>
            <a:pPr algn="l"/>
            <a:r>
              <a:rPr sz="1100" b="0" i="0">
                <a:solidFill>
                  <a:srgbClr val="4A5058"/>
                </a:solidFill>
              </a:rPr>
              <a:t>from the history cache</a:t>
            </a:r>
          </a:p>
        </p:txBody>
      </p:sp>
      <p:sp>
        <p:nvSpPr>
          <p:cNvPr id="41" name="TextBox 40"/>
          <p:cNvSpPr txBox="1"/>
          <p:nvPr/>
        </p:nvSpPr>
        <p:spPr>
          <a:xfrm>
            <a:off x="7452360" y="4526280"/>
            <a:ext cx="3959352" cy="914400"/>
          </a:xfrm>
          <a:prstGeom prst="rect">
            <a:avLst/>
          </a:prstGeom>
          <a:noFill/>
        </p:spPr>
        <p:txBody>
          <a:bodyPr wrap="square" lIns="0" rIns="0" tIns="0" bIns="0" anchor="t">
            <a:spAutoFit/>
          </a:bodyPr>
          <a:lstStyle/>
          <a:p>
            <a:pPr algn="l"/>
            <a:r>
              <a:rPr sz="1200" b="1" i="0">
                <a:solidFill>
                  <a:srgbClr val="8A1626"/>
                </a:solidFill>
              </a:rPr>
              <a:t>Generic: </a:t>
            </a:r>
            <a:r>
              <a:rPr sz="1200" b="0" i="0">
                <a:solidFill>
                  <a:srgbClr val="1A1A1A"/>
                </a:solidFill>
              </a:rPr>
              <a:t>any kind with dated data, no code per kind; fast paths on Delta, Iceberg, Redis, PostgreSQL, DuckDB, MongoDB, Aerospike and Cassandra; masks hold on every day's row.</a:t>
            </a:r>
          </a:p>
        </p:txBody>
      </p:sp>
      <p:sp>
        <p:nvSpPr>
          <p:cNvPr id="42" name="Rectangle 41"/>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Rectangle 42"/>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xtBox 43"/>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Across a cluster, a node reads an entity's days from the peer that holds them in one call, masked on both.</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BI RUNS AND CHART ANY TABLE · 2.6.7</a:t>
            </a:r>
          </a:p>
        </p:txBody>
      </p:sp>
      <p:sp>
        <p:nvSpPr>
          <p:cNvPr id="3" name="Title 2"/>
          <p:cNvSpPr>
            <a:spLocks noGrp="1"/>
          </p:cNvSpPr>
          <p:nvPr>
            <p:ph type="title" idx="104"/>
          </p:nvPr>
        </p:nvSpPr>
        <p:spPr/>
        <p:txBody>
          <a:bodyPr lIns="0" rIns="0" tIns="0" bIns="0" anchor="t"/>
          <a:lstStyle/>
          <a:p>
            <a:r>
              <a:t>Every heavy question is sized before it runs, then becomes a visible run</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Rectangle 25"/>
          <p:cNvSpPr/>
          <p:nvPr/>
        </p:nvSpPr>
        <p:spPr>
          <a:xfrm>
            <a:off x="777240" y="1481328"/>
            <a:ext cx="1920240" cy="114300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886968" y="1536192"/>
            <a:ext cx="1737360" cy="1051560"/>
          </a:xfrm>
          <a:prstGeom prst="rect">
            <a:avLst/>
          </a:prstGeom>
          <a:noFill/>
        </p:spPr>
        <p:txBody>
          <a:bodyPr wrap="square" lIns="0" rIns="0" tIns="0" bIns="0" anchor="t">
            <a:spAutoFit/>
          </a:bodyPr>
          <a:lstStyle/>
          <a:p>
            <a:pPr algn="l">
              <a:spcAft>
                <a:spcPts val="200"/>
              </a:spcAft>
            </a:pPr>
            <a:r>
              <a:rPr sz="1300" b="1" i="0">
                <a:solidFill>
                  <a:srgbClr val="8A1626"/>
                </a:solidFill>
              </a:rPr>
              <a:t>A question</a:t>
            </a:r>
          </a:p>
          <a:p>
            <a:pPr algn="l"/>
            <a:r>
              <a:rPr sz="1100" b="0" i="0">
                <a:solidFill>
                  <a:srgbClr val="4A5058"/>
                </a:solidFill>
              </a:rPr>
              <a:t>visual, MQ, SQL or statement; Prefer: respond-async</a:t>
            </a:r>
          </a:p>
        </p:txBody>
      </p:sp>
      <p:cxnSp>
        <p:nvCxnSpPr>
          <p:cNvPr id="28" name="Connector 27"/>
          <p:cNvCxnSpPr/>
          <p:nvPr/>
        </p:nvCxnSpPr>
        <p:spPr>
          <a:xfrm>
            <a:off x="2697480" y="2057400"/>
            <a:ext cx="365760" cy="0"/>
          </a:xfrm>
          <a:prstGeom prst="line">
            <a:avLst/>
          </a:prstGeom>
          <a:ln w="2222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3063240" y="1481328"/>
            <a:ext cx="2286000" cy="1143000"/>
          </a:xfrm>
          <a:prstGeom prst="rect">
            <a:avLst/>
          </a:prstGeom>
          <a:solidFill>
            <a:srgbClr val="F6E6E9"/>
          </a:solid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3172968" y="1536192"/>
            <a:ext cx="2103120" cy="1051560"/>
          </a:xfrm>
          <a:prstGeom prst="rect">
            <a:avLst/>
          </a:prstGeom>
          <a:noFill/>
        </p:spPr>
        <p:txBody>
          <a:bodyPr wrap="square" lIns="0" rIns="0" tIns="0" bIns="0" anchor="t">
            <a:spAutoFit/>
          </a:bodyPr>
          <a:lstStyle/>
          <a:p>
            <a:pPr algn="l">
              <a:spcAft>
                <a:spcPts val="200"/>
              </a:spcAft>
            </a:pPr>
            <a:r>
              <a:rPr sz="1300" b="1" i="0">
                <a:solidFill>
                  <a:srgbClr val="8A1626"/>
                </a:solidFill>
              </a:rPr>
              <a:t>The planner</a:t>
            </a:r>
          </a:p>
          <a:p>
            <a:pPr algn="l"/>
            <a:r>
              <a:rPr sz="1100" b="0" i="0">
                <a:solidFill>
                  <a:srgbClr val="1A1A1A"/>
                </a:solidFill>
              </a:rPr>
              <a:t>sizes it from metadata only: Delta row counts, Iceberg manifests, built layers</a:t>
            </a:r>
          </a:p>
        </p:txBody>
      </p:sp>
      <p:cxnSp>
        <p:nvCxnSpPr>
          <p:cNvPr id="31" name="Connector 30"/>
          <p:cNvCxnSpPr/>
          <p:nvPr/>
        </p:nvCxnSpPr>
        <p:spPr>
          <a:xfrm flipV="1">
            <a:off x="5349240" y="1746504"/>
            <a:ext cx="347472" cy="310896"/>
          </a:xfrm>
          <a:prstGeom prst="line">
            <a:avLst/>
          </a:prstGeom>
          <a:ln w="1587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5696712" y="1481328"/>
            <a:ext cx="2148840" cy="530352"/>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5788152" y="1499616"/>
            <a:ext cx="2011680" cy="493775"/>
          </a:xfrm>
          <a:prstGeom prst="rect">
            <a:avLst/>
          </a:prstGeom>
          <a:noFill/>
        </p:spPr>
        <p:txBody>
          <a:bodyPr wrap="square" lIns="0" rIns="0" tIns="0" bIns="0" anchor="ctr">
            <a:spAutoFit/>
          </a:bodyPr>
          <a:lstStyle/>
          <a:p>
            <a:pPr algn="l"/>
            <a:r>
              <a:rPr sz="1200" b="1" i="0">
                <a:solidFill>
                  <a:srgbClr val="A51C30"/>
                </a:solidFill>
              </a:rPr>
              <a:t>Cheap  </a:t>
            </a:r>
            <a:r>
              <a:rPr sz="1050" b="0" i="0">
                <a:solidFill>
                  <a:srgbClr val="1A1A1A"/>
                </a:solidFill>
              </a:rPr>
              <a:t>answered at once, as before</a:t>
            </a:r>
          </a:p>
        </p:txBody>
      </p:sp>
      <p:cxnSp>
        <p:nvCxnSpPr>
          <p:cNvPr id="34" name="Connector 33"/>
          <p:cNvCxnSpPr/>
          <p:nvPr/>
        </p:nvCxnSpPr>
        <p:spPr>
          <a:xfrm>
            <a:off x="5349240" y="2057400"/>
            <a:ext cx="347472" cy="292608"/>
          </a:xfrm>
          <a:prstGeom prst="line">
            <a:avLst/>
          </a:prstGeom>
          <a:ln w="1587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696712" y="2084832"/>
            <a:ext cx="2148840" cy="530352"/>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5788152" y="2103120"/>
            <a:ext cx="2011680" cy="493775"/>
          </a:xfrm>
          <a:prstGeom prst="rect">
            <a:avLst/>
          </a:prstGeom>
          <a:noFill/>
        </p:spPr>
        <p:txBody>
          <a:bodyPr wrap="square" lIns="0" rIns="0" tIns="0" bIns="0" anchor="ctr">
            <a:spAutoFit/>
          </a:bodyPr>
          <a:lstStyle/>
          <a:p>
            <a:pPr algn="l"/>
            <a:r>
              <a:rPr sz="1200" b="1" i="0">
                <a:solidFill>
                  <a:srgbClr val="A51C30"/>
                </a:solidFill>
              </a:rPr>
              <a:t>Heavy  </a:t>
            </a:r>
            <a:r>
              <a:rPr sz="1050" b="0" i="0">
                <a:solidFill>
                  <a:srgbClr val="1A1A1A"/>
                </a:solidFill>
              </a:rPr>
              <a:t>a run: Runs tab, bell when it ends, share, export, schedule</a:t>
            </a:r>
          </a:p>
        </p:txBody>
      </p:sp>
      <p:cxnSp>
        <p:nvCxnSpPr>
          <p:cNvPr id="37" name="Connector 36"/>
          <p:cNvCxnSpPr/>
          <p:nvPr/>
        </p:nvCxnSpPr>
        <p:spPr>
          <a:xfrm>
            <a:off x="5349240" y="2057400"/>
            <a:ext cx="347472" cy="896112"/>
          </a:xfrm>
          <a:prstGeom prst="line">
            <a:avLst/>
          </a:prstGeom>
          <a:ln w="1587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5696712" y="2688336"/>
            <a:ext cx="2148840" cy="530352"/>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xtBox 38"/>
          <p:cNvSpPr txBox="1"/>
          <p:nvPr/>
        </p:nvSpPr>
        <p:spPr>
          <a:xfrm>
            <a:off x="5788152" y="2706624"/>
            <a:ext cx="2011680" cy="493775"/>
          </a:xfrm>
          <a:prstGeom prst="rect">
            <a:avLst/>
          </a:prstGeom>
          <a:noFill/>
        </p:spPr>
        <p:txBody>
          <a:bodyPr wrap="square" lIns="0" rIns="0" tIns="0" bIns="0" anchor="ctr">
            <a:spAutoFit/>
          </a:bodyPr>
          <a:lstStyle/>
          <a:p>
            <a:pPr algn="l"/>
            <a:r>
              <a:rPr sz="1200" b="1" i="0">
                <a:solidFill>
                  <a:srgbClr val="A51C30"/>
                </a:solidFill>
              </a:rPr>
              <a:t>Very heavy  </a:t>
            </a:r>
            <a:r>
              <a:rPr sz="1050" b="0" i="0">
                <a:solidFill>
                  <a:srgbClr val="1A1A1A"/>
                </a:solidFill>
              </a:rPr>
              <a:t>asks to confirm first</a:t>
            </a:r>
          </a:p>
        </p:txBody>
      </p:sp>
      <p:cxnSp>
        <p:nvCxnSpPr>
          <p:cNvPr id="40" name="Connector 39"/>
          <p:cNvCxnSpPr/>
          <p:nvPr/>
        </p:nvCxnSpPr>
        <p:spPr>
          <a:xfrm>
            <a:off x="5349240" y="2057400"/>
            <a:ext cx="347472" cy="1499615"/>
          </a:xfrm>
          <a:prstGeom prst="line">
            <a:avLst/>
          </a:prstGeom>
          <a:ln w="1587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5696712" y="3291839"/>
            <a:ext cx="2148840" cy="530352"/>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xtBox 41"/>
          <p:cNvSpPr txBox="1"/>
          <p:nvPr/>
        </p:nvSpPr>
        <p:spPr>
          <a:xfrm>
            <a:off x="5788152" y="3310127"/>
            <a:ext cx="2011680" cy="493775"/>
          </a:xfrm>
          <a:prstGeom prst="rect">
            <a:avLst/>
          </a:prstGeom>
          <a:noFill/>
        </p:spPr>
        <p:txBody>
          <a:bodyPr wrap="square" lIns="0" rIns="0" tIns="0" bIns="0" anchor="ctr">
            <a:spAutoFit/>
          </a:bodyPr>
          <a:lstStyle/>
          <a:p>
            <a:pPr algn="l"/>
            <a:r>
              <a:rPr sz="1200" b="1" i="0">
                <a:solidFill>
                  <a:srgbClr val="A51C30"/>
                </a:solidFill>
              </a:rPr>
              <a:t>Impossible  </a:t>
            </a:r>
            <a:r>
              <a:rPr sz="1050" b="0" i="0">
                <a:solidFill>
                  <a:srgbClr val="1A1A1A"/>
                </a:solidFill>
              </a:rPr>
              <a:t>refused before anything runs (DRS-9029)</a:t>
            </a:r>
          </a:p>
        </p:txBody>
      </p:sp>
      <p:sp>
        <p:nvSpPr>
          <p:cNvPr id="43" name="TextBox 42"/>
          <p:cNvSpPr txBox="1"/>
          <p:nvPr/>
        </p:nvSpPr>
        <p:spPr>
          <a:xfrm>
            <a:off x="777240" y="3977639"/>
            <a:ext cx="7040880" cy="1554480"/>
          </a:xfrm>
          <a:prstGeom prst="rect">
            <a:avLst/>
          </a:prstGeom>
          <a:noFill/>
        </p:spPr>
        <p:txBody>
          <a:bodyPr wrap="square" lIns="0" rIns="0" tIns="0" bIns="0" anchor="t">
            <a:spAutoFit/>
          </a:bodyPr>
          <a:lstStyle/>
          <a:p>
            <a:pPr marL="164592" indent="-164592">
              <a:spcAft>
                <a:spcPts val="100"/>
              </a:spcAft>
              <a:buClr>
                <a:srgbClr val="A51C30"/>
              </a:buClr>
              <a:buSzPct val="100000"/>
              <a:buFont typeface="Arial"/>
              <a:buChar char="▪"/>
            </a:pPr>
            <a:r>
              <a:rPr sz="1300" b="1" i="0">
                <a:solidFill>
                  <a:srgbClr val="8A1626"/>
                </a:solidFill>
              </a:rPr>
              <a:t>Fewer duplicate runs</a:t>
            </a:r>
          </a:p>
          <a:p>
            <a:pPr marL="164592" indent="0">
              <a:spcAft>
                <a:spcPts val="400"/>
              </a:spcAft>
            </a:pPr>
            <a:r>
              <a:rPr sz="1150" b="0" i="0">
                <a:solidFill>
                  <a:srgbClr val="1A1A1A"/>
                </a:solidFill>
              </a:rPr>
              <a:t>An identical question joins the run already going; a finished answer is reused while the data is unchanged.</a:t>
            </a:r>
          </a:p>
          <a:p>
            <a:pPr marL="164592" indent="-164592">
              <a:spcAft>
                <a:spcPts val="100"/>
              </a:spcAft>
              <a:buClr>
                <a:srgbClr val="A51C30"/>
              </a:buClr>
              <a:buSzPct val="100000"/>
              <a:buFont typeface="Arial"/>
              <a:buChar char="▪"/>
            </a:pPr>
            <a:r>
              <a:rPr sz="1300" b="1" i="0">
                <a:solidFill>
                  <a:srgbClr val="8A1626"/>
                </a:solidFill>
              </a:rPr>
              <a:t>Masks hold</a:t>
            </a:r>
          </a:p>
          <a:p>
            <a:pPr marL="164592" indent="0">
              <a:spcAft>
                <a:spcPts val="400"/>
              </a:spcAft>
            </a:pPr>
            <a:r>
              <a:rPr sz="1150" b="0" i="0">
                <a:solidFill>
                  <a:srgbClr val="1A1A1A"/>
                </a:solidFill>
              </a:rPr>
              <a:t>A run computes as its runner; a shared run is the same, re-masked or recomputed as the recipient, decided at every read.</a:t>
            </a:r>
          </a:p>
        </p:txBody>
      </p:sp>
      <p:pic>
        <p:nvPicPr>
          <p:cNvPr id="44" name="Chart any table" descr="donut-terminal.png"/>
          <p:cNvPicPr>
            <a:picLocks noChangeAspect="1"/>
          </p:cNvPicPr>
          <p:nvPr/>
        </p:nvPicPr>
        <p:blipFill>
          <a:blip r:embed="rId2"/>
          <a:stretch>
            <a:fillRect/>
          </a:stretch>
        </p:blipFill>
        <p:spPr>
          <a:xfrm>
            <a:off x="8092440" y="1492395"/>
            <a:ext cx="3319272" cy="1852384"/>
          </a:xfrm>
          <a:prstGeom prst="rect">
            <a:avLst/>
          </a:prstGeom>
          <a:ln w="9525">
            <a:solidFill>
              <a:srgbClr val="CFC8BE"/>
            </a:solidFill>
          </a:ln>
        </p:spPr>
      </p:pic>
      <p:sp>
        <p:nvSpPr>
          <p:cNvPr id="45" name="TextBox 44"/>
          <p:cNvSpPr txBox="1"/>
          <p:nvPr/>
        </p:nvSpPr>
        <p:spPr>
          <a:xfrm>
            <a:off x="8092440" y="3429000"/>
            <a:ext cx="3319272" cy="2103120"/>
          </a:xfrm>
          <a:prstGeom prst="rect">
            <a:avLst/>
          </a:prstGeom>
          <a:noFill/>
        </p:spPr>
        <p:txBody>
          <a:bodyPr wrap="square" lIns="0" rIns="0" tIns="0" bIns="0" anchor="t">
            <a:spAutoFit/>
          </a:bodyPr>
          <a:lstStyle/>
          <a:p>
            <a:pPr algn="l">
              <a:spcAft>
                <a:spcPts val="200"/>
              </a:spcAft>
            </a:pPr>
            <a:r>
              <a:rPr sz="1300" b="1" i="0">
                <a:solidFill>
                  <a:srgbClr val="8A1626"/>
                </a:solidFill>
              </a:rPr>
              <a:t>Chart any table</a:t>
            </a:r>
          </a:p>
          <a:p>
            <a:pPr algn="l">
              <a:spcAft>
                <a:spcPts val="600"/>
              </a:spcAft>
            </a:pPr>
            <a:r>
              <a:rPr sz="1150" b="0" i="0">
                <a:solidFill>
                  <a:srgbClr val="1A1A1A"/>
                </a:solidFill>
              </a:rPr>
              <a:t>K on view tables, searches, pick lists, admin lists, history and BI tables: six types, Top N, stacking, two axes; PNG, SVG, CSV, Excel. Masked columns are never plotted.</a:t>
            </a:r>
          </a:p>
          <a:p>
            <a:pPr algn="l"/>
            <a:r>
              <a:rPr sz="1300" b="1" i="0">
                <a:solidFill>
                  <a:srgbClr val="A51C30"/>
                </a:solidFill>
              </a:rPr>
              <a:t>0 </a:t>
            </a:r>
            <a:r>
              <a:rPr sz="1150" b="0" i="0">
                <a:solidFill>
                  <a:srgbClr val="1A1A1A"/>
                </a:solidFill>
              </a:rPr>
              <a:t>connector reads to size a question (RunPlannerTest)</a:t>
            </a:r>
          </a:p>
        </p:txBody>
      </p:sp>
      <p:sp>
        <p:nvSpPr>
          <p:cNvPr id="46" name="Rectangle 45"/>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Rectangle 46"/>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xtBox 47"/>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Refusing a year of raw trades costs a log read, not a year of builds — and an interactive slot is never held.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DELTA AND ICEBERG SIDE BY SIDE · 2.6.0 AND 2.6.7</a:t>
            </a:r>
          </a:p>
        </p:txBody>
      </p:sp>
      <p:sp>
        <p:nvSpPr>
          <p:cNvPr id="3" name="Title 2"/>
          <p:cNvSpPr>
            <a:spLocks noGrp="1"/>
          </p:cNvSpPr>
          <p:nvPr>
            <p:ph type="title" idx="104"/>
          </p:nvPr>
        </p:nvSpPr>
        <p:spPr/>
        <p:txBody>
          <a:bodyPr lIns="0" rIns="0" tIns="0" bIns="0" anchor="t"/>
          <a:lstStyle/>
          <a:p>
            <a:r>
              <a:t>Each system's trades in Delta or Iceberg — the same answers</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Rectangle 25"/>
          <p:cNvSpPr/>
          <p:nvPr/>
        </p:nvSpPr>
        <p:spPr>
          <a:xfrm>
            <a:off x="777240" y="1463040"/>
            <a:ext cx="5120640" cy="1051560"/>
          </a:xfrm>
          <a:prstGeom prst="rect">
            <a:avLst/>
          </a:prstGeom>
          <a:solidFill>
            <a:srgbClr val="1E1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ectangle 26"/>
          <p:cNvSpPr/>
          <p:nvPr/>
        </p:nvSpPr>
        <p:spPr>
          <a:xfrm>
            <a:off x="777240" y="1463040"/>
            <a:ext cx="5120640" cy="329184"/>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914400" y="1463040"/>
            <a:ext cx="4846320" cy="329184"/>
          </a:xfrm>
          <a:prstGeom prst="rect">
            <a:avLst/>
          </a:prstGeom>
          <a:noFill/>
        </p:spPr>
        <p:txBody>
          <a:bodyPr wrap="square" lIns="0" rIns="0" tIns="0" bIns="0" anchor="ctr">
            <a:spAutoFit/>
          </a:bodyPr>
          <a:lstStyle/>
          <a:p>
            <a:pPr algn="l"/>
            <a:r>
              <a:rPr sz="1150" b="1" i="0">
                <a:solidFill>
                  <a:srgbClr val="FFFFFF"/>
                </a:solidFill>
              </a:rPr>
              <a:t>One switch per source system</a:t>
            </a:r>
          </a:p>
        </p:txBody>
      </p:sp>
      <p:sp>
        <p:nvSpPr>
          <p:cNvPr id="29" name="TextBox 28"/>
          <p:cNvSpPr txBox="1"/>
          <p:nvPr/>
        </p:nvSpPr>
        <p:spPr>
          <a:xfrm>
            <a:off x="941832" y="1901952"/>
            <a:ext cx="4846320" cy="548639"/>
          </a:xfrm>
          <a:prstGeom prst="rect">
            <a:avLst/>
          </a:prstGeom>
          <a:noFill/>
        </p:spPr>
        <p:txBody>
          <a:bodyPr wrap="square" lIns="0" rIns="0" tIns="0" bIns="0" anchor="t">
            <a:spAutoFit/>
          </a:bodyPr>
          <a:lstStyle/>
          <a:p>
            <a:pPr algn="l">
              <a:spcAft>
                <a:spcPts val="200"/>
              </a:spcAft>
            </a:pPr>
            <a:r>
              <a:rPr sz="1100" b="0" i="0">
                <a:solidFill>
                  <a:srgbClr val="F1EEE9"/>
                </a:solidFill>
                <a:latin typeface="Courier New"/>
              </a:rPr>
              <a:t>build_demo_lakes.py --store endur=delta \</a:t>
            </a:r>
          </a:p>
          <a:p>
            <a:pPr algn="l">
              <a:spcAft>
                <a:spcPts val="200"/>
              </a:spcAft>
            </a:pPr>
            <a:r>
              <a:rPr sz="1100" b="0" i="0">
                <a:solidFill>
                  <a:srgbClr val="F1EEE9"/>
                </a:solidFill>
                <a:latin typeface="Courier New"/>
              </a:rPr>
              <a:t>    --store calypso=iceberg --store murex=iceberg</a:t>
            </a:r>
          </a:p>
        </p:txBody>
      </p:sp>
      <p:sp>
        <p:nvSpPr>
          <p:cNvPr id="30" name="Rectangle 29"/>
          <p:cNvSpPr/>
          <p:nvPr/>
        </p:nvSpPr>
        <p:spPr>
          <a:xfrm>
            <a:off x="777240" y="2743200"/>
            <a:ext cx="1325880" cy="54864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777240" y="2743200"/>
            <a:ext cx="1325880" cy="548640"/>
          </a:xfrm>
          <a:prstGeom prst="rect">
            <a:avLst/>
          </a:prstGeom>
          <a:noFill/>
        </p:spPr>
        <p:txBody>
          <a:bodyPr wrap="square" lIns="0" rIns="0" tIns="0" bIns="0" anchor="ctr">
            <a:spAutoFit/>
          </a:bodyPr>
          <a:lstStyle/>
          <a:p>
            <a:pPr algn="ctr"/>
            <a:r>
              <a:rPr sz="1200" b="1" i="0">
                <a:solidFill>
                  <a:srgbClr val="FFFFFF"/>
                </a:solidFill>
              </a:rPr>
              <a:t>ENDUR</a:t>
            </a:r>
          </a:p>
        </p:txBody>
      </p:sp>
      <p:cxnSp>
        <p:nvCxnSpPr>
          <p:cNvPr id="32" name="Connector 31"/>
          <p:cNvCxnSpPr/>
          <p:nvPr/>
        </p:nvCxnSpPr>
        <p:spPr>
          <a:xfrm>
            <a:off x="2103120" y="3017520"/>
            <a:ext cx="320040" cy="0"/>
          </a:xfrm>
          <a:prstGeom prst="line">
            <a:avLst/>
          </a:prstGeom>
          <a:ln w="1587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2423160" y="2743200"/>
            <a:ext cx="1600200" cy="54864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TextBox 33"/>
          <p:cNvSpPr txBox="1"/>
          <p:nvPr/>
        </p:nvSpPr>
        <p:spPr>
          <a:xfrm>
            <a:off x="2468880" y="2743200"/>
            <a:ext cx="1508760" cy="548640"/>
          </a:xfrm>
          <a:prstGeom prst="rect">
            <a:avLst/>
          </a:prstGeom>
          <a:noFill/>
        </p:spPr>
        <p:txBody>
          <a:bodyPr wrap="square" lIns="0" rIns="0" tIns="0" bIns="0" anchor="ctr">
            <a:spAutoFit/>
          </a:bodyPr>
          <a:lstStyle/>
          <a:p>
            <a:pPr algn="ctr"/>
            <a:r>
              <a:rPr sz="1150" b="1" i="0">
                <a:solidFill>
                  <a:srgbClr val="8A1626"/>
                </a:solidFill>
              </a:rPr>
              <a:t>Delta Lake</a:t>
            </a:r>
          </a:p>
          <a:p>
            <a:pPr algn="ctr"/>
            <a:r>
              <a:rPr sz="1000" b="0" i="0">
                <a:solidFill>
                  <a:srgbClr val="4A5058"/>
                </a:solidFill>
              </a:rPr>
              <a:t>delta connector</a:t>
            </a:r>
          </a:p>
        </p:txBody>
      </p:sp>
      <p:cxnSp>
        <p:nvCxnSpPr>
          <p:cNvPr id="35" name="Connector 34"/>
          <p:cNvCxnSpPr/>
          <p:nvPr/>
        </p:nvCxnSpPr>
        <p:spPr>
          <a:xfrm>
            <a:off x="4023359" y="3017520"/>
            <a:ext cx="365761" cy="713232"/>
          </a:xfrm>
          <a:prstGeom prst="line">
            <a:avLst/>
          </a:prstGeom>
          <a:ln w="12700">
            <a:solidFill>
              <a:srgbClr val="CFC8B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3456432"/>
            <a:ext cx="1325880" cy="54864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TextBox 36"/>
          <p:cNvSpPr txBox="1"/>
          <p:nvPr/>
        </p:nvSpPr>
        <p:spPr>
          <a:xfrm>
            <a:off x="777240" y="3456432"/>
            <a:ext cx="1325880" cy="548640"/>
          </a:xfrm>
          <a:prstGeom prst="rect">
            <a:avLst/>
          </a:prstGeom>
          <a:noFill/>
        </p:spPr>
        <p:txBody>
          <a:bodyPr wrap="square" lIns="0" rIns="0" tIns="0" bIns="0" anchor="ctr">
            <a:spAutoFit/>
          </a:bodyPr>
          <a:lstStyle/>
          <a:p>
            <a:pPr algn="ctr"/>
            <a:r>
              <a:rPr sz="1200" b="1" i="0">
                <a:solidFill>
                  <a:srgbClr val="FFFFFF"/>
                </a:solidFill>
              </a:rPr>
              <a:t>CALYPSO</a:t>
            </a:r>
          </a:p>
        </p:txBody>
      </p:sp>
      <p:cxnSp>
        <p:nvCxnSpPr>
          <p:cNvPr id="38" name="Connector 37"/>
          <p:cNvCxnSpPr/>
          <p:nvPr/>
        </p:nvCxnSpPr>
        <p:spPr>
          <a:xfrm>
            <a:off x="2103120" y="3730752"/>
            <a:ext cx="320040" cy="0"/>
          </a:xfrm>
          <a:prstGeom prst="line">
            <a:avLst/>
          </a:prstGeom>
          <a:ln w="1587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2423160" y="3456432"/>
            <a:ext cx="1600200" cy="548640"/>
          </a:xfrm>
          <a:prstGeom prst="rect">
            <a:avLst/>
          </a:prstGeom>
          <a:solidFill>
            <a:srgbClr val="FFFFFF"/>
          </a:solidFill>
          <a:ln w="952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TextBox 39"/>
          <p:cNvSpPr txBox="1"/>
          <p:nvPr/>
        </p:nvSpPr>
        <p:spPr>
          <a:xfrm>
            <a:off x="2468880" y="3456432"/>
            <a:ext cx="1508760" cy="548640"/>
          </a:xfrm>
          <a:prstGeom prst="rect">
            <a:avLst/>
          </a:prstGeom>
          <a:noFill/>
        </p:spPr>
        <p:txBody>
          <a:bodyPr wrap="square" lIns="0" rIns="0" tIns="0" bIns="0" anchor="ctr">
            <a:spAutoFit/>
          </a:bodyPr>
          <a:lstStyle/>
          <a:p>
            <a:pPr algn="ctr"/>
            <a:r>
              <a:rPr sz="1150" b="1" i="0">
                <a:solidFill>
                  <a:srgbClr val="8A1626"/>
                </a:solidFill>
              </a:rPr>
              <a:t>Apache Iceberg</a:t>
            </a:r>
          </a:p>
          <a:p>
            <a:pPr algn="ctr"/>
            <a:r>
              <a:rPr sz="1000" b="0" i="0">
                <a:solidFill>
                  <a:srgbClr val="4A5058"/>
                </a:solidFill>
              </a:rPr>
              <a:t>iceberg connector</a:t>
            </a:r>
          </a:p>
        </p:txBody>
      </p:sp>
      <p:cxnSp>
        <p:nvCxnSpPr>
          <p:cNvPr id="41" name="Connector 40"/>
          <p:cNvCxnSpPr/>
          <p:nvPr/>
        </p:nvCxnSpPr>
        <p:spPr>
          <a:xfrm>
            <a:off x="4023359" y="3730752"/>
            <a:ext cx="365761" cy="0"/>
          </a:xfrm>
          <a:prstGeom prst="line">
            <a:avLst/>
          </a:prstGeom>
          <a:ln w="12700">
            <a:solidFill>
              <a:srgbClr val="CFC8B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4169664"/>
            <a:ext cx="1325880" cy="54864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777240" y="4169664"/>
            <a:ext cx="1325880" cy="548640"/>
          </a:xfrm>
          <a:prstGeom prst="rect">
            <a:avLst/>
          </a:prstGeom>
          <a:noFill/>
        </p:spPr>
        <p:txBody>
          <a:bodyPr wrap="square" lIns="0" rIns="0" tIns="0" bIns="0" anchor="ctr">
            <a:spAutoFit/>
          </a:bodyPr>
          <a:lstStyle/>
          <a:p>
            <a:pPr algn="ctr"/>
            <a:r>
              <a:rPr sz="1200" b="1" i="0">
                <a:solidFill>
                  <a:srgbClr val="FFFFFF"/>
                </a:solidFill>
              </a:rPr>
              <a:t>MUREX</a:t>
            </a:r>
          </a:p>
        </p:txBody>
      </p:sp>
      <p:cxnSp>
        <p:nvCxnSpPr>
          <p:cNvPr id="44" name="Connector 43"/>
          <p:cNvCxnSpPr/>
          <p:nvPr/>
        </p:nvCxnSpPr>
        <p:spPr>
          <a:xfrm>
            <a:off x="2103120" y="4443984"/>
            <a:ext cx="320040" cy="0"/>
          </a:xfrm>
          <a:prstGeom prst="line">
            <a:avLst/>
          </a:prstGeom>
          <a:ln w="1587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2423160" y="4169664"/>
            <a:ext cx="1600200" cy="548640"/>
          </a:xfrm>
          <a:prstGeom prst="rect">
            <a:avLst/>
          </a:prstGeom>
          <a:solidFill>
            <a:srgbClr val="FFFFFF"/>
          </a:solidFill>
          <a:ln w="952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TextBox 45"/>
          <p:cNvSpPr txBox="1"/>
          <p:nvPr/>
        </p:nvSpPr>
        <p:spPr>
          <a:xfrm>
            <a:off x="2468880" y="4169664"/>
            <a:ext cx="1508760" cy="548640"/>
          </a:xfrm>
          <a:prstGeom prst="rect">
            <a:avLst/>
          </a:prstGeom>
          <a:noFill/>
        </p:spPr>
        <p:txBody>
          <a:bodyPr wrap="square" lIns="0" rIns="0" tIns="0" bIns="0" anchor="ctr">
            <a:spAutoFit/>
          </a:bodyPr>
          <a:lstStyle/>
          <a:p>
            <a:pPr algn="ctr"/>
            <a:r>
              <a:rPr sz="1150" b="1" i="0">
                <a:solidFill>
                  <a:srgbClr val="8A1626"/>
                </a:solidFill>
              </a:rPr>
              <a:t>Apache Iceberg</a:t>
            </a:r>
          </a:p>
          <a:p>
            <a:pPr algn="ctr"/>
            <a:r>
              <a:rPr sz="1000" b="0" i="0">
                <a:solidFill>
                  <a:srgbClr val="4A5058"/>
                </a:solidFill>
              </a:rPr>
              <a:t>iceberg connector</a:t>
            </a:r>
          </a:p>
        </p:txBody>
      </p:sp>
      <p:cxnSp>
        <p:nvCxnSpPr>
          <p:cNvPr id="47" name="Connector 46"/>
          <p:cNvCxnSpPr/>
          <p:nvPr/>
        </p:nvCxnSpPr>
        <p:spPr>
          <a:xfrm flipV="1">
            <a:off x="4023359" y="3730752"/>
            <a:ext cx="365761" cy="713232"/>
          </a:xfrm>
          <a:prstGeom prst="line">
            <a:avLst/>
          </a:prstGeom>
          <a:ln w="12700">
            <a:solidFill>
              <a:srgbClr val="CFC8B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4389120" y="2743200"/>
            <a:ext cx="1508760" cy="1975104"/>
          </a:xfrm>
          <a:prstGeom prst="rect">
            <a:avLst/>
          </a:prstGeom>
          <a:solidFill>
            <a:srgbClr val="F6E6E9"/>
          </a:solidFill>
          <a:ln w="952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4462272" y="2798064"/>
            <a:ext cx="1371600" cy="1874519"/>
          </a:xfrm>
          <a:prstGeom prst="rect">
            <a:avLst/>
          </a:prstGeom>
          <a:noFill/>
        </p:spPr>
        <p:txBody>
          <a:bodyPr wrap="square" lIns="0" rIns="0" tIns="0" bIns="0" anchor="t">
            <a:spAutoFit/>
          </a:bodyPr>
          <a:lstStyle/>
          <a:p>
            <a:pPr algn="l">
              <a:spcAft>
                <a:spcPts val="200"/>
              </a:spcAft>
            </a:pPr>
            <a:r>
              <a:rPr sz="1300" b="1" i="0">
                <a:solidFill>
                  <a:srgbClr val="8A1626"/>
                </a:solidFill>
              </a:rPr>
              <a:t>Same</a:t>
            </a:r>
          </a:p>
          <a:p>
            <a:pPr algn="l"/>
            <a:r>
              <a:rPr sz="1100" b="0" i="0">
                <a:solidFill>
                  <a:srgbClr val="1A1A1A"/>
                </a:solidFill>
              </a:rPr>
              <a:t>pages, histories, searches and BI answers; an equality test compares both</a:t>
            </a:r>
          </a:p>
        </p:txBody>
      </p:sp>
      <p:sp>
        <p:nvSpPr>
          <p:cNvPr id="50" name="TextBox 49"/>
          <p:cNvSpPr txBox="1"/>
          <p:nvPr/>
        </p:nvSpPr>
        <p:spPr>
          <a:xfrm>
            <a:off x="777240" y="4956048"/>
            <a:ext cx="5120640" cy="548640"/>
          </a:xfrm>
          <a:prstGeom prst="rect">
            <a:avLst/>
          </a:prstGeom>
          <a:noFill/>
        </p:spPr>
        <p:txBody>
          <a:bodyPr wrap="square" lIns="0" rIns="0" tIns="0" bIns="0" anchor="t">
            <a:spAutoFit/>
          </a:bodyPr>
          <a:lstStyle/>
          <a:p>
            <a:pPr algn="l"/>
            <a:r>
              <a:rPr sz="1150" b="0" i="0">
                <a:solidFill>
                  <a:srgbClr val="4A5058"/>
                </a:solidFill>
              </a:rPr>
              <a:t>Since 2.6.0 the iceberg-external connector also reads tables Drishti did not write: Spark, Flink, Trino, Snowflake, Glue.</a:t>
            </a:r>
          </a:p>
        </p:txBody>
      </p:sp>
      <p:sp>
        <p:nvSpPr>
          <p:cNvPr id="51" name="TextBox 50"/>
          <p:cNvSpPr txBox="1"/>
          <p:nvPr/>
        </p:nvSpPr>
        <p:spPr>
          <a:xfrm>
            <a:off x="6263640" y="1463040"/>
            <a:ext cx="5148072" cy="502920"/>
          </a:xfrm>
          <a:prstGeom prst="rect">
            <a:avLst/>
          </a:prstGeom>
          <a:noFill/>
        </p:spPr>
        <p:txBody>
          <a:bodyPr wrap="square" lIns="0" rIns="0" tIns="0" bIns="0" anchor="t">
            <a:spAutoFit/>
          </a:bodyPr>
          <a:lstStyle/>
          <a:p>
            <a:pPr algn="l"/>
            <a:r>
              <a:rPr sz="1350" b="1" i="0">
                <a:solidFill>
                  <a:srgbClr val="8A1626"/>
                </a:solidFill>
              </a:rPr>
              <a:t>drishti-iceberg: Iceberg without Hadoop</a:t>
            </a:r>
          </a:p>
          <a:p>
            <a:pPr algn="l"/>
            <a:r>
              <a:rPr sz="1150" b="0" i="0">
                <a:solidFill>
                  <a:srgbClr val="4A5058"/>
                </a:solidFill>
              </a:rPr>
              <a:t>Drishti's own engine, the default since 2.6.0 — so Iceberg runs on Windows</a:t>
            </a:r>
          </a:p>
        </p:txBody>
      </p:sp>
      <p:graphicFrame>
        <p:nvGraphicFramePr>
          <p:cNvPr id="52" name="Iceberg engine chart"/>
          <p:cNvGraphicFramePr>
            <a:graphicFrameLocks noGrp="1"/>
          </p:cNvGraphicFramePr>
          <p:nvPr/>
        </p:nvGraphicFramePr>
        <p:xfrm>
          <a:off x="6263640" y="2057400"/>
          <a:ext cx="5148072" cy="2377440"/>
        </p:xfrm>
        <a:graphic>
          <a:graphicData uri="http://schemas.openxmlformats.org/drawingml/2006/chart">
            <c:chart xmlns:c="http://schemas.openxmlformats.org/drawingml/2006/chart" r:id="rId2"/>
          </a:graphicData>
        </a:graphic>
      </p:graphicFrame>
      <p:sp>
        <p:nvSpPr>
          <p:cNvPr id="53" name="Rectangle 52"/>
          <p:cNvSpPr/>
          <p:nvPr/>
        </p:nvSpPr>
        <p:spPr>
          <a:xfrm>
            <a:off x="6263640" y="4572000"/>
            <a:ext cx="2505456" cy="9144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Rectangle 53"/>
          <p:cNvSpPr/>
          <p:nvPr/>
        </p:nvSpPr>
        <p:spPr>
          <a:xfrm>
            <a:off x="6263640" y="4572000"/>
            <a:ext cx="45720" cy="9144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TextBox 54"/>
          <p:cNvSpPr txBox="1"/>
          <p:nvPr/>
        </p:nvSpPr>
        <p:spPr>
          <a:xfrm>
            <a:off x="6446520" y="4663440"/>
            <a:ext cx="2231136" cy="457200"/>
          </a:xfrm>
          <a:prstGeom prst="rect">
            <a:avLst/>
          </a:prstGeom>
          <a:noFill/>
        </p:spPr>
        <p:txBody>
          <a:bodyPr wrap="square" lIns="0" rIns="0" tIns="0" bIns="0" anchor="ctr">
            <a:spAutoFit/>
          </a:bodyPr>
          <a:lstStyle/>
          <a:p>
            <a:pPr algn="l"/>
            <a:r>
              <a:rPr sz="2000" b="1" i="0">
                <a:solidFill>
                  <a:srgbClr val="8A1626"/>
                </a:solidFill>
              </a:rPr>
              <a:t>2.8×</a:t>
            </a:r>
          </a:p>
        </p:txBody>
      </p:sp>
      <p:sp>
        <p:nvSpPr>
          <p:cNvPr id="56" name="TextBox 55"/>
          <p:cNvSpPr txBox="1"/>
          <p:nvPr/>
        </p:nvSpPr>
        <p:spPr>
          <a:xfrm>
            <a:off x="6446520" y="5138928"/>
            <a:ext cx="2231136" cy="292607"/>
          </a:xfrm>
          <a:prstGeom prst="rect">
            <a:avLst/>
          </a:prstGeom>
          <a:noFill/>
        </p:spPr>
        <p:txBody>
          <a:bodyPr wrap="square" lIns="0" rIns="0" tIns="0" bIns="0" anchor="t">
            <a:spAutoFit/>
          </a:bodyPr>
          <a:lstStyle/>
          <a:p>
            <a:pPr algn="l"/>
            <a:r>
              <a:rPr sz="1150" b="0" i="0">
                <a:solidFill>
                  <a:srgbClr val="4A5058"/>
                </a:solidFill>
              </a:rPr>
              <a:t>faster connector start</a:t>
            </a:r>
          </a:p>
        </p:txBody>
      </p:sp>
      <p:sp>
        <p:nvSpPr>
          <p:cNvPr id="57" name="Rectangle 56"/>
          <p:cNvSpPr/>
          <p:nvPr/>
        </p:nvSpPr>
        <p:spPr>
          <a:xfrm>
            <a:off x="8906256" y="4572000"/>
            <a:ext cx="2505456" cy="9144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Rectangle 57"/>
          <p:cNvSpPr/>
          <p:nvPr/>
        </p:nvSpPr>
        <p:spPr>
          <a:xfrm>
            <a:off x="8906256" y="4572000"/>
            <a:ext cx="45720" cy="9144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xtBox 58"/>
          <p:cNvSpPr txBox="1"/>
          <p:nvPr/>
        </p:nvSpPr>
        <p:spPr>
          <a:xfrm>
            <a:off x="9089136" y="4663440"/>
            <a:ext cx="2231136" cy="457200"/>
          </a:xfrm>
          <a:prstGeom prst="rect">
            <a:avLst/>
          </a:prstGeom>
          <a:noFill/>
        </p:spPr>
        <p:txBody>
          <a:bodyPr wrap="square" lIns="0" rIns="0" tIns="0" bIns="0" anchor="ctr">
            <a:spAutoFit/>
          </a:bodyPr>
          <a:lstStyle/>
          <a:p>
            <a:pPr algn="l"/>
            <a:r>
              <a:rPr sz="2000" b="1" i="0">
                <a:solidFill>
                  <a:srgbClr val="8A1626"/>
                </a:solidFill>
              </a:rPr>
              <a:t>3.8×</a:t>
            </a:r>
          </a:p>
        </p:txBody>
      </p:sp>
      <p:sp>
        <p:nvSpPr>
          <p:cNvPr id="60" name="TextBox 59"/>
          <p:cNvSpPr txBox="1"/>
          <p:nvPr/>
        </p:nvSpPr>
        <p:spPr>
          <a:xfrm>
            <a:off x="9089136" y="5138928"/>
            <a:ext cx="2231136" cy="292607"/>
          </a:xfrm>
          <a:prstGeom prst="rect">
            <a:avLst/>
          </a:prstGeom>
          <a:noFill/>
        </p:spPr>
        <p:txBody>
          <a:bodyPr wrap="square" lIns="0" rIns="0" tIns="0" bIns="0" anchor="t">
            <a:spAutoFit/>
          </a:bodyPr>
          <a:lstStyle/>
          <a:p>
            <a:pPr algn="l"/>
            <a:r>
              <a:rPr sz="1150" b="0" i="0">
                <a:solidFill>
                  <a:srgbClr val="4A5058"/>
                </a:solidFill>
              </a:rPr>
              <a:t>faster read of a past day</a:t>
            </a:r>
          </a:p>
        </p:txBody>
      </p:sp>
      <p:sp>
        <p:nvSpPr>
          <p:cNvPr id="61" name="Rectangle 60"/>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Rectangle 61"/>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xtBox 62"/>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The store is an admin's decision per system, not a rewrite: the pages cannot tell which format answered.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SUTRA NEXT · 2.7.0</a:t>
            </a:r>
          </a:p>
        </p:txBody>
      </p:sp>
      <p:sp>
        <p:nvSpPr>
          <p:cNvPr id="3" name="Title 2"/>
          <p:cNvSpPr>
            <a:spLocks noGrp="1"/>
          </p:cNvSpPr>
          <p:nvPr>
            <p:ph type="title" idx="104"/>
          </p:nvPr>
        </p:nvSpPr>
        <p:spPr/>
        <p:txBody>
          <a:bodyPr lIns="0" rIns="0" tIns="0" bIns="0" anchor="t"/>
          <a:lstStyle/>
          <a:p>
            <a:r>
              <a:t>Screens that respond, built from one UI kit</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Rectangle 25"/>
          <p:cNvSpPr/>
          <p:nvPr/>
        </p:nvSpPr>
        <p:spPr>
          <a:xfrm>
            <a:off x="4343400" y="2606040"/>
            <a:ext cx="3474720" cy="16002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4480560" y="2697480"/>
            <a:ext cx="3200400" cy="1417320"/>
          </a:xfrm>
          <a:prstGeom prst="rect">
            <a:avLst/>
          </a:prstGeom>
          <a:noFill/>
        </p:spPr>
        <p:txBody>
          <a:bodyPr wrap="square" lIns="0" rIns="0" tIns="0" bIns="0" anchor="ctr">
            <a:spAutoFit/>
          </a:bodyPr>
          <a:lstStyle/>
          <a:p>
            <a:pPr algn="l">
              <a:spcAft>
                <a:spcPts val="300"/>
              </a:spcAft>
            </a:pPr>
            <a:r>
              <a:rPr sz="1500" b="1" i="0">
                <a:solidFill>
                  <a:srgbClr val="FFFFFF"/>
                </a:solidFill>
              </a:rPr>
              <a:t>The Drishti UI kit</a:t>
            </a:r>
          </a:p>
          <a:p>
            <a:pPr algn="l"/>
            <a:r>
              <a:rPr sz="1100" b="0" i="0">
                <a:solidFill>
                  <a:srgbClr val="F6E6E9"/>
                </a:solidFill>
              </a:rPr>
              <a:t>config/ui-kit: 17 reusable fragments (row-picker@1, field-list@1, cashflow-ladder@1 …), pack fragments, theme tokens and brand; every fragment and Sutra has a doc: docstring</a:t>
            </a:r>
          </a:p>
        </p:txBody>
      </p:sp>
      <p:sp>
        <p:nvSpPr>
          <p:cNvPr id="28" name="Rectangle 27"/>
          <p:cNvSpPr/>
          <p:nvPr/>
        </p:nvSpPr>
        <p:spPr>
          <a:xfrm>
            <a:off x="777240" y="1463040"/>
            <a:ext cx="3364992" cy="109728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886968" y="1536192"/>
            <a:ext cx="3145536" cy="969264"/>
          </a:xfrm>
          <a:prstGeom prst="rect">
            <a:avLst/>
          </a:prstGeom>
          <a:noFill/>
        </p:spPr>
        <p:txBody>
          <a:bodyPr wrap="square" lIns="0" rIns="0" tIns="0" bIns="0" anchor="t">
            <a:spAutoFit/>
          </a:bodyPr>
          <a:lstStyle/>
          <a:p>
            <a:pPr algn="l">
              <a:spcAft>
                <a:spcPts val="300"/>
              </a:spcAft>
            </a:pPr>
            <a:r>
              <a:rPr sz="1300" b="1" i="0">
                <a:solidFill>
                  <a:srgbClr val="8A1626"/>
                </a:solidFill>
              </a:rPr>
              <a:t>Events and children</a:t>
            </a:r>
          </a:p>
          <a:p>
            <a:pPr algn="l"/>
            <a:r>
              <a:rPr sz="1100" b="0" i="0">
                <a:solidFill>
                  <a:srgbClr val="4A5058"/>
                </a:solidFill>
              </a:rPr>
              <a:t>A click on a row opens linked records under it, beside, below or in tabs, from any enabled pack (emits, @panel.event, @parent); masked ids stay hidden.</a:t>
            </a:r>
          </a:p>
        </p:txBody>
      </p:sp>
      <p:cxnSp>
        <p:nvCxnSpPr>
          <p:cNvPr id="30" name="Connector 29"/>
          <p:cNvCxnSpPr/>
          <p:nvPr/>
        </p:nvCxnSpPr>
        <p:spPr>
          <a:xfrm>
            <a:off x="4142232" y="2011680"/>
            <a:ext cx="201168" cy="914400"/>
          </a:xfrm>
          <a:prstGeom prst="line">
            <a:avLst/>
          </a:prstGeom>
          <a:ln w="15875">
            <a:solidFill>
              <a:srgbClr val="CFC8BE"/>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8046720" y="1463040"/>
            <a:ext cx="3364992" cy="109728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8156448" y="1536192"/>
            <a:ext cx="3145536" cy="969264"/>
          </a:xfrm>
          <a:prstGeom prst="rect">
            <a:avLst/>
          </a:prstGeom>
          <a:noFill/>
        </p:spPr>
        <p:txBody>
          <a:bodyPr wrap="square" lIns="0" rIns="0" tIns="0" bIns="0" anchor="t">
            <a:spAutoFit/>
          </a:bodyPr>
          <a:lstStyle/>
          <a:p>
            <a:pPr algn="l">
              <a:spcAft>
                <a:spcPts val="300"/>
              </a:spcAft>
            </a:pPr>
            <a:r>
              <a:rPr sz="1300" b="1" i="0">
                <a:solidFill>
                  <a:srgbClr val="8A1626"/>
                </a:solidFill>
              </a:rPr>
              <a:t>Refresh and freshness</a:t>
            </a:r>
          </a:p>
          <a:p>
            <a:pPr algn="l"/>
            <a:r>
              <a:rPr sz="1100" b="0" i="0">
                <a:solidFill>
                  <a:srgbClr val="4A5058"/>
                </a:solidFill>
              </a:rPr>
              <a:t>refresh: per panel or screen; pause, resume and interval per person; every panel says 'updated N s ago' and names a source that is not answering.</a:t>
            </a:r>
          </a:p>
        </p:txBody>
      </p:sp>
      <p:cxnSp>
        <p:nvCxnSpPr>
          <p:cNvPr id="33" name="Connector 32"/>
          <p:cNvCxnSpPr/>
          <p:nvPr/>
        </p:nvCxnSpPr>
        <p:spPr>
          <a:xfrm flipH="1">
            <a:off x="7818120" y="2011680"/>
            <a:ext cx="228600" cy="914400"/>
          </a:xfrm>
          <a:prstGeom prst="line">
            <a:avLst/>
          </a:prstGeom>
          <a:ln w="15875">
            <a:solidFill>
              <a:srgbClr val="CFC8BE"/>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4434840"/>
            <a:ext cx="3364992" cy="109728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xtBox 34"/>
          <p:cNvSpPr txBox="1"/>
          <p:nvPr/>
        </p:nvSpPr>
        <p:spPr>
          <a:xfrm>
            <a:off x="886968" y="4507992"/>
            <a:ext cx="3145536" cy="969264"/>
          </a:xfrm>
          <a:prstGeom prst="rect">
            <a:avLst/>
          </a:prstGeom>
          <a:noFill/>
        </p:spPr>
        <p:txBody>
          <a:bodyPr wrap="square" lIns="0" rIns="0" tIns="0" bIns="0" anchor="t">
            <a:spAutoFit/>
          </a:bodyPr>
          <a:lstStyle/>
          <a:p>
            <a:pPr algn="l">
              <a:spcAft>
                <a:spcPts val="300"/>
              </a:spcAft>
            </a:pPr>
            <a:r>
              <a:rPr sz="1300" b="1" i="0">
                <a:solidFill>
                  <a:srgbClr val="8A1626"/>
                </a:solidFill>
              </a:rPr>
              <a:t>Layout</a:t>
            </a:r>
          </a:p>
          <a:p>
            <a:pPr algn="l"/>
            <a:r>
              <a:rPr sz="1100" b="0" i="0">
                <a:solidFill>
                  <a:srgbClr val="4A5058"/>
                </a:solidFill>
              </a:rPr>
              <a:t>Named areas on a 12-column grid, splits, tabs, sections, a sticky header, phone order; user-can-arrange per reader.</a:t>
            </a:r>
          </a:p>
        </p:txBody>
      </p:sp>
      <p:cxnSp>
        <p:nvCxnSpPr>
          <p:cNvPr id="36" name="Connector 35"/>
          <p:cNvCxnSpPr/>
          <p:nvPr/>
        </p:nvCxnSpPr>
        <p:spPr>
          <a:xfrm flipV="1">
            <a:off x="4142232" y="3886200"/>
            <a:ext cx="201168" cy="1097279"/>
          </a:xfrm>
          <a:prstGeom prst="line">
            <a:avLst/>
          </a:prstGeom>
          <a:ln w="15875">
            <a:solidFill>
              <a:srgbClr val="CFC8BE"/>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046720" y="4434840"/>
            <a:ext cx="3364992" cy="109728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xtBox 37"/>
          <p:cNvSpPr txBox="1"/>
          <p:nvPr/>
        </p:nvSpPr>
        <p:spPr>
          <a:xfrm>
            <a:off x="8156448" y="4507992"/>
            <a:ext cx="3145536" cy="969264"/>
          </a:xfrm>
          <a:prstGeom prst="rect">
            <a:avLst/>
          </a:prstGeom>
          <a:noFill/>
        </p:spPr>
        <p:txBody>
          <a:bodyPr wrap="square" lIns="0" rIns="0" tIns="0" bIns="0" anchor="t">
            <a:spAutoFit/>
          </a:bodyPr>
          <a:lstStyle/>
          <a:p>
            <a:pPr algn="l">
              <a:spcAft>
                <a:spcPts val="300"/>
              </a:spcAft>
            </a:pPr>
            <a:r>
              <a:rPr sz="1300" b="1" i="0">
                <a:solidFill>
                  <a:srgbClr val="8A1626"/>
                </a:solidFill>
              </a:rPr>
              <a:t>Forms</a:t>
            </a:r>
          </a:p>
          <a:p>
            <a:pPr algn="l"/>
            <a:r>
              <a:rPr sz="1100" b="0" i="0">
                <a:solidFill>
                  <a:srgbClr val="4A5058"/>
                </a:solidFill>
              </a:rPr>
              <a:t>Edit beside a table, in its cells, or New in a guided drawer; linked-record fields, rules and masks; saved through write-back since 2.8.0.</a:t>
            </a:r>
          </a:p>
        </p:txBody>
      </p:sp>
      <p:cxnSp>
        <p:nvCxnSpPr>
          <p:cNvPr id="39" name="Connector 38"/>
          <p:cNvCxnSpPr/>
          <p:nvPr/>
        </p:nvCxnSpPr>
        <p:spPr>
          <a:xfrm flipH="1" flipV="1">
            <a:off x="7818120" y="3886200"/>
            <a:ext cx="228600" cy="1097279"/>
          </a:xfrm>
          <a:prstGeom prst="line">
            <a:avLst/>
          </a:prstGeom>
          <a:ln w="15875">
            <a:solidFill>
              <a:srgbClr val="CFC8B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343400" y="1463040"/>
            <a:ext cx="3474720" cy="1005840"/>
          </a:xfrm>
          <a:prstGeom prst="rect">
            <a:avLst/>
          </a:prstGeom>
          <a:noFill/>
        </p:spPr>
        <p:txBody>
          <a:bodyPr wrap="square" lIns="0" rIns="0" tIns="0" bIns="0" anchor="ctr">
            <a:spAutoFit/>
          </a:bodyPr>
          <a:lstStyle/>
          <a:p>
            <a:pPr algn="ctr"/>
            <a:r>
              <a:rPr sz="1200" b="1" i="0">
                <a:solidFill>
                  <a:srgbClr val="8A1626"/>
                </a:solidFill>
              </a:rPr>
              <a:t>Every pack screen now uses fragments, each proven to draw the same as before.</a:t>
            </a:r>
          </a:p>
        </p:txBody>
      </p:sp>
      <p:sp>
        <p:nvSpPr>
          <p:cNvPr id="41" name="TextBox 40"/>
          <p:cNvSpPr txBox="1"/>
          <p:nvPr/>
        </p:nvSpPr>
        <p:spPr>
          <a:xfrm>
            <a:off x="4343400" y="4343400"/>
            <a:ext cx="3474720" cy="1188720"/>
          </a:xfrm>
          <a:prstGeom prst="rect">
            <a:avLst/>
          </a:prstGeom>
          <a:noFill/>
        </p:spPr>
        <p:txBody>
          <a:bodyPr wrap="square" lIns="0" rIns="0" tIns="0" bIns="0" anchor="ctr">
            <a:spAutoFit/>
          </a:bodyPr>
          <a:lstStyle/>
          <a:p>
            <a:pPr algn="ctr"/>
            <a:r>
              <a:rPr sz="1150" b="0" i="0">
                <a:solidFill>
                  <a:srgbClr val="4A5058"/>
                </a:solidFill>
              </a:rPr>
              <a:t>On a cluster, one server per screen; when a server goes away the page says 'your selections were reset' in words.</a:t>
            </a:r>
          </a:p>
        </p:txBody>
      </p:sp>
      <p:sp>
        <p:nvSpPr>
          <p:cNvPr id="42" name="Rectangle 41"/>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Rectangle 42"/>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xtBox 43"/>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A screen is still a paragraph — now a paragraph of documented, reusable fragments that respond to the user.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THE SUTRA DESIGNER · 2.7.0</a:t>
            </a:r>
          </a:p>
        </p:txBody>
      </p:sp>
      <p:sp>
        <p:nvSpPr>
          <p:cNvPr id="3" name="Title 2"/>
          <p:cNvSpPr>
            <a:spLocks noGrp="1"/>
          </p:cNvSpPr>
          <p:nvPr>
            <p:ph type="title" idx="104"/>
          </p:nvPr>
        </p:nvSpPr>
        <p:spPr/>
        <p:txBody>
          <a:bodyPr lIns="0" rIns="0" tIns="0" bIns="0" anchor="t"/>
          <a:lstStyle/>
          <a:p>
            <a:r>
              <a:t>Four modes over one Sutra: customize, describe, outline, grid</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pic>
        <p:nvPicPr>
          <p:cNvPr id="26" name="Customize the live page" descr="customize.jpg"/>
          <p:cNvPicPr>
            <a:picLocks noChangeAspect="1"/>
          </p:cNvPicPr>
          <p:nvPr/>
        </p:nvPicPr>
        <p:blipFill>
          <a:blip r:embed="rId2"/>
          <a:stretch>
            <a:fillRect/>
          </a:stretch>
        </p:blipFill>
        <p:spPr>
          <a:xfrm>
            <a:off x="777240" y="1502616"/>
            <a:ext cx="2521458" cy="1575911"/>
          </a:xfrm>
          <a:prstGeom prst="rect">
            <a:avLst/>
          </a:prstGeom>
          <a:ln w="9525">
            <a:solidFill>
              <a:srgbClr val="CFC8BE"/>
            </a:solidFill>
          </a:ln>
        </p:spPr>
      </p:pic>
      <p:sp>
        <p:nvSpPr>
          <p:cNvPr id="27" name="Oval 26"/>
          <p:cNvSpPr/>
          <p:nvPr/>
        </p:nvSpPr>
        <p:spPr>
          <a:xfrm>
            <a:off x="777240" y="3227832"/>
            <a:ext cx="246888" cy="246888"/>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50" b="1" i="0">
                <a:solidFill>
                  <a:srgbClr val="FFFFFF"/>
                </a:solidFill>
              </a:rPr>
              <a:t>1</a:t>
            </a:r>
          </a:p>
        </p:txBody>
      </p:sp>
      <p:sp>
        <p:nvSpPr>
          <p:cNvPr id="28" name="TextBox 27"/>
          <p:cNvSpPr txBox="1"/>
          <p:nvPr/>
        </p:nvSpPr>
        <p:spPr>
          <a:xfrm>
            <a:off x="1088136" y="3209544"/>
            <a:ext cx="2192274" cy="292608"/>
          </a:xfrm>
          <a:prstGeom prst="rect">
            <a:avLst/>
          </a:prstGeom>
          <a:noFill/>
        </p:spPr>
        <p:txBody>
          <a:bodyPr wrap="square" lIns="0" rIns="0" tIns="0" bIns="0" anchor="ctr">
            <a:spAutoFit/>
          </a:bodyPr>
          <a:lstStyle/>
          <a:p>
            <a:pPr algn="l"/>
            <a:r>
              <a:rPr sz="1150" b="1" i="0">
                <a:solidFill>
                  <a:srgbClr val="8A1626"/>
                </a:solidFill>
              </a:rPr>
              <a:t>Customize the live page</a:t>
            </a:r>
          </a:p>
        </p:txBody>
      </p:sp>
      <p:pic>
        <p:nvPicPr>
          <p:cNvPr id="29" name="Describe a screen in one line" descr="describe.jpg"/>
          <p:cNvPicPr>
            <a:picLocks noChangeAspect="1"/>
          </p:cNvPicPr>
          <p:nvPr/>
        </p:nvPicPr>
        <p:blipFill>
          <a:blip r:embed="rId3"/>
          <a:stretch>
            <a:fillRect/>
          </a:stretch>
        </p:blipFill>
        <p:spPr>
          <a:xfrm>
            <a:off x="3481578" y="1502616"/>
            <a:ext cx="2521458" cy="1575911"/>
          </a:xfrm>
          <a:prstGeom prst="rect">
            <a:avLst/>
          </a:prstGeom>
          <a:ln w="9525">
            <a:solidFill>
              <a:srgbClr val="CFC8BE"/>
            </a:solidFill>
          </a:ln>
        </p:spPr>
      </p:pic>
      <p:sp>
        <p:nvSpPr>
          <p:cNvPr id="30" name="Oval 29"/>
          <p:cNvSpPr/>
          <p:nvPr/>
        </p:nvSpPr>
        <p:spPr>
          <a:xfrm>
            <a:off x="3481578" y="3227832"/>
            <a:ext cx="246888" cy="246888"/>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50" b="1" i="0">
                <a:solidFill>
                  <a:srgbClr val="FFFFFF"/>
                </a:solidFill>
              </a:rPr>
              <a:t>2</a:t>
            </a:r>
          </a:p>
        </p:txBody>
      </p:sp>
      <p:sp>
        <p:nvSpPr>
          <p:cNvPr id="31" name="TextBox 30"/>
          <p:cNvSpPr txBox="1"/>
          <p:nvPr/>
        </p:nvSpPr>
        <p:spPr>
          <a:xfrm>
            <a:off x="3792474" y="3209544"/>
            <a:ext cx="2192274" cy="292608"/>
          </a:xfrm>
          <a:prstGeom prst="rect">
            <a:avLst/>
          </a:prstGeom>
          <a:noFill/>
        </p:spPr>
        <p:txBody>
          <a:bodyPr wrap="square" lIns="0" rIns="0" tIns="0" bIns="0" anchor="ctr">
            <a:spAutoFit/>
          </a:bodyPr>
          <a:lstStyle/>
          <a:p>
            <a:pPr algn="l"/>
            <a:r>
              <a:rPr sz="1150" b="1" i="0">
                <a:solidFill>
                  <a:srgbClr val="8A1626"/>
                </a:solidFill>
              </a:rPr>
              <a:t>Describe a screen in one line</a:t>
            </a:r>
          </a:p>
        </p:txBody>
      </p:sp>
      <p:pic>
        <p:nvPicPr>
          <p:cNvPr id="32" name="Outline: the page as a tree" descr="outline.jpg"/>
          <p:cNvPicPr>
            <a:picLocks noChangeAspect="1"/>
          </p:cNvPicPr>
          <p:nvPr/>
        </p:nvPicPr>
        <p:blipFill>
          <a:blip r:embed="rId4"/>
          <a:stretch>
            <a:fillRect/>
          </a:stretch>
        </p:blipFill>
        <p:spPr>
          <a:xfrm>
            <a:off x="6185916" y="1492110"/>
            <a:ext cx="2521458" cy="1596923"/>
          </a:xfrm>
          <a:prstGeom prst="rect">
            <a:avLst/>
          </a:prstGeom>
          <a:ln w="9525">
            <a:solidFill>
              <a:srgbClr val="CFC8BE"/>
            </a:solidFill>
          </a:ln>
        </p:spPr>
      </p:pic>
      <p:sp>
        <p:nvSpPr>
          <p:cNvPr id="33" name="Oval 32"/>
          <p:cNvSpPr/>
          <p:nvPr/>
        </p:nvSpPr>
        <p:spPr>
          <a:xfrm>
            <a:off x="6185916" y="3227832"/>
            <a:ext cx="246888" cy="246888"/>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50" b="1" i="0">
                <a:solidFill>
                  <a:srgbClr val="FFFFFF"/>
                </a:solidFill>
              </a:rPr>
              <a:t>3</a:t>
            </a:r>
          </a:p>
        </p:txBody>
      </p:sp>
      <p:sp>
        <p:nvSpPr>
          <p:cNvPr id="34" name="TextBox 33"/>
          <p:cNvSpPr txBox="1"/>
          <p:nvPr/>
        </p:nvSpPr>
        <p:spPr>
          <a:xfrm>
            <a:off x="6496812" y="3209544"/>
            <a:ext cx="2192274" cy="292608"/>
          </a:xfrm>
          <a:prstGeom prst="rect">
            <a:avLst/>
          </a:prstGeom>
          <a:noFill/>
        </p:spPr>
        <p:txBody>
          <a:bodyPr wrap="square" lIns="0" rIns="0" tIns="0" bIns="0" anchor="ctr">
            <a:spAutoFit/>
          </a:bodyPr>
          <a:lstStyle/>
          <a:p>
            <a:pPr algn="l"/>
            <a:r>
              <a:rPr sz="1150" b="1" i="0">
                <a:solidFill>
                  <a:srgbClr val="8A1626"/>
                </a:solidFill>
              </a:rPr>
              <a:t>Outline: the page as a tree</a:t>
            </a:r>
          </a:p>
        </p:txBody>
      </p:sp>
      <p:pic>
        <p:nvPicPr>
          <p:cNvPr id="35" name="Grid, with formulas per cell" descr="grid-mode.jpg"/>
          <p:cNvPicPr>
            <a:picLocks noChangeAspect="1"/>
          </p:cNvPicPr>
          <p:nvPr/>
        </p:nvPicPr>
        <p:blipFill>
          <a:blip r:embed="rId5"/>
          <a:stretch>
            <a:fillRect/>
          </a:stretch>
        </p:blipFill>
        <p:spPr>
          <a:xfrm>
            <a:off x="8890254" y="1492110"/>
            <a:ext cx="2521458" cy="1596923"/>
          </a:xfrm>
          <a:prstGeom prst="rect">
            <a:avLst/>
          </a:prstGeom>
          <a:ln w="9525">
            <a:solidFill>
              <a:srgbClr val="CFC8BE"/>
            </a:solidFill>
          </a:ln>
        </p:spPr>
      </p:pic>
      <p:sp>
        <p:nvSpPr>
          <p:cNvPr id="36" name="Oval 35"/>
          <p:cNvSpPr/>
          <p:nvPr/>
        </p:nvSpPr>
        <p:spPr>
          <a:xfrm>
            <a:off x="8890254" y="3227832"/>
            <a:ext cx="246888" cy="246888"/>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50" b="1" i="0">
                <a:solidFill>
                  <a:srgbClr val="FFFFFF"/>
                </a:solidFill>
              </a:rPr>
              <a:t>4</a:t>
            </a:r>
          </a:p>
        </p:txBody>
      </p:sp>
      <p:sp>
        <p:nvSpPr>
          <p:cNvPr id="37" name="TextBox 36"/>
          <p:cNvSpPr txBox="1"/>
          <p:nvPr/>
        </p:nvSpPr>
        <p:spPr>
          <a:xfrm>
            <a:off x="9201150" y="3209544"/>
            <a:ext cx="2192274" cy="292608"/>
          </a:xfrm>
          <a:prstGeom prst="rect">
            <a:avLst/>
          </a:prstGeom>
          <a:noFill/>
        </p:spPr>
        <p:txBody>
          <a:bodyPr wrap="square" lIns="0" rIns="0" tIns="0" bIns="0" anchor="ctr">
            <a:spAutoFit/>
          </a:bodyPr>
          <a:lstStyle/>
          <a:p>
            <a:pPr algn="l"/>
            <a:r>
              <a:rPr sz="1150" b="1" i="0">
                <a:solidFill>
                  <a:srgbClr val="8A1626"/>
                </a:solidFill>
              </a:rPr>
              <a:t>Grid, with formulas per cell</a:t>
            </a:r>
          </a:p>
        </p:txBody>
      </p:sp>
      <p:sp>
        <p:nvSpPr>
          <p:cNvPr id="38" name="Rectangle 37"/>
          <p:cNvSpPr/>
          <p:nvPr/>
        </p:nvSpPr>
        <p:spPr>
          <a:xfrm>
            <a:off x="777240" y="3639312"/>
            <a:ext cx="4206240" cy="1783080"/>
          </a:xfrm>
          <a:prstGeom prst="rect">
            <a:avLst/>
          </a:prstGeom>
          <a:solidFill>
            <a:srgbClr val="1E1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Rectangle 38"/>
          <p:cNvSpPr/>
          <p:nvPr/>
        </p:nvSpPr>
        <p:spPr>
          <a:xfrm>
            <a:off x="777240" y="3639312"/>
            <a:ext cx="4206240" cy="329184"/>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TextBox 39"/>
          <p:cNvSpPr txBox="1"/>
          <p:nvPr/>
        </p:nvSpPr>
        <p:spPr>
          <a:xfrm>
            <a:off x="914400" y="3639312"/>
            <a:ext cx="3931920" cy="329184"/>
          </a:xfrm>
          <a:prstGeom prst="rect">
            <a:avLst/>
          </a:prstGeom>
          <a:noFill/>
        </p:spPr>
        <p:txBody>
          <a:bodyPr wrap="square" lIns="0" rIns="0" tIns="0" bIns="0" anchor="ctr">
            <a:spAutoFit/>
          </a:bodyPr>
          <a:lstStyle/>
          <a:p>
            <a:pPr algn="l"/>
            <a:r>
              <a:rPr sz="1150" b="1" i="0">
                <a:solidFill>
                  <a:srgbClr val="FFFFFF"/>
                </a:solidFill>
              </a:rPr>
              <a:t>A cell is a fragment call</a:t>
            </a:r>
          </a:p>
        </p:txBody>
      </p:sp>
      <p:sp>
        <p:nvSpPr>
          <p:cNvPr id="41" name="TextBox 40"/>
          <p:cNvSpPr txBox="1"/>
          <p:nvPr/>
        </p:nvSpPr>
        <p:spPr>
          <a:xfrm>
            <a:off x="941832" y="4078224"/>
            <a:ext cx="3931920" cy="1280160"/>
          </a:xfrm>
          <a:prstGeom prst="rect">
            <a:avLst/>
          </a:prstGeom>
          <a:noFill/>
        </p:spPr>
        <p:txBody>
          <a:bodyPr wrap="square" lIns="0" rIns="0" tIns="0" bIns="0" anchor="t">
            <a:spAutoFit/>
          </a:bodyPr>
          <a:lstStyle/>
          <a:p>
            <a:pPr algn="l">
              <a:spcAft>
                <a:spcPts val="200"/>
              </a:spcAft>
            </a:pPr>
            <a:r>
              <a:rPr sz="1150" b="0" i="0">
                <a:solidFill>
                  <a:srgbClr val="F1EEE9"/>
                </a:solidFill>
                <a:latin typeface="Courier New"/>
              </a:rPr>
              <a:t>B2 = field-list@1(...;</a:t>
            </a:r>
          </a:p>
          <a:p>
            <a:pPr algn="l">
              <a:spcAft>
                <a:spcPts val="200"/>
              </a:spcAft>
            </a:pPr>
            <a:r>
              <a:rPr sz="1150" b="0" i="0">
                <a:solidFill>
                  <a:srgbClr val="F1EEE9"/>
                </a:solidFill>
                <a:latin typeface="Courier New"/>
              </a:rPr>
              <a:t>     source: {... id: @A2.open.ref})</a:t>
            </a:r>
          </a:p>
        </p:txBody>
      </p:sp>
      <p:sp>
        <p:nvSpPr>
          <p:cNvPr id="42" name="TextBox 41"/>
          <p:cNvSpPr txBox="1"/>
          <p:nvPr/>
        </p:nvSpPr>
        <p:spPr>
          <a:xfrm>
            <a:off x="5303520" y="3639312"/>
            <a:ext cx="6108192" cy="1828800"/>
          </a:xfrm>
          <a:prstGeom prst="rect">
            <a:avLst/>
          </a:prstGeom>
          <a:noFill/>
        </p:spPr>
        <p:txBody>
          <a:bodyPr wrap="square" lIns="0" rIns="0" tIns="0" bIns="0" anchor="t">
            <a:spAutoFit/>
          </a:bodyPr>
          <a:lstStyle/>
          <a:p>
            <a:pPr marL="164592" indent="-164592">
              <a:spcAft>
                <a:spcPts val="100"/>
              </a:spcAft>
              <a:buClr>
                <a:srgbClr val="A51C30"/>
              </a:buClr>
              <a:buSzPct val="100000"/>
              <a:buFont typeface="Arial"/>
              <a:buChar char="▪"/>
            </a:pPr>
            <a:r>
              <a:rPr sz="1250" b="1" i="0">
                <a:solidFill>
                  <a:srgbClr val="8A1626"/>
                </a:solidFill>
              </a:rPr>
              <a:t>One Sutra, four views</a:t>
            </a:r>
          </a:p>
          <a:p>
            <a:pPr marL="164592" indent="0">
              <a:spcAft>
                <a:spcPts val="400"/>
              </a:spcAft>
            </a:pPr>
            <a:r>
              <a:rPr sz="1150" b="0" i="0">
                <a:solidFill>
                  <a:srgbClr val="1A1A1A"/>
                </a:solidFill>
              </a:rPr>
              <a:t>Every mode edits the same file; switch at any time.</a:t>
            </a:r>
          </a:p>
          <a:p>
            <a:pPr marL="164592" indent="-164592">
              <a:spcAft>
                <a:spcPts val="100"/>
              </a:spcAft>
              <a:buClr>
                <a:srgbClr val="A51C30"/>
              </a:buClr>
              <a:buSzPct val="100000"/>
              <a:buFont typeface="Arial"/>
              <a:buChar char="▪"/>
            </a:pPr>
            <a:r>
              <a:rPr sz="1250" b="1" i="0">
                <a:solidFill>
                  <a:srgbClr val="8A1626"/>
                </a:solidFill>
              </a:rPr>
              <a:t>My version of this page</a:t>
            </a:r>
          </a:p>
          <a:p>
            <a:pPr marL="164592" indent="0">
              <a:spcAft>
                <a:spcPts val="400"/>
              </a:spcAft>
            </a:pPr>
            <a:r>
              <a:rPr sz="1150" b="0" i="0">
                <a:solidFill>
                  <a:srgbClr val="1A1A1A"/>
                </a:solidFill>
              </a:rPr>
              <a:t>Each person keeps a customised copy; the shared page is untouched.</a:t>
            </a:r>
          </a:p>
          <a:p>
            <a:pPr marL="164592" indent="-164592">
              <a:spcAft>
                <a:spcPts val="100"/>
              </a:spcAft>
              <a:buClr>
                <a:srgbClr val="A51C30"/>
              </a:buClr>
              <a:buSzPct val="100000"/>
              <a:buFont typeface="Arial"/>
              <a:buChar char="▪"/>
            </a:pPr>
            <a:r>
              <a:rPr sz="1250" b="1" i="0">
                <a:solidFill>
                  <a:srgbClr val="8A1626"/>
                </a:solidFill>
              </a:rPr>
              <a:t>Two levels of click-opened cells; off by default</a:t>
            </a:r>
          </a:p>
          <a:p>
            <a:pPr marL="164592" indent="0">
              <a:spcAft>
                <a:spcPts val="400"/>
              </a:spcAft>
            </a:pPr>
            <a:r>
              <a:rPr sz="1150" b="0" i="0">
                <a:solidFill>
                  <a:srgbClr val="1A1A1A"/>
                </a:solidFill>
              </a:rPr>
              <a:t>ui.designer; tutorial 22 builds a screen with it.</a:t>
            </a:r>
          </a:p>
        </p:txBody>
      </p:sp>
      <p:sp>
        <p:nvSpPr>
          <p:cNvPr id="43" name="Rectangle 42"/>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Rectangle 43"/>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xtBox 44"/>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Designing a screen in plain words still produces a reviewed, versioned Sutra — not a one-off.</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PUBLIC DATA AS PACKS · 2.7.0 TO 2.9.3</a:t>
            </a:r>
          </a:p>
        </p:txBody>
      </p:sp>
      <p:sp>
        <p:nvSpPr>
          <p:cNvPr id="3" name="Title 2"/>
          <p:cNvSpPr>
            <a:spLocks noGrp="1"/>
          </p:cNvSpPr>
          <p:nvPr>
            <p:ph type="title" idx="104"/>
          </p:nvPr>
        </p:nvSpPr>
        <p:spPr/>
        <p:txBody>
          <a:bodyPr lIns="0" rIns="0" tIns="0" bIns="0" anchor="t"/>
          <a:lstStyle/>
          <a:p>
            <a:r>
              <a:t>US companies, legal entities and funds — linked, offline, refreshed by script</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Rectangle 25"/>
          <p:cNvSpPr/>
          <p:nvPr/>
        </p:nvSpPr>
        <p:spPr>
          <a:xfrm>
            <a:off x="777240" y="1481328"/>
            <a:ext cx="3154680" cy="178308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ectangle 26"/>
          <p:cNvSpPr/>
          <p:nvPr/>
        </p:nvSpPr>
        <p:spPr>
          <a:xfrm>
            <a:off x="777240" y="1481328"/>
            <a:ext cx="3154680" cy="384048"/>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886968" y="1481328"/>
            <a:ext cx="2971800" cy="384048"/>
          </a:xfrm>
          <a:prstGeom prst="rect">
            <a:avLst/>
          </a:prstGeom>
          <a:noFill/>
        </p:spPr>
        <p:txBody>
          <a:bodyPr wrap="square" lIns="0" rIns="0" tIns="0" bIns="0" anchor="ctr">
            <a:spAutoFit/>
          </a:bodyPr>
          <a:lstStyle/>
          <a:p>
            <a:pPr algn="l"/>
            <a:r>
              <a:rPr sz="1250" b="1" i="0">
                <a:solidFill>
                  <a:srgbClr val="FFFFFF"/>
                </a:solidFill>
                <a:latin typeface="Courier New"/>
              </a:rPr>
              <a:t>us-equities</a:t>
            </a:r>
          </a:p>
        </p:txBody>
      </p:sp>
      <p:sp>
        <p:nvSpPr>
          <p:cNvPr id="29" name="TextBox 28"/>
          <p:cNvSpPr txBox="1"/>
          <p:nvPr/>
        </p:nvSpPr>
        <p:spPr>
          <a:xfrm>
            <a:off x="914400" y="1920240"/>
            <a:ext cx="2926080" cy="1554480"/>
          </a:xfrm>
          <a:prstGeom prst="rect">
            <a:avLst/>
          </a:prstGeom>
          <a:noFill/>
        </p:spPr>
        <p:txBody>
          <a:bodyPr wrap="square" lIns="0" rIns="0" tIns="0" bIns="0" anchor="t">
            <a:spAutoFit/>
          </a:bodyPr>
          <a:lstStyle/>
          <a:p>
            <a:pPr algn="l"/>
            <a:r>
              <a:rPr sz="2400" b="1" i="0">
                <a:solidFill>
                  <a:srgbClr val="A51C30"/>
                </a:solidFill>
              </a:rPr>
              <a:t>586</a:t>
            </a:r>
          </a:p>
          <a:p>
            <a:pPr algn="l">
              <a:spcAft>
                <a:spcPts val="400"/>
              </a:spcAft>
            </a:pPr>
            <a:r>
              <a:rPr sz="1150" b="0" i="0">
                <a:solidFill>
                  <a:srgbClr val="1A1A1A"/>
                </a:solidFill>
              </a:rPr>
              <a:t>US companies from SEC EDGAR, Nasdaq and GLEIF: financials, filings, index members (479 at 2.7.0)</a:t>
            </a:r>
          </a:p>
          <a:p>
            <a:pPr algn="l"/>
            <a:r>
              <a:rPr sz="1050" b="1" i="0">
                <a:solidFill>
                  <a:srgbClr val="8A1626"/>
                </a:solidFill>
                <a:latin typeface="Courier New"/>
              </a:rPr>
              <a:t>USEQ · IDX · SIC · EDGAR</a:t>
            </a:r>
          </a:p>
        </p:txBody>
      </p:sp>
      <p:sp>
        <p:nvSpPr>
          <p:cNvPr id="30" name="Rectangle 29"/>
          <p:cNvSpPr/>
          <p:nvPr/>
        </p:nvSpPr>
        <p:spPr>
          <a:xfrm>
            <a:off x="4517136" y="1481328"/>
            <a:ext cx="3154680" cy="178308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Rectangle 30"/>
          <p:cNvSpPr/>
          <p:nvPr/>
        </p:nvSpPr>
        <p:spPr>
          <a:xfrm>
            <a:off x="4517136" y="1481328"/>
            <a:ext cx="3154680" cy="384048"/>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4626864" y="1481328"/>
            <a:ext cx="2971800" cy="384048"/>
          </a:xfrm>
          <a:prstGeom prst="rect">
            <a:avLst/>
          </a:prstGeom>
          <a:noFill/>
        </p:spPr>
        <p:txBody>
          <a:bodyPr wrap="square" lIns="0" rIns="0" tIns="0" bIns="0" anchor="ctr">
            <a:spAutoFit/>
          </a:bodyPr>
          <a:lstStyle/>
          <a:p>
            <a:pPr algn="l"/>
            <a:r>
              <a:rPr sz="1250" b="1" i="0">
                <a:solidFill>
                  <a:srgbClr val="FFFFFF"/>
                </a:solidFill>
                <a:latin typeface="Courier New"/>
              </a:rPr>
              <a:t>gleif</a:t>
            </a:r>
          </a:p>
        </p:txBody>
      </p:sp>
      <p:sp>
        <p:nvSpPr>
          <p:cNvPr id="33" name="TextBox 32"/>
          <p:cNvSpPr txBox="1"/>
          <p:nvPr/>
        </p:nvSpPr>
        <p:spPr>
          <a:xfrm>
            <a:off x="4654296" y="1920240"/>
            <a:ext cx="2926080" cy="1554480"/>
          </a:xfrm>
          <a:prstGeom prst="rect">
            <a:avLst/>
          </a:prstGeom>
          <a:noFill/>
        </p:spPr>
        <p:txBody>
          <a:bodyPr wrap="square" lIns="0" rIns="0" tIns="0" bIns="0" anchor="t">
            <a:spAutoFit/>
          </a:bodyPr>
          <a:lstStyle/>
          <a:p>
            <a:pPr algn="l"/>
            <a:r>
              <a:rPr sz="2400" b="1" i="0">
                <a:solidFill>
                  <a:srgbClr val="A51C30"/>
                </a:solidFill>
              </a:rPr>
              <a:t>9,512</a:t>
            </a:r>
          </a:p>
          <a:p>
            <a:pPr algn="l">
              <a:spcAft>
                <a:spcPts val="400"/>
              </a:spcAft>
            </a:pPr>
            <a:r>
              <a:rPr sz="1150" b="0" i="0">
                <a:solidFill>
                  <a:srgbClr val="1A1A1A"/>
                </a:solidFill>
              </a:rPr>
              <a:t>legal entities in 540 ownership groups; groups computed from DIRECT_PARENT</a:t>
            </a:r>
          </a:p>
          <a:p>
            <a:pPr algn="l"/>
            <a:r>
              <a:rPr sz="1050" b="1" i="0">
                <a:solidFill>
                  <a:srgbClr val="8A1626"/>
                </a:solidFill>
                <a:latin typeface="Courier New"/>
              </a:rPr>
              <a:t>LEI · LEIG · LEIC</a:t>
            </a:r>
          </a:p>
        </p:txBody>
      </p:sp>
      <p:sp>
        <p:nvSpPr>
          <p:cNvPr id="34" name="Rectangle 33"/>
          <p:cNvSpPr/>
          <p:nvPr/>
        </p:nvSpPr>
        <p:spPr>
          <a:xfrm>
            <a:off x="8257031" y="1481328"/>
            <a:ext cx="3154680" cy="178308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Rectangle 34"/>
          <p:cNvSpPr/>
          <p:nvPr/>
        </p:nvSpPr>
        <p:spPr>
          <a:xfrm>
            <a:off x="8257031" y="1481328"/>
            <a:ext cx="3154680" cy="384048"/>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8366759" y="1481328"/>
            <a:ext cx="2971800" cy="384048"/>
          </a:xfrm>
          <a:prstGeom prst="rect">
            <a:avLst/>
          </a:prstGeom>
          <a:noFill/>
        </p:spPr>
        <p:txBody>
          <a:bodyPr wrap="square" lIns="0" rIns="0" tIns="0" bIns="0" anchor="ctr">
            <a:spAutoFit/>
          </a:bodyPr>
          <a:lstStyle/>
          <a:p>
            <a:pPr algn="l"/>
            <a:r>
              <a:rPr sz="1250" b="1" i="0">
                <a:solidFill>
                  <a:srgbClr val="FFFFFF"/>
                </a:solidFill>
                <a:latin typeface="Courier New"/>
              </a:rPr>
              <a:t>funds</a:t>
            </a:r>
          </a:p>
        </p:txBody>
      </p:sp>
      <p:sp>
        <p:nvSpPr>
          <p:cNvPr id="37" name="TextBox 36"/>
          <p:cNvSpPr txBox="1"/>
          <p:nvPr/>
        </p:nvSpPr>
        <p:spPr>
          <a:xfrm>
            <a:off x="8394192" y="1920240"/>
            <a:ext cx="2926080" cy="1554480"/>
          </a:xfrm>
          <a:prstGeom prst="rect">
            <a:avLst/>
          </a:prstGeom>
          <a:noFill/>
        </p:spPr>
        <p:txBody>
          <a:bodyPr wrap="square" lIns="0" rIns="0" tIns="0" bIns="0" anchor="t">
            <a:spAutoFit/>
          </a:bodyPr>
          <a:lstStyle/>
          <a:p>
            <a:pPr algn="l"/>
            <a:r>
              <a:rPr sz="2400" b="1" i="0">
                <a:solidFill>
                  <a:srgbClr val="A51C30"/>
                </a:solidFill>
              </a:rPr>
              <a:t>200</a:t>
            </a:r>
          </a:p>
          <a:p>
            <a:pPr algn="l">
              <a:spcAft>
                <a:spcPts val="400"/>
              </a:spcAft>
            </a:pPr>
            <a:r>
              <a:rPr sz="1150" b="0" i="0">
                <a:solidFill>
                  <a:srgbClr val="1A1A1A"/>
                </a:solidFill>
              </a:rPr>
              <a:t>largest US mutual funds and ETFs from N-PORT, N-CEN and prospectuses; 5.6 MB gzipped</a:t>
            </a:r>
          </a:p>
          <a:p>
            <a:pPr algn="l"/>
            <a:r>
              <a:rPr sz="1050" b="1" i="0">
                <a:solidFill>
                  <a:srgbClr val="8A1626"/>
                </a:solidFill>
                <a:latin typeface="Courier New"/>
              </a:rPr>
              <a:t>FUND · HELD · TRACK · FUNDS</a:t>
            </a:r>
          </a:p>
        </p:txBody>
      </p:sp>
      <p:cxnSp>
        <p:nvCxnSpPr>
          <p:cNvPr id="38" name="Connector 37"/>
          <p:cNvCxnSpPr/>
          <p:nvPr/>
        </p:nvCxnSpPr>
        <p:spPr>
          <a:xfrm>
            <a:off x="3959352" y="2487168"/>
            <a:ext cx="530351" cy="0"/>
          </a:xfrm>
          <a:prstGeom prst="line">
            <a:avLst/>
          </a:prstGeom>
          <a:ln w="22225">
            <a:solidFill>
              <a:srgbClr val="A51C30"/>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931920" y="2121408"/>
            <a:ext cx="585215" cy="292608"/>
          </a:xfrm>
          <a:prstGeom prst="rect">
            <a:avLst/>
          </a:prstGeom>
          <a:noFill/>
        </p:spPr>
        <p:txBody>
          <a:bodyPr wrap="square" lIns="0" rIns="0" tIns="0" bIns="0" anchor="ctr">
            <a:spAutoFit/>
          </a:bodyPr>
          <a:lstStyle/>
          <a:p>
            <a:pPr algn="ctr"/>
            <a:r>
              <a:rPr sz="1050" b="1" i="0">
                <a:solidFill>
                  <a:srgbClr val="A51C30"/>
                </a:solidFill>
              </a:rPr>
              <a:t>LEI</a:t>
            </a:r>
          </a:p>
        </p:txBody>
      </p:sp>
      <p:cxnSp>
        <p:nvCxnSpPr>
          <p:cNvPr id="40" name="Connector 39"/>
          <p:cNvCxnSpPr/>
          <p:nvPr/>
        </p:nvCxnSpPr>
        <p:spPr>
          <a:xfrm>
            <a:off x="7699248" y="2487168"/>
            <a:ext cx="530352" cy="0"/>
          </a:xfrm>
          <a:prstGeom prst="line">
            <a:avLst/>
          </a:prstGeom>
          <a:ln w="22225">
            <a:solidFill>
              <a:srgbClr val="A51C30"/>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671816" y="2121408"/>
            <a:ext cx="585215" cy="292608"/>
          </a:xfrm>
          <a:prstGeom prst="rect">
            <a:avLst/>
          </a:prstGeom>
          <a:noFill/>
        </p:spPr>
        <p:txBody>
          <a:bodyPr wrap="square" lIns="0" rIns="0" tIns="0" bIns="0" anchor="ctr">
            <a:spAutoFit/>
          </a:bodyPr>
          <a:lstStyle/>
          <a:p>
            <a:pPr algn="ctr"/>
            <a:r>
              <a:rPr sz="1050" b="1" i="0">
                <a:solidFill>
                  <a:srgbClr val="A51C30"/>
                </a:solidFill>
              </a:rPr>
              <a:t>LEI</a:t>
            </a:r>
          </a:p>
        </p:txBody>
      </p:sp>
      <p:sp>
        <p:nvSpPr>
          <p:cNvPr id="42" name="Rectangle 41"/>
          <p:cNvSpPr/>
          <p:nvPr/>
        </p:nvSpPr>
        <p:spPr>
          <a:xfrm>
            <a:off x="777240" y="3730752"/>
            <a:ext cx="2452878" cy="868680"/>
          </a:xfrm>
          <a:prstGeom prst="rect">
            <a:avLst/>
          </a:prstGeom>
          <a:solidFill>
            <a:srgbClr val="FFFFFF"/>
          </a:solidFill>
          <a:ln w="9525">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868680" y="3767328"/>
            <a:ext cx="2288286" cy="822960"/>
          </a:xfrm>
          <a:prstGeom prst="rect">
            <a:avLst/>
          </a:prstGeom>
          <a:noFill/>
        </p:spPr>
        <p:txBody>
          <a:bodyPr wrap="square" lIns="0" rIns="0" tIns="0" bIns="0" anchor="t">
            <a:spAutoFit/>
          </a:bodyPr>
          <a:lstStyle/>
          <a:p>
            <a:pPr algn="l">
              <a:spcAft>
                <a:spcPts val="100"/>
              </a:spcAft>
            </a:pPr>
            <a:r>
              <a:rPr sz="1200" b="1" i="0">
                <a:solidFill>
                  <a:srgbClr val="8A1626"/>
                </a:solidFill>
              </a:rPr>
              <a:t>Refresh script</a:t>
            </a:r>
          </a:p>
          <a:p>
            <a:pPr algn="l"/>
            <a:r>
              <a:rPr sz="1050" b="0" i="0">
                <a:solidFill>
                  <a:srgbClr val="4A5058"/>
                </a:solidFill>
                <a:latin typeface="Courier New"/>
              </a:rPr>
              <a:t>tools/publicdata/&lt;pack&gt;.py .sh and .ps1, status, dry-run</a:t>
            </a:r>
          </a:p>
        </p:txBody>
      </p:sp>
      <p:cxnSp>
        <p:nvCxnSpPr>
          <p:cNvPr id="44" name="Connector 43"/>
          <p:cNvCxnSpPr/>
          <p:nvPr/>
        </p:nvCxnSpPr>
        <p:spPr>
          <a:xfrm>
            <a:off x="3248406" y="4160520"/>
            <a:ext cx="237744"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3504438" y="3730752"/>
            <a:ext cx="2452878" cy="868680"/>
          </a:xfrm>
          <a:prstGeom prst="rect">
            <a:avLst/>
          </a:prstGeom>
          <a:solidFill>
            <a:srgbClr val="FFFFFF"/>
          </a:solidFill>
          <a:ln w="9525">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TextBox 45"/>
          <p:cNvSpPr txBox="1"/>
          <p:nvPr/>
        </p:nvSpPr>
        <p:spPr>
          <a:xfrm>
            <a:off x="3595878" y="3767328"/>
            <a:ext cx="2288286" cy="822960"/>
          </a:xfrm>
          <a:prstGeom prst="rect">
            <a:avLst/>
          </a:prstGeom>
          <a:noFill/>
        </p:spPr>
        <p:txBody>
          <a:bodyPr wrap="square" lIns="0" rIns="0" tIns="0" bIns="0" anchor="t">
            <a:spAutoFit/>
          </a:bodyPr>
          <a:lstStyle/>
          <a:p>
            <a:pPr algn="l">
              <a:spcAft>
                <a:spcPts val="100"/>
              </a:spcAft>
            </a:pPr>
            <a:r>
              <a:rPr sz="1200" b="1" i="0">
                <a:solidFill>
                  <a:srgbClr val="8A1626"/>
                </a:solidFill>
              </a:rPr>
              <a:t>Committed snapshot</a:t>
            </a:r>
          </a:p>
          <a:p>
            <a:pPr algn="l"/>
            <a:r>
              <a:rPr sz="1050" b="0" i="0">
                <a:solidFill>
                  <a:srgbClr val="4A5058"/>
                </a:solidFill>
                <a:latin typeface="Courier New"/>
              </a:rPr>
              <a:t>data/testdata/&lt;domain&gt;/&lt;kind&gt;/*.jsonl.gz</a:t>
            </a:r>
          </a:p>
        </p:txBody>
      </p:sp>
      <p:cxnSp>
        <p:nvCxnSpPr>
          <p:cNvPr id="47" name="Connector 46"/>
          <p:cNvCxnSpPr/>
          <p:nvPr/>
        </p:nvCxnSpPr>
        <p:spPr>
          <a:xfrm>
            <a:off x="5975604" y="4160520"/>
            <a:ext cx="237744"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6231636" y="3730752"/>
            <a:ext cx="2452878" cy="868680"/>
          </a:xfrm>
          <a:prstGeom prst="rect">
            <a:avLst/>
          </a:prstGeom>
          <a:solidFill>
            <a:srgbClr val="FFFFFF"/>
          </a:solidFill>
          <a:ln w="9525">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6323075" y="3767328"/>
            <a:ext cx="2288286" cy="822960"/>
          </a:xfrm>
          <a:prstGeom prst="rect">
            <a:avLst/>
          </a:prstGeom>
          <a:noFill/>
        </p:spPr>
        <p:txBody>
          <a:bodyPr wrap="square" lIns="0" rIns="0" tIns="0" bIns="0" anchor="t">
            <a:spAutoFit/>
          </a:bodyPr>
          <a:lstStyle/>
          <a:p>
            <a:pPr algn="l">
              <a:spcAft>
                <a:spcPts val="100"/>
              </a:spcAft>
            </a:pPr>
            <a:r>
              <a:rPr sz="1200" b="1" i="0">
                <a:solidFill>
                  <a:srgbClr val="8A1626"/>
                </a:solidFill>
              </a:rPr>
              <a:t>Demo lakes</a:t>
            </a:r>
          </a:p>
          <a:p>
            <a:pPr algn="l"/>
            <a:r>
              <a:rPr sz="1050" b="0" i="0">
                <a:solidFill>
                  <a:srgbClr val="4A5058"/>
                </a:solidFill>
                <a:latin typeface="Courier New"/>
              </a:rPr>
              <a:t>build_demo_lakes → Delta</a:t>
            </a:r>
          </a:p>
        </p:txBody>
      </p:sp>
      <p:cxnSp>
        <p:nvCxnSpPr>
          <p:cNvPr id="50" name="Connector 49"/>
          <p:cNvCxnSpPr/>
          <p:nvPr/>
        </p:nvCxnSpPr>
        <p:spPr>
          <a:xfrm>
            <a:off x="8702801" y="4160520"/>
            <a:ext cx="237744"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8958834" y="3730752"/>
            <a:ext cx="2452878" cy="868680"/>
          </a:xfrm>
          <a:prstGeom prst="rect">
            <a:avLst/>
          </a:prstGeom>
          <a:solidFill>
            <a:srgbClr val="FFFFFF"/>
          </a:solidFill>
          <a:ln w="9525">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TextBox 51"/>
          <p:cNvSpPr txBox="1"/>
          <p:nvPr/>
        </p:nvSpPr>
        <p:spPr>
          <a:xfrm>
            <a:off x="9050274" y="3767328"/>
            <a:ext cx="2288286" cy="822960"/>
          </a:xfrm>
          <a:prstGeom prst="rect">
            <a:avLst/>
          </a:prstGeom>
          <a:noFill/>
        </p:spPr>
        <p:txBody>
          <a:bodyPr wrap="square" lIns="0" rIns="0" tIns="0" bIns="0" anchor="t">
            <a:spAutoFit/>
          </a:bodyPr>
          <a:lstStyle/>
          <a:p>
            <a:pPr algn="l">
              <a:spcAft>
                <a:spcPts val="100"/>
              </a:spcAft>
            </a:pPr>
            <a:r>
              <a:rPr sz="1200" b="1" i="0">
                <a:solidFill>
                  <a:srgbClr val="8A1626"/>
                </a:solidFill>
              </a:rPr>
              <a:t>A connector per pack</a:t>
            </a:r>
          </a:p>
          <a:p>
            <a:pPr algn="l"/>
            <a:r>
              <a:rPr sz="1050" b="0" i="0">
                <a:solidFill>
                  <a:srgbClr val="4A5058"/>
                </a:solidFill>
                <a:latin typeface="Courier New"/>
              </a:rPr>
              <a:t>served offline, like any source</a:t>
            </a:r>
          </a:p>
        </p:txBody>
      </p:sp>
      <p:sp>
        <p:nvSpPr>
          <p:cNvPr id="53" name="TextBox 52"/>
          <p:cNvSpPr txBox="1"/>
          <p:nvPr/>
        </p:nvSpPr>
        <p:spPr>
          <a:xfrm>
            <a:off x="777240" y="4736592"/>
            <a:ext cx="10634472" cy="822960"/>
          </a:xfrm>
          <a:prstGeom prst="rect">
            <a:avLst/>
          </a:prstGeom>
          <a:noFill/>
        </p:spPr>
        <p:txBody>
          <a:bodyPr wrap="square" lIns="0" rIns="0" tIns="0" bIns="0" anchor="t">
            <a:spAutoFit/>
          </a:bodyPr>
          <a:lstStyle/>
          <a:p>
            <a:pPr algn="l"/>
            <a:r>
              <a:rPr sz="1200" b="1" i="0">
                <a:solidFill>
                  <a:srgbClr val="8A1626"/>
                </a:solidFill>
              </a:rPr>
              <a:t>External data, one page: </a:t>
            </a:r>
            <a:r>
              <a:rPr sz="1200" b="0" i="0">
                <a:solidFill>
                  <a:srgbClr val="1A1A1A"/>
                </a:solidFill>
              </a:rPr>
              <a:t>every source with its URL, licence and use; IMF, Yahoo and Google News marked internal only and refused in the repository; sectors are SIC divisions because GICS is proprietary — the pages say so.</a:t>
            </a:r>
          </a:p>
        </p:txBody>
      </p:sp>
      <p:sp>
        <p:nvSpPr>
          <p:cNvPr id="54" name="Rectangle 53"/>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Rectangle 54"/>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xtBox 55"/>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Public data arrives the way a bank's data does: a contract per kind, a lake, a connector — and no network at demo time.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FUNDS AND INDEX MEMBERSHIP · 2.9.2 AND 2.9.3</a:t>
            </a:r>
          </a:p>
        </p:txBody>
      </p:sp>
      <p:sp>
        <p:nvSpPr>
          <p:cNvPr id="3" name="Title 2"/>
          <p:cNvSpPr>
            <a:spLocks noGrp="1"/>
          </p:cNvSpPr>
          <p:nvPr>
            <p:ph type="title" idx="104"/>
          </p:nvPr>
        </p:nvSpPr>
        <p:spPr/>
        <p:txBody>
          <a:bodyPr lIns="0" rIns="0" tIns="0" bIns="0" anchor="t"/>
          <a:lstStyle/>
          <a:p>
            <a:r>
              <a:t>Index members from what the tracking ETFs report to the SEC</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pic>
        <p:nvPicPr>
          <p:cNvPr id="26" name="Fund fact sheet" descr="02-fund-fact-sheet.jpg"/>
          <p:cNvPicPr>
            <a:picLocks noChangeAspect="1"/>
          </p:cNvPicPr>
          <p:nvPr/>
        </p:nvPicPr>
        <p:blipFill>
          <a:blip r:embed="rId2"/>
          <a:stretch>
            <a:fillRect/>
          </a:stretch>
        </p:blipFill>
        <p:spPr>
          <a:xfrm>
            <a:off x="908913" y="1444752"/>
            <a:ext cx="4857292" cy="3794760"/>
          </a:xfrm>
          <a:prstGeom prst="rect">
            <a:avLst/>
          </a:prstGeom>
          <a:ln w="9525">
            <a:solidFill>
              <a:srgbClr val="CFC8BE"/>
            </a:solidFill>
          </a:ln>
        </p:spPr>
      </p:pic>
      <p:sp>
        <p:nvSpPr>
          <p:cNvPr id="27" name="TextBox 26"/>
          <p:cNvSpPr txBox="1"/>
          <p:nvPr/>
        </p:nvSpPr>
        <p:spPr>
          <a:xfrm>
            <a:off x="777240" y="5266944"/>
            <a:ext cx="5120640" cy="274320"/>
          </a:xfrm>
          <a:prstGeom prst="rect">
            <a:avLst/>
          </a:prstGeom>
          <a:noFill/>
        </p:spPr>
        <p:txBody>
          <a:bodyPr wrap="square" lIns="0" rIns="0" tIns="0" bIns="0" anchor="t">
            <a:spAutoFit/>
          </a:bodyPr>
          <a:lstStyle/>
          <a:p>
            <a:pPr algn="l"/>
            <a:r>
              <a:rPr sz="1050" b="0" i="1">
                <a:solidFill>
                  <a:srgbClr val="61666E"/>
                </a:solidFill>
              </a:rPr>
              <a:t>FUND QQQ: fact sheet, top holdings, look-through by SIC division (tutorial 28).</a:t>
            </a:r>
          </a:p>
        </p:txBody>
      </p:sp>
      <p:sp>
        <p:nvSpPr>
          <p:cNvPr id="28" name="TextBox 27"/>
          <p:cNvSpPr txBox="1"/>
          <p:nvPr/>
        </p:nvSpPr>
        <p:spPr>
          <a:xfrm>
            <a:off x="6217920" y="1444752"/>
            <a:ext cx="5193792" cy="566928"/>
          </a:xfrm>
          <a:prstGeom prst="rect">
            <a:avLst/>
          </a:prstGeom>
          <a:noFill/>
        </p:spPr>
        <p:txBody>
          <a:bodyPr wrap="square" lIns="0" rIns="0" tIns="0" bIns="0" anchor="t">
            <a:spAutoFit/>
          </a:bodyPr>
          <a:lstStyle/>
          <a:p>
            <a:pPr algn="l"/>
            <a:r>
              <a:rPr sz="1150" b="0" i="0">
                <a:solidFill>
                  <a:srgbClr val="1A1A1A"/>
                </a:solidFill>
              </a:rPr>
              <a:t>Before 2.9.3 the S&amp;P 500, Nasdaq-100 and Dow members came from Wikidata's lists, which lacked Exxon Mobil, BlackRock, NVIDIA in the Nasdaq-100 and about 100 more.</a:t>
            </a:r>
          </a:p>
        </p:txBody>
      </p:sp>
      <p:sp>
        <p:nvSpPr>
          <p:cNvPr id="29" name="TextBox 28"/>
          <p:cNvSpPr txBox="1"/>
          <p:nvPr/>
        </p:nvSpPr>
        <p:spPr>
          <a:xfrm>
            <a:off x="6217920" y="2084831"/>
            <a:ext cx="5193792" cy="274320"/>
          </a:xfrm>
          <a:prstGeom prst="rect">
            <a:avLst/>
          </a:prstGeom>
          <a:noFill/>
        </p:spPr>
        <p:txBody>
          <a:bodyPr wrap="square" lIns="0" rIns="0" tIns="0" bIns="0" anchor="t">
            <a:spAutoFit/>
          </a:bodyPr>
          <a:lstStyle/>
          <a:p>
            <a:pPr algn="l"/>
            <a:r>
              <a:rPr sz="1250" b="1" i="0">
                <a:solidFill>
                  <a:srgbClr val="A51C30"/>
                </a:solidFill>
              </a:rPr>
              <a:t>Active share against the index, before and after</a:t>
            </a:r>
          </a:p>
        </p:txBody>
      </p:sp>
      <p:graphicFrame>
        <p:nvGraphicFramePr>
          <p:cNvPr id="30" name="Active share chart"/>
          <p:cNvGraphicFramePr>
            <a:graphicFrameLocks noGrp="1"/>
          </p:cNvGraphicFramePr>
          <p:nvPr/>
        </p:nvGraphicFramePr>
        <p:xfrm>
          <a:off x="6217920" y="2331720"/>
          <a:ext cx="5193792" cy="1737360"/>
        </p:xfrm>
        <a:graphic>
          <a:graphicData uri="http://schemas.openxmlformats.org/drawingml/2006/chart">
            <c:chart xmlns:c="http://schemas.openxmlformats.org/drawingml/2006/chart" r:id="rId3"/>
          </a:graphicData>
        </a:graphic>
      </p:graphicFrame>
      <p:sp>
        <p:nvSpPr>
          <p:cNvPr id="31" name="Rectangle 30"/>
          <p:cNvSpPr/>
          <p:nvPr/>
        </p:nvSpPr>
        <p:spPr>
          <a:xfrm>
            <a:off x="6217920" y="4206240"/>
            <a:ext cx="1670304" cy="128016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6309359" y="4261104"/>
            <a:ext cx="1533144" cy="411480"/>
          </a:xfrm>
          <a:prstGeom prst="rect">
            <a:avLst/>
          </a:prstGeom>
          <a:noFill/>
        </p:spPr>
        <p:txBody>
          <a:bodyPr wrap="square" lIns="0" rIns="0" tIns="0" bIns="0" anchor="ctr">
            <a:spAutoFit/>
          </a:bodyPr>
          <a:lstStyle/>
          <a:p>
            <a:pPr algn="l"/>
            <a:r>
              <a:rPr sz="1600" b="1" i="0">
                <a:solidFill>
                  <a:srgbClr val="8A1626"/>
                </a:solidFill>
              </a:rPr>
              <a:t>503 → 586</a:t>
            </a:r>
          </a:p>
        </p:txBody>
      </p:sp>
      <p:sp>
        <p:nvSpPr>
          <p:cNvPr id="33" name="TextBox 32"/>
          <p:cNvSpPr txBox="1"/>
          <p:nvPr/>
        </p:nvSpPr>
        <p:spPr>
          <a:xfrm>
            <a:off x="6309359" y="4681728"/>
            <a:ext cx="1533144" cy="777240"/>
          </a:xfrm>
          <a:prstGeom prst="rect">
            <a:avLst/>
          </a:prstGeom>
          <a:noFill/>
        </p:spPr>
        <p:txBody>
          <a:bodyPr wrap="square" lIns="0" rIns="0" tIns="0" bIns="0" anchor="t">
            <a:spAutoFit/>
          </a:bodyPr>
          <a:lstStyle/>
          <a:p>
            <a:pPr algn="l"/>
            <a:r>
              <a:rPr sz="1100" b="0" i="0">
                <a:solidFill>
                  <a:srgbClr val="4A5058"/>
                </a:solidFill>
              </a:rPr>
              <a:t>companies in the pack</a:t>
            </a:r>
          </a:p>
        </p:txBody>
      </p:sp>
      <p:sp>
        <p:nvSpPr>
          <p:cNvPr id="34" name="Rectangle 33"/>
          <p:cNvSpPr/>
          <p:nvPr/>
        </p:nvSpPr>
        <p:spPr>
          <a:xfrm>
            <a:off x="7979664" y="4206240"/>
            <a:ext cx="1670304" cy="128016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xtBox 34"/>
          <p:cNvSpPr txBox="1"/>
          <p:nvPr/>
        </p:nvSpPr>
        <p:spPr>
          <a:xfrm>
            <a:off x="8071104" y="4261104"/>
            <a:ext cx="1533144" cy="411480"/>
          </a:xfrm>
          <a:prstGeom prst="rect">
            <a:avLst/>
          </a:prstGeom>
          <a:noFill/>
        </p:spPr>
        <p:txBody>
          <a:bodyPr wrap="square" lIns="0" rIns="0" tIns="0" bIns="0" anchor="ctr">
            <a:spAutoFit/>
          </a:bodyPr>
          <a:lstStyle/>
          <a:p>
            <a:pPr algn="l"/>
            <a:r>
              <a:rPr sz="1600" b="1" i="0">
                <a:solidFill>
                  <a:srgbClr val="8A1626"/>
                </a:solidFill>
              </a:rPr>
              <a:t>98 of 99</a:t>
            </a:r>
          </a:p>
        </p:txBody>
      </p:sp>
      <p:sp>
        <p:nvSpPr>
          <p:cNvPr id="36" name="TextBox 35"/>
          <p:cNvSpPr txBox="1"/>
          <p:nvPr/>
        </p:nvSpPr>
        <p:spPr>
          <a:xfrm>
            <a:off x="8071104" y="4681728"/>
            <a:ext cx="1533144" cy="777240"/>
          </a:xfrm>
          <a:prstGeom prst="rect">
            <a:avLst/>
          </a:prstGeom>
          <a:noFill/>
        </p:spPr>
        <p:txBody>
          <a:bodyPr wrap="square" lIns="0" rIns="0" tIns="0" bIns="0" anchor="t">
            <a:spAutoFit/>
          </a:bodyPr>
          <a:lstStyle/>
          <a:p>
            <a:pPr algn="l"/>
            <a:r>
              <a:rPr sz="1100" b="0" i="0">
                <a:solidFill>
                  <a:srgbClr val="4A5058"/>
                </a:solidFill>
              </a:rPr>
              <a:t>listed Nasdaq-100 members held by QQQ</a:t>
            </a:r>
          </a:p>
        </p:txBody>
      </p:sp>
      <p:sp>
        <p:nvSpPr>
          <p:cNvPr id="37" name="Rectangle 36"/>
          <p:cNvSpPr/>
          <p:nvPr/>
        </p:nvSpPr>
        <p:spPr>
          <a:xfrm>
            <a:off x="9741408" y="4206240"/>
            <a:ext cx="1670304" cy="128016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xtBox 37"/>
          <p:cNvSpPr txBox="1"/>
          <p:nvPr/>
        </p:nvSpPr>
        <p:spPr>
          <a:xfrm>
            <a:off x="9832848" y="4261104"/>
            <a:ext cx="1533144" cy="411480"/>
          </a:xfrm>
          <a:prstGeom prst="rect">
            <a:avLst/>
          </a:prstGeom>
          <a:noFill/>
        </p:spPr>
        <p:txBody>
          <a:bodyPr wrap="square" lIns="0" rIns="0" tIns="0" bIns="0" anchor="ctr">
            <a:spAutoFit/>
          </a:bodyPr>
          <a:lstStyle/>
          <a:p>
            <a:pPr algn="l"/>
            <a:r>
              <a:rPr sz="1600" b="1" i="0">
                <a:solidFill>
                  <a:srgbClr val="8A1626"/>
                </a:solidFill>
              </a:rPr>
              <a:t>162</a:t>
            </a:r>
          </a:p>
        </p:txBody>
      </p:sp>
      <p:sp>
        <p:nvSpPr>
          <p:cNvPr id="39" name="TextBox 38"/>
          <p:cNvSpPr txBox="1"/>
          <p:nvPr/>
        </p:nvSpPr>
        <p:spPr>
          <a:xfrm>
            <a:off x="9832848" y="4681728"/>
            <a:ext cx="1533144" cy="777240"/>
          </a:xfrm>
          <a:prstGeom prst="rect">
            <a:avLst/>
          </a:prstGeom>
          <a:noFill/>
        </p:spPr>
        <p:txBody>
          <a:bodyPr wrap="square" lIns="0" rIns="0" tIns="0" bIns="0" anchor="t">
            <a:spAutoFit/>
          </a:bodyPr>
          <a:lstStyle/>
          <a:p>
            <a:pPr algn="l"/>
            <a:r>
              <a:rPr sz="1100" b="0" i="0">
                <a:solidFill>
                  <a:srgbClr val="4A5058"/>
                </a:solidFill>
              </a:rPr>
              <a:t>WHAT terms, 23 new for funds</a:t>
            </a:r>
          </a:p>
        </p:txBody>
      </p:sp>
      <p:sp>
        <p:nvSpPr>
          <p:cNvPr id="40" name="Rectangle 39"/>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Rectangle 40"/>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xtBox 41"/>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The Dow is weighed by price and the Nasdaq-100 capped, as their methods do — the active shares fell to what an investor expects.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GROUPINGS AND ANALYTICS, COMPUTED · 2.9.1</a:t>
            </a:r>
          </a:p>
        </p:txBody>
      </p:sp>
      <p:sp>
        <p:nvSpPr>
          <p:cNvPr id="3" name="Title 2"/>
          <p:cNvSpPr>
            <a:spLocks noGrp="1"/>
          </p:cNvSpPr>
          <p:nvPr>
            <p:ph type="title" idx="104"/>
          </p:nvPr>
        </p:nvSpPr>
        <p:spPr/>
        <p:txBody>
          <a:bodyPr lIns="0" rIns="0" tIns="0" bIns="0" anchor="t"/>
          <a:lstStyle/>
          <a:p>
            <a:r>
              <a:t>Groupings and analytics computed from their members, not stored</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graphicFrame>
        <p:nvGraphicFramePr>
          <p:cNvPr id="26" name="Table 25"/>
          <p:cNvGraphicFramePr>
            <a:graphicFrameLocks noGrp="1"/>
          </p:cNvGraphicFramePr>
          <p:nvPr/>
        </p:nvGraphicFramePr>
        <p:xfrm>
          <a:off x="777240" y="1463040"/>
          <a:ext cx="6400800" cy="3200400"/>
        </p:xfrm>
        <a:graphic>
          <a:graphicData uri="http://schemas.openxmlformats.org/drawingml/2006/table">
            <a:tbl>
              <a:tblPr firstRow="0" bandRow="0">
                <a:tableStyleId>{5940675A-B579-460E-94D1-54222C63F5DA}</a:tableStyleId>
              </a:tblPr>
              <a:tblGrid>
                <a:gridCol w="1234440"/>
                <a:gridCol w="3703320"/>
                <a:gridCol w="1463040"/>
              </a:tblGrid>
              <a:tr h="457200">
                <a:tc>
                  <a:txBody>
                    <a:bodyPr wrap="square"/>
                    <a:lstStyle/>
                    <a:p>
                      <a:r>
                        <a:rPr sz="1100" b="1" i="0">
                          <a:solidFill>
                            <a:srgbClr val="FFFFFF"/>
                          </a:solidFill>
                        </a:rPr>
                        <a:t>Command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00" b="1" i="0">
                          <a:solidFill>
                            <a:srgbClr val="FFFFFF"/>
                          </a:solidFill>
                        </a:rPr>
                        <a:t>Computed from</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00" b="1" i="0">
                          <a:solidFill>
                            <a:srgbClr val="FFFFFF"/>
                          </a:solidFill>
                        </a:rPr>
                        <a:t>Engine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r>
              <a:tr h="457200">
                <a:tc>
                  <a:txBody>
                    <a:bodyPr wrap="square"/>
                    <a:lstStyle/>
                    <a:p>
                      <a:r>
                        <a:rPr sz="1100" b="1" i="0">
                          <a:solidFill>
                            <a:srgbClr val="8A1626"/>
                          </a:solidFill>
                        </a:rPr>
                        <a:t>LEIG · LEIC</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GLEIF relationships: ownership groups (no member cap), entities per country</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gleif-groupings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457200">
                <a:tc>
                  <a:txBody>
                    <a:bodyPr wrap="square"/>
                    <a:lstStyle/>
                    <a:p>
                      <a:r>
                        <a:rPr sz="1100" b="1" i="0">
                          <a:solidFill>
                            <a:srgbClr val="8A1626"/>
                          </a:solidFill>
                        </a:rPr>
                        <a:t>SIC</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the sector's companies: count, revenue, net income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us-equities-groupings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457200">
                <a:tc>
                  <a:txBody>
                    <a:bodyPr wrap="square"/>
                    <a:lstStyle/>
                    <a:p>
                      <a:r>
                        <a:rPr sz="1100" b="1" i="0">
                          <a:solidFill>
                            <a:srgbClr val="8A1626"/>
                          </a:solidFill>
                        </a:rPr>
                        <a:t>ECG</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member economies: GDP summed, growth GDP-weighted, inflation the median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macro-groupings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457200">
                <a:tc>
                  <a:txBody>
                    <a:bodyPr wrap="square"/>
                    <a:lstStyle/>
                    <a:p>
                      <a:r>
                        <a:rPr sz="1100" b="1" i="0">
                          <a:solidFill>
                            <a:srgbClr val="8A1626"/>
                          </a:solidFill>
                        </a:rPr>
                        <a:t>CORR</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price history: Pearson or Ledoit-Wolf over a chosen window</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CorrelationEngine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457200">
                <a:tc>
                  <a:txBody>
                    <a:bodyPr wrap="square"/>
                    <a:lstStyle/>
                    <a:p>
                      <a:r>
                        <a:rPr sz="1100" b="1" i="0">
                          <a:solidFill>
                            <a:srgbClr val="8A1626"/>
                          </a:solidFill>
                        </a:rPr>
                        <a:t>EQB</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an equity's beta against its index, from both histories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BetaEngine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457200">
                <a:tc>
                  <a:txBody>
                    <a:bodyPr wrap="square"/>
                    <a:lstStyle/>
                    <a:p>
                      <a:r>
                        <a:rPr sz="1100" b="1" i="0">
                          <a:solidFill>
                            <a:srgbClr val="8A1626"/>
                          </a:solidFill>
                        </a:rPr>
                        <a:t>USEQ · IDX</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ratios, yearly change of a fact, index totals: worked out by the pages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the pages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bl>
          </a:graphicData>
        </a:graphic>
      </p:graphicFrame>
      <p:pic>
        <p:nvPicPr>
          <p:cNvPr id="27" name="Correlation computed" descr="08-corr-pearson.jpg"/>
          <p:cNvPicPr>
            <a:picLocks noChangeAspect="1"/>
          </p:cNvPicPr>
          <p:nvPr/>
        </p:nvPicPr>
        <p:blipFill>
          <a:blip r:embed="rId2"/>
          <a:stretch>
            <a:fillRect/>
          </a:stretch>
        </p:blipFill>
        <p:spPr>
          <a:xfrm>
            <a:off x="7566660" y="1463040"/>
            <a:ext cx="3730752" cy="2331720"/>
          </a:xfrm>
          <a:prstGeom prst="rect">
            <a:avLst/>
          </a:prstGeom>
          <a:ln w="9525">
            <a:solidFill>
              <a:srgbClr val="CFC8BE"/>
            </a:solidFill>
          </a:ln>
        </p:spPr>
      </p:pic>
      <p:sp>
        <p:nvSpPr>
          <p:cNvPr id="28" name="TextBox 27"/>
          <p:cNvSpPr txBox="1"/>
          <p:nvPr/>
        </p:nvSpPr>
        <p:spPr>
          <a:xfrm>
            <a:off x="7452360" y="3840480"/>
            <a:ext cx="3959352" cy="274320"/>
          </a:xfrm>
          <a:prstGeom prst="rect">
            <a:avLst/>
          </a:prstGeom>
          <a:noFill/>
        </p:spPr>
        <p:txBody>
          <a:bodyPr wrap="square" lIns="0" rIns="0" tIns="0" bIns="0" anchor="t">
            <a:spAutoFit/>
          </a:bodyPr>
          <a:lstStyle/>
          <a:p>
            <a:pPr algn="l"/>
            <a:r>
              <a:rPr sz="1050" b="0" i="1">
                <a:solidFill>
                  <a:srgbClr val="61666E"/>
                </a:solidFill>
              </a:rPr>
              <a:t>CORR CORR-EU-EQ: estimator and window on the page (tutorial 27).</a:t>
            </a:r>
          </a:p>
        </p:txBody>
      </p:sp>
      <p:sp>
        <p:nvSpPr>
          <p:cNvPr id="29" name="Rectangle 28"/>
          <p:cNvSpPr/>
          <p:nvPr/>
        </p:nvSpPr>
        <p:spPr>
          <a:xfrm>
            <a:off x="7452360" y="4251960"/>
            <a:ext cx="3959352" cy="1280160"/>
          </a:xfrm>
          <a:prstGeom prst="rect">
            <a:avLst/>
          </a:prstGeom>
          <a:solidFill>
            <a:srgbClr val="F6E6E9"/>
          </a:solidFill>
          <a:ln w="952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7562088" y="4325112"/>
            <a:ext cx="3739896" cy="1152143"/>
          </a:xfrm>
          <a:prstGeom prst="rect">
            <a:avLst/>
          </a:prstGeom>
          <a:noFill/>
        </p:spPr>
        <p:txBody>
          <a:bodyPr wrap="square" lIns="0" rIns="0" tIns="0" bIns="0" anchor="t">
            <a:spAutoFit/>
          </a:bodyPr>
          <a:lstStyle/>
          <a:p>
            <a:pPr algn="l">
              <a:spcAft>
                <a:spcPts val="300"/>
              </a:spcAft>
            </a:pPr>
            <a:r>
              <a:rPr sz="1250" b="1" i="0">
                <a:solidFill>
                  <a:srgbClr val="8A1626"/>
                </a:solidFill>
              </a:rPr>
              <a:t>The numbers change, and say why</a:t>
            </a:r>
          </a:p>
          <a:p>
            <a:pPr algn="l"/>
            <a:r>
              <a:rPr sz="1150" b="0" i="0">
                <a:solidFill>
                  <a:srgbClr val="4A5058"/>
                </a:solidFill>
              </a:rPr>
              <a:t>Stored correlations were set by hand at about 0.4; computed, about 0.1, because the demo's price series are independent. The reconciliation is in the guide.</a:t>
            </a:r>
          </a:p>
        </p:txBody>
      </p:sp>
      <p:sp>
        <p:nvSpPr>
          <p:cNvPr id="31" name="TextBox 30"/>
          <p:cNvSpPr txBox="1"/>
          <p:nvPr/>
        </p:nvSpPr>
        <p:spPr>
          <a:xfrm>
            <a:off x="777240" y="4800600"/>
            <a:ext cx="6400800" cy="731520"/>
          </a:xfrm>
          <a:prstGeom prst="rect">
            <a:avLst/>
          </a:prstGeom>
          <a:noFill/>
        </p:spPr>
        <p:txBody>
          <a:bodyPr wrap="square" lIns="0" rIns="0" tIns="0" bIns="0" anchor="t">
            <a:spAutoFit/>
          </a:bodyPr>
          <a:lstStyle/>
          <a:p>
            <a:pPr algn="l"/>
            <a:r>
              <a:rPr sz="1150" b="1" i="0">
                <a:solidFill>
                  <a:srgbClr val="8A1626"/>
                </a:solidFill>
              </a:rPr>
              <a:t>Old ids open the computed pages; </a:t>
            </a:r>
            <a:r>
              <a:rPr sz="1150" b="0" i="0">
                <a:solidFill>
                  <a:srgbClr val="1A1A1A"/>
                </a:solidFill>
              </a:rPr>
              <a:t>a control that feeds a computed panel (CORR's estimator and window) recomputes it at once.</a:t>
            </a:r>
          </a:p>
        </p:txBody>
      </p:sp>
      <p:sp>
        <p:nvSpPr>
          <p:cNvPr id="32" name="Rectangle 31"/>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Rectangle 32"/>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TextBox 33"/>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Retire the stored copy, keep the id: users follow the same links and get a figure they can re-derive.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DATA CONTRACTS FOR EVERY COMMAND · 2.8.0 AND 2.9.1</a:t>
            </a:r>
          </a:p>
        </p:txBody>
      </p:sp>
      <p:sp>
        <p:nvSpPr>
          <p:cNvPr id="3" name="Title 2"/>
          <p:cNvSpPr>
            <a:spLocks noGrp="1"/>
          </p:cNvSpPr>
          <p:nvPr>
            <p:ph type="title" idx="104"/>
          </p:nvPr>
        </p:nvSpPr>
        <p:spPr/>
        <p:txBody>
          <a:bodyPr lIns="0" rIns="0" tIns="0" bIns="0" anchor="t"/>
          <a:lstStyle/>
          <a:p>
            <a:r>
              <a:t>One contract per command, and everything else is generated from it</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Rectangle 25"/>
          <p:cNvSpPr/>
          <p:nvPr/>
        </p:nvSpPr>
        <p:spPr>
          <a:xfrm>
            <a:off x="777240" y="1463040"/>
            <a:ext cx="3566160" cy="2331720"/>
          </a:xfrm>
          <a:prstGeom prst="rect">
            <a:avLst/>
          </a:prstGeom>
          <a:solidFill>
            <a:srgbClr val="1E1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ectangle 26"/>
          <p:cNvSpPr/>
          <p:nvPr/>
        </p:nvSpPr>
        <p:spPr>
          <a:xfrm>
            <a:off x="777240" y="1463040"/>
            <a:ext cx="3566160" cy="329184"/>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914400" y="1463040"/>
            <a:ext cx="3291840" cy="329184"/>
          </a:xfrm>
          <a:prstGeom prst="rect">
            <a:avLst/>
          </a:prstGeom>
          <a:noFill/>
        </p:spPr>
        <p:txBody>
          <a:bodyPr wrap="square" lIns="0" rIns="0" tIns="0" bIns="0" anchor="ctr">
            <a:spAutoFit/>
          </a:bodyPr>
          <a:lstStyle/>
          <a:p>
            <a:pPr algn="l"/>
            <a:r>
              <a:rPr sz="1150" b="1" i="0">
                <a:solidFill>
                  <a:srgbClr val="FFFFFF"/>
                </a:solidFill>
              </a:rPr>
              <a:t>config/packs/&lt;pack&gt;/contracts/&lt;kind&gt;.contract.yaml</a:t>
            </a:r>
          </a:p>
        </p:txBody>
      </p:sp>
      <p:sp>
        <p:nvSpPr>
          <p:cNvPr id="29" name="TextBox 28"/>
          <p:cNvSpPr txBox="1"/>
          <p:nvPr/>
        </p:nvSpPr>
        <p:spPr>
          <a:xfrm>
            <a:off x="941832" y="1901952"/>
            <a:ext cx="3291840" cy="1828799"/>
          </a:xfrm>
          <a:prstGeom prst="rect">
            <a:avLst/>
          </a:prstGeom>
          <a:noFill/>
        </p:spPr>
        <p:txBody>
          <a:bodyPr wrap="square" lIns="0" rIns="0" tIns="0" bIns="0" anchor="t">
            <a:spAutoFit/>
          </a:bodyPr>
          <a:lstStyle/>
          <a:p>
            <a:pPr algn="l">
              <a:spcAft>
                <a:spcPts val="200"/>
              </a:spcAft>
            </a:pPr>
            <a:r>
              <a:rPr sz="1050" b="0" i="0">
                <a:solidFill>
                  <a:srgbClr val="F1EEE9"/>
                </a:solidFill>
                <a:latin typeface="Courier New"/>
              </a:rPr>
              <a:t>kind · mnemonic · grain · key</a:t>
            </a:r>
          </a:p>
          <a:p>
            <a:pPr algn="l">
              <a:spcAft>
                <a:spcPts val="200"/>
              </a:spcAft>
            </a:pPr>
            <a:r>
              <a:rPr sz="1050" b="0" i="0">
                <a:solidFill>
                  <a:srgbClr val="F1EEE9"/>
                </a:solidFill>
                <a:latin typeface="Courier New"/>
              </a:rPr>
              <a:t>columns: name, type, unit,</a:t>
            </a:r>
          </a:p>
          <a:p>
            <a:pPr algn="l">
              <a:spcAft>
                <a:spcPts val="200"/>
              </a:spcAft>
            </a:pPr>
            <a:r>
              <a:rPr sz="1050" b="0" i="0">
                <a:solidFill>
                  <a:srgbClr val="F1EEE9"/>
                </a:solidFill>
                <a:latin typeface="Courier New"/>
              </a:rPr>
              <a:t>  meaning, source, example</a:t>
            </a:r>
          </a:p>
          <a:p>
            <a:pPr algn="l">
              <a:spcAft>
                <a:spcPts val="200"/>
              </a:spcAft>
            </a:pPr>
            <a:r>
              <a:rPr sz="1050" b="0" i="0">
                <a:solidFill>
                  <a:srgbClr val="F1EEE9"/>
                </a:solidFill>
                <a:latin typeface="Courier New"/>
              </a:rPr>
              <a:t>delivery · validation</a:t>
            </a:r>
          </a:p>
          <a:p>
            <a:pPr algn="l">
              <a:spcAft>
                <a:spcPts val="200"/>
              </a:spcAft>
            </a:pPr>
            <a:r>
              <a:rPr sz="1050" b="0" i="0">
                <a:solidFill>
                  <a:srgbClr val="F1EEE9"/>
                </a:solidFill>
                <a:latin typeface="Courier New"/>
              </a:rPr>
              <a:t>entitlements · retention</a:t>
            </a:r>
          </a:p>
          <a:p>
            <a:pPr algn="l">
              <a:spcAft>
                <a:spcPts val="200"/>
              </a:spcAft>
            </a:pPr>
            <a:r>
              <a:rPr sz="1050" b="0" i="0">
                <a:solidFill>
                  <a:srgbClr val="F1EEE9"/>
                </a:solidFill>
                <a:latin typeface="Courier New"/>
              </a:rPr>
              <a:t>kind of data: fundamental,</a:t>
            </a:r>
          </a:p>
          <a:p>
            <a:pPr algn="l">
              <a:spcAft>
                <a:spcPts val="200"/>
              </a:spcAft>
            </a:pPr>
            <a:r>
              <a:rPr sz="1050" b="0" i="0">
                <a:solidFill>
                  <a:srgbClr val="F1EEE9"/>
                </a:solidFill>
                <a:latin typeface="Courier New"/>
              </a:rPr>
              <a:t>  engine input, own, computed</a:t>
            </a:r>
          </a:p>
        </p:txBody>
      </p:sp>
      <p:cxnSp>
        <p:nvCxnSpPr>
          <p:cNvPr id="30" name="Connector 29"/>
          <p:cNvCxnSpPr/>
          <p:nvPr/>
        </p:nvCxnSpPr>
        <p:spPr>
          <a:xfrm flipV="1">
            <a:off x="4343400" y="1737360"/>
            <a:ext cx="484632" cy="896112"/>
          </a:xfrm>
          <a:prstGeom prst="line">
            <a:avLst/>
          </a:prstGeom>
          <a:ln w="12700">
            <a:solidFill>
              <a:srgbClr val="CFC8B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4846320" y="1463040"/>
            <a:ext cx="3246120" cy="54864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4937759" y="1481328"/>
            <a:ext cx="3108960" cy="512063"/>
          </a:xfrm>
          <a:prstGeom prst="rect">
            <a:avLst/>
          </a:prstGeom>
          <a:noFill/>
        </p:spPr>
        <p:txBody>
          <a:bodyPr wrap="square" lIns="0" rIns="0" tIns="0" bIns="0" anchor="ctr">
            <a:spAutoFit/>
          </a:bodyPr>
          <a:lstStyle/>
          <a:p>
            <a:pPr algn="l"/>
            <a:r>
              <a:rPr sz="1150" b="1" i="0">
                <a:solidFill>
                  <a:srgbClr val="8A1626"/>
                </a:solidFill>
              </a:rPr>
              <a:t>drishti.py contract  </a:t>
            </a:r>
            <a:r>
              <a:rPr sz="1050" b="0" i="0">
                <a:solidFill>
                  <a:srgbClr val="1A1A1A"/>
                </a:solidFill>
              </a:rPr>
              <a:t>list, show, check, docs, bootstrap; kept current by tests</a:t>
            </a:r>
          </a:p>
        </p:txBody>
      </p:sp>
      <p:cxnSp>
        <p:nvCxnSpPr>
          <p:cNvPr id="33" name="Connector 32"/>
          <p:cNvCxnSpPr/>
          <p:nvPr/>
        </p:nvCxnSpPr>
        <p:spPr>
          <a:xfrm flipV="1">
            <a:off x="4343400" y="2340863"/>
            <a:ext cx="484632" cy="292609"/>
          </a:xfrm>
          <a:prstGeom prst="line">
            <a:avLst/>
          </a:prstGeom>
          <a:ln w="12700">
            <a:solidFill>
              <a:srgbClr val="CFC8B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4846320" y="2066543"/>
            <a:ext cx="3246120" cy="54864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xtBox 34"/>
          <p:cNvSpPr txBox="1"/>
          <p:nvPr/>
        </p:nvSpPr>
        <p:spPr>
          <a:xfrm>
            <a:off x="4937759" y="2084831"/>
            <a:ext cx="3108960" cy="512063"/>
          </a:xfrm>
          <a:prstGeom prst="rect">
            <a:avLst/>
          </a:prstGeom>
          <a:noFill/>
        </p:spPr>
        <p:txBody>
          <a:bodyPr wrap="square" lIns="0" rIns="0" tIns="0" bIns="0" anchor="ctr">
            <a:spAutoFit/>
          </a:bodyPr>
          <a:lstStyle/>
          <a:p>
            <a:pPr algn="l"/>
            <a:r>
              <a:rPr sz="1150" b="1" i="0">
                <a:solidFill>
                  <a:srgbClr val="8A1626"/>
                </a:solidFill>
              </a:rPr>
              <a:t>Generated pages  </a:t>
            </a:r>
            <a:r>
              <a:rPr sz="1050" b="0" i="0">
                <a:solidFill>
                  <a:srgbClr val="1A1A1A"/>
                </a:solidFill>
              </a:rPr>
              <a:t>docs/contracts and the COMMAND_CATALOG: every command, what it does, an example</a:t>
            </a:r>
          </a:p>
        </p:txBody>
      </p:sp>
      <p:cxnSp>
        <p:nvCxnSpPr>
          <p:cNvPr id="36" name="Connector 35"/>
          <p:cNvCxnSpPr/>
          <p:nvPr/>
        </p:nvCxnSpPr>
        <p:spPr>
          <a:xfrm>
            <a:off x="4343400" y="2633472"/>
            <a:ext cx="484632" cy="310896"/>
          </a:xfrm>
          <a:prstGeom prst="line">
            <a:avLst/>
          </a:prstGeom>
          <a:ln w="12700">
            <a:solidFill>
              <a:srgbClr val="CFC8B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4846320" y="2670048"/>
            <a:ext cx="3246120" cy="54864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xtBox 37"/>
          <p:cNvSpPr txBox="1"/>
          <p:nvPr/>
        </p:nvSpPr>
        <p:spPr>
          <a:xfrm>
            <a:off x="4937759" y="2688336"/>
            <a:ext cx="3108960" cy="512063"/>
          </a:xfrm>
          <a:prstGeom prst="rect">
            <a:avLst/>
          </a:prstGeom>
          <a:noFill/>
        </p:spPr>
        <p:txBody>
          <a:bodyPr wrap="square" lIns="0" rIns="0" tIns="0" bIns="0" anchor="ctr">
            <a:spAutoFit/>
          </a:bodyPr>
          <a:lstStyle/>
          <a:p>
            <a:pPr algn="l"/>
            <a:r>
              <a:rPr sz="1150" b="1" i="0">
                <a:solidFill>
                  <a:srgbClr val="8A1626"/>
                </a:solidFill>
              </a:rPr>
              <a:t>Every pack's guide  </a:t>
            </a:r>
            <a:r>
              <a:rPr sz="1050" b="0" i="0">
                <a:solidFill>
                  <a:srgbClr val="1A1A1A"/>
                </a:solidFill>
              </a:rPr>
              <a:t>ends with its contracts and where each kind's data comes from (2.9.1)</a:t>
            </a:r>
          </a:p>
        </p:txBody>
      </p:sp>
      <p:cxnSp>
        <p:nvCxnSpPr>
          <p:cNvPr id="39" name="Connector 38"/>
          <p:cNvCxnSpPr/>
          <p:nvPr/>
        </p:nvCxnSpPr>
        <p:spPr>
          <a:xfrm>
            <a:off x="4343400" y="2633472"/>
            <a:ext cx="484632" cy="914400"/>
          </a:xfrm>
          <a:prstGeom prst="line">
            <a:avLst/>
          </a:prstGeom>
          <a:ln w="12700">
            <a:solidFill>
              <a:srgbClr val="CFC8B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4846320" y="3273552"/>
            <a:ext cx="3246120" cy="54864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xtBox 40"/>
          <p:cNvSpPr txBox="1"/>
          <p:nvPr/>
        </p:nvSpPr>
        <p:spPr>
          <a:xfrm>
            <a:off x="4937759" y="3291840"/>
            <a:ext cx="3108960" cy="512063"/>
          </a:xfrm>
          <a:prstGeom prst="rect">
            <a:avLst/>
          </a:prstGeom>
          <a:noFill/>
        </p:spPr>
        <p:txBody>
          <a:bodyPr wrap="square" lIns="0" rIns="0" tIns="0" bIns="0" anchor="ctr">
            <a:spAutoFit/>
          </a:bodyPr>
          <a:lstStyle/>
          <a:p>
            <a:pPr algn="l"/>
            <a:r>
              <a:rPr sz="1150" b="1" i="0">
                <a:solidFill>
                  <a:srgbClr val="8A1626"/>
                </a:solidFill>
              </a:rPr>
              <a:t>DATAMAP  </a:t>
            </a:r>
            <a:r>
              <a:rPr sz="1050" b="0" i="0">
                <a:solidFill>
                  <a:srgbClr val="1A1A1A"/>
                </a:solidFill>
              </a:rPr>
              <a:t>joins between kinds drawn from the contracts and checked against the data (2.9.3)</a:t>
            </a:r>
          </a:p>
        </p:txBody>
      </p:sp>
      <p:cxnSp>
        <p:nvCxnSpPr>
          <p:cNvPr id="42" name="Connector 41"/>
          <p:cNvCxnSpPr/>
          <p:nvPr/>
        </p:nvCxnSpPr>
        <p:spPr>
          <a:xfrm>
            <a:off x="4343400" y="2633472"/>
            <a:ext cx="484632" cy="1517904"/>
          </a:xfrm>
          <a:prstGeom prst="line">
            <a:avLst/>
          </a:prstGeom>
          <a:ln w="12700">
            <a:solidFill>
              <a:srgbClr val="CFC8B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4846320" y="3877056"/>
            <a:ext cx="3246120" cy="54864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xtBox 43"/>
          <p:cNvSpPr txBox="1"/>
          <p:nvPr/>
        </p:nvSpPr>
        <p:spPr>
          <a:xfrm>
            <a:off x="4937759" y="3895344"/>
            <a:ext cx="3108960" cy="512063"/>
          </a:xfrm>
          <a:prstGeom prst="rect">
            <a:avLst/>
          </a:prstGeom>
          <a:noFill/>
        </p:spPr>
        <p:txBody>
          <a:bodyPr wrap="square" lIns="0" rIns="0" tIns="0" bIns="0" anchor="ctr">
            <a:spAutoFit/>
          </a:bodyPr>
          <a:lstStyle/>
          <a:p>
            <a:pPr algn="l"/>
            <a:r>
              <a:rPr sz="1150" b="1" i="0">
                <a:solidFill>
                  <a:srgbClr val="8A1626"/>
                </a:solidFill>
              </a:rPr>
              <a:t>FUNC  </a:t>
            </a:r>
            <a:r>
              <a:rPr sz="1050" b="0" i="0">
                <a:solidFill>
                  <a:srgbClr val="1A1A1A"/>
                </a:solidFill>
              </a:rPr>
              <a:t>Views → Functions: every command you may use, by pack; FUNC &lt;words&gt; filters (2.9.1)</a:t>
            </a:r>
          </a:p>
        </p:txBody>
      </p:sp>
      <p:sp>
        <p:nvSpPr>
          <p:cNvPr id="45" name="TextBox 44"/>
          <p:cNvSpPr txBox="1"/>
          <p:nvPr/>
        </p:nvSpPr>
        <p:spPr>
          <a:xfrm>
            <a:off x="8366760" y="1463040"/>
            <a:ext cx="3044952" cy="274320"/>
          </a:xfrm>
          <a:prstGeom prst="rect">
            <a:avLst/>
          </a:prstGeom>
          <a:noFill/>
        </p:spPr>
        <p:txBody>
          <a:bodyPr wrap="square" lIns="0" rIns="0" tIns="0" bIns="0" anchor="t">
            <a:spAutoFit/>
          </a:bodyPr>
          <a:lstStyle/>
          <a:p>
            <a:pPr algn="l"/>
            <a:r>
              <a:rPr sz="1250" b="1" i="0">
                <a:solidFill>
                  <a:srgbClr val="A51C30"/>
                </a:solidFill>
              </a:rPr>
              <a:t>The 100 commands, by kind of data</a:t>
            </a:r>
          </a:p>
        </p:txBody>
      </p:sp>
      <p:graphicFrame>
        <p:nvGraphicFramePr>
          <p:cNvPr id="46" name="Kinds of data chart"/>
          <p:cNvGraphicFramePr>
            <a:graphicFrameLocks noGrp="1"/>
          </p:cNvGraphicFramePr>
          <p:nvPr/>
        </p:nvGraphicFramePr>
        <p:xfrm>
          <a:off x="8366760" y="1737360"/>
          <a:ext cx="3044952" cy="1828800"/>
        </p:xfrm>
        <a:graphic>
          <a:graphicData uri="http://schemas.openxmlformats.org/drawingml/2006/chart">
            <c:chart xmlns:c="http://schemas.openxmlformats.org/drawingml/2006/chart" r:id="rId2"/>
          </a:graphicData>
        </a:graphic>
      </p:graphicFrame>
      <p:sp>
        <p:nvSpPr>
          <p:cNvPr id="47" name="TextBox 46"/>
          <p:cNvSpPr txBox="1"/>
          <p:nvPr/>
        </p:nvSpPr>
        <p:spPr>
          <a:xfrm>
            <a:off x="8366760" y="3611880"/>
            <a:ext cx="3044952" cy="411480"/>
          </a:xfrm>
          <a:prstGeom prst="rect">
            <a:avLst/>
          </a:prstGeom>
          <a:noFill/>
        </p:spPr>
        <p:txBody>
          <a:bodyPr wrap="square" lIns="0" rIns="0" tIns="0" bIns="0" anchor="t">
            <a:spAutoFit/>
          </a:bodyPr>
          <a:lstStyle/>
          <a:p>
            <a:pPr algn="l"/>
            <a:r>
              <a:rPr sz="1100" b="0" i="1">
                <a:solidFill>
                  <a:srgbClr val="4A5058"/>
                </a:solidFill>
              </a:rPr>
              <a:t>A computed figure is never stored in a fundamental or input table: a guard test fails the build.</a:t>
            </a:r>
          </a:p>
        </p:txBody>
      </p:sp>
      <p:sp>
        <p:nvSpPr>
          <p:cNvPr id="48" name="Rectangle 47"/>
          <p:cNvSpPr/>
          <p:nvPr/>
        </p:nvSpPr>
        <p:spPr>
          <a:xfrm>
            <a:off x="777240" y="4526280"/>
            <a:ext cx="10634472" cy="960120"/>
          </a:xfrm>
          <a:prstGeom prst="rect">
            <a:avLst/>
          </a:prstGeom>
          <a:solidFill>
            <a:srgbClr val="FFFFFF"/>
          </a:solidFill>
          <a:ln w="9525">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914400" y="4572000"/>
            <a:ext cx="2194560" cy="868680"/>
          </a:xfrm>
          <a:prstGeom prst="rect">
            <a:avLst/>
          </a:prstGeom>
          <a:noFill/>
        </p:spPr>
        <p:txBody>
          <a:bodyPr wrap="square" lIns="0" rIns="0" tIns="0" bIns="0" anchor="ctr">
            <a:spAutoFit/>
          </a:bodyPr>
          <a:lstStyle/>
          <a:p>
            <a:pPr algn="l"/>
            <a:r>
              <a:rPr sz="1300" b="1" i="0">
                <a:solidFill>
                  <a:srgbClr val="8A1626"/>
                </a:solidFill>
              </a:rPr>
              <a:t>Admin → Commands</a:t>
            </a:r>
          </a:p>
          <a:p>
            <a:pPr algn="l"/>
            <a:r>
              <a:rPr sz="1100" b="0" i="0">
                <a:solidFill>
                  <a:srgbClr val="61666E"/>
                </a:solidFill>
              </a:rPr>
              <a:t>2.8.0</a:t>
            </a:r>
          </a:p>
        </p:txBody>
      </p:sp>
      <p:sp>
        <p:nvSpPr>
          <p:cNvPr id="50" name="Rectangle 49"/>
          <p:cNvSpPr/>
          <p:nvPr/>
        </p:nvSpPr>
        <p:spPr>
          <a:xfrm>
            <a:off x="3154680" y="4654296"/>
            <a:ext cx="2514600" cy="713232"/>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xtBox 50"/>
          <p:cNvSpPr txBox="1"/>
          <p:nvPr/>
        </p:nvSpPr>
        <p:spPr>
          <a:xfrm>
            <a:off x="3227832" y="4700016"/>
            <a:ext cx="2386584" cy="640080"/>
          </a:xfrm>
          <a:prstGeom prst="rect">
            <a:avLst/>
          </a:prstGeom>
          <a:noFill/>
        </p:spPr>
        <p:txBody>
          <a:bodyPr wrap="square" lIns="0" rIns="0" tIns="0" bIns="0" anchor="t">
            <a:spAutoFit/>
          </a:bodyPr>
          <a:lstStyle/>
          <a:p>
            <a:pPr algn="l">
              <a:spcAft>
                <a:spcPts val="100"/>
              </a:spcAft>
            </a:pPr>
            <a:r>
              <a:rPr sz="1150" b="1" i="0">
                <a:solidFill>
                  <a:srgbClr val="8A1626"/>
                </a:solidFill>
              </a:rPr>
              <a:t>Switch off</a:t>
            </a:r>
          </a:p>
          <a:p>
            <a:pPr algn="l"/>
            <a:r>
              <a:rPr sz="1050" b="0" i="0">
                <a:solidFill>
                  <a:srgbClr val="1A1A1A"/>
                </a:solidFill>
              </a:rPr>
              <a:t>any command, for everyone, with a reason</a:t>
            </a:r>
          </a:p>
        </p:txBody>
      </p:sp>
      <p:cxnSp>
        <p:nvCxnSpPr>
          <p:cNvPr id="52" name="Connector 51"/>
          <p:cNvCxnSpPr/>
          <p:nvPr/>
        </p:nvCxnSpPr>
        <p:spPr>
          <a:xfrm>
            <a:off x="5687568" y="5010912"/>
            <a:ext cx="237744"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5943600" y="4654296"/>
            <a:ext cx="2514600" cy="713232"/>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xtBox 53"/>
          <p:cNvSpPr txBox="1"/>
          <p:nvPr/>
        </p:nvSpPr>
        <p:spPr>
          <a:xfrm>
            <a:off x="6016752" y="4700016"/>
            <a:ext cx="2386584" cy="640080"/>
          </a:xfrm>
          <a:prstGeom prst="rect">
            <a:avLst/>
          </a:prstGeom>
          <a:noFill/>
        </p:spPr>
        <p:txBody>
          <a:bodyPr wrap="square" lIns="0" rIns="0" tIns="0" bIns="0" anchor="t">
            <a:spAutoFit/>
          </a:bodyPr>
          <a:lstStyle/>
          <a:p>
            <a:pPr algn="l">
              <a:spcAft>
                <a:spcPts val="100"/>
              </a:spcAft>
            </a:pPr>
            <a:r>
              <a:rPr sz="1150" b="1" i="0">
                <a:solidFill>
                  <a:srgbClr val="8A1626"/>
                </a:solidFill>
              </a:rPr>
              <a:t>Stored and gossiped</a:t>
            </a:r>
          </a:p>
          <a:p>
            <a:pPr algn="l"/>
            <a:r>
              <a:rPr sz="1050" b="0" i="0">
                <a:solidFill>
                  <a:srgbClr val="1A1A1A"/>
                </a:solidFill>
              </a:rPr>
              <a:t>the Drishti database, every server</a:t>
            </a:r>
          </a:p>
        </p:txBody>
      </p:sp>
      <p:cxnSp>
        <p:nvCxnSpPr>
          <p:cNvPr id="55" name="Connector 54"/>
          <p:cNvCxnSpPr/>
          <p:nvPr/>
        </p:nvCxnSpPr>
        <p:spPr>
          <a:xfrm>
            <a:off x="8476488" y="5010912"/>
            <a:ext cx="237744"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8732520" y="4654296"/>
            <a:ext cx="2514600" cy="713232"/>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xtBox 56"/>
          <p:cNvSpPr txBox="1"/>
          <p:nvPr/>
        </p:nvSpPr>
        <p:spPr>
          <a:xfrm>
            <a:off x="8805672" y="4700016"/>
            <a:ext cx="2386584" cy="640080"/>
          </a:xfrm>
          <a:prstGeom prst="rect">
            <a:avLst/>
          </a:prstGeom>
          <a:noFill/>
        </p:spPr>
        <p:txBody>
          <a:bodyPr wrap="square" lIns="0" rIns="0" tIns="0" bIns="0" anchor="t">
            <a:spAutoFit/>
          </a:bodyPr>
          <a:lstStyle/>
          <a:p>
            <a:pPr algn="l">
              <a:spcAft>
                <a:spcPts val="100"/>
              </a:spcAft>
            </a:pPr>
            <a:r>
              <a:rPr sz="1150" b="1" i="0">
                <a:solidFill>
                  <a:srgbClr val="8A1626"/>
                </a:solidFill>
              </a:rPr>
              <a:t>'Not active' everywhere</a:t>
            </a:r>
          </a:p>
          <a:p>
            <a:pPr algn="l"/>
            <a:r>
              <a:rPr sz="1050" b="0" i="0">
                <a:solidFill>
                  <a:srgbClr val="1A1A1A"/>
                </a:solidFill>
              </a:rPr>
              <a:t>page, API, CLI, search, exports, BI, AI: 403 DRS-1016</a:t>
            </a:r>
          </a:p>
        </p:txBody>
      </p:sp>
      <p:sp>
        <p:nvSpPr>
          <p:cNvPr id="58" name="Rectangle 57"/>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Rectangle 58"/>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xtBox 59"/>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A command's meaning lives in one file; the catalog, the guides, the map and the switches read it.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VAR · COMPUTED FOR ANY SCOPE SINCE 2.8.0</a:t>
            </a:r>
          </a:p>
        </p:txBody>
      </p:sp>
      <p:sp>
        <p:nvSpPr>
          <p:cNvPr id="3" name="Title 2"/>
          <p:cNvSpPr>
            <a:spLocks noGrp="1"/>
          </p:cNvSpPr>
          <p:nvPr>
            <p:ph type="title" idx="104"/>
          </p:nvPr>
        </p:nvSpPr>
        <p:spPr/>
        <p:txBody>
          <a:bodyPr lIns="0" rIns="0" tIns="0" bIns="0" anchor="t"/>
          <a:lstStyle/>
          <a:p>
            <a:r>
              <a:t>VaR is a computation over the trades, never a stored number</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pic>
        <p:nvPicPr>
          <p:cNvPr id="26" name="VaR explorer" descr="01-explorer-desk.jpg"/>
          <p:cNvPicPr>
            <a:picLocks noChangeAspect="1"/>
          </p:cNvPicPr>
          <p:nvPr/>
        </p:nvPicPr>
        <p:blipFill>
          <a:blip r:embed="rId2"/>
          <a:stretch>
            <a:fillRect/>
          </a:stretch>
        </p:blipFill>
        <p:spPr>
          <a:xfrm>
            <a:off x="777240" y="1456182"/>
            <a:ext cx="5669280" cy="3543300"/>
          </a:xfrm>
          <a:prstGeom prst="rect">
            <a:avLst/>
          </a:prstGeom>
          <a:ln w="9525">
            <a:solidFill>
              <a:srgbClr val="CFC8BE"/>
            </a:solidFill>
          </a:ln>
        </p:spPr>
      </p:pic>
      <p:sp>
        <p:nvSpPr>
          <p:cNvPr id="27" name="TextBox 26"/>
          <p:cNvSpPr txBox="1"/>
          <p:nvPr/>
        </p:nvSpPr>
        <p:spPr>
          <a:xfrm>
            <a:off x="777240" y="5029200"/>
            <a:ext cx="5669280" cy="274320"/>
          </a:xfrm>
          <a:prstGeom prst="rect">
            <a:avLst/>
          </a:prstGeom>
          <a:noFill/>
        </p:spPr>
        <p:txBody>
          <a:bodyPr wrap="square" lIns="0" rIns="0" tIns="0" bIns="0" anchor="t">
            <a:spAutoFit/>
          </a:bodyPr>
          <a:lstStyle/>
          <a:p>
            <a:pPr algn="l"/>
            <a:r>
              <a:rPr sz="1050" b="0" i="1">
                <a:solidFill>
                  <a:srgbClr val="61666E"/>
                </a:solidFill>
              </a:rPr>
              <a:t>VAR DESK: the scope tree with limits, six tiles, the P&amp;L path and its tabs (VAR_GUIDE §3).</a:t>
            </a:r>
          </a:p>
        </p:txBody>
      </p:sp>
      <p:sp>
        <p:nvSpPr>
          <p:cNvPr id="28" name="Rectangle 27"/>
          <p:cNvSpPr/>
          <p:nvPr/>
        </p:nvSpPr>
        <p:spPr>
          <a:xfrm>
            <a:off x="6720840" y="1444752"/>
            <a:ext cx="2276856" cy="896112"/>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Rectangle 28"/>
          <p:cNvSpPr/>
          <p:nvPr/>
        </p:nvSpPr>
        <p:spPr>
          <a:xfrm>
            <a:off x="6720840" y="1444752"/>
            <a:ext cx="45720" cy="89611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6903720" y="1536192"/>
            <a:ext cx="2002536" cy="457200"/>
          </a:xfrm>
          <a:prstGeom prst="rect">
            <a:avLst/>
          </a:prstGeom>
          <a:noFill/>
        </p:spPr>
        <p:txBody>
          <a:bodyPr wrap="square" lIns="0" rIns="0" tIns="0" bIns="0" anchor="ctr">
            <a:spAutoFit/>
          </a:bodyPr>
          <a:lstStyle/>
          <a:p>
            <a:pPr algn="l"/>
            <a:r>
              <a:rPr sz="1900" b="1" i="0">
                <a:solidFill>
                  <a:srgbClr val="8A1626"/>
                </a:solidFill>
              </a:rPr>
              <a:t>112.04m</a:t>
            </a:r>
          </a:p>
        </p:txBody>
      </p:sp>
      <p:sp>
        <p:nvSpPr>
          <p:cNvPr id="31" name="TextBox 30"/>
          <p:cNvSpPr txBox="1"/>
          <p:nvPr/>
        </p:nvSpPr>
        <p:spPr>
          <a:xfrm>
            <a:off x="6903720" y="2011680"/>
            <a:ext cx="2002536" cy="274319"/>
          </a:xfrm>
          <a:prstGeom prst="rect">
            <a:avLst/>
          </a:prstGeom>
          <a:noFill/>
        </p:spPr>
        <p:txBody>
          <a:bodyPr wrap="square" lIns="0" rIns="0" tIns="0" bIns="0" anchor="t">
            <a:spAutoFit/>
          </a:bodyPr>
          <a:lstStyle/>
          <a:p>
            <a:pPr algn="l"/>
            <a:r>
              <a:rPr sz="1150" b="0" i="0">
                <a:solidFill>
                  <a:srgbClr val="4A5058"/>
                </a:solidFill>
              </a:rPr>
              <a:t>bank VaR 99%, 1 day, USD, 2026-09-30</a:t>
            </a:r>
          </a:p>
        </p:txBody>
      </p:sp>
      <p:sp>
        <p:nvSpPr>
          <p:cNvPr id="32" name="Rectangle 31"/>
          <p:cNvSpPr/>
          <p:nvPr/>
        </p:nvSpPr>
        <p:spPr>
          <a:xfrm>
            <a:off x="9134856" y="1444752"/>
            <a:ext cx="2276856" cy="896112"/>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Rectangle 32"/>
          <p:cNvSpPr/>
          <p:nvPr/>
        </p:nvSpPr>
        <p:spPr>
          <a:xfrm>
            <a:off x="9134856" y="1444752"/>
            <a:ext cx="45720" cy="89611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TextBox 33"/>
          <p:cNvSpPr txBox="1"/>
          <p:nvPr/>
        </p:nvSpPr>
        <p:spPr>
          <a:xfrm>
            <a:off x="9317736" y="1536192"/>
            <a:ext cx="2002536" cy="457200"/>
          </a:xfrm>
          <a:prstGeom prst="rect">
            <a:avLst/>
          </a:prstGeom>
          <a:noFill/>
        </p:spPr>
        <p:txBody>
          <a:bodyPr wrap="square" lIns="0" rIns="0" tIns="0" bIns="0" anchor="ctr">
            <a:spAutoFit/>
          </a:bodyPr>
          <a:lstStyle/>
          <a:p>
            <a:pPr algn="l"/>
            <a:r>
              <a:rPr sz="1900" b="1" i="0">
                <a:solidFill>
                  <a:srgbClr val="8A1626"/>
                </a:solidFill>
              </a:rPr>
              <a:t>160.14m</a:t>
            </a:r>
          </a:p>
        </p:txBody>
      </p:sp>
      <p:sp>
        <p:nvSpPr>
          <p:cNvPr id="35" name="TextBox 34"/>
          <p:cNvSpPr txBox="1"/>
          <p:nvPr/>
        </p:nvSpPr>
        <p:spPr>
          <a:xfrm>
            <a:off x="9317736" y="2011680"/>
            <a:ext cx="2002536" cy="274319"/>
          </a:xfrm>
          <a:prstGeom prst="rect">
            <a:avLst/>
          </a:prstGeom>
          <a:noFill/>
        </p:spPr>
        <p:txBody>
          <a:bodyPr wrap="square" lIns="0" rIns="0" tIns="0" bIns="0" anchor="t">
            <a:spAutoFit/>
          </a:bodyPr>
          <a:lstStyle/>
          <a:p>
            <a:pPr algn="l"/>
            <a:r>
              <a:rPr sz="1150" b="0" i="0">
                <a:solidFill>
                  <a:srgbClr val="4A5058"/>
                </a:solidFill>
              </a:rPr>
              <a:t>ES 97.5%: the mean of the 13 worst</a:t>
            </a:r>
          </a:p>
        </p:txBody>
      </p:sp>
      <p:sp>
        <p:nvSpPr>
          <p:cNvPr id="36" name="Rectangle 35"/>
          <p:cNvSpPr/>
          <p:nvPr/>
        </p:nvSpPr>
        <p:spPr>
          <a:xfrm>
            <a:off x="6720840" y="2432304"/>
            <a:ext cx="2276856" cy="896112"/>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Rectangle 36"/>
          <p:cNvSpPr/>
          <p:nvPr/>
        </p:nvSpPr>
        <p:spPr>
          <a:xfrm>
            <a:off x="6720840" y="2432304"/>
            <a:ext cx="45720" cy="89611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xtBox 37"/>
          <p:cNvSpPr txBox="1"/>
          <p:nvPr/>
        </p:nvSpPr>
        <p:spPr>
          <a:xfrm>
            <a:off x="6903720" y="2523744"/>
            <a:ext cx="2002536" cy="457200"/>
          </a:xfrm>
          <a:prstGeom prst="rect">
            <a:avLst/>
          </a:prstGeom>
          <a:noFill/>
        </p:spPr>
        <p:txBody>
          <a:bodyPr wrap="square" lIns="0" rIns="0" tIns="0" bIns="0" anchor="ctr">
            <a:spAutoFit/>
          </a:bodyPr>
          <a:lstStyle/>
          <a:p>
            <a:pPr algn="l"/>
            <a:r>
              <a:rPr sz="1900" b="1" i="0">
                <a:solidFill>
                  <a:srgbClr val="8A1626"/>
                </a:solidFill>
              </a:rPr>
              <a:t>509</a:t>
            </a:r>
          </a:p>
        </p:txBody>
      </p:sp>
      <p:sp>
        <p:nvSpPr>
          <p:cNvPr id="39" name="TextBox 38"/>
          <p:cNvSpPr txBox="1"/>
          <p:nvPr/>
        </p:nvSpPr>
        <p:spPr>
          <a:xfrm>
            <a:off x="6903720" y="2999232"/>
            <a:ext cx="2002536" cy="274319"/>
          </a:xfrm>
          <a:prstGeom prst="rect">
            <a:avLst/>
          </a:prstGeom>
          <a:noFill/>
        </p:spPr>
        <p:txBody>
          <a:bodyPr wrap="square" lIns="0" rIns="0" tIns="0" bIns="0" anchor="t">
            <a:spAutoFit/>
          </a:bodyPr>
          <a:lstStyle/>
          <a:p>
            <a:pPr algn="l"/>
            <a:r>
              <a:rPr sz="1150" b="0" i="0">
                <a:solidFill>
                  <a:srgbClr val="4A5058"/>
                </a:solidFill>
              </a:rPr>
              <a:t>historical scenario days, equal weights</a:t>
            </a:r>
          </a:p>
        </p:txBody>
      </p:sp>
      <p:sp>
        <p:nvSpPr>
          <p:cNvPr id="40" name="Rectangle 39"/>
          <p:cNvSpPr/>
          <p:nvPr/>
        </p:nvSpPr>
        <p:spPr>
          <a:xfrm>
            <a:off x="9134856" y="2432304"/>
            <a:ext cx="2276856" cy="896112"/>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Rectangle 40"/>
          <p:cNvSpPr/>
          <p:nvPr/>
        </p:nvSpPr>
        <p:spPr>
          <a:xfrm>
            <a:off x="9134856" y="2432304"/>
            <a:ext cx="45720" cy="89611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xtBox 41"/>
          <p:cNvSpPr txBox="1"/>
          <p:nvPr/>
        </p:nvSpPr>
        <p:spPr>
          <a:xfrm>
            <a:off x="9317736" y="2523744"/>
            <a:ext cx="2002536" cy="457200"/>
          </a:xfrm>
          <a:prstGeom prst="rect">
            <a:avLst/>
          </a:prstGeom>
          <a:noFill/>
        </p:spPr>
        <p:txBody>
          <a:bodyPr wrap="square" lIns="0" rIns="0" tIns="0" bIns="0" anchor="ctr">
            <a:spAutoFit/>
          </a:bodyPr>
          <a:lstStyle/>
          <a:p>
            <a:pPr algn="l"/>
            <a:r>
              <a:rPr sz="1900" b="1" i="0">
                <a:solidFill>
                  <a:srgbClr val="8A1626"/>
                </a:solidFill>
              </a:rPr>
              <a:t>9,572</a:t>
            </a:r>
          </a:p>
        </p:txBody>
      </p:sp>
      <p:sp>
        <p:nvSpPr>
          <p:cNvPr id="43" name="TextBox 42"/>
          <p:cNvSpPr txBox="1"/>
          <p:nvPr/>
        </p:nvSpPr>
        <p:spPr>
          <a:xfrm>
            <a:off x="9317736" y="2999232"/>
            <a:ext cx="2002536" cy="274319"/>
          </a:xfrm>
          <a:prstGeom prst="rect">
            <a:avLst/>
          </a:prstGeom>
          <a:noFill/>
        </p:spPr>
        <p:txBody>
          <a:bodyPr wrap="square" lIns="0" rIns="0" tIns="0" bIns="0" anchor="t">
            <a:spAutoFit/>
          </a:bodyPr>
          <a:lstStyle/>
          <a:p>
            <a:pPr algn="l"/>
            <a:r>
              <a:rPr sz="1150" b="0" i="0">
                <a:solidFill>
                  <a:srgbClr val="4A5058"/>
                </a:solidFill>
              </a:rPr>
              <a:t>live trades in 7,984 derived positions</a:t>
            </a:r>
          </a:p>
        </p:txBody>
      </p:sp>
      <p:sp>
        <p:nvSpPr>
          <p:cNvPr id="44" name="Rectangle 43"/>
          <p:cNvSpPr/>
          <p:nvPr/>
        </p:nvSpPr>
        <p:spPr>
          <a:xfrm>
            <a:off x="6720840" y="3419856"/>
            <a:ext cx="2276856" cy="896112"/>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Rectangle 44"/>
          <p:cNvSpPr/>
          <p:nvPr/>
        </p:nvSpPr>
        <p:spPr>
          <a:xfrm>
            <a:off x="6720840" y="3419856"/>
            <a:ext cx="45720" cy="89611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TextBox 45"/>
          <p:cNvSpPr txBox="1"/>
          <p:nvPr/>
        </p:nvSpPr>
        <p:spPr>
          <a:xfrm>
            <a:off x="6903720" y="3511296"/>
            <a:ext cx="2002536" cy="457200"/>
          </a:xfrm>
          <a:prstGeom prst="rect">
            <a:avLst/>
          </a:prstGeom>
          <a:noFill/>
        </p:spPr>
        <p:txBody>
          <a:bodyPr wrap="square" lIns="0" rIns="0" tIns="0" bIns="0" anchor="ctr">
            <a:spAutoFit/>
          </a:bodyPr>
          <a:lstStyle/>
          <a:p>
            <a:pPr algn="l"/>
            <a:r>
              <a:rPr sz="1900" b="1" i="0">
                <a:solidFill>
                  <a:srgbClr val="8A1626"/>
                </a:solidFill>
              </a:rPr>
              <a:t>131 · 28</a:t>
            </a:r>
          </a:p>
        </p:txBody>
      </p:sp>
      <p:sp>
        <p:nvSpPr>
          <p:cNvPr id="47" name="TextBox 46"/>
          <p:cNvSpPr txBox="1"/>
          <p:nvPr/>
        </p:nvSpPr>
        <p:spPr>
          <a:xfrm>
            <a:off x="6903720" y="3986784"/>
            <a:ext cx="2002536" cy="274319"/>
          </a:xfrm>
          <a:prstGeom prst="rect">
            <a:avLst/>
          </a:prstGeom>
          <a:noFill/>
        </p:spPr>
        <p:txBody>
          <a:bodyPr wrap="square" lIns="0" rIns="0" tIns="0" bIns="0" anchor="t">
            <a:spAutoFit/>
          </a:bodyPr>
          <a:lstStyle/>
          <a:p>
            <a:pPr algn="l"/>
            <a:r>
              <a:rPr sz="1150" b="0" i="0">
                <a:solidFill>
                  <a:srgbClr val="4A5058"/>
                </a:solidFill>
              </a:rPr>
              <a:t>nodes in 3 trees · portfolios</a:t>
            </a:r>
          </a:p>
        </p:txBody>
      </p:sp>
      <p:sp>
        <p:nvSpPr>
          <p:cNvPr id="48" name="Rectangle 47"/>
          <p:cNvSpPr/>
          <p:nvPr/>
        </p:nvSpPr>
        <p:spPr>
          <a:xfrm>
            <a:off x="9134856" y="3419856"/>
            <a:ext cx="2276856" cy="896112"/>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Rectangle 48"/>
          <p:cNvSpPr/>
          <p:nvPr/>
        </p:nvSpPr>
        <p:spPr>
          <a:xfrm>
            <a:off x="9134856" y="3419856"/>
            <a:ext cx="45720" cy="89611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xtBox 49"/>
          <p:cNvSpPr txBox="1"/>
          <p:nvPr/>
        </p:nvSpPr>
        <p:spPr>
          <a:xfrm>
            <a:off x="9317736" y="3511296"/>
            <a:ext cx="2002536" cy="457200"/>
          </a:xfrm>
          <a:prstGeom prst="rect">
            <a:avLst/>
          </a:prstGeom>
          <a:noFill/>
        </p:spPr>
        <p:txBody>
          <a:bodyPr wrap="square" lIns="0" rIns="0" tIns="0" bIns="0" anchor="ctr">
            <a:spAutoFit/>
          </a:bodyPr>
          <a:lstStyle/>
          <a:p>
            <a:pPr algn="l"/>
            <a:r>
              <a:rPr sz="1900" b="1" i="0">
                <a:solidFill>
                  <a:srgbClr val="8A1626"/>
                </a:solidFill>
              </a:rPr>
              <a:t>&lt; 1 ms</a:t>
            </a:r>
          </a:p>
        </p:txBody>
      </p:sp>
      <p:sp>
        <p:nvSpPr>
          <p:cNvPr id="51" name="TextBox 50"/>
          <p:cNvSpPr txBox="1"/>
          <p:nvPr/>
        </p:nvSpPr>
        <p:spPr>
          <a:xfrm>
            <a:off x="9317736" y="3986784"/>
            <a:ext cx="2002536" cy="274319"/>
          </a:xfrm>
          <a:prstGeom prst="rect">
            <a:avLst/>
          </a:prstGeom>
          <a:noFill/>
        </p:spPr>
        <p:txBody>
          <a:bodyPr wrap="square" lIns="0" rIns="0" tIns="0" bIns="0" anchor="t">
            <a:spAutoFit/>
          </a:bodyPr>
          <a:lstStyle/>
          <a:p>
            <a:pPr algn="l"/>
            <a:r>
              <a:rPr sz="1150" b="0" i="0">
                <a:solidFill>
                  <a:srgbClr val="4A5058"/>
                </a:solidFill>
              </a:rPr>
              <a:t>a node's VaR from its aggregate</a:t>
            </a:r>
          </a:p>
        </p:txBody>
      </p:sp>
      <p:sp>
        <p:nvSpPr>
          <p:cNvPr id="52" name="TextBox 51"/>
          <p:cNvSpPr txBox="1"/>
          <p:nvPr/>
        </p:nvSpPr>
        <p:spPr>
          <a:xfrm>
            <a:off x="6720840" y="4462272"/>
            <a:ext cx="4690872" cy="1051560"/>
          </a:xfrm>
          <a:prstGeom prst="rect">
            <a:avLst/>
          </a:prstGeom>
          <a:noFill/>
        </p:spPr>
        <p:txBody>
          <a:bodyPr wrap="square" lIns="0" rIns="0" tIns="0" bIns="0" anchor="t">
            <a:spAutoFit/>
          </a:bodyPr>
          <a:lstStyle/>
          <a:p>
            <a:pPr algn="l"/>
            <a:r>
              <a:rPr sz="1200" b="1" i="0">
                <a:solidFill>
                  <a:srgbClr val="8A1626"/>
                </a:solidFill>
              </a:rPr>
              <a:t>Any scope: </a:t>
            </a:r>
            <a:r>
              <a:rPr sz="1150" b="0" i="0">
                <a:solidFill>
                  <a:srgbClr val="1A1A1A"/>
                </a:solidFill>
              </a:rPr>
              <a:t>bank, legal entity, desk, book, limit letter, position, trade, a portfolio, a rule or a basket, joined with + − &amp;. Stored VAR retired; official records of every node of every tree, kept 7 years.</a:t>
            </a:r>
          </a:p>
        </p:txBody>
      </p:sp>
      <p:sp>
        <p:nvSpPr>
          <p:cNvPr id="53" name="Rectangle 52"/>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Rectangle 53"/>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TextBox 54"/>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See also  </a:t>
            </a:r>
            <a:r>
              <a:rPr sz="1300" b="1" i="0">
                <a:solidFill>
                  <a:srgbClr val="8A1626"/>
                </a:solidFill>
              </a:rPr>
              <a:t>In depth: the VaR engine deck (34 slides) — method, data flow, inputs, scale and governance.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VAR · 2.9.4 · ANY INPUT CONTRACT</a:t>
            </a:r>
          </a:p>
        </p:txBody>
      </p:sp>
      <p:sp>
        <p:nvSpPr>
          <p:cNvPr id="3" name="Title 2"/>
          <p:cNvSpPr>
            <a:spLocks noGrp="1"/>
          </p:cNvSpPr>
          <p:nvPr>
            <p:ph type="title" idx="104"/>
          </p:nvPr>
        </p:nvSpPr>
        <p:spPr/>
        <p:txBody>
          <a:bodyPr lIns="0" rIns="0" tIns="0" bIns="0" anchor="t"/>
          <a:lstStyle/>
          <a:p>
            <a:r>
              <a:t>Scenario PVs or P&amp;L, by trade or by position, from files or Kafka</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TextBox 25"/>
          <p:cNvSpPr txBox="1"/>
          <p:nvPr/>
        </p:nvSpPr>
        <p:spPr>
          <a:xfrm>
            <a:off x="777240" y="1481328"/>
            <a:ext cx="1874519" cy="384048"/>
          </a:xfrm>
          <a:prstGeom prst="rect">
            <a:avLst/>
          </a:prstGeom>
          <a:noFill/>
        </p:spPr>
        <p:txBody>
          <a:bodyPr wrap="square" lIns="0" rIns="0" tIns="0" bIns="0" anchor="ctr">
            <a:spAutoFit/>
          </a:bodyPr>
          <a:lstStyle/>
          <a:p>
            <a:pPr algn="l"/>
            <a:r>
              <a:rPr sz="1200" b="1" i="0">
                <a:solidFill>
                  <a:srgbClr val="A51C30"/>
                </a:solidFill>
              </a:rPr>
              <a:t>Each system sends</a:t>
            </a:r>
          </a:p>
        </p:txBody>
      </p:sp>
      <p:sp>
        <p:nvSpPr>
          <p:cNvPr id="27" name="Rectangle 26"/>
          <p:cNvSpPr/>
          <p:nvPr/>
        </p:nvSpPr>
        <p:spPr>
          <a:xfrm>
            <a:off x="2651760" y="1481328"/>
            <a:ext cx="2057400" cy="384048"/>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2651760" y="1481328"/>
            <a:ext cx="2057400" cy="384048"/>
          </a:xfrm>
          <a:prstGeom prst="rect">
            <a:avLst/>
          </a:prstGeom>
          <a:noFill/>
        </p:spPr>
        <p:txBody>
          <a:bodyPr wrap="square" lIns="0" rIns="0" tIns="0" bIns="0" anchor="ctr">
            <a:spAutoFit/>
          </a:bodyPr>
          <a:lstStyle/>
          <a:p>
            <a:pPr algn="ctr"/>
            <a:r>
              <a:rPr sz="1250" b="1" i="0">
                <a:solidFill>
                  <a:srgbClr val="FFFFFF"/>
                </a:solidFill>
              </a:rPr>
              <a:t>By trade</a:t>
            </a:r>
          </a:p>
        </p:txBody>
      </p:sp>
      <p:sp>
        <p:nvSpPr>
          <p:cNvPr id="29" name="Rectangle 28"/>
          <p:cNvSpPr/>
          <p:nvPr/>
        </p:nvSpPr>
        <p:spPr>
          <a:xfrm>
            <a:off x="4782312" y="1481328"/>
            <a:ext cx="2057400" cy="384048"/>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4782312" y="1481328"/>
            <a:ext cx="2057400" cy="384048"/>
          </a:xfrm>
          <a:prstGeom prst="rect">
            <a:avLst/>
          </a:prstGeom>
          <a:noFill/>
        </p:spPr>
        <p:txBody>
          <a:bodyPr wrap="square" lIns="0" rIns="0" tIns="0" bIns="0" anchor="ctr">
            <a:spAutoFit/>
          </a:bodyPr>
          <a:lstStyle/>
          <a:p>
            <a:pPr algn="ctr"/>
            <a:r>
              <a:rPr sz="1250" b="1" i="0">
                <a:solidFill>
                  <a:srgbClr val="FFFFFF"/>
                </a:solidFill>
              </a:rPr>
              <a:t>By position</a:t>
            </a:r>
          </a:p>
        </p:txBody>
      </p:sp>
      <p:sp>
        <p:nvSpPr>
          <p:cNvPr id="31" name="Rectangle 30"/>
          <p:cNvSpPr/>
          <p:nvPr/>
        </p:nvSpPr>
        <p:spPr>
          <a:xfrm>
            <a:off x="777240" y="1938528"/>
            <a:ext cx="1801367" cy="64008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886968" y="1938528"/>
            <a:ext cx="1691639" cy="640080"/>
          </a:xfrm>
          <a:prstGeom prst="rect">
            <a:avLst/>
          </a:prstGeom>
          <a:noFill/>
        </p:spPr>
        <p:txBody>
          <a:bodyPr wrap="square" lIns="0" rIns="0" tIns="0" bIns="0" anchor="ctr">
            <a:spAutoFit/>
          </a:bodyPr>
          <a:lstStyle/>
          <a:p>
            <a:pPr algn="l"/>
            <a:r>
              <a:rPr sz="1250" b="1" i="0">
                <a:solidFill>
                  <a:srgbClr val="8A1626"/>
                </a:solidFill>
              </a:rPr>
              <a:t>Scenario PVs</a:t>
            </a:r>
          </a:p>
          <a:p>
            <a:pPr algn="l"/>
            <a:r>
              <a:rPr sz="1050" b="0" i="0">
                <a:solidFill>
                  <a:srgbClr val="4A5058"/>
                </a:solidFill>
              </a:rPr>
              <a:t>in the trade's own currency</a:t>
            </a:r>
          </a:p>
        </p:txBody>
      </p:sp>
      <p:sp>
        <p:nvSpPr>
          <p:cNvPr id="33" name="Rectangle 32"/>
          <p:cNvSpPr/>
          <p:nvPr/>
        </p:nvSpPr>
        <p:spPr>
          <a:xfrm>
            <a:off x="2651760" y="1938528"/>
            <a:ext cx="2057400" cy="640080"/>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Rounded Rectangle 33"/>
          <p:cNvSpPr/>
          <p:nvPr/>
        </p:nvSpPr>
        <p:spPr>
          <a:xfrm>
            <a:off x="2788920" y="2157984"/>
            <a:ext cx="566928" cy="201168"/>
          </a:xfrm>
          <a:prstGeom prst="roundRect">
            <a:avLst>
              <a:gd name="adj" fmla="val 50000"/>
            </a:avLst>
          </a:prstGeom>
          <a:solidFill>
            <a:srgbClr val="A51C30"/>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FFFFFF"/>
                </a:solidFill>
              </a:rPr>
              <a:t>BUILT</a:t>
            </a:r>
          </a:p>
        </p:txBody>
      </p:sp>
      <p:sp>
        <p:nvSpPr>
          <p:cNvPr id="35" name="TextBox 34"/>
          <p:cNvSpPr txBox="1"/>
          <p:nvPr/>
        </p:nvSpPr>
        <p:spPr>
          <a:xfrm>
            <a:off x="3429000" y="1938528"/>
            <a:ext cx="1234440" cy="640080"/>
          </a:xfrm>
          <a:prstGeom prst="rect">
            <a:avLst/>
          </a:prstGeom>
          <a:noFill/>
        </p:spPr>
        <p:txBody>
          <a:bodyPr wrap="square" lIns="0" rIns="0" tIns="0" bIns="0" anchor="ctr">
            <a:spAutoFit/>
          </a:bodyPr>
          <a:lstStyle/>
          <a:p>
            <a:pPr algn="l"/>
            <a:r>
              <a:rPr sz="1150" b="0" i="0">
                <a:solidFill>
                  <a:srgbClr val="1A1A1A"/>
                </a:solidFill>
              </a:rPr>
              <a:t>2.9.4</a:t>
            </a:r>
          </a:p>
        </p:txBody>
      </p:sp>
      <p:sp>
        <p:nvSpPr>
          <p:cNvPr id="36" name="Rectangle 35"/>
          <p:cNvSpPr/>
          <p:nvPr/>
        </p:nvSpPr>
        <p:spPr>
          <a:xfrm>
            <a:off x="4782312" y="1938528"/>
            <a:ext cx="2057400" cy="640080"/>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Rounded Rectangle 36"/>
          <p:cNvSpPr/>
          <p:nvPr/>
        </p:nvSpPr>
        <p:spPr>
          <a:xfrm>
            <a:off x="4919472" y="2157984"/>
            <a:ext cx="566928" cy="201168"/>
          </a:xfrm>
          <a:prstGeom prst="roundRect">
            <a:avLst>
              <a:gd name="adj" fmla="val 50000"/>
            </a:avLst>
          </a:prstGeom>
          <a:solidFill>
            <a:srgbClr val="A51C30"/>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FFFFFF"/>
                </a:solidFill>
              </a:rPr>
              <a:t>BUILT</a:t>
            </a:r>
          </a:p>
        </p:txBody>
      </p:sp>
      <p:sp>
        <p:nvSpPr>
          <p:cNvPr id="38" name="TextBox 37"/>
          <p:cNvSpPr txBox="1"/>
          <p:nvPr/>
        </p:nvSpPr>
        <p:spPr>
          <a:xfrm>
            <a:off x="5559552" y="1938528"/>
            <a:ext cx="1234440" cy="640080"/>
          </a:xfrm>
          <a:prstGeom prst="rect">
            <a:avLst/>
          </a:prstGeom>
          <a:noFill/>
        </p:spPr>
        <p:txBody>
          <a:bodyPr wrap="square" lIns="0" rIns="0" tIns="0" bIns="0" anchor="ctr">
            <a:spAutoFit/>
          </a:bodyPr>
          <a:lstStyle/>
          <a:p>
            <a:pPr algn="l"/>
            <a:r>
              <a:rPr sz="1150" b="0" i="0">
                <a:solidFill>
                  <a:srgbClr val="1A1A1A"/>
                </a:solidFill>
              </a:rPr>
              <a:t>2.9.4</a:t>
            </a:r>
          </a:p>
        </p:txBody>
      </p:sp>
      <p:sp>
        <p:nvSpPr>
          <p:cNvPr id="39" name="Rectangle 38"/>
          <p:cNvSpPr/>
          <p:nvPr/>
        </p:nvSpPr>
        <p:spPr>
          <a:xfrm>
            <a:off x="777240" y="2651760"/>
            <a:ext cx="1801367" cy="64008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TextBox 39"/>
          <p:cNvSpPr txBox="1"/>
          <p:nvPr/>
        </p:nvSpPr>
        <p:spPr>
          <a:xfrm>
            <a:off x="886968" y="2651760"/>
            <a:ext cx="1691639" cy="640080"/>
          </a:xfrm>
          <a:prstGeom prst="rect">
            <a:avLst/>
          </a:prstGeom>
          <a:noFill/>
        </p:spPr>
        <p:txBody>
          <a:bodyPr wrap="square" lIns="0" rIns="0" tIns="0" bIns="0" anchor="ctr">
            <a:spAutoFit/>
          </a:bodyPr>
          <a:lstStyle/>
          <a:p>
            <a:pPr algn="l"/>
            <a:r>
              <a:rPr sz="1250" b="1" i="0">
                <a:solidFill>
                  <a:srgbClr val="8A1626"/>
                </a:solidFill>
              </a:rPr>
              <a:t>P&amp;L vectors</a:t>
            </a:r>
          </a:p>
          <a:p>
            <a:pPr algn="l"/>
            <a:r>
              <a:rPr sz="1050" b="0" i="0">
                <a:solidFill>
                  <a:srgbClr val="4A5058"/>
                </a:solidFill>
              </a:rPr>
              <a:t>any currency</a:t>
            </a:r>
          </a:p>
        </p:txBody>
      </p:sp>
      <p:sp>
        <p:nvSpPr>
          <p:cNvPr id="41" name="Rectangle 40"/>
          <p:cNvSpPr/>
          <p:nvPr/>
        </p:nvSpPr>
        <p:spPr>
          <a:xfrm>
            <a:off x="2651760" y="2651760"/>
            <a:ext cx="2057400" cy="640080"/>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Rounded Rectangle 41"/>
          <p:cNvSpPr/>
          <p:nvPr/>
        </p:nvSpPr>
        <p:spPr>
          <a:xfrm>
            <a:off x="2788920" y="2871215"/>
            <a:ext cx="566928" cy="201168"/>
          </a:xfrm>
          <a:prstGeom prst="roundRect">
            <a:avLst>
              <a:gd name="adj" fmla="val 50000"/>
            </a:avLst>
          </a:prstGeom>
          <a:solidFill>
            <a:srgbClr val="A51C30"/>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FFFFFF"/>
                </a:solidFill>
              </a:rPr>
              <a:t>BUILT</a:t>
            </a:r>
          </a:p>
        </p:txBody>
      </p:sp>
      <p:sp>
        <p:nvSpPr>
          <p:cNvPr id="43" name="TextBox 42"/>
          <p:cNvSpPr txBox="1"/>
          <p:nvPr/>
        </p:nvSpPr>
        <p:spPr>
          <a:xfrm>
            <a:off x="3429000" y="2651760"/>
            <a:ext cx="1234440" cy="640080"/>
          </a:xfrm>
          <a:prstGeom prst="rect">
            <a:avLst/>
          </a:prstGeom>
          <a:noFill/>
        </p:spPr>
        <p:txBody>
          <a:bodyPr wrap="square" lIns="0" rIns="0" tIns="0" bIns="0" anchor="ctr">
            <a:spAutoFit/>
          </a:bodyPr>
          <a:lstStyle/>
          <a:p>
            <a:pPr algn="l"/>
            <a:r>
              <a:rPr sz="1150" b="0" i="0">
                <a:solidFill>
                  <a:srgbClr val="1A1A1A"/>
                </a:solidFill>
              </a:rPr>
              <a:t>since 2.8.0</a:t>
            </a:r>
          </a:p>
        </p:txBody>
      </p:sp>
      <p:sp>
        <p:nvSpPr>
          <p:cNvPr id="44" name="Rectangle 43"/>
          <p:cNvSpPr/>
          <p:nvPr/>
        </p:nvSpPr>
        <p:spPr>
          <a:xfrm>
            <a:off x="4782312" y="2651760"/>
            <a:ext cx="2057400" cy="640080"/>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Rounded Rectangle 44"/>
          <p:cNvSpPr/>
          <p:nvPr/>
        </p:nvSpPr>
        <p:spPr>
          <a:xfrm>
            <a:off x="4919472" y="2871215"/>
            <a:ext cx="566928" cy="201168"/>
          </a:xfrm>
          <a:prstGeom prst="roundRect">
            <a:avLst>
              <a:gd name="adj" fmla="val 50000"/>
            </a:avLst>
          </a:prstGeom>
          <a:solidFill>
            <a:srgbClr val="A51C30"/>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FFFFFF"/>
                </a:solidFill>
              </a:rPr>
              <a:t>BUILT</a:t>
            </a:r>
          </a:p>
        </p:txBody>
      </p:sp>
      <p:sp>
        <p:nvSpPr>
          <p:cNvPr id="46" name="TextBox 45"/>
          <p:cNvSpPr txBox="1"/>
          <p:nvPr/>
        </p:nvSpPr>
        <p:spPr>
          <a:xfrm>
            <a:off x="5559552" y="2651760"/>
            <a:ext cx="1234440" cy="640080"/>
          </a:xfrm>
          <a:prstGeom prst="rect">
            <a:avLst/>
          </a:prstGeom>
          <a:noFill/>
        </p:spPr>
        <p:txBody>
          <a:bodyPr wrap="square" lIns="0" rIns="0" tIns="0" bIns="0" anchor="ctr">
            <a:spAutoFit/>
          </a:bodyPr>
          <a:lstStyle/>
          <a:p>
            <a:pPr algn="l"/>
            <a:r>
              <a:rPr sz="1150" b="0" i="0">
                <a:solidFill>
                  <a:srgbClr val="1A1A1A"/>
                </a:solidFill>
              </a:rPr>
              <a:t>2.9.4</a:t>
            </a:r>
          </a:p>
        </p:txBody>
      </p:sp>
      <p:sp>
        <p:nvSpPr>
          <p:cNvPr id="47" name="TextBox 46"/>
          <p:cNvSpPr txBox="1"/>
          <p:nvPr/>
        </p:nvSpPr>
        <p:spPr>
          <a:xfrm>
            <a:off x="777240" y="3346704"/>
            <a:ext cx="6062472" cy="685800"/>
          </a:xfrm>
          <a:prstGeom prst="rect">
            <a:avLst/>
          </a:prstGeom>
          <a:noFill/>
        </p:spPr>
        <p:txBody>
          <a:bodyPr wrap="square" lIns="0" rIns="0" tIns="0" bIns="0" anchor="t">
            <a:spAutoFit/>
          </a:bodyPr>
          <a:lstStyle/>
          <a:p>
            <a:pPr algn="l"/>
            <a:r>
              <a:rPr sz="1150" b="1" i="0">
                <a:solidFill>
                  <a:srgbClr val="8A1626"/>
                </a:solidFill>
              </a:rPr>
              <a:t>Mix and switch: </a:t>
            </a:r>
            <a:r>
              <a:rPr sz="1150" b="0" i="0">
                <a:solidFill>
                  <a:srgbClr val="1A1A1A"/>
                </a:solidFill>
              </a:rPr>
              <a:t>systems mix on one date and may switch day to day; one form and grain per system per date (DRS-5210); a wrong record is refused and named (DRS-5208), never guessed; old files: drishti.py convert --set.</a:t>
            </a:r>
          </a:p>
        </p:txBody>
      </p:sp>
      <p:sp>
        <p:nvSpPr>
          <p:cNvPr id="48" name="TextBox 47"/>
          <p:cNvSpPr txBox="1"/>
          <p:nvPr/>
        </p:nvSpPr>
        <p:spPr>
          <a:xfrm>
            <a:off x="777240" y="4069080"/>
            <a:ext cx="6035040" cy="274320"/>
          </a:xfrm>
          <a:prstGeom prst="rect">
            <a:avLst/>
          </a:prstGeom>
          <a:noFill/>
        </p:spPr>
        <p:txBody>
          <a:bodyPr wrap="square" lIns="0" rIns="0" tIns="0" bIns="0" anchor="t">
            <a:spAutoFit/>
          </a:bodyPr>
          <a:lstStyle/>
          <a:p>
            <a:pPr algn="l"/>
            <a:r>
              <a:rPr sz="1250" b="1" i="0">
                <a:solidFill>
                  <a:srgbClr val="A51C30"/>
                </a:solidFill>
              </a:rPr>
              <a:t>Intraday: only the changed trades, applied as new − old up the tree</a:t>
            </a:r>
          </a:p>
        </p:txBody>
      </p:sp>
      <p:sp>
        <p:nvSpPr>
          <p:cNvPr id="49" name="Rectangle 48"/>
          <p:cNvSpPr/>
          <p:nvPr/>
        </p:nvSpPr>
        <p:spPr>
          <a:xfrm>
            <a:off x="777240" y="4398264"/>
            <a:ext cx="1353312" cy="1051560"/>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xtBox 49"/>
          <p:cNvSpPr txBox="1"/>
          <p:nvPr/>
        </p:nvSpPr>
        <p:spPr>
          <a:xfrm>
            <a:off x="850392" y="4443984"/>
            <a:ext cx="1225295" cy="978407"/>
          </a:xfrm>
          <a:prstGeom prst="rect">
            <a:avLst/>
          </a:prstGeom>
          <a:noFill/>
        </p:spPr>
        <p:txBody>
          <a:bodyPr wrap="square" lIns="0" rIns="0" tIns="0" bIns="0" anchor="t">
            <a:spAutoFit/>
          </a:bodyPr>
          <a:lstStyle/>
          <a:p>
            <a:pPr algn="l">
              <a:spcAft>
                <a:spcPts val="100"/>
              </a:spcAft>
            </a:pPr>
            <a:r>
              <a:rPr sz="1150" b="1" i="0">
                <a:solidFill>
                  <a:srgbClr val="8A1626"/>
                </a:solidFill>
              </a:rPr>
              <a:t>Morning run</a:t>
            </a:r>
          </a:p>
          <a:p>
            <a:pPr algn="l"/>
            <a:r>
              <a:rPr sz="1050" b="0" i="0">
                <a:solidFill>
                  <a:srgbClr val="1A1A1A"/>
                </a:solidFill>
              </a:rPr>
              <a:t>FULL: every live trade; the official records</a:t>
            </a:r>
          </a:p>
        </p:txBody>
      </p:sp>
      <p:cxnSp>
        <p:nvCxnSpPr>
          <p:cNvPr id="51" name="Connector 50"/>
          <p:cNvCxnSpPr/>
          <p:nvPr/>
        </p:nvCxnSpPr>
        <p:spPr>
          <a:xfrm>
            <a:off x="2148840" y="4924044"/>
            <a:ext cx="164592"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2331720" y="4398264"/>
            <a:ext cx="1353312" cy="1051560"/>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xtBox 52"/>
          <p:cNvSpPr txBox="1"/>
          <p:nvPr/>
        </p:nvSpPr>
        <p:spPr>
          <a:xfrm>
            <a:off x="2404872" y="4443984"/>
            <a:ext cx="1225295" cy="978407"/>
          </a:xfrm>
          <a:prstGeom prst="rect">
            <a:avLst/>
          </a:prstGeom>
          <a:noFill/>
        </p:spPr>
        <p:txBody>
          <a:bodyPr wrap="square" lIns="0" rIns="0" tIns="0" bIns="0" anchor="t">
            <a:spAutoFit/>
          </a:bodyPr>
          <a:lstStyle/>
          <a:p>
            <a:pPr algn="l">
              <a:spcAft>
                <a:spcPts val="100"/>
              </a:spcAft>
            </a:pPr>
            <a:r>
              <a:rPr sz="1150" b="1" i="0">
                <a:solidFill>
                  <a:srgbClr val="8A1626"/>
                </a:solidFill>
              </a:rPr>
              <a:t>Changed trades</a:t>
            </a:r>
          </a:p>
          <a:p>
            <a:pPr algn="l"/>
            <a:r>
              <a:rPr sz="1050" b="0" i="0">
                <a:solidFill>
                  <a:srgbClr val="1A1A1A"/>
                </a:solidFill>
              </a:rPr>
              <a:t>files, or Kafka windows of 5 min (500 early)</a:t>
            </a:r>
          </a:p>
        </p:txBody>
      </p:sp>
      <p:cxnSp>
        <p:nvCxnSpPr>
          <p:cNvPr id="54" name="Connector 53"/>
          <p:cNvCxnSpPr/>
          <p:nvPr/>
        </p:nvCxnSpPr>
        <p:spPr>
          <a:xfrm>
            <a:off x="3703319" y="4924044"/>
            <a:ext cx="164592"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3886200" y="4398264"/>
            <a:ext cx="1353312" cy="1051560"/>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xtBox 55"/>
          <p:cNvSpPr txBox="1"/>
          <p:nvPr/>
        </p:nvSpPr>
        <p:spPr>
          <a:xfrm>
            <a:off x="3959352" y="4443984"/>
            <a:ext cx="1225295" cy="978407"/>
          </a:xfrm>
          <a:prstGeom prst="rect">
            <a:avLst/>
          </a:prstGeom>
          <a:noFill/>
        </p:spPr>
        <p:txBody>
          <a:bodyPr wrap="square" lIns="0" rIns="0" tIns="0" bIns="0" anchor="t">
            <a:spAutoFit/>
          </a:bodyPr>
          <a:lstStyle/>
          <a:p>
            <a:pPr algn="l">
              <a:spcAft>
                <a:spcPts val="100"/>
              </a:spcAft>
            </a:pPr>
            <a:r>
              <a:rPr sz="1150" b="1" i="0">
                <a:solidFill>
                  <a:srgbClr val="8A1626"/>
                </a:solidFill>
              </a:rPr>
              <a:t>Lake append</a:t>
            </a:r>
          </a:p>
          <a:p>
            <a:pPr algn="l"/>
            <a:r>
              <a:rPr sz="1050" b="0" i="0">
                <a:solidFill>
                  <a:srgbClr val="1A1A1A"/>
                </a:solidFill>
              </a:rPr>
              <a:t>one intraday batch, latest COMPUTED_AT wins</a:t>
            </a:r>
          </a:p>
        </p:txBody>
      </p:sp>
      <p:cxnSp>
        <p:nvCxnSpPr>
          <p:cNvPr id="57" name="Connector 56"/>
          <p:cNvCxnSpPr/>
          <p:nvPr/>
        </p:nvCxnSpPr>
        <p:spPr>
          <a:xfrm>
            <a:off x="5257800" y="4924044"/>
            <a:ext cx="164592"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5440679" y="4398264"/>
            <a:ext cx="1353312" cy="1051560"/>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xtBox 58"/>
          <p:cNvSpPr txBox="1"/>
          <p:nvPr/>
        </p:nvSpPr>
        <p:spPr>
          <a:xfrm>
            <a:off x="5513831" y="4443984"/>
            <a:ext cx="1225295" cy="978407"/>
          </a:xfrm>
          <a:prstGeom prst="rect">
            <a:avLst/>
          </a:prstGeom>
          <a:noFill/>
        </p:spPr>
        <p:txBody>
          <a:bodyPr wrap="square" lIns="0" rIns="0" tIns="0" bIns="0" anchor="t">
            <a:spAutoFit/>
          </a:bodyPr>
          <a:lstStyle/>
          <a:p>
            <a:pPr algn="l">
              <a:spcAft>
                <a:spcPts val="100"/>
              </a:spcAft>
            </a:pPr>
            <a:r>
              <a:rPr sz="1150" b="1" i="0">
                <a:solidFill>
                  <a:srgbClr val="8A1626"/>
                </a:solidFill>
              </a:rPr>
              <a:t>Apply</a:t>
            </a:r>
          </a:p>
          <a:p>
            <a:pPr algn="l"/>
            <a:r>
              <a:rPr sz="1050" b="0" i="0">
                <a:solidFill>
                  <a:srgbClr val="1A1A1A"/>
                </a:solidFill>
              </a:rPr>
              <a:t>book, every node above, every currency</a:t>
            </a:r>
          </a:p>
        </p:txBody>
      </p:sp>
      <p:sp>
        <p:nvSpPr>
          <p:cNvPr id="60" name="Rectangle 59"/>
          <p:cNvSpPr/>
          <p:nvPr/>
        </p:nvSpPr>
        <p:spPr>
          <a:xfrm>
            <a:off x="7132320" y="1481328"/>
            <a:ext cx="4279392" cy="1691640"/>
          </a:xfrm>
          <a:prstGeom prst="rect">
            <a:avLst/>
          </a:prstGeom>
          <a:solidFill>
            <a:srgbClr val="1E1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1" name="Rectangle 60"/>
          <p:cNvSpPr/>
          <p:nvPr/>
        </p:nvSpPr>
        <p:spPr>
          <a:xfrm>
            <a:off x="7132320" y="1481328"/>
            <a:ext cx="4279392" cy="329184"/>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xtBox 61"/>
          <p:cNvSpPr txBox="1"/>
          <p:nvPr/>
        </p:nvSpPr>
        <p:spPr>
          <a:xfrm>
            <a:off x="7269480" y="1481328"/>
            <a:ext cx="4005072" cy="329184"/>
          </a:xfrm>
          <a:prstGeom prst="rect">
            <a:avLst/>
          </a:prstGeom>
          <a:noFill/>
        </p:spPr>
        <p:txBody>
          <a:bodyPr wrap="square" lIns="0" rIns="0" tIns="0" bIns="0" anchor="ctr">
            <a:spAutoFit/>
          </a:bodyPr>
          <a:lstStyle/>
          <a:p>
            <a:pPr algn="l"/>
            <a:r>
              <a:rPr sz="1150" b="1" i="0">
                <a:solidFill>
                  <a:srgbClr val="FFFFFF"/>
                </a:solidFill>
              </a:rPr>
              <a:t>One JSON Lines record, four forms</a:t>
            </a:r>
          </a:p>
        </p:txBody>
      </p:sp>
      <p:sp>
        <p:nvSpPr>
          <p:cNvPr id="63" name="TextBox 62"/>
          <p:cNvSpPr txBox="1"/>
          <p:nvPr/>
        </p:nvSpPr>
        <p:spPr>
          <a:xfrm>
            <a:off x="7296912" y="1920240"/>
            <a:ext cx="4005072" cy="1188720"/>
          </a:xfrm>
          <a:prstGeom prst="rect">
            <a:avLst/>
          </a:prstGeom>
          <a:noFill/>
        </p:spPr>
        <p:txBody>
          <a:bodyPr wrap="square" lIns="0" rIns="0" tIns="0" bIns="0" anchor="t">
            <a:spAutoFit/>
          </a:bodyPr>
          <a:lstStyle/>
          <a:p>
            <a:pPr algn="l">
              <a:spcAft>
                <a:spcPts val="200"/>
              </a:spcAft>
            </a:pPr>
            <a:r>
              <a:rPr sz="1050" b="0" i="0">
                <a:solidFill>
                  <a:srgbClr val="F1EEE9"/>
                </a:solidFill>
                <a:latin typeface="Courier New"/>
              </a:rPr>
              <a:t>{"VALUE_TYPE":"PV","GRAIN":"TRADE",</a:t>
            </a:r>
          </a:p>
          <a:p>
            <a:pPr algn="l">
              <a:spcAft>
                <a:spcPts val="200"/>
              </a:spcAft>
            </a:pPr>
            <a:r>
              <a:rPr sz="1050" b="0" i="0">
                <a:solidFill>
                  <a:srgbClr val="F1EEE9"/>
                </a:solidFill>
                <a:latin typeface="Courier New"/>
              </a:rPr>
              <a:t> "TRADE_ID":"1000279","CURRENCY":"EUR",</a:t>
            </a:r>
          </a:p>
          <a:p>
            <a:pPr algn="l">
              <a:spcAft>
                <a:spcPts val="200"/>
              </a:spcAft>
            </a:pPr>
            <a:r>
              <a:rPr sz="1050" b="0" i="0">
                <a:solidFill>
                  <a:srgbClr val="F1EEE9"/>
                </a:solidFill>
                <a:latin typeface="Courier New"/>
              </a:rPr>
              <a:t> "BASE_PV":…,"PVS":[…509…],</a:t>
            </a:r>
          </a:p>
          <a:p>
            <a:pPr algn="l">
              <a:spcAft>
                <a:spcPts val="200"/>
              </a:spcAft>
            </a:pPr>
            <a:r>
              <a:rPr sz="1050" b="0" i="0">
                <a:solidFill>
                  <a:srgbClr val="F1EEE9"/>
                </a:solidFill>
                <a:latin typeface="Courier New"/>
              </a:rPr>
              <a:t> "COMPUTED_AT":"…","SOURCE_SYSTEM":"…"}</a:t>
            </a:r>
          </a:p>
        </p:txBody>
      </p:sp>
      <p:sp>
        <p:nvSpPr>
          <p:cNvPr id="64" name="Rectangle 63"/>
          <p:cNvSpPr/>
          <p:nvPr/>
        </p:nvSpPr>
        <p:spPr>
          <a:xfrm>
            <a:off x="7132320" y="3291840"/>
            <a:ext cx="4279392" cy="1097280"/>
          </a:xfrm>
          <a:prstGeom prst="rect">
            <a:avLst/>
          </a:prstGeom>
          <a:solidFill>
            <a:srgbClr val="F6E6E9"/>
          </a:solidFill>
          <a:ln w="952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xtBox 64"/>
          <p:cNvSpPr txBox="1"/>
          <p:nvPr/>
        </p:nvSpPr>
        <p:spPr>
          <a:xfrm>
            <a:off x="7242048" y="3364992"/>
            <a:ext cx="4059936" cy="969264"/>
          </a:xfrm>
          <a:prstGeom prst="rect">
            <a:avLst/>
          </a:prstGeom>
          <a:noFill/>
        </p:spPr>
        <p:txBody>
          <a:bodyPr wrap="square" lIns="0" rIns="0" tIns="0" bIns="0" anchor="t">
            <a:spAutoFit/>
          </a:bodyPr>
          <a:lstStyle/>
          <a:p>
            <a:pPr algn="l">
              <a:spcAft>
                <a:spcPts val="300"/>
              </a:spcAft>
            </a:pPr>
            <a:r>
              <a:rPr sz="1250" b="1" i="0">
                <a:solidFill>
                  <a:srgbClr val="8A1626"/>
                </a:solidFill>
              </a:rPr>
              <a:t>The guarantee</a:t>
            </a:r>
          </a:p>
          <a:p>
            <a:pPr algn="l"/>
            <a:r>
              <a:rPr sz="1150" b="0" i="0">
                <a:solidFill>
                  <a:srgbClr val="4A5058"/>
                </a:solidFill>
              </a:rPr>
              <a:t>Incremental equals the same data loaded as one run, to the cent, on every node; replaying the Kafka topic after a restart writes nothing twice.</a:t>
            </a:r>
          </a:p>
        </p:txBody>
      </p:sp>
      <p:sp>
        <p:nvSpPr>
          <p:cNvPr id="66" name="Rectangle 65"/>
          <p:cNvSpPr/>
          <p:nvPr/>
        </p:nvSpPr>
        <p:spPr>
          <a:xfrm>
            <a:off x="7132320" y="4498848"/>
            <a:ext cx="4279392" cy="1024128"/>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TextBox 66"/>
          <p:cNvSpPr txBox="1"/>
          <p:nvPr/>
        </p:nvSpPr>
        <p:spPr>
          <a:xfrm>
            <a:off x="7242048" y="4572000"/>
            <a:ext cx="4059936" cy="896112"/>
          </a:xfrm>
          <a:prstGeom prst="rect">
            <a:avLst/>
          </a:prstGeom>
          <a:noFill/>
        </p:spPr>
        <p:txBody>
          <a:bodyPr wrap="square" lIns="0" rIns="0" tIns="0" bIns="0" anchor="t">
            <a:spAutoFit/>
          </a:bodyPr>
          <a:lstStyle/>
          <a:p>
            <a:pPr algn="l">
              <a:spcAft>
                <a:spcPts val="300"/>
              </a:spcAft>
            </a:pPr>
            <a:r>
              <a:rPr sz="1250" b="1" i="0">
                <a:solidFill>
                  <a:srgbClr val="8A1626"/>
                </a:solidFill>
              </a:rPr>
              <a:t>Cost of a batch</a:t>
            </a:r>
          </a:p>
          <a:p>
            <a:pPr algn="l"/>
            <a:r>
              <a:rPr sz="1150" b="0" i="0">
                <a:solidFill>
                  <a:srgbClr val="4A5058"/>
                </a:solidFill>
              </a:rPr>
              <a:t>∝ trades changed × nodes above × currencies built — never the size of the book. Official numbers come only from full runs.</a:t>
            </a:r>
          </a:p>
        </p:txBody>
      </p:sp>
      <p:sp>
        <p:nvSpPr>
          <p:cNvPr id="68" name="Rectangle 67"/>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Rectangle 68"/>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TextBox 69"/>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Source systems keep their own formats; Drishti turns every input into one internal form, a P&amp;L vector per row.</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VAR · 2.9.4 · ANY REPORTING CURRENCY</a:t>
            </a:r>
          </a:p>
        </p:txBody>
      </p:sp>
      <p:sp>
        <p:nvSpPr>
          <p:cNvPr id="3" name="Title 2"/>
          <p:cNvSpPr>
            <a:spLocks noGrp="1"/>
          </p:cNvSpPr>
          <p:nvPr>
            <p:ph type="title" idx="104"/>
          </p:nvPr>
        </p:nvSpPr>
        <p:spPr/>
        <p:txBody>
          <a:bodyPr lIns="0" rIns="0" tIns="0" bIns="0" anchor="t"/>
          <a:lstStyle/>
          <a:p>
            <a:r>
              <a:t>The same trades, a different VaR per currency — exact to the cent</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pic>
        <p:nvPicPr>
          <p:cNvPr id="26" name="VaR in EUR" descr="15-reporting-currency.jpg"/>
          <p:cNvPicPr>
            <a:picLocks noChangeAspect="1"/>
          </p:cNvPicPr>
          <p:nvPr/>
        </p:nvPicPr>
        <p:blipFill>
          <a:blip r:embed="rId2"/>
          <a:stretch>
            <a:fillRect/>
          </a:stretch>
        </p:blipFill>
        <p:spPr>
          <a:xfrm>
            <a:off x="777240" y="1450467"/>
            <a:ext cx="5029200" cy="3143250"/>
          </a:xfrm>
          <a:prstGeom prst="rect">
            <a:avLst/>
          </a:prstGeom>
          <a:ln w="9525">
            <a:solidFill>
              <a:srgbClr val="CFC8BE"/>
            </a:solidFill>
          </a:ln>
        </p:spPr>
      </p:pic>
      <p:sp>
        <p:nvSpPr>
          <p:cNvPr id="27" name="TextBox 26"/>
          <p:cNvSpPr txBox="1"/>
          <p:nvPr/>
        </p:nvSpPr>
        <p:spPr>
          <a:xfrm>
            <a:off x="777240" y="4636008"/>
            <a:ext cx="5029200" cy="274320"/>
          </a:xfrm>
          <a:prstGeom prst="rect">
            <a:avLst/>
          </a:prstGeom>
          <a:noFill/>
        </p:spPr>
        <p:txBody>
          <a:bodyPr wrap="square" lIns="0" rIns="0" tIns="0" bIns="0" anchor="t">
            <a:spAutoFit/>
          </a:bodyPr>
          <a:lstStyle/>
          <a:p>
            <a:pPr algn="l"/>
            <a:r>
              <a:rPr sz="1050" b="0" i="1">
                <a:solidFill>
                  <a:srgbClr val="61666E"/>
                </a:solidFill>
              </a:rPr>
              <a:t>VAR DESK DESK-RATES IN EUR: every panel in EUR, the FX named.</a:t>
            </a:r>
          </a:p>
        </p:txBody>
      </p:sp>
      <p:graphicFrame>
        <p:nvGraphicFramePr>
          <p:cNvPr id="28" name="Table 27"/>
          <p:cNvGraphicFramePr>
            <a:graphicFrameLocks noGrp="1"/>
          </p:cNvGraphicFramePr>
          <p:nvPr/>
        </p:nvGraphicFramePr>
        <p:xfrm>
          <a:off x="6080759" y="1444752"/>
          <a:ext cx="3017520" cy="1645920"/>
        </p:xfrm>
        <a:graphic>
          <a:graphicData uri="http://schemas.openxmlformats.org/drawingml/2006/table">
            <a:tbl>
              <a:tblPr firstRow="0" bandRow="0">
                <a:tableStyleId>{5940675A-B579-460E-94D1-54222C63F5DA}</a:tableStyleId>
              </a:tblPr>
              <a:tblGrid>
                <a:gridCol w="548640"/>
                <a:gridCol w="1234440"/>
                <a:gridCol w="1234440"/>
              </a:tblGrid>
              <a:tr h="274320">
                <a:tc>
                  <a:txBody>
                    <a:bodyPr wrap="square"/>
                    <a:lstStyle/>
                    <a:p>
                      <a:r>
                        <a:rPr sz="1100" b="1" i="0">
                          <a:solidFill>
                            <a:srgbClr val="FFFFFF"/>
                          </a:solidFill>
                        </a:rPr>
                        <a:t>Ccy</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00" b="1" i="0">
                          <a:solidFill>
                            <a:srgbClr val="FFFFFF"/>
                          </a:solidFill>
                        </a:rPr>
                        <a:t>Bank VaR 99%</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00" b="1" i="0">
                          <a:solidFill>
                            <a:srgbClr val="FFFFFF"/>
                          </a:solidFill>
                        </a:rPr>
                        <a:t>Bank ES 97.5%</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r>
              <a:tr h="274320">
                <a:tc>
                  <a:txBody>
                    <a:bodyPr wrap="square"/>
                    <a:lstStyle/>
                    <a:p>
                      <a:r>
                        <a:rPr sz="1100" b="1" i="0">
                          <a:solidFill>
                            <a:srgbClr val="8A1626"/>
                          </a:solidFill>
                        </a:rPr>
                        <a:t>USD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112,041,646</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160,143,809</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74320">
                <a:tc>
                  <a:txBody>
                    <a:bodyPr wrap="square"/>
                    <a:lstStyle/>
                    <a:p>
                      <a:r>
                        <a:rPr sz="1100" b="1" i="0">
                          <a:solidFill>
                            <a:srgbClr val="8A1626"/>
                          </a:solidFill>
                        </a:rPr>
                        <a:t>EUR</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111,837,045</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137,631,546</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74320">
                <a:tc>
                  <a:txBody>
                    <a:bodyPr wrap="square"/>
                    <a:lstStyle/>
                    <a:p>
                      <a:r>
                        <a:rPr sz="1100" b="1" i="0">
                          <a:solidFill>
                            <a:srgbClr val="8A1626"/>
                          </a:solidFill>
                        </a:rPr>
                        <a:t>CAD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189,801,404</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230,680,413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74320">
                <a:tc>
                  <a:txBody>
                    <a:bodyPr wrap="square"/>
                    <a:lstStyle/>
                    <a:p>
                      <a:r>
                        <a:rPr sz="1100" b="1" i="0">
                          <a:solidFill>
                            <a:srgbClr val="8A1626"/>
                          </a:solidFill>
                        </a:rPr>
                        <a:t>JPY</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20,883,226,318</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23,578,418,999</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74320">
                <a:tc>
                  <a:txBody>
                    <a:bodyPr wrap="square"/>
                    <a:lstStyle/>
                    <a:p>
                      <a:r>
                        <a:rPr sz="1100" b="1" i="0">
                          <a:solidFill>
                            <a:srgbClr val="8A1626"/>
                          </a:solidFill>
                        </a:rPr>
                        <a:t>GBP</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104,139,554</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125,595,958</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bl>
          </a:graphicData>
        </a:graphic>
      </p:graphicFrame>
      <p:sp>
        <p:nvSpPr>
          <p:cNvPr id="29" name="TextBox 28"/>
          <p:cNvSpPr txBox="1"/>
          <p:nvPr/>
        </p:nvSpPr>
        <p:spPr>
          <a:xfrm>
            <a:off x="9281159" y="1444752"/>
            <a:ext cx="2130552" cy="274320"/>
          </a:xfrm>
          <a:prstGeom prst="rect">
            <a:avLst/>
          </a:prstGeom>
          <a:noFill/>
        </p:spPr>
        <p:txBody>
          <a:bodyPr wrap="square" lIns="0" rIns="0" tIns="0" bIns="0" anchor="t">
            <a:spAutoFit/>
          </a:bodyPr>
          <a:lstStyle/>
          <a:p>
            <a:pPr algn="l"/>
            <a:r>
              <a:rPr sz="1150" b="1" i="0">
                <a:solidFill>
                  <a:srgbClr val="A51C30"/>
                </a:solidFill>
              </a:rPr>
              <a:t>Bank VaR, EUR m</a:t>
            </a:r>
          </a:p>
        </p:txBody>
      </p:sp>
      <p:graphicFrame>
        <p:nvGraphicFramePr>
          <p:cNvPr id="30" name="EUR vs converted chart"/>
          <p:cNvGraphicFramePr>
            <a:graphicFrameLocks noGrp="1"/>
          </p:cNvGraphicFramePr>
          <p:nvPr/>
        </p:nvGraphicFramePr>
        <p:xfrm>
          <a:off x="9235440" y="1691640"/>
          <a:ext cx="2176272" cy="1188720"/>
        </p:xfrm>
        <a:graphic>
          <a:graphicData uri="http://schemas.openxmlformats.org/drawingml/2006/chart">
            <c:chart xmlns:c="http://schemas.openxmlformats.org/drawingml/2006/chart" r:id="rId3"/>
          </a:graphicData>
        </a:graphic>
      </p:graphicFrame>
      <p:sp>
        <p:nvSpPr>
          <p:cNvPr id="31" name="TextBox 30"/>
          <p:cNvSpPr txBox="1"/>
          <p:nvPr/>
        </p:nvSpPr>
        <p:spPr>
          <a:xfrm>
            <a:off x="9281159" y="2880360"/>
            <a:ext cx="2130552" cy="548640"/>
          </a:xfrm>
          <a:prstGeom prst="rect">
            <a:avLst/>
          </a:prstGeom>
          <a:noFill/>
        </p:spPr>
        <p:txBody>
          <a:bodyPr wrap="square" lIns="0" rIns="0" tIns="0" bIns="0" anchor="t">
            <a:spAutoFit/>
          </a:bodyPr>
          <a:lstStyle/>
          <a:p>
            <a:pPr algn="l"/>
            <a:r>
              <a:rPr sz="1050" b="0" i="0">
                <a:solidFill>
                  <a:srgbClr val="4A5058"/>
                </a:solidFill>
              </a:rPr>
              <a:t>A net 3.65bn USD of value moves against the euro on the scenario days.</a:t>
            </a:r>
          </a:p>
        </p:txBody>
      </p:sp>
      <p:graphicFrame>
        <p:nvGraphicFramePr>
          <p:cNvPr id="32" name="Table 31"/>
          <p:cNvGraphicFramePr>
            <a:graphicFrameLocks noGrp="1"/>
          </p:cNvGraphicFramePr>
          <p:nvPr/>
        </p:nvGraphicFramePr>
        <p:xfrm>
          <a:off x="6080759" y="3520440"/>
          <a:ext cx="5330952" cy="1901952"/>
        </p:xfrm>
        <a:graphic>
          <a:graphicData uri="http://schemas.openxmlformats.org/drawingml/2006/table">
            <a:tbl>
              <a:tblPr firstRow="0" bandRow="0">
                <a:tableStyleId>{5940675A-B579-460E-94D1-54222C63F5DA}</a:tableStyleId>
              </a:tblPr>
              <a:tblGrid>
                <a:gridCol w="2331720"/>
                <a:gridCol w="2999232"/>
              </a:tblGrid>
              <a:tr h="475488">
                <a:tc>
                  <a:txBody>
                    <a:bodyPr wrap="square"/>
                    <a:lstStyle/>
                    <a:p>
                      <a:r>
                        <a:rPr sz="1100" b="1" i="0">
                          <a:solidFill>
                            <a:srgbClr val="FFFFFF"/>
                          </a:solidFill>
                        </a:rPr>
                        <a:t>Setting (2.9.4)</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00" b="1" i="0">
                          <a:solidFill>
                            <a:srgbClr val="FFFFFF"/>
                          </a:solidFill>
                        </a:rPr>
                        <a:t>What it does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r>
              <a:tr h="475488">
                <a:tc>
                  <a:txBody>
                    <a:bodyPr wrap="square"/>
                    <a:lstStyle/>
                    <a:p>
                      <a:r>
                        <a:rPr sz="1000" b="1" i="0">
                          <a:solidFill>
                            <a:srgbClr val="A51C30"/>
                          </a:solidFill>
                          <a:latin typeface="Courier New"/>
                        </a:rPr>
                        <a:t>drishti.var.scenario-window</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all (509) or the newest N; window=250 per request, labelled, never official</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475488">
                <a:tc>
                  <a:txBody>
                    <a:bodyPr wrap="square"/>
                    <a:lstStyle/>
                    <a:p>
                      <a:r>
                        <a:rPr sz="1000" b="1" i="0">
                          <a:solidFill>
                            <a:srgbClr val="A51C30"/>
                          </a:solidFill>
                          <a:latin typeface="Courier New"/>
                        </a:rPr>
                        <a:t>DRISHTI_VAR_CONFIDENCE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VaR 99% by default, 95% by setting; ES 97.5%; every label follows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475488">
                <a:tc>
                  <a:txBody>
                    <a:bodyPr wrap="square"/>
                    <a:lstStyle/>
                    <a:p>
                      <a:r>
                        <a:rPr sz="1000" b="1" i="0">
                          <a:solidFill>
                            <a:srgbClr val="A51C30"/>
                          </a:solidFill>
                          <a:latin typeface="Courier New"/>
                        </a:rPr>
                        <a:t>drishti.var.currencies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USD, EUR, CAD, JPY, GBP built ahead; any other currency on first ask</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bl>
          </a:graphicData>
        </a:graphic>
      </p:graphicFrame>
      <p:sp>
        <p:nvSpPr>
          <p:cNvPr id="33" name="TextBox 32"/>
          <p:cNvSpPr txBox="1"/>
          <p:nvPr/>
        </p:nvSpPr>
        <p:spPr>
          <a:xfrm>
            <a:off x="777240" y="4983480"/>
            <a:ext cx="5029200" cy="566928"/>
          </a:xfrm>
          <a:prstGeom prst="rect">
            <a:avLst/>
          </a:prstGeom>
          <a:noFill/>
        </p:spPr>
        <p:txBody>
          <a:bodyPr wrap="square" lIns="0" rIns="0" tIns="0" bIns="0" anchor="t">
            <a:spAutoFit/>
          </a:bodyPr>
          <a:lstStyle/>
          <a:p>
            <a:pPr algn="l"/>
            <a:r>
              <a:rPr sz="1100" b="0" i="0">
                <a:solidFill>
                  <a:srgbClr val="1A1A1A"/>
                </a:solidFill>
              </a:rPr>
              <a:t>P&amp;L(s) = PV(s)·FX(s) − PV(base)·FX(base), every cross via USD; each node keeps its PVs summed per trade currency.</a:t>
            </a:r>
          </a:p>
        </p:txBody>
      </p:sp>
      <p:sp>
        <p:nvSpPr>
          <p:cNvPr id="34" name="Rectangle 33"/>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Rectangle 34"/>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A euro-based owner carries a risk a dollar-based one does not: EUR VaR is not USD VaR times today's rate.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EXPOSURE (EE / PFE) · 2.9.0</a:t>
            </a:r>
          </a:p>
        </p:txBody>
      </p:sp>
      <p:sp>
        <p:nvSpPr>
          <p:cNvPr id="3" name="Title 2"/>
          <p:cNvSpPr>
            <a:spLocks noGrp="1"/>
          </p:cNvSpPr>
          <p:nvPr>
            <p:ph type="title" idx="104"/>
          </p:nvPr>
        </p:nvSpPr>
        <p:spPr/>
        <p:txBody>
          <a:bodyPr lIns="0" rIns="0" tIns="0" bIns="0" anchor="t"/>
          <a:lstStyle/>
          <a:p>
            <a:r>
              <a:t>Exposure computed for any scope, down to a trade, collateral path by path</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Rectangle 25"/>
          <p:cNvSpPr/>
          <p:nvPr/>
        </p:nvSpPr>
        <p:spPr>
          <a:xfrm>
            <a:off x="777240" y="1481328"/>
            <a:ext cx="1929384" cy="1143000"/>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850392" y="1527048"/>
            <a:ext cx="1801367" cy="1069848"/>
          </a:xfrm>
          <a:prstGeom prst="rect">
            <a:avLst/>
          </a:prstGeom>
          <a:noFill/>
        </p:spPr>
        <p:txBody>
          <a:bodyPr wrap="square" lIns="0" rIns="0" tIns="0" bIns="0" anchor="t">
            <a:spAutoFit/>
          </a:bodyPr>
          <a:lstStyle/>
          <a:p>
            <a:pPr algn="l">
              <a:spcAft>
                <a:spcPts val="100"/>
              </a:spcAft>
            </a:pPr>
            <a:r>
              <a:rPr sz="1250" b="1" i="0">
                <a:solidFill>
                  <a:srgbClr val="8A1626"/>
                </a:solidFill>
              </a:rPr>
              <a:t>Paths</a:t>
            </a:r>
          </a:p>
          <a:p>
            <a:pPr algn="l"/>
            <a:r>
              <a:rPr sz="1050" b="0" i="0">
                <a:solidFill>
                  <a:srgbClr val="1A1A1A"/>
                </a:solidFill>
              </a:rPr>
              <a:t>every trade's MtM on every path and date (exposure-path)</a:t>
            </a:r>
          </a:p>
        </p:txBody>
      </p:sp>
      <p:cxnSp>
        <p:nvCxnSpPr>
          <p:cNvPr id="28" name="Connector 27"/>
          <p:cNvCxnSpPr/>
          <p:nvPr/>
        </p:nvCxnSpPr>
        <p:spPr>
          <a:xfrm>
            <a:off x="2724912" y="2052828"/>
            <a:ext cx="210312"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2953512" y="1481328"/>
            <a:ext cx="1929384" cy="1143000"/>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3026664" y="1527048"/>
            <a:ext cx="1801367" cy="1069848"/>
          </a:xfrm>
          <a:prstGeom prst="rect">
            <a:avLst/>
          </a:prstGeom>
          <a:noFill/>
        </p:spPr>
        <p:txBody>
          <a:bodyPr wrap="square" lIns="0" rIns="0" tIns="0" bIns="0" anchor="t">
            <a:spAutoFit/>
          </a:bodyPr>
          <a:lstStyle/>
          <a:p>
            <a:pPr algn="l">
              <a:spcAft>
                <a:spcPts val="100"/>
              </a:spcAft>
            </a:pPr>
            <a:r>
              <a:rPr sz="1250" b="1" i="0">
                <a:solidFill>
                  <a:srgbClr val="8A1626"/>
                </a:solidFill>
              </a:rPr>
              <a:t>Net</a:t>
            </a:r>
          </a:p>
          <a:p>
            <a:pPr algn="l"/>
            <a:r>
              <a:rPr sz="1050" b="0" i="0">
                <a:solidFill>
                  <a:srgbClr val="1A1A1A"/>
                </a:solidFill>
              </a:rPr>
              <a:t>per netting set, path by path</a:t>
            </a:r>
          </a:p>
        </p:txBody>
      </p:sp>
      <p:cxnSp>
        <p:nvCxnSpPr>
          <p:cNvPr id="31" name="Connector 30"/>
          <p:cNvCxnSpPr/>
          <p:nvPr/>
        </p:nvCxnSpPr>
        <p:spPr>
          <a:xfrm>
            <a:off x="4901183" y="2052828"/>
            <a:ext cx="210313"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5129783" y="1481328"/>
            <a:ext cx="1929384" cy="1143000"/>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5202936" y="1527048"/>
            <a:ext cx="1801367" cy="1069848"/>
          </a:xfrm>
          <a:prstGeom prst="rect">
            <a:avLst/>
          </a:prstGeom>
          <a:noFill/>
        </p:spPr>
        <p:txBody>
          <a:bodyPr wrap="square" lIns="0" rIns="0" tIns="0" bIns="0" anchor="t">
            <a:spAutoFit/>
          </a:bodyPr>
          <a:lstStyle/>
          <a:p>
            <a:pPr algn="l">
              <a:spcAft>
                <a:spcPts val="100"/>
              </a:spcAft>
            </a:pPr>
            <a:r>
              <a:rPr sz="1250" b="1" i="0">
                <a:solidFill>
                  <a:srgbClr val="8A1626"/>
                </a:solidFill>
              </a:rPr>
              <a:t>Collateral</a:t>
            </a:r>
          </a:p>
          <a:p>
            <a:pPr algn="l"/>
            <a:r>
              <a:rPr sz="1050" b="0" i="0">
                <a:solidFill>
                  <a:srgbClr val="1A1A1A"/>
                </a:solidFill>
              </a:rPr>
              <a:t>each CSA: threshold, MTA, IA, rounding, margin period of risk</a:t>
            </a:r>
          </a:p>
        </p:txBody>
      </p:sp>
      <p:cxnSp>
        <p:nvCxnSpPr>
          <p:cNvPr id="34" name="Connector 33"/>
          <p:cNvCxnSpPr/>
          <p:nvPr/>
        </p:nvCxnSpPr>
        <p:spPr>
          <a:xfrm>
            <a:off x="7077455" y="2052828"/>
            <a:ext cx="210312"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306055" y="1481328"/>
            <a:ext cx="1929384" cy="1143000"/>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7379207" y="1527048"/>
            <a:ext cx="1801367" cy="1069848"/>
          </a:xfrm>
          <a:prstGeom prst="rect">
            <a:avLst/>
          </a:prstGeom>
          <a:noFill/>
        </p:spPr>
        <p:txBody>
          <a:bodyPr wrap="square" lIns="0" rIns="0" tIns="0" bIns="0" anchor="t">
            <a:spAutoFit/>
          </a:bodyPr>
          <a:lstStyle/>
          <a:p>
            <a:pPr algn="l">
              <a:spcAft>
                <a:spcPts val="100"/>
              </a:spcAft>
            </a:pPr>
            <a:r>
              <a:rPr sz="1250" b="1" i="0">
                <a:solidFill>
                  <a:srgbClr val="8A1626"/>
                </a:solidFill>
              </a:rPr>
              <a:t>Measures</a:t>
            </a:r>
          </a:p>
          <a:p>
            <a:pPr algn="l"/>
            <a:r>
              <a:rPr sz="1050" b="0" i="0">
                <a:solidFill>
                  <a:srgbClr val="1A1A1A"/>
                </a:solidFill>
              </a:rPr>
              <a:t>EE, ENE, effective EE, PFE 95/99, EPE, EEPE, peak PFE, EAD</a:t>
            </a:r>
          </a:p>
        </p:txBody>
      </p:sp>
      <p:cxnSp>
        <p:nvCxnSpPr>
          <p:cNvPr id="37" name="Connector 36"/>
          <p:cNvCxnSpPr/>
          <p:nvPr/>
        </p:nvCxnSpPr>
        <p:spPr>
          <a:xfrm>
            <a:off x="9253728" y="2052828"/>
            <a:ext cx="210312"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9482328" y="1481328"/>
            <a:ext cx="1929384" cy="1143000"/>
          </a:xfrm>
          <a:prstGeom prst="rect">
            <a:avLst/>
          </a:prstGeom>
          <a:solidFill>
            <a:srgbClr val="F6E6E9"/>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xtBox 38"/>
          <p:cNvSpPr txBox="1"/>
          <p:nvPr/>
        </p:nvSpPr>
        <p:spPr>
          <a:xfrm>
            <a:off x="9555480" y="1527048"/>
            <a:ext cx="1801367" cy="1069848"/>
          </a:xfrm>
          <a:prstGeom prst="rect">
            <a:avLst/>
          </a:prstGeom>
          <a:noFill/>
        </p:spPr>
        <p:txBody>
          <a:bodyPr wrap="square" lIns="0" rIns="0" tIns="0" bIns="0" anchor="t">
            <a:spAutoFit/>
          </a:bodyPr>
          <a:lstStyle/>
          <a:p>
            <a:pPr algn="l">
              <a:spcAft>
                <a:spcPts val="100"/>
              </a:spcAft>
            </a:pPr>
            <a:r>
              <a:rPr sz="1250" b="1" i="0">
                <a:solidFill>
                  <a:srgbClr val="8A1626"/>
                </a:solidFill>
              </a:rPr>
              <a:t>Any scope</a:t>
            </a:r>
          </a:p>
          <a:p>
            <a:pPr algn="l"/>
            <a:r>
              <a:rPr sz="1050" b="0" i="0">
                <a:solidFill>
                  <a:srgbClr val="1A1A1A"/>
                </a:solidFill>
              </a:rPr>
              <a:t>NSET, CPTY, GROUP, LE, DESK, BOOK, TRD, BANK; + − &amp;</a:t>
            </a:r>
          </a:p>
        </p:txBody>
      </p:sp>
      <p:pic>
        <p:nvPicPr>
          <p:cNvPr id="40" name="Exposure explorer" descr="01-bank-board.jpg"/>
          <p:cNvPicPr>
            <a:picLocks noChangeAspect="1"/>
          </p:cNvPicPr>
          <p:nvPr/>
        </p:nvPicPr>
        <p:blipFill>
          <a:blip r:embed="rId2"/>
          <a:stretch>
            <a:fillRect/>
          </a:stretch>
        </p:blipFill>
        <p:spPr>
          <a:xfrm>
            <a:off x="1124712" y="2834640"/>
            <a:ext cx="4242816" cy="2651760"/>
          </a:xfrm>
          <a:prstGeom prst="rect">
            <a:avLst/>
          </a:prstGeom>
          <a:ln w="9525">
            <a:solidFill>
              <a:srgbClr val="CFC8BE"/>
            </a:solidFill>
          </a:ln>
        </p:spPr>
      </p:pic>
      <p:sp>
        <p:nvSpPr>
          <p:cNvPr id="41" name="Rectangle 40"/>
          <p:cNvSpPr/>
          <p:nvPr/>
        </p:nvSpPr>
        <p:spPr>
          <a:xfrm>
            <a:off x="5989320" y="2834640"/>
            <a:ext cx="2642616" cy="896112"/>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Rectangle 41"/>
          <p:cNvSpPr/>
          <p:nvPr/>
        </p:nvSpPr>
        <p:spPr>
          <a:xfrm>
            <a:off x="5989320" y="2834640"/>
            <a:ext cx="45720" cy="89611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6172200" y="2926080"/>
            <a:ext cx="2368296" cy="457200"/>
          </a:xfrm>
          <a:prstGeom prst="rect">
            <a:avLst/>
          </a:prstGeom>
          <a:noFill/>
        </p:spPr>
        <p:txBody>
          <a:bodyPr wrap="square" lIns="0" rIns="0" tIns="0" bIns="0" anchor="ctr">
            <a:spAutoFit/>
          </a:bodyPr>
          <a:lstStyle/>
          <a:p>
            <a:pPr algn="l"/>
            <a:r>
              <a:rPr sz="1900" b="1" i="0">
                <a:solidFill>
                  <a:srgbClr val="8A1626"/>
                </a:solidFill>
              </a:rPr>
              <a:t>73</a:t>
            </a:r>
          </a:p>
        </p:txBody>
      </p:sp>
      <p:sp>
        <p:nvSpPr>
          <p:cNvPr id="44" name="TextBox 43"/>
          <p:cNvSpPr txBox="1"/>
          <p:nvPr/>
        </p:nvSpPr>
        <p:spPr>
          <a:xfrm>
            <a:off x="6172200" y="3401568"/>
            <a:ext cx="2368296" cy="274319"/>
          </a:xfrm>
          <a:prstGeom prst="rect">
            <a:avLst/>
          </a:prstGeom>
          <a:noFill/>
        </p:spPr>
        <p:txBody>
          <a:bodyPr wrap="square" lIns="0" rIns="0" tIns="0" bIns="0" anchor="t">
            <a:spAutoFit/>
          </a:bodyPr>
          <a:lstStyle/>
          <a:p>
            <a:pPr algn="l"/>
            <a:r>
              <a:rPr sz="1150" b="0" i="0">
                <a:solidFill>
                  <a:srgbClr val="4A5058"/>
                </a:solidFill>
              </a:rPr>
              <a:t>netting sets on the demo, 9,000 trades</a:t>
            </a:r>
          </a:p>
        </p:txBody>
      </p:sp>
      <p:sp>
        <p:nvSpPr>
          <p:cNvPr id="45" name="Rectangle 44"/>
          <p:cNvSpPr/>
          <p:nvPr/>
        </p:nvSpPr>
        <p:spPr>
          <a:xfrm>
            <a:off x="8769096" y="2834640"/>
            <a:ext cx="2642616" cy="896112"/>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Rectangle 45"/>
          <p:cNvSpPr/>
          <p:nvPr/>
        </p:nvSpPr>
        <p:spPr>
          <a:xfrm>
            <a:off x="8769096" y="2834640"/>
            <a:ext cx="45720" cy="89611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xtBox 46"/>
          <p:cNvSpPr txBox="1"/>
          <p:nvPr/>
        </p:nvSpPr>
        <p:spPr>
          <a:xfrm>
            <a:off x="8951976" y="2926080"/>
            <a:ext cx="2368296" cy="457200"/>
          </a:xfrm>
          <a:prstGeom prst="rect">
            <a:avLst/>
          </a:prstGeom>
          <a:noFill/>
        </p:spPr>
        <p:txBody>
          <a:bodyPr wrap="square" lIns="0" rIns="0" tIns="0" bIns="0" anchor="ctr">
            <a:spAutoFit/>
          </a:bodyPr>
          <a:lstStyle/>
          <a:p>
            <a:pPr algn="l"/>
            <a:r>
              <a:rPr sz="1900" b="1" i="0">
                <a:solidFill>
                  <a:srgbClr val="8A1626"/>
                </a:solidFill>
              </a:rPr>
              <a:t>85.1m</a:t>
            </a:r>
          </a:p>
        </p:txBody>
      </p:sp>
      <p:sp>
        <p:nvSpPr>
          <p:cNvPr id="48" name="TextBox 47"/>
          <p:cNvSpPr txBox="1"/>
          <p:nvPr/>
        </p:nvSpPr>
        <p:spPr>
          <a:xfrm>
            <a:off x="8951976" y="3401568"/>
            <a:ext cx="2368296" cy="274319"/>
          </a:xfrm>
          <a:prstGeom prst="rect">
            <a:avLst/>
          </a:prstGeom>
          <a:noFill/>
        </p:spPr>
        <p:txBody>
          <a:bodyPr wrap="square" lIns="0" rIns="0" tIns="0" bIns="0" anchor="t">
            <a:spAutoFit/>
          </a:bodyPr>
          <a:lstStyle/>
          <a:p>
            <a:pPr algn="l"/>
            <a:r>
              <a:rPr sz="1150" b="0" i="0">
                <a:solidFill>
                  <a:srgbClr val="4A5058"/>
                </a:solidFill>
              </a:rPr>
              <a:t>peak PFE, NS-ALDERSHOT-LDN</a:t>
            </a:r>
          </a:p>
        </p:txBody>
      </p:sp>
      <p:sp>
        <p:nvSpPr>
          <p:cNvPr id="49" name="Rectangle 48"/>
          <p:cNvSpPr/>
          <p:nvPr/>
        </p:nvSpPr>
        <p:spPr>
          <a:xfrm>
            <a:off x="5989320" y="3822191"/>
            <a:ext cx="2642616" cy="896112"/>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Rectangle 49"/>
          <p:cNvSpPr/>
          <p:nvPr/>
        </p:nvSpPr>
        <p:spPr>
          <a:xfrm>
            <a:off x="5989320" y="3822191"/>
            <a:ext cx="45720" cy="89611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xtBox 50"/>
          <p:cNvSpPr txBox="1"/>
          <p:nvPr/>
        </p:nvSpPr>
        <p:spPr>
          <a:xfrm>
            <a:off x="6172200" y="3913631"/>
            <a:ext cx="2368296" cy="457200"/>
          </a:xfrm>
          <a:prstGeom prst="rect">
            <a:avLst/>
          </a:prstGeom>
          <a:noFill/>
        </p:spPr>
        <p:txBody>
          <a:bodyPr wrap="square" lIns="0" rIns="0" tIns="0" bIns="0" anchor="ctr">
            <a:spAutoFit/>
          </a:bodyPr>
          <a:lstStyle/>
          <a:p>
            <a:pPr algn="l"/>
            <a:r>
              <a:rPr sz="1900" b="1" i="0">
                <a:solidFill>
                  <a:srgbClr val="8A1626"/>
                </a:solidFill>
              </a:rPr>
              <a:t>61 ms</a:t>
            </a:r>
          </a:p>
        </p:txBody>
      </p:sp>
      <p:sp>
        <p:nvSpPr>
          <p:cNvPr id="52" name="TextBox 51"/>
          <p:cNvSpPr txBox="1"/>
          <p:nvPr/>
        </p:nvSpPr>
        <p:spPr>
          <a:xfrm>
            <a:off x="6172200" y="4389120"/>
            <a:ext cx="2368296" cy="274319"/>
          </a:xfrm>
          <a:prstGeom prst="rect">
            <a:avLst/>
          </a:prstGeom>
          <a:noFill/>
        </p:spPr>
        <p:txBody>
          <a:bodyPr wrap="square" lIns="0" rIns="0" tIns="0" bIns="0" anchor="t">
            <a:spAutoFit/>
          </a:bodyPr>
          <a:lstStyle/>
          <a:p>
            <a:pPr algn="l"/>
            <a:r>
              <a:rPr sz="1150" b="0" i="0">
                <a:solidFill>
                  <a:srgbClr val="4A5058"/>
                </a:solidFill>
              </a:rPr>
              <a:t>the bank of 9,901 sets (measured)</a:t>
            </a:r>
          </a:p>
        </p:txBody>
      </p:sp>
      <p:sp>
        <p:nvSpPr>
          <p:cNvPr id="53" name="Rectangle 52"/>
          <p:cNvSpPr/>
          <p:nvPr/>
        </p:nvSpPr>
        <p:spPr>
          <a:xfrm>
            <a:off x="8769096" y="3822191"/>
            <a:ext cx="2642616" cy="896112"/>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Rectangle 53"/>
          <p:cNvSpPr/>
          <p:nvPr/>
        </p:nvSpPr>
        <p:spPr>
          <a:xfrm>
            <a:off x="8769096" y="3822191"/>
            <a:ext cx="45720" cy="89611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TextBox 54"/>
          <p:cNvSpPr txBox="1"/>
          <p:nvPr/>
        </p:nvSpPr>
        <p:spPr>
          <a:xfrm>
            <a:off x="8951976" y="3913631"/>
            <a:ext cx="2368296" cy="457200"/>
          </a:xfrm>
          <a:prstGeom prst="rect">
            <a:avLst/>
          </a:prstGeom>
          <a:noFill/>
        </p:spPr>
        <p:txBody>
          <a:bodyPr wrap="square" lIns="0" rIns="0" tIns="0" bIns="0" anchor="ctr">
            <a:spAutoFit/>
          </a:bodyPr>
          <a:lstStyle/>
          <a:p>
            <a:pPr algn="l"/>
            <a:r>
              <a:rPr sz="1900" b="1" i="0">
                <a:solidFill>
                  <a:srgbClr val="8A1626"/>
                </a:solidFill>
              </a:rPr>
              <a:t>0.06 ms</a:t>
            </a:r>
          </a:p>
        </p:txBody>
      </p:sp>
      <p:sp>
        <p:nvSpPr>
          <p:cNvPr id="56" name="TextBox 55"/>
          <p:cNvSpPr txBox="1"/>
          <p:nvPr/>
        </p:nvSpPr>
        <p:spPr>
          <a:xfrm>
            <a:off x="8951976" y="4389120"/>
            <a:ext cx="2368296" cy="274319"/>
          </a:xfrm>
          <a:prstGeom prst="rect">
            <a:avLst/>
          </a:prstGeom>
          <a:noFill/>
        </p:spPr>
        <p:txBody>
          <a:bodyPr wrap="square" lIns="0" rIns="0" tIns="0" bIns="0" anchor="t">
            <a:spAutoFit/>
          </a:bodyPr>
          <a:lstStyle/>
          <a:p>
            <a:pPr algn="l"/>
            <a:r>
              <a:rPr sz="1150" b="0" i="0">
                <a:solidFill>
                  <a:srgbClr val="4A5058"/>
                </a:solidFill>
              </a:rPr>
              <a:t>one netting set (measured)</a:t>
            </a:r>
          </a:p>
        </p:txBody>
      </p:sp>
      <p:sp>
        <p:nvSpPr>
          <p:cNvPr id="57" name="TextBox 56"/>
          <p:cNvSpPr txBox="1"/>
          <p:nvPr/>
        </p:nvSpPr>
        <p:spPr>
          <a:xfrm>
            <a:off x="5989320" y="4846320"/>
            <a:ext cx="5422392" cy="685800"/>
          </a:xfrm>
          <a:prstGeom prst="rect">
            <a:avLst/>
          </a:prstGeom>
          <a:noFill/>
        </p:spPr>
        <p:txBody>
          <a:bodyPr wrap="square" lIns="0" rIns="0" tIns="0" bIns="0" anchor="t">
            <a:spAutoFit/>
          </a:bodyPr>
          <a:lstStyle/>
          <a:p>
            <a:pPr algn="l"/>
            <a:r>
              <a:rPr sz="1150" b="0" i="0">
                <a:solidFill>
                  <a:srgbClr val="1A1A1A"/>
                </a:solidFill>
              </a:rPr>
              <a:t>Explorer, pre-deal what-if (exact on the run's own paths, or a marked proxy), captures, official results, tiered retention: trade paths 20 days and month-ends; statistics 7 years.</a:t>
            </a:r>
          </a:p>
        </p:txBody>
      </p:sp>
      <p:sp>
        <p:nvSpPr>
          <p:cNvPr id="58" name="Rectangle 57"/>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Rectangle 58"/>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xtBox 59"/>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The stored peaks summed to 92.6bn; computed with the CSAs on the same sets, 7.6bn — the stored profile is retired.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NUMBERS OF RECORD AND WRITE-BACK · 2.8.0 AND 2.9.0</a:t>
            </a:r>
          </a:p>
        </p:txBody>
      </p:sp>
      <p:sp>
        <p:nvSpPr>
          <p:cNvPr id="3" name="Title 2"/>
          <p:cNvSpPr>
            <a:spLocks noGrp="1"/>
          </p:cNvSpPr>
          <p:nvPr>
            <p:ph type="title" idx="104"/>
          </p:nvPr>
        </p:nvSpPr>
        <p:spPr/>
        <p:txBody>
          <a:bodyPr lIns="0" rIns="0" tIns="0" bIns="0" anchor="t"/>
          <a:lstStyle/>
          <a:p>
            <a:r>
              <a:t>Official results other systems can read — and edits that never overwrite</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TextBox 25"/>
          <p:cNvSpPr txBox="1"/>
          <p:nvPr/>
        </p:nvSpPr>
        <p:spPr>
          <a:xfrm>
            <a:off x="777240" y="1417320"/>
            <a:ext cx="10634472" cy="274320"/>
          </a:xfrm>
          <a:prstGeom prst="rect">
            <a:avLst/>
          </a:prstGeom>
          <a:noFill/>
        </p:spPr>
        <p:txBody>
          <a:bodyPr wrap="square" lIns="0" rIns="0" tIns="0" bIns="0" anchor="t">
            <a:spAutoFit/>
          </a:bodyPr>
          <a:lstStyle/>
          <a:p>
            <a:pPr algn="l"/>
            <a:r>
              <a:rPr sz="1300" b="1" i="0">
                <a:solidFill>
                  <a:srgbClr val="A51C30"/>
                </a:solidFill>
              </a:rPr>
              <a:t>Official end-of-day results: VaR and exposure</a:t>
            </a:r>
          </a:p>
        </p:txBody>
      </p:sp>
      <p:sp>
        <p:nvSpPr>
          <p:cNvPr id="27" name="Rectangle 26"/>
          <p:cNvSpPr/>
          <p:nvPr/>
        </p:nvSpPr>
        <p:spPr>
          <a:xfrm>
            <a:off x="777240" y="1737360"/>
            <a:ext cx="2468880" cy="914400"/>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850392" y="1783080"/>
            <a:ext cx="2340864" cy="841248"/>
          </a:xfrm>
          <a:prstGeom prst="rect">
            <a:avLst/>
          </a:prstGeom>
          <a:noFill/>
        </p:spPr>
        <p:txBody>
          <a:bodyPr wrap="square" lIns="0" rIns="0" tIns="0" bIns="0" anchor="t">
            <a:spAutoFit/>
          </a:bodyPr>
          <a:lstStyle/>
          <a:p>
            <a:pPr algn="l">
              <a:spcAft>
                <a:spcPts val="100"/>
              </a:spcAft>
            </a:pPr>
            <a:r>
              <a:rPr sz="1200" b="1" i="0">
                <a:solidFill>
                  <a:srgbClr val="8A1626"/>
                </a:solidFill>
              </a:rPr>
              <a:t>Morning full run</a:t>
            </a:r>
          </a:p>
          <a:p>
            <a:pPr algn="l"/>
            <a:r>
              <a:rPr sz="1050" b="0" i="0">
                <a:solidFill>
                  <a:srgbClr val="1A1A1A"/>
                </a:solidFill>
              </a:rPr>
              <a:t>every node of every hierarchy, as the server</a:t>
            </a:r>
          </a:p>
        </p:txBody>
      </p:sp>
      <p:cxnSp>
        <p:nvCxnSpPr>
          <p:cNvPr id="29" name="Connector 28"/>
          <p:cNvCxnSpPr/>
          <p:nvPr/>
        </p:nvCxnSpPr>
        <p:spPr>
          <a:xfrm>
            <a:off x="3264408" y="2194560"/>
            <a:ext cx="219456"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3502152" y="1737360"/>
            <a:ext cx="2468880" cy="914400"/>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3575304" y="1783080"/>
            <a:ext cx="2340864" cy="841248"/>
          </a:xfrm>
          <a:prstGeom prst="rect">
            <a:avLst/>
          </a:prstGeom>
          <a:noFill/>
        </p:spPr>
        <p:txBody>
          <a:bodyPr wrap="square" lIns="0" rIns="0" tIns="0" bIns="0" anchor="t">
            <a:spAutoFit/>
          </a:bodyPr>
          <a:lstStyle/>
          <a:p>
            <a:pPr algn="l">
              <a:spcAft>
                <a:spcPts val="100"/>
              </a:spcAft>
            </a:pPr>
            <a:r>
              <a:rPr sz="1200" b="1" i="0">
                <a:solidFill>
                  <a:srgbClr val="8A1626"/>
                </a:solidFill>
              </a:rPr>
              <a:t>Captured, append-only</a:t>
            </a:r>
          </a:p>
          <a:p>
            <a:pPr algn="l"/>
            <a:r>
              <a:rPr sz="1050" b="0" i="0">
                <a:solidFill>
                  <a:srgbClr val="1A1A1A"/>
                </a:solidFill>
              </a:rPr>
              <a:t>a restatement adds a result version; kept 7 years</a:t>
            </a:r>
          </a:p>
        </p:txBody>
      </p:sp>
      <p:cxnSp>
        <p:nvCxnSpPr>
          <p:cNvPr id="32" name="Connector 31"/>
          <p:cNvCxnSpPr/>
          <p:nvPr/>
        </p:nvCxnSpPr>
        <p:spPr>
          <a:xfrm>
            <a:off x="5989320" y="2194560"/>
            <a:ext cx="219456"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6227064" y="1737360"/>
            <a:ext cx="2468880" cy="914400"/>
          </a:xfrm>
          <a:prstGeom prst="rect">
            <a:avLst/>
          </a:prstGeom>
          <a:solidFill>
            <a:srgbClr val="F6E6E9"/>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TextBox 33"/>
          <p:cNvSpPr txBox="1"/>
          <p:nvPr/>
        </p:nvSpPr>
        <p:spPr>
          <a:xfrm>
            <a:off x="6300216" y="1783080"/>
            <a:ext cx="2340864" cy="841248"/>
          </a:xfrm>
          <a:prstGeom prst="rect">
            <a:avLst/>
          </a:prstGeom>
          <a:noFill/>
        </p:spPr>
        <p:txBody>
          <a:bodyPr wrap="square" lIns="0" rIns="0" tIns="0" bIns="0" anchor="t">
            <a:spAutoFit/>
          </a:bodyPr>
          <a:lstStyle/>
          <a:p>
            <a:pPr algn="l">
              <a:spcAft>
                <a:spcPts val="100"/>
              </a:spcAft>
            </a:pPr>
            <a:r>
              <a:rPr sz="1200" b="1" i="0">
                <a:solidFill>
                  <a:srgbClr val="8A1626"/>
                </a:solidFill>
              </a:rPr>
              <a:t>risk-results</a:t>
            </a:r>
          </a:p>
          <a:p>
            <a:pPr algn="l"/>
            <a:r>
              <a:rPr sz="1050" b="0" i="0">
                <a:solidFill>
                  <a:srgbClr val="1A1A1A"/>
                </a:solidFill>
              </a:rPr>
              <a:t>var-official, exposure-official, -cpty: Delta or Iceberg, a folder or S3 (2.9.5); JSONL beside</a:t>
            </a:r>
          </a:p>
        </p:txBody>
      </p:sp>
      <p:cxnSp>
        <p:nvCxnSpPr>
          <p:cNvPr id="35" name="Connector 34"/>
          <p:cNvCxnSpPr/>
          <p:nvPr/>
        </p:nvCxnSpPr>
        <p:spPr>
          <a:xfrm>
            <a:off x="8714232" y="2194560"/>
            <a:ext cx="219456"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8951976" y="1737360"/>
            <a:ext cx="2468880" cy="914400"/>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TextBox 36"/>
          <p:cNvSpPr txBox="1"/>
          <p:nvPr/>
        </p:nvSpPr>
        <p:spPr>
          <a:xfrm>
            <a:off x="9025128" y="1783080"/>
            <a:ext cx="2340864" cy="841248"/>
          </a:xfrm>
          <a:prstGeom prst="rect">
            <a:avLst/>
          </a:prstGeom>
          <a:noFill/>
        </p:spPr>
        <p:txBody>
          <a:bodyPr wrap="square" lIns="0" rIns="0" tIns="0" bIns="0" anchor="t">
            <a:spAutoFit/>
          </a:bodyPr>
          <a:lstStyle/>
          <a:p>
            <a:pPr algn="l">
              <a:spcAft>
                <a:spcPts val="100"/>
              </a:spcAft>
            </a:pPr>
            <a:r>
              <a:rPr sz="1200" b="1" i="0">
                <a:solidFill>
                  <a:srgbClr val="8A1626"/>
                </a:solidFill>
              </a:rPr>
              <a:t>BI reads them</a:t>
            </a:r>
          </a:p>
          <a:p>
            <a:pPr algn="l"/>
            <a:r>
              <a:rPr sz="1050" b="0" i="0">
                <a:solidFill>
                  <a:srgbClr val="1A1A1A"/>
                </a:solidFill>
              </a:rPr>
              <a:t>read-only kinds VOFF and XOFC; the Market risk VaR model and report</a:t>
            </a:r>
          </a:p>
        </p:txBody>
      </p:sp>
      <p:sp>
        <p:nvSpPr>
          <p:cNvPr id="38" name="TextBox 37"/>
          <p:cNvSpPr txBox="1"/>
          <p:nvPr/>
        </p:nvSpPr>
        <p:spPr>
          <a:xfrm>
            <a:off x="777240" y="2880360"/>
            <a:ext cx="10634472" cy="274320"/>
          </a:xfrm>
          <a:prstGeom prst="rect">
            <a:avLst/>
          </a:prstGeom>
          <a:noFill/>
        </p:spPr>
        <p:txBody>
          <a:bodyPr wrap="square" lIns="0" rIns="0" tIns="0" bIns="0" anchor="t">
            <a:spAutoFit/>
          </a:bodyPr>
          <a:lstStyle/>
          <a:p>
            <a:pPr algn="l"/>
            <a:r>
              <a:rPr sz="1300" b="1" i="0">
                <a:solidFill>
                  <a:srgbClr val="A51C30"/>
                </a:solidFill>
              </a:rPr>
              <a:t>Write-back: forms save through an edit log, with four eyes (off by default)</a:t>
            </a:r>
          </a:p>
        </p:txBody>
      </p:sp>
      <p:sp>
        <p:nvSpPr>
          <p:cNvPr id="39" name="Rectangle 38"/>
          <p:cNvSpPr/>
          <p:nvPr/>
        </p:nvSpPr>
        <p:spPr>
          <a:xfrm>
            <a:off x="777240" y="3200400"/>
            <a:ext cx="1929384" cy="1143000"/>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TextBox 39"/>
          <p:cNvSpPr txBox="1"/>
          <p:nvPr/>
        </p:nvSpPr>
        <p:spPr>
          <a:xfrm>
            <a:off x="850392" y="3246120"/>
            <a:ext cx="1801367" cy="1069848"/>
          </a:xfrm>
          <a:prstGeom prst="rect">
            <a:avLst/>
          </a:prstGeom>
          <a:noFill/>
        </p:spPr>
        <p:txBody>
          <a:bodyPr wrap="square" lIns="0" rIns="0" tIns="0" bIns="0" anchor="t">
            <a:spAutoFit/>
          </a:bodyPr>
          <a:lstStyle/>
          <a:p>
            <a:pPr algn="l">
              <a:spcAft>
                <a:spcPts val="100"/>
              </a:spcAft>
            </a:pPr>
            <a:r>
              <a:rPr sz="1200" b="1" i="0">
                <a:solidFill>
                  <a:srgbClr val="8A1626"/>
                </a:solidFill>
              </a:rPr>
              <a:t>Submit…</a:t>
            </a:r>
          </a:p>
          <a:p>
            <a:pPr algn="l"/>
            <a:r>
              <a:rPr sz="1050" b="0" i="0">
                <a:solidFill>
                  <a:srgbClr val="1A1A1A"/>
                </a:solidFill>
              </a:rPr>
              <a:t>the draft and a review sheet: what you saw, what is there now, your change</a:t>
            </a:r>
          </a:p>
        </p:txBody>
      </p:sp>
      <p:cxnSp>
        <p:nvCxnSpPr>
          <p:cNvPr id="41" name="Connector 40"/>
          <p:cNvCxnSpPr/>
          <p:nvPr/>
        </p:nvCxnSpPr>
        <p:spPr>
          <a:xfrm>
            <a:off x="2724912" y="3771900"/>
            <a:ext cx="210312"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2953512" y="3200400"/>
            <a:ext cx="1929384" cy="1143000"/>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3026664" y="3246120"/>
            <a:ext cx="1801367" cy="1069848"/>
          </a:xfrm>
          <a:prstGeom prst="rect">
            <a:avLst/>
          </a:prstGeom>
          <a:noFill/>
        </p:spPr>
        <p:txBody>
          <a:bodyPr wrap="square" lIns="0" rIns="0" tIns="0" bIns="0" anchor="t">
            <a:spAutoFit/>
          </a:bodyPr>
          <a:lstStyle/>
          <a:p>
            <a:pPr algn="l">
              <a:spcAft>
                <a:spcPts val="100"/>
              </a:spcAft>
            </a:pPr>
            <a:r>
              <a:rPr sz="1200" b="1" i="0">
                <a:solidFill>
                  <a:srgbClr val="8A1626"/>
                </a:solidFill>
              </a:rPr>
              <a:t>Approve</a:t>
            </a:r>
          </a:p>
          <a:p>
            <a:pPr algn="l"/>
            <a:r>
              <a:rPr sz="1050" b="0" i="0">
                <a:solidFill>
                  <a:srgbClr val="1A1A1A"/>
                </a:solidFill>
              </a:rPr>
              <a:t>a change request; the approver is never you</a:t>
            </a:r>
          </a:p>
        </p:txBody>
      </p:sp>
      <p:cxnSp>
        <p:nvCxnSpPr>
          <p:cNvPr id="44" name="Connector 43"/>
          <p:cNvCxnSpPr/>
          <p:nvPr/>
        </p:nvCxnSpPr>
        <p:spPr>
          <a:xfrm>
            <a:off x="4901183" y="3771900"/>
            <a:ext cx="210313"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129783" y="3200400"/>
            <a:ext cx="1929384" cy="1143000"/>
          </a:xfrm>
          <a:prstGeom prst="rect">
            <a:avLst/>
          </a:prstGeom>
          <a:solidFill>
            <a:srgbClr val="F6E6E9"/>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TextBox 45"/>
          <p:cNvSpPr txBox="1"/>
          <p:nvPr/>
        </p:nvSpPr>
        <p:spPr>
          <a:xfrm>
            <a:off x="5202936" y="3246120"/>
            <a:ext cx="1801367" cy="1069848"/>
          </a:xfrm>
          <a:prstGeom prst="rect">
            <a:avLst/>
          </a:prstGeom>
          <a:noFill/>
        </p:spPr>
        <p:txBody>
          <a:bodyPr wrap="square" lIns="0" rIns="0" tIns="0" bIns="0" anchor="t">
            <a:spAutoFit/>
          </a:bodyPr>
          <a:lstStyle/>
          <a:p>
            <a:pPr algn="l">
              <a:spcAft>
                <a:spcPts val="100"/>
              </a:spcAft>
            </a:pPr>
            <a:r>
              <a:rPr sz="1200" b="1" i="0">
                <a:solidFill>
                  <a:srgbClr val="8A1626"/>
                </a:solidFill>
              </a:rPr>
              <a:t>Edit log</a:t>
            </a:r>
          </a:p>
          <a:p>
            <a:pPr algn="l"/>
            <a:r>
              <a:rPr sz="1050" b="0" i="0">
                <a:solidFill>
                  <a:srgbClr val="1A1A1A"/>
                </a:solidFill>
              </a:rPr>
              <a:t>appended to its record's lane, acknowledged after commit; 64 lanes, epoch-fenced</a:t>
            </a:r>
          </a:p>
        </p:txBody>
      </p:sp>
      <p:cxnSp>
        <p:nvCxnSpPr>
          <p:cNvPr id="47" name="Connector 46"/>
          <p:cNvCxnSpPr/>
          <p:nvPr/>
        </p:nvCxnSpPr>
        <p:spPr>
          <a:xfrm>
            <a:off x="7077455" y="3771900"/>
            <a:ext cx="210312"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7306055" y="3200400"/>
            <a:ext cx="1929384" cy="1143000"/>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7379207" y="3246120"/>
            <a:ext cx="1801367" cy="1069848"/>
          </a:xfrm>
          <a:prstGeom prst="rect">
            <a:avLst/>
          </a:prstGeom>
          <a:noFill/>
        </p:spPr>
        <p:txBody>
          <a:bodyPr wrap="square" lIns="0" rIns="0" tIns="0" bIns="0" anchor="t">
            <a:spAutoFit/>
          </a:bodyPr>
          <a:lstStyle/>
          <a:p>
            <a:pPr algn="l">
              <a:spcAft>
                <a:spcPts val="100"/>
              </a:spcAft>
            </a:pPr>
            <a:r>
              <a:rPr sz="1200" b="1" i="0">
                <a:solidFill>
                  <a:srgbClr val="8A1626"/>
                </a:solidFill>
              </a:rPr>
              <a:t>Apply</a:t>
            </a:r>
          </a:p>
          <a:p>
            <a:pPr algn="l"/>
            <a:r>
              <a:rPr sz="1050" b="0" i="0">
                <a:solidFill>
                  <a:srgbClr val="1A1A1A"/>
                </a:solidFill>
              </a:rPr>
              <a:t>overlay, owned value or the source through an outbox; rights re-checked</a:t>
            </a:r>
          </a:p>
        </p:txBody>
      </p:sp>
      <p:cxnSp>
        <p:nvCxnSpPr>
          <p:cNvPr id="50" name="Connector 49"/>
          <p:cNvCxnSpPr/>
          <p:nvPr/>
        </p:nvCxnSpPr>
        <p:spPr>
          <a:xfrm>
            <a:off x="9253728" y="3771900"/>
            <a:ext cx="210312"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9482328" y="3200400"/>
            <a:ext cx="1929384" cy="1143000"/>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TextBox 51"/>
          <p:cNvSpPr txBox="1"/>
          <p:nvPr/>
        </p:nvSpPr>
        <p:spPr>
          <a:xfrm>
            <a:off x="9555480" y="3246120"/>
            <a:ext cx="1801367" cy="1069848"/>
          </a:xfrm>
          <a:prstGeom prst="rect">
            <a:avLst/>
          </a:prstGeom>
          <a:noFill/>
        </p:spPr>
        <p:txBody>
          <a:bodyPr wrap="square" lIns="0" rIns="0" tIns="0" bIns="0" anchor="t">
            <a:spAutoFit/>
          </a:bodyPr>
          <a:lstStyle/>
          <a:p>
            <a:pPr algn="l">
              <a:spcAft>
                <a:spcPts val="100"/>
              </a:spcAft>
            </a:pPr>
            <a:r>
              <a:rPr sz="1200" b="1" i="0">
                <a:solidFill>
                  <a:srgbClr val="8A1626"/>
                </a:solidFill>
              </a:rPr>
              <a:t>Recompute</a:t>
            </a:r>
          </a:p>
          <a:p>
            <a:pPr algn="l"/>
            <a:r>
              <a:rPr sz="1050" b="0" i="0">
                <a:solidFill>
                  <a:srgbClr val="1A1A1A"/>
                </a:solidFill>
              </a:rPr>
              <a:t>reactive recomputes and live updates after each change</a:t>
            </a:r>
          </a:p>
        </p:txBody>
      </p:sp>
      <p:sp>
        <p:nvSpPr>
          <p:cNvPr id="53" name="TextBox 52"/>
          <p:cNvSpPr txBox="1"/>
          <p:nvPr/>
        </p:nvSpPr>
        <p:spPr>
          <a:xfrm>
            <a:off x="777240" y="4526280"/>
            <a:ext cx="10634472" cy="685800"/>
          </a:xfrm>
          <a:prstGeom prst="rect">
            <a:avLst/>
          </a:prstGeom>
          <a:noFill/>
        </p:spPr>
        <p:txBody>
          <a:bodyPr wrap="square" lIns="0" rIns="0" tIns="0" bIns="0" anchor="t">
            <a:spAutoFit/>
          </a:bodyPr>
          <a:lstStyle/>
          <a:p>
            <a:pPr algn="l"/>
            <a:r>
              <a:rPr sz="1200" b="1" i="0">
                <a:solidFill>
                  <a:srgbClr val="8A1626"/>
                </a:solidFill>
              </a:rPr>
              <a:t>Conflicts are named, never overwritten: </a:t>
            </a:r>
            <a:r>
              <a:rPr sz="1200" b="0" i="0">
                <a:solidFill>
                  <a:srgbClr val="1A1A1A"/>
                </a:solidFill>
              </a:rPr>
              <a:t>a change whose fields moved since you saw them is stopped with the three-way difference in words; DRS-9301 to 9306; Review → Changes; tutorial 24.</a:t>
            </a:r>
          </a:p>
        </p:txBody>
      </p:sp>
      <p:sp>
        <p:nvSpPr>
          <p:cNvPr id="54" name="Rectangle 53"/>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Rectangle 54"/>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xtBox 55"/>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Engines never read the published results (a guard test): the record is for reporting, the lake stays the input.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KNOWLEDGE, WHAT AND THE BASKET · 2.9.2</a:t>
            </a:r>
          </a:p>
        </p:txBody>
      </p:sp>
      <p:sp>
        <p:nvSpPr>
          <p:cNvPr id="3" name="Title 2"/>
          <p:cNvSpPr>
            <a:spLocks noGrp="1"/>
          </p:cNvSpPr>
          <p:nvPr>
            <p:ph type="title" idx="104"/>
          </p:nvPr>
        </p:nvSpPr>
        <p:spPr/>
        <p:txBody>
          <a:bodyPr lIns="0" rIns="0" tIns="0" bIns="0" anchor="t"/>
          <a:lstStyle/>
          <a:p>
            <a:r>
              <a:t>Explain the data, then let anyone build the portfolio they mean</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Rectangle 25"/>
          <p:cNvSpPr/>
          <p:nvPr/>
        </p:nvSpPr>
        <p:spPr>
          <a:xfrm>
            <a:off x="777240" y="1463040"/>
            <a:ext cx="4206240" cy="406908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941832" y="1536192"/>
            <a:ext cx="3931920" cy="365760"/>
          </a:xfrm>
          <a:prstGeom prst="rect">
            <a:avLst/>
          </a:prstGeom>
          <a:noFill/>
        </p:spPr>
        <p:txBody>
          <a:bodyPr wrap="square" lIns="0" rIns="0" tIns="0" bIns="0" anchor="t">
            <a:spAutoFit/>
          </a:bodyPr>
          <a:lstStyle/>
          <a:p>
            <a:pPr algn="l"/>
            <a:r>
              <a:rPr sz="1400" b="1" i="0">
                <a:solidFill>
                  <a:srgbClr val="8A1626"/>
                </a:solidFill>
              </a:rPr>
              <a:t>Knowledge pages</a:t>
            </a:r>
          </a:p>
        </p:txBody>
      </p:sp>
      <p:sp>
        <p:nvSpPr>
          <p:cNvPr id="28" name="Rectangle 27"/>
          <p:cNvSpPr/>
          <p:nvPr/>
        </p:nvSpPr>
        <p:spPr>
          <a:xfrm>
            <a:off x="941832" y="1938528"/>
            <a:ext cx="1874519" cy="347472"/>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0" bIns="0" wrap="square"/>
          <a:lstStyle/>
          <a:p>
            <a:pPr algn="l"/>
            <a:r>
              <a:rPr sz="1050" b="1" i="0">
                <a:solidFill>
                  <a:srgbClr val="8A1626"/>
                </a:solidFill>
              </a:rPr>
              <a:t>Market risk</a:t>
            </a:r>
          </a:p>
        </p:txBody>
      </p:sp>
      <p:sp>
        <p:nvSpPr>
          <p:cNvPr id="29" name="Rectangle 28"/>
          <p:cNvSpPr/>
          <p:nvPr/>
        </p:nvSpPr>
        <p:spPr>
          <a:xfrm>
            <a:off x="2907791" y="1938528"/>
            <a:ext cx="1874519" cy="347472"/>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0" bIns="0" wrap="square"/>
          <a:lstStyle/>
          <a:p>
            <a:pPr algn="l"/>
            <a:r>
              <a:rPr sz="1050" b="1" i="0">
                <a:solidFill>
                  <a:srgbClr val="8A1626"/>
                </a:solidFill>
              </a:rPr>
              <a:t>Counterparty credit risk</a:t>
            </a:r>
          </a:p>
        </p:txBody>
      </p:sp>
      <p:sp>
        <p:nvSpPr>
          <p:cNvPr id="30" name="Rectangle 29"/>
          <p:cNvSpPr/>
          <p:nvPr/>
        </p:nvSpPr>
        <p:spPr>
          <a:xfrm>
            <a:off x="941832" y="2359152"/>
            <a:ext cx="1874519" cy="347472"/>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0" bIns="0" wrap="square"/>
          <a:lstStyle/>
          <a:p>
            <a:pPr algn="l"/>
            <a:r>
              <a:rPr sz="1050" b="1" i="0">
                <a:solidFill>
                  <a:srgbClr val="8A1626"/>
                </a:solidFill>
              </a:rPr>
              <a:t>Trades and products</a:t>
            </a:r>
          </a:p>
        </p:txBody>
      </p:sp>
      <p:sp>
        <p:nvSpPr>
          <p:cNvPr id="31" name="Rectangle 30"/>
          <p:cNvSpPr/>
          <p:nvPr/>
        </p:nvSpPr>
        <p:spPr>
          <a:xfrm>
            <a:off x="2907791" y="2359152"/>
            <a:ext cx="1874519" cy="347472"/>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0" bIns="0" wrap="square"/>
          <a:lstStyle/>
          <a:p>
            <a:pPr algn="l"/>
            <a:r>
              <a:rPr sz="1050" b="1" i="0">
                <a:solidFill>
                  <a:srgbClr val="8A1626"/>
                </a:solidFill>
              </a:rPr>
              <a:t>Entities and ownership</a:t>
            </a:r>
          </a:p>
        </p:txBody>
      </p:sp>
      <p:sp>
        <p:nvSpPr>
          <p:cNvPr id="32" name="Rectangle 31"/>
          <p:cNvSpPr/>
          <p:nvPr/>
        </p:nvSpPr>
        <p:spPr>
          <a:xfrm>
            <a:off x="941832" y="2779776"/>
            <a:ext cx="1874519" cy="347472"/>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0" bIns="0" wrap="square"/>
          <a:lstStyle/>
          <a:p>
            <a:pPr algn="l"/>
            <a:r>
              <a:rPr sz="1050" b="1" i="0">
                <a:solidFill>
                  <a:srgbClr val="8A1626"/>
                </a:solidFill>
              </a:rPr>
              <a:t>Market data</a:t>
            </a:r>
          </a:p>
        </p:txBody>
      </p:sp>
      <p:sp>
        <p:nvSpPr>
          <p:cNvPr id="33" name="Rectangle 32"/>
          <p:cNvSpPr/>
          <p:nvPr/>
        </p:nvSpPr>
        <p:spPr>
          <a:xfrm>
            <a:off x="2907791" y="2779776"/>
            <a:ext cx="1874519" cy="347472"/>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0" bIns="0" wrap="square"/>
          <a:lstStyle/>
          <a:p>
            <a:pPr algn="l"/>
            <a:r>
              <a:rPr sz="1050" b="1" i="0">
                <a:solidFill>
                  <a:srgbClr val="8A1626"/>
                </a:solidFill>
              </a:rPr>
              <a:t>Data and contracts</a:t>
            </a:r>
          </a:p>
        </p:txBody>
      </p:sp>
      <p:sp>
        <p:nvSpPr>
          <p:cNvPr id="34" name="Rectangle 33"/>
          <p:cNvSpPr/>
          <p:nvPr/>
        </p:nvSpPr>
        <p:spPr>
          <a:xfrm>
            <a:off x="941832" y="3200400"/>
            <a:ext cx="1874519" cy="347472"/>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0" bIns="0" wrap="square"/>
          <a:lstStyle/>
          <a:p>
            <a:pPr algn="l"/>
            <a:r>
              <a:rPr sz="1050" b="1" i="0">
                <a:solidFill>
                  <a:srgbClr val="8A1626"/>
                </a:solidFill>
              </a:rPr>
              <a:t>Economies</a:t>
            </a:r>
          </a:p>
        </p:txBody>
      </p:sp>
      <p:sp>
        <p:nvSpPr>
          <p:cNvPr id="35" name="Rectangle 34"/>
          <p:cNvSpPr/>
          <p:nvPr/>
        </p:nvSpPr>
        <p:spPr>
          <a:xfrm>
            <a:off x="2907791" y="3200400"/>
            <a:ext cx="1874519" cy="347472"/>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0" bIns="0" wrap="square"/>
          <a:lstStyle/>
          <a:p>
            <a:pPr algn="l"/>
            <a:r>
              <a:rPr sz="1050" b="1" i="0">
                <a:solidFill>
                  <a:srgbClr val="8A1626"/>
                </a:solidFill>
              </a:rPr>
              <a:t>Companies, funds and ETFs</a:t>
            </a:r>
          </a:p>
        </p:txBody>
      </p:sp>
      <p:sp>
        <p:nvSpPr>
          <p:cNvPr id="36" name="TextBox 35"/>
          <p:cNvSpPr txBox="1"/>
          <p:nvPr/>
        </p:nvSpPr>
        <p:spPr>
          <a:xfrm>
            <a:off x="941832" y="3703320"/>
            <a:ext cx="3931920" cy="1783080"/>
          </a:xfrm>
          <a:prstGeom prst="rect">
            <a:avLst/>
          </a:prstGeom>
          <a:noFill/>
        </p:spPr>
        <p:txBody>
          <a:bodyPr wrap="square" lIns="0" rIns="0" tIns="0" bIns="0" anchor="t">
            <a:spAutoFit/>
          </a:bodyPr>
          <a:lstStyle/>
          <a:p>
            <a:pPr algn="l">
              <a:spcAft>
                <a:spcPts val="500"/>
              </a:spcAft>
            </a:pPr>
            <a:r>
              <a:rPr sz="1150" b="0" i="0">
                <a:solidFill>
                  <a:srgbClr val="1A1A1A"/>
                </a:solidFill>
              </a:rPr>
              <a:t>Each with the plain idea, how the records connect, a worked example on the demo data and the questions to ask.</a:t>
            </a:r>
          </a:p>
          <a:p>
            <a:pPr algn="l"/>
            <a:r>
              <a:rPr sz="1100" b="1" i="0">
                <a:solidFill>
                  <a:srgbClr val="A51C30"/>
                </a:solidFill>
                <a:latin typeface="Courier New"/>
              </a:rPr>
              <a:t>WHAT &lt;term&gt;</a:t>
            </a:r>
            <a:r>
              <a:rPr sz="1150" b="0" i="0">
                <a:solidFill>
                  <a:srgbClr val="1A1A1A"/>
                </a:solidFill>
              </a:rPr>
              <a:t>  162 terms; 'What does this mean?' beside the VaR and exposure explorers, USEQ, FUND, HELD and TRACK.</a:t>
            </a:r>
          </a:p>
        </p:txBody>
      </p:sp>
      <p:pic>
        <p:nvPicPr>
          <p:cNvPr id="37" name="Construct your basket" descr="06-basket.jpg"/>
          <p:cNvPicPr>
            <a:picLocks noChangeAspect="1"/>
          </p:cNvPicPr>
          <p:nvPr/>
        </p:nvPicPr>
        <p:blipFill>
          <a:blip r:embed="rId2"/>
          <a:stretch>
            <a:fillRect/>
          </a:stretch>
        </p:blipFill>
        <p:spPr>
          <a:xfrm>
            <a:off x="5257799" y="1468755"/>
            <a:ext cx="3566160" cy="2228850"/>
          </a:xfrm>
          <a:prstGeom prst="rect">
            <a:avLst/>
          </a:prstGeom>
          <a:ln w="9525">
            <a:solidFill>
              <a:srgbClr val="CFC8BE"/>
            </a:solidFill>
          </a:ln>
        </p:spPr>
      </p:pic>
      <p:sp>
        <p:nvSpPr>
          <p:cNvPr id="38" name="TextBox 37"/>
          <p:cNvSpPr txBox="1"/>
          <p:nvPr/>
        </p:nvSpPr>
        <p:spPr>
          <a:xfrm>
            <a:off x="9006839" y="1463040"/>
            <a:ext cx="2404872" cy="2240280"/>
          </a:xfrm>
          <a:prstGeom prst="rect">
            <a:avLst/>
          </a:prstGeom>
          <a:noFill/>
        </p:spPr>
        <p:txBody>
          <a:bodyPr wrap="square" lIns="0" rIns="0" tIns="0" bIns="0" anchor="t">
            <a:spAutoFit/>
          </a:bodyPr>
          <a:lstStyle/>
          <a:p>
            <a:pPr algn="l">
              <a:spcAft>
                <a:spcPts val="200"/>
              </a:spcAft>
            </a:pPr>
            <a:r>
              <a:rPr sz="1300" b="1" i="0">
                <a:solidFill>
                  <a:srgbClr val="8A1626"/>
                </a:solidFill>
              </a:rPr>
              <a:t>Construct your basket</a:t>
            </a:r>
          </a:p>
          <a:p>
            <a:pPr algn="l"/>
            <a:r>
              <a:rPr sz="1100" b="0" i="0">
                <a:solidFill>
                  <a:srgbClr val="1A1A1A"/>
                </a:solidFill>
              </a:rPr>
              <a:t>Pick portfolios, desks, books, legal entities, counterparties, positions, trades or a rule as you type; see VaR, ES and diversification live; save it. Alt+B.</a:t>
            </a:r>
          </a:p>
        </p:txBody>
      </p:sp>
      <p:sp>
        <p:nvSpPr>
          <p:cNvPr id="39" name="Rectangle 38"/>
          <p:cNvSpPr/>
          <p:nvPr/>
        </p:nvSpPr>
        <p:spPr>
          <a:xfrm>
            <a:off x="5257799" y="3840480"/>
            <a:ext cx="6153912" cy="1691640"/>
          </a:xfrm>
          <a:prstGeom prst="rect">
            <a:avLst/>
          </a:prstGeom>
          <a:solidFill>
            <a:srgbClr val="F6E6E9"/>
          </a:solidFill>
          <a:ln w="952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TextBox 39"/>
          <p:cNvSpPr txBox="1"/>
          <p:nvPr/>
        </p:nvSpPr>
        <p:spPr>
          <a:xfrm>
            <a:off x="5367527" y="3913632"/>
            <a:ext cx="5934456" cy="1563624"/>
          </a:xfrm>
          <a:prstGeom prst="rect">
            <a:avLst/>
          </a:prstGeom>
          <a:noFill/>
        </p:spPr>
        <p:txBody>
          <a:bodyPr wrap="square" lIns="0" rIns="0" tIns="0" bIns="0" anchor="t">
            <a:spAutoFit/>
          </a:bodyPr>
          <a:lstStyle/>
          <a:p>
            <a:pPr algn="l">
              <a:spcAft>
                <a:spcPts val="300"/>
              </a:spcAft>
            </a:pPr>
            <a:r>
              <a:rPr sz="1300" b="1" i="0">
                <a:solidFill>
                  <a:srgbClr val="8A1626"/>
                </a:solidFill>
              </a:rPr>
              <a:t>The pre-deal what-if</a:t>
            </a:r>
          </a:p>
          <a:p>
            <a:pPr algn="l"/>
            <a:r>
              <a:rPr sz="1150" b="0" i="0">
                <a:solidFill>
                  <a:srgbClr val="1A1A1A"/>
                </a:solidFill>
              </a:rPr>
              <a:t>A hypothetical trade — a booked one copied and scaled, −1 its unwind — shows VaR before and after in the basket; the exposure explorer has it on the counterparty and the netting set. Exact methods run on the compute workers; trade pages link to the trade's P&amp;L vector, VaR and exposure, or say why not.</a:t>
            </a:r>
          </a:p>
        </p:txBody>
      </p:sp>
      <p:sp>
        <p:nvSpPr>
          <p:cNvPr id="41" name="Rectangle 40"/>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Rectangle 41"/>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An id that matches nothing, or a trade that is not live, is said in words — never shown as a VaR of 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DATAMAP AND THE FACT OF THE DAY · 2.9.3</a:t>
            </a:r>
          </a:p>
        </p:txBody>
      </p:sp>
      <p:sp>
        <p:nvSpPr>
          <p:cNvPr id="3" name="Title 2"/>
          <p:cNvSpPr>
            <a:spLocks noGrp="1"/>
          </p:cNvSpPr>
          <p:nvPr>
            <p:ph type="title" idx="104"/>
          </p:nvPr>
        </p:nvSpPr>
        <p:spPr/>
        <p:txBody>
          <a:bodyPr lIns="0" rIns="0" tIns="0" bIns="0" anchor="t"/>
          <a:lstStyle/>
          <a:p>
            <a:r>
              <a:t>A map of all your data that draws itself — and one true surprise a day</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pic>
        <p:nvPicPr>
          <p:cNvPr id="26" name="Data map" descr="01-map-trade.jpg"/>
          <p:cNvPicPr>
            <a:picLocks noChangeAspect="1"/>
          </p:cNvPicPr>
          <p:nvPr/>
        </p:nvPicPr>
        <p:blipFill>
          <a:blip r:embed="rId2"/>
          <a:stretch>
            <a:fillRect/>
          </a:stretch>
        </p:blipFill>
        <p:spPr>
          <a:xfrm>
            <a:off x="777240" y="1444752"/>
            <a:ext cx="5852160" cy="3657600"/>
          </a:xfrm>
          <a:prstGeom prst="rect">
            <a:avLst/>
          </a:prstGeom>
          <a:ln w="9525">
            <a:solidFill>
              <a:srgbClr val="CFC8BE"/>
            </a:solidFill>
          </a:ln>
        </p:spPr>
      </p:pic>
      <p:sp>
        <p:nvSpPr>
          <p:cNvPr id="27" name="TextBox 26"/>
          <p:cNvSpPr txBox="1"/>
          <p:nvPr/>
        </p:nvSpPr>
        <p:spPr>
          <a:xfrm>
            <a:off x="777240" y="5138928"/>
            <a:ext cx="5852160" cy="274320"/>
          </a:xfrm>
          <a:prstGeom prst="rect">
            <a:avLst/>
          </a:prstGeom>
          <a:noFill/>
        </p:spPr>
        <p:txBody>
          <a:bodyPr wrap="square" lIns="0" rIns="0" tIns="0" bIns="0" anchor="t">
            <a:spAutoFit/>
          </a:bodyPr>
          <a:lstStyle/>
          <a:p>
            <a:pPr algn="l"/>
            <a:r>
              <a:rPr sz="1050" b="0" i="1">
                <a:solidFill>
                  <a:srgbClr val="61666E"/>
                </a:solidFill>
              </a:rPr>
              <a:t>DATAMAP trade: domains as clusters, joins as lines, each join's match rate checked on the business date.</a:t>
            </a:r>
          </a:p>
        </p:txBody>
      </p:sp>
      <p:sp>
        <p:nvSpPr>
          <p:cNvPr id="28" name="TextBox 27"/>
          <p:cNvSpPr txBox="1"/>
          <p:nvPr/>
        </p:nvSpPr>
        <p:spPr>
          <a:xfrm>
            <a:off x="6903720" y="1444752"/>
            <a:ext cx="4507992" cy="2103120"/>
          </a:xfrm>
          <a:prstGeom prst="rect">
            <a:avLst/>
          </a:prstGeom>
          <a:noFill/>
        </p:spPr>
        <p:txBody>
          <a:bodyPr wrap="square" lIns="0" rIns="0" tIns="0" bIns="0" anchor="t">
            <a:spAutoFit/>
          </a:bodyPr>
          <a:lstStyle/>
          <a:p>
            <a:pPr marL="164592" indent="-164592">
              <a:spcAft>
                <a:spcPts val="100"/>
              </a:spcAft>
              <a:buClr>
                <a:srgbClr val="A51C30"/>
              </a:buClr>
              <a:buSzPct val="100000"/>
              <a:buFont typeface="Arial"/>
              <a:buChar char="▪"/>
            </a:pPr>
            <a:r>
              <a:rPr sz="1300" b="1" i="0">
                <a:solidFill>
                  <a:srgbClr val="8A1626"/>
                </a:solidFill>
              </a:rPr>
              <a:t>Nothing hand-drawn</a:t>
            </a:r>
          </a:p>
          <a:p>
            <a:pPr marL="164592" indent="0">
              <a:spcAft>
                <a:spcPts val="400"/>
              </a:spcAft>
            </a:pPr>
            <a:r>
              <a:rPr sz="1150" b="0" i="0">
                <a:solidFill>
                  <a:srgbClr val="1A1A1A"/>
                </a:solidFill>
              </a:rPr>
              <a:t>Kinds from the enabled packs, joins from the data contracts, counts from the lake; a new pack appears with no setup.</a:t>
            </a:r>
          </a:p>
          <a:p>
            <a:pPr marL="164592" indent="-164592">
              <a:spcAft>
                <a:spcPts val="100"/>
              </a:spcAft>
              <a:buClr>
                <a:srgbClr val="A51C30"/>
              </a:buClr>
              <a:buSzPct val="100000"/>
              <a:buFont typeface="Arial"/>
              <a:buChar char="▪"/>
            </a:pPr>
            <a:r>
              <a:rPr sz="1300" b="1" i="0">
                <a:solidFill>
                  <a:srgbClr val="8A1626"/>
                </a:solidFill>
              </a:rPr>
              <a:t>Every join checked</a:t>
            </a:r>
          </a:p>
          <a:p>
            <a:pPr marL="164592" indent="0">
              <a:spcAft>
                <a:spcPts val="400"/>
              </a:spcAft>
            </a:pPr>
            <a:r>
              <a:rPr sz="1150" b="0" i="0">
                <a:solidFill>
                  <a:srgbClr val="1A1A1A"/>
                </a:solidFill>
              </a:rPr>
              <a:t>How many ids match; it found 11 joins that do not hold (e.g. a jurisdiction code where an id is expected).</a:t>
            </a:r>
          </a:p>
        </p:txBody>
      </p:sp>
      <p:sp>
        <p:nvSpPr>
          <p:cNvPr id="29" name="Rectangle 28"/>
          <p:cNvSpPr/>
          <p:nvPr/>
        </p:nvSpPr>
        <p:spPr>
          <a:xfrm>
            <a:off x="6903720" y="3657600"/>
            <a:ext cx="4507992" cy="1874519"/>
          </a:xfrm>
          <a:prstGeom prst="rect">
            <a:avLst/>
          </a:prstGeom>
          <a:solidFill>
            <a:srgbClr val="1E1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7068312" y="3712463"/>
            <a:ext cx="4233672" cy="274320"/>
          </a:xfrm>
          <a:prstGeom prst="rect">
            <a:avLst/>
          </a:prstGeom>
          <a:noFill/>
        </p:spPr>
        <p:txBody>
          <a:bodyPr wrap="square" lIns="0" rIns="0" tIns="0" bIns="0" anchor="t">
            <a:spAutoFit/>
          </a:bodyPr>
          <a:lstStyle/>
          <a:p>
            <a:pPr algn="l"/>
            <a:r>
              <a:rPr sz="1000" b="1" i="0">
                <a:solidFill>
                  <a:srgbClr val="E8C9CF"/>
                </a:solidFill>
              </a:rPr>
              <a:t>HOME · THE FACT OF THE DAY</a:t>
            </a:r>
          </a:p>
        </p:txBody>
      </p:sp>
      <p:sp>
        <p:nvSpPr>
          <p:cNvPr id="31" name="TextBox 30"/>
          <p:cNvSpPr txBox="1"/>
          <p:nvPr/>
        </p:nvSpPr>
        <p:spPr>
          <a:xfrm>
            <a:off x="7068312" y="3986784"/>
            <a:ext cx="4233672" cy="685800"/>
          </a:xfrm>
          <a:prstGeom prst="rect">
            <a:avLst/>
          </a:prstGeom>
          <a:noFill/>
        </p:spPr>
        <p:txBody>
          <a:bodyPr wrap="square" lIns="0" rIns="0" tIns="0" bIns="0" anchor="t">
            <a:spAutoFit/>
          </a:bodyPr>
          <a:lstStyle/>
          <a:p>
            <a:pPr algn="l"/>
            <a:r>
              <a:rPr sz="1250" b="1" i="0">
                <a:solidFill>
                  <a:srgbClr val="FFFFFF"/>
                </a:solidFill>
              </a:rPr>
              <a:t>One surprising, true sentence from your data, computed as you, on your business date.</a:t>
            </a:r>
          </a:p>
        </p:txBody>
      </p:sp>
      <p:sp>
        <p:nvSpPr>
          <p:cNvPr id="32" name="TextBox 31"/>
          <p:cNvSpPr txBox="1"/>
          <p:nvPr/>
        </p:nvSpPr>
        <p:spPr>
          <a:xfrm>
            <a:off x="7068312" y="4663440"/>
            <a:ext cx="4233672" cy="822960"/>
          </a:xfrm>
          <a:prstGeom prst="rect">
            <a:avLst/>
          </a:prstGeom>
          <a:noFill/>
        </p:spPr>
        <p:txBody>
          <a:bodyPr wrap="square" lIns="0" rIns="0" tIns="0" bIns="0" anchor="t">
            <a:spAutoFit/>
          </a:bodyPr>
          <a:lstStyle/>
          <a:p>
            <a:pPr algn="l"/>
            <a:r>
              <a:rPr sz="1050" b="0" i="0">
                <a:solidFill>
                  <a:srgbClr val="F1EEE9"/>
                </a:solidFill>
              </a:rPr>
              <a:t>Seven ship: a book over its VaR limit while its desk is within · a desk that lowers VaR · posted collateral raising exposure · VaR against peak PFE · the most-held company · two managers holding one portfolio · a fund's weights above its net assets</a:t>
            </a:r>
          </a:p>
        </p:txBody>
      </p:sp>
      <p:sp>
        <p:nvSpPr>
          <p:cNvPr id="33" name="Rectangle 32"/>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Rectangle 33"/>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xtBox 34"/>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Each pack declares its facts; only those that hold today are shown, with 'Why does that happen?' and the command.</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JSON LINES IS THE DATA STANDARD · 2.9.4</a:t>
            </a:r>
          </a:p>
        </p:txBody>
      </p:sp>
      <p:sp>
        <p:nvSpPr>
          <p:cNvPr id="3" name="Title 2"/>
          <p:cNvSpPr>
            <a:spLocks noGrp="1"/>
          </p:cNvSpPr>
          <p:nvPr>
            <p:ph type="title" idx="104"/>
          </p:nvPr>
        </p:nvSpPr>
        <p:spPr/>
        <p:txBody>
          <a:bodyPr lIns="0" rIns="0" tIns="0" bIns="0" anchor="t"/>
          <a:lstStyle/>
          <a:p>
            <a:r>
              <a:t>One JSON object a line: every generator writes it, every export offers it</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Rectangle 25"/>
          <p:cNvSpPr/>
          <p:nvPr/>
        </p:nvSpPr>
        <p:spPr>
          <a:xfrm>
            <a:off x="777240" y="1481328"/>
            <a:ext cx="2468880" cy="868680"/>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850392" y="1527048"/>
            <a:ext cx="2340864" cy="795528"/>
          </a:xfrm>
          <a:prstGeom prst="rect">
            <a:avLst/>
          </a:prstGeom>
          <a:noFill/>
        </p:spPr>
        <p:txBody>
          <a:bodyPr wrap="square" lIns="0" rIns="0" tIns="0" bIns="0" anchor="t">
            <a:spAutoFit/>
          </a:bodyPr>
          <a:lstStyle/>
          <a:p>
            <a:pPr algn="l">
              <a:spcAft>
                <a:spcPts val="100"/>
              </a:spcAft>
            </a:pPr>
            <a:r>
              <a:rPr sz="1250" b="1" i="0">
                <a:solidFill>
                  <a:srgbClr val="8A1626"/>
                </a:solidFill>
              </a:rPr>
              <a:t>Generators</a:t>
            </a:r>
          </a:p>
          <a:p>
            <a:pPr algn="l"/>
            <a:r>
              <a:rPr sz="1050" b="0" i="0">
                <a:solidFill>
                  <a:srgbClr val="1A1A1A"/>
                </a:solidFill>
              </a:rPr>
              <a:t>every tool under tools/ writes JSONL; .jsonl.gz where the repository gzips</a:t>
            </a:r>
          </a:p>
        </p:txBody>
      </p:sp>
      <p:cxnSp>
        <p:nvCxnSpPr>
          <p:cNvPr id="28" name="Connector 27"/>
          <p:cNvCxnSpPr/>
          <p:nvPr/>
        </p:nvCxnSpPr>
        <p:spPr>
          <a:xfrm>
            <a:off x="3264408" y="1915668"/>
            <a:ext cx="219456"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3502152" y="1481328"/>
            <a:ext cx="2468880" cy="868680"/>
          </a:xfrm>
          <a:prstGeom prst="rect">
            <a:avLst/>
          </a:prstGeom>
          <a:solidFill>
            <a:srgbClr val="F6E6E9"/>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3575304" y="1527048"/>
            <a:ext cx="2340864" cy="795528"/>
          </a:xfrm>
          <a:prstGeom prst="rect">
            <a:avLst/>
          </a:prstGeom>
          <a:noFill/>
        </p:spPr>
        <p:txBody>
          <a:bodyPr wrap="square" lIns="0" rIns="0" tIns="0" bIns="0" anchor="t">
            <a:spAutoFit/>
          </a:bodyPr>
          <a:lstStyle/>
          <a:p>
            <a:pPr algn="l">
              <a:spcAft>
                <a:spcPts val="100"/>
              </a:spcAft>
            </a:pPr>
            <a:r>
              <a:rPr sz="1250" b="1" i="0">
                <a:solidFill>
                  <a:srgbClr val="8A1626"/>
                </a:solidFill>
              </a:rPr>
              <a:t>JSON Lines</a:t>
            </a:r>
          </a:p>
          <a:p>
            <a:pPr algn="l"/>
            <a:r>
              <a:rPr sz="1050" b="0" i="0">
                <a:solidFill>
                  <a:srgbClr val="1A1A1A"/>
                </a:solidFill>
              </a:rPr>
              <a:t>one object a line, UTF-8; generating and loading are separate steps</a:t>
            </a:r>
          </a:p>
        </p:txBody>
      </p:sp>
      <p:cxnSp>
        <p:nvCxnSpPr>
          <p:cNvPr id="31" name="Connector 30"/>
          <p:cNvCxnSpPr/>
          <p:nvPr/>
        </p:nvCxnSpPr>
        <p:spPr>
          <a:xfrm>
            <a:off x="5989320" y="1915668"/>
            <a:ext cx="219456"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6227064" y="1481328"/>
            <a:ext cx="2468880" cy="868680"/>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6300216" y="1527048"/>
            <a:ext cx="2340864" cy="795528"/>
          </a:xfrm>
          <a:prstGeom prst="rect">
            <a:avLst/>
          </a:prstGeom>
          <a:noFill/>
        </p:spPr>
        <p:txBody>
          <a:bodyPr wrap="square" lIns="0" rIns="0" tIns="0" bIns="0" anchor="t">
            <a:spAutoFit/>
          </a:bodyPr>
          <a:lstStyle/>
          <a:p>
            <a:pPr algn="l">
              <a:spcAft>
                <a:spcPts val="100"/>
              </a:spcAft>
            </a:pPr>
            <a:r>
              <a:rPr sz="1250" b="1" i="0">
                <a:solidFill>
                  <a:srgbClr val="8A1626"/>
                </a:solidFill>
              </a:rPr>
              <a:t>Load</a:t>
            </a:r>
          </a:p>
          <a:p>
            <a:pPr algn="l"/>
            <a:r>
              <a:rPr sz="1050" b="0" i="0">
                <a:solidFill>
                  <a:srgbClr val="1A1A1A"/>
                </a:solidFill>
              </a:rPr>
              <a:t>load_rows.py, lake build: the lake byte for byte the same as before</a:t>
            </a:r>
          </a:p>
        </p:txBody>
      </p:sp>
      <p:cxnSp>
        <p:nvCxnSpPr>
          <p:cNvPr id="34" name="Connector 33"/>
          <p:cNvCxnSpPr/>
          <p:nvPr/>
        </p:nvCxnSpPr>
        <p:spPr>
          <a:xfrm>
            <a:off x="8714232" y="1915668"/>
            <a:ext cx="219456"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8951976" y="1481328"/>
            <a:ext cx="2468880" cy="868680"/>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9025128" y="1527048"/>
            <a:ext cx="2340864" cy="795528"/>
          </a:xfrm>
          <a:prstGeom prst="rect">
            <a:avLst/>
          </a:prstGeom>
          <a:noFill/>
        </p:spPr>
        <p:txBody>
          <a:bodyPr wrap="square" lIns="0" rIns="0" tIns="0" bIns="0" anchor="t">
            <a:spAutoFit/>
          </a:bodyPr>
          <a:lstStyle/>
          <a:p>
            <a:pPr algn="l">
              <a:spcAft>
                <a:spcPts val="100"/>
              </a:spcAft>
            </a:pPr>
            <a:r>
              <a:rPr sz="1250" b="1" i="0">
                <a:solidFill>
                  <a:srgbClr val="8A1626"/>
                </a:solidFill>
              </a:rPr>
              <a:t>Delta or Iceberg</a:t>
            </a:r>
          </a:p>
          <a:p>
            <a:pPr algn="l"/>
            <a:r>
              <a:rPr sz="1050" b="0" i="0">
                <a:solidFill>
                  <a:srgbClr val="1A1A1A"/>
                </a:solidFill>
              </a:rPr>
              <a:t>the lake every connector reads</a:t>
            </a:r>
          </a:p>
        </p:txBody>
      </p:sp>
      <p:sp>
        <p:nvSpPr>
          <p:cNvPr id="37" name="Rectangle 36"/>
          <p:cNvSpPr/>
          <p:nvPr/>
        </p:nvSpPr>
        <p:spPr>
          <a:xfrm>
            <a:off x="777240" y="2560320"/>
            <a:ext cx="3422904" cy="224028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xtBox 37"/>
          <p:cNvSpPr txBox="1"/>
          <p:nvPr/>
        </p:nvSpPr>
        <p:spPr>
          <a:xfrm>
            <a:off x="905256" y="2615184"/>
            <a:ext cx="3194304" cy="2148840"/>
          </a:xfrm>
          <a:prstGeom prst="rect">
            <a:avLst/>
          </a:prstGeom>
          <a:noFill/>
        </p:spPr>
        <p:txBody>
          <a:bodyPr wrap="square" lIns="0" rIns="0" tIns="0" bIns="0" anchor="t">
            <a:spAutoFit/>
          </a:bodyPr>
          <a:lstStyle/>
          <a:p>
            <a:pPr algn="l">
              <a:spcAft>
                <a:spcPts val="300"/>
              </a:spcAft>
            </a:pPr>
            <a:r>
              <a:rPr sz="1300" b="1" i="0">
                <a:solidFill>
                  <a:srgbClr val="8A1626"/>
                </a:solidFill>
              </a:rPr>
              <a:t>Readers</a:t>
            </a:r>
          </a:p>
          <a:p>
            <a:pPr algn="l" marL="146304" indent="-146304">
              <a:spcAft>
                <a:spcPts val="400"/>
              </a:spcAft>
              <a:buClr>
                <a:srgbClr val="A51C30"/>
              </a:buClr>
              <a:buSzPct val="100000"/>
              <a:buFont typeface="Arial"/>
              <a:buChar char="▪"/>
            </a:pPr>
            <a:r>
              <a:rPr sz="1150" b="0" i="0">
                <a:solidFill>
                  <a:srgbClr val="1A1A1A"/>
                </a:solidFill>
              </a:rPr>
              <a:t>JSON Lines, JSON arrays and per-entity .json still read</a:t>
            </a:r>
          </a:p>
          <a:p>
            <a:pPr algn="l" marL="146304" indent="-146304">
              <a:spcAft>
                <a:spcPts val="400"/>
              </a:spcAft>
              <a:buClr>
                <a:srgbClr val="A51C30"/>
              </a:buClr>
              <a:buSzPct val="100000"/>
              <a:buFont typeface="Arial"/>
              <a:buChar char="▪"/>
            </a:pPr>
            <a:r>
              <a:rPr sz="1150" b="0" i="0">
                <a:solidFill>
                  <a:srgbClr val="1A1A1A"/>
                </a:solidFill>
              </a:rPr>
              <a:t>CSV deprecated: one warning a file, named in Admin → Health</a:t>
            </a:r>
          </a:p>
          <a:p>
            <a:pPr algn="l" marL="146304" indent="-146304">
              <a:spcAft>
                <a:spcPts val="400"/>
              </a:spcAft>
              <a:buClr>
                <a:srgbClr val="A51C30"/>
              </a:buClr>
              <a:buSzPct val="100000"/>
              <a:buFont typeface="Arial"/>
              <a:buChar char="▪"/>
            </a:pPr>
            <a:r>
              <a:rPr sz="1150" b="0" i="0">
                <a:solidFill>
                  <a:srgbClr val="1A1A1A"/>
                </a:solidFill>
              </a:rPr>
              <a:t>drishti.py convert FILE: CSV, a JSON array, gzip or a folder into JSONL</a:t>
            </a:r>
          </a:p>
        </p:txBody>
      </p:sp>
      <p:sp>
        <p:nvSpPr>
          <p:cNvPr id="39" name="Rectangle 38"/>
          <p:cNvSpPr/>
          <p:nvPr/>
        </p:nvSpPr>
        <p:spPr>
          <a:xfrm>
            <a:off x="4383024" y="2560320"/>
            <a:ext cx="3422904" cy="224028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TextBox 39"/>
          <p:cNvSpPr txBox="1"/>
          <p:nvPr/>
        </p:nvSpPr>
        <p:spPr>
          <a:xfrm>
            <a:off x="4511040" y="2615184"/>
            <a:ext cx="3194304" cy="2148840"/>
          </a:xfrm>
          <a:prstGeom prst="rect">
            <a:avLst/>
          </a:prstGeom>
          <a:noFill/>
        </p:spPr>
        <p:txBody>
          <a:bodyPr wrap="square" lIns="0" rIns="0" tIns="0" bIns="0" anchor="t">
            <a:spAutoFit/>
          </a:bodyPr>
          <a:lstStyle/>
          <a:p>
            <a:pPr algn="l">
              <a:spcAft>
                <a:spcPts val="300"/>
              </a:spcAft>
            </a:pPr>
            <a:r>
              <a:rPr sz="1300" b="1" i="0">
                <a:solidFill>
                  <a:srgbClr val="8A1626"/>
                </a:solidFill>
              </a:rPr>
              <a:t>Exports</a:t>
            </a:r>
          </a:p>
          <a:p>
            <a:pPr algn="l" marL="146304" indent="-146304">
              <a:spcAft>
                <a:spcPts val="400"/>
              </a:spcAft>
              <a:buClr>
                <a:srgbClr val="A51C30"/>
              </a:buClr>
              <a:buSzPct val="100000"/>
              <a:buFont typeface="Arial"/>
              <a:buChar char="▪"/>
            </a:pPr>
            <a:r>
              <a:rPr sz="1150" b="0" i="0">
                <a:solidFill>
                  <a:srgbClr val="1A1A1A"/>
                </a:solidFill>
              </a:rPr>
              <a:t>Server: search, SQL, BI runs, /export/jsonl, statements, subscriptions, scheduled reports, VaR and exposure</a:t>
            </a:r>
          </a:p>
          <a:p>
            <a:pPr algn="l" marL="146304" indent="-146304">
              <a:spcAft>
                <a:spcPts val="400"/>
              </a:spcAft>
              <a:buClr>
                <a:srgbClr val="A51C30"/>
              </a:buClr>
              <a:buSzPct val="100000"/>
              <a:buFont typeface="Arial"/>
              <a:buChar char="▪"/>
            </a:pPr>
            <a:r>
              <a:rPr sz="1150" b="0" i="0">
                <a:solidFill>
                  <a:srgbClr val="1A1A1A"/>
                </a:solidFill>
              </a:rPr>
              <a:t>Console: every download and menu; CLI: --jsonl, --format jsonl</a:t>
            </a:r>
          </a:p>
          <a:p>
            <a:pPr algn="l" marL="146304" indent="-146304">
              <a:spcAft>
                <a:spcPts val="400"/>
              </a:spcAft>
              <a:buClr>
                <a:srgbClr val="A51C30"/>
              </a:buClr>
              <a:buSzPct val="100000"/>
              <a:buFont typeface="Arial"/>
              <a:buChar char="▪"/>
            </a:pPr>
            <a:r>
              <a:rPr sz="1150" b="0" i="0">
                <a:solidFill>
                  <a:srgbClr val="1A1A1A"/>
                </a:solidFill>
              </a:rPr>
              <a:t>CSV, Excel, PDF and PNG all stay</a:t>
            </a:r>
          </a:p>
        </p:txBody>
      </p:sp>
      <p:sp>
        <p:nvSpPr>
          <p:cNvPr id="41" name="Rectangle 40"/>
          <p:cNvSpPr/>
          <p:nvPr/>
        </p:nvSpPr>
        <p:spPr>
          <a:xfrm>
            <a:off x="7988808" y="2560320"/>
            <a:ext cx="3422904" cy="224028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xtBox 41"/>
          <p:cNvSpPr txBox="1"/>
          <p:nvPr/>
        </p:nvSpPr>
        <p:spPr>
          <a:xfrm>
            <a:off x="8116824" y="2615184"/>
            <a:ext cx="3194304" cy="2148840"/>
          </a:xfrm>
          <a:prstGeom prst="rect">
            <a:avLst/>
          </a:prstGeom>
          <a:noFill/>
        </p:spPr>
        <p:txBody>
          <a:bodyPr wrap="square" lIns="0" rIns="0" tIns="0" bIns="0" anchor="t">
            <a:spAutoFit/>
          </a:bodyPr>
          <a:lstStyle/>
          <a:p>
            <a:pPr algn="l">
              <a:spcAft>
                <a:spcPts val="300"/>
              </a:spcAft>
            </a:pPr>
            <a:r>
              <a:rPr sz="1300" b="1" i="0">
                <a:solidFill>
                  <a:srgbClr val="8A1626"/>
                </a:solidFill>
              </a:rPr>
              <a:t>Records</a:t>
            </a:r>
          </a:p>
          <a:p>
            <a:pPr algn="l" marL="146304" indent="-146304">
              <a:spcAft>
                <a:spcPts val="400"/>
              </a:spcAft>
              <a:buClr>
                <a:srgbClr val="A51C30"/>
              </a:buClr>
              <a:buSzPct val="100000"/>
              <a:buFont typeface="Arial"/>
              <a:buChar char="▪"/>
            </a:pPr>
            <a:r>
              <a:rPr sz="1150" b="0" i="0">
                <a:solidFill>
                  <a:srgbClr val="1A1A1A"/>
                </a:solidFill>
              </a:rPr>
              <a:t>Official VaR and exposure results as JSONL beside their Delta tables</a:t>
            </a:r>
          </a:p>
          <a:p>
            <a:pPr algn="l" marL="146304" indent="-146304">
              <a:spcAft>
                <a:spcPts val="400"/>
              </a:spcAft>
              <a:buClr>
                <a:srgbClr val="A51C30"/>
              </a:buClr>
              <a:buSzPct val="100000"/>
              <a:buFont typeface="Arial"/>
              <a:buChar char="▪"/>
            </a:pPr>
            <a:r>
              <a:rPr sz="1150" b="0" i="0">
                <a:solidFill>
                  <a:srgbClr val="1A1A1A"/>
                </a:solidFill>
              </a:rPr>
              <a:t>Sutra test cases: one cases.jsonl per Sutra, 197 folders converted</a:t>
            </a:r>
          </a:p>
          <a:p>
            <a:pPr algn="l" marL="146304" indent="-146304">
              <a:spcAft>
                <a:spcPts val="400"/>
              </a:spcAft>
              <a:buClr>
                <a:srgbClr val="A51C30"/>
              </a:buClr>
              <a:buSzPct val="100000"/>
              <a:buFont typeface="Arial"/>
              <a:buChar char="▪"/>
            </a:pPr>
            <a:r>
              <a:rPr sz="1150" b="0" i="0">
                <a:solidFill>
                  <a:srgbClr val="1A1A1A"/>
                </a:solidFill>
              </a:rPr>
              <a:t>Sample catalogues, staged lake rows, seals: JSONL</a:t>
            </a:r>
          </a:p>
        </p:txBody>
      </p:sp>
      <p:sp>
        <p:nvSpPr>
          <p:cNvPr id="43" name="TextBox 42"/>
          <p:cNvSpPr txBox="1"/>
          <p:nvPr/>
        </p:nvSpPr>
        <p:spPr>
          <a:xfrm>
            <a:off x="777240" y="4937760"/>
            <a:ext cx="10634472" cy="548640"/>
          </a:xfrm>
          <a:prstGeom prst="rect">
            <a:avLst/>
          </a:prstGeom>
          <a:noFill/>
        </p:spPr>
        <p:txBody>
          <a:bodyPr wrap="square" lIns="0" rIns="0" tIns="0" bIns="0" anchor="t">
            <a:spAutoFit/>
          </a:bodyPr>
          <a:lstStyle/>
          <a:p>
            <a:pPr algn="l"/>
            <a:r>
              <a:rPr sz="1200" b="1" i="0">
                <a:solidFill>
                  <a:srgbClr val="8A1626"/>
                </a:solidFill>
              </a:rPr>
              <a:t>Guarded in the drill: </a:t>
            </a:r>
            <a:r>
              <a:rPr sz="1050" b="0" i="0">
                <a:solidFill>
                  <a:srgbClr val="A51C30"/>
                </a:solidFill>
                <a:latin typeface="Courier New"/>
              </a:rPr>
              <a:t>test_generators_write_jsonl.py</a:t>
            </a:r>
            <a:r>
              <a:rPr sz="1200" b="0" i="0">
                <a:solidFill>
                  <a:srgbClr val="1A1A1A"/>
                </a:solidFill>
              </a:rPr>
              <a:t> runs the generators and reads every data file; </a:t>
            </a:r>
            <a:r>
              <a:rPr sz="1050" b="0" i="0">
                <a:solidFill>
                  <a:srgbClr val="A51C30"/>
                </a:solidFill>
                <a:latin typeface="Courier New"/>
              </a:rPr>
              <a:t>test_exports_offer_jsonl.py</a:t>
            </a:r>
            <a:r>
              <a:rPr sz="1200" b="0" i="0">
                <a:solidFill>
                  <a:srgbClr val="1A1A1A"/>
                </a:solidFill>
              </a:rPr>
              <a:t> checks every export entry point.</a:t>
            </a:r>
          </a:p>
        </p:txBody>
      </p:sp>
      <p:sp>
        <p:nvSpPr>
          <p:cNvPr id="44" name="Rectangle 43"/>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Rectangle 44"/>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TextBox 45"/>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A pipeline streams any Drishti input or output a line at a time; CSV, Excel, PDF and PNG stay for people.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CONFIGURATION, NOT CODE · 2.8.0 TO 2.9.4</a:t>
            </a:r>
          </a:p>
        </p:txBody>
      </p:sp>
      <p:sp>
        <p:nvSpPr>
          <p:cNvPr id="3" name="Title 2"/>
          <p:cNvSpPr>
            <a:spLocks noGrp="1"/>
          </p:cNvSpPr>
          <p:nvPr>
            <p:ph type="title" idx="104"/>
          </p:nvPr>
        </p:nvSpPr>
        <p:spPr/>
        <p:txBody>
          <a:bodyPr lIns="0" rIns="0" tIns="0" bIns="0" anchor="t"/>
          <a:lstStyle/>
          <a:p>
            <a:r>
              <a:t>The product's name and the bank's names come from configuration</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Rectangle 25"/>
          <p:cNvSpPr/>
          <p:nvPr/>
        </p:nvSpPr>
        <p:spPr>
          <a:xfrm>
            <a:off x="777240" y="1463040"/>
            <a:ext cx="3422904" cy="402336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ectangle 26"/>
          <p:cNvSpPr/>
          <p:nvPr/>
        </p:nvSpPr>
        <p:spPr>
          <a:xfrm>
            <a:off x="777240" y="1463040"/>
            <a:ext cx="3422904" cy="4572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914400" y="1463040"/>
            <a:ext cx="3148584" cy="457200"/>
          </a:xfrm>
          <a:prstGeom prst="rect">
            <a:avLst/>
          </a:prstGeom>
          <a:noFill/>
        </p:spPr>
        <p:txBody>
          <a:bodyPr wrap="square" lIns="0" rIns="0" tIns="0" bIns="0" anchor="ctr">
            <a:spAutoFit/>
          </a:bodyPr>
          <a:lstStyle/>
          <a:p>
            <a:pPr algn="l"/>
            <a:r>
              <a:rPr sz="1350" b="1" i="0">
                <a:solidFill>
                  <a:srgbClr val="FFFFFF"/>
                </a:solidFill>
              </a:rPr>
              <a:t>Branding</a:t>
            </a:r>
            <a:r>
              <a:rPr sz="1100" b="0" i="0">
                <a:solidFill>
                  <a:srgbClr val="F6E6E9"/>
                </a:solidFill>
              </a:rPr>
              <a:t>   2.8.0</a:t>
            </a:r>
          </a:p>
        </p:txBody>
      </p:sp>
      <p:sp>
        <p:nvSpPr>
          <p:cNvPr id="29" name="Rectangle 28"/>
          <p:cNvSpPr/>
          <p:nvPr/>
        </p:nvSpPr>
        <p:spPr>
          <a:xfrm>
            <a:off x="914400" y="2057400"/>
            <a:ext cx="3148584" cy="329184"/>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0" bIns="0" wrap="square"/>
          <a:lstStyle/>
          <a:p>
            <a:pPr algn="l"/>
            <a:r>
              <a:rPr sz="1050" b="1" i="0">
                <a:solidFill>
                  <a:srgbClr val="A51C30"/>
                </a:solidFill>
                <a:latin typeface="Courier New"/>
              </a:rPr>
              <a:t>ui.product · drishti.branding.product</a:t>
            </a:r>
          </a:p>
        </p:txBody>
      </p:sp>
      <p:sp>
        <p:nvSpPr>
          <p:cNvPr id="30" name="Rectangle 29"/>
          <p:cNvSpPr/>
          <p:nvPr/>
        </p:nvSpPr>
        <p:spPr>
          <a:xfrm>
            <a:off x="914400" y="2459736"/>
            <a:ext cx="3148584" cy="329184"/>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0" bIns="0" wrap="square"/>
          <a:lstStyle/>
          <a:p>
            <a:pPr algn="l"/>
            <a:r>
              <a:rPr sz="1050" b="1" i="0">
                <a:solidFill>
                  <a:srgbClr val="A51C30"/>
                </a:solidFill>
                <a:latin typeface="Courier New"/>
              </a:rPr>
              <a:t>ui.owner · ui.owner_email</a:t>
            </a:r>
          </a:p>
        </p:txBody>
      </p:sp>
      <p:sp>
        <p:nvSpPr>
          <p:cNvPr id="31" name="TextBox 30"/>
          <p:cNvSpPr txBox="1"/>
          <p:nvPr/>
        </p:nvSpPr>
        <p:spPr>
          <a:xfrm>
            <a:off x="914400" y="2953512"/>
            <a:ext cx="3148584" cy="2103120"/>
          </a:xfrm>
          <a:prstGeom prst="rect">
            <a:avLst/>
          </a:prstGeom>
          <a:noFill/>
        </p:spPr>
        <p:txBody>
          <a:bodyPr wrap="square" lIns="0" rIns="0" tIns="0" bIns="0" anchor="t">
            <a:spAutoFit/>
          </a:bodyPr>
          <a:lstStyle/>
          <a:p>
            <a:pPr algn="l"/>
            <a:r>
              <a:rPr sz="1250" b="0" i="0">
                <a:solidFill>
                  <a:srgbClr val="1A1A1A"/>
                </a:solidFill>
              </a:rPr>
              <a:t>No template, script or server message writes the product's name; features follow it: &lt;product&gt; SQL, &lt;product&gt; Elements, &lt;product&gt;*net. The landing headline and tagline too (2.9.0).</a:t>
            </a:r>
          </a:p>
        </p:txBody>
      </p:sp>
      <p:sp>
        <p:nvSpPr>
          <p:cNvPr id="32" name="Rectangle 31"/>
          <p:cNvSpPr/>
          <p:nvPr/>
        </p:nvSpPr>
        <p:spPr>
          <a:xfrm>
            <a:off x="914400" y="4919472"/>
            <a:ext cx="3148584" cy="438912"/>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1005840" y="4919472"/>
            <a:ext cx="3011424" cy="438912"/>
          </a:xfrm>
          <a:prstGeom prst="rect">
            <a:avLst/>
          </a:prstGeom>
          <a:noFill/>
        </p:spPr>
        <p:txBody>
          <a:bodyPr wrap="square" lIns="0" rIns="0" tIns="0" bIns="0" anchor="ctr">
            <a:spAutoFit/>
          </a:bodyPr>
          <a:lstStyle/>
          <a:p>
            <a:pPr algn="l"/>
            <a:r>
              <a:rPr sz="1100" b="1" i="0">
                <a:solidFill>
                  <a:srgbClr val="A51C30"/>
                </a:solidFill>
              </a:rPr>
              <a:t>Guard  </a:t>
            </a:r>
            <a:r>
              <a:rPr sz="1050" b="0" i="0">
                <a:solidFill>
                  <a:srgbClr val="8A1626"/>
                </a:solidFill>
                <a:latin typeface="Courier New"/>
              </a:rPr>
              <a:t>test_branding_guard.py · BrandingLiteralTest</a:t>
            </a:r>
          </a:p>
        </p:txBody>
      </p:sp>
      <p:sp>
        <p:nvSpPr>
          <p:cNvPr id="34" name="Rectangle 33"/>
          <p:cNvSpPr/>
          <p:nvPr/>
        </p:nvSpPr>
        <p:spPr>
          <a:xfrm>
            <a:off x="4383024" y="1463040"/>
            <a:ext cx="3422904" cy="402336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Rectangle 34"/>
          <p:cNvSpPr/>
          <p:nvPr/>
        </p:nvSpPr>
        <p:spPr>
          <a:xfrm>
            <a:off x="4383024" y="1463040"/>
            <a:ext cx="3422904" cy="4572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4520184" y="1463040"/>
            <a:ext cx="3148584" cy="457200"/>
          </a:xfrm>
          <a:prstGeom prst="rect">
            <a:avLst/>
          </a:prstGeom>
          <a:noFill/>
        </p:spPr>
        <p:txBody>
          <a:bodyPr wrap="square" lIns="0" rIns="0" tIns="0" bIns="0" anchor="ctr">
            <a:spAutoFit/>
          </a:bodyPr>
          <a:lstStyle/>
          <a:p>
            <a:pPr algn="l"/>
            <a:r>
              <a:rPr sz="1350" b="1" i="0">
                <a:solidFill>
                  <a:srgbClr val="FFFFFF"/>
                </a:solidFill>
              </a:rPr>
              <a:t>The bank's names</a:t>
            </a:r>
            <a:r>
              <a:rPr sz="1100" b="0" i="0">
                <a:solidFill>
                  <a:srgbClr val="F6E6E9"/>
                </a:solidFill>
              </a:rPr>
              <a:t>   2.9.4</a:t>
            </a:r>
          </a:p>
        </p:txBody>
      </p:sp>
      <p:sp>
        <p:nvSpPr>
          <p:cNvPr id="37" name="Rectangle 36"/>
          <p:cNvSpPr/>
          <p:nvPr/>
        </p:nvSpPr>
        <p:spPr>
          <a:xfrm>
            <a:off x="4520184" y="2057400"/>
            <a:ext cx="3148584" cy="329184"/>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0" bIns="0" wrap="square"/>
          <a:lstStyle/>
          <a:p>
            <a:pPr algn="l"/>
            <a:r>
              <a:rPr sz="1050" b="1" i="0">
                <a:solidFill>
                  <a:srgbClr val="A51C30"/>
                </a:solidFill>
                <a:latin typeface="Courier New"/>
              </a:rPr>
              <a:t>config/demo/names.yaml</a:t>
            </a:r>
          </a:p>
        </p:txBody>
      </p:sp>
      <p:sp>
        <p:nvSpPr>
          <p:cNvPr id="38" name="Rectangle 37"/>
          <p:cNvSpPr/>
          <p:nvPr/>
        </p:nvSpPr>
        <p:spPr>
          <a:xfrm>
            <a:off x="4520184" y="2459736"/>
            <a:ext cx="3148584" cy="329184"/>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0" bIns="0" wrap="square"/>
          <a:lstStyle/>
          <a:p>
            <a:pPr algn="l"/>
            <a:r>
              <a:rPr sz="1050" b="1" i="0">
                <a:solidFill>
                  <a:srgbClr val="A51C30"/>
                </a:solidFill>
                <a:latin typeface="Courier New"/>
              </a:rPr>
              <a:t>lake demo --names FILE --dry-run</a:t>
            </a:r>
          </a:p>
        </p:txBody>
      </p:sp>
      <p:sp>
        <p:nvSpPr>
          <p:cNvPr id="39" name="TextBox 38"/>
          <p:cNvSpPr txBox="1"/>
          <p:nvPr/>
        </p:nvSpPr>
        <p:spPr>
          <a:xfrm>
            <a:off x="4520184" y="2953512"/>
            <a:ext cx="3148584" cy="2103120"/>
          </a:xfrm>
          <a:prstGeom prst="rect">
            <a:avLst/>
          </a:prstGeom>
          <a:noFill/>
        </p:spPr>
        <p:txBody>
          <a:bodyPr wrap="square" lIns="0" rIns="0" tIns="0" bIns="0" anchor="t">
            <a:spAutoFit/>
          </a:bodyPr>
          <a:lstStyle/>
          <a:p>
            <a:pPr algn="l"/>
            <a:r>
              <a:rPr sz="1250" b="0" i="0">
                <a:solidFill>
                  <a:srgbClr val="1A1A1A"/>
                </a:solidFill>
              </a:rPr>
              <a:t>The bank, its short name, the legal entities LE-NY, LE-LDN, LE-FRA, LE-TKY and branches, renamed as the demo loads, in every kind. Defaults change nothing; LEIs and BICs stay; committed test data is never rewritten.</a:t>
            </a:r>
          </a:p>
        </p:txBody>
      </p:sp>
      <p:sp>
        <p:nvSpPr>
          <p:cNvPr id="40" name="Rectangle 39"/>
          <p:cNvSpPr/>
          <p:nvPr/>
        </p:nvSpPr>
        <p:spPr>
          <a:xfrm>
            <a:off x="4520184" y="4919472"/>
            <a:ext cx="3148584" cy="438912"/>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xtBox 40"/>
          <p:cNvSpPr txBox="1"/>
          <p:nvPr/>
        </p:nvSpPr>
        <p:spPr>
          <a:xfrm>
            <a:off x="4611624" y="4919472"/>
            <a:ext cx="3011424" cy="438912"/>
          </a:xfrm>
          <a:prstGeom prst="rect">
            <a:avLst/>
          </a:prstGeom>
          <a:noFill/>
        </p:spPr>
        <p:txBody>
          <a:bodyPr wrap="square" lIns="0" rIns="0" tIns="0" bIns="0" anchor="ctr">
            <a:spAutoFit/>
          </a:bodyPr>
          <a:lstStyle/>
          <a:p>
            <a:pPr algn="l"/>
            <a:r>
              <a:rPr sz="1100" b="1" i="0">
                <a:solidFill>
                  <a:srgbClr val="A51C30"/>
                </a:solidFill>
              </a:rPr>
              <a:t>Guard  </a:t>
            </a:r>
            <a:r>
              <a:rPr sz="1050" b="0" i="0">
                <a:solidFill>
                  <a:srgbClr val="8A1626"/>
                </a:solidFill>
                <a:latin typeface="Courier New"/>
              </a:rPr>
              <a:t>tools/lake/test_names.py, in the drill</a:t>
            </a:r>
          </a:p>
        </p:txBody>
      </p:sp>
      <p:sp>
        <p:nvSpPr>
          <p:cNvPr id="42" name="Rectangle 41"/>
          <p:cNvSpPr/>
          <p:nvPr/>
        </p:nvSpPr>
        <p:spPr>
          <a:xfrm>
            <a:off x="7988808" y="1463040"/>
            <a:ext cx="3422904" cy="402336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Rectangle 42"/>
          <p:cNvSpPr/>
          <p:nvPr/>
        </p:nvSpPr>
        <p:spPr>
          <a:xfrm>
            <a:off x="7988808" y="1463040"/>
            <a:ext cx="3422904" cy="4572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xtBox 43"/>
          <p:cNvSpPr txBox="1"/>
          <p:nvPr/>
        </p:nvSpPr>
        <p:spPr>
          <a:xfrm>
            <a:off x="8125968" y="1463040"/>
            <a:ext cx="3148584" cy="457200"/>
          </a:xfrm>
          <a:prstGeom prst="rect">
            <a:avLst/>
          </a:prstGeom>
          <a:noFill/>
        </p:spPr>
        <p:txBody>
          <a:bodyPr wrap="square" lIns="0" rIns="0" tIns="0" bIns="0" anchor="ctr">
            <a:spAutoFit/>
          </a:bodyPr>
          <a:lstStyle/>
          <a:p>
            <a:pPr algn="l"/>
            <a:r>
              <a:rPr sz="1350" b="1" i="0">
                <a:solidFill>
                  <a:srgbClr val="FFFFFF"/>
                </a:solidFill>
              </a:rPr>
              <a:t>The VaR tree and method</a:t>
            </a:r>
            <a:r>
              <a:rPr sz="1100" b="0" i="0">
                <a:solidFill>
                  <a:srgbClr val="F6E6E9"/>
                </a:solidFill>
              </a:rPr>
              <a:t>   2.9.4</a:t>
            </a:r>
          </a:p>
        </p:txBody>
      </p:sp>
      <p:sp>
        <p:nvSpPr>
          <p:cNvPr id="45" name="Rectangle 44"/>
          <p:cNvSpPr/>
          <p:nvPr/>
        </p:nvSpPr>
        <p:spPr>
          <a:xfrm>
            <a:off x="8125968" y="2057400"/>
            <a:ext cx="3148584" cy="329184"/>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0" bIns="0" wrap="square"/>
          <a:lstStyle/>
          <a:p>
            <a:pPr algn="l"/>
            <a:r>
              <a:rPr sz="1050" b="1" i="0">
                <a:solidFill>
                  <a:srgbClr val="A51C30"/>
                </a:solidFill>
                <a:latin typeface="Courier New"/>
              </a:rPr>
              <a:t>DRISHTI_VAR_ROOT_NAME</a:t>
            </a:r>
          </a:p>
        </p:txBody>
      </p:sp>
      <p:sp>
        <p:nvSpPr>
          <p:cNvPr id="46" name="Rectangle 45"/>
          <p:cNvSpPr/>
          <p:nvPr/>
        </p:nvSpPr>
        <p:spPr>
          <a:xfrm>
            <a:off x="8125968" y="2459736"/>
            <a:ext cx="3148584" cy="329184"/>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73152" rIns="45720" tIns="0" bIns="0" wrap="square"/>
          <a:lstStyle/>
          <a:p>
            <a:pPr algn="l"/>
            <a:r>
              <a:rPr sz="1050" b="1" i="0">
                <a:solidFill>
                  <a:srgbClr val="A51C30"/>
                </a:solidFill>
                <a:latin typeface="Courier New"/>
              </a:rPr>
              <a:t>scenario-window · confidence · currencies</a:t>
            </a:r>
          </a:p>
        </p:txBody>
      </p:sp>
      <p:sp>
        <p:nvSpPr>
          <p:cNvPr id="47" name="TextBox 46"/>
          <p:cNvSpPr txBox="1"/>
          <p:nvPr/>
        </p:nvSpPr>
        <p:spPr>
          <a:xfrm>
            <a:off x="8125968" y="2953512"/>
            <a:ext cx="3148584" cy="2103120"/>
          </a:xfrm>
          <a:prstGeom prst="rect">
            <a:avLst/>
          </a:prstGeom>
          <a:noFill/>
        </p:spPr>
        <p:txBody>
          <a:bodyPr wrap="square" lIns="0" rIns="0" tIns="0" bIns="0" anchor="t">
            <a:spAutoFit/>
          </a:bodyPr>
          <a:lstStyle/>
          <a:p>
            <a:pPr algn="l"/>
            <a:r>
              <a:rPr sz="1250" b="0" i="0">
                <a:solidFill>
                  <a:srgbClr val="1A1A1A"/>
                </a:solidFill>
              </a:rPr>
              <a:t>The top of every VaR tree named by a setting (per hierarchy too); the window, confidence and reporting currencies are settings, and every answer carries its labels.</a:t>
            </a:r>
          </a:p>
        </p:txBody>
      </p:sp>
      <p:sp>
        <p:nvSpPr>
          <p:cNvPr id="48" name="Rectangle 47"/>
          <p:cNvSpPr/>
          <p:nvPr/>
        </p:nvSpPr>
        <p:spPr>
          <a:xfrm>
            <a:off x="8125968" y="4919472"/>
            <a:ext cx="3148584" cy="438912"/>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8217408" y="4919472"/>
            <a:ext cx="3011424" cy="438912"/>
          </a:xfrm>
          <a:prstGeom prst="rect">
            <a:avLst/>
          </a:prstGeom>
          <a:noFill/>
        </p:spPr>
        <p:txBody>
          <a:bodyPr wrap="square" lIns="0" rIns="0" tIns="0" bIns="0" anchor="ctr">
            <a:spAutoFit/>
          </a:bodyPr>
          <a:lstStyle/>
          <a:p>
            <a:pPr algn="l"/>
            <a:r>
              <a:rPr sz="1100" b="1" i="0">
                <a:solidFill>
                  <a:srgbClr val="A51C30"/>
                </a:solidFill>
              </a:rPr>
              <a:t>Guard  </a:t>
            </a:r>
            <a:r>
              <a:rPr sz="1050" b="0" i="0">
                <a:solidFill>
                  <a:srgbClr val="8A1626"/>
                </a:solidFill>
                <a:latin typeface="Courier New"/>
              </a:rPr>
              <a:t>VarRootNameTest</a:t>
            </a:r>
          </a:p>
        </p:txBody>
      </p:sp>
      <p:sp>
        <p:nvSpPr>
          <p:cNvPr id="50" name="Rectangle 49"/>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Rectangle 50"/>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TextBox 51"/>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A bank sees its own names in a demo by editing one file — and no code names the product or the bank.</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DOCUMENTATION AS EVIDENCE · 2.9.4</a:t>
            </a:r>
          </a:p>
        </p:txBody>
      </p:sp>
      <p:sp>
        <p:nvSpPr>
          <p:cNvPr id="3" name="Title 2"/>
          <p:cNvSpPr>
            <a:spLocks noGrp="1"/>
          </p:cNvSpPr>
          <p:nvPr>
            <p:ph type="title" idx="104"/>
          </p:nvPr>
        </p:nvSpPr>
        <p:spPr/>
        <p:txBody>
          <a:bodyPr lIns="0" rIns="0" tIns="0" bIns="0" anchor="t"/>
          <a:lstStyle/>
          <a:p>
            <a:r>
              <a:t>Retaking 351 pictures on the current UI found five bugs — all fixed</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Rectangle 25"/>
          <p:cNvSpPr/>
          <p:nvPr/>
        </p:nvSpPr>
        <p:spPr>
          <a:xfrm>
            <a:off x="777240" y="1463040"/>
            <a:ext cx="2555748" cy="109728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ectangle 26"/>
          <p:cNvSpPr/>
          <p:nvPr/>
        </p:nvSpPr>
        <p:spPr>
          <a:xfrm>
            <a:off x="777240" y="1463040"/>
            <a:ext cx="45720" cy="10972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960120" y="1554480"/>
            <a:ext cx="2281428" cy="457200"/>
          </a:xfrm>
          <a:prstGeom prst="rect">
            <a:avLst/>
          </a:prstGeom>
          <a:noFill/>
        </p:spPr>
        <p:txBody>
          <a:bodyPr wrap="square" lIns="0" rIns="0" tIns="0" bIns="0" anchor="ctr">
            <a:spAutoFit/>
          </a:bodyPr>
          <a:lstStyle/>
          <a:p>
            <a:pPr algn="l"/>
            <a:r>
              <a:rPr sz="2400" b="1" i="0">
                <a:solidFill>
                  <a:srgbClr val="8A1626"/>
                </a:solidFill>
              </a:rPr>
              <a:t>351</a:t>
            </a:r>
          </a:p>
        </p:txBody>
      </p:sp>
      <p:sp>
        <p:nvSpPr>
          <p:cNvPr id="29" name="TextBox 28"/>
          <p:cNvSpPr txBox="1"/>
          <p:nvPr/>
        </p:nvSpPr>
        <p:spPr>
          <a:xfrm>
            <a:off x="960120" y="2029968"/>
            <a:ext cx="2281428" cy="475487"/>
          </a:xfrm>
          <a:prstGeom prst="rect">
            <a:avLst/>
          </a:prstGeom>
          <a:noFill/>
        </p:spPr>
        <p:txBody>
          <a:bodyPr wrap="square" lIns="0" rIns="0" tIns="0" bIns="0" anchor="t">
            <a:spAutoFit/>
          </a:bodyPr>
          <a:lstStyle/>
          <a:p>
            <a:pPr algn="l"/>
            <a:r>
              <a:rPr sz="1150" b="0" i="0">
                <a:solidFill>
                  <a:srgbClr val="4A5058"/>
                </a:solidFill>
              </a:rPr>
              <a:t>pictures under docs/ retaken on the 2.9 UI by tools/docs/screenshots.py</a:t>
            </a:r>
          </a:p>
        </p:txBody>
      </p:sp>
      <p:sp>
        <p:nvSpPr>
          <p:cNvPr id="30" name="Rectangle 29"/>
          <p:cNvSpPr/>
          <p:nvPr/>
        </p:nvSpPr>
        <p:spPr>
          <a:xfrm>
            <a:off x="3470148" y="1463040"/>
            <a:ext cx="2555748" cy="109728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Rectangle 30"/>
          <p:cNvSpPr/>
          <p:nvPr/>
        </p:nvSpPr>
        <p:spPr>
          <a:xfrm>
            <a:off x="3470148" y="1463040"/>
            <a:ext cx="45720" cy="10972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3653028" y="1554480"/>
            <a:ext cx="2281428" cy="457200"/>
          </a:xfrm>
          <a:prstGeom prst="rect">
            <a:avLst/>
          </a:prstGeom>
          <a:noFill/>
        </p:spPr>
        <p:txBody>
          <a:bodyPr wrap="square" lIns="0" rIns="0" tIns="0" bIns="0" anchor="ctr">
            <a:spAutoFit/>
          </a:bodyPr>
          <a:lstStyle/>
          <a:p>
            <a:pPr algn="l"/>
            <a:r>
              <a:rPr sz="2400" b="1" i="0">
                <a:solidFill>
                  <a:srgbClr val="8A1626"/>
                </a:solidFill>
              </a:rPr>
              <a:t>28</a:t>
            </a:r>
          </a:p>
        </p:txBody>
      </p:sp>
      <p:sp>
        <p:nvSpPr>
          <p:cNvPr id="33" name="TextBox 32"/>
          <p:cNvSpPr txBox="1"/>
          <p:nvPr/>
        </p:nvSpPr>
        <p:spPr>
          <a:xfrm>
            <a:off x="3653028" y="2029968"/>
            <a:ext cx="2281428" cy="475487"/>
          </a:xfrm>
          <a:prstGeom prst="rect">
            <a:avLst/>
          </a:prstGeom>
          <a:noFill/>
        </p:spPr>
        <p:txBody>
          <a:bodyPr wrap="square" lIns="0" rIns="0" tIns="0" bIns="0" anchor="t">
            <a:spAutoFit/>
          </a:bodyPr>
          <a:lstStyle/>
          <a:p>
            <a:pPr algn="l"/>
            <a:r>
              <a:rPr sz="1150" b="0" i="0">
                <a:solidFill>
                  <a:srgbClr val="4A5058"/>
                </a:solidFill>
              </a:rPr>
              <a:t>hands-on tutorials, from the first 15 minutes to VaR, exposure and funds</a:t>
            </a:r>
          </a:p>
        </p:txBody>
      </p:sp>
      <p:sp>
        <p:nvSpPr>
          <p:cNvPr id="34" name="Rectangle 33"/>
          <p:cNvSpPr/>
          <p:nvPr/>
        </p:nvSpPr>
        <p:spPr>
          <a:xfrm>
            <a:off x="6163056" y="1463040"/>
            <a:ext cx="2555748" cy="109728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Rectangle 34"/>
          <p:cNvSpPr/>
          <p:nvPr/>
        </p:nvSpPr>
        <p:spPr>
          <a:xfrm>
            <a:off x="6163056" y="1463040"/>
            <a:ext cx="45720" cy="10972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6345936" y="1554480"/>
            <a:ext cx="2281428" cy="457200"/>
          </a:xfrm>
          <a:prstGeom prst="rect">
            <a:avLst/>
          </a:prstGeom>
          <a:noFill/>
        </p:spPr>
        <p:txBody>
          <a:bodyPr wrap="square" lIns="0" rIns="0" tIns="0" bIns="0" anchor="ctr">
            <a:spAutoFit/>
          </a:bodyPr>
          <a:lstStyle/>
          <a:p>
            <a:pPr algn="l"/>
            <a:r>
              <a:rPr sz="2400" b="1" i="0">
                <a:solidFill>
                  <a:srgbClr val="8A1626"/>
                </a:solidFill>
              </a:rPr>
              <a:t>2 + 2</a:t>
            </a:r>
          </a:p>
        </p:txBody>
      </p:sp>
      <p:sp>
        <p:nvSpPr>
          <p:cNvPr id="37" name="TextBox 36"/>
          <p:cNvSpPr txBox="1"/>
          <p:nvPr/>
        </p:nvSpPr>
        <p:spPr>
          <a:xfrm>
            <a:off x="6345936" y="2029968"/>
            <a:ext cx="2281428" cy="475487"/>
          </a:xfrm>
          <a:prstGeom prst="rect">
            <a:avLst/>
          </a:prstGeom>
          <a:noFill/>
        </p:spPr>
        <p:txBody>
          <a:bodyPr wrap="square" lIns="0" rIns="0" tIns="0" bIns="0" anchor="t">
            <a:spAutoFit/>
          </a:bodyPr>
          <a:lstStyle/>
          <a:p>
            <a:pPr algn="l"/>
            <a:r>
              <a:rPr sz="1150" b="0" i="0">
                <a:solidFill>
                  <a:srgbClr val="4A5058"/>
                </a:solidFill>
              </a:rPr>
              <a:t>documents and Help pages per measure: a guide and a tutorial</a:t>
            </a:r>
          </a:p>
        </p:txBody>
      </p:sp>
      <p:sp>
        <p:nvSpPr>
          <p:cNvPr id="38" name="Rectangle 37"/>
          <p:cNvSpPr/>
          <p:nvPr/>
        </p:nvSpPr>
        <p:spPr>
          <a:xfrm>
            <a:off x="8855964" y="1463040"/>
            <a:ext cx="2555748" cy="109728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Rectangle 38"/>
          <p:cNvSpPr/>
          <p:nvPr/>
        </p:nvSpPr>
        <p:spPr>
          <a:xfrm>
            <a:off x="8855964" y="1463040"/>
            <a:ext cx="45720" cy="10972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TextBox 39"/>
          <p:cNvSpPr txBox="1"/>
          <p:nvPr/>
        </p:nvSpPr>
        <p:spPr>
          <a:xfrm>
            <a:off x="9038844" y="1554480"/>
            <a:ext cx="2281428" cy="457200"/>
          </a:xfrm>
          <a:prstGeom prst="rect">
            <a:avLst/>
          </a:prstGeom>
          <a:noFill/>
        </p:spPr>
        <p:txBody>
          <a:bodyPr wrap="square" lIns="0" rIns="0" tIns="0" bIns="0" anchor="ctr">
            <a:spAutoFit/>
          </a:bodyPr>
          <a:lstStyle/>
          <a:p>
            <a:pPr algn="l"/>
            <a:r>
              <a:rPr sz="2400" b="1" i="0">
                <a:solidFill>
                  <a:srgbClr val="8A1626"/>
                </a:solidFill>
              </a:rPr>
              <a:t>238</a:t>
            </a:r>
          </a:p>
        </p:txBody>
      </p:sp>
      <p:sp>
        <p:nvSpPr>
          <p:cNvPr id="41" name="TextBox 40"/>
          <p:cNvSpPr txBox="1"/>
          <p:nvPr/>
        </p:nvSpPr>
        <p:spPr>
          <a:xfrm>
            <a:off x="9038844" y="2029968"/>
            <a:ext cx="2281428" cy="475487"/>
          </a:xfrm>
          <a:prstGeom prst="rect">
            <a:avLst/>
          </a:prstGeom>
          <a:noFill/>
        </p:spPr>
        <p:txBody>
          <a:bodyPr wrap="square" lIns="0" rIns="0" tIns="0" bIns="0" anchor="t">
            <a:spAutoFit/>
          </a:bodyPr>
          <a:lstStyle/>
          <a:p>
            <a:pPr algn="l"/>
            <a:r>
              <a:rPr sz="1150" b="0" i="0">
                <a:solidFill>
                  <a:srgbClr val="4A5058"/>
                </a:solidFill>
              </a:rPr>
              <a:t>guides and references outside qa/ and archive/</a:t>
            </a:r>
          </a:p>
        </p:txBody>
      </p:sp>
      <p:graphicFrame>
        <p:nvGraphicFramePr>
          <p:cNvPr id="42" name="Table 41"/>
          <p:cNvGraphicFramePr>
            <a:graphicFrameLocks noGrp="1"/>
          </p:cNvGraphicFramePr>
          <p:nvPr/>
        </p:nvGraphicFramePr>
        <p:xfrm>
          <a:off x="777240" y="2743200"/>
          <a:ext cx="10634472" cy="2414016"/>
        </p:xfrm>
        <a:graphic>
          <a:graphicData uri="http://schemas.openxmlformats.org/drawingml/2006/table">
            <a:tbl>
              <a:tblPr firstRow="0" bandRow="0">
                <a:tableStyleId>{5940675A-B579-460E-94D1-54222C63F5DA}</a:tableStyleId>
              </a:tblPr>
              <a:tblGrid>
                <a:gridCol w="6035040"/>
                <a:gridCol w="4599432"/>
              </a:tblGrid>
              <a:tr h="402336">
                <a:tc>
                  <a:txBody>
                    <a:bodyPr wrap="square"/>
                    <a:lstStyle/>
                    <a:p>
                      <a:r>
                        <a:rPr sz="1150" b="1" i="0">
                          <a:solidFill>
                            <a:srgbClr val="FFFFFF"/>
                          </a:solidFill>
                        </a:rPr>
                        <a:t>Found by the screenshot run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50" b="1" i="0">
                          <a:solidFill>
                            <a:srgbClr val="FFFFFF"/>
                          </a:solidFill>
                        </a:rPr>
                        <a:t>Fixed in 2.9.4</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r>
              <a:tr h="402336">
                <a:tc>
                  <a:txBody>
                    <a:bodyPr wrap="square"/>
                    <a:lstStyle/>
                    <a:p>
                      <a:r>
                        <a:rPr sz="1150" b="0" i="0">
                          <a:solidFill>
                            <a:srgbClr val="1A1A1A"/>
                          </a:solidFill>
                        </a:rPr>
                        <a:t>A new pack's job reached through another console worker answered DRS-5006 no such job</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Job ids name their worker; the call is relayed to it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402336">
                <a:tc>
                  <a:txBody>
                    <a:bodyPr wrap="square"/>
                    <a:lstStyle/>
                    <a:p>
                      <a:r>
                        <a:rPr sz="1150" b="0" i="0">
                          <a:solidFill>
                            <a:srgbClr val="1A1A1A"/>
                          </a:solidFill>
                        </a:rPr>
                        <a:t>An installed pack's help guide never reached the console ('There is no guide called helpdesk-pack')</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50" b="0" i="0">
                          <a:solidFill>
                            <a:srgbClr val="1A1A1A"/>
                          </a:solidFill>
                        </a:rPr>
                        <a:t>The console reads the server's installed packs first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402336">
                <a:tc>
                  <a:txBody>
                    <a:bodyPr wrap="square"/>
                    <a:lstStyle/>
                    <a:p>
                      <a:r>
                        <a:rPr sz="1150" b="0" i="0">
                          <a:solidFill>
                            <a:srgbClr val="1A1A1A"/>
                          </a:solidFill>
                        </a:rPr>
                        <a:t>The About drawer listed the chosen Sutra under 'Not chosen'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Listed once, as chosen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402336">
                <a:tc>
                  <a:txBody>
                    <a:bodyPr wrap="square"/>
                    <a:lstStyle/>
                    <a:p>
                      <a:r>
                        <a:rPr sz="1150" b="0" i="0">
                          <a:solidFill>
                            <a:srgbClr val="1A1A1A"/>
                          </a:solidFill>
                        </a:rPr>
                        <a:t>A Sutra control's open multi-select pushed the header's controls apart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50" b="0" i="0">
                          <a:solidFill>
                            <a:srgbClr val="1A1A1A"/>
                          </a:solidFill>
                        </a:rPr>
                        <a:t>The list floats over the panel</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402336">
                <a:tc>
                  <a:txBody>
                    <a:bodyPr wrap="square"/>
                    <a:lstStyle/>
                    <a:p>
                      <a:r>
                        <a:rPr sz="1150" b="0" i="0">
                          <a:solidFill>
                            <a:srgbClr val="1A1A1A"/>
                          </a:solidFill>
                        </a:rPr>
                        <a:t>The BI test stack's sample dataset failed the check, DRS-9010</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Rewritten in today's grammar</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bl>
          </a:graphicData>
        </a:graphic>
      </p:graphicFrame>
      <p:sp>
        <p:nvSpPr>
          <p:cNvPr id="43" name="Rectangle 42"/>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Rectangle 43"/>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xtBox 44"/>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Documentation is part of the release: a picture that cannot be retaken is a bug report.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SCALE BENCHMARK · EIGHT STORES</a:t>
            </a:r>
          </a:p>
        </p:txBody>
      </p:sp>
      <p:sp>
        <p:nvSpPr>
          <p:cNvPr id="3" name="Title 2"/>
          <p:cNvSpPr>
            <a:spLocks noGrp="1"/>
          </p:cNvSpPr>
          <p:nvPr>
            <p:ph type="title" idx="104"/>
          </p:nvPr>
        </p:nvSpPr>
        <p:spPr/>
        <p:txBody>
          <a:bodyPr lIns="0" rIns="0" tIns="0" bIns="0" anchor="t"/>
          <a:lstStyle/>
          <a:p>
            <a:r>
              <a:t>The same book in eight stores, the same questions over HTTP</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graphicFrame>
        <p:nvGraphicFramePr>
          <p:cNvPr id="26" name="Stores chart"/>
          <p:cNvGraphicFramePr>
            <a:graphicFrameLocks noGrp="1"/>
          </p:cNvGraphicFramePr>
          <p:nvPr/>
        </p:nvGraphicFramePr>
        <p:xfrm>
          <a:off x="777240" y="1783080"/>
          <a:ext cx="6949440" cy="3611880"/>
        </p:xfrm>
        <a:graphic>
          <a:graphicData uri="http://schemas.openxmlformats.org/drawingml/2006/chart">
            <c:chart xmlns:c="http://schemas.openxmlformats.org/drawingml/2006/chart" r:id="rId2"/>
          </a:graphicData>
        </a:graphic>
      </p:graphicFrame>
      <p:sp>
        <p:nvSpPr>
          <p:cNvPr id="27" name="TextBox 26"/>
          <p:cNvSpPr txBox="1"/>
          <p:nvPr/>
        </p:nvSpPr>
        <p:spPr>
          <a:xfrm>
            <a:off x="777240" y="1444752"/>
            <a:ext cx="6949440" cy="320040"/>
          </a:xfrm>
          <a:prstGeom prst="rect">
            <a:avLst/>
          </a:prstGeom>
          <a:noFill/>
        </p:spPr>
        <p:txBody>
          <a:bodyPr wrap="square" lIns="0" rIns="0" tIns="0" bIns="0" anchor="t">
            <a:spAutoFit/>
          </a:bodyPr>
          <a:lstStyle/>
          <a:p>
            <a:pPr algn="l"/>
            <a:r>
              <a:rPr sz="1250" b="1" i="0">
                <a:solidFill>
                  <a:srgbClr val="A51C30"/>
                </a:solidFill>
              </a:rPr>
              <a:t>Median milliseconds at 50,000 trades a day (lower is better)</a:t>
            </a:r>
          </a:p>
        </p:txBody>
      </p:sp>
      <p:graphicFrame>
        <p:nvGraphicFramePr>
          <p:cNvPr id="28" name="Table 27"/>
          <p:cNvGraphicFramePr>
            <a:graphicFrameLocks noGrp="1"/>
          </p:cNvGraphicFramePr>
          <p:nvPr/>
        </p:nvGraphicFramePr>
        <p:xfrm>
          <a:off x="8001000" y="1463040"/>
          <a:ext cx="3410712" cy="2962656"/>
        </p:xfrm>
        <a:graphic>
          <a:graphicData uri="http://schemas.openxmlformats.org/drawingml/2006/table">
            <a:tbl>
              <a:tblPr firstRow="0" bandRow="0">
                <a:tableStyleId>{5940675A-B579-460E-94D1-54222C63F5DA}</a:tableStyleId>
              </a:tblPr>
              <a:tblGrid>
                <a:gridCol w="1508760"/>
                <a:gridCol w="1280160"/>
                <a:gridCol w="621792"/>
              </a:tblGrid>
              <a:tr h="329184">
                <a:tc>
                  <a:txBody>
                    <a:bodyPr wrap="square"/>
                    <a:lstStyle/>
                    <a:p>
                      <a:r>
                        <a:rPr sz="1100" b="1" i="0">
                          <a:solidFill>
                            <a:srgbClr val="FFFFFF"/>
                          </a:solidFill>
                        </a:rPr>
                        <a:t>Store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00" b="1" i="0">
                          <a:solidFill>
                            <a:srgbClr val="FFFFFF"/>
                          </a:solidFill>
                        </a:rPr>
                        <a:t>Size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00" b="1" i="0">
                          <a:solidFill>
                            <a:srgbClr val="FFFFFF"/>
                          </a:solidFill>
                        </a:rPr>
                        <a:t>Load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r>
              <a:tr h="329184">
                <a:tc>
                  <a:txBody>
                    <a:bodyPr wrap="square"/>
                    <a:lstStyle/>
                    <a:p>
                      <a:r>
                        <a:rPr sz="1100" b="1" i="0">
                          <a:solidFill>
                            <a:srgbClr val="8A1626"/>
                          </a:solidFill>
                        </a:rPr>
                        <a:t>Delta Lake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270 MB</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10.2 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329184">
                <a:tc>
                  <a:txBody>
                    <a:bodyPr wrap="square"/>
                    <a:lstStyle/>
                    <a:p>
                      <a:r>
                        <a:rPr sz="1100" b="1" i="0">
                          <a:solidFill>
                            <a:srgbClr val="8A1626"/>
                          </a:solidFill>
                        </a:rPr>
                        <a:t>PostgreSQL</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739 MB</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22.3 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329184">
                <a:tc>
                  <a:txBody>
                    <a:bodyPr wrap="square"/>
                    <a:lstStyle/>
                    <a:p>
                      <a:r>
                        <a:rPr sz="1100" b="1" i="0">
                          <a:solidFill>
                            <a:srgbClr val="8A1626"/>
                          </a:solidFill>
                        </a:rPr>
                        <a:t>DuckDB</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122 MB</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22.3 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329184">
                <a:tc>
                  <a:txBody>
                    <a:bodyPr wrap="square"/>
                    <a:lstStyle/>
                    <a:p>
                      <a:r>
                        <a:rPr sz="1100" b="1" i="0">
                          <a:solidFill>
                            <a:srgbClr val="8A1626"/>
                          </a:solidFill>
                        </a:rPr>
                        <a:t>JSON-lines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1,322 MB</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15.4 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329184">
                <a:tc>
                  <a:txBody>
                    <a:bodyPr wrap="square"/>
                    <a:lstStyle/>
                    <a:p>
                      <a:r>
                        <a:rPr sz="1100" b="1" i="0">
                          <a:solidFill>
                            <a:srgbClr val="8A1626"/>
                          </a:solidFill>
                        </a:rPr>
                        <a:t>MongoDB</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202 MB</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17.1 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329184">
                <a:tc>
                  <a:txBody>
                    <a:bodyPr wrap="square"/>
                    <a:lstStyle/>
                    <a:p>
                      <a:r>
                        <a:rPr sz="1100" b="1" i="0">
                          <a:solidFill>
                            <a:srgbClr val="8A1626"/>
                          </a:solidFill>
                        </a:rPr>
                        <a:t>Redis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183 MB</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20.2 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329184">
                <a:tc>
                  <a:txBody>
                    <a:bodyPr wrap="square"/>
                    <a:lstStyle/>
                    <a:p>
                      <a:r>
                        <a:rPr sz="1100" b="1" i="0">
                          <a:solidFill>
                            <a:srgbClr val="8A1626"/>
                          </a:solidFill>
                        </a:rPr>
                        <a:t>Aerospike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1,176 MB</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18.8 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329184">
                <a:tc>
                  <a:txBody>
                    <a:bodyPr wrap="square"/>
                    <a:lstStyle/>
                    <a:p>
                      <a:r>
                        <a:rPr sz="1100" b="1" i="0">
                          <a:solidFill>
                            <a:srgbClr val="8A1626"/>
                          </a:solidFill>
                        </a:rPr>
                        <a:t>Iceberg</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133 MB</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26.4 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bl>
          </a:graphicData>
        </a:graphic>
      </p:graphicFrame>
      <p:sp>
        <p:nvSpPr>
          <p:cNvPr id="29" name="TextBox 28"/>
          <p:cNvSpPr txBox="1"/>
          <p:nvPr/>
        </p:nvSpPr>
        <p:spPr>
          <a:xfrm>
            <a:off x="8001000" y="4526280"/>
            <a:ext cx="3410712" cy="1005840"/>
          </a:xfrm>
          <a:prstGeom prst="rect">
            <a:avLst/>
          </a:prstGeom>
          <a:noFill/>
        </p:spPr>
        <p:txBody>
          <a:bodyPr wrap="square" lIns="0" rIns="0" tIns="0" bIns="0" anchor="t">
            <a:spAutoFit/>
          </a:bodyPr>
          <a:lstStyle/>
          <a:p>
            <a:pPr algn="l"/>
            <a:r>
              <a:rPr sz="1100" b="0" i="1">
                <a:solidFill>
                  <a:srgbClr val="4A5058"/>
                </a:solidFill>
              </a:rPr>
              <a:t>Measured on Drishti 1.12.0, 2026-10-01, one workstation; not re-measured since. Four stores were also measured at a million trades a day.</a:t>
            </a:r>
          </a:p>
        </p:txBody>
      </p:sp>
      <p:sp>
        <p:nvSpPr>
          <p:cNvPr id="30" name="Rectangle 29"/>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Rectangle 30"/>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Every store answers an interactive question in single-digit milliseconds at this size; the choice is about operations.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THE RISK ENGINES, MEASURED · 2.8.0 TO 2.9.4</a:t>
            </a:r>
          </a:p>
        </p:txBody>
      </p:sp>
      <p:sp>
        <p:nvSpPr>
          <p:cNvPr id="3" name="Title 2"/>
          <p:cNvSpPr>
            <a:spLocks noGrp="1"/>
          </p:cNvSpPr>
          <p:nvPr>
            <p:ph type="title" idx="104"/>
          </p:nvPr>
        </p:nvSpPr>
        <p:spPr/>
        <p:txBody>
          <a:bodyPr lIns="0" rIns="0" tIns="0" bIns="0" anchor="t"/>
          <a:lstStyle/>
          <a:p>
            <a:r>
              <a:t>VaR and exposure answers in milliseconds, at 100,000 trades in memory</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TextBox 25"/>
          <p:cNvSpPr txBox="1"/>
          <p:nvPr/>
        </p:nvSpPr>
        <p:spPr>
          <a:xfrm>
            <a:off x="777240" y="1444752"/>
            <a:ext cx="5166360" cy="292608"/>
          </a:xfrm>
          <a:prstGeom prst="rect">
            <a:avLst/>
          </a:prstGeom>
          <a:noFill/>
        </p:spPr>
        <p:txBody>
          <a:bodyPr wrap="square" lIns="0" rIns="0" tIns="0" bIns="0" anchor="t">
            <a:spAutoFit/>
          </a:bodyPr>
          <a:lstStyle/>
          <a:p>
            <a:pPr algn="l"/>
            <a:r>
              <a:rPr sz="1250" b="1" i="0">
                <a:solidFill>
                  <a:srgbClr val="A51C30"/>
                </a:solidFill>
              </a:rPr>
              <a:t>VaR (VarScaleBenchmark, VarTierBenchmark)</a:t>
            </a:r>
          </a:p>
        </p:txBody>
      </p:sp>
      <p:graphicFrame>
        <p:nvGraphicFramePr>
          <p:cNvPr id="27" name="Table 26"/>
          <p:cNvGraphicFramePr>
            <a:graphicFrameLocks noGrp="1"/>
          </p:cNvGraphicFramePr>
          <p:nvPr/>
        </p:nvGraphicFramePr>
        <p:xfrm>
          <a:off x="777240" y="1755648"/>
          <a:ext cx="5166360" cy="2560320"/>
        </p:xfrm>
        <a:graphic>
          <a:graphicData uri="http://schemas.openxmlformats.org/drawingml/2006/table">
            <a:tbl>
              <a:tblPr firstRow="0" bandRow="0">
                <a:tableStyleId>{5940675A-B579-460E-94D1-54222C63F5DA}</a:tableStyleId>
              </a:tblPr>
              <a:tblGrid>
                <a:gridCol w="2240280"/>
                <a:gridCol w="1325880"/>
                <a:gridCol w="1600200"/>
              </a:tblGrid>
              <a:tr h="365760">
                <a:tc>
                  <a:txBody>
                    <a:bodyPr wrap="square"/>
                    <a:lstStyle/>
                    <a:p>
                      <a:r>
                        <a:rPr sz="1100" b="1" i="0">
                          <a:solidFill>
                            <a:srgbClr val="FFFFFF"/>
                          </a:solidFill>
                        </a:rPr>
                        <a:t>Measured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00" b="1" i="0">
                          <a:solidFill>
                            <a:srgbClr val="FFFFFF"/>
                          </a:solidFill>
                        </a:rPr>
                        <a:t>Time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00" b="1" i="0">
                          <a:solidFill>
                            <a:srgbClr val="FFFFFF"/>
                          </a:solidFill>
                        </a:rPr>
                        <a:t>On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r>
              <a:tr h="365760">
                <a:tc>
                  <a:txBody>
                    <a:bodyPr wrap="square"/>
                    <a:lstStyle/>
                    <a:p>
                      <a:r>
                        <a:rPr sz="1100" b="1" i="0">
                          <a:solidFill>
                            <a:srgbClr val="8A1626"/>
                          </a:solidFill>
                        </a:rPr>
                        <a:t>A node's VaR and 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0.48 ms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tiered store, 100k trades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365760">
                <a:tc>
                  <a:txBody>
                    <a:bodyPr wrap="square"/>
                    <a:lstStyle/>
                    <a:p>
                      <a:r>
                        <a:rPr sz="1100" b="1" i="0">
                          <a:solidFill>
                            <a:srgbClr val="8A1626"/>
                          </a:solidFill>
                        </a:rPr>
                        <a:t>The bank from float32 rows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3.4 ms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tiered store, 100k trades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365760">
                <a:tc>
                  <a:txBody>
                    <a:bodyPr wrap="square"/>
                    <a:lstStyle/>
                    <a:p>
                      <a:r>
                        <a:rPr sz="1100" b="1" i="0">
                          <a:solidFill>
                            <a:srgbClr val="8A1626"/>
                          </a:solidFill>
                        </a:rPr>
                        <a:t>The bank from float64 rows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58 ms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heap tier, 1M trades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365760">
                <a:tc>
                  <a:txBody>
                    <a:bodyPr wrap="square"/>
                    <a:lstStyle/>
                    <a:p>
                      <a:r>
                        <a:rPr sz="1100" b="1" i="0">
                          <a:solidFill>
                            <a:srgbClr val="8A1626"/>
                          </a:solidFill>
                        </a:rPr>
                        <a:t>A basket of 50,000 positions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2.6 ms + ≈ 45 ms ids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tiered store, 100k</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365760">
                <a:tc>
                  <a:txBody>
                    <a:bodyPr wrap="square"/>
                    <a:lstStyle/>
                    <a:p>
                      <a:r>
                        <a:rPr sz="1100" b="1" i="0">
                          <a:solidFill>
                            <a:srgbClr val="8A1626"/>
                          </a:solidFill>
                        </a:rPr>
                        <a:t>First load of a date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0.8–1.2 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tiered store, 100k</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365760">
                <a:tc>
                  <a:txBody>
                    <a:bodyPr wrap="square"/>
                    <a:lstStyle/>
                    <a:p>
                      <a:r>
                        <a:rPr sz="1100" b="1" i="0">
                          <a:solidFill>
                            <a:srgbClr val="8A1626"/>
                          </a:solidFill>
                        </a:rPr>
                        <a:t>Loading the demo date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572 ms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9,572 trades, the server</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bl>
          </a:graphicData>
        </a:graphic>
      </p:graphicFrame>
      <p:sp>
        <p:nvSpPr>
          <p:cNvPr id="28" name="TextBox 27"/>
          <p:cNvSpPr txBox="1"/>
          <p:nvPr/>
        </p:nvSpPr>
        <p:spPr>
          <a:xfrm>
            <a:off x="6217920" y="1444752"/>
            <a:ext cx="5193792" cy="292608"/>
          </a:xfrm>
          <a:prstGeom prst="rect">
            <a:avLst/>
          </a:prstGeom>
          <a:noFill/>
        </p:spPr>
        <p:txBody>
          <a:bodyPr wrap="square" lIns="0" rIns="0" tIns="0" bIns="0" anchor="t">
            <a:spAutoFit/>
          </a:bodyPr>
          <a:lstStyle/>
          <a:p>
            <a:pPr algn="l"/>
            <a:r>
              <a:rPr sz="1250" b="1" i="0">
                <a:solidFill>
                  <a:srgbClr val="A51C30"/>
                </a:solidFill>
              </a:rPr>
              <a:t>Exposure (ExposureTierBenchmark, 2.9.1)</a:t>
            </a:r>
          </a:p>
        </p:txBody>
      </p:sp>
      <p:graphicFrame>
        <p:nvGraphicFramePr>
          <p:cNvPr id="29" name="Table 28"/>
          <p:cNvGraphicFramePr>
            <a:graphicFrameLocks noGrp="1"/>
          </p:cNvGraphicFramePr>
          <p:nvPr/>
        </p:nvGraphicFramePr>
        <p:xfrm>
          <a:off x="6217920" y="1755648"/>
          <a:ext cx="5193792" cy="2560320"/>
        </p:xfrm>
        <a:graphic>
          <a:graphicData uri="http://schemas.openxmlformats.org/drawingml/2006/table">
            <a:tbl>
              <a:tblPr firstRow="0" bandRow="0">
                <a:tableStyleId>{5940675A-B579-460E-94D1-54222C63F5DA}</a:tableStyleId>
              </a:tblPr>
              <a:tblGrid>
                <a:gridCol w="3867912"/>
                <a:gridCol w="1325880"/>
              </a:tblGrid>
              <a:tr h="365760">
                <a:tc>
                  <a:txBody>
                    <a:bodyPr wrap="square"/>
                    <a:lstStyle/>
                    <a:p>
                      <a:r>
                        <a:rPr sz="1100" b="1" i="0">
                          <a:solidFill>
                            <a:srgbClr val="FFFFFF"/>
                          </a:solidFill>
                        </a:rPr>
                        <a:t>Measured, 100k trades, 9,901 sets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00" b="1" i="0">
                          <a:solidFill>
                            <a:srgbClr val="FFFFFF"/>
                          </a:solidFill>
                        </a:rPr>
                        <a:t>Time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r>
              <a:tr h="365760">
                <a:tc>
                  <a:txBody>
                    <a:bodyPr wrap="square"/>
                    <a:lstStyle/>
                    <a:p>
                      <a:r>
                        <a:rPr sz="1100" b="1" i="0">
                          <a:solidFill>
                            <a:srgbClr val="8A1626"/>
                          </a:solidFill>
                        </a:rPr>
                        <a:t>Load a date: rows into value matrices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785 ms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365760">
                <a:tc>
                  <a:txBody>
                    <a:bodyPr wrap="square"/>
                    <a:lstStyle/>
                    <a:p>
                      <a:r>
                        <a:rPr sz="1100" b="1" i="0">
                          <a:solidFill>
                            <a:srgbClr val="8A1626"/>
                          </a:solidFill>
                        </a:rPr>
                        <a:t>Collateral, E, N, hot file written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1,250 ms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365760">
                <a:tc>
                  <a:txBody>
                    <a:bodyPr wrap="square"/>
                    <a:lstStyle/>
                    <a:p>
                      <a:r>
                        <a:rPr sz="1100" b="1" i="0">
                          <a:solidFill>
                            <a:srgbClr val="8A1626"/>
                          </a:solidFill>
                        </a:rPr>
                        <a:t>Reopen the date from its hot file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157 ms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365760">
                <a:tc>
                  <a:txBody>
                    <a:bodyPr wrap="square"/>
                    <a:lstStyle/>
                    <a:p>
                      <a:r>
                        <a:rPr sz="1100" b="1" i="0">
                          <a:solidFill>
                            <a:srgbClr val="8A1626"/>
                          </a:solidFill>
                        </a:rPr>
                        <a:t>Scope BANK (every set)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61 ms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365760">
                <a:tc>
                  <a:txBody>
                    <a:bodyPr wrap="square"/>
                    <a:lstStyle/>
                    <a:p>
                      <a:r>
                        <a:rPr sz="1100" b="1" i="0">
                          <a:solidFill>
                            <a:srgbClr val="8A1626"/>
                          </a:solidFill>
                        </a:rPr>
                        <a:t>Scope CPTY: (20 sets) · NSET: (1 set)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0.22 · 0.06 ms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365760">
                <a:tc>
                  <a:txBody>
                    <a:bodyPr wrap="square"/>
                    <a:lstStyle/>
                    <a:p>
                      <a:r>
                        <a:rPr sz="1100" b="1" i="0">
                          <a:solidFill>
                            <a:srgbClr val="8A1626"/>
                          </a:solidFill>
                        </a:rPr>
                        <a:t>Pre-deal exact, Java · proxy</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0.11 · 0.007 ms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bl>
          </a:graphicData>
        </a:graphic>
      </p:graphicFrame>
      <p:sp>
        <p:nvSpPr>
          <p:cNvPr id="30" name="Rectangle 29"/>
          <p:cNvSpPr/>
          <p:nvPr/>
        </p:nvSpPr>
        <p:spPr>
          <a:xfrm>
            <a:off x="777240" y="4462272"/>
            <a:ext cx="5166360" cy="1069848"/>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886968" y="4535424"/>
            <a:ext cx="4946904" cy="941831"/>
          </a:xfrm>
          <a:prstGeom prst="rect">
            <a:avLst/>
          </a:prstGeom>
          <a:noFill/>
        </p:spPr>
        <p:txBody>
          <a:bodyPr wrap="square" lIns="0" rIns="0" tIns="0" bIns="0" anchor="t">
            <a:spAutoFit/>
          </a:bodyPr>
          <a:lstStyle/>
          <a:p>
            <a:pPr algn="l">
              <a:spcAft>
                <a:spcPts val="300"/>
              </a:spcAft>
            </a:pPr>
            <a:r>
              <a:rPr sz="1200" b="1" i="0">
                <a:solidFill>
                  <a:srgbClr val="8A1626"/>
                </a:solidFill>
              </a:rPr>
              <a:t>Why it is fast</a:t>
            </a:r>
          </a:p>
          <a:p>
            <a:pPr algn="l"/>
            <a:r>
              <a:rPr sz="1100" b="0" i="0">
                <a:solidFill>
                  <a:srgbClr val="4A5058"/>
                </a:solidFill>
              </a:rPr>
              <a:t>Vectors add: a node's vector is summed once and kept; a hot file per date is memory-mapped (float32 rows, float64 sums); sums run on every core in a fixed order — the same bits every time.</a:t>
            </a:r>
          </a:p>
        </p:txBody>
      </p:sp>
      <p:sp>
        <p:nvSpPr>
          <p:cNvPr id="32" name="Rectangle 31"/>
          <p:cNvSpPr/>
          <p:nvPr/>
        </p:nvSpPr>
        <p:spPr>
          <a:xfrm>
            <a:off x="6217920" y="4462272"/>
            <a:ext cx="5193792" cy="1069848"/>
          </a:xfrm>
          <a:prstGeom prst="rect">
            <a:avLst/>
          </a:prstGeom>
          <a:solidFill>
            <a:srgbClr val="F6E6E9"/>
          </a:solidFill>
          <a:ln w="952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6327648" y="4535424"/>
            <a:ext cx="4974336" cy="941831"/>
          </a:xfrm>
          <a:prstGeom prst="rect">
            <a:avLst/>
          </a:prstGeom>
          <a:noFill/>
        </p:spPr>
        <p:txBody>
          <a:bodyPr wrap="square" lIns="0" rIns="0" tIns="0" bIns="0" anchor="t">
            <a:spAutoFit/>
          </a:bodyPr>
          <a:lstStyle/>
          <a:p>
            <a:pPr algn="l">
              <a:spcAft>
                <a:spcPts val="300"/>
              </a:spcAft>
            </a:pPr>
            <a:r>
              <a:rPr sz="1200" b="1" i="0">
                <a:solidFill>
                  <a:srgbClr val="8A1626"/>
                </a:solidFill>
              </a:rPr>
              <a:t>What is extrapolated, and said so</a:t>
            </a:r>
          </a:p>
          <a:p>
            <a:pPr algn="l"/>
            <a:r>
              <a:rPr sz="1100" b="0" i="0">
                <a:solidFill>
                  <a:srgbClr val="4A5058"/>
                </a:solidFill>
              </a:rPr>
              <a:t>1M trades × 50 dates (VaR) and a 1M-trade, 100,000-set bank (exposure) are extrapolated from these runs; a workstation run stays at 100,000 trades in memory.</a:t>
            </a:r>
          </a:p>
        </p:txBody>
      </p:sp>
      <p:sp>
        <p:nvSpPr>
          <p:cNvPr id="34" name="Rectangle 33"/>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Rectangle 34"/>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Measured on one workstation (24 threads, 61 GB, JDK 25, NVMe); the full million-trade runs are for a real server.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HONEST NUMBERS · 2.8.0 TO 2.9.3</a:t>
            </a:r>
          </a:p>
        </p:txBody>
      </p:sp>
      <p:sp>
        <p:nvSpPr>
          <p:cNvPr id="3" name="Title 2"/>
          <p:cNvSpPr>
            <a:spLocks noGrp="1"/>
          </p:cNvSpPr>
          <p:nvPr>
            <p:ph type="title" idx="104"/>
          </p:nvPr>
        </p:nvSpPr>
        <p:spPr/>
        <p:txBody>
          <a:bodyPr lIns="0" rIns="0" tIns="0" bIns="0" anchor="t"/>
          <a:lstStyle/>
          <a:p>
            <a:r>
              <a:t>Where a number changed, the reason is written down</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graphicFrame>
        <p:nvGraphicFramePr>
          <p:cNvPr id="26" name="Table 25"/>
          <p:cNvGraphicFramePr>
            <a:graphicFrameLocks noGrp="1"/>
          </p:cNvGraphicFramePr>
          <p:nvPr/>
        </p:nvGraphicFramePr>
        <p:xfrm>
          <a:off x="777240" y="1463040"/>
          <a:ext cx="10634472" cy="3867912"/>
        </p:xfrm>
        <a:graphic>
          <a:graphicData uri="http://schemas.openxmlformats.org/drawingml/2006/table">
            <a:tbl>
              <a:tblPr firstRow="0" bandRow="0">
                <a:tableStyleId>{5940675A-B579-460E-94D1-54222C63F5DA}</a:tableStyleId>
              </a:tblPr>
              <a:tblGrid>
                <a:gridCol w="2606040"/>
                <a:gridCol w="1783080"/>
                <a:gridCol w="1554480"/>
                <a:gridCol w="4690872"/>
              </a:tblGrid>
              <a:tr h="429768">
                <a:tc>
                  <a:txBody>
                    <a:bodyPr wrap="square"/>
                    <a:lstStyle/>
                    <a:p>
                      <a:r>
                        <a:rPr sz="1150" b="1" i="0">
                          <a:solidFill>
                            <a:srgbClr val="FFFFFF"/>
                          </a:solidFill>
                        </a:rPr>
                        <a:t>Figure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50" b="1" i="0">
                          <a:solidFill>
                            <a:srgbClr val="FFFFFF"/>
                          </a:solidFill>
                        </a:rPr>
                        <a:t>Stored said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50" b="1" i="0">
                          <a:solidFill>
                            <a:srgbClr val="FFFFFF"/>
                          </a:solidFill>
                        </a:rPr>
                        <a:t>Computed says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50" b="1" i="0">
                          <a:solidFill>
                            <a:srgbClr val="FFFFFF"/>
                          </a:solidFill>
                        </a:rPr>
                        <a:t>Why</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r>
              <a:tr h="429768">
                <a:tc>
                  <a:txBody>
                    <a:bodyPr wrap="square"/>
                    <a:lstStyle/>
                    <a:p>
                      <a:r>
                        <a:rPr sz="1150" b="1" i="0">
                          <a:solidFill>
                            <a:srgbClr val="8A1626"/>
                          </a:solidFill>
                        </a:rPr>
                        <a:t>Commodities desk VaR (2.8.0)</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446.9m</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17.5m</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the stored figure came from a formula with no netting, not historical simulation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429768">
                <a:tc>
                  <a:txBody>
                    <a:bodyPr wrap="square"/>
                    <a:lstStyle/>
                    <a:p>
                      <a:r>
                        <a:rPr sz="1150" b="1" i="0">
                          <a:solidFill>
                            <a:srgbClr val="8A1626"/>
                          </a:solidFill>
                        </a:rPr>
                        <a:t>Exposure peaks, 76 sets (2.9.0)</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50" b="0" i="0">
                          <a:solidFill>
                            <a:srgbClr val="1A1A1A"/>
                          </a:solidFill>
                        </a:rPr>
                        <a:t>92.6bn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50" b="0" i="0">
                          <a:solidFill>
                            <a:srgbClr val="1A1A1A"/>
                          </a:solidFill>
                        </a:rPr>
                        <a:t>7.6bn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50" b="0" i="0">
                          <a:solidFill>
                            <a:srgbClr val="1A1A1A"/>
                          </a:solidFill>
                        </a:rPr>
                        <a:t>the generator scaled peaks with gross notional and ignored the CSAs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429768">
                <a:tc>
                  <a:txBody>
                    <a:bodyPr wrap="square"/>
                    <a:lstStyle/>
                    <a:p>
                      <a:r>
                        <a:rPr sz="1150" b="1" i="0">
                          <a:solidFill>
                            <a:srgbClr val="8A1626"/>
                          </a:solidFill>
                        </a:rPr>
                        <a:t>Correlations (2.9.1)</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 0.4, set by hand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 0.1</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the demo's price series are independent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429768">
                <a:tc>
                  <a:txBody>
                    <a:bodyPr wrap="square"/>
                    <a:lstStyle/>
                    <a:p>
                      <a:r>
                        <a:rPr sz="1150" b="1" i="0">
                          <a:solidFill>
                            <a:srgbClr val="8A1626"/>
                          </a:solidFill>
                        </a:rPr>
                        <a:t>DIA active share (2.9.3)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50" b="0" i="0">
                          <a:solidFill>
                            <a:srgbClr val="1A1A1A"/>
                          </a:solidFill>
                        </a:rPr>
                        <a:t>57.6%</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50" b="0" i="0">
                          <a:solidFill>
                            <a:srgbClr val="1A1A1A"/>
                          </a:solidFill>
                        </a:rPr>
                        <a:t>1.8%</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50" b="0" i="0">
                          <a:solidFill>
                            <a:srgbClr val="1A1A1A"/>
                          </a:solidFill>
                        </a:rPr>
                        <a:t>members from DIA's SEC holdings; the Dow weighed by price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429768">
                <a:tc>
                  <a:txBody>
                    <a:bodyPr wrap="square"/>
                    <a:lstStyle/>
                    <a:p>
                      <a:r>
                        <a:rPr sz="1150" b="1" i="0">
                          <a:solidFill>
                            <a:srgbClr val="8A1626"/>
                          </a:solidFill>
                        </a:rPr>
                        <a:t>QQQ active share (2.9.3)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26.75%</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11.2%</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Nasdaq-100 members from QQQ; capped as the index does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429768">
                <a:tc>
                  <a:txBody>
                    <a:bodyPr wrap="square"/>
                    <a:lstStyle/>
                    <a:p>
                      <a:r>
                        <a:rPr sz="1150" b="1" i="0">
                          <a:solidFill>
                            <a:srgbClr val="8A1626"/>
                          </a:solidFill>
                        </a:rPr>
                        <a:t>Firm-wide VaR limit (2.9.3)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50" b="0" i="0">
                          <a:solidFill>
                            <a:srgbClr val="1A1A1A"/>
                          </a:solidFill>
                        </a:rPr>
                        <a:t>210m (legal tree)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50" b="0" i="0">
                          <a:solidFill>
                            <a:srgbClr val="1A1A1A"/>
                          </a:solidFill>
                        </a:rPr>
                        <a:t>150m</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50" b="0" i="0">
                          <a:solidFill>
                            <a:srgbClr val="1A1A1A"/>
                          </a:solidFill>
                        </a:rPr>
                        <a:t>one limit on both trees' roots; every VaR unchanged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429768">
                <a:tc>
                  <a:txBody>
                    <a:bodyPr wrap="square"/>
                    <a:lstStyle/>
                    <a:p>
                      <a:r>
                        <a:rPr sz="1150" b="1" i="0">
                          <a:solidFill>
                            <a:srgbClr val="8A1626"/>
                          </a:solidFill>
                        </a:rPr>
                        <a:t>Economy debt (2.9.2)</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a 2031 projection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latest actual year</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found while writing the Knowledge pages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429768">
                <a:tc>
                  <a:txBody>
                    <a:bodyPr wrap="square"/>
                    <a:lstStyle/>
                    <a:p>
                      <a:r>
                        <a:rPr sz="1150" b="1" i="0">
                          <a:solidFill>
                            <a:srgbClr val="8A1626"/>
                          </a:solidFill>
                        </a:rPr>
                        <a:t>Joins between kinds (2.9.3)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50" b="0" i="0">
                          <a:solidFill>
                            <a:srgbClr val="1A1A1A"/>
                          </a:solidFill>
                        </a:rPr>
                        <a:t>assumed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50" b="0" i="0">
                          <a:solidFill>
                            <a:srgbClr val="1A1A1A"/>
                          </a:solidFill>
                        </a:rPr>
                        <a:t>11 do not hold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50" b="0" i="0">
                          <a:solidFill>
                            <a:srgbClr val="1A1A1A"/>
                          </a:solidFill>
                        </a:rPr>
                        <a:t>DATAMAP checks every join against the data</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bl>
          </a:graphicData>
        </a:graphic>
      </p:graphicFrame>
      <p:sp>
        <p:nvSpPr>
          <p:cNvPr id="27" name="Rectangle 26"/>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Rectangle 27"/>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Each change is reconciled in its guide, item by item: the evidence is the reason, not just the new number.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EVIDENCE · DELTA = ICEBERG · 2.9.5</a:t>
            </a:r>
          </a:p>
        </p:txBody>
      </p:sp>
      <p:sp>
        <p:nvSpPr>
          <p:cNvPr id="3" name="Title 2"/>
          <p:cNvSpPr>
            <a:spLocks noGrp="1"/>
          </p:cNvSpPr>
          <p:nvPr>
            <p:ph type="title" idx="104"/>
          </p:nvPr>
        </p:nvSpPr>
        <p:spPr/>
        <p:txBody>
          <a:bodyPr lIns="0" rIns="0" tIns="0" bIns="0" anchor="t"/>
          <a:lstStyle/>
          <a:p>
            <a:r>
              <a:t>VaR and exposure from Iceberg equal Delta, to the cent</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graphicFrame>
        <p:nvGraphicFramePr>
          <p:cNvPr id="26" name="Table 25"/>
          <p:cNvGraphicFramePr>
            <a:graphicFrameLocks noGrp="1"/>
          </p:cNvGraphicFramePr>
          <p:nvPr/>
        </p:nvGraphicFramePr>
        <p:xfrm>
          <a:off x="777240" y="1444752"/>
          <a:ext cx="6400800" cy="2743200"/>
        </p:xfrm>
        <a:graphic>
          <a:graphicData uri="http://schemas.openxmlformats.org/drawingml/2006/table">
            <a:tbl>
              <a:tblPr firstRow="0" bandRow="0">
                <a:tableStyleId>{5940675A-B579-460E-94D1-54222C63F5DA}</a:tableStyleId>
              </a:tblPr>
              <a:tblGrid>
                <a:gridCol w="2514600"/>
                <a:gridCol w="3200400"/>
                <a:gridCol w="685800"/>
              </a:tblGrid>
              <a:tr h="457200">
                <a:tc>
                  <a:txBody>
                    <a:bodyPr wrap="square"/>
                    <a:lstStyle/>
                    <a:p>
                      <a:r>
                        <a:rPr sz="1050" b="1" i="0">
                          <a:solidFill>
                            <a:srgbClr val="FFFFFF"/>
                          </a:solidFill>
                        </a:rPr>
                        <a:t>Test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050" b="1" i="0">
                          <a:solidFill>
                            <a:srgbClr val="FFFFFF"/>
                          </a:solidFill>
                        </a:rPr>
                        <a:t>What it proves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050" b="1" i="0">
                          <a:solidFill>
                            <a:srgbClr val="FFFFFF"/>
                          </a:solidFill>
                        </a:rPr>
                        <a:t>Latest run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r>
              <a:tr h="457200">
                <a:tc>
                  <a:txBody>
                    <a:bodyPr wrap="square"/>
                    <a:lstStyle/>
                    <a:p>
                      <a:r>
                        <a:rPr sz="1050" b="1" i="0">
                          <a:solidFill>
                            <a:srgbClr val="8A1626"/>
                          </a:solidFill>
                          <a:latin typeface="Courier New"/>
                        </a:rPr>
                        <a:t>VarFormatEqualityTest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050" b="0" i="0">
                          <a:solidFill>
                            <a:srgbClr val="1A1A1A"/>
                          </a:solidFill>
                        </a:rPr>
                        <a:t>the same lines in Delta and Iceberg: VaR, ES, component and incremental VaR, worst scenarios, limits and limit letters, USD and EUR; intraday batches; official records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050" b="0" i="0">
                          <a:solidFill>
                            <a:srgbClr val="1A1A1A"/>
                          </a:solidFill>
                        </a:rPr>
                        <a:t>green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457200">
                <a:tc>
                  <a:txBody>
                    <a:bodyPr wrap="square"/>
                    <a:lstStyle/>
                    <a:p>
                      <a:r>
                        <a:rPr sz="1050" b="1" i="0">
                          <a:solidFill>
                            <a:srgbClr val="8A1626"/>
                          </a:solidFill>
                          <a:latin typeface="Courier New"/>
                        </a:rPr>
                        <a:t>ExposureFormatEqualityTest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EE, PFE, EPE, profiles, contributions and official records, both formats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green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457200">
                <a:tc>
                  <a:txBody>
                    <a:bodyPr wrap="square"/>
                    <a:lstStyle/>
                    <a:p>
                      <a:r>
                        <a:rPr sz="1050" b="1" i="0">
                          <a:solidFill>
                            <a:srgbClr val="8A1626"/>
                          </a:solidFill>
                          <a:latin typeface="Courier New"/>
                        </a:rPr>
                        <a:t>LakeAppendsTest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050" b="0" i="0">
                          <a:solidFill>
                            <a:srgbClr val="1A1A1A"/>
                          </a:solidFill>
                        </a:rPr>
                        <a:t>a Kafka window lands on an Iceberg risk lake as one append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050" b="0" i="0">
                          <a:solidFill>
                            <a:srgbClr val="1A1A1A"/>
                          </a:solidFill>
                        </a:rPr>
                        <a:t>green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457200">
                <a:tc>
                  <a:txBody>
                    <a:bodyPr wrap="square"/>
                    <a:lstStyle/>
                    <a:p>
                      <a:r>
                        <a:rPr sz="1050" b="1" i="0">
                          <a:solidFill>
                            <a:srgbClr val="8A1626"/>
                          </a:solidFill>
                          <a:latin typeface="Courier New"/>
                        </a:rPr>
                        <a:t>OfficialSinkTest · OfficialS3Test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official tables in Delta and Iceberg, a folder or S3; six writers at once; a Delta commit on S3 is an exclusive create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green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457200">
                <a:tc>
                  <a:txBody>
                    <a:bodyPr wrap="square"/>
                    <a:lstStyle/>
                    <a:p>
                      <a:r>
                        <a:rPr sz="1050" b="1" i="0">
                          <a:solidFill>
                            <a:srgbClr val="8A1626"/>
                          </a:solidFill>
                          <a:latin typeface="Courier New"/>
                        </a:rPr>
                        <a:t>OfficialReadersTest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050" b="0" i="0">
                          <a:solidFill>
                            <a:srgbClr val="1A1A1A"/>
                          </a:solidFill>
                        </a:rPr>
                        <a:t>BI's readers follow the official format by themselves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050" b="0" i="0">
                          <a:solidFill>
                            <a:srgbClr val="1A1A1A"/>
                          </a:solidFill>
                        </a:rPr>
                        <a:t>green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bl>
          </a:graphicData>
        </a:graphic>
      </p:graphicFrame>
      <p:sp>
        <p:nvSpPr>
          <p:cNvPr id="27" name="TextBox 26"/>
          <p:cNvSpPr txBox="1"/>
          <p:nvPr/>
        </p:nvSpPr>
        <p:spPr>
          <a:xfrm>
            <a:off x="7452360" y="1417320"/>
            <a:ext cx="2862072" cy="292608"/>
          </a:xfrm>
          <a:prstGeom prst="rect">
            <a:avLst/>
          </a:prstGeom>
          <a:noFill/>
        </p:spPr>
        <p:txBody>
          <a:bodyPr wrap="square" lIns="0" rIns="0" tIns="0" bIns="0" anchor="ctr">
            <a:spAutoFit/>
          </a:bodyPr>
          <a:lstStyle/>
          <a:p>
            <a:pPr algn="l"/>
            <a:r>
              <a:rPr sz="1300" b="1" i="0">
                <a:solidFill>
                  <a:srgbClr val="A51C30"/>
                </a:solidFill>
              </a:rPr>
              <a:t>On the demo data</a:t>
            </a:r>
          </a:p>
        </p:txBody>
      </p:sp>
      <p:sp>
        <p:nvSpPr>
          <p:cNvPr id="28" name="Rounded Rectangle 27"/>
          <p:cNvSpPr/>
          <p:nvPr/>
        </p:nvSpPr>
        <p:spPr>
          <a:xfrm>
            <a:off x="10497312" y="1463040"/>
            <a:ext cx="667512" cy="201168"/>
          </a:xfrm>
          <a:prstGeom prst="roundRect">
            <a:avLst>
              <a:gd name="adj" fmla="val 50000"/>
            </a:avLst>
          </a:prstGeom>
          <a:solidFill>
            <a:srgbClr val="4A5058"/>
          </a:solidFill>
          <a:ln w="12700">
            <a:solidFill>
              <a:srgbClr val="4A5058"/>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850" b="1" i="0">
                <a:solidFill>
                  <a:srgbClr val="FFFFFF"/>
                </a:solidFill>
              </a:rPr>
              <a:t>MEASURED</a:t>
            </a:r>
          </a:p>
        </p:txBody>
      </p:sp>
      <p:graphicFrame>
        <p:nvGraphicFramePr>
          <p:cNvPr id="29" name="Table 28"/>
          <p:cNvGraphicFramePr>
            <a:graphicFrameLocks noGrp="1"/>
          </p:cNvGraphicFramePr>
          <p:nvPr/>
        </p:nvGraphicFramePr>
        <p:xfrm>
          <a:off x="7452360" y="1783080"/>
          <a:ext cx="3959352" cy="1261872"/>
        </p:xfrm>
        <a:graphic>
          <a:graphicData uri="http://schemas.openxmlformats.org/drawingml/2006/table">
            <a:tbl>
              <a:tblPr firstRow="0" bandRow="0">
                <a:tableStyleId>{5940675A-B579-460E-94D1-54222C63F5DA}</a:tableStyleId>
              </a:tblPr>
              <a:tblGrid>
                <a:gridCol w="1600200"/>
                <a:gridCol w="960120"/>
                <a:gridCol w="1399032"/>
              </a:tblGrid>
              <a:tr h="420624">
                <a:tc>
                  <a:txBody>
                    <a:bodyPr wrap="square"/>
                    <a:lstStyle/>
                    <a:p>
                      <a:r>
                        <a:rPr sz="1050" b="1" i="0">
                          <a:solidFill>
                            <a:srgbClr val="FFFFFF"/>
                          </a:solidFill>
                        </a:rPr>
                        <a:t>Figure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050" b="1" i="0">
                          <a:solidFill>
                            <a:srgbClr val="FFFFFF"/>
                          </a:solidFill>
                        </a:rPr>
                        <a:t>Delta</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050" b="1" i="0">
                          <a:solidFill>
                            <a:srgbClr val="FFFFFF"/>
                          </a:solidFill>
                        </a:rPr>
                        <a:t>Iceberg</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r>
              <a:tr h="420624">
                <a:tc>
                  <a:txBody>
                    <a:bodyPr wrap="square"/>
                    <a:lstStyle/>
                    <a:p>
                      <a:r>
                        <a:rPr sz="1050" b="1" i="0">
                          <a:solidFill>
                            <a:srgbClr val="8A1626"/>
                          </a:solidFill>
                        </a:rPr>
                        <a:t>VAR BANK, 2026-09-30 (USD)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050" b="0" i="0">
                          <a:solidFill>
                            <a:srgbClr val="1A1A1A"/>
                          </a:solidFill>
                        </a:rPr>
                        <a:t>112,041,646</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050" b="0" i="0">
                          <a:solidFill>
                            <a:srgbClr val="1A1A1A"/>
                          </a:solidFill>
                        </a:rPr>
                        <a:t>112,041,646</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420624">
                <a:tc>
                  <a:txBody>
                    <a:bodyPr wrap="square"/>
                    <a:lstStyle/>
                    <a:p>
                      <a:r>
                        <a:rPr sz="1050" b="1" i="0">
                          <a:solidFill>
                            <a:srgbClr val="8A1626"/>
                          </a:solidFill>
                        </a:rPr>
                        <a:t>Risk tables moved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14 tables, 955,124 rows, 579 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bl>
          </a:graphicData>
        </a:graphic>
      </p:graphicFrame>
      <p:sp>
        <p:nvSpPr>
          <p:cNvPr id="30" name="TextBox 29"/>
          <p:cNvSpPr txBox="1"/>
          <p:nvPr/>
        </p:nvSpPr>
        <p:spPr>
          <a:xfrm>
            <a:off x="7452360" y="3246120"/>
            <a:ext cx="3959352" cy="1737360"/>
          </a:xfrm>
          <a:prstGeom prst="rect">
            <a:avLst/>
          </a:prstGeom>
          <a:noFill/>
        </p:spPr>
        <p:txBody>
          <a:bodyPr wrap="square" lIns="0" rIns="0" tIns="0" bIns="0" anchor="t">
            <a:spAutoFit/>
          </a:bodyPr>
          <a:lstStyle/>
          <a:p>
            <a:pPr algn="l">
              <a:spcAft>
                <a:spcPts val="500"/>
              </a:spcAft>
            </a:pPr>
            <a:r>
              <a:rPr sz="1100" b="0" i="0">
                <a:solidFill>
                  <a:srgbClr val="1A1A1A"/>
                </a:solidFill>
              </a:rPr>
              <a:t>A server on the Iceberg lake answered VAR BANK, the limit letter LL:LL-0003 and XPO BANK and published its official records.</a:t>
            </a:r>
          </a:p>
          <a:p>
            <a:pPr algn="l"/>
            <a:r>
              <a:rPr sz="1050" b="0" i="1">
                <a:solidFill>
                  <a:srgbClr val="4A5058"/>
                </a:solidFill>
              </a:rPr>
              <a:t>Demo figures from Drishti's synthetic data, one workstation: an observation, not a sizing rule. Delta stays the default; Iceberg is chosen by configuration.</a:t>
            </a:r>
          </a:p>
        </p:txBody>
      </p:sp>
      <p:sp>
        <p:nvSpPr>
          <p:cNvPr id="31" name="Rounded Rectangle 30"/>
          <p:cNvSpPr/>
          <p:nvPr/>
        </p:nvSpPr>
        <p:spPr>
          <a:xfrm>
            <a:off x="777240" y="4572000"/>
            <a:ext cx="461772" cy="201168"/>
          </a:xfrm>
          <a:prstGeom prst="roundRect">
            <a:avLst>
              <a:gd name="adj" fmla="val 50000"/>
            </a:avLst>
          </a:prstGeom>
          <a:solidFill>
            <a:srgbClr val="293352"/>
          </a:solidFill>
          <a:ln w="12700">
            <a:solidFill>
              <a:srgbClr val="293352"/>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850" b="1" i="0">
                <a:solidFill>
                  <a:srgbClr val="FFFFFF"/>
                </a:solidFill>
              </a:rPr>
              <a:t>2.9.6</a:t>
            </a:r>
          </a:p>
        </p:txBody>
      </p:sp>
      <p:sp>
        <p:nvSpPr>
          <p:cNvPr id="32" name="TextBox 31"/>
          <p:cNvSpPr txBox="1"/>
          <p:nvPr/>
        </p:nvSpPr>
        <p:spPr>
          <a:xfrm>
            <a:off x="1344168" y="4498848"/>
            <a:ext cx="5833872" cy="365760"/>
          </a:xfrm>
          <a:prstGeom prst="rect">
            <a:avLst/>
          </a:prstGeom>
          <a:noFill/>
        </p:spPr>
        <p:txBody>
          <a:bodyPr wrap="square" lIns="0" rIns="0" tIns="0" bIns="0" anchor="ctr">
            <a:spAutoFit/>
          </a:bodyPr>
          <a:lstStyle/>
          <a:p>
            <a:pPr algn="l"/>
            <a:r>
              <a:rPr sz="1100" b="0" i="0">
                <a:solidFill>
                  <a:srgbClr val="4A5058"/>
                </a:solidFill>
              </a:rPr>
              <a:t>The Glue and S3 Tables runs on AWS (GlueLiveTest, check-glue.sh): built, not yet run.</a:t>
            </a:r>
          </a:p>
        </p:txBody>
      </p:sp>
      <p:sp>
        <p:nvSpPr>
          <p:cNvPr id="33" name="Rectangle 32"/>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Rectangle 33"/>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xtBox 34"/>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One connector switched from plugin: delta to plugin: iceberg, the same rows, the same numbers.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lIns="0" rIns="0" tIns="0" bIns="0" anchor="t"/>
          <a:lstStyle/>
          <a:p>
            <a:r>
              <a:t>EVIDENCE · HIERARCHIES AND UPGRADES · 2.9.5</a:t>
            </a:r>
          </a:p>
        </p:txBody>
      </p:sp>
      <p:sp>
        <p:nvSpPr>
          <p:cNvPr id="3" name="Title 2"/>
          <p:cNvSpPr>
            <a:spLocks noGrp="1"/>
          </p:cNvSpPr>
          <p:nvPr>
            <p:ph type="title" idx="104"/>
          </p:nvPr>
        </p:nvSpPr>
        <p:spPr/>
        <p:txBody>
          <a:bodyPr lIns="0" rIns="0" tIns="0" bIns="0" anchor="t"/>
          <a:lstStyle/>
          <a:p>
            <a:r>
              <a:t>Trees rebuilt from columns; upgrades that keep every edit</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Rectangle 25"/>
          <p:cNvSpPr/>
          <p:nvPr/>
        </p:nvSpPr>
        <p:spPr>
          <a:xfrm>
            <a:off x="777240" y="1444752"/>
            <a:ext cx="3422904" cy="269748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ectangle 26"/>
          <p:cNvSpPr/>
          <p:nvPr/>
        </p:nvSpPr>
        <p:spPr>
          <a:xfrm>
            <a:off x="777240" y="1444752"/>
            <a:ext cx="45720" cy="26974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960120" y="1536192"/>
            <a:ext cx="3130296" cy="2240280"/>
          </a:xfrm>
          <a:prstGeom prst="rect">
            <a:avLst/>
          </a:prstGeom>
          <a:noFill/>
        </p:spPr>
        <p:txBody>
          <a:bodyPr wrap="square" lIns="0" rIns="0" tIns="0" bIns="0" anchor="t">
            <a:spAutoFit/>
          </a:bodyPr>
          <a:lstStyle/>
          <a:p>
            <a:pPr algn="l">
              <a:spcAft>
                <a:spcPts val="200"/>
              </a:spcAft>
            </a:pPr>
            <a:r>
              <a:rPr sz="1150" b="1" i="0">
                <a:solidFill>
                  <a:srgbClr val="8A1626"/>
                </a:solidFill>
                <a:latin typeface="Courier New"/>
              </a:rPr>
              <a:t>HierarchyEquivalenceTest</a:t>
            </a:r>
          </a:p>
          <a:p>
            <a:pPr algn="l">
              <a:spcAft>
                <a:spcPts val="600"/>
              </a:spcAft>
            </a:pPr>
            <a:r>
              <a:rPr sz="1250" b="1" i="0">
                <a:solidFill>
                  <a:srgbClr val="1A1A1A"/>
                </a:solidFill>
              </a:rPr>
              <a:t>MGMT and LEGAL rebuilt from columns</a:t>
            </a:r>
          </a:p>
          <a:p>
            <a:pPr algn="l" marL="146304" indent="-146304">
              <a:spcAft>
                <a:spcPts val="300"/>
              </a:spcAft>
              <a:buClr>
                <a:srgbClr val="A51C30"/>
              </a:buClr>
              <a:buSzPct val="100000"/>
              <a:buFont typeface="Arial"/>
              <a:buChar char="▪"/>
            </a:pPr>
            <a:r>
              <a:rPr sz="1100" b="0" i="0">
                <a:solidFill>
                  <a:srgbClr val="1A1A1A"/>
                </a:solidFill>
              </a:rPr>
              <a:t>The same node ids, parents, levels and members as the risk-hierarchy rows</a:t>
            </a:r>
          </a:p>
          <a:p>
            <a:pPr algn="l" marL="146304" indent="-146304">
              <a:spcAft>
                <a:spcPts val="300"/>
              </a:spcAft>
              <a:buClr>
                <a:srgbClr val="A51C30"/>
              </a:buClr>
              <a:buSzPct val="100000"/>
              <a:buFont typeface="Arial"/>
              <a:buChar char="▪"/>
            </a:pPr>
            <a:r>
              <a:rPr sz="1100" b="0" i="0">
                <a:solidFill>
                  <a:srgbClr val="1A1A1A"/>
                </a:solidFill>
              </a:rPr>
              <a:t>Aggregates equal to the bit; VaR, ES, components and worst scenarios to the cent, USD and EUR</a:t>
            </a:r>
          </a:p>
          <a:p>
            <a:pPr algn="l" marL="146304" indent="-146304">
              <a:spcAft>
                <a:spcPts val="300"/>
              </a:spcAft>
              <a:buClr>
                <a:srgbClr val="A51C30"/>
              </a:buClr>
              <a:buSzPct val="100000"/>
              <a:buFont typeface="Arial"/>
              <a:buChar char="▪"/>
            </a:pPr>
            <a:r>
              <a:rPr sz="1100" b="0" i="0">
                <a:solidFill>
                  <a:srgbClr val="1A1A1A"/>
                </a:solidFill>
              </a:rPr>
              <a:t>Limits equal; every limit letter the sum of its rows</a:t>
            </a:r>
          </a:p>
        </p:txBody>
      </p:sp>
      <p:sp>
        <p:nvSpPr>
          <p:cNvPr id="29" name="TextBox 28"/>
          <p:cNvSpPr txBox="1"/>
          <p:nvPr/>
        </p:nvSpPr>
        <p:spPr>
          <a:xfrm>
            <a:off x="960120" y="3794760"/>
            <a:ext cx="3130296" cy="274320"/>
          </a:xfrm>
          <a:prstGeom prst="rect">
            <a:avLst/>
          </a:prstGeom>
          <a:noFill/>
        </p:spPr>
        <p:txBody>
          <a:bodyPr wrap="square" lIns="0" rIns="0" tIns="0" bIns="0" anchor="ctr">
            <a:spAutoFit/>
          </a:bodyPr>
          <a:lstStyle/>
          <a:p>
            <a:pPr algn="l"/>
            <a:r>
              <a:rPr sz="1050" b="0" i="1">
                <a:solidFill>
                  <a:srgbClr val="4A5058"/>
                </a:solidFill>
              </a:rPr>
              <a:t>Latest run: 3 tests green</a:t>
            </a:r>
          </a:p>
        </p:txBody>
      </p:sp>
      <p:sp>
        <p:nvSpPr>
          <p:cNvPr id="30" name="Rectangle 29"/>
          <p:cNvSpPr/>
          <p:nvPr/>
        </p:nvSpPr>
        <p:spPr>
          <a:xfrm>
            <a:off x="4383024" y="1444752"/>
            <a:ext cx="3422904" cy="269748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Rectangle 30"/>
          <p:cNvSpPr/>
          <p:nvPr/>
        </p:nvSpPr>
        <p:spPr>
          <a:xfrm>
            <a:off x="4383024" y="1444752"/>
            <a:ext cx="45720" cy="26974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4565904" y="1536192"/>
            <a:ext cx="3130296" cy="2240280"/>
          </a:xfrm>
          <a:prstGeom prst="rect">
            <a:avLst/>
          </a:prstGeom>
          <a:noFill/>
        </p:spPr>
        <p:txBody>
          <a:bodyPr wrap="square" lIns="0" rIns="0" tIns="0" bIns="0" anchor="t">
            <a:spAutoFit/>
          </a:bodyPr>
          <a:lstStyle/>
          <a:p>
            <a:pPr algn="l">
              <a:spcAft>
                <a:spcPts val="200"/>
              </a:spcAft>
            </a:pPr>
            <a:r>
              <a:rPr sz="1150" b="1" i="0">
                <a:solidFill>
                  <a:srgbClr val="8A1626"/>
                </a:solidFill>
                <a:latin typeface="Courier New"/>
              </a:rPr>
              <a:t>HierarchyUpgradeWithoutLettersTest</a:t>
            </a:r>
          </a:p>
          <a:p>
            <a:pPr algn="l">
              <a:spcAft>
                <a:spcPts val="600"/>
              </a:spcAft>
            </a:pPr>
            <a:r>
              <a:rPr sz="1250" b="1" i="0">
                <a:solidFill>
                  <a:srgbClr val="1A1A1A"/>
                </a:solidFill>
              </a:rPr>
              <a:t>Data written before the letters</a:t>
            </a:r>
          </a:p>
          <a:p>
            <a:pPr algn="l" marL="146304" indent="-146304">
              <a:spcAft>
                <a:spcPts val="300"/>
              </a:spcAft>
              <a:buClr>
                <a:srgbClr val="A51C30"/>
              </a:buClr>
              <a:buSzPct val="100000"/>
              <a:buFont typeface="Arial"/>
              <a:buChar char="▪"/>
            </a:pPr>
            <a:r>
              <a:rPr sz="1100" b="0" i="0">
                <a:solidFill>
                  <a:srgbClr val="1A1A1A"/>
                </a:solidFill>
              </a:rPr>
              <a:t>P&amp;L vectors and exposure paths without LIMIT_LETTER</a:t>
            </a:r>
          </a:p>
          <a:p>
            <a:pPr algn="l" marL="146304" indent="-146304">
              <a:spcAft>
                <a:spcPts val="300"/>
              </a:spcAft>
              <a:buClr>
                <a:srgbClr val="A51C30"/>
              </a:buClr>
              <a:buSzPct val="100000"/>
              <a:buFont typeface="Arial"/>
              <a:buChar char="▪"/>
            </a:pPr>
            <a:r>
              <a:rPr sz="1100" b="0" i="0">
                <a:solidFill>
                  <a:srgbClr val="1A1A1A"/>
                </a:solidFill>
              </a:rPr>
              <a:t>Only LL is skipped, with a DRS-5211 warning and its fix</a:t>
            </a:r>
          </a:p>
          <a:p>
            <a:pPr algn="l" marL="146304" indent="-146304">
              <a:spcAft>
                <a:spcPts val="300"/>
              </a:spcAft>
              <a:buClr>
                <a:srgbClr val="A51C30"/>
              </a:buClr>
              <a:buSzPct val="100000"/>
              <a:buFont typeface="Arial"/>
              <a:buChar char="▪"/>
            </a:pPr>
            <a:r>
              <a:rPr sz="1100" b="0" i="0">
                <a:solidFill>
                  <a:srgbClr val="1A1A1A"/>
                </a:solidFill>
              </a:rPr>
              <a:t>VaR, exposure, MGMT, LEGAL and the official captures answer as before</a:t>
            </a:r>
          </a:p>
        </p:txBody>
      </p:sp>
      <p:sp>
        <p:nvSpPr>
          <p:cNvPr id="33" name="TextBox 32"/>
          <p:cNvSpPr txBox="1"/>
          <p:nvPr/>
        </p:nvSpPr>
        <p:spPr>
          <a:xfrm>
            <a:off x="4565904" y="3794760"/>
            <a:ext cx="3130296" cy="274320"/>
          </a:xfrm>
          <a:prstGeom prst="rect">
            <a:avLst/>
          </a:prstGeom>
          <a:noFill/>
        </p:spPr>
        <p:txBody>
          <a:bodyPr wrap="square" lIns="0" rIns="0" tIns="0" bIns="0" anchor="ctr">
            <a:spAutoFit/>
          </a:bodyPr>
          <a:lstStyle/>
          <a:p>
            <a:pPr algn="l"/>
            <a:r>
              <a:rPr sz="1050" b="0" i="1">
                <a:solidFill>
                  <a:srgbClr val="4A5058"/>
                </a:solidFill>
              </a:rPr>
              <a:t>Latest run: 1 test green</a:t>
            </a:r>
          </a:p>
        </p:txBody>
      </p:sp>
      <p:sp>
        <p:nvSpPr>
          <p:cNvPr id="34" name="Rectangle 33"/>
          <p:cNvSpPr/>
          <p:nvPr/>
        </p:nvSpPr>
        <p:spPr>
          <a:xfrm>
            <a:off x="7988808" y="1444752"/>
            <a:ext cx="3422904" cy="269748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Rectangle 34"/>
          <p:cNvSpPr/>
          <p:nvPr/>
        </p:nvSpPr>
        <p:spPr>
          <a:xfrm>
            <a:off x="7988808" y="1444752"/>
            <a:ext cx="45720" cy="26974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8171688" y="1536192"/>
            <a:ext cx="3130296" cy="2240280"/>
          </a:xfrm>
          <a:prstGeom prst="rect">
            <a:avLst/>
          </a:prstGeom>
          <a:noFill/>
        </p:spPr>
        <p:txBody>
          <a:bodyPr wrap="square" lIns="0" rIns="0" tIns="0" bIns="0" anchor="t">
            <a:spAutoFit/>
          </a:bodyPr>
          <a:lstStyle/>
          <a:p>
            <a:pPr algn="l">
              <a:spcAft>
                <a:spcPts val="200"/>
              </a:spcAft>
            </a:pPr>
            <a:r>
              <a:rPr sz="1150" b="1" i="0">
                <a:solidFill>
                  <a:srgbClr val="8A1626"/>
                </a:solidFill>
                <a:latin typeface="Courier New"/>
              </a:rPr>
              <a:t>ConnectorUpgradeTest</a:t>
            </a:r>
          </a:p>
          <a:p>
            <a:pPr algn="l">
              <a:spcAft>
                <a:spcPts val="600"/>
              </a:spcAft>
            </a:pPr>
            <a:r>
              <a:rPr sz="1250" b="1" i="0">
                <a:solidFill>
                  <a:srgbClr val="1A1A1A"/>
                </a:solidFill>
              </a:rPr>
              <a:t>A server on 2.9.4's generated files</a:t>
            </a:r>
          </a:p>
          <a:p>
            <a:pPr algn="l" marL="146304" indent="-146304">
              <a:spcAft>
                <a:spcPts val="300"/>
              </a:spcAft>
              <a:buClr>
                <a:srgbClr val="A51C30"/>
              </a:buClr>
              <a:buSzPct val="100000"/>
              <a:buFont typeface="Arial"/>
              <a:buChar char="▪"/>
            </a:pPr>
            <a:r>
              <a:rPr sz="1100" b="0" i="0">
                <a:solidFill>
                  <a:srgbClr val="1A1A1A"/>
                </a:solidFill>
              </a:rPr>
              <a:t>Every unedited file equals the current template</a:t>
            </a:r>
          </a:p>
          <a:p>
            <a:pPr algn="l" marL="146304" indent="-146304">
              <a:spcAft>
                <a:spcPts val="300"/>
              </a:spcAft>
              <a:buClr>
                <a:srgbClr val="A51C30"/>
              </a:buClr>
              <a:buSzPct val="100000"/>
              <a:buFont typeface="Arial"/>
              <a:buChar char="▪"/>
            </a:pPr>
            <a:r>
              <a:rPr sz="1100" b="0" i="0">
                <a:solidFill>
                  <a:srgbClr val="1A1A1A"/>
                </a:solidFill>
              </a:rPr>
              <a:t>The edits stay (an edited risk-store, the 2.9.3 var-whatif); missing keys added</a:t>
            </a:r>
          </a:p>
          <a:p>
            <a:pPr algn="l" marL="146304" indent="-146304">
              <a:spcAft>
                <a:spcPts val="300"/>
              </a:spcAft>
              <a:buClr>
                <a:srgbClr val="A51C30"/>
              </a:buClr>
              <a:buSzPct val="100000"/>
              <a:buFont typeface="Arial"/>
              <a:buChar char="▪"/>
            </a:pPr>
            <a:r>
              <a:rPr sz="1100" b="0" i="0">
                <a:solidFill>
                  <a:srgbClr val="1A1A1A"/>
                </a:solidFill>
              </a:rPr>
              <a:t>var-result, var-whatif with ccy and exposure-result answer</a:t>
            </a:r>
          </a:p>
        </p:txBody>
      </p:sp>
      <p:sp>
        <p:nvSpPr>
          <p:cNvPr id="37" name="TextBox 36"/>
          <p:cNvSpPr txBox="1"/>
          <p:nvPr/>
        </p:nvSpPr>
        <p:spPr>
          <a:xfrm>
            <a:off x="8171688" y="3794760"/>
            <a:ext cx="3130296" cy="274320"/>
          </a:xfrm>
          <a:prstGeom prst="rect">
            <a:avLst/>
          </a:prstGeom>
          <a:noFill/>
        </p:spPr>
        <p:txBody>
          <a:bodyPr wrap="square" lIns="0" rIns="0" tIns="0" bIns="0" anchor="ctr">
            <a:spAutoFit/>
          </a:bodyPr>
          <a:lstStyle/>
          <a:p>
            <a:pPr algn="l"/>
            <a:r>
              <a:rPr sz="1050" b="0" i="1">
                <a:solidFill>
                  <a:srgbClr val="4A5058"/>
                </a:solidFill>
              </a:rPr>
              <a:t>Latest run: 3 tests green</a:t>
            </a:r>
          </a:p>
        </p:txBody>
      </p:sp>
      <p:sp>
        <p:nvSpPr>
          <p:cNvPr id="38" name="Rectangle 37"/>
          <p:cNvSpPr/>
          <p:nvPr/>
        </p:nvSpPr>
        <p:spPr>
          <a:xfrm>
            <a:off x="777240" y="4343400"/>
            <a:ext cx="10634472" cy="96012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Rounded Rectangle 38"/>
          <p:cNvSpPr/>
          <p:nvPr/>
        </p:nvSpPr>
        <p:spPr>
          <a:xfrm>
            <a:off x="960120" y="4718304"/>
            <a:ext cx="667512" cy="201168"/>
          </a:xfrm>
          <a:prstGeom prst="roundRect">
            <a:avLst>
              <a:gd name="adj" fmla="val 50000"/>
            </a:avLst>
          </a:prstGeom>
          <a:solidFill>
            <a:srgbClr val="4A5058"/>
          </a:solidFill>
          <a:ln w="12700">
            <a:solidFill>
              <a:srgbClr val="4A5058"/>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850" b="1" i="0">
                <a:solidFill>
                  <a:srgbClr val="FFFFFF"/>
                </a:solidFill>
              </a:rPr>
              <a:t>MEASURED</a:t>
            </a:r>
          </a:p>
        </p:txBody>
      </p:sp>
      <p:sp>
        <p:nvSpPr>
          <p:cNvPr id="40" name="TextBox 39"/>
          <p:cNvSpPr txBox="1"/>
          <p:nvPr/>
        </p:nvSpPr>
        <p:spPr>
          <a:xfrm>
            <a:off x="1874519" y="4389120"/>
            <a:ext cx="9400032" cy="868680"/>
          </a:xfrm>
          <a:prstGeom prst="rect">
            <a:avLst/>
          </a:prstGeom>
          <a:noFill/>
        </p:spPr>
        <p:txBody>
          <a:bodyPr wrap="square" lIns="0" rIns="0" tIns="0" bIns="0" anchor="ctr">
            <a:spAutoFit/>
          </a:bodyPr>
          <a:lstStyle/>
          <a:p>
            <a:pPr algn="l"/>
            <a:r>
              <a:rPr sz="1150" b="1" i="0">
                <a:solidFill>
                  <a:srgbClr val="8A1626"/>
                </a:solidFill>
              </a:rPr>
              <a:t>ColumnHierarchyBenchmark: </a:t>
            </a:r>
            <a:r>
              <a:rPr sz="1150" b="0" i="0">
                <a:solidFill>
                  <a:srgbClr val="1A1A1A"/>
                </a:solidFill>
              </a:rPr>
              <a:t>10,000 trades, 700 limit letters: the trees build in 65–99 ms against 53–197 ms without them; the VaR of all 1,412 nodes takes about 30 ms.</a:t>
            </a:r>
          </a:p>
        </p:txBody>
      </p:sp>
      <p:sp>
        <p:nvSpPr>
          <p:cNvPr id="41" name="Rectangle 40"/>
          <p:cNvSpPr/>
          <p:nvPr/>
        </p:nvSpPr>
        <p:spPr>
          <a:xfrm>
            <a:off x="777240" y="5623560"/>
            <a:ext cx="10634472" cy="54864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Rectangle 41"/>
          <p:cNvSpPr/>
          <p:nvPr/>
        </p:nvSpPr>
        <p:spPr>
          <a:xfrm>
            <a:off x="777240" y="5623560"/>
            <a:ext cx="54864" cy="548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1033271" y="5623560"/>
            <a:ext cx="10268712" cy="548640"/>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A new tree is configuration; an upgrade never loses an edit or a date.</a:t>
            </a:r>
          </a:p>
        </p:txBody>
      </p:sp>
    </p:spTree>
  </p:cSld>
  <p:clrMapOvr>
    <a:masterClrMapping/>
  </p:clrMapOvr>
</p:sld>
</file>

<file path=ppt/theme/theme1.xml><?xml version="1.0" encoding="utf-8"?>
<a:theme xmlns:a="http://schemas.openxmlformats.org/drawingml/2006/main" name="Drishti Crimson">
  <a:themeElements>
    <a:clrScheme name="Drishti Crimson">
      <a:dk1>
        <a:srgbClr val="1A1A1A"/>
      </a:dk1>
      <a:lt1>
        <a:srgbClr val="FFFFFF"/>
      </a:lt1>
      <a:dk2>
        <a:srgbClr val="8A1626"/>
      </a:dk2>
      <a:lt2>
        <a:srgbClr val="F7F5F2"/>
      </a:lt2>
      <a:accent1>
        <a:srgbClr val="A51C30"/>
      </a:accent1>
      <a:accent2>
        <a:srgbClr val="6E1120"/>
      </a:accent2>
      <a:accent3>
        <a:srgbClr val="C4384B"/>
      </a:accent3>
      <a:accent4>
        <a:srgbClr val="293352"/>
      </a:accent4>
      <a:accent5>
        <a:srgbClr val="4A5058"/>
      </a:accent5>
      <a:accent6>
        <a:srgbClr val="E3DED7"/>
      </a:accent6>
      <a:hlink>
        <a:srgbClr val="A51C30"/>
      </a:hlink>
      <a:folHlink>
        <a:srgbClr val="6E1120"/>
      </a:folHlink>
    </a:clrScheme>
    <a:fontScheme name="Drishti Crims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Drishti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Drishti: design and evidence (release 2.9.5)</dc:title>
  <dc:subject>Drishti 2.9.5: the idea, the product, what 2.6.5 to 2.9.5 added, security, evidence and roadmap</dc:subject>
  <dc:creator>Ashutosh Sinha</dc:creator>
  <cp:lastModifiedBy>Ashutosh Sinha</cp:lastModifiedBy>
  <cp:revision>1</cp:revision>
  <dcterms:created xsi:type="dcterms:W3CDTF">2026-10-07T03:43:45Z</dcterms:created>
  <dcterms:modified xsi:type="dcterms:W3CDTF">2026-10-07T03:43:45Z</dcterms:modified>
</cp:coreProperties>
</file>
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media/image-17-2.jpg" ContentType="image/jpg"/>
  <Override PartName="/ppt/media/image-18-1.jpg" ContentType="image/jpg"/>
  <Override PartName="/ppt/media/image-19-1.jpg" ContentType="image/jpg"/>
  <Override PartName="/ppt/media/image-20-2.jpg" ContentType="image/jpg"/>
  <Override PartName="/ppt/media/image-21-1.jpg" ContentType="image/jpg"/>
  <Override PartName="/ppt/media/image-21-2.jpg" ContentType="image/jpg"/>
  <Override PartName="/ppt/media/image-22-1.jpg" ContentType="image/jpg"/>
  <Override PartName="/ppt/media/image-23-1.jpg" ContentType="image/jpg"/>
  <Override PartName="/ppt/media/image-26-2.jpg" ContentType="image/jpg"/>
  <Override PartName="/ppt/media/image-26-3.jpg" ContentType="image/jpg"/>
  <Override PartName="/ppt/media/image-26-4.jpg" ContentType="image/jpg"/>
  <Override PartName="/ppt/media/image-45-1.jpg" ContentType="image/jpg"/>
  <Override PartName="/ppt/media/image-46-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9" r:id="rId15"/>
    <p:sldId id="309" r:id="rId60"/>
    <p:sldId id="264" r:id="rId10"/>
    <p:sldId id="265" r:id="rId11"/>
    <p:sldId id="266" r:id="rId12"/>
    <p:sldId id="267" r:id="rId13"/>
    <p:sldId id="268" r:id="rId14"/>
    <p:sldId id="302" r:id="rId53"/>
    <p:sldId id="270" r:id="rId16"/>
    <p:sldId id="271" r:id="rId17"/>
    <p:sldId id="272" r:id="rId18"/>
    <p:sldId id="273" r:id="rId19"/>
    <p:sldId id="275" r:id="rId21"/>
    <p:sldId id="276" r:id="rId22"/>
    <p:sldId id="326" r:id="rId77"/>
    <p:sldId id="280" r:id="rId26"/>
    <p:sldId id="281" r:id="rId27"/>
    <p:sldId id="304" r:id="rId55"/>
    <p:sldId id="336" r:id="rId87"/>
    <p:sldId id="337" r:id="rId88"/>
    <p:sldId id="338" r:id="rId89"/>
    <p:sldId id="305" r:id="rId56"/>
    <p:sldId id="328" r:id="rId79"/>
    <p:sldId id="314" r:id="rId65"/>
    <p:sldId id="342" r:id="rId93"/>
    <p:sldId id="312" r:id="rId63"/>
    <p:sldId id="317" r:id="rId68"/>
    <p:sldId id="318" r:id="rId69"/>
    <p:sldId id="327" r:id="rId78"/>
    <p:sldId id="320" r:id="rId71"/>
    <p:sldId id="329" r:id="rId80"/>
    <p:sldId id="306" r:id="rId57"/>
    <p:sldId id="274" r:id="rId20"/>
    <p:sldId id="315" r:id="rId66"/>
    <p:sldId id="316" r:id="rId67"/>
    <p:sldId id="307" r:id="rId58"/>
    <p:sldId id="299" r:id="rId50"/>
    <p:sldId id="300" r:id="rId51"/>
    <p:sldId id="301" r:id="rId52"/>
    <p:sldId id="313" r:id="rId64"/>
    <p:sldId id="319" r:id="rId70"/>
    <p:sldId id="308" r:id="rId59"/>
    <p:sldId id="321" r:id="rId72"/>
    <p:sldId id="322" r:id="rId73"/>
    <p:sldId id="323" r:id="rId74"/>
    <p:sldId id="324" r:id="rId75"/>
    <p:sldId id="339" r:id="rId90"/>
    <p:sldId id="340" r:id="rId91"/>
    <p:sldId id="341" r:id="rId92"/>
    <p:sldId id="325" r:id="rId76"/>
    <p:sldId id="282" r:id="rId28"/>
    <p:sldId id="283" r:id="rId29"/>
    <p:sldId id="284" r:id="rId30"/>
    <p:sldId id="285" r:id="rId31"/>
    <p:sldId id="286" r:id="rId32"/>
    <p:sldId id="287" r:id="rId33"/>
    <p:sldId id="288" r:id="rId34"/>
    <p:sldId id="290" r:id="rId36"/>
    <p:sldId id="330" r:id="rId81"/>
    <p:sldId id="334" r:id="rId85"/>
    <p:sldId id="335" r:id="rId86"/>
    <p:sldId id="291" r:id="rId37"/>
    <p:sldId id="303" r:id="rId54"/>
    <p:sldId id="331" r:id="rId82"/>
    <p:sldId id="332" r:id="rId83"/>
    <p:sldId id="292" r:id="rId38"/>
    <p:sldId id="333" r:id="rId84"/>
    <p:sldId id="293" r:id="rId39"/>
    <p:sldId id="310" r:id="rId61"/>
    <p:sldId id="297" r:id="rId43"/>
    <p:sldId id="278" r:id="rId24"/>
    <p:sldId id="277" r:id="rId23"/>
    <p:sldId id="279" r:id="rId25"/>
    <p:sldId id="295" r:id="rId41"/>
    <p:sldId id="296" r:id="rId42"/>
    <p:sldId id="311" r:id="rId62"/>
    <p:sldId id="289" r:id="rId35"/>
    <p:sldId id="294" r:id="rId40"/>
    <p:sldId id="343" r:id="rId94"/>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2.xml"/><Relationship Id="rId30" Type="http://schemas.openxmlformats.org/officeDocument/2006/relationships/slide" Target="slides/slide33.xml"/><Relationship Id="rId31" Type="http://schemas.openxmlformats.org/officeDocument/2006/relationships/slide" Target="slides/slide34.xml"/><Relationship Id="rId32" Type="http://schemas.openxmlformats.org/officeDocument/2006/relationships/slide" Target="slides/slide35.xml"/><Relationship Id="rId33" Type="http://schemas.openxmlformats.org/officeDocument/2006/relationships/slide" Target="slides/slide36.xml"/><Relationship Id="rId34" Type="http://schemas.openxmlformats.org/officeDocument/2006/relationships/slide" Target="slides/slide37.xml"/><Relationship Id="rId35" Type="http://schemas.openxmlformats.org/officeDocument/2006/relationships/slide" Target="slides/slide38.xml"/><Relationship Id="rId36" Type="http://schemas.openxmlformats.org/officeDocument/2006/relationships/slide" Target="slides/slide39.xml"/><Relationship Id="rId37" Type="http://schemas.openxmlformats.org/officeDocument/2006/relationships/slide" Target="slides/slide40.xml"/><Relationship Id="rId38" Type="http://schemas.openxmlformats.org/officeDocument/2006/relationships/slide" Target="slides/slide42.xml"/><Relationship Id="rId39" Type="http://schemas.openxmlformats.org/officeDocument/2006/relationships/slide" Target="slides/slide43.xml"/><Relationship Id="rId40" Type="http://schemas.openxmlformats.org/officeDocument/2006/relationships/slide" Target="slides/slide44.xml"/><Relationship Id="rId41" Type="http://schemas.openxmlformats.org/officeDocument/2006/relationships/slide" Target="slides/slide45.xml"/><Relationship Id="rId42" Type="http://schemas.openxmlformats.org/officeDocument/2006/relationships/slide" Target="slides/slide46.xml"/><Relationship Id="rId43" Type="http://schemas.openxmlformats.org/officeDocument/2006/relationships/slide" Target="slides/slide47.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openxmlformats.org/officeDocument/2006/relationships/slide" Target="slides/slide20.xml"/><Relationship Id="rId51" Type="http://schemas.openxmlformats.org/officeDocument/2006/relationships/slide" Target="slides/slide21.xml"/><Relationship Id="rId52" Type="http://schemas.openxmlformats.org/officeDocument/2006/relationships/slide" Target="slides/slide22.xml"/><Relationship Id="rId53" Type="http://schemas.openxmlformats.org/officeDocument/2006/relationships/slide" Target="slides/slide29.xml"/><Relationship Id="rId54" Type="http://schemas.openxmlformats.org/officeDocument/2006/relationships/slide" Target="slides/slide41.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Milliseconds, lower is better</a:t>
            </a:r>
          </a:p>
        </c:rich>
      </c:tx>
      <c:layout/>
      <c:overlay val="0"/>
    </c:title>
    <c:autoTitleDeleted val="0"/>
    <c:plotArea>
      <c:layout/>
      <c:barChart>
        <c:barDir val="bar"/>
        <c:grouping val="clustered"/>
        <c:varyColors val="0"/>
        <c:ser>
          <c:idx val="0"/>
          <c:order val="0"/>
          <c:tx>
            <c:strRef>
              <c:f>Sheet1!$B$1</c:f>
              <c:strCache>
                <c:ptCount val="1"/>
                <c:pt idx="0">
                  <c:v>Milliseconds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strRef>
              <c:f>Sheet1!$A$2:$A$8</c:f>
              <c:strCache>
                <c:ptCount val="7"/>
                <c:pt idx="0">
                  <c:v>Warm view, p99 (HTTP)</c:v>
                </c:pt>
                <c:pt idx="1">
                  <c:v>Live tick to frame, p99</c:v>
                </c:pt>
                <c:pt idx="2">
                  <c:v>History: 30 days, cold</c:v>
                </c:pt>
                <c:pt idx="3">
                  <c:v>Type-ahead at 1M/day</c:v>
                </c:pt>
                <c:pt idx="4">
                  <c:v>Open a cached trade at 1M/day</c:v>
                </c:pt>
                <c:pt idx="5">
                  <c:v>Search all 1M trades</c:v>
                </c:pt>
                <c:pt idx="6">
                  <c:v>P&amp;L of every desk, 1M trades</c:v>
                </c:pt>
              </c:strCache>
            </c:strRef>
          </c:cat>
          <c:val>
            <c:numRef>
              <c:f>Sheet1!$B$2:$B$8</c:f>
              <c:numCache>
                <c:formatCode>General</c:formatCode>
                <c:ptCount val="7"/>
                <c:pt idx="0">
                  <c:v>3.0</c:v>
                </c:pt>
                <c:pt idx="1">
                  <c:v>11.2</c:v>
                </c:pt>
                <c:pt idx="2">
                  <c:v>13.0</c:v>
                </c:pt>
                <c:pt idx="3">
                  <c:v>29.0</c:v>
                </c:pt>
                <c:pt idx="4">
                  <c:v>48.0</c:v>
                </c:pt>
                <c:pt idx="5">
                  <c:v>134.0</c:v>
                </c:pt>
                <c:pt idx="6">
                  <c:v>327.0</c:v>
                </c:pt>
              </c:numCache>
            </c:numRef>
          </c:val>
        </c:ser>
        <c:dLbls>
          <c:numFmt formatCode="General"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Lines tracked in git</a:t>
            </a:r>
          </a:p>
        </c:rich>
      </c:tx>
      <c:layout/>
      <c:overlay val="0"/>
    </c:title>
    <c:autoTitleDeleted val="0"/>
    <c:plotArea>
      <c:layout/>
      <c:barChart>
        <c:barDir val="bar"/>
        <c:grouping val="clustered"/>
        <c:varyColors val="0"/>
        <c:ser>
          <c:idx val="0"/>
          <c:order val="0"/>
          <c:tx>
            <c:strRef>
              <c:f>Sheet1!$B$1</c:f>
              <c:strCache>
                <c:ptCount val="1"/>
                <c:pt idx="0">
                  <c:v>Lines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strRef>
              <c:f>Sheet1!$A$2:$A$8</c:f>
              <c:strCache>
                <c:ptCount val="7"/>
                <c:pt idx="0">
                  <c:v>Java (main)</c:v>
                </c:pt>
                <c:pt idx="1">
                  <c:v>Java (tests)</c:v>
                </c:pt>
                <c:pt idx="2">
                  <c:v>Python</c:v>
                </c:pt>
                <c:pt idx="3">
                  <c:v>Markdown docs</c:v>
                </c:pt>
                <c:pt idx="4">
                  <c:v>YAML</c:v>
                </c:pt>
                <c:pt idx="5">
                  <c:v>JavaScript</c:v>
                </c:pt>
                <c:pt idx="6">
                  <c:v>CSS + HTML</c:v>
                </c:pt>
              </c:strCache>
            </c:strRef>
          </c:cat>
          <c:val>
            <c:numRef>
              <c:f>Sheet1!$B$2:$B$8</c:f>
              <c:numCache>
                <c:formatCode>General</c:formatCode>
                <c:ptCount val="7"/>
                <c:pt idx="0">
                  <c:v>313640</c:v>
                </c:pt>
                <c:pt idx="1">
                  <c:v>123512</c:v>
                </c:pt>
                <c:pt idx="2">
                  <c:v>191128</c:v>
                </c:pt>
                <c:pt idx="3">
                  <c:v>201280</c:v>
                </c:pt>
                <c:pt idx="4">
                  <c:v>111940</c:v>
                </c:pt>
                <c:pt idx="5">
                  <c:v>52653</c:v>
                </c:pt>
                <c:pt idx="6">
                  <c:v>20918</c:v>
                </c:pt>
              </c:numCache>
            </c:numRef>
          </c:val>
        </c:ser>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Before (library engine)</c:v>
                </c:pt>
              </c:strCache>
            </c:strRef>
          </c:tx>
          <c:spPr>
            <a:solidFill>
              <a:srgbClr val="B9AFA5"/>
            </a:solidFill>
          </c:spPr>
          <c:cat>
            <c:strRef>
              <c:f>Sheet1!$A$2:$A$3</c:f>
              <c:strCache>
                <c:ptCount val="2"/>
                <c:pt idx="0">
                  <c:v>Connector start</c:v>
                </c:pt>
                <c:pt idx="1">
                  <c:v>A trade on a past day</c:v>
                </c:pt>
              </c:strCache>
            </c:strRef>
          </c:cat>
          <c:val>
            <c:numRef>
              <c:f>Sheet1!$B$2:$B$3</c:f>
              <c:numCache>
                <c:formatCode>General</c:formatCode>
                <c:ptCount val="2"/>
                <c:pt idx="0">
                  <c:v>1800</c:v>
                </c:pt>
                <c:pt idx="1">
                  <c:v>353</c:v>
                </c:pt>
              </c:numCache>
            </c:numRef>
          </c:val>
        </c:ser>
        <c:ser>
          <c:idx val="1"/>
          <c:order val="1"/>
          <c:tx>
            <c:strRef>
              <c:f>Sheet1!$C$1</c:f>
              <c:strCache>
                <c:ptCount val="1"/>
                <c:pt idx="0">
                  <c:v>drishti-iceberg</c:v>
                </c:pt>
              </c:strCache>
            </c:strRef>
          </c:tx>
          <c:spPr>
            <a:solidFill>
              <a:srgbClr val="8A1626"/>
            </a:solidFill>
          </c:spPr>
          <c:cat>
            <c:strRef>
              <c:f>Sheet1!$A$2:$A$3</c:f>
              <c:strCache>
                <c:ptCount val="2"/>
                <c:pt idx="0">
                  <c:v>Connector start</c:v>
                </c:pt>
                <c:pt idx="1">
                  <c:v>A trade on a past day</c:v>
                </c:pt>
              </c:strCache>
            </c:strRef>
          </c:cat>
          <c:val>
            <c:numRef>
              <c:f>Sheet1!$C$2:$C$3</c:f>
              <c:numCache>
                <c:formatCode>General</c:formatCode>
                <c:ptCount val="2"/>
                <c:pt idx="0">
                  <c:v>637</c:v>
                </c:pt>
                <c:pt idx="1">
                  <c:v>94</c:v>
                </c:pt>
              </c:numCache>
            </c:numRef>
          </c:val>
        </c:ser>
        <c:dLbls>
          <c:numFmt formatCode="#,##0&quot; ms&quot;"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55"/>
        <c:overlap val="-10"/>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2300.0"/>
          <c:min val="0.0"/>
        </c:scaling>
        <c:delete/>
        <c:axPos val="b"/>
        <c:majorTickMark val="out"/>
        <c:minorTickMark val="none"/>
        <c:tickLblPos val="nextTo"/>
        <c:crossAx val="-2068027336"/>
        <c:crosses val="autoZero"/>
      </c:valAx>
    </c:plotArea>
    <c:legend>
      <c:legendPos val="b"/>
      <c:overlay val="0"/>
      <c:txPr>
        <a:bodyPr/>
        <a:lstStyle/>
        <a:p>
          <a:pPr>
            <a:defRPr sz="1100">
              <a:solidFill>
                <a:srgbClr val="4A5058"/>
              </a:solidFill>
            </a:defRPr>
          </a:pPr>
        </a:p>
      </c:txPr>
    </c:legend>
    <c:dispBlanksAs val="gap"/>
  </c:chart>
  <c:txPr>
    <a:bodyPr/>
    <a:lstStyle/>
    <a:p>
      <a:pPr>
        <a:defRPr sz="1100">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Wikidata members (before)</c:v>
                </c:pt>
              </c:strCache>
            </c:strRef>
          </c:tx>
          <c:spPr>
            <a:solidFill>
              <a:srgbClr val="B9AFA5"/>
            </a:solidFill>
          </c:spPr>
          <c:cat>
            <c:strRef>
              <c:f>Sheet1!$A$2:$A$3</c:f>
              <c:strCache>
                <c:ptCount val="2"/>
                <c:pt idx="0">
                  <c:v>DIA vs the Dow</c:v>
                </c:pt>
                <c:pt idx="1">
                  <c:v>QQQ vs Nasdaq-100</c:v>
                </c:pt>
              </c:strCache>
            </c:strRef>
          </c:cat>
          <c:val>
            <c:numRef>
              <c:f>Sheet1!$B$2:$B$3</c:f>
              <c:numCache>
                <c:formatCode>General</c:formatCode>
                <c:ptCount val="2"/>
                <c:pt idx="0">
                  <c:v>57.6</c:v>
                </c:pt>
                <c:pt idx="1">
                  <c:v>26.75</c:v>
                </c:pt>
              </c:numCache>
            </c:numRef>
          </c:val>
        </c:ser>
        <c:ser>
          <c:idx val="1"/>
          <c:order val="1"/>
          <c:tx>
            <c:strRef>
              <c:f>Sheet1!$C$1</c:f>
              <c:strCache>
                <c:ptCount val="1"/>
                <c:pt idx="0">
                  <c:v>Members from the ETFs' SEC holdings</c:v>
                </c:pt>
              </c:strCache>
            </c:strRef>
          </c:tx>
          <c:spPr>
            <a:solidFill>
              <a:srgbClr val="8A1626"/>
            </a:solidFill>
          </c:spPr>
          <c:cat>
            <c:strRef>
              <c:f>Sheet1!$A$2:$A$3</c:f>
              <c:strCache>
                <c:ptCount val="2"/>
                <c:pt idx="0">
                  <c:v>DIA vs the Dow</c:v>
                </c:pt>
                <c:pt idx="1">
                  <c:v>QQQ vs Nasdaq-100</c:v>
                </c:pt>
              </c:strCache>
            </c:strRef>
          </c:cat>
          <c:val>
            <c:numRef>
              <c:f>Sheet1!$C$2:$C$3</c:f>
              <c:numCache>
                <c:formatCode>General</c:formatCode>
                <c:ptCount val="2"/>
                <c:pt idx="0">
                  <c:v>1.8</c:v>
                </c:pt>
                <c:pt idx="1">
                  <c:v>11.2</c:v>
                </c:pt>
              </c:numCache>
            </c:numRef>
          </c:val>
        </c:ser>
        <c:dLbls>
          <c:numFmt formatCode="0.0#&quot;%&quot;"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55"/>
        <c:overlap val="-10"/>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72.0"/>
          <c:min val="0.0"/>
        </c:scaling>
        <c:delete/>
        <c:axPos val="b"/>
        <c:majorTickMark val="out"/>
        <c:minorTickMark val="none"/>
        <c:tickLblPos val="nextTo"/>
        <c:crossAx val="-2068027336"/>
        <c:crosses val="autoZero"/>
      </c:valAx>
    </c:plotArea>
    <c:legend>
      <c:legendPos val="b"/>
      <c:overlay val="0"/>
      <c:txPr>
        <a:bodyPr/>
        <a:lstStyle/>
        <a:p>
          <a:pPr>
            <a:defRPr sz="1100">
              <a:solidFill>
                <a:srgbClr val="4A5058"/>
              </a:solidFill>
            </a:defRPr>
          </a:pPr>
        </a:p>
      </c:txPr>
    </c:legend>
    <c:dispBlanksAs val="gap"/>
  </c:chart>
  <c:txPr>
    <a:bodyPr/>
    <a:lstStyle/>
    <a:p>
      <a:pPr>
        <a:defRPr sz="1100">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Commands</c:v>
                </c:pt>
              </c:strCache>
            </c:strRef>
          </c:tx>
          <c:spPr>
            <a:solidFill>
              <a:srgbClr val="8A1626"/>
            </a:solidFill>
          </c:spPr>
          <c:cat>
            <c:strRef>
              <c:f>Sheet1!$A$2:$A$5</c:f>
              <c:strCache>
                <c:ptCount val="4"/>
                <c:pt idx="0">
                  <c:v>Fundamental</c:v>
                </c:pt>
                <c:pt idx="1">
                  <c:v>Engine input</c:v>
                </c:pt>
                <c:pt idx="2">
                  <c:v>Drishti's own</c:v>
                </c:pt>
                <c:pt idx="3">
                  <c:v>Computed</c:v>
                </c:pt>
              </c:strCache>
            </c:strRef>
          </c:cat>
          <c:val>
            <c:numRef>
              <c:f>Sheet1!$B$2:$B$5</c:f>
              <c:numCache>
                <c:formatCode>General</c:formatCode>
                <c:ptCount val="4"/>
                <c:pt idx="0">
                  <c:v>73</c:v>
                </c:pt>
                <c:pt idx="1">
                  <c:v>11</c:v>
                </c:pt>
                <c:pt idx="2">
                  <c:v>1</c:v>
                </c:pt>
                <c:pt idx="3">
                  <c:v>21</c:v>
                </c:pt>
              </c:numCache>
            </c:numRef>
          </c:val>
        </c:ser>
        <c:dLbls>
          <c:numFmt formatCode="0"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88.0"/>
          <c:min val="0.0"/>
        </c:scaling>
        <c:delete/>
        <c:axPos val="b"/>
        <c:majorTickMark val="out"/>
        <c:minorTickMark val="none"/>
        <c:tickLblPos val="nextTo"/>
        <c:crossAx val="-2068027336"/>
        <c:crosses val="autoZero"/>
      </c:valAx>
    </c:plotArea>
    <c:dispBlanksAs val="gap"/>
  </c:chart>
  <c:txPr>
    <a:bodyPr/>
    <a:lstStyle/>
    <a:p>
      <a:pPr>
        <a:defRPr sz="1100">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EUR m</c:v>
                </c:pt>
              </c:strCache>
            </c:strRef>
          </c:tx>
          <c:spPr>
            <a:solidFill>
              <a:srgbClr val="8A1626"/>
            </a:solidFill>
          </c:spPr>
          <c:cat>
            <c:strRef>
              <c:f>Sheet1!$A$2:$A$3</c:f>
              <c:strCache>
                <c:ptCount val="2"/>
                <c:pt idx="0">
                  <c:v>Scenario FX</c:v>
                </c:pt>
                <c:pt idx="1">
                  <c:v>USD × today</c:v>
                </c:pt>
              </c:strCache>
            </c:strRef>
          </c:cat>
          <c:val>
            <c:numRef>
              <c:f>Sheet1!$B$2:$B$3</c:f>
              <c:numCache>
                <c:formatCode>General</c:formatCode>
                <c:ptCount val="2"/>
                <c:pt idx="0">
                  <c:v>111.84</c:v>
                </c:pt>
                <c:pt idx="1">
                  <c:v>95.4</c:v>
                </c:pt>
              </c:numCache>
            </c:numRef>
          </c:val>
        </c:ser>
        <c:dLbls>
          <c:numFmt formatCode="0.0"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050">
                <a:solidFill>
                  <a:srgbClr val="4A5058"/>
                </a:solidFill>
              </a:defRPr>
            </a:pPr>
          </a:p>
        </c:txPr>
        <c:crossAx val="-2113994440"/>
        <c:crosses val="autoZero"/>
        <c:auto val="1"/>
        <c:lblAlgn val="ctr"/>
        <c:lblOffset val="100"/>
        <c:noMultiLvlLbl val="0"/>
      </c:catAx>
      <c:valAx>
        <c:axId val="-2113994440"/>
        <c:scaling>
          <c:max val="150.0"/>
          <c:min val="0.0"/>
        </c:scaling>
        <c:delete/>
        <c:axPos val="b"/>
        <c:majorTickMark val="out"/>
        <c:minorTickMark val="none"/>
        <c:tickLblPos val="nextTo"/>
        <c:crossAx val="-2068027336"/>
        <c:crosses val="autoZero"/>
      </c:valAx>
    </c:plotArea>
    <c:dispBlanksAs val="gap"/>
  </c:chart>
  <c:txPr>
    <a:bodyPr/>
    <a:lstStyle/>
    <a:p>
      <a:pPr>
        <a:defRPr sz="1050">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Type-ahead TRD CLY-400</c:v>
                </c:pt>
              </c:strCache>
            </c:strRef>
          </c:tx>
          <c:spPr>
            <a:solidFill>
              <a:srgbClr val="8A1626"/>
            </a:solidFill>
          </c:spPr>
          <c:cat>
            <c:strRef>
              <c:f>Sheet1!$A$2:$A$9</c:f>
              <c:strCache>
                <c:ptCount val="8"/>
                <c:pt idx="0">
                  <c:v>Delta Lake</c:v>
                </c:pt>
                <c:pt idx="1">
                  <c:v>PostgreSQL</c:v>
                </c:pt>
                <c:pt idx="2">
                  <c:v>DuckDB</c:v>
                </c:pt>
                <c:pt idx="3">
                  <c:v>JSON-lines files</c:v>
                </c:pt>
                <c:pt idx="4">
                  <c:v>MongoDB</c:v>
                </c:pt>
                <c:pt idx="5">
                  <c:v>Redis</c:v>
                </c:pt>
                <c:pt idx="6">
                  <c:v>Aerospike</c:v>
                </c:pt>
                <c:pt idx="7">
                  <c:v>Apache Iceberg</c:v>
                </c:pt>
              </c:strCache>
            </c:strRef>
          </c:cat>
          <c:val>
            <c:numRef>
              <c:f>Sheet1!$B$2:$B$9</c:f>
              <c:numCache>
                <c:formatCode>General</c:formatCode>
                <c:ptCount val="8"/>
                <c:pt idx="0">
                  <c:v>6.3</c:v>
                </c:pt>
                <c:pt idx="1">
                  <c:v>9.0</c:v>
                </c:pt>
                <c:pt idx="2">
                  <c:v>8.0</c:v>
                </c:pt>
                <c:pt idx="3">
                  <c:v>7.8</c:v>
                </c:pt>
                <c:pt idx="4">
                  <c:v>6.9</c:v>
                </c:pt>
                <c:pt idx="5">
                  <c:v>10.4</c:v>
                </c:pt>
                <c:pt idx="6">
                  <c:v>8.9</c:v>
                </c:pt>
                <c:pt idx="7">
                  <c:v>7.3</c:v>
                </c:pt>
              </c:numCache>
            </c:numRef>
          </c:val>
        </c:ser>
        <c:ser>
          <c:idx val="1"/>
          <c:order val="1"/>
          <c:tx>
            <c:strRef>
              <c:f>Sheet1!$C$1</c:f>
              <c:strCache>
                <c:ptCount val="1"/>
                <c:pt idx="0">
                  <c:v>Open a trade again</c:v>
                </c:pt>
              </c:strCache>
            </c:strRef>
          </c:tx>
          <c:spPr>
            <a:solidFill>
              <a:srgbClr val="C4384B"/>
            </a:solidFill>
          </c:spPr>
          <c:cat>
            <c:strRef>
              <c:f>Sheet1!$A$2:$A$9</c:f>
              <c:strCache>
                <c:ptCount val="8"/>
                <c:pt idx="0">
                  <c:v>Delta Lake</c:v>
                </c:pt>
                <c:pt idx="1">
                  <c:v>PostgreSQL</c:v>
                </c:pt>
                <c:pt idx="2">
                  <c:v>DuckDB</c:v>
                </c:pt>
                <c:pt idx="3">
                  <c:v>JSON-lines files</c:v>
                </c:pt>
                <c:pt idx="4">
                  <c:v>MongoDB</c:v>
                </c:pt>
                <c:pt idx="5">
                  <c:v>Redis</c:v>
                </c:pt>
                <c:pt idx="6">
                  <c:v>Aerospike</c:v>
                </c:pt>
                <c:pt idx="7">
                  <c:v>Apache Iceberg</c:v>
                </c:pt>
              </c:strCache>
            </c:strRef>
          </c:cat>
          <c:val>
            <c:numRef>
              <c:f>Sheet1!$C$2:$C$9</c:f>
              <c:numCache>
                <c:formatCode>General</c:formatCode>
                <c:ptCount val="8"/>
                <c:pt idx="0">
                  <c:v>2.6</c:v>
                </c:pt>
                <c:pt idx="1">
                  <c:v>4.8</c:v>
                </c:pt>
                <c:pt idx="2">
                  <c:v>2.8</c:v>
                </c:pt>
                <c:pt idx="3">
                  <c:v>4.0</c:v>
                </c:pt>
                <c:pt idx="4">
                  <c:v>4.5</c:v>
                </c:pt>
                <c:pt idx="5">
                  <c:v>5.8</c:v>
                </c:pt>
                <c:pt idx="6">
                  <c:v>4.8</c:v>
                </c:pt>
                <c:pt idx="7">
                  <c:v>4.3</c:v>
                </c:pt>
              </c:numCache>
            </c:numRef>
          </c:val>
        </c:ser>
        <c:ser>
          <c:idx val="2"/>
          <c:order val="2"/>
          <c:tx>
            <c:strRef>
              <c:f>Sheet1!$D$1</c:f>
              <c:strCache>
                <c:ptCount val="1"/>
                <c:pt idx="0">
                  <c:v>TRD book=BOOK-RATES-3</c:v>
                </c:pt>
              </c:strCache>
            </c:strRef>
          </c:tx>
          <c:spPr>
            <a:solidFill>
              <a:srgbClr val="B9AFA5"/>
            </a:solidFill>
          </c:spPr>
          <c:cat>
            <c:strRef>
              <c:f>Sheet1!$A$2:$A$9</c:f>
              <c:strCache>
                <c:ptCount val="8"/>
                <c:pt idx="0">
                  <c:v>Delta Lake</c:v>
                </c:pt>
                <c:pt idx="1">
                  <c:v>PostgreSQL</c:v>
                </c:pt>
                <c:pt idx="2">
                  <c:v>DuckDB</c:v>
                </c:pt>
                <c:pt idx="3">
                  <c:v>JSON-lines files</c:v>
                </c:pt>
                <c:pt idx="4">
                  <c:v>MongoDB</c:v>
                </c:pt>
                <c:pt idx="5">
                  <c:v>Redis</c:v>
                </c:pt>
                <c:pt idx="6">
                  <c:v>Aerospike</c:v>
                </c:pt>
                <c:pt idx="7">
                  <c:v>Apache Iceberg</c:v>
                </c:pt>
              </c:strCache>
            </c:strRef>
          </c:cat>
          <c:val>
            <c:numRef>
              <c:f>Sheet1!$D$2:$D$9</c:f>
              <c:numCache>
                <c:formatCode>General</c:formatCode>
                <c:ptCount val="8"/>
                <c:pt idx="0">
                  <c:v>7.2</c:v>
                </c:pt>
                <c:pt idx="1">
                  <c:v>6.9</c:v>
                </c:pt>
                <c:pt idx="2">
                  <c:v>8.0</c:v>
                </c:pt>
                <c:pt idx="3">
                  <c:v>7.7</c:v>
                </c:pt>
                <c:pt idx="4">
                  <c:v>9.4</c:v>
                </c:pt>
                <c:pt idx="5">
                  <c:v>8.4</c:v>
                </c:pt>
                <c:pt idx="6">
                  <c:v>8.1</c:v>
                </c:pt>
                <c:pt idx="7">
                  <c:v>6.6</c:v>
                </c:pt>
              </c:numCache>
            </c:numRef>
          </c:val>
        </c:ser>
        <c:dLbls>
          <c:numFmt formatCode="0.0" sourceLinked="0"/>
          <c:txPr>
            <a:bodyPr/>
            <a:lstStyle/>
            <a:p>
              <a:pPr>
                <a:defRPr sz="900">
                  <a:solidFill>
                    <a:srgbClr val="4A5058"/>
                  </a:solidFill>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E3DED7"/>
            </a:solidFill>
          </a:ln>
        </c:spPr>
        <c:txPr>
          <a:bodyPr/>
          <a:lstStyle/>
          <a:p>
            <a:pPr>
              <a:defRPr sz="1000">
                <a:solidFill>
                  <a:srgbClr val="4A5058"/>
                </a:solidFill>
              </a:defRPr>
            </a:pPr>
          </a:p>
        </c:txPr>
        <c:crossAx val="-2113994440"/>
        <c:crosses val="autoZero"/>
        <c:auto val="1"/>
        <c:lblAlgn val="ctr"/>
        <c:lblOffset val="100"/>
        <c:noMultiLvlLbl val="0"/>
      </c:catAx>
      <c:valAx>
        <c:axId val="-2113994440"/>
        <c:scaling>
          <c:max val="12.0"/>
        </c:scaling>
        <c:delete val="0"/>
        <c:axPos val="l"/>
        <c:majorGridlines>
          <c:spPr>
            <a:ln>
              <a:solidFill>
                <a:srgbClr val="E3DED7"/>
              </a:solidFill>
            </a:ln>
          </c:spPr>
        </c:majorGridlines>
        <c:majorTickMark val="out"/>
        <c:minorTickMark val="none"/>
        <c:tickLblPos val="nextTo"/>
        <c:spPr>
          <a:ln>
            <a:noFill/>
          </a:ln>
        </c:spPr>
        <c:txPr>
          <a:bodyPr/>
          <a:lstStyle/>
          <a:p>
            <a:pPr>
              <a:defRPr sz="1000">
                <a:solidFill>
                  <a:srgbClr val="4A5058"/>
                </a:solidFill>
              </a:defRPr>
            </a:pPr>
          </a:p>
        </c:txPr>
        <c:crossAx val="-2068027336"/>
        <c:crosses val="autoZero"/>
      </c:valAx>
    </c:plotArea>
    <c:legend>
      <c:legendPos val="t"/>
      <c:overlay val="0"/>
      <c:txPr>
        <a:bodyPr/>
        <a:lstStyle/>
        <a:p>
          <a:pPr>
            <a:defRPr sz="1100">
              <a:solidFill>
                <a:srgbClr val="4A5058"/>
              </a:solidFill>
            </a:defRPr>
          </a:pPr>
        </a:p>
      </c:txPr>
    </c:legend>
    <c:dispBlanksAs val="gap"/>
  </c:chart>
  <c:txPr>
    <a:bodyPr/>
    <a:lstStyle/>
    <a:p>
      <a:pPr>
        <a:defRPr sz="11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README.md (the name, 'sight', the tagline 'Any data. Any domain. One grammar.'); the console's landing page (drishti-console/config/application.yaml: the headline 'See what your data hasn't told you yet.' over the tagline); the logo: docs/requirements/drishti-mark.svg and drishti-logo.png; CHANGELOG.md and RELEASE_NOTES.md (the release history); docs/architecture/IMPLEMENTATION_PLAN.md (what is built and what is not); pom.xml (Java 21 bytecode, enforcer).</a:t>
            </a:r>
          </a:p>
          <a:p/>
          <a:p>
            <a:r>
              <a:t>Talk track: Drishti is Sanskrit for sight. This deck presents the whole product by its features, chapter by chapter: why (the idea), how it works (the design, the product, editions, data and lakes, screens, BI, risk, security), the evidence, operating it, and where it is going; an appendix holds reference tables, then the related documents. It describes the design as it stands; the release history is in RELEASE_NOTES.md. Built things carry no status label; only what is not built does (PLANNED, DESIGNED, PARKED, NOT RUN). Every number in the deck is measured, counted from the repository, or quoted from the CHANGELOG and the guides, with the source in these notes.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README.md; counts from git ls-tree of HEAD on develop, 30 October 2026 (11 pack.yaml files under config/packs, 219 *.sutra.yaml under config/packs, 19 plugins/*/pom.xml); docs/guides/COMMAND_CATALOG.md ('the 106 mnemonics the packs define', a contract each); docs/architecture/EDITIONS.md (Drishti Risk, World and Market); docs/admin/PERFORMANCE.md (35.7 million trades, 50 users); docs/guides/VAR_GUIDE.md and docs/architecture/VAR_SHARDING.md (hierarchies by columns, sharding across Drishti*net, Iceberg equal to Delta); docs/architecture/IMPLEMENTATION_PLAN.md (Arrow where it pays: built, Arrow for the VaR contribution tables, JSON where measured faster; the client-side renderer, stressed and 10-day VaR: not built; the computed-measures roadmap: counterparty risk, balance sheet and regulatory, then AI and generated UI, parked).</a:t>
            </a:r>
          </a:p>
          <a:p/>
          <a:p>
            <a:r>
              <a:t>Talk track: if you remember one slide, make it this one. Drishti is one terminal for any record, with BI on the same data and a risk engine: VaR and exposure are computed on demand for any set of trades and never stored; every command has a data contract; one setting turns the product into a focused edition (Drishti Risk, World or Market); VaR takes scenario PVs or P&amp;L in any currency, in any input contract, intraday from files and Kafka, by any hierarchy built from the trades' columns (the limit letters), on Delta or Iceberg alike, on one server or sharded across several.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Describe the view once, in a grammar. Let the data's shape fill the rest.</a:t>
            </a:r>
          </a:p>
          <a:p/>
          <a:p>
            <a:r>
              <a:t>Source: drishti-console/web/templates/landing.html ('A screen is a paragraph, not a project'); ARCHITECTURE.md §1.</a:t>
            </a:r>
          </a:p>
          <a:p/>
          <a:p>
            <a:r>
              <a:t>Talk track: Before the product, the idea: screens as data, not code.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first line; ARCHITECTURE.md §1 and §1.1 goals; landing.html.
Talk track: Define the words once. One entity, one dense screen, live, linked and explained. Read-only by design: trade capture and pricing are non-goals.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'Problem and intent'; drishti-console/config/competitive.yaml (rows any-entity, no-coded-screens, inference).
Talk track: These are the problem statements from the architecture and the competitive analysis in the repository, not invented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('A screen is not code'); HOW_IT_FITS.md §1; competitive.yaml.
Talk track: Top row is the world today: each product type waits for a developer. Bottom row is Drishti: a Sutra is a paragraph of YAML, and inference covers what nobody has described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§1.1 Goals G1–G6; README 'Contributing rules'.
Talk track: These six are the acceptance test for every feature. Keyboard first is literal: mnemonic, id, GO, as on a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drishti-console/config/competitive.yaml (as of September 2026; categories, not vendors), served at /about/competitive.
Talk track: Four families put entities on a screen. The pattern on the last line is the whole argument for Drishti.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README.md; RACHANA_REFERENCE.md; PANELS.md ('every panel is one of twenty-two kinds'); INFERENCE.md; ADR-004; LIVE.md; config/ui-kit/ (reusable fragments such as row-picker@1 and field-list@1, theme tokens and brand); counts from git ls-tree of develop on 30 October 2026: 11 packs (compute-demo, core, counterparty-risk, funds, gleif, market-data, market-risk, news-and-markets, trading, us-equities, world-economy), 219 *.sutra.yaml files.</a:t>
            </a:r>
          </a:p>
          <a:p/>
          <a:p>
            <a:r>
              <a:t>Talk track: everything else in the product is built from these eight words. With the UI kit a Sutra's panels are mostly fragments with a docstring, each proven to draw the same as before.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README.md 'How it is built'; pom.xml modules (21 drishti-* modules on develop, among them drishti-compute for the VaR and exposure engines, drishti-net, drishti-deltalake, drishti-iceberg, drishti-lakeload); ARCHITECTURE.md §2, §13 and §13a; NET.md (gossip on its own port, HTTP/2 between servers); the public-data packs' guides (SEC EDGAR, GLEIF, N-PORT); COMMAND_CATALOG.md (Admin → Commands); CHANGELOG.md (CSV input deprecated, drishti.py convert); tools/drishti.py --help (22 groups).</a:t>
            </a:r>
          </a:p>
          <a:p/>
          <a:p>
            <a:r>
              <a:t>Talk track: modules depend one way only, and an architecture test enforces it (ArchitectureRulesTest, 10 rules). The plugin interface is Spring-free so connectors stay small. The compute module holds the risk engines: VaR and exposure read vectors and paths from the lake and answer any scope in milliseconds.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landing.html (pipeline stages); HOW_IT_FITS.md §1; docs/admin/PERFORMANCE.md (warm view p99 3.0 ms over HTTP, gate p99 &lt; 50 ms).
Talk track: Read left to right. The layout is cached by the shape's fingerprint, so a warm view costs well under a millisecond of server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config/packs/trading/sutras/murex/irs-fixfloat.v1.sutra.yaml on develop (60 lines, with its doc: block; panels trading/deal-ticket@1, trading/legs@1, trading/flow-schedule@1, trading/events@1, trading/payments@1, data-provenance@1, risk-links@1, linked-entities@1); git grep: 132 files under config/packs name deal-ticket@1; SUTRA_NEXT.md and SUTRA_DEVELOPER_GUIDE.md (fragments and docstrings); RACHANA_REFERENCE.md; ADR-013.</a:t>
            </a:r>
          </a:p>
          <a:p/>
          <a:p>
            <a:r>
              <a:t>Talk track: this is the real file, trimmed. When it applies, what the title says, the strip and the panels, which are now fragments: the pack's own (trading/deal-ticket@1) and the UI kit's (data-provenance@1, risk-links@1, which links the trade to its P&amp;L vector, VaR and exposure). Everything it does not mention, inference lays out.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docs/architecture/LIVE.md (live path); docs/admin/PERFORMANCE.md (tick to frame p50 2.4 ms, p99 11.2 ms, gate 40 ms).
Talk track: A source change fans out through one topic per entity; each open view rebuilds with its cached layout, and only the difference is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competitive.yaml; PANELS.md; README.
Talk track: Five benefits, each tied to something built and shown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Built, measured and documented — every screen here is a real capture.</a:t>
            </a:r>
          </a:p>
          <a:p/>
          <a:p>
            <a:r>
              <a:t>Source: RELEASE_NOTES.md; CHANGELOG.md; USER_GUIDE.md 'The pages at a glance'.</a:t>
            </a:r>
          </a:p>
          <a:p/>
          <a:p>
            <a:r>
              <a:t>Talk track: the terminal itself: the view, how each page explains itself, search, collaboration, the knowledge pages, embedding and phones. Several servers working as one are in the design chapter; data, screens, BI and risk each have a chapter of their own.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counts from git ls-tree of develop, 30 October 2026 (11 packs, 219 Sutra files under config/packs, 19 plugins/*/pom.xml); docs/guides/COMMAND_CATALOG.md (generated: 'the 11 packs' codes, and the 106 mnemonics the packs define'); PANELS.md (22 kinds); USER_GUIDE.md.</a:t>
            </a:r>
          </a:p>
          <a:p/>
          <a:p>
            <a:r>
              <a:t>Talk track: the four tiles are counted, not estimated. The fourth is the command count, because every command is a documented contract.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docs/tutorials/img/t01/04-trade.jpg (TRD MX-20000001 on the demo lakes); USER_GUIDE 'A deep trade'.</a:t>
            </a:r>
          </a:p>
          <a:p/>
          <a:p>
            <a:r>
              <a:t>Talk track: Headline strip, then panels by F-key: the deal ticket, legs, the cash-flow schedule, events and netted payments. A trade is static and its valuations tick (TVAL); the footer lists every panel's key.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docs/architecture/CONTEXT_HELP.md; USER_GUIDE 'About this page'; capture docs/guides/img/about/01-var-drawer.jpg.
Talk track: Press ? on any view. The drawer reads the same trace the server used to build the page, so it cannot drift from what you see. Ask, the optional language-model answer, is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docs/guides/BUILD_WORKBENCH_TUTORIAL.md; SCREEN_DESIGNER.md; capture designer/02-workbench.jpg.
Talk track: The workbench writes the Sutra for you. Every design has tests, versions and a rebase; publishing needs a second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search, plain words and pivot; QUERY_BY_FORM.md; capture docs/tutorials/img/t01/06-search.jpg; PERFORMANCE.md (1M trades/day: 134 ms search, 29 ms type-ahead; 35.7 million trades: form search p50 0.21 s).
Talk track: The plain-words parser is deterministic: no AI service is involved. Searches across a million trades a day come back in about a seventh of a second; a form search over 35.7 million trades in about a fifth.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docs/architecture/COLLABORATION.md; captures collab/01-share-dialog.jpg and collab/07-discussion-author.jpg.
Talk track: A share reopens the view as the sender saw it, pinned to that data generation. Emails and chat bridges carry values, masked for each recipient.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docs/guides/DATA_LOADS.md; CHANGELOG; capture loads/01-data-loads-history.jpg.</a:t>
            </a:r>
          </a:p>
          <a:p/>
          <a:p>
            <a:r>
              <a:t>Talk track: Drishti does not ingest data; your ETL does. One call says a batch landed, and Drishti refreshes, verifies, evaluates alerts and tells people. Expectations flag late or missing data once.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docs/guides/CLI_GUIDE.md 'Quickest path: pack make'; OPERATIONALISING.md; RELEASE_NOTES; ADR-018; capture deploy/02-deploy-preview.jpg.</a:t>
            </a:r>
          </a:p>
          <a:p/>
          <a:p>
            <a:r>
              <a:t>Talk track: One command makes a deployable folder: pack, Sutras per product type, data laid out by date, a bundle and a README. An admin uploads the bundle and sees a preview of what breaks before deploying.</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tools/drishti.py --help on develop (22 groups: sutra, pack, data, server, connector, net, design, docs, doctor, bi, history, convert, compute, change, edits, var, exposure, contract, view, lake, testdata, completion); docs/guides/CLI_GUIDE.md; TOOLS.md (history, var, contract, change, edits, exposure, convert, --format jsonl, lake demo --names, lake build --engine java).</a:t>
            </a:r>
          </a:p>
          <a:p/>
          <a:p>
            <a:r>
              <a:t>Talk track: production runs Java 21 and every build and risk activity is scriptable. Exit codes are a contract: 0 ok, 1 problems found, 2 usage. Twenty-two groups cover the whole product.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docs/guides/ELEMENTS.md (Elements 1.4.3: view, panel, report, about, search); docs/architecture/ELEMENTS.md; Admin → Embedding.</a:t>
            </a:r>
          </a:p>
          <a:p/>
          <a:p>
            <a:r>
              <a:t>Talk track: A host page adds one tag, pinned to an exact version with SRI. The console sends HTML over the wire into a Shadow DOM, so styles never leak either way, and one live connection serves every view on the page.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'On a phone'; tests/test_page_widths_browser.py (390 px touch sweep: content, 44 px targets, no clipping); captures about/03-var-phone.jpg, collab/06-shared-phone.jpg, loads/06-phone.jpg, fresh phone-trade.png.
Talk track: Every page is tested at a 390-pixel phone width with touch: real content, finger-sized controls and nothing clipped. A desktop with a mouse keeps its compact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 you are, what you may see, and what was recorded — kept apart.</a:t>
            </a:r>
          </a:p>
          <a:p/>
          <a:p>
            <a:r>
              <a:t>Source: docs/admin/USER_MANAGEMENT.md; OPERATIONS.md §8; ELEMENTS.md §8.</a:t>
            </a:r>
          </a:p>
          <a:p/>
          <a:p>
            <a:r>
              <a:t>Talk track: Security as flows, not as a feature list.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§2, §5, §6; OPERATIONS.md §8.
Talk track: The rule: every value that leaves the server is checked against the reader's roles at the moment it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§5–6; OPERATIONS.md §8.4 (CSRF, cookies); ADR-014; NET.md section 7 and NetLastAdminTest (the last-administrator rule repaired across nodes, audited last-admin-kept).
Talk track: The console holds no credential of its own; the server decides, and re-checks every ten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'Personal API tokens' (write scopes design:write, design:approve, packs:admin, bi:write, bi:approve, bi:admin, ai:use, ai:admin, loads:write).
Talk track: A token is a person's key for scripts and notebooks. It is read-only unless a write scope is named, and write scopes expire.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ELEMENTS.md §8 and steps 1–3, 7 as built; RFC 8693; DRS-8001 to 8006.
Talk track: No plain user name is ever accepted. The host app authenticates, presents a signed statement of who the user is, and gets a short-lived, origin-bound, read-only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COLLABORATION.md 'Retention, legal hold and export' and 'Tamper evidence'; docs/qa/2026-10-05/BEHAVIOUR.md (8,300-comment export).
Talk track: Collaboration is regulated communication in many firms, so it is built as a record: chained, sealed, held and exportable.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Counted from the repository on 30 October 2026: measured, tested, reconciled, found and fixed.</a:t>
            </a:r>
          </a:p>
          <a:p/>
          <a:p>
            <a:r>
              <a:t>Source: the commands, files and logs cited on each slide (counts from git ls-tree of develop on 30 October 2026).</a:t>
            </a:r>
          </a:p>
          <a:p/>
          <a:p>
            <a:r>
              <a:t>Talk track: claims are cheap; these are counts, measurements and the places where Drishti's own numbers changed when a stored figure became a computed one.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the drishti-common ErrorCode enum on develop, counted 30 October 2026 (248 distinct DRS codes: 14 in 1xxx, 11 in 2xxx and 3xxx, 19 in 4xxx, 51 in 5xxx, 11 in 6xxx, 16 in 7xxx, 6 in 8xxx, 120 in 9xxx); every one of them has a row in docs/guides/API_GUIDE.md 'Error code table' (checked: none missing); RACHANA_REFERENCE.md 'Problem codes' (47 codes).</a:t>
            </a:r>
          </a:p>
          <a:p/>
          <a:p>
            <a:r>
              <a:t>Talk track: every error is RFC 7807 problem+json with a stable DRS code, and every code has a row that says what it means and what to do. Among them are the risk engines' refusals (DRS-5201 to 5214 for VaR inputs and hierarchies, DRS-5215 to 5217 for sharding, 5440 to 5446 for exposure), the editions' (DRS-1017 a pack the edition refuses, DRS-4023 a command it hides) and BI runs. A refusal is never silent: a bad vector is named, never padded with zeros; a shard with no live owner is 503, never a partial VaR.</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git grep on develop at 895e8612d (30 October 2026): 3,373 @Test and 46 @ParameterizedTest methods in Java (3,419; a run expands the parameterised cases); 2,257 test functions under drishti-console/tests (646 in *_browser.py); 640 under tools/. A console run collects more than its functions (parameterised cases): the latest drill's console stage ran about 3,600. Guard tests: test_branding_guard.py and BrandingLiteralTest (branding from configuration), test_generators_write_jsonl.py and test_exports_offer_jsonl.py (JSON Lines), the README standard; tools/pvgen/check.py recomputes the bank's and desks' VaR and ES from the files and compares with the server; VAR_GUIDE (intraday equal to one run, VarIntradayTest); VarFormatEqualityTest (Delta and Iceberg); VarShardClusterTest (three members equal to one server, VAR_SHARDING.md).</a:t>
            </a:r>
          </a:p>
          <a:p/>
          <a:p>
            <a:r>
              <a:t>Talk track: about 6,300 test functions and methods across the three suites. The console's browser tests run in Chromium; embedded views in Chromium, Firefox and WebKit.</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docs/admin/PERFORMANCE.md (24-core workstation, 2026-09-30 and 10-01: warm view p99 3.0 ms, live p99 11.2 ms; a million trades a day: type-ahead 29 ms, a cached trade 48 ms, search 134 ms, every desk's P&amp;L 327 ms; cold 137–157 ms); HISTORY_QUERIES.md (history: 30 days of one trade among 10,000 on Delta in 13 ms cold, under 1 ms warm, 0.3 ms from the cache); SCALE_BENCHMARK.md (extrapolations labelled as such).</a:t>
            </a:r>
          </a:p>
          <a:p/>
          <a:p>
            <a:r>
              <a:t>Talk track: all measured on one workstation. History queries sit inside the same budget as a warm view.</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docs/qa/2026-10-01/README.md; docs/qa/2026-10-03/README.md; docs/qa/2026-10-05/DATA_SAFETY.md and BEHAVIOUR.md; docs/qa/2026-10-20/QA_PLAN.md (a six-hour, time-boxed run), QA1/QA2 findings, rounds 2 to 4, SOAK to SOAK4 reports; RELEASE_NOTES.md (the QA release: 'a six-hour adversarial QA, four rounds and four soaks fixed about 100 findings, among them five P1s: masked values leaking across the history cache through a peer, a signal storm stalling the server, stale pages across console workers, a moved Iceberg table reading as healthy (a Java 25 difference), a rejoining node answering not found'); docs/qa/2026-10-21/BI_RUNS_INTEGRATION.md.</a:t>
            </a:r>
          </a:p>
          <a:p/>
          <a:p>
            <a:r>
              <a:t>Talk track: each round set out to break specific promises. The first soak drove 1,491,085 requests at 207 a second through a three-server cluster with kills and checked 118,166 answers against a reference server: no wrong rows, values or leaked masks; it failed on history answers marked partial, which were fixed and passed in soak 4 (0 wrong of 146,498). The one open item is a memory rise on the busiest soak node (SOAK4-01).</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tools/drill.sh; the drill logs of 29 and 30 October 2026 (stages: licence headers, Java 21 verify 1,154 s, then Java 25 1,470 s, console 2,876 to 2,910 s and tools 1,077 to 1,095 s side by side: about an hour in all); git tag --merged develop (45 release tags, 30 September to 29 October 2026, and one re-tag); git rev-list --count develop (2,471 commits, 30 October 2026); pom.xml enforcer (bytecode 21).</a:t>
            </a:r>
          </a:p>
          <a:p/>
          <a:p>
            <a:r>
              <a:t>Talk track: one command verifies and only then pushes. Production runs Java 21; the same commit is also verified on Java 25. A failed test stops the push: a drill that fails on one browser test under load is fixed and drilled again before main moves (the 'Drill fix' commits).</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lines counted from git ls-files of develop on 30 October 2026 (Java under src/main and src/test, Python, Markdown, YAML, JavaScript, CSS and HTML; vendored and minified assets and external_lib left out); docs/ Markdown outside qa/ and contracts/: 193 files (admin 13, architecture 59, connectors 29, guides 52, knowledge 9, tutorials 30, README); docs/contracts: 113; docs/architecture/adr: 22; docs/tutorials: 29 numbered; 847 pictures under docs/ (tools/docs/screenshots.py and tools/docs/shots/); pom.xml (21 drishti-* modules); RELEASE_NOTES.md (two documents per measure).</a:t>
            </a:r>
          </a:p>
          <a:p/>
          <a:p>
            <a:r>
              <a:t>Talk track: main Java is about 314,000 lines and the documents about 190. The Java is split into small modules that depend one way.</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Stressed and 10-day VaR and a client-side renderer; then the parked measures and AI.</a:t>
            </a:r>
          </a:p>
          <a:p/>
          <a:p>
            <a:r>
              <a:t>Source: docs/architecture/IMPLEMENTATION_PLAN.md ('The computed-measures roadmap', the open items and 'Known gaps').</a:t>
            </a:r>
          </a:p>
          <a:p/>
          <a:p>
            <a:r>
              <a:t>Talk track: what is left, in the order the documents give it, and with the labels they use.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docs/architecture/IMPLEMENTATION_PLAN.md on develop (30 October 2026): the open items (Arrow where it pays, its first deliverable, built: Arrow for the VaR contribution tables, JSON where measured faster; soak-proofing; the scale benchmark at 200K positions and 1,500 portfolios; a client-side renderer; the items carried: stressed and 10-day VaR with ES backtests, plain tables, in-place Delta schema evolution, Delta and Iceberg conversion, Unity Catalog, AWS Glue and S3 Tables, the data map's findings, test data from seeds); the deferred list (the Glue and S3 Tables live runs need an AWS account: check-glue.sh written, never run); the computed-measures roadmap (scope narrowed by the product owner on 2026-10-25: 'Just fundamentals and VaR is good for now'; exposure brought forward; counterparty risk, balance sheet and regulatory, AI and generated UI parked); 'Known gaps'; VAR_SHARDING.md (sharding: built); PARALLEL_LOADER.md (built); EDITIONS.md (built); COMPUTED_ATTRIBUTES.md section 13 (built).</a:t>
            </a:r>
          </a:p>
          <a:p/>
          <a:p>
            <a:r>
              <a:t>Talk track: the first row is the product as it stands, all built, so it carries no status (only what is not built does). The parked measures keep their contracts as designs (FRTB, SIMM, SA-CCR, CVA, stress, P&amp;L explain in docs/contracts). No dates are given in the documents for the planned or parked items.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docs/guides/GETTING_STARTED.md ('From a clean clone the whole install takes about 15 minutes'; the demo lakes measured for sixty days: 943 s, about 2.2 GB on disk; ./mvnw -q package -DskipTests -pl drishti-server -am; uv venv --python 3.13; java -Djava.io.tmpdir=data/tmp/server -Xmx4g -jar …); IDE_GUIDE.md; CLI_GUIDE.md; USER_GUIDE.md; docs/tutorials (29).</a:t>
            </a:r>
          </a:p>
          <a:p/>
          <a:p>
            <a:r>
              <a:t>Talk track: GETTING_STARTED is the quarter-hour path; tutorial 1 is the first fifteen minutes inside the product; tutorials 25 and 26 walk VaR and exposure from the bank to a trade.</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README.md (the tagline); the console's landing page (the headline over the tagline).</a:t>
            </a:r>
          </a:p>
          <a:p/>
          <a:p>
            <a:r>
              <a:t>Talk track: questions.</a:t>
            </a:r>
          </a:p>
          <a:p/>
          <a:p>
            <a:r>
              <a:t>Where to read more: README.md; docs/guides/GETTING_STARTED.md; the release history in RELEASE_NOTES.md; the VaR engine deck (docs/publications/Drishti-VaR-Engine.pptx) for the VaR engine in depth; VAR_GUIDE.md, EXPOSURE_GUIDE.md and EDITIONS_GUIDE.md; docs/knowledge for the ideas behind the data.</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docs/guides/BI_GUIDE.md; DATASETS.md; EXPRESSIONS.md; SQL.md; BI_DESIGN.md (principles, the one logical plan); CHANGELOG.</a:t>
            </a:r>
          </a:p>
          <a:p/>
          <a:p>
            <a:r>
              <a:t>Talk track: Rūpaka is BI inside Drishti, not beside it: models are rooted in the packs, three languages compile to one plan, and the servers compute every number for the person looking.</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docs/guides/BI_GUIDE.md §26; REPORTS.md §5; BOARDS.md; CHANGELOG (R6, R7, BI Studio); capture docs/guides/img/bistudio/studio.jpg.</a:t>
            </a:r>
          </a:p>
          <a:p/>
          <a:p>
            <a:r>
              <a:t>Talk track: The report, model and theme designers share one shell, as Power BI's do. A Power BI author built a desk pack in it without the YAML tab: that is the browser test of the wave.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docs/guides/PYTHON_BI.md §17; ANALYSE.md §16; CHANGELOG; capture docs/guides/img/bi-transform/05-browser-console.png.</a:t>
            </a:r>
          </a:p>
          <a:p/>
          <a:p>
            <a:r>
              <a:t>Talk track: Every BI page computes nothing in the browser. Python data prep runs on the console's sandbox, step by step with a preview; the Python console is the one place your own code runs in the browser, on rows already masked for you.</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DRISHTI_NET.md (N1 to N7: three servers in one JVM converge 52 ms after the third starts; 13,542 signed calls through a key rotation, none refused); NET.md (heartbeats on a port of their own, gossip-port, so a busy server is never taken for dead; HTTP/2 between servers, one connection per peer, p99 117 ms against 370 ms on HTTP/1.1, falling back to HTTP/1.1 for an older peer); docs/qa/2026-10-20/SOAK4_REPORT.md (soak 4: 0 wrong answers out of 146,498 checked, no 404 DRS-1001 at any time, including the 30 s after each rejoin; its memory check failed on one node, SOAK4-01); docs/admin/NET.md; DRISHTI_NET.md §19; VAR_SHARDING.md (VaR sharded across the members).</a:t>
            </a:r>
          </a:p>
          <a:p/>
          <a:p>
            <a:r>
              <a:t>Talk track: off by default. Switched on, servers gossip over their own port with calls signed by a rotating cluster key. A request goes whole to a node that renders the kind, or the document is fetched from the node that holds it; a search is scattered and merged; the console fails over with no new sign-in. A member advertises only a real address. Honest note: the soak's memory gate failed on the busiest node (+165 MB/h over 73 minutes, not the caches); it is listed as known open.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docs/admin/PERFORMANCE.md (2026-10-18: 35.7 million trades, 50 users, 179 requests/s, heap 3.7 GB of 8 GB; form search p50 5.8 s to 0.21 s; console 182 pages/s; a restated day of 400,000 trades in 2 min 54 s at 202 requests/s); README 'Performance at scale'; SCALE_STRATEGY.md (8.2 million trades).
Talk track: Three source systems, 300,000 to 500,000 trades a day each for 30 days, loaded in random date order while 50 users read. No failures; the slowest figures are single seconds, not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setting turns Drishti into a focused product: Drishti Risk, World or Market, for the instance or one person.</a:t>
            </a:r>
          </a:p>
          <a:p/>
          <a:p>
            <a:r>
              <a:t>Source: the guides cited on each slide of this chapter.</a:t>
            </a:r>
          </a:p>
          <a:p/>
          <a:p>
            <a:r>
              <a:t>Talk track: an edition is one configuration file; a lens is the same file opened by one person. Three editions, each with its own landings, from one code base and one engine.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lands as JSON Lines, loads into Delta or Iceberg, keeps its history, and every command has a contract.</a:t>
            </a:r>
          </a:p>
          <a:p/>
          <a:p>
            <a:r>
              <a:t>Source: the guides cited on each slide of this chapter.</a:t>
            </a:r>
          </a:p>
          <a:p/>
          <a:p>
            <a:r>
              <a:t>Talk track: how data reaches Drishti and what it becomes: JSON Lines as the one data standard, Delta and Iceberg side by side, history over any range, public data as packs, the data map, a contract per command, names and settings that are configuration, not code, and Arrow where it pays.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from the data or from the page; Sutras that respond, built from one UI kit; a CLI for every step.</a:t>
            </a:r>
          </a:p>
          <a:p/>
          <a:p>
            <a:r>
              <a:t>Source: the guides cited on each slide of this chapter.</a:t>
            </a:r>
          </a:p>
          <a:p/>
          <a:p>
            <a:r>
              <a:t>Talk track: the Build workbench designs from data, Sutra Next makes pages respond, the four-mode designer starts from the page. The CLI that scripts every step is in Operating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reports and boards on the same data, rules and masks; heavy questions become runs; groups computed from members.</a:t>
            </a:r>
          </a:p>
          <a:p/>
          <a:p>
            <a:r>
              <a:t>Source: the guides cited on each slide of this chapter.</a:t>
            </a:r>
          </a:p>
          <a:p/>
          <a:p>
            <a:r>
              <a:t>Talk track: Rūpaka BI lives inside the terminal, so a report and a view never disagree about a mask or a rule.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 exposure and the attributes on the pages for any scope, from the bank to one trade, never stored; official numbers other systems can read.</a:t>
            </a:r>
          </a:p>
          <a:p/>
          <a:p>
            <a:r>
              <a:t>Source: the guides cited on each slide of this chapter.</a:t>
            </a:r>
          </a:p>
          <a:p/>
          <a:p>
            <a:r>
              <a:t>Talk track: the risk figures are computations over trade-level inputs, with official end-of-day records and edits that never overwrite. The VaR engine deck covers VaR in depth.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primitives, one direction from your systems to a view, seven stages per command, one Sutra per screen, live end to end, several servers as one.</a:t>
            </a:r>
          </a:p>
          <a:p/>
          <a:p>
            <a:r>
              <a:t>Source: the guides cited on each slide of this chapter.</a:t>
            </a:r>
          </a:p>
          <a:p/>
          <a:p>
            <a:r>
              <a:t>Talk track: the design in six slides: the primitives, the architecture, the seven stages of one command, a whole screen in one short file, one live subscription per entity, and Drishti*net joining several servers into one Drishti.</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 clone to a live view; a folder of JSON Lines to a deployed pack; load signals; every step from the command line.</a:t>
            </a:r>
          </a:p>
          <a:p/>
          <a:p>
            <a:r>
              <a:t>Source: the guides cited on each slide of this chapter.</a:t>
            </a:r>
          </a:p>
          <a:p/>
          <a:p>
            <a:r>
              <a:t>Talk track: running Drishti: the quarter-hour start, packs from a folder to production, telling Drishti that data has landed, and the CLI that scripts every build step. Deployment on AWS (the lake in S3, Delta or Iceberg) is in the deck Drishti on AWS: the lake, Delta or Iceberg.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error-code families and where the work is in the repository.</a:t>
            </a:r>
          </a:p>
          <a:p/>
          <a:p>
            <a:r>
              <a:t>Source: the guides cited on each slide of this chapter.</a:t>
            </a:r>
          </a:p>
          <a:p/>
          <a:p>
            <a:r>
              <a:t>Reference slides moved out of the main flow: the 248 documented error codes by family, and the size of the repository by language and kind of file.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('Fast: 30 days of one trade among 10,000 on Delta in 13 ms cold, under 1 ms warm, 0.3 ms from the cache. Fast paths for Delta, Redis, PostgreSQL, DuckDB, MongoDB, Aerospike, Cassandra and Iceberg; every other connector works through the default'); docs/architecture/HISTORY_QUERIES.md; docs/tutorials/21 and its picture docs/tutorials/img/t21/02-trade-history.jpg; USER_GUIDE 'History: an entity over time'.</a:t>
            </a:r>
          </a:p>
          <a:p/>
          <a:p>
            <a:r>
              <a:t>Talk track: the ranges are 30 (business days with data), 30D, 2W, 3M, 1Y, YTD, MTD, QTD and FROM … TO …, with DIFF for only what changed; plain words make the same command. Market data gets a chart with last, change, high, low, range and average. The adversarial QA found two cluster issues (QA1-01, QA1-02), both fixed: the history cache follows the peers' data versions, and a peer that is down is named (DRS-5052), never answered as 'no data'.</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(BI runs: planned before it runs from metadata only, 'tested to read no data'; cheap, heavy, very heavy, impossible; the Runs tab; fewer duplicate runs; rollup suggestions; masks hold; across the cluster a heavy run executes on the node that owns the model and a dead owner's runs are adopted); docs/admin/PERFORMANCE.md 'BI runs: sized before anything is read' ('RunPlannerTest counts connector reads: 0'; DRS-9029, drishti.bi.exec.max-estimated-rows; the BACKGROUND admission class); docs/architecture/BI_RUNS.md, BI_RUNS_GUIDE.md; TABLE_CHARTS.md; picture docs/guides/img/table-chart/donut-terminal.png; docs/qa/2026-10-21/BI_RUNS_INTEGRATION.md.</a:t>
            </a:r>
          </a:p>
          <a:p/>
          <a:p>
            <a:r>
              <a:t>Talk track: the planner sizes every BI question from metadata before anything runs, so the user learns in milliseconds whether it is an answer, a run, a confirmation or a refusal, and no interactive slot is held. Known open: Analyse does not use runs yet; Parquet/Arrow results for runs.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('drishti-iceberg: Drishti's own Apache Iceberg engine with no Hadoop, so Iceberg runs on Windows; it is the default engine (engine: library brings back the old one), and faster: a connector starts in 637 ms (1.8 s before), a trade on a past day reads in 94 ms (353 ms). iceberg-external reads Iceberg tables Drishti did not write (Spark, Flink, Trino, Snowflake, Glue)'); RELEASE_NOTES ('Delta and Iceberg side by side: build_demo_lakes.py --store endur=delta --store calypso=iceberg (or all=iceberg); the right connector is switched per system; the same pages, histories, searches and BI answers either way (equality test)'); docs/connectors/DEMO_DATA.md 'Mixed Delta and Iceberg storage'; docs/architecture/DRISHTI_ICEBERG.md. The 2.8× and 3.8× are 1.8 s ÷ 637 ms and 353 ms ÷ 94 ms.</a:t>
            </a:r>
          </a:p>
          <a:p/>
          <a:p>
            <a:r>
              <a:t>Talk track: the split shown (ENDUR on Delta, CALYPSO and MUREX on Iceberg) is the mixed layout the DEMO_DATA guide uses; all=iceberg puts every system on Iceberg. A QA P1 was a moved Iceberg table reading as healthy on Java 25; it was fixed.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(Sutra Next: the Drishti UI kit, config/ui-kit/, reusable fragments row-picker@1, field-list@1, cashflow-ladder@1 …, pack fragments trading/trade-table@1, theme tokens and brand, 'every fragment and every Sutra carries a doc: docstring. Every pack screen now uses fragments, each proven to draw the same as before'; events and children; refresh and freshness; layout; forms, drafts only write-back; one server per screen on a cluster); docs/architecture/SUTRA_NEXT.md; docs/guides/SUTRA_DEVELOPER_GUIDE.md and SUTRA_FORMS_GUIDE.md; config/ui-kit/fragments in the repository (17 *.fragment.yaml files).</a:t>
            </a:r>
          </a:p>
          <a:p/>
          <a:p>
            <a:r>
              <a:t>Talk track: Sutra Next turns the Sutra from a description of a static page into a description of a page that responds: a click opens children from another pack, panels refresh on their own clock and say how fresh they are, the layout is a grid of named areas, and forms are first-class. The docstrings matter twice: the designer and help read them, and the parked GenUI design composes screens from them.</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('The Sutra designer (ui.designer, off by default; SCREEN_DESIGNER.md section 31): four modes over one Sutra — Customize the live page, Describe a screen in one line, Outline, and Grid with formulas (B2 = field-list@1(...; source: {... id: @A2.open.ref}), two levels of click-opened cells); my version of this page per person. Tutorial 22 builds a screen with it'); docs/guides/SCREEN_DESIGNER.md section 31; pictures docs/guides/img/designer/customize.jpg, describe.jpg, outline.jpg, grid-mode.jpg.</a:t>
            </a:r>
          </a:p>
          <a:p/>
          <a:p>
            <a:r>
              <a:t>Talk track: the Build workbench (earlier in this chapter) designs from data; this designer starts from the page. Describe takes a sentence such as 'trades of a book, click a trade for cash flows and counterparty limits, refresh every 30 s' and drafts the Sutra; Outline and Grid make it precise; Customize changes the live page for one person.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(us-equities: 479 US companies from SEC EDGAR, Nasdaq, GLEIF and Wikidata, USEQ, IDX, SIC, EDGAR, prices live and internal only; gleif: 9,512 legal entities in 540 ownership groups, LEI, LEIG, LEIC, linked to each other by LEI; public data, one script per pack, tools/publicdata/&lt;pack&gt;.py with .sh and Windows wrappers); the release notes (funds: the 200 largest US mutual funds and ETFs from SEC N-PORT, N-CEN and the prospectus summaries, with GLEIF relationships; FUND, HELD, TRACK, FUNDS; 5.6 MB of gzipped data, offline; sectors are SIC divisions, GICS is proprietary); the release notes (the companies pack grows from 503 to 586); the release notes (External data: every source with URL, licence and use; IMF, Yahoo and Google News data marked internal only); docs/guides/PUBLIC_DATA.md, FUNDS_GUIDE.md; the connector data pattern in DEMO_DATA.md.</a:t>
            </a:r>
          </a:p>
          <a:p/>
          <a:p>
            <a:r>
              <a:t>Talk track: three packs that a bank's analysts recognise, built on the same pattern as the trading data: a committed gzipped JSON Lines snapshot, built into the demo lakes and served by a Delta connector, so a demo machine needs no network. A refresh script per pack widens or updates the data into the data folder; internal-only sources can never be committed. The CIK link between funds and companies is the SEC's company id carried in the holdings.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(funds and ETFs; FUND &lt;ticker&gt; a fact sheet, look-through holdings and comparison with its index); the release notes ('the S&amp;P 500, Nasdaq-100 and Dow members are now what SPY, QQQ and DIA report holding to the SEC, not Wikidata's out-of-date lists (which lacked Exxon Mobil, BlackRock, NVIDIA in the Nasdaq-100 and about 100 more). The companies pack grows from 503 to 586. The vs index tab weighs the Dow by price and caps the Nasdaq-100 as their methods do: DIA's active share 1.8% (was 57.6%), QQQ's 11.2% (was 26.75%)'; '23 new WHAT terms (162 in all)'); docs/tutorials/28-funds-and-etfs.md ('for QQQ, Members held 98 of 99 listed members, Active share 11.21%'); picture docs/tutorials/img/t28/02-fund-fact-sheet.jpg.</a:t>
            </a:r>
          </a:p>
          <a:p/>
          <a:p>
            <a:r>
              <a:t>Talk track: a design-and-evidence point: the old figures were not a rounding issue; the membership source was wrong. Known open (release notes): 55 companies have no usable share count, so index-fund active shares are not exactly 0. Index weights are computed from SEC filings, not licensed index data, and the page says so.</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(groupings and analytics computed instead of stored: LEIG (no member cap), LEIC, SIC, ECG (summed or weighted over member economies, as the World Bank does), CORR (a new correlation engine, window and estimator picked on the page), the USEQ ratios, the yearly change of a financial fact, IDX totals, equity beta (a new engine, EQB) and the price-history analytics (internal-only, off as shipped); their stored versions are retired; old ids open the computed pages; 'the numbers change where the stored ones were set by hand (correlations ~0.4 stored, ~0.1 computed; equity betas near zero on the demo's independent price series)'; the fixed control recompute); IMPLEMENTATION_PLAN 'Groupings and analytics' (the engines: gleif-groupings, us-equities-groupings, macro-groupings, CorrelationEngine, BetaEngine; ECG growth GDP-weighted, inflation the median); docs/guides/GROUPINGS_ANALYTICS_GUIDE.md; tutorial 27 and its picture 08-corr-pearson.jpg.</a:t>
            </a:r>
          </a:p>
          <a:p/>
          <a:p>
            <a:r>
              <a:t>Talk track: the same principle as VaR and exposure, applied to reference data: a group's figures are computed from its members on demand, so they can be re-derived and never go stale.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(data contracts: the shared rules; a machine-readable contract for every command, config/packs/&lt;pack&gt;/contracts/&lt;kind&gt;.contract.yaml, drishti.py contract; generated pages and the command catalog; Admin → Commands: switch any command off for everyone; it then answers 'not active' everywhere (page, API, command, CLI, search, exports, BI, AI; 403 DRS-1016), stored in the Drishti database and gossiped to every server); the release notes (FUNC; every pack's guide ends with its data contracts and its data retrieval, generated from the contracts); the release notes (DATAMAP joins from the data contracts, checked against the data); docs/contracts/README.md section 3 'Four kinds of data' and its rule and guard test; docs/guides/COMMAND_CATALOG.md (generated: '73 fundamental, 11 engine input, 1 Drishti's own and 21 computed'); tools/drishti.py --help (contract: list, show, check, docs, bootstrap); 106 *.contract.yaml files on develop (30 October 2026).</a:t>
            </a:r>
          </a:p>
          <a:p/>
          <a:p>
            <a:r>
              <a:t>Talk track: the contracts are the 'fundamentals' half of the product owner's scope. Each command has one file that says what a row is, what every column means and where it comes from; the documentation, the catalog, FUNC and the data map are generated from those files, so they cannot drift. Admin → Commands is the first step to role-based access per command.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docs/guides/VAR_GUIDE.md section 2.2 (the bank on 2026-09-30: VaR 112,041,646, ES 160,143,809, 9,572 trades in 7,984 positions), 15.3 (HS-509: 509 scenario days, 2024-09-17 to 2026-09-29), 15.4 (88 nodes), 15.5 (28 portfolios), 26.2 and 27.3 (a node from its float64 aggregate under 1 ms, 0.48 ms measured); RELEASE_NOTES.md (the stored var and var-node kinds retired, VAR-* ids open the explorer; every live trade valued; positions derived by Drishti from config rules; official end-of-day captures published to risk-results/var-official; vectors kept 7 years; DRS-5201..5204; memory tiering; VRES and VWIF; drishti.py var); picture docs/guides/img/var/01-explorer-desk.jpg; the VaR engine deck docs/publications/Drishti-VaR-Engine.pptx; VAR_GUIDE.md 15.14 and the test data (131 official nodes: 88 MGMT and LEGAL + 43 limit-letter nodes, LL).</a:t>
            </a:r>
          </a:p>
          <a:p/>
          <a:p>
            <a:r>
              <a:t>Talk track: these slides summarise VaR and point to the VaR engine deck rather than repeating it. The method is historical simulation: every trade has a P&amp;L vector of 509 numbers; a scope's vector is the sum of its trades' vectors, so overlaps count once and longs and shorts net; VaR is minus the 6th worst, ES minus the mean of the 13 worst. The test data's numbers changed when VaR became computed: the 1,673-trade sample gave 9.9m; the old stored VAR-COMM of 446.9m was not a historical-simulation figure (see the reconciliation slide in the evidence chapter).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(summarised from the VaR engine deck): docs/guides/VAR_GUIDE.md section 15.9 (scenario-pv: scenario PVs per trade in the trade's currency), 15.12 (producing P&amp;L vectors and scenario PVs: JSON Lines, one row of the contract a line; tools/pvgen), 15.13 (inputs: any form, any grain; the optional per-system pin drishti.var.inputs; DRS-5208, 5209, 5210), 8.4 (intraday updates: RUN_KIND INTRADAY, latest COMPUTED_AT per trade wins, a cancel removes the trade, a full run of the date drops the intraday layer; Kafka: drishti.var.intraday.kafka.window 5m, early flush at max-trades 500, an administrator's Apply now; each window written to the lake as one intraday batch, then applied; replay writes nothing twice); VarIntradayTest and VarPvStreamTest (in-process Kafka); the incremental-equals-one-run guarantee measured on 200 batches of 3 trades on one date.</a:t>
            </a:r>
          </a:p>
          <a:p/>
          <a:p>
            <a:r>
              <a:t>Status: all of this is built.</a:t>
            </a:r>
          </a:p>
          <a:p/>
          <a:p>
            <a:r>
              <a:t>Talk track: one engine, every input. Whether a pricing system sends 509 scenario PVs in the trade's own currency or a P&amp;L vector already converted, by trade or by position, the engine converts at load and nothing downstream knows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(summarised from the VaR engine deck): VAR_GUIDE.md section 15.10 (reporting currency: P&amp;L in the reporting currency from scenario PVs and scenario FX, crosses via USD; the bank's VaR and ES per currency on 2026-09-30: USD 112,041,646 / 160,143,809; EUR 111,837,045 / 137,631,546; CAD 189,801,404 / 230,680,413; JPY 20,883,226,318 / 23,578,418,999; GBP 104,139,554 / 125,595,958), section 15.11 (currencies built ahead: drishti.var.currencies USD, EUR, CAD, JPY, GBP; per-trade-currency totals; the picker), section 12 (settings: drishti.var.scenario-window all | N; DRISHTI_VAR_CONFIDENCE and DRISHTI_VAR_ES_CONFIDENCE; backtesting stays at 99%); the EUR comparison 111.84m with scenario FX against 95.4m for USD VaR converted at today's rate (the bank holds a net 3.65bn USD of value); picture docs/guides/img/var/15-reporting-currency.jpg.</a:t>
            </a:r>
          </a:p>
          <a:p/>
          <a:p>
            <a:r>
              <a:t>On the demo: the 1,339 Endur trades come as scenario PVs (1,089 USD, 246 EUR, 4 CAD); the bank's VaR moved from 112,035,906 to 112,041,646 when the PV form replaced the P&amp;L form, the FX move of the 250 EUR and CAD trades; a USD trade reproduces its vector exactly.</a:t>
            </a:r>
          </a:p>
          <a:p/>
          <a:p>
            <a:r>
              <a:t>Talk track: three settings are configuration, not constants: the window, the confidence and the currencies. Each answer carries its labels, so a 95% VaR or a 250-day window can never be mistaken for the official figure.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(exposure computed like VaR: EE, ENE, effective EE, PFE 95/99, EPE, EEPE, peak PFE and EAD for any scope: netting set, counterparty, group, legal entity, desk, book, a single trade, the bank, joined with + - &amp;; every trade's MtM on every path netted per netting set, each CSA's collateral applied path by path (thresholds, MTA, IA, rounding, margin period of risk); the explorer; pre-deal what-if exact by the Python engine or a conservative add-on marked proxy; official results to risk-results/exposure-official and -cpty; tiered retention); EXPOSURE_GUIDE.md section 2 (the demo lake: 23 of the 24 counterparties, 74 netting sets, 8,022 live trades, on the data's own date); RELEASE_NOTES.md (exposure: 'the stored peaks summed to 92.6bn, computed 7.6bn on the same sets (the generator scaled them with gross notional and ignored the CSAs); the 76-set reconciliation is in the guide'); EXPOSURE_GUIDE.md (NS-ALDERSHOT-LDN peak PFE 85,063,192 on the data's date, collateral after haircut); docs/guides/EXPOSURE_GUIDE.md section 27.4 (ExposureTierBenchmark: 100,000 trades, 9,901 sets, P = 200, G = 24: scope BANK 61 ms, scope NSET 0.06 ms) and 27.3 (retention tiers); picture docs/guides/img/exp/01-bank-board.jpg; tutorial 26.</a:t>
            </a:r>
          </a:p>
          <a:p/>
          <a:p>
            <a:r>
              <a:t>Talk track: exposure is built exactly as VaR is: inputs from the upstream simulation, the engine in Drishti, any scope on demand. At a large bank's size the guide extrapolates the load to about 7 minutes on one node at P = 2,000, G = 50 (about 1 minute a node on 8) and says the bank scope becomes a batch job.</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(official end-of-day captures of every node published to risk-results/var-official for other systems; write-back: forms save through an edit log in the Drishti database, with four-eyes approval, a cluster mode, JDBC writes through an outbox, and reactive recomputes and live updates after each change; WRITE_BACK.md, EDITS.md, tutorial 24, off by default); the release notes (exposure-official and -cpty; VaR and exposure in BI: read-only kinds VOFF and XOFC, a Market risk VaR model and report); CHANGELOG write-back entry (Submit…, the review and confirm sheet, POST /api/v1/changes, drishti_edit_request, four eyes, drishti_edit_log lanes, P lanes (64) with one virtual-thread worker each, ownership by a conditional update with a lease, every append fenced by the epoch, the three-way difference in words, never overwriting); CHANGELOG (official results also as JSON Lines beside the tables); CHANGELOG (official results to Delta or Iceberg, under a folder or s3://, each Delta commit on S3 an exclusive create; BI's readers follow the format; OfficialSinkTest, OfficialS3Test, OfficialReadersTest); IMPLEMENTATION_PLAN 'Published official results' ('engines never read it (guard test)'); VAR_GUIDE section 19.</a:t>
            </a:r>
          </a:p>
          <a:p/>
          <a:p>
            <a:r>
              <a:t>Talk track: two kinds of record. The official number is what was reported: captured once from the morning run, never changed by intraday updates, restated only as a new version. An edit is what a person changed: approved by someone else, logged in order, applied with the person's rights re-checked at apply time.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(Knowledge: market risk, counterparty credit risk, trades and products, entities and ownership, market data, data and contracts, economies; a 139-term glossary; WHAT &lt;term&gt;; 'What does this mean?' beside the VaR and exposure explorers and the risk pages; Construct your basket, VAR_GUIDE section 3.5: pick portfolios, baskets, desks, books, legal entities, counterparties, positions, trades or a rule as you type … save it as a basket; Alt+B; the pre-deal what-if: a hypothetical trade (a copy of a booked one, scaled; −1 its unwind) in the basket shows VaR before and after; the exposure explorer has it on the counterparty as well as the netting set; exact methods run on the compute workers; trade pages' Risk links; 'ids that match nothing and trades that are not live are said in words instead of a VaR of 0'); RELEASE_NOTES (Knowledge: Companies, funds and ETFs; 23 new WHAT terms, 162 in all); docs/knowledge in the repository (eight pages and glossary.yaml); picture docs/guides/img/var/06-basket.jpg.</a:t>
            </a:r>
          </a:p>
          <a:p/>
          <a:p>
            <a:r>
              <a:t>Talk track: the Knowledge pages were written against the demo data, and writing them found real data-quality bugs (economy debt that was a 2031 projection, a cancelled trade driving half of one netting set's exposure); those are on the reconciliation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(DATAMAP: Views → Data map, or DATAMAP [domain|kind]; Map or Cards; 'Nothing is hand-drawn: kinds come from the enabled packs, joins from the data contracts, each checked against the data (how many ids match), counts from the lake on the business date; a new pack appears with no setup. It found 11 joins that do not hold (e.g. a jurisdiction code where an id is expected), listed in the CHANGELOG'; the fact of the day on Home: one surprising, true sentence, a small picture, 'Why does that happen?', the command that shows it and 'Another fact'; each pack declares its facts (PACK_DEVELOPER_GUIDE 'Facts for Home'); computed as you, on your business date, and only those that hold today are shown; the seven listed here); USER_GUIDE 'The data map' and 'Home: the fact of the day'; picture: DATAMAP trade retaken on 30 October 2026 on a scratch console with the QUICKSTART packs (the Map view's selection panel is a strip across the top since the data-map change of 29 October). The dark card is a drawing of the fact panel's shape, not a capture, and quotes no figure.</a:t>
            </a:r>
          </a:p>
          <a:p/>
          <a:p>
            <a:r>
              <a:t>Talk track: DATAMAP is evidence about the data itself: because joins are checked against the rows, the map tells an analyst which links are real on today's date. The 11 failing joins are open items in the release notes, not hidden.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'JSON Lines is the data standard: the generators' (every generator under tools/ writes JSONL, generating and loading separate steps; the lake is byte-for-byte the same data as before, every table's rows and Delta versions compared); 'CSV input deprecated; drishti.py convert'; 'JSON Lines on every server export'; 'JSON Lines in every console download and CLI export'; 'Official results as JSON Lines too' (risk-results/jsonl/&lt;table&gt;/&lt;date&gt;/…, drishti.var.official.jsonl and drishti.ccr.exposure.official.jsonl on by default); 'Sutra test cases are one cases.jsonl per Sutra' (all 197 committed test folders converted); 'JSON Lines in three smaller places' (samples/catalog.jsonl, staged lake rows, seals.jsonl); 'The guard of the data standard' (the two drill tests); docs/guides/DATA_FORMATS.md (new); IMPLEMENTATION_PLAN 'JSON Lines is the data standard (product owner, 2026-10-27; built)'.</a:t>
            </a:r>
          </a:p>
          <a:p/>
          <a:p>
            <a:r>
              <a:t>Talk track: the decision of the product owner on 27 October: generators write JSONL only; readers keep what they accept but CSV is deprecated, to be removed in a later release; every export gains a JSONL option; manifests, state files, GeoJSON and storage internals stay as they are.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'Branding from configuration only (product owner, 2026-10-25)' (ui.product, drishti.branding.product, Branding.sqlName(), Branding.netName(); &lt;product&gt; SQL, &lt;product&gt; Elements, &lt;product&gt;*net; ui.owner and ui.owner_email; guard tests tests/test_branding_guard.py and BrandingLiteralTest; licence headers, X-Drishti- headers, DRISHTI_ variables and code identifiers unchanged); RELEASE_NOTES (the landing headline 'See what your data hasn't told you yet.' with the tagline, both from configuration); CHANGELOG 'Your bank's names in the demo' (config/demo/names.yaml; LE-NY, LE-LDN, LE-FRA, LE-TKY; --names FILE, --dry-run; rename as they load; LEIs and BICs stay; tools/demonames.py; tools/lake/test_names.py in the drill; DEMO_DATA 'Your bank's names'); VAR_GUIDE.md: drishti.var.root-name (DRISHTI_VAR_ROOT_NAME) and root-names, VarRootNameTest; VAR_GUIDE section 12 (settings).</a:t>
            </a:r>
          </a:p>
          <a:p/>
          <a:p>
            <a:r>
              <a:t>Talk track: two product-owner rules, both enforced by tests: the product's name is configuration, and a bank evaluating Drishti can see its own bank and legal-entity names across every kind of the demo without touching the committed data.</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'Documentation pictures retaken on the current UI' (351 pictures under docs/ that predated the current UI, guide by guide and tutorials 1-6, 8, 9, 11-17 and 19, with tools/docs/screenshots.py) and 'Fixes found by the screenshot run (2026-10-27)' (the five fixes in the table, plus a deal's own events staying listed whatever the Legs filter); docs/tutorials (29 numbered tutorials on develop, 30 October 2026); RELEASE_NOTES ('VaR and exposure have exactly two documents each, a complete guide and a tutorial, and two Help pages'); RELEASE_NOTES (a rot check over every document: links, paths, commands, settings, error codes, command words, kinds); 193 Markdown files under docs/ outside qa/ and contracts/, and 113 under docs/contracts (develop, 30 October 2026).</a:t>
            </a:r>
          </a:p>
          <a:p/>
          <a:p>
            <a:r>
              <a:t>Talk track: retaking every picture over the demo lakes walks the UI the way the tutorials do, so it is also a test: five defects were found and fixed before the release shipped. Pictures that needed git-ignored runtimes (Calc, the Python console, the React sample) were retaken separately.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docs/admin/SCALE_BENCHMARK.md section 5.1 'Across stores, measured' (median ms of the run labelled r1 at the largest size each store ran, 50,000 trades a day: type-ahead TRD CLY-400, open a trade (view) again, TRD book=BOOK-RATES-3; store size and load time). The document's banner says the numbers were measured on 2026-10-01 and are historical, not re-measured since. Section 6: Delta Lake, PostgreSQL, Aerospike and Redis were measured at a million trades a day; section 5.2 extrapolates the others and labels them as extrapolations; section 5.3 checks the straight line against the real million (store sizes within about 25%; searches within a factor of two; impact does not extrapolate).</a:t>
            </a:r>
          </a:p>
          <a:p/>
          <a:p>
            <a:r>
              <a:t>Talk track: the same harness loads the same book into each store and asks the same questions; Drishti's own caches and column layers make the stores look alike for interactive reads. Where they differ is size on disk and load time, which is an operations decision.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27 (27.2 the heap tier measured: VarScaleBenchmark, the whole bank of 1 million trades summed in 58 ms on 24 threads; 27.3 the tiered store: VarTierBenchmark at 100,000 trades × 5 dates: a node 0.48 ms, the bank from float32 rows 3.4 ms, a basket of 50,000 scattered positions 2.6 ms plus about 45 ms of ids, first load 0.8–1.2 s; section 26.7, loadMs 572 for the test date), as tabled in the VaR engine deck slide 11; EXPOSURE_GUIDE.md section 27.4 (ExposureTierBenchmark, opt-in, at 100,000 trades in 9,901 sets, P = 200, G = 24: load 785 ms rows plus 1,250 ms collateral, E, N and the hot file; reopen 157 ms; scope BANK 61 ms; CPTY: of 20 sets 0.22 ms; NSET: 0.06 ms; pre-deal exact Java 0.11 ms; proxy 0.007 ms with the scope's answer cached; 'a workstation run is limited to 100,000 trades in memory'; times are the best of five warm runs on one workstation, 24 hardware threads, 61 GB, JDK 25, NVMe).</a:t>
            </a:r>
          </a:p>
          <a:p/>
          <a:p>
            <a:r>
              <a:t>Talk track: base VaR is additions and sorts; exposure is additions over paths and dates. Both keep a memory-mapped hot file per date so the heap stays small. The guides extrapolate to a large bank and label the extrapolations; the sizing at 1.3 million positions and 100,000 portfolios is in the VaR engine deck (slide 12). A million-trade run once took the workstation down, so the full runs are planned on a server.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('with every live trade the bank's VaR on the test data is about 112m (the 1,673-trade sample gave 9.9m); the old stored VAR-COMM (446.9m) was not a historical-simulation figure'; VAR_GUIDE section 21.2 'Reconciliation: stored VAR-COMM 446.9 m against the engine's 1.97 m': the COMM desk's stored VAR_99 446,852,430 against the engine's 17,523,118 with every live trade (1.97m on the first 60-trades-a-book sample); the stored figure was 2.33 × sqrt(Σ(|MTM| × 0.004 + Σ|sensitivities| × 0.6)²), absolute values with no netting and no correlation, on a different date and trade set: 'the two numbers measure different things and no factor relates them'); the release notes ('the stored peaks summed to 92.6bn, computed 7.6bn on the same sets (the generator scaled them with gross notional and ignored the CSAs); the 76-set reconciliation is in the guide', EXPOSURE_GUIDE section 22.2); the release notes ('correlations ~0.4 stored, ~0.1 computed; equity betas near zero on the demo's independent price series'; GROUPINGS_ANALYTICS_GUIDE Part II); the release notes (data quality: 'economy debt is the latest actual year, not a 2031 projection; netting sets and exposure runs hold live trades only (a cancelled trade had driven half of one set's exposure)'); the release notes (DIA's active share 1.8% (was 57.6%), QQQ's 11.2% (was 26.75%); 'the legal-entity tree's root now carries the bank's 150m limit, as the management tree does (it read 210m); every VaR is unchanged'; DATAMAP 'found 11 joins that do not hold').</a:t>
            </a:r>
          </a:p>
          <a:p/>
          <a:p>
            <a:r>
              <a:t>Talk track: this is the most important evidence slide. A product that computes its figures can explain them; every time Drishti replaced a stored number, the difference was investigated and written into the guide.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'Iceberg as a full alternative to Delta' (VarFormatEqualityTest, ExposureFormatEqualityTest, LakeAppendsTest, OfficialSinkTest, OfficialS3Test, OfficialReadersTest; the real run on the demo data: 14 risk tables, 955,124 rows, into Iceberg in 579 s; a server on that lake answered VAR BANK, LL:LL-0003 and XPO BANK from Iceberg and published its official records); docs/connectors/ICEBERG_CONNECTOR.md sections 18 and 19; VAR_GUIDE.md 2.2 (VAR BANK 112,041,646 on 2026-09-30). The latest runs of these test classes (surefire reports of 2026-10-28): VarFormatEqualityTest 1 test, ExposureFormatEqualityTest 1, LakeAppendsTest 1, OfficialSinkTest 5, OfficialS3Test 1, OfficialReadersTest 3, all 0 failures. The CHANGELOG's own server run quotes VAR BANK USD 124,948,241 for the date it served; the 112,041,646 here is the guide's 2026-09-30 figure, equal on both formats.</a:t>
            </a:r>
          </a:p>
          <a:p/>
          <a:p>
            <a:r>
              <a:t>Talk track: the equality tests write the very same lines to a Delta lake and to an Iceberg lake, read both through one connector whose plugin is switched, and compare every figure to the cent in USD and EUR. That is why Iceberg is a full alternative: not a second implementation of VaR, the same engine over another storage plugin. What is not yet done is running the Glue and S3 Tables catalogs on a real AWS account (IMPLEMENTATION_PLAN.md, deferred: check-glue.sh written, never run).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'VaR hierarchies by columns' (HierarchyEquivalenceTest: MGMT configured as DIVISION &gt; DESK &gt; TT_BOOK and LEGAL as LEGAL_ENTITY &gt; DESK &gt; TT_BOOK equal the rows' trees: ids, parents, levels, members, aggregates to the bit, VaR, ES, components and worst scenarios to the cent, USD and EUR, limits; every letter the sum of its rows; HierarchyColumnMissingTest, HierarchyUpgradeWithoutLettersTest: a source without the level column skips that hierarchy alone with DRS-5211, product owner 2026-10-28) and 'Connector upgrades' (ConnectorUpgradeTest: a server on the previous release's generated files, tools/connector_upgrade_fixture.py, with an edited risk-store and an older edited var-whatif: every unedited file equals the current template, the edits stay, var-result, var-whatif with ccy and exposure-result answer); VAR_GUIDE.md section 15.14; commit 19994d3e4 (ColumnHierarchyBenchmark, run by name: 10,000 trades, 100 books, 10 desks, 700 letters; the build 65-99 ms against 53-197 ms without; the VaR of every node, 1,412, about 30 ms; MEASURED on one workstation). Latest runs (surefire reports of 2026-10-28): HierarchyEquivalenceTest 3 tests, HierarchyUpgradeWithoutLettersTest 1, ConnectorUpgradeTest 3, all 0 failures.</a:t>
            </a:r>
          </a:p>
          <a:p/>
          <a:p>
            <a:r>
              <a:t>Talk track: the limit letters are the first tree built from the trades' own columns. To trust that path, MGMT and LEGAL were rebuilt the same way and compared with the trees from the rows: bit-equal aggregates, VaR to the cent. Two upgrade tests protect a bank's running system: data written before the letters keeps answering, and connector files a bank edited keep every edit while gaining what the new pack adds.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docs/architecture/EDITIONS.md sections 1 and 3 (the idea; the edition file, abridged here from config/editions/risk.yaml; how each side reads it: EditionEnvironmentPostProcessor on the server, a settings layer in the console learned from /public/about); docs/admin/EDITIONS_GUIDE.md sections 1, 6 and 7 (run an instance as Drishti Risk, customise without forking, make your own edition); EDITIONS.md section 10 (*RiskEditionTest: the VaR and exposure suites again under risk; EditionNoneAndLensServerTest: no edition, the product as before).</a:t>
            </a:r>
          </a:p>
          <a:p/>
          <a:p>
            <a:r>
              <a:t>Talk track: Drishti stays one product with one code base. An edition is a named bundle of settings in one YAML file. The value of drishti.edition (DRISHTI_EDITION) names the file; the site's own configuration still wins key by key, so a bank can add a command without restating the list (commands.also-allow). Commands are hidden, never renamed.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docs/architecture/EDITIONS.md sections 1 (the edition and lens table), 6 (in a cluster: a member publishes its edition in its capability digest, Admin → Net warns when members differ; EditionShardClusterTest: sharded VaR equal to one server's under risk) and 8 (lenses: Open Drishti Risk in Views and on Home, Leave first, then Switch to; the lens kept in the person's settings; X-Drishti-Lens on every call; an instance that runs an edition offers no lens); docs/admin/EDITIONS_GUIDE.md section 5; CHANGELOG.md (three lenses: drishti.lenses: risk,world,market). Pictures: the built Risk map and World map landings, captured from the editions' browser tests' consoles (the landings fill themselves from the engines' and packs' own answers and leave out what those do not serve).</a:t>
            </a:r>
          </a:p>
          <a:p/>
          <a:p>
            <a:r>
              <a:t>Talk track: an edition is for the whole instance; a lens is the same file opened by one person on a full instance, with no restart and every pack still loaded. A person who types a hidden command's API call directly gets what their roles allow: the lens is presentation, not security.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config/editions/risk.yaml, world.yaml, market.yaml; docs/architecture/EDITIONS.md sections 4 and 7 (Drishti Risk: five packs, its commands, landings desk, command and map; desk the default), 12 (Drishti World: the five public-data packs allow-only, their 32 commands; World desk, Explorer, World map; a teal accent) and 13 (Drishti Market: market-data and the core it extends, its 22 commands, no trades and no VaR; Market desk, Explorer, Quality: stale, gaps, discount factors and forwards, vol surfaces; a violet accent); section 7 and EDITIONS_GUIDE.md section 4 (home.landing-by-role: read, wins over the choice when configured, the hook for role-based access later); EDITIONS.md section 8 (lens.roles: documented, not wired: PLANNED). Pictures: the built desks of the three editions, captured from the editions' browser tests' consoles; the desks fill themselves from the engines' and packs' own answers (what the packs do not serve, such as an index level or FX on World's desk, is replaced by the nearest real figure or left out, EDITIONS.md section 12).</a:t>
            </a:r>
          </a:p>
          <a:p/>
          <a:p>
            <a:r>
              <a:t>Talk track: Risk counts its command list in risk.yaml (36 mnemonics plus the words). Each edition names its landings, the template that draws them and their titles; a person's choice is kept in their settings. The Market Quality landing's impact card (VaR at stake for a bad point) is not built: the built landing says so in its place.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docs/architecture/COMPUTED_ATTRIBUTES.md section 13.1 (Q1 nset-mtm, NSMTM: one page per netting set from the trade valuations of a live status; Q2 cpty-mtm, CPMTM: one page per counterparty, CE uncollateralised = Σ over the sets of max(set net, 0); Q4 stress-scenario-pnl, SSPNL: one page per scenario, PNL Σ desks, worst desk, breaches, limit use; the pages: Computed from the trade valuations, beside the stored figures; visible to everyone, built once per business date and data version; Live: a live status and a maturity date not before the valuation date; every derived total in USD, SUM_CURRENCY); the computed-risk-measures rule (compute from trade-grain inputs, never store derived figures). Pictures: docs/guides/img/computed/01-netting-set-computed.jpg and 04-stress-scenario.jpg (tools/docs/shots/computed.py over the packs' samples).</a:t>
            </a:r>
          </a:p>
          <a:p/>
          <a:p>
            <a:r>
              <a:t>Talk track: the same principle as VaR and exposure, applied to the attributes on the pages: a netting set's net MtM, a counterparty's, a stress scenario's bank P&amp;L. The stored copy stays visible beside the computation, with the difference, until the engine that retires it is built.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docs/architecture/COMPUTED_ATTRIBUTES.md section 13.1 (Q3: the Checks panels on the collateral balance, the credit limit, SA-CCR and the stress result), 13.2 (collateral after haircut, F3: across the 76 balances the holdings' market value is 6,304.4m and their value after haircut 6,229.6m) and 13.3 (E0: ExposureLoader reads a netting set's members and current MtM from trade-valuation, live status; the collateral held is the holdings after haircut; the limit is the counterparty's credit-limit; the BANK demo run of 74 sets: peak PFE 95% 2,858,060,180 → 2,897,620,439, EPE 945,577,981 → 947,202,991, CE 1,532,007,701 → 1,586,811,699). Pictures: docs/guides/img/computed/05-collateral-checks.jpg, 06-credit-limit-checks.jpg, 03-counterparty-computed.jpg (EXPOSURE_GUIDE.md section 22).</a:t>
            </a:r>
          </a:p>
          <a:p/>
          <a:p>
            <a:r>
              <a:t>Talk track: the members and their MtM are the same on the test data, so every change comes from collateral after haircut: a smaller balance held raises the exposure of a set the bank is collateralised for; a smaller balance posted lowers it.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docs/architecture/COMPUTED_ATTRIBUTES.md section 13.4 (on the test data's 2026-09-30: 55 of 76 sets equal; the 21 others hold 827 trades of a live status past their maturity date, MtM 16.7m in total, which Live leaves out and the stored total counts; with them added back all 76 of 76 agree to the dollar), 13.2 (the test-data fixes: trades, trade valuations, P&amp;L vectors, scenario PVs, FX scenarios, scenario sets and exposure paths byte for byte as before, so VAR BANK on 2026-09-30 stays USD 112,041,646; netting-set.UTILISATION dropped; VaR limits only in var-limit; the retirement guard tools/contracts.policy.yaml removed: fails the build if netting-set.UTILISATION, risk-hierarchy.LIMIT_VAR or portfolio.LIMIT_VAR return) and 13.5 (still open: retire the stored figures with the NSET engine: PLANNED).</a:t>
            </a:r>
          </a:p>
          <a:p/>
          <a:p>
            <a:r>
              <a:t>Talk track: reconciliation is the evidence that the computation is right: equal where the data agrees, and where it does not, the difference is one named data-quality cause (trades past maturity still marked live).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docs/architecture/ARCHITECTURE.md section 16.1 (data formats on the wire: JSON by default, Arrow where it pays; the table of boundaries, formats and reasons); docs/guides/DATA_FORMATS.md section 6 (design and measurements, 2026-10-30: one machine, Chromium through Playwright, bytes as the console sends them and gzip -6 as a proxy would); docs/architecture/IMPLEMENTATION_PLAN.md, the open items, row 0 'Arrow where it pays'.</a:t>
            </a:r>
          </a:p>
          <a:p/>
          <a:p>
            <a:r>
              <a:t>How: a client that sends Accept: application/vnd.apache.arrow.stream gets Arrow IPC where the server offers it (the VaR contributions and the BI queries), cell for cell the same table as the JSON answer, the rest in the schema's metadata; anything Arrow cannot carry falls back to JSON. The browser reads it with drishtiFetchTable and Apache Arrow JS, vendored and loaded only by the VaR explorer; nothing from a CDN.</a:t>
            </a:r>
          </a:p>
          <a:p/>
          <a:p>
            <a:r>
              <a:t>Measured: contributions by trade 631,873 to 244,304 bytes (gzip 96,318 to 81,628), by position 692,324 to 243,392 (gzip 87,571 to 69,496): 61 and 65% fewer bytes; fetch through the console 59 to 61 ms against 81 to 91 ms; painted in the same time. Kept JSON: the BI grid at 5,000 and 50,000 trades (36% smaller raw, 8 to 14% gzip, slower to parse, painted no sooner; the paint of many rows is the DOM's, whatever the format); the 509-point P&amp;L path (22,032 against 21,607 bytes, gzip larger). Search: a 1,000-row page is 680 KB of HTML while its rows would be 124 KB as JSON and 74 KB as Arrow: the saving is in drawing the table in the browser, which belongs with the client-side renderer (PLANNED, not built).</a:t>
            </a:r>
          </a:p>
          <a:p/>
          <a:p>
            <a:r>
              <a:t>Talk track: we measured before choosing. Arrow paid for the big numeric contribution tables and nowhere else in the browser; the hot files, the lake and the shard partials keep the formats that are already faster.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the paths in the repository; the closing slide's notes list the same places to read more.</a:t>
            </a:r>
          </a:p>
          <a:p/>
          <a:p>
            <a:r>
              <a:t>Talk track: every chapter of this deck has a guide behind it; the two companion decks go deeper into the VaR engine and into running Drishti on AWS.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1132141"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Drishti mark" descr="Drishti logo: an eye between curly brackets"/>
          <p:cNvPicPr>
            <a:picLocks noChangeAspect="1"/>
          </p:cNvPicPr>
          <p:nvPr/>
        </p:nvPicPr>
        <p:blipFill>
          <a:blip r:embed="rId2"/>
          <a:stretch>
            <a:fillRect/>
          </a:stretch>
        </p:blipFill>
        <p:spPr>
          <a:xfrm>
            <a:off x="777240" y="6469380"/>
            <a:ext cx="281749" cy="155448"/>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2.jpg"/><Relationship Id="rId2" Type="http://schemas.openxmlformats.org/officeDocument/2006/relationships/slideLayout" Target="../slideLayouts/slideLayout2.xml"/><Relationship Id="rId3" Type="http://schemas.openxmlformats.org/officeDocument/2006/relationships/notesSlide" Target="../notesSlides/notesSlide17.xml"/><Relationship Id="rId4" Type="http://schemas.openxmlformats.org/officeDocument/2006/relationships/image" Target="../media/image28.jpg"/></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 Id="rId4" Type="http://schemas.openxmlformats.org/officeDocument/2006/relationships/image" Target="../media/image29.jpg"/></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 Id="rId4" Type="http://schemas.openxmlformats.org/officeDocument/2006/relationships/image" Target="../media/image30.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4.xml"/></Relationships>
</file>

<file path=ppt/slides/_rels/slide21.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4" Type="http://schemas.openxmlformats.org/officeDocument/2006/relationships/image" Target="../media/image31.jpg"/><Relationship Id="rId99" Type="http://schemas.openxmlformats.org/officeDocument/2006/relationships/notesSlide" Target="../notesSlides/notesSlide45.xml"/></Relationships>
</file>

<file path=ppt/slides/_rels/slide22.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99" Type="http://schemas.openxmlformats.org/officeDocument/2006/relationships/notesSlide" Target="../notesSlides/notesSlide46.xml"/></Relationships>
</file>

<file path=ppt/slides/_rels/slide23.xml.rels><?xml version='1.0' encoding='UTF-8' standalone='yes'?>
<Relationships xmlns="http://schemas.openxmlformats.org/package/2006/relationships"><Relationship Id="rId1" Type="http://schemas.openxmlformats.org/officeDocument/2006/relationships/image" Target="../media/image-20-2.jpg"/><Relationship Id="rId2" Type="http://schemas.openxmlformats.org/officeDocument/2006/relationships/slideLayout" Target="../slideLayouts/slideLayout2.xml"/><Relationship Id="rId3" Type="http://schemas.openxmlformats.org/officeDocument/2006/relationships/notesSlide" Target="../notesSlides/notesSlide20.xml"/><Relationship Id="rId4" Type="http://schemas.openxmlformats.org/officeDocument/2006/relationships/image" Target="../media/image32.jpg"/></Relationships>
</file>

<file path=ppt/slides/_rels/slide24.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 Id="rId5" Type="http://schemas.openxmlformats.org/officeDocument/2006/relationships/image" Target="../media/image33.jpg"/><Relationship Id="rId6" Type="http://schemas.openxmlformats.org/officeDocument/2006/relationships/image" Target="../media/image34.jpg"/></Relationships>
</file>

<file path=ppt/slides/_rels/slide25.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 Id="rId4" Type="http://schemas.openxmlformats.org/officeDocument/2006/relationships/image" Target="../media/image35.jpg"/></Relationships>
</file>

<file path=ppt/slides/_rels/slide26.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 Id="rId4" Type="http://schemas.openxmlformats.org/officeDocument/2006/relationships/image" Target="../media/image3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 Id="rId4" Type="http://schemas.openxmlformats.org/officeDocument/2006/relationships/image" Target="../media/image37.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4" Type="http://schemas.openxmlformats.org/officeDocument/2006/relationships/image" Target="../media/image1.jpg"/><Relationship Id="rId99" Type="http://schemas.openxmlformats.org/officeDocument/2006/relationships/notesSlide" Target="../notesSlides/notesSlide47.xml"/></Relationships>
</file>

<file path=ppt/slides/_rels/slide30.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image" Target="../media/image-26-4.jpg"/><Relationship Id="rId5" Type="http://schemas.openxmlformats.org/officeDocument/2006/relationships/slideLayout" Target="../slideLayouts/slideLayout2.xml"/><Relationship Id="rId6" Type="http://schemas.openxmlformats.org/officeDocument/2006/relationships/notesSlide" Target="../notesSlides/notesSlide26.xml"/><Relationship Id="rId7" Type="http://schemas.openxmlformats.org/officeDocument/2006/relationships/image" Target="../media/image38.jpg"/><Relationship Id="rId8" Type="http://schemas.openxmlformats.org/officeDocument/2006/relationships/image" Target="../media/image39.jpg"/><Relationship Id="rId9" Type="http://schemas.openxmlformats.org/officeDocument/2006/relationships/image" Target="../media/image40.jpg"/><Relationship Id="rId10" Type="http://schemas.openxmlformats.org/officeDocument/2006/relationships/image" Target="../media/image41.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2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2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 Id="rId3" Type="http://schemas.openxmlformats.org/officeDocument/2006/relationships/image" Target="../media/image2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 Id="rId3" Type="http://schemas.openxmlformats.org/officeDocument/2006/relationships/image" Target="../media/image2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image" Target="../media/image2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image" Target="../media/image7.jpg"/><Relationship Id="rId5" Type="http://schemas.openxmlformats.org/officeDocument/2006/relationships/image" Target="../media/image8.jp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chart" Target="../charts/chart4.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5.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g"/><Relationship Id="rId3" Type="http://schemas.openxmlformats.org/officeDocument/2006/relationships/chart" Target="../charts/chart6.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jp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7.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jpg"/><Relationship Id="rId3" Type="http://schemas.openxmlformats.org/officeDocument/2006/relationships/image" Target="../media/image19.jpg"/><Relationship Id="rId4" Type="http://schemas.openxmlformats.org/officeDocument/2006/relationships/image" Target="../media/image20.jp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jpg"/><Relationship Id="rId3" Type="http://schemas.openxmlformats.org/officeDocument/2006/relationships/image" Target="../media/image22.jpg"/><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jpg"/><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9" name="Text 7"/>
          <p:cNvSpPr txBox="1"/>
          <p:nvPr/>
        </p:nvSpPr>
        <p:spPr>
          <a:xfrm>
            <a:off x="1051560" y="1325880"/>
            <a:ext cx="8595360" cy="1133856"/>
          </a:xfrm>
          <a:prstGeom prst="rect">
            <a:avLst/>
          </a:prstGeom>
          <a:noFill/>
          <a:ln/>
        </p:spPr>
        <p:txBody>
          <a:bodyPr wrap="square" lIns="0" tIns="0" rIns="0" bIns="0" rtlCol="0" anchor="t"/>
          <a:lstStyle/>
          <a:p>
            <a:pPr indent="0" marL="0">
              <a:buNone/>
            </a:pPr>
            <a:r>
              <a:rPr lang="en-US" sz="3400" b="1" dirty="0">
                <a:solidFill>
                  <a:srgbClr val="FFFFFF"/>
                </a:solidFill>
              </a:rPr>
              <a:t>A live terminal for any record,</a:t>
            </a:r>
            <a:endParaRPr lang="en-US" sz="3400" dirty="0"/>
          </a:p>
          <a:p>
            <a:pPr indent="0" marL="0">
              <a:buNone/>
            </a:pPr>
            <a:r>
              <a:rPr lang="en-US" sz="3400" b="1" dirty="0">
                <a:solidFill>
                  <a:srgbClr val="FFFFFF"/>
                </a:solidFill>
              </a:rPr>
              <a:t>without a screen per product</a:t>
            </a:r>
            <a:endParaRPr lang="en-US" sz="3400" dirty="0"/>
          </a:p>
        </p:txBody>
      </p:sp>
      <p:sp>
        <p:nvSpPr>
          <p:cNvPr id="10" name="Shape 8"/>
          <p:cNvSpPr/>
          <p:nvPr/>
        </p:nvSpPr>
        <p:spPr>
          <a:xfrm>
            <a:off x="1051560" y="2578608"/>
            <a:ext cx="1554480" cy="36576"/>
          </a:xfrm>
          <a:prstGeom prst="rect">
            <a:avLst/>
          </a:prstGeom>
          <a:solidFill>
            <a:srgbClr val="C4384B"/>
          </a:solidFill>
          <a:ln/>
        </p:spPr>
        <p:txBody>
          <a:bodyPr/>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Java 21 or later · console on any device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Why: a screen is a paragraph</a:t>
            </a:r>
            <a:endParaRPr lang="en-US" sz="1200" dirty="0"/>
          </a:p>
          <a:p>
            <a:pPr indent="0" marL="0">
              <a:spcAft>
                <a:spcPts val="600"/>
              </a:spcAft>
              <a:buNone/>
            </a:pPr>
            <a:r>
              <a:rPr lang="en-US" sz="1200" b="1" dirty="0">
                <a:solidFill>
                  <a:srgbClr val="A51C30"/>
                </a:solidFill>
              </a:rPr>
              <a:t>2  How it works: the design</a:t>
            </a:r>
            <a:endParaRPr lang="en-US" sz="1200" dirty="0"/>
          </a:p>
          <a:p>
            <a:pPr indent="0" marL="0">
              <a:spcAft>
                <a:spcPts val="600"/>
              </a:spcAft>
              <a:buNone/>
            </a:pPr>
            <a:r>
              <a:rPr lang="en-US" sz="1200" b="1" dirty="0">
                <a:solidFill>
                  <a:srgbClr val="A51C30"/>
                </a:solidFill>
              </a:rPr>
              <a:t>3  The product</a:t>
            </a:r>
            <a:endParaRPr lang="en-US" sz="1200" dirty="0"/>
          </a:p>
          <a:p>
            <a:pPr indent="0" marL="0">
              <a:spcAft>
                <a:spcPts val="600"/>
              </a:spcAft>
              <a:buNone/>
            </a:pPr>
            <a:r>
              <a:rPr lang="en-US" sz="1200" b="1" dirty="0">
                <a:solidFill>
                  <a:srgbClr val="A51C30"/>
                </a:solidFill>
              </a:rPr>
              <a:t>4  Editions and lenses</a:t>
            </a:r>
            <a:endParaRPr lang="en-US" sz="1200" dirty="0"/>
          </a:p>
          <a:p>
            <a:pPr indent="0" marL="0">
              <a:spcAft>
                <a:spcPts val="600"/>
              </a:spcAft>
              <a:buNone/>
            </a:pPr>
            <a:r>
              <a:rPr lang="en-US" sz="1200" b="1" dirty="0">
                <a:solidFill>
                  <a:srgbClr val="A51C30"/>
                </a:solidFill>
              </a:rPr>
              <a:t>5  Data in, and the lakes</a:t>
            </a:r>
            <a:endParaRPr lang="en-US" sz="1200" dirty="0"/>
          </a:p>
          <a:p>
            <a:pPr indent="0" marL="0">
              <a:spcAft>
                <a:spcPts val="600"/>
              </a:spcAft>
              <a:buNone/>
            </a:pPr>
            <a:r>
              <a:rPr lang="en-US" sz="1200" b="1" dirty="0">
                <a:solidFill>
                  <a:srgbClr val="A51C30"/>
                </a:solidFill>
              </a:rPr>
              <a:t>6  Screens, built without code</a:t>
            </a:r>
            <a:endParaRPr lang="en-US" sz="1200" dirty="0"/>
          </a:p>
          <a:p>
            <a:pPr indent="0" marL="0">
              <a:spcAft>
                <a:spcPts val="600"/>
              </a:spcAft>
              <a:buNone/>
            </a:pPr>
            <a:r>
              <a:rPr lang="en-US" sz="1200" b="1" dirty="0">
                <a:solidFill>
                  <a:srgbClr val="A51C30"/>
                </a:solidFill>
              </a:rPr>
              <a:t>7  BI on the same data</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8  Risk, computed on demand</a:t>
            </a:r>
            <a:endParaRPr lang="en-US" sz="1200" dirty="0"/>
          </a:p>
          <a:p>
            <a:pPr indent="0" marL="0">
              <a:spcAft>
                <a:spcPts val="600"/>
              </a:spcAft>
              <a:buNone/>
            </a:pPr>
            <a:r>
              <a:rPr lang="en-US" sz="1200" b="1" dirty="0">
                <a:solidFill>
                  <a:srgbClr val="A51C30"/>
                </a:solidFill>
              </a:rPr>
              <a:t>9  Security, drawn as flows</a:t>
            </a:r>
            <a:endParaRPr lang="en-US" sz="1200" dirty="0"/>
          </a:p>
          <a:p>
            <a:pPr indent="0" marL="0">
              <a:spcAft>
                <a:spcPts val="600"/>
              </a:spcAft>
              <a:buNone/>
            </a:pPr>
            <a:r>
              <a:rPr lang="en-US" sz="1200" b="1" dirty="0">
                <a:solidFill>
                  <a:srgbClr val="A51C30"/>
                </a:solidFill>
              </a:rPr>
              <a:t>10  Evidence, by the numbers</a:t>
            </a:r>
            <a:endParaRPr lang="en-US" sz="1200" dirty="0"/>
          </a:p>
          <a:p>
            <a:pPr indent="0" marL="0">
              <a:spcAft>
                <a:spcPts val="600"/>
              </a:spcAft>
              <a:buNone/>
            </a:pPr>
            <a:r>
              <a:rPr lang="en-US" sz="1200" b="1" dirty="0">
                <a:solidFill>
                  <a:srgbClr val="A51C30"/>
                </a:solidFill>
              </a:rPr>
              <a:t>11  Operating it</a:t>
            </a:r>
            <a:endParaRPr lang="en-US" sz="1200" dirty="0"/>
          </a:p>
          <a:p>
            <a:pPr indent="0" marL="0">
              <a:spcAft>
                <a:spcPts val="600"/>
              </a:spcAft>
              <a:buNone/>
            </a:pPr>
            <a:r>
              <a:rPr lang="en-US" sz="1200" b="1" dirty="0">
                <a:solidFill>
                  <a:srgbClr val="A51C30"/>
                </a:solidFill>
              </a:rPr>
              <a:t>12  Where it is going</a:t>
            </a:r>
            <a:endParaRPr lang="en-US" sz="1200" dirty="0"/>
          </a:p>
          <a:p>
            <a:pPr indent="0" marL="0">
              <a:spcAft>
                <a:spcPts val="600"/>
              </a:spcAft>
              <a:buNone/>
            </a:pPr>
            <a:r>
              <a:rPr lang="en-US" sz="1200" b="1" dirty="0">
                <a:solidFill>
                  <a:srgbClr val="A51C30"/>
                </a:solidFill>
              </a:rPr>
              <a:t>A  Appendix: reference</a:t>
            </a:r>
            <a:endParaRPr lang="en-US" sz="1200" dirty="0"/>
          </a:p>
          <a:p>
            <a:pPr indent="0" marL="0">
              <a:spcAft>
                <a:spcPts val="600"/>
              </a:spcAft>
              <a:buNone/>
            </a:pPr>
            <a:r>
              <a:rPr lang="en-US" sz="1200" b="1" dirty="0">
                <a:solidFill>
                  <a:srgbClr val="A51C30"/>
                </a:solidFill>
              </a:rPr>
              <a:t>Related documents</a:t>
            </a:r>
            <a:endParaRPr lang="en-US" sz="1200" dirty="0"/>
          </a:p>
        </p:txBody>
      </p:sp>
      <p:pic>
        <p:nvPicPr>
          <p:cNvPr id="16" name="Drishti logo" descr="Drishti logo: an eye between curly brackets"/>
          <p:cNvPicPr>
            <a:picLocks noChangeAspect="1"/>
          </p:cNvPicPr>
          <p:nvPr/>
        </p:nvPicPr>
        <p:blipFill>
          <a:blip r:embed="rId3"/>
          <a:stretch>
            <a:fillRect/>
          </a:stretch>
        </p:blipFill>
        <p:spPr>
          <a:xfrm>
            <a:off x="8503920" y="603504"/>
            <a:ext cx="2633472" cy="457200"/>
          </a:xfrm>
          <a:prstGeom prst="rect">
            <a:avLst/>
          </a:prstGeom>
        </p:spPr>
      </p:pic>
      <p:sp>
        <p:nvSpPr>
          <p:cNvPr id="17" name="Slogan"/>
          <p:cNvSpPr txBox="1"/>
          <p:nvPr/>
        </p:nvSpPr>
        <p:spPr>
          <a:xfrm>
            <a:off x="1051560" y="2688336"/>
            <a:ext cx="9692640" cy="457200"/>
          </a:xfrm>
          <a:prstGeom prst="rect">
            <a:avLst/>
          </a:prstGeom>
          <a:noFill/>
        </p:spPr>
        <p:txBody>
          <a:bodyPr wrap="square" lIns="0" rIns="0" tIns="0" bIns="0" anchor="ctr">
            <a:spAutoFit/>
          </a:bodyPr>
          <a:lstStyle/>
          <a:p>
            <a:pPr algn="l"/>
            <a:r>
              <a:rPr sz="2600" b="0" i="1">
                <a:solidFill>
                  <a:srgbClr val="FFFFFF"/>
                </a:solidFill>
              </a:rPr>
              <a:t>See what your data </a:t>
            </a:r>
            <a:r>
              <a:rPr sz="2600" b="0" i="1">
                <a:solidFill>
                  <a:srgbClr val="E39B2D"/>
                </a:solidFill>
              </a:rPr>
              <a:t>hasn't told you yet.</a:t>
            </a:r>
          </a:p>
        </p:txBody>
      </p:sp>
      <p:sp>
        <p:nvSpPr>
          <p:cNvPr id="18" name="Tagline"/>
          <p:cNvSpPr txBox="1"/>
          <p:nvPr/>
        </p:nvSpPr>
        <p:spPr>
          <a:xfrm>
            <a:off x="1051560" y="3191256"/>
            <a:ext cx="9692640" cy="274320"/>
          </a:xfrm>
          <a:prstGeom prst="rect">
            <a:avLst/>
          </a:prstGeom>
          <a:noFill/>
        </p:spPr>
        <p:txBody>
          <a:bodyPr wrap="square" lIns="0" rIns="0" tIns="0" bIns="0" anchor="ctr">
            <a:spAutoFit/>
          </a:bodyPr>
          <a:lstStyle/>
          <a:p>
            <a:pPr algn="l"/>
            <a:r>
              <a:rPr sz="1100" b="1" i="0" spc="300">
                <a:solidFill>
                  <a:srgbClr val="E39B2D"/>
                </a:solidFill>
              </a:rPr>
              <a:t>ANY DATA. ANY DOMAIN. ONE GRAMMAR.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TL;DR</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Executive summary</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08176"/>
            <a:ext cx="10634472" cy="868680"/>
          </a:xfrm>
          <a:prstGeom prst="rect">
            <a:avLst/>
          </a:prstGeom>
          <a:solidFill>
            <a:srgbClr val="F7F5F2"/>
          </a:solidFill>
          <a:ln/>
        </p:spPr>
        <p:txBody>
          <a:bodyPr/>
          <a:p/>
        </p:txBody>
      </p:sp>
      <p:sp>
        <p:nvSpPr>
          <p:cNvPr id="7" name="Shape 4"/>
          <p:cNvSpPr/>
          <p:nvPr/>
        </p:nvSpPr>
        <p:spPr>
          <a:xfrm>
            <a:off x="777240" y="1408176"/>
            <a:ext cx="2651760" cy="868680"/>
          </a:xfrm>
          <a:prstGeom prst="rect">
            <a:avLst/>
          </a:prstGeom>
          <a:solidFill>
            <a:srgbClr val="F6E6E9"/>
          </a:solidFill>
          <a:ln/>
        </p:spPr>
        <p:txBody>
          <a:bodyPr/>
          <a:p/>
        </p:txBody>
      </p:sp>
      <p:sp>
        <p:nvSpPr>
          <p:cNvPr id="8" name="Shape 5"/>
          <p:cNvSpPr/>
          <p:nvPr/>
        </p:nvSpPr>
        <p:spPr>
          <a:xfrm>
            <a:off x="777240" y="1408176"/>
            <a:ext cx="54864" cy="868680"/>
          </a:xfrm>
          <a:prstGeom prst="rect">
            <a:avLst/>
          </a:prstGeom>
          <a:solidFill>
            <a:srgbClr val="A51C30"/>
          </a:solidFill>
          <a:ln/>
        </p:spPr>
        <p:txBody>
          <a:bodyPr/>
          <a:p/>
        </p:txBody>
      </p:sp>
      <p:sp>
        <p:nvSpPr>
          <p:cNvPr id="9" name="Text 6"/>
          <p:cNvSpPr txBox="1"/>
          <p:nvPr/>
        </p:nvSpPr>
        <p:spPr>
          <a:xfrm>
            <a:off x="1005840" y="1408176"/>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a live entity terminal?</a:t>
            </a:r>
            <a:endParaRPr lang="en-US" sz="1500" dirty="0"/>
          </a:p>
        </p:txBody>
      </p:sp>
      <p:sp>
        <p:nvSpPr>
          <p:cNvPr id="10" name="Text 7"/>
          <p:cNvSpPr txBox="1"/>
          <p:nvPr/>
        </p:nvSpPr>
        <p:spPr>
          <a:xfrm>
            <a:off x="3703320" y="1408176"/>
            <a:ext cx="7543800" cy="868680"/>
          </a:xfrm>
          <a:prstGeom prst="rect">
            <a:avLst/>
          </a:prstGeom>
          <a:noFill/>
          <a:ln/>
        </p:spPr>
        <p:txBody>
          <a:bodyPr wrap="square" lIns="0" tIns="0" rIns="0" bIns="0" rtlCol="0" anchor="ctr"/>
          <a:lstStyle/>
          <a:p>
            <a:pPr indent="0" marL="0">
              <a:buNone/>
            </a:pPr>
            <a:r>
              <a:rPr lang="en-US" sz="1300" dirty="0">
                <a:solidFill>
                  <a:srgbClr val="1A1A1A"/>
                </a:solidFill>
              </a:rPr>
              <a:t>One dense, keyboard-driven, ticking screen for any single record (a swap, a netting set, a fund, a company, an economy) linked to everything it touches, with its provenance shown.</a:t>
            </a:r>
            <a:endParaRPr lang="en-US" sz="1300" dirty="0"/>
          </a:p>
        </p:txBody>
      </p:sp>
      <p:sp>
        <p:nvSpPr>
          <p:cNvPr id="11" name="Shape 8"/>
          <p:cNvSpPr/>
          <p:nvPr/>
        </p:nvSpPr>
        <p:spPr>
          <a:xfrm>
            <a:off x="777240" y="2395728"/>
            <a:ext cx="10634472" cy="868680"/>
          </a:xfrm>
          <a:prstGeom prst="rect">
            <a:avLst/>
          </a:prstGeom>
          <a:solidFill>
            <a:srgbClr val="F7F5F2"/>
          </a:solidFill>
          <a:ln/>
        </p:spPr>
        <p:txBody>
          <a:bodyPr/>
          <a:p/>
        </p:txBody>
      </p:sp>
      <p:sp>
        <p:nvSpPr>
          <p:cNvPr id="12" name="Shape 9"/>
          <p:cNvSpPr/>
          <p:nvPr/>
        </p:nvSpPr>
        <p:spPr>
          <a:xfrm>
            <a:off x="777240" y="2395728"/>
            <a:ext cx="2651760" cy="868680"/>
          </a:xfrm>
          <a:prstGeom prst="rect">
            <a:avLst/>
          </a:prstGeom>
          <a:solidFill>
            <a:srgbClr val="F6E6E9"/>
          </a:solidFill>
          <a:ln/>
        </p:spPr>
        <p:txBody>
          <a:bodyPr/>
          <a:p/>
        </p:txBody>
      </p:sp>
      <p:sp>
        <p:nvSpPr>
          <p:cNvPr id="13" name="Shape 10"/>
          <p:cNvSpPr/>
          <p:nvPr/>
        </p:nvSpPr>
        <p:spPr>
          <a:xfrm>
            <a:off x="777240" y="2395728"/>
            <a:ext cx="54864" cy="868680"/>
          </a:xfrm>
          <a:prstGeom prst="rect">
            <a:avLst/>
          </a:prstGeom>
          <a:solidFill>
            <a:srgbClr val="A51C30"/>
          </a:solidFill>
          <a:ln/>
        </p:spPr>
        <p:txBody>
          <a:bodyPr/>
          <a:p/>
        </p:txBody>
      </p:sp>
      <p:sp>
        <p:nvSpPr>
          <p:cNvPr id="14" name="Text 11"/>
          <p:cNvSpPr txBox="1"/>
          <p:nvPr/>
        </p:nvSpPr>
        <p:spPr>
          <a:xfrm>
            <a:off x="1005840" y="2395728"/>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Drishti?</a:t>
            </a:r>
            <a:endParaRPr lang="en-US" sz="1500" dirty="0"/>
          </a:p>
        </p:txBody>
      </p:sp>
      <p:sp>
        <p:nvSpPr>
          <p:cNvPr id="15" name="Text 12"/>
          <p:cNvSpPr txBox="1"/>
          <p:nvPr/>
        </p:nvSpPr>
        <p:spPr>
          <a:xfrm>
            <a:off x="3703320" y="2395728"/>
            <a:ext cx="7543800" cy="868680"/>
          </a:xfrm>
          <a:prstGeom prst="rect">
            <a:avLst/>
          </a:prstGeom>
          <a:noFill/>
          <a:ln/>
        </p:spPr>
        <p:txBody>
          <a:bodyPr wrap="square" lIns="0" tIns="0" rIns="0" bIns="0" rtlCol="0" anchor="ctr"/>
          <a:lstStyle/>
          <a:p>
            <a:pPr indent="0" marL="0">
              <a:buNone/>
            </a:pPr>
            <a:r>
              <a:rPr lang="en-US" sz="1300" dirty="0">
                <a:solidFill>
                  <a:srgbClr val="1A1A1A"/>
                </a:solidFill>
              </a:rPr>
              <a:t>A Java 21 server and a web console that turn any record into that screen, with BI on the same data and masks, and risk computed on demand: VaR and exposure for any scope, from the bank to one trade.</a:t>
            </a:r>
            <a:endParaRPr lang="en-US" sz="1300" dirty="0"/>
          </a:p>
        </p:txBody>
      </p:sp>
      <p:sp>
        <p:nvSpPr>
          <p:cNvPr id="16" name="Shape 13"/>
          <p:cNvSpPr/>
          <p:nvPr/>
        </p:nvSpPr>
        <p:spPr>
          <a:xfrm>
            <a:off x="777240" y="3383280"/>
            <a:ext cx="10634472" cy="868680"/>
          </a:xfrm>
          <a:prstGeom prst="rect">
            <a:avLst/>
          </a:prstGeom>
          <a:solidFill>
            <a:srgbClr val="F7F5F2"/>
          </a:solidFill>
          <a:ln/>
        </p:spPr>
        <p:txBody>
          <a:bodyPr/>
          <a:p/>
        </p:txBody>
      </p:sp>
      <p:sp>
        <p:nvSpPr>
          <p:cNvPr id="17" name="Shape 14"/>
          <p:cNvSpPr/>
          <p:nvPr/>
        </p:nvSpPr>
        <p:spPr>
          <a:xfrm>
            <a:off x="777240" y="3383280"/>
            <a:ext cx="2651760" cy="868680"/>
          </a:xfrm>
          <a:prstGeom prst="rect">
            <a:avLst/>
          </a:prstGeom>
          <a:solidFill>
            <a:srgbClr val="F6E6E9"/>
          </a:solidFill>
          <a:ln/>
        </p:spPr>
        <p:txBody>
          <a:bodyPr/>
          <a:p/>
        </p:txBody>
      </p:sp>
      <p:sp>
        <p:nvSpPr>
          <p:cNvPr id="18" name="Shape 15"/>
          <p:cNvSpPr/>
          <p:nvPr/>
        </p:nvSpPr>
        <p:spPr>
          <a:xfrm>
            <a:off x="777240" y="3383280"/>
            <a:ext cx="54864" cy="868680"/>
          </a:xfrm>
          <a:prstGeom prst="rect">
            <a:avLst/>
          </a:prstGeom>
          <a:solidFill>
            <a:srgbClr val="A51C30"/>
          </a:solidFill>
          <a:ln/>
        </p:spPr>
        <p:txBody>
          <a:bodyPr/>
          <a:p/>
        </p:txBody>
      </p:sp>
      <p:sp>
        <p:nvSpPr>
          <p:cNvPr id="19" name="Text 16"/>
          <p:cNvSpPr txBox="1"/>
          <p:nvPr/>
        </p:nvSpPr>
        <p:spPr>
          <a:xfrm>
            <a:off x="1005840" y="3383280"/>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Why does it matter?</a:t>
            </a:r>
            <a:endParaRPr lang="en-US" sz="1500" dirty="0"/>
          </a:p>
        </p:txBody>
      </p:sp>
      <p:sp>
        <p:nvSpPr>
          <p:cNvPr id="20" name="Text 17"/>
          <p:cNvSpPr txBox="1"/>
          <p:nvPr/>
        </p:nvSpPr>
        <p:spPr>
          <a:xfrm>
            <a:off x="3703320" y="3383280"/>
            <a:ext cx="7543800" cy="868680"/>
          </a:xfrm>
          <a:prstGeom prst="rect">
            <a:avLst/>
          </a:prstGeom>
          <a:noFill/>
          <a:ln/>
        </p:spPr>
        <p:txBody>
          <a:bodyPr wrap="square" lIns="0" tIns="0" rIns="0" bIns="0" rtlCol="0" anchor="ctr"/>
          <a:lstStyle/>
          <a:p>
            <a:pPr indent="0" marL="0">
              <a:buNone/>
            </a:pPr>
            <a:r>
              <a:rPr lang="en-US" sz="1300" dirty="0">
                <a:solidFill>
                  <a:srgbClr val="1A1A1A"/>
                </a:solidFill>
              </a:rPr>
              <a:t>Every entity kind traditionally gets a bespoke screen, written once and rotting; every risk figure a stored number nobody can re-derive. Drishti makes a screen a paragraph and a figure a computation.</a:t>
            </a:r>
            <a:endParaRPr lang="en-US" sz="1300" dirty="0"/>
          </a:p>
        </p:txBody>
      </p:sp>
      <p:sp>
        <p:nvSpPr>
          <p:cNvPr id="21" name="Shape 18"/>
          <p:cNvSpPr/>
          <p:nvPr/>
        </p:nvSpPr>
        <p:spPr>
          <a:xfrm>
            <a:off x="777240" y="4370832"/>
            <a:ext cx="10634472" cy="868680"/>
          </a:xfrm>
          <a:prstGeom prst="rect">
            <a:avLst/>
          </a:prstGeom>
          <a:solidFill>
            <a:srgbClr val="F7F5F2"/>
          </a:solidFill>
          <a:ln/>
        </p:spPr>
        <p:txBody>
          <a:bodyPr/>
          <a:p/>
        </p:txBody>
      </p:sp>
      <p:sp>
        <p:nvSpPr>
          <p:cNvPr id="22" name="Shape 19"/>
          <p:cNvSpPr/>
          <p:nvPr/>
        </p:nvSpPr>
        <p:spPr>
          <a:xfrm>
            <a:off x="777240" y="4370832"/>
            <a:ext cx="2651760" cy="868680"/>
          </a:xfrm>
          <a:prstGeom prst="rect">
            <a:avLst/>
          </a:prstGeom>
          <a:solidFill>
            <a:srgbClr val="F6E6E9"/>
          </a:solidFill>
          <a:ln/>
        </p:spPr>
        <p:txBody>
          <a:bodyPr/>
          <a:p/>
        </p:txBody>
      </p:sp>
      <p:sp>
        <p:nvSpPr>
          <p:cNvPr id="23" name="Shape 20"/>
          <p:cNvSpPr/>
          <p:nvPr/>
        </p:nvSpPr>
        <p:spPr>
          <a:xfrm>
            <a:off x="777240" y="4370832"/>
            <a:ext cx="54864" cy="868680"/>
          </a:xfrm>
          <a:prstGeom prst="rect">
            <a:avLst/>
          </a:prstGeom>
          <a:solidFill>
            <a:srgbClr val="A51C30"/>
          </a:solidFill>
          <a:ln/>
        </p:spPr>
        <p:txBody>
          <a:bodyPr/>
          <a:p/>
        </p:txBody>
      </p:sp>
      <p:sp>
        <p:nvSpPr>
          <p:cNvPr id="24" name="Text 21"/>
          <p:cNvSpPr txBox="1"/>
          <p:nvPr/>
        </p:nvSpPr>
        <p:spPr>
          <a:xfrm>
            <a:off x="1005840" y="4370832"/>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can it do today?</a:t>
            </a:r>
            <a:endParaRPr lang="en-US" sz="1500" dirty="0"/>
          </a:p>
        </p:txBody>
      </p:sp>
      <p:sp>
        <p:nvSpPr>
          <p:cNvPr id="25" name="Text 22"/>
          <p:cNvSpPr txBox="1"/>
          <p:nvPr/>
        </p:nvSpPr>
        <p:spPr>
          <a:xfrm>
            <a:off x="3703320" y="4370832"/>
            <a:ext cx="7543800" cy="868680"/>
          </a:xfrm>
          <a:prstGeom prst="rect">
            <a:avLst/>
          </a:prstGeom>
          <a:noFill/>
          <a:ln/>
        </p:spPr>
        <p:txBody>
          <a:bodyPr wrap="square" lIns="0" tIns="0" rIns="0" bIns="0" rtlCol="0" anchor="ctr"/>
          <a:lstStyle/>
          <a:p>
            <a:pPr indent="0" marL="0">
              <a:buNone/>
            </a:pPr>
            <a:r>
              <a:rPr lang="en-US" sz="1300" dirty="0">
                <a:solidFill>
                  <a:srgbClr val="1A1A1A"/>
                </a:solidFill>
              </a:rPr>
              <a:t>11 packs, 219 Sutras, 106 commands with data contracts, 19 source plugins; three editions; VaR by any hierarchy, sharded across servers, on Delta or Iceberg, equal to the cent; exposure; 35.7M trades served.</a:t>
            </a:r>
            <a:endParaRPr lang="en-US" sz="1300" dirty="0"/>
          </a:p>
        </p:txBody>
      </p:sp>
      <p:sp>
        <p:nvSpPr>
          <p:cNvPr id="26" name="Shape 23"/>
          <p:cNvSpPr/>
          <p:nvPr/>
        </p:nvSpPr>
        <p:spPr>
          <a:xfrm>
            <a:off x="777240" y="5358384"/>
            <a:ext cx="10634472" cy="868680"/>
          </a:xfrm>
          <a:prstGeom prst="rect">
            <a:avLst/>
          </a:prstGeom>
          <a:solidFill>
            <a:srgbClr val="F7F5F2"/>
          </a:solidFill>
          <a:ln/>
        </p:spPr>
        <p:txBody>
          <a:bodyPr/>
          <a:p/>
        </p:txBody>
      </p:sp>
      <p:sp>
        <p:nvSpPr>
          <p:cNvPr id="27" name="Shape 24"/>
          <p:cNvSpPr/>
          <p:nvPr/>
        </p:nvSpPr>
        <p:spPr>
          <a:xfrm>
            <a:off x="777240" y="5358384"/>
            <a:ext cx="2651760" cy="868680"/>
          </a:xfrm>
          <a:prstGeom prst="rect">
            <a:avLst/>
          </a:prstGeom>
          <a:solidFill>
            <a:srgbClr val="F6E6E9"/>
          </a:solidFill>
          <a:ln/>
        </p:spPr>
        <p:txBody>
          <a:bodyPr/>
          <a:p/>
        </p:txBody>
      </p:sp>
      <p:sp>
        <p:nvSpPr>
          <p:cNvPr id="28" name="Shape 25"/>
          <p:cNvSpPr/>
          <p:nvPr/>
        </p:nvSpPr>
        <p:spPr>
          <a:xfrm>
            <a:off x="777240" y="5358384"/>
            <a:ext cx="54864" cy="868680"/>
          </a:xfrm>
          <a:prstGeom prst="rect">
            <a:avLst/>
          </a:prstGeom>
          <a:solidFill>
            <a:srgbClr val="A51C30"/>
          </a:solidFill>
          <a:ln/>
        </p:spPr>
        <p:txBody>
          <a:bodyPr/>
          <a:p/>
        </p:txBody>
      </p:sp>
      <p:sp>
        <p:nvSpPr>
          <p:cNvPr id="29" name="Text 26"/>
          <p:cNvSpPr txBox="1"/>
          <p:nvPr/>
        </p:nvSpPr>
        <p:spPr>
          <a:xfrm>
            <a:off x="1005840" y="5358384"/>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Where is it going?</a:t>
            </a:r>
            <a:endParaRPr lang="en-US" sz="1500" dirty="0"/>
          </a:p>
        </p:txBody>
      </p:sp>
      <p:sp>
        <p:nvSpPr>
          <p:cNvPr id="30" name="Text 27"/>
          <p:cNvSpPr txBox="1"/>
          <p:nvPr/>
        </p:nvSpPr>
        <p:spPr>
          <a:xfrm>
            <a:off x="3703320" y="5358384"/>
            <a:ext cx="7543800" cy="868680"/>
          </a:xfrm>
          <a:prstGeom prst="rect">
            <a:avLst/>
          </a:prstGeom>
          <a:noFill/>
          <a:ln/>
        </p:spPr>
        <p:txBody>
          <a:bodyPr wrap="square" lIns="0" tIns="0" rIns="0" bIns="0" rtlCol="0" anchor="ctr"/>
          <a:lstStyle/>
          <a:p>
            <a:pPr indent="0" marL="0">
              <a:buNone/>
            </a:pPr>
            <a:r>
              <a:rPr lang="en-US" sz="1300" dirty="0">
                <a:solidFill>
                  <a:srgbClr val="1A1A1A"/>
                </a:solidFill>
              </a:rPr>
              <a:t>Planned: 10-day and stressed VaR, a client-side renderer. Parked by the product owner: counterparty, balance-sheet and regulatory measures, then AI and GenUI.</a:t>
            </a:r>
            <a:endParaRPr lang="en-US" sz="13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01</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Why: a screen is a paragraph</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CATEGORY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is a live entity terminal?</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Text 3"/>
          <p:cNvSpPr txBox="1"/>
          <p:nvPr/>
        </p:nvSpPr>
        <p:spPr>
          <a:xfrm>
            <a:off x="777240" y="1508760"/>
            <a:ext cx="10634472" cy="3931920"/>
          </a:xfrm>
          <a:prstGeom prst="rect">
            <a:avLst/>
          </a:prstGeom>
          <a:noFill/>
          <a:ln/>
        </p:spPr>
        <p:txBody>
          <a:bodyPr wrap="square" lIns="0" tIns="0" rIns="0" bIns="0" rtlCol="0" anchor="t"/>
          <a:lstStyle/>
          <a:p>
            <a:pPr indent="0" marL="0">
              <a:buNone/>
            </a:pPr>
            <a:r>
              <a:rPr lang="en-US" sz="1900" b="1" dirty="0">
                <a:solidFill>
                  <a:srgbClr val="A51C30"/>
                </a:solidFill>
              </a:rPr>
              <a:t>▪  One record, one dense screen</a:t>
            </a:r>
            <a:endParaRPr lang="en-US" sz="1900" dirty="0"/>
          </a:p>
          <a:p>
            <a:pPr indent="0" marL="0">
              <a:spcAft>
                <a:spcPts val="1800"/>
              </a:spcAft>
              <a:buNone/>
            </a:pPr>
            <a:r>
              <a:rPr lang="en-US" sz="1600" dirty="0">
                <a:solidFill>
                  <a:srgbClr val="4A5058"/>
                </a:solidFill>
              </a:rPr>
              <a:t>A swap, an FX trade, a netting set, a ticket or a gene variant, with its headline figures in a strip and its detail in up to twenty-two kinds of panel.</a:t>
            </a:r>
            <a:endParaRPr lang="en-US" sz="1900" dirty="0"/>
          </a:p>
          <a:p>
            <a:pPr indent="0" marL="0">
              <a:buNone/>
            </a:pPr>
            <a:r>
              <a:rPr lang="en-US" sz="1900" b="1" dirty="0">
                <a:solidFill>
                  <a:srgbClr val="A51C30"/>
                </a:solidFill>
              </a:rPr>
              <a:t>▪  Live, not refreshed</a:t>
            </a:r>
            <a:endParaRPr lang="en-US" sz="1900" dirty="0"/>
          </a:p>
          <a:p>
            <a:pPr indent="0" marL="0">
              <a:spcAft>
                <a:spcPts val="1800"/>
              </a:spcAft>
              <a:buNone/>
            </a:pPr>
            <a:r>
              <a:rPr lang="en-US" sz="1600" dirty="0">
                <a:solidFill>
                  <a:srgbClr val="4A5058"/>
                </a:solidFill>
              </a:rPr>
              <a:t>When the source changes, the open screen changes: only the changed figures are sent, measured at p99 11 ms from tick to frame.</a:t>
            </a:r>
            <a:endParaRPr lang="en-US" sz="1900" dirty="0"/>
          </a:p>
          <a:p>
            <a:pPr indent="0" marL="0">
              <a:buNone/>
            </a:pPr>
            <a:r>
              <a:rPr lang="en-US" sz="1900" b="1" dirty="0">
                <a:solidFill>
                  <a:srgbClr val="A51C30"/>
                </a:solidFill>
              </a:rPr>
              <a:t>▪  Linked</a:t>
            </a:r>
            <a:endParaRPr lang="en-US" sz="1900" dirty="0"/>
          </a:p>
          <a:p>
            <a:pPr indent="0" marL="0">
              <a:spcAft>
                <a:spcPts val="1800"/>
              </a:spcAft>
              <a:buNone/>
            </a:pPr>
            <a:r>
              <a:rPr lang="en-US" sz="1600" dirty="0">
                <a:solidFill>
                  <a:srgbClr val="4A5058"/>
                </a:solidFill>
              </a:rPr>
              <a:t>Every id on the screen is a link: a trade's counterparty, its netting set, its curve — one keystroke away, across systems.</a:t>
            </a:r>
            <a:endParaRPr lang="en-US" sz="1900" dirty="0"/>
          </a:p>
          <a:p>
            <a:pPr indent="0" marL="0">
              <a:buNone/>
            </a:pPr>
            <a:r>
              <a:rPr lang="en-US" sz="1900" b="1" dirty="0">
                <a:solidFill>
                  <a:srgbClr val="A51C30"/>
                </a:solidFill>
              </a:rPr>
              <a:t>▪  Explained</a:t>
            </a:r>
            <a:endParaRPr lang="en-US" sz="1900" dirty="0"/>
          </a:p>
          <a:p>
            <a:pPr indent="0" marL="0">
              <a:spcAft>
                <a:spcPts val="1800"/>
              </a:spcAft>
              <a:buNone/>
            </a:pPr>
            <a:r>
              <a:rPr lang="en-US" sz="1600" dirty="0">
                <a:solidFill>
                  <a:srgbClr val="4A5058"/>
                </a:solidFill>
              </a:rPr>
              <a:t>Every view says where its data came from, how fresh it is, and why it is laid out the way it is.</a:t>
            </a:r>
            <a:endParaRPr lang="en-US" sz="1900" dirty="0"/>
          </a:p>
        </p:txBody>
      </p:sp>
      <p:sp>
        <p:nvSpPr>
          <p:cNvPr id="7" name="Shape 4"/>
          <p:cNvSpPr/>
          <p:nvPr/>
        </p:nvSpPr>
        <p:spPr>
          <a:xfrm>
            <a:off x="777240" y="5550408"/>
            <a:ext cx="10634472" cy="694944"/>
          </a:xfrm>
          <a:prstGeom prst="rect">
            <a:avLst/>
          </a:prstGeom>
          <a:solidFill>
            <a:srgbClr val="F6E6E9"/>
          </a:solidFill>
          <a:ln/>
        </p:spPr>
        <p:txBody>
          <a:bodyPr/>
          <a:p/>
        </p:txBody>
      </p:sp>
      <p:sp>
        <p:nvSpPr>
          <p:cNvPr id="8" name="Shape 5"/>
          <p:cNvSpPr/>
          <p:nvPr/>
        </p:nvSpPr>
        <p:spPr>
          <a:xfrm>
            <a:off x="777240" y="5550408"/>
            <a:ext cx="54864" cy="694944"/>
          </a:xfrm>
          <a:prstGeom prst="rect">
            <a:avLst/>
          </a:prstGeom>
          <a:solidFill>
            <a:srgbClr val="A51C30"/>
          </a:solidFill>
          <a:ln/>
        </p:spPr>
        <p:txBody>
          <a:bodyPr/>
          <a:p/>
        </p:txBody>
      </p:sp>
      <p:sp>
        <p:nvSpPr>
          <p:cNvPr id="9"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terminal is the standard for dense, live screens — Drishti makes one for any record you have, not only the vendor's.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PROBLEM</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entity kind gets a bespoke screen — and the screen rots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44752"/>
            <a:ext cx="5166360" cy="384048"/>
          </a:xfrm>
          <a:prstGeom prst="rect">
            <a:avLst/>
          </a:prstGeom>
          <a:solidFill>
            <a:srgbClr val="F6E6E9"/>
          </a:solidFill>
          <a:ln/>
        </p:spPr>
        <p:txBody>
          <a:bodyPr/>
          <a:p/>
        </p:txBody>
      </p:sp>
      <p:sp>
        <p:nvSpPr>
          <p:cNvPr id="7" name="Text 4"/>
          <p:cNvSpPr txBox="1"/>
          <p:nvPr/>
        </p:nvSpPr>
        <p:spPr>
          <a:xfrm>
            <a:off x="941832"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 screen per product, in the documents' own words</a:t>
            </a:r>
            <a:endParaRPr lang="en-US" sz="1300" dirty="0"/>
          </a:p>
        </p:txBody>
      </p:sp>
      <p:sp>
        <p:nvSpPr>
          <p:cNvPr id="8" name="Text 5"/>
          <p:cNvSpPr txBox="1"/>
          <p:nvPr/>
        </p:nvSpPr>
        <p:spPr>
          <a:xfrm>
            <a:off x="868680"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Hundreds of entity kinds</a:t>
            </a:r>
            <a:endParaRPr lang="en-US" sz="1500" dirty="0"/>
          </a:p>
          <a:p>
            <a:pPr indent="0" marL="0">
              <a:spcAft>
                <a:spcPts val="900"/>
              </a:spcAft>
              <a:buNone/>
            </a:pPr>
            <a:r>
              <a:rPr lang="en-US" sz="1300" dirty="0">
                <a:solidFill>
                  <a:srgbClr val="4A5058"/>
                </a:solidFill>
              </a:rPr>
              <a:t>“Front-office, risk and operations staff look at hundreds of entity kinds.”</a:t>
            </a:r>
            <a:endParaRPr lang="en-US" sz="1500" dirty="0"/>
          </a:p>
          <a:p>
            <a:pPr indent="0" marL="0">
              <a:buNone/>
            </a:pPr>
            <a:r>
              <a:rPr lang="en-US" sz="1500" b="1" dirty="0">
                <a:solidFill>
                  <a:srgbClr val="A51C30"/>
                </a:solidFill>
              </a:rPr>
              <a:t>▪  Written once, rotting for ever</a:t>
            </a:r>
            <a:endParaRPr lang="en-US" sz="1500" dirty="0"/>
          </a:p>
          <a:p>
            <a:pPr indent="0" marL="0">
              <a:spcAft>
                <a:spcPts val="900"/>
              </a:spcAft>
              <a:buNone/>
            </a:pPr>
            <a:r>
              <a:rPr lang="en-US" sz="1300" dirty="0">
                <a:solidFill>
                  <a:srgbClr val="4A5058"/>
                </a:solidFill>
              </a:rPr>
              <a:t>“Each one traditionally gets a bespoke screen, written once and rotting forever.”</a:t>
            </a:r>
            <a:endParaRPr lang="en-US" sz="1500" dirty="0"/>
          </a:p>
          <a:p>
            <a:pPr indent="0" marL="0">
              <a:buNone/>
            </a:pPr>
            <a:r>
              <a:rPr lang="en-US" sz="1500" b="1" dirty="0">
                <a:solidFill>
                  <a:srgbClr val="A51C30"/>
                </a:solidFill>
              </a:rPr>
              <a:t>▪  Data outruns screens</a:t>
            </a:r>
            <a:endParaRPr lang="en-US" sz="1500" dirty="0"/>
          </a:p>
          <a:p>
            <a:pPr indent="0" marL="0">
              <a:spcAft>
                <a:spcPts val="900"/>
              </a:spcAft>
              <a:buNone/>
            </a:pPr>
            <a:r>
              <a:rPr lang="en-US" sz="1300" dirty="0">
                <a:solidFill>
                  <a:srgbClr val="4A5058"/>
                </a:solidFill>
              </a:rPr>
              <a:t>“The data changes shape faster than screens can be rebuilt.”</a:t>
            </a:r>
            <a:endParaRPr lang="en-US" sz="1500" dirty="0"/>
          </a:p>
        </p:txBody>
      </p:sp>
      <p:sp>
        <p:nvSpPr>
          <p:cNvPr id="9" name="Shape 6"/>
          <p:cNvSpPr/>
          <p:nvPr/>
        </p:nvSpPr>
        <p:spPr>
          <a:xfrm>
            <a:off x="6245352" y="1444752"/>
            <a:ext cx="5166360" cy="384048"/>
          </a:xfrm>
          <a:prstGeom prst="rect">
            <a:avLst/>
          </a:prstGeom>
          <a:solidFill>
            <a:srgbClr val="F6E6E9"/>
          </a:solidFill>
          <a:ln/>
        </p:spPr>
        <p:txBody>
          <a:bodyPr/>
          <a:p/>
        </p:txBody>
      </p:sp>
      <p:sp>
        <p:nvSpPr>
          <p:cNvPr id="10" name="Text 7"/>
          <p:cNvSpPr txBox="1"/>
          <p:nvPr/>
        </p:nvSpPr>
        <p:spPr>
          <a:xfrm>
            <a:off x="6409944"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And what people do in the meantime</a:t>
            </a:r>
            <a:endParaRPr lang="en-US" sz="1300" dirty="0"/>
          </a:p>
        </p:txBody>
      </p:sp>
      <p:sp>
        <p:nvSpPr>
          <p:cNvPr id="11" name="Text 8"/>
          <p:cNvSpPr txBox="1"/>
          <p:nvPr/>
        </p:nvSpPr>
        <p:spPr>
          <a:xfrm>
            <a:off x="6336792"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Tab between systems</a:t>
            </a:r>
            <a:endParaRPr lang="en-US" sz="1500" dirty="0"/>
          </a:p>
          <a:p>
            <a:pPr indent="0" marL="0">
              <a:spcAft>
                <a:spcPts val="900"/>
              </a:spcAft>
              <a:buNone/>
            </a:pPr>
            <a:r>
              <a:rPr lang="en-US" sz="1300" dirty="0">
                <a:solidFill>
                  <a:srgbClr val="4A5058"/>
                </a:solidFill>
              </a:rPr>
              <a:t>“A trade lives in one system, its netting set in another, its curve in a third … the desk tabs between them.”</a:t>
            </a:r>
            <a:endParaRPr lang="en-US" sz="1500" dirty="0"/>
          </a:p>
          <a:p>
            <a:pPr indent="0" marL="0">
              <a:buNone/>
            </a:pPr>
            <a:r>
              <a:rPr lang="en-US" sz="1500" b="1" dirty="0">
                <a:solidFill>
                  <a:srgbClr val="A51C30"/>
                </a:solidFill>
              </a:rPr>
              <a:t>▪  Wait for a screen</a:t>
            </a:r>
            <a:endParaRPr lang="en-US" sz="1500" dirty="0"/>
          </a:p>
          <a:p>
            <a:pPr indent="0" marL="0">
              <a:spcAft>
                <a:spcPts val="900"/>
              </a:spcAft>
              <a:buNone/>
            </a:pPr>
            <a:r>
              <a:rPr lang="en-US" sz="1300" dirty="0">
                <a:solidFill>
                  <a:srgbClr val="4A5058"/>
                </a:solidFill>
              </a:rPr>
              <a:t>“Every new product type waits for a screen.”</a:t>
            </a:r>
            <a:endParaRPr lang="en-US" sz="1500" dirty="0"/>
          </a:p>
          <a:p>
            <a:pPr indent="0" marL="0">
              <a:buNone/>
            </a:pPr>
            <a:r>
              <a:rPr lang="en-US" sz="1500" b="1" dirty="0">
                <a:solidFill>
                  <a:srgbClr val="A51C30"/>
                </a:solidFill>
              </a:rPr>
              <a:t>▪  Read raw JSON</a:t>
            </a:r>
            <a:endParaRPr lang="en-US" sz="1500" dirty="0"/>
          </a:p>
          <a:p>
            <a:pPr indent="0" marL="0">
              <a:spcAft>
                <a:spcPts val="900"/>
              </a:spcAft>
              <a:buNone/>
            </a:pPr>
            <a:r>
              <a:rPr lang="en-US" sz="1300" dirty="0">
                <a:solidFill>
                  <a:srgbClr val="4A5058"/>
                </a:solidFill>
              </a:rPr>
              <a:t>“A new feed or product has no screen at all, so on day one people read raw JSON or wait.”</a:t>
            </a:r>
            <a:endParaRPr lang="en-US" sz="1500" dirty="0"/>
          </a:p>
        </p:txBody>
      </p:sp>
      <p:sp>
        <p:nvSpPr>
          <p:cNvPr id="12" name="Shape 9"/>
          <p:cNvSpPr/>
          <p:nvPr/>
        </p:nvSpPr>
        <p:spPr>
          <a:xfrm>
            <a:off x="777240" y="5550408"/>
            <a:ext cx="10634472" cy="694944"/>
          </a:xfrm>
          <a:prstGeom prst="rect">
            <a:avLst/>
          </a:prstGeom>
          <a:solidFill>
            <a:srgbClr val="F6E6E9"/>
          </a:solidFill>
          <a:ln/>
        </p:spPr>
        <p:txBody>
          <a:bodyPr/>
          <a:p/>
        </p:txBody>
      </p:sp>
      <p:sp>
        <p:nvSpPr>
          <p:cNvPr id="13" name="Shape 10"/>
          <p:cNvSpPr/>
          <p:nvPr/>
        </p:nvSpPr>
        <p:spPr>
          <a:xfrm>
            <a:off x="777240" y="5550408"/>
            <a:ext cx="54864" cy="694944"/>
          </a:xfrm>
          <a:prstGeom prst="rect">
            <a:avLst/>
          </a:prstGeom>
          <a:solidFill>
            <a:srgbClr val="A51C30"/>
          </a:solidFill>
          <a:ln/>
        </p:spPr>
        <p:txBody>
          <a:bodyPr/>
          <a:p/>
        </p:txBody>
      </p:sp>
      <p:sp>
        <p:nvSpPr>
          <p:cNvPr id="14"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Nobody here is short of data — they are short of a screen for it that is dense, live and linked.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SHAPE OF THE FIX</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coded screen per product — to one grammar and inference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8" name="Text 5"/>
          <p:cNvSpPr txBox="1"/>
          <p:nvPr/>
        </p:nvSpPr>
        <p:spPr>
          <a:xfrm>
            <a:off x="914400" y="2057400"/>
            <a:ext cx="1828800" cy="713232"/>
          </a:xfrm>
          <a:prstGeom prst="rect">
            <a:avLst/>
          </a:prstGeom>
          <a:noFill/>
          <a:ln/>
        </p:spPr>
        <p:txBody>
          <a:bodyPr wrap="square" lIns="0" tIns="0" rIns="0" bIns="0" rtlCol="0" anchor="t"/>
          <a:lstStyle/>
          <a:p>
            <a:pPr indent="0" marL="0">
              <a:buNone/>
            </a:pPr>
            <a:r>
              <a:rPr lang="en-US" sz="1150" dirty="0">
                <a:solidFill>
                  <a:srgbClr val="4A5058"/>
                </a:solidFill>
              </a:rPr>
              <a:t>Trades, curves, tickets, variants</a:t>
            </a:r>
            <a:endParaRPr lang="en-US" sz="1150" dirty="0"/>
          </a:p>
        </p:txBody>
      </p:sp>
      <p:sp>
        <p:nvSpPr>
          <p:cNvPr id="9" name="Shape 6"/>
          <p:cNvSpPr/>
          <p:nvPr/>
        </p:nvSpPr>
        <p:spPr>
          <a:xfrm>
            <a:off x="32461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3832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screen per kind</a:t>
            </a:r>
            <a:endParaRPr lang="en-US" sz="1500" dirty="0"/>
          </a:p>
        </p:txBody>
      </p:sp>
      <p:sp>
        <p:nvSpPr>
          <p:cNvPr id="11" name="Text 8"/>
          <p:cNvSpPr txBox="1"/>
          <p:nvPr/>
        </p:nvSpPr>
        <p:spPr>
          <a:xfrm>
            <a:off x="33832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Coded by a developer, per product</a:t>
            </a:r>
            <a:endParaRPr lang="en-US" sz="1150" dirty="0"/>
          </a:p>
        </p:txBody>
      </p:sp>
      <p:sp>
        <p:nvSpPr>
          <p:cNvPr id="12" name="Shape 9"/>
          <p:cNvSpPr/>
          <p:nvPr/>
        </p:nvSpPr>
        <p:spPr>
          <a:xfrm>
            <a:off x="59893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3" name="Text 10"/>
          <p:cNvSpPr txBox="1"/>
          <p:nvPr/>
        </p:nvSpPr>
        <p:spPr>
          <a:xfrm>
            <a:off x="61264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backlog</a:t>
            </a:r>
            <a:endParaRPr lang="en-US" sz="1500" dirty="0"/>
          </a:p>
        </p:txBody>
      </p:sp>
      <p:sp>
        <p:nvSpPr>
          <p:cNvPr id="14" name="Text 11"/>
          <p:cNvSpPr txBox="1"/>
          <p:nvPr/>
        </p:nvSpPr>
        <p:spPr>
          <a:xfrm>
            <a:off x="61264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New products wait for a screen</a:t>
            </a:r>
            <a:endParaRPr lang="en-US" sz="1150" dirty="0"/>
          </a:p>
        </p:txBody>
      </p:sp>
      <p:sp>
        <p:nvSpPr>
          <p:cNvPr id="15" name="Shape 12"/>
          <p:cNvSpPr/>
          <p:nvPr/>
        </p:nvSpPr>
        <p:spPr>
          <a:xfrm>
            <a:off x="8732520" y="160020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6" name="Text 13"/>
          <p:cNvSpPr txBox="1"/>
          <p:nvPr/>
        </p:nvSpPr>
        <p:spPr>
          <a:xfrm>
            <a:off x="8869680" y="170992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Drift</a:t>
            </a:r>
            <a:endParaRPr lang="en-US" sz="1500" dirty="0"/>
          </a:p>
        </p:txBody>
      </p:sp>
      <p:sp>
        <p:nvSpPr>
          <p:cNvPr id="17" name="Text 14"/>
          <p:cNvSpPr txBox="1"/>
          <p:nvPr/>
        </p:nvSpPr>
        <p:spPr>
          <a:xfrm>
            <a:off x="8869680" y="2057400"/>
            <a:ext cx="2404872" cy="713232"/>
          </a:xfrm>
          <a:prstGeom prst="rect">
            <a:avLst/>
          </a:prstGeom>
          <a:noFill/>
          <a:ln/>
        </p:spPr>
        <p:txBody>
          <a:bodyPr wrap="square" lIns="0" tIns="0" rIns="0" bIns="0" rtlCol="0" anchor="t"/>
          <a:lstStyle/>
          <a:p>
            <a:pPr indent="0" marL="0">
              <a:buNone/>
            </a:pPr>
            <a:r>
              <a:rPr lang="en-US" sz="1150" dirty="0">
                <a:solidFill>
                  <a:srgbClr val="4A5058"/>
                </a:solidFill>
              </a:rPr>
              <a:t>The data changes; the screen does not</a:t>
            </a:r>
            <a:endParaRPr lang="en-US" sz="1150" dirty="0"/>
          </a:p>
        </p:txBody>
      </p:sp>
      <p:sp>
        <p:nvSpPr>
          <p:cNvPr id="18" name="Shape 15"/>
          <p:cNvSpPr/>
          <p:nvPr/>
        </p:nvSpPr>
        <p:spPr>
          <a:xfrm>
            <a:off x="2880360" y="2217420"/>
            <a:ext cx="365760" cy="914"/>
          </a:xfrm>
          <a:prstGeom prst="line">
            <a:avLst/>
          </a:prstGeom>
          <a:noFill/>
          <a:ln w="22225">
            <a:solidFill>
              <a:srgbClr val="A51C30"/>
            </a:solidFill>
            <a:prstDash val="solid"/>
            <a:tailEnd type="triangle"/>
          </a:ln>
        </p:spPr>
        <p:txBody>
          <a:bodyPr/>
          <a:p/>
        </p:txBody>
      </p:sp>
      <p:sp>
        <p:nvSpPr>
          <p:cNvPr id="19" name="Shape 16"/>
          <p:cNvSpPr/>
          <p:nvPr/>
        </p:nvSpPr>
        <p:spPr>
          <a:xfrm>
            <a:off x="5623560" y="2217420"/>
            <a:ext cx="365760" cy="914"/>
          </a:xfrm>
          <a:prstGeom prst="line">
            <a:avLst/>
          </a:prstGeom>
          <a:noFill/>
          <a:ln w="22225">
            <a:solidFill>
              <a:srgbClr val="A51C30"/>
            </a:solidFill>
            <a:prstDash val="solid"/>
            <a:tailEnd type="triangle"/>
          </a:ln>
        </p:spPr>
        <p:txBody>
          <a:bodyPr/>
          <a:p/>
        </p:txBody>
      </p:sp>
      <p:sp>
        <p:nvSpPr>
          <p:cNvPr id="20" name="Shape 17"/>
          <p:cNvSpPr/>
          <p:nvPr/>
        </p:nvSpPr>
        <p:spPr>
          <a:xfrm>
            <a:off x="8366760" y="2217420"/>
            <a:ext cx="365760" cy="914"/>
          </a:xfrm>
          <a:prstGeom prst="line">
            <a:avLst/>
          </a:prstGeom>
          <a:noFill/>
          <a:ln w="22225">
            <a:solidFill>
              <a:srgbClr val="A51C30"/>
            </a:solidFill>
            <a:prstDash val="solid"/>
            <a:tailEnd type="triangle"/>
          </a:ln>
        </p:spPr>
        <p:txBody>
          <a:bodyPr/>
          <a:p/>
        </p:txBody>
      </p:sp>
      <p:sp>
        <p:nvSpPr>
          <p:cNvPr id="21" name="Shape 18"/>
          <p:cNvSpPr/>
          <p:nvPr/>
        </p:nvSpPr>
        <p:spPr>
          <a:xfrm>
            <a:off x="777240" y="352044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14400" y="363016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23" name="Text 20"/>
          <p:cNvSpPr txBox="1"/>
          <p:nvPr/>
        </p:nvSpPr>
        <p:spPr>
          <a:xfrm>
            <a:off x="914400" y="3977640"/>
            <a:ext cx="1828800" cy="713232"/>
          </a:xfrm>
          <a:prstGeom prst="rect">
            <a:avLst/>
          </a:prstGeom>
          <a:noFill/>
          <a:ln/>
        </p:spPr>
        <p:txBody>
          <a:bodyPr wrap="square" lIns="0" tIns="0" rIns="0" bIns="0" rtlCol="0" anchor="t"/>
          <a:lstStyle/>
          <a:p>
            <a:pPr indent="0" marL="0">
              <a:buNone/>
            </a:pPr>
            <a:r>
              <a:rPr lang="en-US" sz="1150" dirty="0">
                <a:solidFill>
                  <a:srgbClr val="4A5058"/>
                </a:solidFill>
              </a:rPr>
              <a:t>Read where they are, through plugins</a:t>
            </a:r>
            <a:endParaRPr lang="en-US" sz="1150" dirty="0"/>
          </a:p>
        </p:txBody>
      </p:sp>
      <p:sp>
        <p:nvSpPr>
          <p:cNvPr id="24" name="Shape 21"/>
          <p:cNvSpPr/>
          <p:nvPr/>
        </p:nvSpPr>
        <p:spPr>
          <a:xfrm>
            <a:off x="3246120" y="3520440"/>
            <a:ext cx="5120640" cy="123444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25" name="Text 22"/>
          <p:cNvSpPr txBox="1"/>
          <p:nvPr/>
        </p:nvSpPr>
        <p:spPr>
          <a:xfrm>
            <a:off x="3383280" y="3611880"/>
            <a:ext cx="4846320" cy="201168"/>
          </a:xfrm>
          <a:prstGeom prst="rect">
            <a:avLst/>
          </a:prstGeom>
          <a:noFill/>
          <a:ln/>
        </p:spPr>
        <p:txBody>
          <a:bodyPr wrap="square" lIns="0" tIns="0" rIns="0" bIns="0" rtlCol="0" anchor="ctr"/>
          <a:lstStyle/>
          <a:p>
            <a:pPr indent="0" marL="0">
              <a:buNone/>
            </a:pPr>
            <a:r>
              <a:rPr lang="en-US" sz="950" b="1" dirty="0">
                <a:solidFill>
                  <a:srgbClr val="A51C30"/>
                </a:solidFill>
              </a:rPr>
              <a:t>DRISHTI</a:t>
            </a:r>
            <a:endParaRPr lang="en-US" sz="950" dirty="0"/>
          </a:p>
        </p:txBody>
      </p:sp>
      <p:sp>
        <p:nvSpPr>
          <p:cNvPr id="26" name="Text 23"/>
          <p:cNvSpPr txBox="1"/>
          <p:nvPr/>
        </p:nvSpPr>
        <p:spPr>
          <a:xfrm>
            <a:off x="3383280" y="3831336"/>
            <a:ext cx="4846320" cy="329184"/>
          </a:xfrm>
          <a:prstGeom prst="rect">
            <a:avLst/>
          </a:prstGeom>
          <a:noFill/>
          <a:ln/>
        </p:spPr>
        <p:txBody>
          <a:bodyPr wrap="square" lIns="0" tIns="0" rIns="0" bIns="0" rtlCol="0" anchor="t"/>
          <a:lstStyle/>
          <a:p>
            <a:pPr indent="0" marL="0">
              <a:buNone/>
            </a:pPr>
            <a:r>
              <a:rPr lang="en-US" sz="1500" b="1" dirty="0">
                <a:solidFill>
                  <a:srgbClr val="1A1A1A"/>
                </a:solidFill>
              </a:rPr>
              <a:t>Sutra ⊕ inference</a:t>
            </a:r>
            <a:endParaRPr lang="en-US" sz="1500" dirty="0"/>
          </a:p>
        </p:txBody>
      </p:sp>
      <p:sp>
        <p:nvSpPr>
          <p:cNvPr id="27" name="Text 24"/>
          <p:cNvSpPr txBox="1"/>
          <p:nvPr/>
        </p:nvSpPr>
        <p:spPr>
          <a:xfrm>
            <a:off x="3383280" y="4178808"/>
            <a:ext cx="4846320" cy="512064"/>
          </a:xfrm>
          <a:prstGeom prst="rect">
            <a:avLst/>
          </a:prstGeom>
          <a:noFill/>
          <a:ln/>
        </p:spPr>
        <p:txBody>
          <a:bodyPr wrap="square" lIns="0" tIns="0" rIns="0" bIns="0" rtlCol="0" anchor="t"/>
          <a:lstStyle/>
          <a:p>
            <a:pPr indent="0" marL="0">
              <a:buNone/>
            </a:pPr>
            <a:r>
              <a:rPr lang="en-US" sz="1150" dirty="0">
                <a:solidFill>
                  <a:srgbClr val="4A5058"/>
                </a:solidFill>
              </a:rPr>
              <a:t>A short YAML Sutra describes the view; scored, explainable rules read the data's shape and fill the rest</a:t>
            </a:r>
            <a:endParaRPr lang="en-US" sz="1150" dirty="0"/>
          </a:p>
        </p:txBody>
      </p:sp>
      <p:sp>
        <p:nvSpPr>
          <p:cNvPr id="28" name="Shape 25"/>
          <p:cNvSpPr/>
          <p:nvPr/>
        </p:nvSpPr>
        <p:spPr>
          <a:xfrm>
            <a:off x="8732520" y="352044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9" name="Text 26"/>
          <p:cNvSpPr txBox="1"/>
          <p:nvPr/>
        </p:nvSpPr>
        <p:spPr>
          <a:xfrm>
            <a:off x="8869680" y="363016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A live view</a:t>
            </a:r>
            <a:endParaRPr lang="en-US" sz="1500" dirty="0"/>
          </a:p>
        </p:txBody>
      </p:sp>
      <p:sp>
        <p:nvSpPr>
          <p:cNvPr id="30" name="Text 27"/>
          <p:cNvSpPr txBox="1"/>
          <p:nvPr/>
        </p:nvSpPr>
        <p:spPr>
          <a:xfrm>
            <a:off x="8869680" y="3977640"/>
            <a:ext cx="2404872" cy="713232"/>
          </a:xfrm>
          <a:prstGeom prst="rect">
            <a:avLst/>
          </a:prstGeom>
          <a:noFill/>
          <a:ln/>
        </p:spPr>
        <p:txBody>
          <a:bodyPr wrap="square" lIns="0" tIns="0" rIns="0" bIns="0" rtlCol="0" anchor="t"/>
          <a:lstStyle/>
          <a:p>
            <a:pPr indent="0" marL="0">
              <a:buNone/>
            </a:pPr>
            <a:r>
              <a:rPr lang="en-US" sz="1150" dirty="0">
                <a:solidFill>
                  <a:srgbClr val="4A5058"/>
                </a:solidFill>
              </a:rPr>
              <a:t>Dense, linked, explained — day one</a:t>
            </a:r>
            <a:endParaRPr lang="en-US" sz="1150" dirty="0"/>
          </a:p>
        </p:txBody>
      </p:sp>
      <p:sp>
        <p:nvSpPr>
          <p:cNvPr id="31" name="Shape 28"/>
          <p:cNvSpPr/>
          <p:nvPr/>
        </p:nvSpPr>
        <p:spPr>
          <a:xfrm>
            <a:off x="2880360" y="4137660"/>
            <a:ext cx="365760" cy="914"/>
          </a:xfrm>
          <a:prstGeom prst="line">
            <a:avLst/>
          </a:prstGeom>
          <a:noFill/>
          <a:ln w="22225">
            <a:solidFill>
              <a:srgbClr val="A51C30"/>
            </a:solidFill>
            <a:prstDash val="solid"/>
            <a:tailEnd type="triangle"/>
          </a:ln>
        </p:spPr>
        <p:txBody>
          <a:bodyPr/>
          <a:p/>
        </p:txBody>
      </p:sp>
      <p:sp>
        <p:nvSpPr>
          <p:cNvPr id="32" name="Shape 29"/>
          <p:cNvSpPr/>
          <p:nvPr/>
        </p:nvSpPr>
        <p:spPr>
          <a:xfrm>
            <a:off x="8366760" y="4137660"/>
            <a:ext cx="365760" cy="914"/>
          </a:xfrm>
          <a:prstGeom prst="line">
            <a:avLst/>
          </a:prstGeom>
          <a:noFill/>
          <a:ln w="22225">
            <a:solidFill>
              <a:srgbClr val="A51C30"/>
            </a:solidFill>
            <a:prstDash val="solid"/>
            <a:tailEnd type="triangle"/>
          </a:ln>
        </p:spPr>
        <p:txBody>
          <a:bodyPr/>
          <a:p/>
        </p:txBody>
      </p:sp>
      <p:sp>
        <p:nvSpPr>
          <p:cNvPr id="33" name="Shape 30"/>
          <p:cNvSpPr/>
          <p:nvPr/>
        </p:nvSpPr>
        <p:spPr>
          <a:xfrm>
            <a:off x="777240" y="5550408"/>
            <a:ext cx="10634472" cy="694944"/>
          </a:xfrm>
          <a:prstGeom prst="rect">
            <a:avLst/>
          </a:prstGeom>
          <a:solidFill>
            <a:srgbClr val="F6E6E9"/>
          </a:solidFill>
          <a:ln/>
        </p:spPr>
        <p:txBody>
          <a:bodyPr/>
          <a:p/>
        </p:txBody>
      </p:sp>
      <p:sp>
        <p:nvSpPr>
          <p:cNvPr id="34" name="Shape 31"/>
          <p:cNvSpPr/>
          <p:nvPr/>
        </p:nvSpPr>
        <p:spPr>
          <a:xfrm>
            <a:off x="777240" y="5550408"/>
            <a:ext cx="54864" cy="694944"/>
          </a:xfrm>
          <a:prstGeom prst="rect">
            <a:avLst/>
          </a:prstGeom>
          <a:solidFill>
            <a:srgbClr val="A51C30"/>
          </a:solidFill>
          <a:ln/>
        </p:spPr>
        <p:txBody>
          <a:bodyPr/>
          <a:p/>
        </p:txBody>
      </p:sp>
      <p:sp>
        <p:nvSpPr>
          <p:cNvPr id="35" name="Text 3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brand-new product with no Sutra still renders a usable view on day one; a Sutra makes it beautiful.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SIX GOALS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Six goals the design is held to</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81328"/>
            <a:ext cx="475488" cy="475488"/>
          </a:xfrm>
          <a:prstGeom prst="ellipse">
            <a:avLst/>
          </a:prstGeom>
          <a:solidFill>
            <a:srgbClr val="A51C30"/>
          </a:solidFill>
          <a:ln/>
        </p:spPr>
        <p:txBody>
          <a:bodyPr/>
          <a:p/>
        </p:txBody>
      </p:sp>
      <p:sp>
        <p:nvSpPr>
          <p:cNvPr id="7" name="Text 4"/>
          <p:cNvSpPr txBox="1"/>
          <p:nvPr/>
        </p:nvSpPr>
        <p:spPr>
          <a:xfrm>
            <a:off x="77724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Text 5"/>
          <p:cNvSpPr txBox="1"/>
          <p:nvPr/>
        </p:nvSpPr>
        <p:spPr>
          <a:xfrm>
            <a:off x="143560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One grammar</a:t>
            </a:r>
            <a:endParaRPr lang="en-US" sz="1600" dirty="0"/>
          </a:p>
        </p:txBody>
      </p:sp>
      <p:sp>
        <p:nvSpPr>
          <p:cNvPr id="9" name="Text 6"/>
          <p:cNvSpPr txBox="1"/>
          <p:nvPr/>
        </p:nvSpPr>
        <p:spPr>
          <a:xfrm>
            <a:off x="143560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is a Sutra in Rachana, or inferred; no screen code.</a:t>
            </a:r>
            <a:endParaRPr lang="en-US" sz="1300" dirty="0"/>
          </a:p>
        </p:txBody>
      </p:sp>
      <p:sp>
        <p:nvSpPr>
          <p:cNvPr id="10" name="Shape 7"/>
          <p:cNvSpPr/>
          <p:nvPr/>
        </p:nvSpPr>
        <p:spPr>
          <a:xfrm>
            <a:off x="6217920" y="1481328"/>
            <a:ext cx="475488" cy="475488"/>
          </a:xfrm>
          <a:prstGeom prst="ellipse">
            <a:avLst/>
          </a:prstGeom>
          <a:solidFill>
            <a:srgbClr val="A51C30"/>
          </a:solidFill>
          <a:ln/>
        </p:spPr>
        <p:txBody>
          <a:bodyPr/>
          <a:p/>
        </p:txBody>
      </p:sp>
      <p:sp>
        <p:nvSpPr>
          <p:cNvPr id="11" name="Text 8"/>
          <p:cNvSpPr txBox="1"/>
          <p:nvPr/>
        </p:nvSpPr>
        <p:spPr>
          <a:xfrm>
            <a:off x="621792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9"/>
          <p:cNvSpPr txBox="1"/>
          <p:nvPr/>
        </p:nvSpPr>
        <p:spPr>
          <a:xfrm>
            <a:off x="687628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Any source</a:t>
            </a:r>
            <a:endParaRPr lang="en-US" sz="1600" dirty="0"/>
          </a:p>
        </p:txBody>
      </p:sp>
      <p:sp>
        <p:nvSpPr>
          <p:cNvPr id="13" name="Text 10"/>
          <p:cNvSpPr txBox="1"/>
          <p:nvPr/>
        </p:nvSpPr>
        <p:spPr>
          <a:xfrm>
            <a:off x="687628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Sources plug in through a small, Spring-free interface.</a:t>
            </a:r>
            <a:endParaRPr lang="en-US" sz="1300" dirty="0"/>
          </a:p>
        </p:txBody>
      </p:sp>
      <p:sp>
        <p:nvSpPr>
          <p:cNvPr id="14" name="Shape 11"/>
          <p:cNvSpPr/>
          <p:nvPr/>
        </p:nvSpPr>
        <p:spPr>
          <a:xfrm>
            <a:off x="777240" y="2779776"/>
            <a:ext cx="475488" cy="475488"/>
          </a:xfrm>
          <a:prstGeom prst="ellipse">
            <a:avLst/>
          </a:prstGeom>
          <a:solidFill>
            <a:srgbClr val="A51C30"/>
          </a:solidFill>
          <a:ln/>
        </p:spPr>
        <p:txBody>
          <a:bodyPr/>
          <a:p/>
        </p:txBody>
      </p:sp>
      <p:sp>
        <p:nvSpPr>
          <p:cNvPr id="15" name="Text 12"/>
          <p:cNvSpPr txBox="1"/>
          <p:nvPr/>
        </p:nvSpPr>
        <p:spPr>
          <a:xfrm>
            <a:off x="77724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6" name="Text 13"/>
          <p:cNvSpPr txBox="1"/>
          <p:nvPr/>
        </p:nvSpPr>
        <p:spPr>
          <a:xfrm>
            <a:off x="143560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Linked</a:t>
            </a:r>
            <a:endParaRPr lang="en-US" sz="1600" dirty="0"/>
          </a:p>
        </p:txBody>
      </p:sp>
      <p:sp>
        <p:nvSpPr>
          <p:cNvPr id="17" name="Text 14"/>
          <p:cNvSpPr txBox="1"/>
          <p:nvPr/>
        </p:nvSpPr>
        <p:spPr>
          <a:xfrm>
            <a:off x="143560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id on a screen is navigable, across systems.</a:t>
            </a:r>
            <a:endParaRPr lang="en-US" sz="1300" dirty="0"/>
          </a:p>
        </p:txBody>
      </p:sp>
      <p:sp>
        <p:nvSpPr>
          <p:cNvPr id="18" name="Shape 15"/>
          <p:cNvSpPr/>
          <p:nvPr/>
        </p:nvSpPr>
        <p:spPr>
          <a:xfrm>
            <a:off x="6217920" y="2779776"/>
            <a:ext cx="475488" cy="475488"/>
          </a:xfrm>
          <a:prstGeom prst="ellipse">
            <a:avLst/>
          </a:prstGeom>
          <a:solidFill>
            <a:srgbClr val="A51C30"/>
          </a:solidFill>
          <a:ln/>
        </p:spPr>
        <p:txBody>
          <a:bodyPr/>
          <a:p/>
        </p:txBody>
      </p:sp>
      <p:sp>
        <p:nvSpPr>
          <p:cNvPr id="19" name="Text 16"/>
          <p:cNvSpPr txBox="1"/>
          <p:nvPr/>
        </p:nvSpPr>
        <p:spPr>
          <a:xfrm>
            <a:off x="621792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0" name="Text 17"/>
          <p:cNvSpPr txBox="1"/>
          <p:nvPr/>
        </p:nvSpPr>
        <p:spPr>
          <a:xfrm>
            <a:off x="687628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Live</a:t>
            </a:r>
            <a:endParaRPr lang="en-US" sz="1600" dirty="0"/>
          </a:p>
        </p:txBody>
      </p:sp>
      <p:sp>
        <p:nvSpPr>
          <p:cNvPr id="21" name="Text 18"/>
          <p:cNvSpPr txBox="1"/>
          <p:nvPr/>
        </p:nvSpPr>
        <p:spPr>
          <a:xfrm>
            <a:off x="687628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Changes reach the open view; p99 is measured and shown in the top bar.</a:t>
            </a:r>
            <a:endParaRPr lang="en-US" sz="1300" dirty="0"/>
          </a:p>
        </p:txBody>
      </p:sp>
      <p:sp>
        <p:nvSpPr>
          <p:cNvPr id="22" name="Shape 19"/>
          <p:cNvSpPr/>
          <p:nvPr/>
        </p:nvSpPr>
        <p:spPr>
          <a:xfrm>
            <a:off x="777240" y="4078224"/>
            <a:ext cx="475488" cy="475488"/>
          </a:xfrm>
          <a:prstGeom prst="ellipse">
            <a:avLst/>
          </a:prstGeom>
          <a:solidFill>
            <a:srgbClr val="A51C30"/>
          </a:solidFill>
          <a:ln/>
        </p:spPr>
        <p:txBody>
          <a:bodyPr/>
          <a:p/>
        </p:txBody>
      </p:sp>
      <p:sp>
        <p:nvSpPr>
          <p:cNvPr id="23" name="Text 20"/>
          <p:cNvSpPr txBox="1"/>
          <p:nvPr/>
        </p:nvSpPr>
        <p:spPr>
          <a:xfrm>
            <a:off x="77724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4" name="Text 21"/>
          <p:cNvSpPr txBox="1"/>
          <p:nvPr/>
        </p:nvSpPr>
        <p:spPr>
          <a:xfrm>
            <a:off x="143560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Provenance</a:t>
            </a:r>
            <a:endParaRPr lang="en-US" sz="1600" dirty="0"/>
          </a:p>
        </p:txBody>
      </p:sp>
      <p:sp>
        <p:nvSpPr>
          <p:cNvPr id="25" name="Text 22"/>
          <p:cNvSpPr txBox="1"/>
          <p:nvPr/>
        </p:nvSpPr>
        <p:spPr>
          <a:xfrm>
            <a:off x="143560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shows how it was built and where its data came from.</a:t>
            </a:r>
            <a:endParaRPr lang="en-US" sz="1300" dirty="0"/>
          </a:p>
        </p:txBody>
      </p:sp>
      <p:sp>
        <p:nvSpPr>
          <p:cNvPr id="26" name="Shape 23"/>
          <p:cNvSpPr/>
          <p:nvPr/>
        </p:nvSpPr>
        <p:spPr>
          <a:xfrm>
            <a:off x="6217920" y="4078224"/>
            <a:ext cx="475488" cy="475488"/>
          </a:xfrm>
          <a:prstGeom prst="ellipse">
            <a:avLst/>
          </a:prstGeom>
          <a:solidFill>
            <a:srgbClr val="A51C30"/>
          </a:solidFill>
          <a:ln/>
        </p:spPr>
        <p:txBody>
          <a:bodyPr/>
          <a:p/>
        </p:txBody>
      </p:sp>
      <p:sp>
        <p:nvSpPr>
          <p:cNvPr id="27" name="Text 24"/>
          <p:cNvSpPr txBox="1"/>
          <p:nvPr/>
        </p:nvSpPr>
        <p:spPr>
          <a:xfrm>
            <a:off x="621792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8" name="Text 25"/>
          <p:cNvSpPr txBox="1"/>
          <p:nvPr/>
        </p:nvSpPr>
        <p:spPr>
          <a:xfrm>
            <a:off x="687628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Keyboard first</a:t>
            </a:r>
            <a:endParaRPr lang="en-US" sz="1600" dirty="0"/>
          </a:p>
        </p:txBody>
      </p:sp>
      <p:sp>
        <p:nvSpPr>
          <p:cNvPr id="29" name="Text 26"/>
          <p:cNvSpPr txBox="1"/>
          <p:nvPr/>
        </p:nvSpPr>
        <p:spPr>
          <a:xfrm>
            <a:off x="687628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&lt;MNEMONIC&gt; &lt;ID&gt; &lt;GO&gt;, F-keys for panels, F9 for raw JSON.</a:t>
            </a:r>
            <a:endParaRPr lang="en-US" sz="1300" dirty="0"/>
          </a:p>
        </p:txBody>
      </p:sp>
      <p:sp>
        <p:nvSpPr>
          <p:cNvPr id="30" name="Shape 27"/>
          <p:cNvSpPr/>
          <p:nvPr/>
        </p:nvSpPr>
        <p:spPr>
          <a:xfrm>
            <a:off x="777240" y="5550408"/>
            <a:ext cx="10634472" cy="694944"/>
          </a:xfrm>
          <a:prstGeom prst="rect">
            <a:avLst/>
          </a:prstGeom>
          <a:solidFill>
            <a:srgbClr val="F6E6E9"/>
          </a:solidFill>
          <a:ln/>
        </p:spPr>
        <p:txBody>
          <a:bodyPr/>
          <a:p/>
        </p:txBody>
      </p:sp>
      <p:sp>
        <p:nvSpPr>
          <p:cNvPr id="31" name="Shape 28"/>
          <p:cNvSpPr/>
          <p:nvPr/>
        </p:nvSpPr>
        <p:spPr>
          <a:xfrm>
            <a:off x="777240" y="5550408"/>
            <a:ext cx="54864" cy="694944"/>
          </a:xfrm>
          <a:prstGeom prst="rect">
            <a:avLst/>
          </a:prstGeom>
          <a:solidFill>
            <a:srgbClr val="A51C30"/>
          </a:solidFill>
          <a:ln/>
        </p:spPr>
        <p:txBody>
          <a:bodyPr/>
          <a:p/>
        </p:txBody>
      </p:sp>
      <p:sp>
        <p:nvSpPr>
          <p:cNvPr id="32" name="Text 2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Six goals, each one testable — the p99 is not a claim on a slide, it is in the top bar of every view.</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WHAT THE FIELD SAYS · FOUR FAMILIES OF PRODUCT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Each family does part of the job, and is good at 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554480"/>
          <a:ext cx="10634472" cy="914400"/>
        </p:xfrm>
        <a:graphic>
          <a:graphicData uri="http://schemas.openxmlformats.org/drawingml/2006/table">
            <a:tbl>
              <a:tblPr/>
              <a:tblGrid>
                <a:gridCol w="2377440"/>
                <a:gridCol w="2743200"/>
                <a:gridCol w="2606040"/>
                <a:gridCol w="2907792"/>
              </a:tblGrid>
              <a:tr h="411480">
                <a:tc>
                  <a:txBody>
                    <a:bodyPr/>
                    <a:lstStyle/>
                    <a:p>
                      <a:pPr indent="0" marL="0">
                        <a:buNone/>
                      </a:pPr>
                      <a:r>
                        <a:rPr lang="en-US" sz="1400" b="1" dirty="0">
                          <a:solidFill>
                            <a:srgbClr val="FFFFFF"/>
                          </a:solidFill>
                        </a:rPr>
                        <a:t>Family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Good at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leaves you</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822960">
                <a:tc>
                  <a:txBody>
                    <a:bodyPr/>
                    <a:lstStyle/>
                    <a:p>
                      <a:pPr indent="0" marL="0">
                        <a:buNone/>
                      </a:pPr>
                      <a:r>
                        <a:rPr lang="en-US" sz="1400" b="1" dirty="0">
                          <a:solidFill>
                            <a:srgbClr val="8A1626"/>
                          </a:solidFill>
                        </a:rPr>
                        <a:t>Market data terminals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Bloomberg Terminal, LSEG Workspace, FactSet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Dense, keyboard-driven, live screens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The vendor's screens, for the vendor's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Trading and risk platforms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Murex, Calypso, in-house systems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Deep screens for every product they book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 coded screen per product type, for that platform's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822960">
                <a:tc>
                  <a:txBody>
                    <a:bodyPr/>
                    <a:lstStyle/>
                    <a:p>
                      <a:pPr indent="0" marL="0">
                        <a:buNone/>
                      </a:pPr>
                      <a:r>
                        <a:rPr lang="en-US" sz="1400" b="1" dirty="0">
                          <a:solidFill>
                            <a:srgbClr val="8A1626"/>
                          </a:solidFill>
                        </a:rPr>
                        <a:t>Low-code internal tools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Retool, Appsmith, Power Apps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Internal screens assembled quickly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person still assembles each screen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BI and dashboards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Tableau, Power BI, Grafana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Aggregates and charts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Weaker at one entity, live, with its links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7" name="Shape 3"/>
          <p:cNvSpPr/>
          <p:nvPr/>
        </p:nvSpPr>
        <p:spPr>
          <a:xfrm>
            <a:off x="777240" y="5550408"/>
            <a:ext cx="10634472" cy="694944"/>
          </a:xfrm>
          <a:prstGeom prst="rect">
            <a:avLst/>
          </a:prstGeom>
          <a:solidFill>
            <a:srgbClr val="F6E6E9"/>
          </a:solidFill>
          <a:ln/>
        </p:spPr>
        <p:txBody>
          <a:bodyPr/>
          <a:p/>
        </p:txBody>
      </p:sp>
      <p:sp>
        <p:nvSpPr>
          <p:cNvPr id="8" name="Shape 4"/>
          <p:cNvSpPr/>
          <p:nvPr/>
        </p:nvSpPr>
        <p:spPr>
          <a:xfrm>
            <a:off x="777240" y="5550408"/>
            <a:ext cx="54864" cy="694944"/>
          </a:xfrm>
          <a:prstGeom prst="rect">
            <a:avLst/>
          </a:prstGeom>
          <a:solidFill>
            <a:srgbClr val="A51C30"/>
          </a:solidFill>
          <a:ln/>
        </p:spPr>
        <p:txBody>
          <a:bodyPr/>
          <a:p/>
        </p:txBody>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screens that are dense and live are coded per product; the screens that are quick to make are not terminals.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PRIMITIVES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Eight primitives carry the whole model</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914400"/>
        </p:xfrm>
        <a:graphic>
          <a:graphicData uri="http://schemas.openxmlformats.org/drawingml/2006/table">
            <a:tbl>
              <a:tblPr/>
              <a:tblGrid>
                <a:gridCol w="1554480"/>
                <a:gridCol w="5486400"/>
                <a:gridCol w="3593592"/>
              </a:tblGrid>
              <a:tr h="512064">
                <a:tc>
                  <a:txBody>
                    <a:bodyPr/>
                    <a:lstStyle/>
                    <a:p>
                      <a:pPr indent="0" marL="0">
                        <a:buNone/>
                      </a:pPr>
                      <a:r>
                        <a:rPr lang="en-US" sz="1300" b="1" dirty="0">
                          <a:solidFill>
                            <a:srgbClr val="FFFFFF"/>
                          </a:solidFill>
                        </a:rPr>
                        <a:t>Primitive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What it is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Where you meet 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12064">
                <a:tc>
                  <a:txBody>
                    <a:bodyPr/>
                    <a:lstStyle/>
                    <a:p>
                      <a:pPr indent="0" marL="0">
                        <a:buNone/>
                      </a:pPr>
                      <a:r>
                        <a:rPr lang="en-US" sz="1300" b="1" dirty="0">
                          <a:solidFill>
                            <a:srgbClr val="8A1626"/>
                          </a:solidFill>
                        </a:rPr>
                        <a:t>Pack</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A folder for one domain: kinds, mnemonics, links, connectors, Sutras, samples, help text; packs inherit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config/packs/ — 11 shipped, e.g. trading, market-risk, funds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Sutra</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short, versioned YAML description of one view, in the Rachana grammar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219 Sutras in the shipped packs; fragments from the UI kit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Match</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kind + where (a closed expression) + priority; the highest match wins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match: { kind: trade, where: …, priority: 10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Strip</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Up to eight headline figures across the top of a view</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Source, side, notional, status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Panel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One of 22 kinds on a 12-column grid, each with an F-key</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table, ladder, pivot, surface, map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Explainable rules that read the data's shape and lay out what no Sutra covers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infer: true; 'completed by 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ViewModel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Plain JSON the server returns and the browser draws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GET /api/v1/views/{kind}/{id}</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Frame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patch of what changed, sent over one live channel per browser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Server-sent events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ARCHITECTURE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your systems to a view, in one direction</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Stores and lakes</a:t>
            </a:r>
            <a:endParaRPr lang="en-US" sz="1400" dirty="0"/>
          </a:p>
        </p:txBody>
      </p:sp>
      <p:sp>
        <p:nvSpPr>
          <p:cNvPr id="8" name="Text 5"/>
          <p:cNvSpPr txBox="1"/>
          <p:nvPr/>
        </p:nvSpPr>
        <p:spPr>
          <a:xfrm>
            <a:off x="914400"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Delta, JDBC, Aerospike, Cassandra, MongoDB, Redis, Iceberg, DuckDB</a:t>
            </a:r>
            <a:endParaRPr lang="en-US" sz="1100" dirty="0"/>
          </a:p>
        </p:txBody>
      </p:sp>
      <p:sp>
        <p:nvSpPr>
          <p:cNvPr id="9" name="Shape 6"/>
          <p:cNvSpPr/>
          <p:nvPr/>
        </p:nvSpPr>
        <p:spPr>
          <a:xfrm>
            <a:off x="777240"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914400"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Streams and queues</a:t>
            </a:r>
            <a:endParaRPr lang="en-US" sz="1400" dirty="0"/>
          </a:p>
        </p:txBody>
      </p:sp>
      <p:sp>
        <p:nvSpPr>
          <p:cNvPr id="11" name="Text 8"/>
          <p:cNvSpPr txBox="1"/>
          <p:nvPr/>
        </p:nvSpPr>
        <p:spPr>
          <a:xfrm>
            <a:off x="914400"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Kafka, ActiveMQ, RabbitMQ</a:t>
            </a:r>
            <a:endParaRPr lang="en-US" sz="1100" dirty="0"/>
          </a:p>
        </p:txBody>
      </p:sp>
      <p:sp>
        <p:nvSpPr>
          <p:cNvPr id="12" name="Shape 9"/>
          <p:cNvSpPr/>
          <p:nvPr/>
        </p:nvSpPr>
        <p:spPr>
          <a:xfrm>
            <a:off x="777240"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3" name="Text 10"/>
          <p:cNvSpPr txBox="1"/>
          <p:nvPr/>
        </p:nvSpPr>
        <p:spPr>
          <a:xfrm>
            <a:off x="914400"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Files and services</a:t>
            </a:r>
            <a:endParaRPr lang="en-US" sz="1400" dirty="0"/>
          </a:p>
        </p:txBody>
      </p:sp>
      <p:sp>
        <p:nvSpPr>
          <p:cNvPr id="14" name="Text 11"/>
          <p:cNvSpPr txBox="1"/>
          <p:nvPr/>
        </p:nvSpPr>
        <p:spPr>
          <a:xfrm>
            <a:off x="914400"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JSON Lines, CSV (deprecated), S3, REST</a:t>
            </a:r>
            <a:endParaRPr lang="en-US" sz="1100" dirty="0"/>
          </a:p>
        </p:txBody>
      </p:sp>
      <p:sp>
        <p:nvSpPr>
          <p:cNvPr id="15" name="Shape 12"/>
          <p:cNvSpPr/>
          <p:nvPr/>
        </p:nvSpPr>
        <p:spPr>
          <a:xfrm>
            <a:off x="777240"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6" name="Text 13"/>
          <p:cNvSpPr txBox="1"/>
          <p:nvPr/>
        </p:nvSpPr>
        <p:spPr>
          <a:xfrm>
            <a:off x="914400"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Public market data</a:t>
            </a:r>
            <a:endParaRPr lang="en-US" sz="1400" dirty="0"/>
          </a:p>
        </p:txBody>
      </p:sp>
      <p:sp>
        <p:nvSpPr>
          <p:cNvPr id="17" name="Text 14"/>
          <p:cNvSpPr txBox="1"/>
          <p:nvPr/>
        </p:nvSpPr>
        <p:spPr>
          <a:xfrm>
            <a:off x="914400"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SEC EDGAR, GLEIF, N-PORT, NY Fed, ECB, FRED</a:t>
            </a:r>
            <a:endParaRPr lang="en-US" sz="1100" dirty="0"/>
          </a:p>
        </p:txBody>
      </p:sp>
      <p:sp>
        <p:nvSpPr>
          <p:cNvPr id="18" name="Shape 15"/>
          <p:cNvSpPr/>
          <p:nvPr/>
        </p:nvSpPr>
        <p:spPr>
          <a:xfrm>
            <a:off x="3931920" y="1481328"/>
            <a:ext cx="4160520" cy="182880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19" name="Text 16"/>
          <p:cNvSpPr txBox="1"/>
          <p:nvPr/>
        </p:nvSpPr>
        <p:spPr>
          <a:xfrm>
            <a:off x="4069080" y="1572768"/>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DRISHTI SERVER · JAVA 21 · ONE OF A CLUSTER</a:t>
            </a:r>
            <a:endParaRPr lang="en-US" sz="950" dirty="0"/>
          </a:p>
        </p:txBody>
      </p:sp>
      <p:sp>
        <p:nvSpPr>
          <p:cNvPr id="20" name="Text 17"/>
          <p:cNvSpPr txBox="1"/>
          <p:nvPr/>
        </p:nvSpPr>
        <p:spPr>
          <a:xfrm>
            <a:off x="4069080" y="1792224"/>
            <a:ext cx="3886200" cy="329184"/>
          </a:xfrm>
          <a:prstGeom prst="rect">
            <a:avLst/>
          </a:prstGeom>
          <a:noFill/>
          <a:ln/>
        </p:spPr>
        <p:txBody>
          <a:bodyPr wrap="square" lIns="0" tIns="0" rIns="0" bIns="0" rtlCol="0" anchor="t"/>
          <a:lstStyle/>
          <a:p>
            <a:pPr indent="0" marL="0">
              <a:buNone/>
            </a:pPr>
            <a:r>
              <a:rPr lang="en-US" sz="1500" b="1" dirty="0">
                <a:solidFill>
                  <a:srgbClr val="1A1A1A"/>
                </a:solidFill>
              </a:rPr>
              <a:t>Fetch, match, infer, link, bind</a:t>
            </a:r>
            <a:endParaRPr lang="en-US" sz="1500" dirty="0"/>
          </a:p>
        </p:txBody>
      </p:sp>
      <p:sp>
        <p:nvSpPr>
          <p:cNvPr id="21" name="Text 18"/>
          <p:cNvSpPr txBox="1"/>
          <p:nvPr/>
        </p:nvSpPr>
        <p:spPr>
          <a:xfrm>
            <a:off x="4069080" y="2139696"/>
            <a:ext cx="3886200" cy="1106424"/>
          </a:xfrm>
          <a:prstGeom prst="rect">
            <a:avLst/>
          </a:prstGeom>
          <a:noFill/>
          <a:ln/>
        </p:spPr>
        <p:txBody>
          <a:bodyPr wrap="square" lIns="0" tIns="0" rIns="0" bIns="0" rtlCol="0" anchor="t"/>
          <a:lstStyle/>
          <a:p>
            <a:pPr indent="0" marL="0">
              <a:buNone/>
            </a:pPr>
            <a:r>
              <a:rPr lang="en-US" sz="1200" dirty="0">
                <a:solidFill>
                  <a:srgbClr val="4A5058"/>
                </a:solidFill>
              </a:rPr>
              <a:t>Virtual threads fetch in parallel; the engine matches a Sutra, merges inference, links ids and binds values; BI answers on DuckDB; VaR and exposure engines compute any scope — 19 source plugins</a:t>
            </a:r>
            <a:endParaRPr lang="en-US" sz="1200" dirty="0"/>
          </a:p>
        </p:txBody>
      </p:sp>
      <p:sp>
        <p:nvSpPr>
          <p:cNvPr id="22" name="Shape 19"/>
          <p:cNvSpPr/>
          <p:nvPr/>
        </p:nvSpPr>
        <p:spPr>
          <a:xfrm>
            <a:off x="3931920" y="3611880"/>
            <a:ext cx="4160520" cy="17830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3" name="Text 20"/>
          <p:cNvSpPr txBox="1"/>
          <p:nvPr/>
        </p:nvSpPr>
        <p:spPr>
          <a:xfrm>
            <a:off x="4069080" y="3703320"/>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SAME SERVER</a:t>
            </a:r>
            <a:endParaRPr lang="en-US" sz="950" dirty="0"/>
          </a:p>
        </p:txBody>
      </p:sp>
      <p:sp>
        <p:nvSpPr>
          <p:cNvPr id="24" name="Text 21"/>
          <p:cNvSpPr txBox="1"/>
          <p:nvPr/>
        </p:nvSpPr>
        <p:spPr>
          <a:xfrm>
            <a:off x="4069080" y="3922776"/>
            <a:ext cx="3886200" cy="329184"/>
          </a:xfrm>
          <a:prstGeom prst="rect">
            <a:avLst/>
          </a:prstGeom>
          <a:noFill/>
          <a:ln/>
        </p:spPr>
        <p:txBody>
          <a:bodyPr wrap="square" lIns="0" tIns="0" rIns="0" bIns="0" rtlCol="0" anchor="t"/>
          <a:lstStyle/>
          <a:p>
            <a:pPr indent="0" marL="0">
              <a:buNone/>
            </a:pPr>
            <a:r>
              <a:rPr lang="en-US" sz="1500" b="1" dirty="0">
                <a:solidFill>
                  <a:srgbClr val="1A1A1A"/>
                </a:solidFill>
              </a:rPr>
              <a:t>Identity, packs, audit, Drishti*net</a:t>
            </a:r>
            <a:endParaRPr lang="en-US" sz="1500" dirty="0"/>
          </a:p>
        </p:txBody>
      </p:sp>
      <p:sp>
        <p:nvSpPr>
          <p:cNvPr id="25" name="Text 22"/>
          <p:cNvSpPr txBox="1"/>
          <p:nvPr/>
        </p:nvSpPr>
        <p:spPr>
          <a:xfrm>
            <a:off x="4069080" y="4270248"/>
            <a:ext cx="3886200" cy="1060704"/>
          </a:xfrm>
          <a:prstGeom prst="rect">
            <a:avLst/>
          </a:prstGeom>
          <a:noFill/>
          <a:ln/>
        </p:spPr>
        <p:txBody>
          <a:bodyPr wrap="square" lIns="0" tIns="0" rIns="0" bIns="0" rtlCol="0" anchor="t"/>
          <a:lstStyle/>
          <a:p>
            <a:pPr indent="0" marL="0">
              <a:buNone/>
            </a:pPr>
            <a:r>
              <a:rPr lang="en-US" sz="1200" dirty="0">
                <a:solidFill>
                  <a:srgbClr val="4A5058"/>
                </a:solidFill>
              </a:rPr>
              <a:t>Users, roles and masks; audit; a signed pack registry; commands switched off for everyone; peers by gossip on their own port, HTTP/2 between servers</a:t>
            </a:r>
            <a:endParaRPr lang="en-US" sz="1200" dirty="0"/>
          </a:p>
        </p:txBody>
      </p:sp>
      <p:sp>
        <p:nvSpPr>
          <p:cNvPr id="26" name="Shape 23"/>
          <p:cNvSpPr/>
          <p:nvPr/>
        </p:nvSpPr>
        <p:spPr>
          <a:xfrm>
            <a:off x="8897112"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7" name="Text 24"/>
          <p:cNvSpPr txBox="1"/>
          <p:nvPr/>
        </p:nvSpPr>
        <p:spPr>
          <a:xfrm>
            <a:off x="9034272"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Console</a:t>
            </a:r>
            <a:endParaRPr lang="en-US" sz="1400" dirty="0"/>
          </a:p>
        </p:txBody>
      </p:sp>
      <p:sp>
        <p:nvSpPr>
          <p:cNvPr id="28" name="Text 25"/>
          <p:cNvSpPr txBox="1"/>
          <p:nvPr/>
        </p:nvSpPr>
        <p:spPr>
          <a:xfrm>
            <a:off x="9034272"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Web terminal, any device</a:t>
            </a:r>
            <a:endParaRPr lang="en-US" sz="1100" dirty="0"/>
          </a:p>
        </p:txBody>
      </p:sp>
      <p:sp>
        <p:nvSpPr>
          <p:cNvPr id="29" name="Shape 26"/>
          <p:cNvSpPr/>
          <p:nvPr/>
        </p:nvSpPr>
        <p:spPr>
          <a:xfrm>
            <a:off x="8897112"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0" name="Text 27"/>
          <p:cNvSpPr txBox="1"/>
          <p:nvPr/>
        </p:nvSpPr>
        <p:spPr>
          <a:xfrm>
            <a:off x="9034272"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REST API</a:t>
            </a:r>
            <a:endParaRPr lang="en-US" sz="1400" dirty="0"/>
          </a:p>
        </p:txBody>
      </p:sp>
      <p:sp>
        <p:nvSpPr>
          <p:cNvPr id="31" name="Text 28"/>
          <p:cNvSpPr txBox="1"/>
          <p:nvPr/>
        </p:nvSpPr>
        <p:spPr>
          <a:xfrm>
            <a:off x="9034272"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/api/v1, OpenAPI at /api/docs</a:t>
            </a:r>
            <a:endParaRPr lang="en-US" sz="1100" dirty="0"/>
          </a:p>
        </p:txBody>
      </p:sp>
      <p:sp>
        <p:nvSpPr>
          <p:cNvPr id="32" name="Shape 29"/>
          <p:cNvSpPr/>
          <p:nvPr/>
        </p:nvSpPr>
        <p:spPr>
          <a:xfrm>
            <a:off x="8897112"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3" name="Text 30"/>
          <p:cNvSpPr txBox="1"/>
          <p:nvPr/>
        </p:nvSpPr>
        <p:spPr>
          <a:xfrm>
            <a:off x="9034272"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CLI</a:t>
            </a:r>
            <a:endParaRPr lang="en-US" sz="1400" dirty="0"/>
          </a:p>
        </p:txBody>
      </p:sp>
      <p:sp>
        <p:nvSpPr>
          <p:cNvPr id="34" name="Text 31"/>
          <p:cNvSpPr txBox="1"/>
          <p:nvPr/>
        </p:nvSpPr>
        <p:spPr>
          <a:xfrm>
            <a:off x="9034272"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tools/drishti.py, 22 groups</a:t>
            </a:r>
            <a:endParaRPr lang="en-US" sz="1100" dirty="0"/>
          </a:p>
        </p:txBody>
      </p:sp>
      <p:sp>
        <p:nvSpPr>
          <p:cNvPr id="35" name="Shape 32"/>
          <p:cNvSpPr/>
          <p:nvPr/>
        </p:nvSpPr>
        <p:spPr>
          <a:xfrm>
            <a:off x="8897112"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6" name="Text 33"/>
          <p:cNvSpPr txBox="1"/>
          <p:nvPr/>
        </p:nvSpPr>
        <p:spPr>
          <a:xfrm>
            <a:off x="9034272"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Other apps</a:t>
            </a:r>
            <a:endParaRPr lang="en-US" sz="1400" dirty="0"/>
          </a:p>
        </p:txBody>
      </p:sp>
      <p:sp>
        <p:nvSpPr>
          <p:cNvPr id="37" name="Text 34"/>
          <p:cNvSpPr txBox="1"/>
          <p:nvPr/>
        </p:nvSpPr>
        <p:spPr>
          <a:xfrm>
            <a:off x="9034272"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&lt;drishti-view&gt;, &lt;drishti-report&gt;</a:t>
            </a:r>
            <a:endParaRPr lang="en-US" sz="1100" dirty="0"/>
          </a:p>
        </p:txBody>
      </p:sp>
      <p:sp>
        <p:nvSpPr>
          <p:cNvPr id="38" name="Shape 35"/>
          <p:cNvSpPr/>
          <p:nvPr/>
        </p:nvSpPr>
        <p:spPr>
          <a:xfrm>
            <a:off x="3291840" y="2377440"/>
            <a:ext cx="640080" cy="914"/>
          </a:xfrm>
          <a:prstGeom prst="line">
            <a:avLst/>
          </a:prstGeom>
          <a:noFill/>
          <a:ln w="22225">
            <a:solidFill>
              <a:srgbClr val="A51C30"/>
            </a:solidFill>
            <a:prstDash val="solid"/>
            <a:tailEnd type="triangle"/>
          </a:ln>
        </p:spPr>
        <p:txBody>
          <a:bodyPr/>
          <a:p/>
        </p:txBody>
      </p:sp>
      <p:sp>
        <p:nvSpPr>
          <p:cNvPr id="39" name="Shape 36"/>
          <p:cNvSpPr/>
          <p:nvPr/>
        </p:nvSpPr>
        <p:spPr>
          <a:xfrm>
            <a:off x="8092440" y="2377440"/>
            <a:ext cx="804672" cy="914"/>
          </a:xfrm>
          <a:prstGeom prst="line">
            <a:avLst/>
          </a:prstGeom>
          <a:noFill/>
          <a:ln w="22225">
            <a:solidFill>
              <a:srgbClr val="A51C30"/>
            </a:solidFill>
            <a:prstDash val="solid"/>
            <a:tailEnd type="triangle"/>
          </a:ln>
        </p:spPr>
        <p:txBody>
          <a:bodyPr/>
          <a:p/>
        </p:txBody>
      </p:sp>
      <p:sp>
        <p:nvSpPr>
          <p:cNvPr id="40" name="Shape 37"/>
          <p:cNvSpPr/>
          <p:nvPr/>
        </p:nvSpPr>
        <p:spPr>
          <a:xfrm>
            <a:off x="6007608" y="3310128"/>
            <a:ext cx="914" cy="301752"/>
          </a:xfrm>
          <a:prstGeom prst="line">
            <a:avLst/>
          </a:prstGeom>
          <a:noFill/>
          <a:ln w="22225">
            <a:solidFill>
              <a:srgbClr val="A51C30"/>
            </a:solidFill>
            <a:prstDash val="solid"/>
            <a:tailEnd type="triangle"/>
          </a:ln>
        </p:spPr>
        <p:txBody>
          <a:bodyP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SEVEN STAGES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command, seven stages, one 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1202436" y="1600200"/>
            <a:ext cx="548640" cy="548640"/>
          </a:xfrm>
          <a:prstGeom prst="ellipse">
            <a:avLst/>
          </a:prstGeom>
          <a:solidFill>
            <a:srgbClr val="A51C30"/>
          </a:solidFill>
          <a:ln/>
        </p:spPr>
        <p:txBody>
          <a:bodyPr/>
          <a:p/>
        </p:txBody>
      </p:sp>
      <p:sp>
        <p:nvSpPr>
          <p:cNvPr id="7" name="Text 4"/>
          <p:cNvSpPr txBox="1"/>
          <p:nvPr/>
        </p:nvSpPr>
        <p:spPr>
          <a:xfrm>
            <a:off x="120243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Shape 5"/>
          <p:cNvSpPr/>
          <p:nvPr/>
        </p:nvSpPr>
        <p:spPr>
          <a:xfrm>
            <a:off x="777240" y="2331720"/>
            <a:ext cx="1399032" cy="2011680"/>
          </a:xfrm>
          <a:prstGeom prst="rect">
            <a:avLst/>
          </a:prstGeom>
          <a:solidFill>
            <a:srgbClr val="F7F5F2"/>
          </a:solidFill>
          <a:ln/>
        </p:spPr>
        <p:txBody>
          <a:bodyPr/>
          <a:p/>
        </p:txBody>
      </p:sp>
      <p:sp>
        <p:nvSpPr>
          <p:cNvPr id="9" name="Text 6"/>
          <p:cNvSpPr txBox="1"/>
          <p:nvPr/>
        </p:nvSpPr>
        <p:spPr>
          <a:xfrm>
            <a:off x="86868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Command</a:t>
            </a:r>
            <a:endParaRPr lang="en-US" sz="1500" dirty="0"/>
          </a:p>
        </p:txBody>
      </p:sp>
      <p:sp>
        <p:nvSpPr>
          <p:cNvPr id="10" name="Text 7"/>
          <p:cNvSpPr txBox="1"/>
          <p:nvPr/>
        </p:nvSpPr>
        <p:spPr>
          <a:xfrm>
            <a:off x="86868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TRD MX-20000001 &lt;GO&gt;, or plain words</a:t>
            </a:r>
            <a:endParaRPr lang="en-US" sz="1200" dirty="0"/>
          </a:p>
        </p:txBody>
      </p:sp>
      <p:sp>
        <p:nvSpPr>
          <p:cNvPr id="11" name="Shape 8"/>
          <p:cNvSpPr/>
          <p:nvPr/>
        </p:nvSpPr>
        <p:spPr>
          <a:xfrm>
            <a:off x="2738628" y="1600200"/>
            <a:ext cx="548640" cy="548640"/>
          </a:xfrm>
          <a:prstGeom prst="ellipse">
            <a:avLst/>
          </a:prstGeom>
          <a:solidFill>
            <a:srgbClr val="A51C30"/>
          </a:solidFill>
          <a:ln/>
        </p:spPr>
        <p:txBody>
          <a:bodyPr/>
          <a:p/>
        </p:txBody>
      </p:sp>
      <p:sp>
        <p:nvSpPr>
          <p:cNvPr id="12" name="Text 9"/>
          <p:cNvSpPr txBox="1"/>
          <p:nvPr/>
        </p:nvSpPr>
        <p:spPr>
          <a:xfrm>
            <a:off x="273862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Shape 10"/>
          <p:cNvSpPr/>
          <p:nvPr/>
        </p:nvSpPr>
        <p:spPr>
          <a:xfrm>
            <a:off x="2313432" y="2331720"/>
            <a:ext cx="1399032" cy="2011680"/>
          </a:xfrm>
          <a:prstGeom prst="rect">
            <a:avLst/>
          </a:prstGeom>
          <a:solidFill>
            <a:srgbClr val="F7F5F2"/>
          </a:solidFill>
          <a:ln/>
        </p:spPr>
        <p:txBody>
          <a:bodyPr/>
          <a:p/>
        </p:txBody>
      </p:sp>
      <p:sp>
        <p:nvSpPr>
          <p:cNvPr id="14" name="Text 11"/>
          <p:cNvSpPr txBox="1"/>
          <p:nvPr/>
        </p:nvSpPr>
        <p:spPr>
          <a:xfrm>
            <a:off x="240487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Fetch</a:t>
            </a:r>
            <a:endParaRPr lang="en-US" sz="1500" dirty="0"/>
          </a:p>
        </p:txBody>
      </p:sp>
      <p:sp>
        <p:nvSpPr>
          <p:cNvPr id="15" name="Text 12"/>
          <p:cNvSpPr txBox="1"/>
          <p:nvPr/>
        </p:nvSpPr>
        <p:spPr>
          <a:xfrm>
            <a:off x="240487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Sources in parallel on virtual threads</a:t>
            </a:r>
            <a:endParaRPr lang="en-US" sz="1200" dirty="0"/>
          </a:p>
        </p:txBody>
      </p:sp>
      <p:sp>
        <p:nvSpPr>
          <p:cNvPr id="16" name="Shape 13"/>
          <p:cNvSpPr/>
          <p:nvPr/>
        </p:nvSpPr>
        <p:spPr>
          <a:xfrm>
            <a:off x="4274820" y="1600200"/>
            <a:ext cx="548640" cy="548640"/>
          </a:xfrm>
          <a:prstGeom prst="ellipse">
            <a:avLst/>
          </a:prstGeom>
          <a:solidFill>
            <a:srgbClr val="A51C30"/>
          </a:solidFill>
          <a:ln/>
        </p:spPr>
        <p:txBody>
          <a:bodyPr/>
          <a:p/>
        </p:txBody>
      </p:sp>
      <p:sp>
        <p:nvSpPr>
          <p:cNvPr id="17" name="Text 14"/>
          <p:cNvSpPr txBox="1"/>
          <p:nvPr/>
        </p:nvSpPr>
        <p:spPr>
          <a:xfrm>
            <a:off x="4274820"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Shape 15"/>
          <p:cNvSpPr/>
          <p:nvPr/>
        </p:nvSpPr>
        <p:spPr>
          <a:xfrm>
            <a:off x="3849624" y="2331720"/>
            <a:ext cx="1399032" cy="2011680"/>
          </a:xfrm>
          <a:prstGeom prst="rect">
            <a:avLst/>
          </a:prstGeom>
          <a:solidFill>
            <a:srgbClr val="F7F5F2"/>
          </a:solidFill>
          <a:ln/>
        </p:spPr>
        <p:txBody>
          <a:bodyPr/>
          <a:p/>
        </p:txBody>
      </p:sp>
      <p:sp>
        <p:nvSpPr>
          <p:cNvPr id="19" name="Text 16"/>
          <p:cNvSpPr txBox="1"/>
          <p:nvPr/>
        </p:nvSpPr>
        <p:spPr>
          <a:xfrm>
            <a:off x="3941064"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Classify</a:t>
            </a:r>
            <a:endParaRPr lang="en-US" sz="1500" dirty="0"/>
          </a:p>
        </p:txBody>
      </p:sp>
      <p:sp>
        <p:nvSpPr>
          <p:cNvPr id="20" name="Text 17"/>
          <p:cNvSpPr txBox="1"/>
          <p:nvPr/>
        </p:nvSpPr>
        <p:spPr>
          <a:xfrm>
            <a:off x="3941064"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Which kind is this record?</a:t>
            </a:r>
            <a:endParaRPr lang="en-US" sz="1200" dirty="0"/>
          </a:p>
        </p:txBody>
      </p:sp>
      <p:sp>
        <p:nvSpPr>
          <p:cNvPr id="21" name="Shape 18"/>
          <p:cNvSpPr/>
          <p:nvPr/>
        </p:nvSpPr>
        <p:spPr>
          <a:xfrm>
            <a:off x="5811012" y="1600200"/>
            <a:ext cx="548640" cy="548640"/>
          </a:xfrm>
          <a:prstGeom prst="ellipse">
            <a:avLst/>
          </a:prstGeom>
          <a:solidFill>
            <a:srgbClr val="A51C30"/>
          </a:solidFill>
          <a:ln/>
        </p:spPr>
        <p:txBody>
          <a:bodyPr/>
          <a:p/>
        </p:txBody>
      </p:sp>
      <p:sp>
        <p:nvSpPr>
          <p:cNvPr id="22" name="Text 19"/>
          <p:cNvSpPr txBox="1"/>
          <p:nvPr/>
        </p:nvSpPr>
        <p:spPr>
          <a:xfrm>
            <a:off x="5811012"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3" name="Shape 20"/>
          <p:cNvSpPr/>
          <p:nvPr/>
        </p:nvSpPr>
        <p:spPr>
          <a:xfrm>
            <a:off x="5385816" y="2331720"/>
            <a:ext cx="1399032" cy="2011680"/>
          </a:xfrm>
          <a:prstGeom prst="rect">
            <a:avLst/>
          </a:prstGeom>
          <a:solidFill>
            <a:srgbClr val="F7F5F2"/>
          </a:solidFill>
          <a:ln/>
        </p:spPr>
        <p:txBody>
          <a:bodyPr/>
          <a:p/>
        </p:txBody>
      </p:sp>
      <p:sp>
        <p:nvSpPr>
          <p:cNvPr id="24" name="Text 21"/>
          <p:cNvSpPr txBox="1"/>
          <p:nvPr/>
        </p:nvSpPr>
        <p:spPr>
          <a:xfrm>
            <a:off x="5477256"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Fingerprint</a:t>
            </a:r>
            <a:endParaRPr lang="en-US" sz="1500" dirty="0"/>
          </a:p>
        </p:txBody>
      </p:sp>
      <p:sp>
        <p:nvSpPr>
          <p:cNvPr id="25" name="Text 22"/>
          <p:cNvSpPr txBox="1"/>
          <p:nvPr/>
        </p:nvSpPr>
        <p:spPr>
          <a:xfrm>
            <a:off x="5477256"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The data's shape, hashed</a:t>
            </a:r>
            <a:endParaRPr lang="en-US" sz="1200" dirty="0"/>
          </a:p>
        </p:txBody>
      </p:sp>
      <p:sp>
        <p:nvSpPr>
          <p:cNvPr id="26" name="Shape 23"/>
          <p:cNvSpPr/>
          <p:nvPr/>
        </p:nvSpPr>
        <p:spPr>
          <a:xfrm>
            <a:off x="7347204" y="1600200"/>
            <a:ext cx="548640" cy="548640"/>
          </a:xfrm>
          <a:prstGeom prst="ellipse">
            <a:avLst/>
          </a:prstGeom>
          <a:solidFill>
            <a:srgbClr val="A51C30"/>
          </a:solidFill>
          <a:ln/>
        </p:spPr>
        <p:txBody>
          <a:bodyPr/>
          <a:p/>
        </p:txBody>
      </p:sp>
      <p:sp>
        <p:nvSpPr>
          <p:cNvPr id="27" name="Text 24"/>
          <p:cNvSpPr txBox="1"/>
          <p:nvPr/>
        </p:nvSpPr>
        <p:spPr>
          <a:xfrm>
            <a:off x="7347204"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8" name="Shape 25"/>
          <p:cNvSpPr/>
          <p:nvPr/>
        </p:nvSpPr>
        <p:spPr>
          <a:xfrm>
            <a:off x="6922008" y="2331720"/>
            <a:ext cx="1399032" cy="2011680"/>
          </a:xfrm>
          <a:prstGeom prst="rect">
            <a:avLst/>
          </a:prstGeom>
          <a:solidFill>
            <a:srgbClr val="F7F5F2"/>
          </a:solidFill>
          <a:ln/>
        </p:spPr>
        <p:txBody>
          <a:bodyPr/>
          <a:p/>
        </p:txBody>
      </p:sp>
      <p:sp>
        <p:nvSpPr>
          <p:cNvPr id="29" name="Text 26"/>
          <p:cNvSpPr txBox="1"/>
          <p:nvPr/>
        </p:nvSpPr>
        <p:spPr>
          <a:xfrm>
            <a:off x="7013448"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Layout</a:t>
            </a:r>
            <a:endParaRPr lang="en-US" sz="1500" dirty="0"/>
          </a:p>
        </p:txBody>
      </p:sp>
      <p:sp>
        <p:nvSpPr>
          <p:cNvPr id="30" name="Text 27"/>
          <p:cNvSpPr txBox="1"/>
          <p:nvPr/>
        </p:nvSpPr>
        <p:spPr>
          <a:xfrm>
            <a:off x="7013448"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Sutra ⊕ inference, cached by shape</a:t>
            </a:r>
            <a:endParaRPr lang="en-US" sz="1200" dirty="0"/>
          </a:p>
        </p:txBody>
      </p:sp>
      <p:sp>
        <p:nvSpPr>
          <p:cNvPr id="31" name="Shape 28"/>
          <p:cNvSpPr/>
          <p:nvPr/>
        </p:nvSpPr>
        <p:spPr>
          <a:xfrm>
            <a:off x="8883396" y="1600200"/>
            <a:ext cx="548640" cy="548640"/>
          </a:xfrm>
          <a:prstGeom prst="ellipse">
            <a:avLst/>
          </a:prstGeom>
          <a:solidFill>
            <a:srgbClr val="A51C30"/>
          </a:solidFill>
          <a:ln/>
        </p:spPr>
        <p:txBody>
          <a:bodyPr/>
          <a:p/>
        </p:txBody>
      </p:sp>
      <p:sp>
        <p:nvSpPr>
          <p:cNvPr id="32" name="Text 29"/>
          <p:cNvSpPr txBox="1"/>
          <p:nvPr/>
        </p:nvSpPr>
        <p:spPr>
          <a:xfrm>
            <a:off x="888339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3" name="Shape 30"/>
          <p:cNvSpPr/>
          <p:nvPr/>
        </p:nvSpPr>
        <p:spPr>
          <a:xfrm>
            <a:off x="8458200" y="2331720"/>
            <a:ext cx="1399032" cy="2011680"/>
          </a:xfrm>
          <a:prstGeom prst="rect">
            <a:avLst/>
          </a:prstGeom>
          <a:solidFill>
            <a:srgbClr val="F7F5F2"/>
          </a:solidFill>
          <a:ln/>
        </p:spPr>
        <p:txBody>
          <a:bodyPr/>
          <a:p/>
        </p:txBody>
      </p:sp>
      <p:sp>
        <p:nvSpPr>
          <p:cNvPr id="34" name="Text 31"/>
          <p:cNvSpPr txBox="1"/>
          <p:nvPr/>
        </p:nvSpPr>
        <p:spPr>
          <a:xfrm>
            <a:off x="854964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Bind</a:t>
            </a:r>
            <a:endParaRPr lang="en-US" sz="1500" dirty="0"/>
          </a:p>
        </p:txBody>
      </p:sp>
      <p:sp>
        <p:nvSpPr>
          <p:cNvPr id="35" name="Text 32"/>
          <p:cNvSpPr txBox="1"/>
          <p:nvPr/>
        </p:nvSpPr>
        <p:spPr>
          <a:xfrm>
            <a:off x="854964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Values into panels, in parallel</a:t>
            </a:r>
            <a:endParaRPr lang="en-US" sz="1200" dirty="0"/>
          </a:p>
        </p:txBody>
      </p:sp>
      <p:sp>
        <p:nvSpPr>
          <p:cNvPr id="36" name="Shape 33"/>
          <p:cNvSpPr/>
          <p:nvPr/>
        </p:nvSpPr>
        <p:spPr>
          <a:xfrm>
            <a:off x="10419588" y="1600200"/>
            <a:ext cx="548640" cy="548640"/>
          </a:xfrm>
          <a:prstGeom prst="ellipse">
            <a:avLst/>
          </a:prstGeom>
          <a:solidFill>
            <a:srgbClr val="A51C30"/>
          </a:solidFill>
          <a:ln/>
        </p:spPr>
        <p:txBody>
          <a:bodyPr/>
          <a:p/>
        </p:txBody>
      </p:sp>
      <p:sp>
        <p:nvSpPr>
          <p:cNvPr id="37" name="Text 34"/>
          <p:cNvSpPr txBox="1"/>
          <p:nvPr/>
        </p:nvSpPr>
        <p:spPr>
          <a:xfrm>
            <a:off x="1041958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7</a:t>
            </a:r>
            <a:endParaRPr lang="en-US" sz="1600" dirty="0"/>
          </a:p>
        </p:txBody>
      </p:sp>
      <p:sp>
        <p:nvSpPr>
          <p:cNvPr id="38" name="Shape 35"/>
          <p:cNvSpPr/>
          <p:nvPr/>
        </p:nvSpPr>
        <p:spPr>
          <a:xfrm>
            <a:off x="9994392" y="2331720"/>
            <a:ext cx="1399032" cy="2011680"/>
          </a:xfrm>
          <a:prstGeom prst="rect">
            <a:avLst/>
          </a:prstGeom>
          <a:solidFill>
            <a:srgbClr val="F7F5F2"/>
          </a:solidFill>
          <a:ln/>
        </p:spPr>
        <p:txBody>
          <a:bodyPr/>
          <a:p/>
        </p:txBody>
      </p:sp>
      <p:sp>
        <p:nvSpPr>
          <p:cNvPr id="39" name="Text 36"/>
          <p:cNvSpPr txBox="1"/>
          <p:nvPr/>
        </p:nvSpPr>
        <p:spPr>
          <a:xfrm>
            <a:off x="1008583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Link</a:t>
            </a:r>
            <a:endParaRPr lang="en-US" sz="1500" dirty="0"/>
          </a:p>
        </p:txBody>
      </p:sp>
      <p:sp>
        <p:nvSpPr>
          <p:cNvPr id="40" name="Text 37"/>
          <p:cNvSpPr txBox="1"/>
          <p:nvPr/>
        </p:nvSpPr>
        <p:spPr>
          <a:xfrm>
            <a:off x="1008583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Every id navigable, time-boxed</a:t>
            </a:r>
            <a:endParaRPr lang="en-US" sz="1200" dirty="0"/>
          </a:p>
        </p:txBody>
      </p:sp>
      <p:sp>
        <p:nvSpPr>
          <p:cNvPr id="41" name="Shape 38"/>
          <p:cNvSpPr/>
          <p:nvPr/>
        </p:nvSpPr>
        <p:spPr>
          <a:xfrm>
            <a:off x="777240" y="4526280"/>
            <a:ext cx="3410712" cy="868680"/>
          </a:xfrm>
          <a:prstGeom prst="rect">
            <a:avLst/>
          </a:prstGeom>
          <a:solidFill>
            <a:srgbClr val="F7F5F2"/>
          </a:solidFill>
          <a:ln/>
        </p:spPr>
        <p:txBody>
          <a:bodyPr/>
          <a:p/>
        </p:txBody>
      </p:sp>
      <p:sp>
        <p:nvSpPr>
          <p:cNvPr id="42" name="Shape 39"/>
          <p:cNvSpPr/>
          <p:nvPr/>
        </p:nvSpPr>
        <p:spPr>
          <a:xfrm>
            <a:off x="777240" y="4526280"/>
            <a:ext cx="45720" cy="868680"/>
          </a:xfrm>
          <a:prstGeom prst="rect">
            <a:avLst/>
          </a:prstGeom>
          <a:solidFill>
            <a:srgbClr val="A51C30"/>
          </a:solidFill>
          <a:ln/>
        </p:spPr>
        <p:txBody>
          <a:bodyPr/>
          <a:p/>
        </p:txBody>
      </p:sp>
      <p:sp>
        <p:nvSpPr>
          <p:cNvPr id="43" name="Text 40"/>
          <p:cNvSpPr txBox="1"/>
          <p:nvPr/>
        </p:nvSpPr>
        <p:spPr>
          <a:xfrm>
            <a:off x="97840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0.6 ms</a:t>
            </a:r>
            <a:endParaRPr lang="en-US" sz="2600" dirty="0"/>
          </a:p>
        </p:txBody>
      </p:sp>
      <p:sp>
        <p:nvSpPr>
          <p:cNvPr id="44" name="Text 41"/>
          <p:cNvSpPr txBox="1"/>
          <p:nvPr/>
        </p:nvSpPr>
        <p:spPr>
          <a:xfrm>
            <a:off x="97840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Server work for a warm view</a:t>
            </a:r>
            <a:endParaRPr lang="en-US" sz="1150" dirty="0"/>
          </a:p>
        </p:txBody>
      </p:sp>
      <p:sp>
        <p:nvSpPr>
          <p:cNvPr id="45" name="Shape 42"/>
          <p:cNvSpPr/>
          <p:nvPr/>
        </p:nvSpPr>
        <p:spPr>
          <a:xfrm>
            <a:off x="4389120" y="4526280"/>
            <a:ext cx="3410712" cy="868680"/>
          </a:xfrm>
          <a:prstGeom prst="rect">
            <a:avLst/>
          </a:prstGeom>
          <a:solidFill>
            <a:srgbClr val="F7F5F2"/>
          </a:solidFill>
          <a:ln/>
        </p:spPr>
        <p:txBody>
          <a:bodyPr/>
          <a:p/>
        </p:txBody>
      </p:sp>
      <p:sp>
        <p:nvSpPr>
          <p:cNvPr id="46" name="Shape 43"/>
          <p:cNvSpPr/>
          <p:nvPr/>
        </p:nvSpPr>
        <p:spPr>
          <a:xfrm>
            <a:off x="4389120" y="4526280"/>
            <a:ext cx="45720" cy="868680"/>
          </a:xfrm>
          <a:prstGeom prst="rect">
            <a:avLst/>
          </a:prstGeom>
          <a:solidFill>
            <a:srgbClr val="A51C30"/>
          </a:solidFill>
          <a:ln/>
        </p:spPr>
        <p:txBody>
          <a:bodyPr/>
          <a:p/>
        </p:txBody>
      </p:sp>
      <p:sp>
        <p:nvSpPr>
          <p:cNvPr id="47" name="Text 44"/>
          <p:cNvSpPr txBox="1"/>
          <p:nvPr/>
        </p:nvSpPr>
        <p:spPr>
          <a:xfrm>
            <a:off x="459028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3.0 ms</a:t>
            </a:r>
            <a:endParaRPr lang="en-US" sz="2600" dirty="0"/>
          </a:p>
        </p:txBody>
      </p:sp>
      <p:sp>
        <p:nvSpPr>
          <p:cNvPr id="48" name="Text 45"/>
          <p:cNvSpPr txBox="1"/>
          <p:nvPr/>
        </p:nvSpPr>
        <p:spPr>
          <a:xfrm>
            <a:off x="459028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Warm view over HTTP, p99 (gate: 50 ms)</a:t>
            </a:r>
            <a:endParaRPr lang="en-US" sz="1150" dirty="0"/>
          </a:p>
        </p:txBody>
      </p:sp>
      <p:sp>
        <p:nvSpPr>
          <p:cNvPr id="49" name="Shape 46"/>
          <p:cNvSpPr/>
          <p:nvPr/>
        </p:nvSpPr>
        <p:spPr>
          <a:xfrm>
            <a:off x="8001000" y="4526280"/>
            <a:ext cx="3410712" cy="868680"/>
          </a:xfrm>
          <a:prstGeom prst="rect">
            <a:avLst/>
          </a:prstGeom>
          <a:solidFill>
            <a:srgbClr val="F7F5F2"/>
          </a:solidFill>
          <a:ln/>
        </p:spPr>
        <p:txBody>
          <a:bodyPr/>
          <a:p/>
        </p:txBody>
      </p:sp>
      <p:sp>
        <p:nvSpPr>
          <p:cNvPr id="50" name="Shape 47"/>
          <p:cNvSpPr/>
          <p:nvPr/>
        </p:nvSpPr>
        <p:spPr>
          <a:xfrm>
            <a:off x="8001000" y="4526280"/>
            <a:ext cx="45720" cy="868680"/>
          </a:xfrm>
          <a:prstGeom prst="rect">
            <a:avLst/>
          </a:prstGeom>
          <a:solidFill>
            <a:srgbClr val="A51C30"/>
          </a:solidFill>
          <a:ln/>
        </p:spPr>
        <p:txBody>
          <a:bodyPr/>
          <a:p/>
        </p:txBody>
      </p:sp>
      <p:sp>
        <p:nvSpPr>
          <p:cNvPr id="51" name="Text 48"/>
          <p:cNvSpPr txBox="1"/>
          <p:nvPr/>
        </p:nvSpPr>
        <p:spPr>
          <a:xfrm>
            <a:off x="820216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7.2 ms</a:t>
            </a:r>
            <a:endParaRPr lang="en-US" sz="2600" dirty="0"/>
          </a:p>
        </p:txBody>
      </p:sp>
      <p:sp>
        <p:nvSpPr>
          <p:cNvPr id="52" name="Text 49"/>
          <p:cNvSpPr txBox="1"/>
          <p:nvPr/>
        </p:nvSpPr>
        <p:spPr>
          <a:xfrm>
            <a:off x="820216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Structured search over 750 trades</a:t>
            </a:r>
            <a:endParaRPr lang="en-US" sz="1150" dirty="0"/>
          </a:p>
        </p:txBody>
      </p:sp>
      <p:sp>
        <p:nvSpPr>
          <p:cNvPr id="53" name="Shape 50"/>
          <p:cNvSpPr/>
          <p:nvPr/>
        </p:nvSpPr>
        <p:spPr>
          <a:xfrm>
            <a:off x="777240" y="5550408"/>
            <a:ext cx="10634472" cy="694944"/>
          </a:xfrm>
          <a:prstGeom prst="rect">
            <a:avLst/>
          </a:prstGeom>
          <a:solidFill>
            <a:srgbClr val="F6E6E9"/>
          </a:solidFill>
          <a:ln/>
        </p:spPr>
        <p:txBody>
          <a:bodyPr/>
          <a:p/>
        </p:txBody>
      </p:sp>
      <p:sp>
        <p:nvSpPr>
          <p:cNvPr id="54" name="Shape 51"/>
          <p:cNvSpPr/>
          <p:nvPr/>
        </p:nvSpPr>
        <p:spPr>
          <a:xfrm>
            <a:off x="777240" y="5550408"/>
            <a:ext cx="54864" cy="694944"/>
          </a:xfrm>
          <a:prstGeom prst="rect">
            <a:avLst/>
          </a:prstGeom>
          <a:solidFill>
            <a:srgbClr val="A51C30"/>
          </a:solidFill>
          <a:ln/>
        </p:spPr>
        <p:txBody>
          <a:bodyPr/>
          <a:p/>
        </p:txBody>
      </p:sp>
      <p:sp>
        <p:nvSpPr>
          <p:cNvPr id="55" name="Text 5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expensive part — deciding the layout — happens once per shape, not once per request.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ONE SUTRA,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 swap's whole screen, in one short file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5897880" cy="3886200"/>
          </a:xfrm>
          <a:prstGeom prst="rect">
            <a:avLst/>
          </a:prstGeom>
          <a:solidFill>
            <a:srgbClr val="1E1E24"/>
          </a:solidFill>
          <a:ln/>
        </p:spPr>
        <p:txBody>
          <a:bodyPr/>
          <a:p/>
        </p:txBody>
      </p:sp>
      <p:sp>
        <p:nvSpPr>
          <p:cNvPr id="7" name="Shape 4"/>
          <p:cNvSpPr/>
          <p:nvPr/>
        </p:nvSpPr>
        <p:spPr>
          <a:xfrm>
            <a:off x="777240" y="1463040"/>
            <a:ext cx="5897880" cy="384048"/>
          </a:xfrm>
          <a:prstGeom prst="rect">
            <a:avLst/>
          </a:prstGeom>
          <a:solidFill>
            <a:srgbClr val="8A1626"/>
          </a:solidFill>
          <a:ln/>
        </p:spPr>
        <p:txBody>
          <a:bodyPr/>
          <a:p/>
        </p:txBody>
      </p:sp>
      <p:sp>
        <p:nvSpPr>
          <p:cNvPr id="8" name="Text 5"/>
          <p:cNvSpPr txBox="1"/>
          <p:nvPr/>
        </p:nvSpPr>
        <p:spPr>
          <a:xfrm>
            <a:off x="960120" y="1463040"/>
            <a:ext cx="5532120" cy="384048"/>
          </a:xfrm>
          <a:prstGeom prst="rect">
            <a:avLst/>
          </a:prstGeom>
          <a:noFill/>
          <a:ln/>
        </p:spPr>
        <p:txBody>
          <a:bodyPr wrap="square" lIns="0" tIns="0" rIns="0" bIns="0" rtlCol="0" anchor="ctr"/>
          <a:lstStyle/>
          <a:p>
            <a:pPr indent="0" marL="0">
              <a:buNone/>
            </a:pPr>
            <a:r>
              <a:rPr lang="en-US" sz="1300" b="1" dirty="0">
                <a:solidFill>
                  <a:srgbClr val="FFFFFF"/>
                </a:solidFill>
              </a:rPr>
              <a:t>murex/irs-fixfloat.v1.sutra.yaml (trimmed)</a:t>
            </a:r>
            <a:endParaRPr lang="en-US" sz="1300" dirty="0"/>
          </a:p>
        </p:txBody>
      </p:sp>
      <p:sp>
        <p:nvSpPr>
          <p:cNvPr id="9" name="Text 6"/>
          <p:cNvSpPr txBox="1"/>
          <p:nvPr/>
        </p:nvSpPr>
        <p:spPr>
          <a:xfrm>
            <a:off x="978408" y="1965960"/>
            <a:ext cx="5495544" cy="3273552"/>
          </a:xfrm>
          <a:prstGeom prst="rect">
            <a:avLst/>
          </a:prstGeom>
          <a:noFill/>
          <a:ln/>
        </p:spPr>
        <p:txBody>
          <a:bodyPr wrap="square" lIns="0" tIns="0" rIns="0" bIns="0" rtlCol="0" anchor="t"/>
          <a:lstStyle/>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rachana: 1</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sutra: irs-fixfloat</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doc: { summary: "Exchanges fixed for floating …"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match: { kind: trade, priority: 10, where:</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"$.SOURCE_SYSTEM == 'MUREX' &amp;&amp;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$.PRODUCT_TYPE == 'IRS_FIXFLOAT'"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title: { pill: "Rates · Interest rate swap",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id: $.TRADE_ID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strip: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Source, bind: $.SOURCE_SYSTEM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Maturity, bind: $.MATURITY_DATE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panels:</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trading/deal-ticket@1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trading/legs@1, with: { rate-fmt: pct4 }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data-provenance@1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risk-links@1 }</a:t>
            </a:r>
            <a:endParaRPr lang="en-US" sz="1200" dirty="0"/>
          </a:p>
        </p:txBody>
      </p:sp>
      <p:sp>
        <p:nvSpPr>
          <p:cNvPr id="10" name="Text 7"/>
          <p:cNvSpPr txBox="1"/>
          <p:nvPr/>
        </p:nvSpPr>
        <p:spPr>
          <a:xfrm>
            <a:off x="6949440" y="1463040"/>
            <a:ext cx="4462272" cy="3931920"/>
          </a:xfrm>
          <a:prstGeom prst="rect">
            <a:avLst/>
          </a:prstGeom>
          <a:noFill/>
          <a:ln/>
        </p:spPr>
        <p:txBody>
          <a:bodyPr wrap="square" lIns="0" tIns="0" rIns="0" bIns="0" rtlCol="0" anchor="t"/>
          <a:lstStyle/>
          <a:p>
            <a:pPr indent="0" marL="0">
              <a:buNone/>
            </a:pPr>
            <a:r>
              <a:rPr lang="en-US" sz="1500" b="1" dirty="0">
                <a:solidFill>
                  <a:srgbClr val="A51C30"/>
                </a:solidFill>
              </a:rPr>
              <a:t>▪  When it applies</a:t>
            </a:r>
            <a:endParaRPr lang="en-US" sz="1500" dirty="0"/>
          </a:p>
          <a:p>
            <a:pPr indent="0" marL="0">
              <a:spcAft>
                <a:spcPts val="900"/>
              </a:spcAft>
              <a:buNone/>
            </a:pPr>
            <a:r>
              <a:rPr lang="en-US" sz="1300" dirty="0">
                <a:solidFill>
                  <a:srgbClr val="4A5058"/>
                </a:solidFill>
              </a:rPr>
              <a:t>A MUREX trade whose PRODUCT_TYPE is IRS_FIXFLOAT; the highest priority match wins.</a:t>
            </a:r>
            <a:endParaRPr lang="en-US" sz="1500" dirty="0"/>
          </a:p>
          <a:p>
            <a:pPr indent="0" marL="0">
              <a:buNone/>
            </a:pPr>
            <a:r>
              <a:rPr lang="en-US" sz="1500" b="1" dirty="0">
                <a:solidFill>
                  <a:srgbClr val="A51C30"/>
                </a:solidFill>
              </a:rPr>
              <a:t>▪  What it shows</a:t>
            </a:r>
            <a:endParaRPr lang="en-US" sz="1500" dirty="0"/>
          </a:p>
          <a:p>
            <a:pPr indent="0" marL="0">
              <a:spcAft>
                <a:spcPts val="900"/>
              </a:spcAft>
              <a:buNone/>
            </a:pPr>
            <a:r>
              <a:rPr lang="en-US" sz="1300" dirty="0">
                <a:solidFill>
                  <a:srgbClr val="4A5058"/>
                </a:solidFill>
              </a:rPr>
              <a:t>A linked header, eight headline figures and fragments: the pack's deal ticket and legs, the UI kit's provenance and risk links; 132 pack files reuse the deal ticket.</a:t>
            </a:r>
            <a:endParaRPr lang="en-US" sz="1500" dirty="0"/>
          </a:p>
          <a:p>
            <a:pPr indent="0" marL="0">
              <a:buNone/>
            </a:pPr>
            <a:r>
              <a:rPr lang="en-US" sz="1500" b="1" dirty="0">
                <a:solidFill>
                  <a:srgbClr val="A51C30"/>
                </a:solidFill>
              </a:rPr>
              <a:t>▪  Documented in itself</a:t>
            </a:r>
            <a:endParaRPr lang="en-US" sz="1500" dirty="0"/>
          </a:p>
          <a:p>
            <a:pPr indent="0" marL="0">
              <a:spcAft>
                <a:spcPts val="900"/>
              </a:spcAft>
              <a:buNone/>
            </a:pPr>
            <a:r>
              <a:rPr lang="en-US" sz="1300" dirty="0">
                <a:solidFill>
                  <a:srgbClr val="4A5058"/>
                </a:solidFill>
              </a:rPr>
              <a:t>Every Sutra and fragment carries a doc: block (summary, params, examples) that the designer, the help and AI read.</a:t>
            </a:r>
            <a:endParaRPr lang="en-US" sz="1500" dirty="0"/>
          </a:p>
          <a:p>
            <a:pPr indent="0" marL="0">
              <a:buNone/>
            </a:pPr>
            <a:r>
              <a:rPr lang="en-US" sz="1500" b="1" dirty="0">
                <a:solidFill>
                  <a:srgbClr val="A51C30"/>
                </a:solidFill>
              </a:rPr>
              <a:t>▪  Shipped through review</a:t>
            </a:r>
            <a:endParaRPr lang="en-US" sz="1500" dirty="0"/>
          </a:p>
          <a:p>
            <a:pPr indent="0" marL="0">
              <a:spcAft>
                <a:spcPts val="900"/>
              </a:spcAft>
              <a:buNone/>
            </a:pPr>
            <a:r>
              <a:rPr lang="en-US" sz="1300" dirty="0">
                <a:solidFill>
                  <a:srgbClr val="4A5058"/>
                </a:solidFill>
              </a:rPr>
              <a:t>Rachana-EL has no side effects; a bad edit keeps the last good version live; in production a second person approves.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LIVE,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subscription per entity, one channel per browser</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Source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subscribe()</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TopicHub</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topic per entity; latest wins</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txBody>
          <a:bodyPr/>
          <a:p/>
        </p:txBody>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ViewStream</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per open view; cached layout</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txBody>
          <a:bodyPr/>
          <a:p/>
        </p:txBody>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PatchDiffer</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Old vs new ViewModel</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txBody>
          <a:bodyPr/>
          <a:p/>
        </p:txBody>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Browser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Patches over one SSE channel</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txBody>
          <a:bodyPr/>
          <a:p/>
        </p:txBody>
      </p:sp>
      <p:sp>
        <p:nvSpPr>
          <p:cNvPr id="25" name="Shape 22"/>
          <p:cNvSpPr/>
          <p:nvPr/>
        </p:nvSpPr>
        <p:spPr>
          <a:xfrm>
            <a:off x="777240" y="3474720"/>
            <a:ext cx="2507742" cy="1737360"/>
          </a:xfrm>
          <a:prstGeom prst="rect">
            <a:avLst/>
          </a:prstGeom>
          <a:solidFill>
            <a:srgbClr val="F7F5F2"/>
          </a:solidFill>
          <a:ln/>
        </p:spPr>
        <p:txBody>
          <a:bodyPr/>
          <a:p/>
        </p:txBody>
      </p:sp>
      <p:sp>
        <p:nvSpPr>
          <p:cNvPr id="26" name="Shape 23"/>
          <p:cNvSpPr/>
          <p:nvPr/>
        </p:nvSpPr>
        <p:spPr>
          <a:xfrm>
            <a:off x="777240" y="3474720"/>
            <a:ext cx="45720" cy="1737360"/>
          </a:xfrm>
          <a:prstGeom prst="rect">
            <a:avLst/>
          </a:prstGeom>
          <a:solidFill>
            <a:srgbClr val="A51C30"/>
          </a:solidFill>
          <a:ln/>
        </p:spPr>
        <p:txBody>
          <a:bodyPr/>
          <a:p/>
        </p:txBody>
      </p:sp>
      <p:sp>
        <p:nvSpPr>
          <p:cNvPr id="27" name="Text 24"/>
          <p:cNvSpPr txBox="1"/>
          <p:nvPr/>
        </p:nvSpPr>
        <p:spPr>
          <a:xfrm>
            <a:off x="97840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2.4 ms</a:t>
            </a:r>
            <a:endParaRPr lang="en-US" sz="2600" dirty="0"/>
          </a:p>
        </p:txBody>
      </p:sp>
      <p:sp>
        <p:nvSpPr>
          <p:cNvPr id="28" name="Text 25"/>
          <p:cNvSpPr txBox="1"/>
          <p:nvPr/>
        </p:nvSpPr>
        <p:spPr>
          <a:xfrm>
            <a:off x="97840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p50</a:t>
            </a:r>
            <a:endParaRPr lang="en-US" sz="1300" dirty="0"/>
          </a:p>
        </p:txBody>
      </p:sp>
      <p:sp>
        <p:nvSpPr>
          <p:cNvPr id="29" name="Shape 26"/>
          <p:cNvSpPr/>
          <p:nvPr/>
        </p:nvSpPr>
        <p:spPr>
          <a:xfrm>
            <a:off x="3486150" y="3474720"/>
            <a:ext cx="2507742" cy="1737360"/>
          </a:xfrm>
          <a:prstGeom prst="rect">
            <a:avLst/>
          </a:prstGeom>
          <a:solidFill>
            <a:srgbClr val="F7F5F2"/>
          </a:solidFill>
          <a:ln/>
        </p:spPr>
        <p:txBody>
          <a:bodyPr/>
          <a:p/>
        </p:txBody>
      </p:sp>
      <p:sp>
        <p:nvSpPr>
          <p:cNvPr id="30" name="Shape 27"/>
          <p:cNvSpPr/>
          <p:nvPr/>
        </p:nvSpPr>
        <p:spPr>
          <a:xfrm>
            <a:off x="3486150" y="3474720"/>
            <a:ext cx="45720" cy="1737360"/>
          </a:xfrm>
          <a:prstGeom prst="rect">
            <a:avLst/>
          </a:prstGeom>
          <a:solidFill>
            <a:srgbClr val="A51C30"/>
          </a:solidFill>
          <a:ln/>
        </p:spPr>
        <p:txBody>
          <a:bodyPr/>
          <a:p/>
        </p:txBody>
      </p:sp>
      <p:sp>
        <p:nvSpPr>
          <p:cNvPr id="31" name="Text 28"/>
          <p:cNvSpPr txBox="1"/>
          <p:nvPr/>
        </p:nvSpPr>
        <p:spPr>
          <a:xfrm>
            <a:off x="368731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11.2 ms</a:t>
            </a:r>
            <a:endParaRPr lang="en-US" sz="2600" dirty="0"/>
          </a:p>
        </p:txBody>
      </p:sp>
      <p:sp>
        <p:nvSpPr>
          <p:cNvPr id="32" name="Text 29"/>
          <p:cNvSpPr txBox="1"/>
          <p:nvPr/>
        </p:nvSpPr>
        <p:spPr>
          <a:xfrm>
            <a:off x="368731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p99 (gate: 40 ms)</a:t>
            </a:r>
            <a:endParaRPr lang="en-US" sz="1300" dirty="0"/>
          </a:p>
        </p:txBody>
      </p:sp>
      <p:sp>
        <p:nvSpPr>
          <p:cNvPr id="33" name="Shape 30"/>
          <p:cNvSpPr/>
          <p:nvPr/>
        </p:nvSpPr>
        <p:spPr>
          <a:xfrm>
            <a:off x="6195060" y="3474720"/>
            <a:ext cx="2507742" cy="1737360"/>
          </a:xfrm>
          <a:prstGeom prst="rect">
            <a:avLst/>
          </a:prstGeom>
          <a:solidFill>
            <a:srgbClr val="F7F5F2"/>
          </a:solidFill>
          <a:ln/>
        </p:spPr>
        <p:txBody>
          <a:bodyPr/>
          <a:p/>
        </p:txBody>
      </p:sp>
      <p:sp>
        <p:nvSpPr>
          <p:cNvPr id="34" name="Shape 31"/>
          <p:cNvSpPr/>
          <p:nvPr/>
        </p:nvSpPr>
        <p:spPr>
          <a:xfrm>
            <a:off x="6195060" y="3474720"/>
            <a:ext cx="45720" cy="1737360"/>
          </a:xfrm>
          <a:prstGeom prst="rect">
            <a:avLst/>
          </a:prstGeom>
          <a:solidFill>
            <a:srgbClr val="A51C30"/>
          </a:solidFill>
          <a:ln/>
        </p:spPr>
        <p:txBody>
          <a:bodyPr/>
          <a:p/>
        </p:txBody>
      </p:sp>
      <p:sp>
        <p:nvSpPr>
          <p:cNvPr id="35" name="Text 32"/>
          <p:cNvSpPr txBox="1"/>
          <p:nvPr/>
        </p:nvSpPr>
        <p:spPr>
          <a:xfrm>
            <a:off x="639622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50 ms</a:t>
            </a:r>
            <a:endParaRPr lang="en-US" sz="2600" dirty="0"/>
          </a:p>
        </p:txBody>
      </p:sp>
      <p:sp>
        <p:nvSpPr>
          <p:cNvPr id="36" name="Text 33"/>
          <p:cNvSpPr txBox="1"/>
          <p:nvPr/>
        </p:nvSpPr>
        <p:spPr>
          <a:xfrm>
            <a:off x="639622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A topic sends at once if it has not sent within this window</a:t>
            </a:r>
            <a:endParaRPr lang="en-US" sz="1300" dirty="0"/>
          </a:p>
        </p:txBody>
      </p:sp>
      <p:sp>
        <p:nvSpPr>
          <p:cNvPr id="37" name="Shape 34"/>
          <p:cNvSpPr/>
          <p:nvPr/>
        </p:nvSpPr>
        <p:spPr>
          <a:xfrm>
            <a:off x="8903970" y="3474720"/>
            <a:ext cx="2507742" cy="1737360"/>
          </a:xfrm>
          <a:prstGeom prst="rect">
            <a:avLst/>
          </a:prstGeom>
          <a:solidFill>
            <a:srgbClr val="F7F5F2"/>
          </a:solidFill>
          <a:ln/>
        </p:spPr>
        <p:txBody>
          <a:bodyPr/>
          <a:p/>
        </p:txBody>
      </p:sp>
      <p:sp>
        <p:nvSpPr>
          <p:cNvPr id="38" name="Shape 35"/>
          <p:cNvSpPr/>
          <p:nvPr/>
        </p:nvSpPr>
        <p:spPr>
          <a:xfrm>
            <a:off x="8903970" y="3474720"/>
            <a:ext cx="45720" cy="1737360"/>
          </a:xfrm>
          <a:prstGeom prst="rect">
            <a:avLst/>
          </a:prstGeom>
          <a:solidFill>
            <a:srgbClr val="A51C30"/>
          </a:solidFill>
          <a:ln/>
        </p:spPr>
        <p:txBody>
          <a:bodyPr/>
          <a:p/>
        </p:txBody>
      </p:sp>
      <p:sp>
        <p:nvSpPr>
          <p:cNvPr id="39" name="Text 36"/>
          <p:cNvSpPr txBox="1"/>
          <p:nvPr/>
        </p:nvSpPr>
        <p:spPr>
          <a:xfrm>
            <a:off x="910513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a:t>
            </a:r>
            <a:endParaRPr lang="en-US" sz="2600" dirty="0"/>
          </a:p>
        </p:txBody>
      </p:sp>
      <p:sp>
        <p:nvSpPr>
          <p:cNvPr id="40" name="Text 37"/>
          <p:cNvSpPr txBox="1"/>
          <p:nvPr/>
        </p:nvSpPr>
        <p:spPr>
          <a:xfrm>
            <a:off x="910513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Live channel per browser, however many views</a:t>
            </a:r>
            <a:endParaRPr lang="en-US" sz="1300" dirty="0"/>
          </a:p>
        </p:txBody>
      </p:sp>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view does not poll and does not redraw — only the figures that changed travel, and only to the views that show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BENEFITS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a grammar of screens buys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txBody>
          <a:bodyPr/>
          <a:p/>
        </p:txBody>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Day one, every product</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Inference shows a new feed at once; nobody reads raw JSON.</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txBody>
          <a:bodyPr/>
          <a:p/>
        </p:txBody>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Screens as reviewed data</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Sutra is versioned, tested, diffed and approved like code — without being code.</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txBody>
          <a:bodyPr/>
          <a:p/>
        </p:txBody>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One place to look</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trade, its curve and its netting set from three systems on one linked screen.</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txBody>
          <a:bodyPr/>
          <a:p/>
        </p:txBody>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Trust in the number</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Provenance and freshness on every view; masks applied for every reader.</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txBody>
          <a:bodyPr/>
          <a:p/>
        </p:txBody>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Anywhere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console on any device, the API, the CLI, and the same view inside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txBody>
          <a:bodyPr/>
          <a:p/>
        </p:txBody>
      </p:sp>
      <p:sp>
        <p:nvSpPr>
          <p:cNvPr id="22" name="Shape 19"/>
          <p:cNvSpPr/>
          <p:nvPr/>
        </p:nvSpPr>
        <p:spPr>
          <a:xfrm>
            <a:off x="777240" y="5550408"/>
            <a:ext cx="54864" cy="694944"/>
          </a:xfrm>
          <a:prstGeom prst="rect">
            <a:avLst/>
          </a:prstGeom>
          <a:solidFill>
            <a:srgbClr val="A51C30"/>
          </a:solidFill>
          <a:ln/>
        </p:spPr>
        <p:txBody>
          <a:bodyPr/>
          <a:p/>
        </p:txBody>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cost of a new screen falls from a project to a paragraph — and to nothing at all on day one.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03</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The product</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JAVA 21 OR LATER · ANY DEVICE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Drishti — overview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11</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Packs: core, trading, market data and risk, counterparty risk, funds, US equities, GLEIF, economy, news</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219</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Sutras shipped in those packs, built from the UI kit</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106</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Commands, each with a machine-readable data contract</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19</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Source plugins behind one interface</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A terminal on any device</a:t>
            </a:r>
            <a:endParaRPr lang="en-US" sz="1500" dirty="0"/>
          </a:p>
          <a:p>
            <a:pPr indent="0" marL="0">
              <a:spcAft>
                <a:spcPts val="700"/>
              </a:spcAft>
              <a:buNone/>
            </a:pPr>
            <a:r>
              <a:rPr lang="en-US" sz="1300" dirty="0">
                <a:solidFill>
                  <a:srgbClr val="4A5058"/>
                </a:solidFill>
              </a:rPr>
              <a:t>Command line, history ranges, FUNC, DATAMAP, Knowledge and WHAT over production-shaped trades from ENDUR, CALYPSO and MUREX and public data from SEC, GLEIF and N-PORT; phones.</a:t>
            </a:r>
            <a:endParaRPr lang="en-US" sz="1500" dirty="0"/>
          </a:p>
          <a:p>
            <a:pPr indent="0" marL="0">
              <a:buNone/>
            </a:pPr>
            <a:r>
              <a:rPr lang="en-US" sz="1500" b="1" dirty="0">
                <a:solidFill>
                  <a:srgbClr val="A51C30"/>
                </a:solidFill>
              </a:rPr>
              <a:t>▪  Risk computed, never stored</a:t>
            </a:r>
            <a:endParaRPr lang="en-US" sz="1500" dirty="0"/>
          </a:p>
          <a:p>
            <a:pPr indent="0" marL="0">
              <a:spcAft>
                <a:spcPts val="700"/>
              </a:spcAft>
              <a:buNone/>
            </a:pPr>
            <a:r>
              <a:rPr lang="en-US" sz="1300" dirty="0">
                <a:solidFill>
                  <a:srgbClr val="4A5058"/>
                </a:solidFill>
              </a:rPr>
              <a:t>VaR and exposure for any scope, baskets and pre-deal what-ifs, official end-of-day records, in BI; VaR from scenario PVs in any reporting currency.</a:t>
            </a:r>
            <a:endParaRPr lang="en-US" sz="1500" dirty="0"/>
          </a:p>
          <a:p>
            <a:pPr indent="0" marL="0">
              <a:buNone/>
            </a:pPr>
            <a:r>
              <a:rPr lang="en-US" sz="1500" b="1" dirty="0">
                <a:solidFill>
                  <a:srgbClr val="A51C30"/>
                </a:solidFill>
              </a:rPr>
              <a:t>▪  Build and analyse without code</a:t>
            </a:r>
            <a:endParaRPr lang="en-US" sz="1500" dirty="0"/>
          </a:p>
          <a:p>
            <a:pPr indent="0" marL="0">
              <a:spcAft>
                <a:spcPts val="700"/>
              </a:spcAft>
              <a:buNone/>
            </a:pPr>
            <a:r>
              <a:rPr lang="en-US" sz="1300" dirty="0">
                <a:solidFill>
                  <a:srgbClr val="4A5058"/>
                </a:solidFill>
              </a:rPr>
              <a:t>The four-mode Sutra designer and the UI kit; BI Studio with runs, statements and charts of any table; Python data prep; forms that write back under four eyes.</a:t>
            </a:r>
            <a:endParaRPr lang="en-US" sz="1500" dirty="0"/>
          </a:p>
          <a:p>
            <a:pPr indent="0" marL="0">
              <a:buNone/>
            </a:pPr>
            <a:r>
              <a:rPr lang="en-US" sz="1500" b="1" dirty="0">
                <a:solidFill>
                  <a:srgbClr val="A51C30"/>
                </a:solidFill>
              </a:rPr>
              <a:t>▪  Run it, on one server or several</a:t>
            </a:r>
            <a:endParaRPr lang="en-US" sz="1500" dirty="0"/>
          </a:p>
          <a:p>
            <a:pPr indent="0" marL="0">
              <a:spcAft>
                <a:spcPts val="700"/>
              </a:spcAft>
              <a:buNone/>
            </a:pPr>
            <a:r>
              <a:rPr lang="en-US" sz="1300" dirty="0">
                <a:solidFill>
                  <a:srgbClr val="4A5058"/>
                </a:solidFill>
              </a:rPr>
              <a:t>Pack bundles with rollback, data-load signals, JSON Lines in and out, Delta and Iceberg side by side, a CLI for every step, Drishti*net clusters.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VIEW</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trade, linked and explained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view-trade.png">    </p:cNvPr>
          <p:cNvPicPr>
            <a:picLocks noChangeAspect="1"/>
          </p:cNvPicPr>
          <p:nvPr/>
        </p:nvPicPr>
        <p:blipFill>
          <a:blip r:embed="rId4"/>
          <a:srcRect/>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Strip</a:t>
            </a:r>
            <a:endParaRPr lang="en-US" sz="1500" dirty="0"/>
          </a:p>
          <a:p>
            <a:pPr indent="0" marL="0">
              <a:spcAft>
                <a:spcPts val="800"/>
              </a:spcAft>
              <a:buNone/>
            </a:pPr>
            <a:r>
              <a:rPr lang="en-US" sz="1300" dirty="0">
                <a:solidFill>
                  <a:srgbClr val="4A5058"/>
                </a:solidFill>
              </a:rPr>
              <a:t>Source, side, notional, quantity, dates, status and portfolio.</a:t>
            </a:r>
            <a:endParaRPr lang="en-US" sz="1500" dirty="0"/>
          </a:p>
          <a:p>
            <a:pPr indent="0" marL="0">
              <a:buNone/>
            </a:pPr>
            <a:r>
              <a:rPr lang="en-US" sz="1500" b="1" dirty="0">
                <a:solidFill>
                  <a:srgbClr val="A51C30"/>
                </a:solidFill>
              </a:rPr>
              <a:t>▪  Panels by key</a:t>
            </a:r>
            <a:endParaRPr lang="en-US" sz="1500" dirty="0"/>
          </a:p>
          <a:p>
            <a:pPr indent="0" marL="0">
              <a:spcAft>
                <a:spcPts val="800"/>
              </a:spcAft>
              <a:buNone/>
            </a:pPr>
            <a:r>
              <a:rPr lang="en-US" sz="1300" dirty="0">
                <a:solidFill>
                  <a:srgbClr val="4A5058"/>
                </a:solidFill>
              </a:rPr>
              <a:t>F2 deal ticket, F3 legs, F4 cash flows, F6 netted payments; Alt+L to rearrange.</a:t>
            </a:r>
            <a:endParaRPr lang="en-US" sz="1500" dirty="0"/>
          </a:p>
          <a:p>
            <a:pPr indent="0" marL="0">
              <a:buNone/>
            </a:pPr>
            <a:r>
              <a:rPr lang="en-US" sz="1500" b="1" dirty="0">
                <a:solidFill>
                  <a:srgbClr val="A51C30"/>
                </a:solidFill>
              </a:rPr>
              <a:t>▪  Linked</a:t>
            </a:r>
            <a:endParaRPr lang="en-US" sz="1500" dirty="0"/>
          </a:p>
          <a:p>
            <a:pPr indent="0" marL="0">
              <a:spcAft>
                <a:spcPts val="800"/>
              </a:spcAft>
              <a:buNone/>
            </a:pPr>
            <a:r>
              <a:rPr lang="en-US" sz="1300" dirty="0">
                <a:solidFill>
                  <a:srgbClr val="4A5058"/>
                </a:solidFill>
              </a:rPr>
              <a:t>Counterparty, portfolio, legal entity and trader open in one click.</a:t>
            </a:r>
            <a:endParaRPr lang="en-US" sz="1500" dirty="0"/>
          </a:p>
          <a:p>
            <a:pPr indent="0" marL="0">
              <a:buNone/>
            </a:pPr>
            <a:r>
              <a:rPr lang="en-US" sz="1500" b="1" dirty="0">
                <a:solidFill>
                  <a:srgbClr val="A51C30"/>
                </a:solidFill>
              </a:rPr>
              <a:t>▪  Any day</a:t>
            </a:r>
            <a:endParaRPr lang="en-US" sz="1500" dirty="0"/>
          </a:p>
          <a:p>
            <a:pPr indent="0" marL="0">
              <a:spcAft>
                <a:spcPts val="800"/>
              </a:spcAft>
              <a:buNone/>
            </a:pPr>
            <a:r>
              <a:rPr lang="en-US" sz="1300" dirty="0">
                <a:solidFill>
                  <a:srgbClr val="4A5058"/>
                </a:solidFill>
              </a:rPr>
              <a:t>The business date in the top bar; Compare shows what changed between two days.</a:t>
            </a:r>
            <a:endParaRPr lang="en-US" sz="1500" dirty="0"/>
          </a:p>
        </p:txBody>
      </p:sp>
      <p:sp>
        <p:nvSpPr>
          <p:cNvPr id="9" name="Text 5"/>
          <p:cNvSpPr txBox="1"/>
          <p:nvPr/>
        </p:nvSpPr>
        <p:spPr>
          <a:xfrm>
            <a:off x="777240" y="5852160"/>
            <a:ext cx="6858000" cy="274320"/>
          </a:xfrm>
          <a:prstGeom prst="rect">
            <a:avLst/>
          </a:prstGeom>
          <a:noFill/>
          <a:ln/>
        </p:spPr>
        <p:txBody>
          <a:bodyPr wrap="square" lIns="0" tIns="0" rIns="0" bIns="0" rtlCol="0" anchor="t"/>
          <a:lstStyle/>
          <a:p>
            <a:pPr indent="0" marL="0">
              <a:buNone/>
            </a:pPr>
            <a:r>
              <a:rPr lang="en-US" sz="1050" i="1" dirty="0">
                <a:solidFill>
                  <a:srgbClr val="61666E"/>
                </a:solidFill>
              </a:rPr>
              <a:t>A MUREX interest rate swap, UPPER_SNAKE as production data is; captured on the demo lakes (tutorial 1).</a:t>
            </a:r>
            <a:endParaRPr lang="en-US" sz="105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ABOUT THIS PAGE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view explains itself, in five layers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about/01-var-drawer.jpg">    </p:cNvPr>
          <p:cNvPicPr>
            <a:picLocks noChangeAspect="1"/>
          </p:cNvPicPr>
          <p:nvPr/>
        </p:nvPicPr>
        <p:blipFill>
          <a:blip r:embed="rId4"/>
          <a:srcRect/>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What you are looking at</a:t>
            </a:r>
            <a:endParaRPr lang="en-US" sz="1500" dirty="0"/>
          </a:p>
          <a:p>
            <a:pPr indent="0" marL="0">
              <a:spcAft>
                <a:spcPts val="800"/>
              </a:spcAft>
              <a:buNone/>
            </a:pPr>
            <a:r>
              <a:rPr lang="en-US" sz="1300" dirty="0">
                <a:solidFill>
                  <a:srgbClr val="4A5058"/>
                </a:solidFill>
              </a:rPr>
              <a:t>From the pack's own help text and glossary.</a:t>
            </a:r>
            <a:endParaRPr lang="en-US" sz="1500" dirty="0"/>
          </a:p>
          <a:p>
            <a:pPr indent="0" marL="0">
              <a:buNone/>
            </a:pPr>
            <a:r>
              <a:rPr lang="en-US" sz="1500" b="1" dirty="0">
                <a:solidFill>
                  <a:srgbClr val="A51C30"/>
                </a:solidFill>
              </a:rPr>
              <a:t>▪  Where the data came from</a:t>
            </a:r>
            <a:endParaRPr lang="en-US" sz="1500" dirty="0"/>
          </a:p>
          <a:p>
            <a:pPr indent="0" marL="0">
              <a:spcAft>
                <a:spcPts val="800"/>
              </a:spcAft>
              <a:buNone/>
            </a:pPr>
            <a:r>
              <a:rPr lang="en-US" sz="1300" dirty="0">
                <a:solidFill>
                  <a:srgbClr val="4A5058"/>
                </a:solidFill>
              </a:rPr>
              <a:t>Source, health, generation and freshness.</a:t>
            </a:r>
            <a:endParaRPr lang="en-US" sz="1500" dirty="0"/>
          </a:p>
          <a:p>
            <a:pPr indent="0" marL="0">
              <a:buNone/>
            </a:pPr>
            <a:r>
              <a:rPr lang="en-US" sz="1500" b="1" dirty="0">
                <a:solidFill>
                  <a:srgbClr val="A51C30"/>
                </a:solidFill>
              </a:rPr>
              <a:t>▪  Why it looks like this</a:t>
            </a:r>
            <a:endParaRPr lang="en-US" sz="1500" dirty="0"/>
          </a:p>
          <a:p>
            <a:pPr indent="0" marL="0">
              <a:spcAft>
                <a:spcPts val="800"/>
              </a:spcAft>
              <a:buNone/>
            </a:pPr>
            <a:r>
              <a:rPr lang="en-US" sz="1300" dirty="0">
                <a:solidFill>
                  <a:srgbClr val="4A5058"/>
                </a:solidFill>
              </a:rPr>
              <a:t>Which Sutra matched, which lost, what inference added.</a:t>
            </a:r>
            <a:endParaRPr lang="en-US" sz="1500" dirty="0"/>
          </a:p>
          <a:p>
            <a:pPr indent="0" marL="0">
              <a:buNone/>
            </a:pPr>
            <a:r>
              <a:rPr lang="en-US" sz="1500" b="1" dirty="0">
                <a:solidFill>
                  <a:srgbClr val="A51C30"/>
                </a:solidFill>
              </a:rPr>
              <a:t>▪  Masked for you</a:t>
            </a:r>
            <a:endParaRPr lang="en-US" sz="1500" dirty="0"/>
          </a:p>
          <a:p>
            <a:pPr indent="0" marL="0">
              <a:spcAft>
                <a:spcPts val="800"/>
              </a:spcAft>
              <a:buNone/>
            </a:pPr>
            <a:r>
              <a:rPr lang="en-US" sz="1300" dirty="0">
                <a:solidFill>
                  <a:srgbClr val="4A5058"/>
                </a:solidFill>
              </a:rPr>
              <a:t>Says which fields your role cannot see.</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BUILD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Design a screen without writing code — and ship it through review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designer/02-workbench.jpg">    </p:cNvPr>
          <p:cNvPicPr>
            <a:picLocks noChangeAspect="1"/>
          </p:cNvPicPr>
          <p:nvPr/>
        </p:nvPicPr>
        <p:blipFill>
          <a:blip r:embed="rId4"/>
          <a:srcRect/>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From data you have</a:t>
            </a:r>
            <a:endParaRPr lang="en-US" sz="1500" dirty="0"/>
          </a:p>
          <a:p>
            <a:pPr indent="0" marL="0">
              <a:spcAft>
                <a:spcPts val="800"/>
              </a:spcAft>
              <a:buNone/>
            </a:pPr>
            <a:r>
              <a:rPr lang="en-US" sz="1300" dirty="0">
                <a:solidFill>
                  <a:srgbClr val="4A5058"/>
                </a:solidFill>
              </a:rPr>
              <a:t>Start from JSON files, a schema or stored entities.</a:t>
            </a:r>
            <a:endParaRPr lang="en-US" sz="1500" dirty="0"/>
          </a:p>
          <a:p>
            <a:pPr indent="0" marL="0">
              <a:buNone/>
            </a:pPr>
            <a:r>
              <a:rPr lang="en-US" sz="1500" b="1" dirty="0">
                <a:solidFill>
                  <a:srgbClr val="A51C30"/>
                </a:solidFill>
              </a:rPr>
              <a:t>▪  Drag, or type</a:t>
            </a:r>
            <a:endParaRPr lang="en-US" sz="1500" dirty="0"/>
          </a:p>
          <a:p>
            <a:pPr indent="0" marL="0">
              <a:spcAft>
                <a:spcPts val="800"/>
              </a:spcAft>
              <a:buNone/>
            </a:pPr>
            <a:r>
              <a:rPr lang="en-US" sz="1300" dirty="0">
                <a:solidFill>
                  <a:srgbClr val="4A5058"/>
                </a:solidFill>
              </a:rPr>
              <a:t>Palette and inspector, or the YAML tab with completion.</a:t>
            </a:r>
            <a:endParaRPr lang="en-US" sz="1500" dirty="0"/>
          </a:p>
          <a:p>
            <a:pPr indent="0" marL="0">
              <a:buNone/>
            </a:pPr>
            <a:r>
              <a:rPr lang="en-US" sz="1500" b="1" dirty="0">
                <a:solidFill>
                  <a:srgbClr val="A51C30"/>
                </a:solidFill>
              </a:rPr>
              <a:t>▪  Tested before shipped</a:t>
            </a:r>
            <a:endParaRPr lang="en-US" sz="1500" dirty="0"/>
          </a:p>
          <a:p>
            <a:pPr indent="0" marL="0">
              <a:spcAft>
                <a:spcPts val="800"/>
              </a:spcAft>
              <a:buNone/>
            </a:pPr>
            <a:r>
              <a:rPr lang="en-US" sz="1300" dirty="0">
                <a:solidFill>
                  <a:srgbClr val="4A5058"/>
                </a:solidFill>
              </a:rPr>
              <a:t>Sutra tests run on sample data in the tests tab.</a:t>
            </a:r>
            <a:endParaRPr lang="en-US" sz="1500" dirty="0"/>
          </a:p>
          <a:p>
            <a:pPr indent="0" marL="0">
              <a:buNone/>
            </a:pPr>
            <a:r>
              <a:rPr lang="en-US" sz="1500" b="1" dirty="0">
                <a:solidFill>
                  <a:srgbClr val="A51C30"/>
                </a:solidFill>
              </a:rPr>
              <a:t>▪  Four eyes</a:t>
            </a:r>
            <a:endParaRPr lang="en-US" sz="1500" dirty="0"/>
          </a:p>
          <a:p>
            <a:pPr indent="0" marL="0">
              <a:spcAft>
                <a:spcPts val="800"/>
              </a:spcAft>
              <a:buNone/>
            </a:pPr>
            <a:r>
              <a:rPr lang="en-US" sz="1300" dirty="0">
                <a:solidFill>
                  <a:srgbClr val="4A5058"/>
                </a:solidFill>
              </a:rPr>
              <a:t>An approver reviews the evidence and cannot approve their own.</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RŪPAKA · BI INSIDE THE TERMINAL</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Business intelligence on the same data, rules and masks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txBody>
          <a:bodyPr/>
          <a:p/>
        </p:txBody>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Models rooted in packs</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Datasets and data models built from the packs' kinds, with the relationships the packs suggest.</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txBody>
          <a:bodyPr/>
          <a:p/>
        </p:txBody>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Three languages, one plan</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Python-like expression language, read-only SQL and Python meet in one plan, your row rules and masks applied.</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txBody>
          <a:bodyPr/>
          <a:p/>
        </p:txBody>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Servers compute</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Java server and the console's sandbox answer every number; the browser draws; standing queries push live.</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txBody>
          <a:bodyPr/>
          <a:p/>
        </p:txBody>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Governed</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Versions and diffs, four-eyes review, certification, lineage past the connector, bundles with rollback.</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txBody>
          <a:bodyPr/>
          <a:p/>
        </p:txBody>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Everywhere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Subscriptions and alerts per reader, PDF, PNG, Excel and CSV, and &lt;drishti-report&gt; in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txBody>
          <a:bodyPr/>
          <a:p/>
        </p:txBody>
      </p:sp>
      <p:sp>
        <p:nvSpPr>
          <p:cNvPr id="22" name="Shape 19"/>
          <p:cNvSpPr/>
          <p:nvPr/>
        </p:nvSpPr>
        <p:spPr>
          <a:xfrm>
            <a:off x="777240" y="5550408"/>
            <a:ext cx="54864" cy="694944"/>
          </a:xfrm>
          <a:prstGeom prst="rect">
            <a:avLst/>
          </a:prstGeom>
          <a:solidFill>
            <a:srgbClr val="A51C30"/>
          </a:solidFill>
          <a:ln/>
        </p:spPr>
        <p:txBody>
          <a:bodyPr/>
          <a:p/>
        </p:txBody>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report reader sees exactly the rows and masks they see on the terminal — BI cannot leak around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BI STUDIO</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Reports, models, boards and themes in one studio</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designer/02-workbench.jpg">    </p:cNvPr>
          <p:cNvPicPr>
            <a:picLocks noChangeAspect="1"/>
          </p:cNvPicPr>
          <p:nvPr/>
        </p:nvPicPr>
        <p:blipFill>
          <a:blip r:embed="rId4"/>
          <a:srcRect/>
          <a:stretch>
            <a:fillRect/>
          </a:stretch>
        </p:blipFill>
        <p:spPr>
          <a:xfrm>
            <a:off x="777240" y="1423035"/>
            <a:ext cx="5811864"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Explorer and tabs</a:t>
            </a:r>
            <a:endParaRPr lang="en-US" sz="1500" dirty="0"/>
          </a:p>
          <a:p>
            <a:pPr indent="0" marL="0">
              <a:spcAft>
                <a:spcPts val="800"/>
              </a:spcAft>
              <a:buNone/>
            </a:pPr>
            <a:r>
              <a:rPr lang="en-US" sz="1300" dirty="0">
                <a:solidFill>
                  <a:srgbClr val="4A5058"/>
                </a:solidFill>
              </a:rPr>
              <a:t>Every item you may edit, by kind, with New; open items as tabs.</a:t>
            </a:r>
            <a:endParaRPr lang="en-US" sz="1500" dirty="0"/>
          </a:p>
          <a:p>
            <a:pPr indent="0" marL="0">
              <a:buNone/>
            </a:pPr>
            <a:r>
              <a:rPr lang="en-US" sz="1500" b="1" dirty="0">
                <a:solidFill>
                  <a:srgbClr val="A51C30"/>
                </a:solidFill>
              </a:rPr>
              <a:t>▪  Problems and Query</a:t>
            </a:r>
            <a:endParaRPr lang="en-US" sz="1500" dirty="0"/>
          </a:p>
          <a:p>
            <a:pPr indent="0" marL="0">
              <a:spcAft>
                <a:spcPts val="800"/>
              </a:spcAft>
              <a:buNone/>
            </a:pPr>
            <a:r>
              <a:rPr lang="en-US" sz="1300" dirty="0">
                <a:solidFill>
                  <a:srgbClr val="4A5058"/>
                </a:solidFill>
              </a:rPr>
              <a:t>The server checks the draft a second after each change; each visual's query and SQL.</a:t>
            </a:r>
            <a:endParaRPr lang="en-US" sz="1500" dirty="0"/>
          </a:p>
          <a:p>
            <a:pPr indent="0" marL="0">
              <a:buNone/>
            </a:pPr>
            <a:r>
              <a:rPr lang="en-US" sz="1500" b="1" dirty="0">
                <a:solidFill>
                  <a:srgbClr val="A51C30"/>
                </a:solidFill>
              </a:rPr>
              <a:t>▪  A generated Format pane</a:t>
            </a:r>
            <a:endParaRPr lang="en-US" sz="1500" dirty="0"/>
          </a:p>
          <a:p>
            <a:pPr indent="0" marL="0">
              <a:spcAft>
                <a:spcPts val="800"/>
              </a:spcAft>
              <a:buNone/>
            </a:pPr>
            <a:r>
              <a:rPr lang="en-US" sz="1300" dirty="0">
                <a:solidFill>
                  <a:srgbClr val="4A5058"/>
                </a:solidFill>
              </a:rPr>
              <a:t>Typed formats, conditional formatting, themes, tooltip pages, small multiples, the matrix.</a:t>
            </a:r>
            <a:endParaRPr lang="en-US" sz="1500" dirty="0"/>
          </a:p>
          <a:p>
            <a:pPr indent="0" marL="0">
              <a:buNone/>
            </a:pPr>
            <a:r>
              <a:rPr lang="en-US" sz="1500" b="1" dirty="0">
                <a:solidFill>
                  <a:srgbClr val="A51C30"/>
                </a:solidFill>
              </a:rPr>
              <a:t>▪  Boards are reports</a:t>
            </a:r>
            <a:endParaRPr lang="en-US" sz="1500" dirty="0"/>
          </a:p>
          <a:p>
            <a:pPr indent="0" marL="0">
              <a:spcAft>
                <a:spcPts val="800"/>
              </a:spcAft>
              <a:buNone/>
            </a:pPr>
            <a:r>
              <a:rPr lang="en-US" sz="1300" dirty="0">
                <a:solidFill>
                  <a:srgbClr val="4A5058"/>
                </a:solidFill>
              </a:rPr>
              <a:t>Board pages of live tiles beside the report's own visuals, with kiosk mode and alerts.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PYTHON · DATA PREP AND THE CONSOLE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Python where it belongs: on the server, or on your own rows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Transforms, step by step</a:t>
            </a:r>
            <a:endParaRPr lang="en-US" sz="1500" dirty="0"/>
          </a:p>
          <a:p>
            <a:pPr indent="0" marL="0">
              <a:spcAft>
                <a:spcPts val="800"/>
              </a:spcAft>
              <a:buNone/>
            </a:pPr>
            <a:r>
              <a:rPr lang="en-US" sz="1300" dirty="0">
                <a:solidFill>
                  <a:srgbClr val="4A5058"/>
                </a:solidFill>
              </a:rPr>
              <a:t>Inputs read through a pack's connector as you; 21 tested snippets; a profile after each step.</a:t>
            </a:r>
            <a:endParaRPr lang="en-US" sz="1500" dirty="0"/>
          </a:p>
          <a:p>
            <a:pPr indent="0" marL="0">
              <a:buNone/>
            </a:pPr>
            <a:r>
              <a:rPr lang="en-US" sz="1500" b="1" dirty="0">
                <a:solidFill>
                  <a:srgbClr val="A51C30"/>
                </a:solidFill>
              </a:rPr>
              <a:t>▪  Sandboxed, warm</a:t>
            </a:r>
            <a:endParaRPr lang="en-US" sz="1500" dirty="0"/>
          </a:p>
          <a:p>
            <a:pPr indent="0" marL="0">
              <a:spcAft>
                <a:spcPts val="800"/>
              </a:spcAft>
              <a:buNone/>
            </a:pPr>
            <a:r>
              <a:rPr lang="en-US" sz="1300" dirty="0">
                <a:solidFill>
                  <a:srgbClr val="4A5058"/>
                </a:solidFill>
              </a:rPr>
              <a:t>Measures, visuals and Transforms run in a fork-server child with limits.</a:t>
            </a:r>
            <a:endParaRPr lang="en-US" sz="1500" dirty="0"/>
          </a:p>
          <a:p>
            <a:pPr indent="0" marL="0">
              <a:buNone/>
            </a:pPr>
            <a:r>
              <a:rPr lang="en-US" sz="1500" b="1" dirty="0">
                <a:solidFill>
                  <a:srgbClr val="A51C30"/>
                </a:solidFill>
              </a:rPr>
              <a:t>▪  Your own Python</a:t>
            </a:r>
            <a:endParaRPr lang="en-US" sz="1500" dirty="0"/>
          </a:p>
          <a:p>
            <a:pPr indent="0" marL="0">
              <a:spcAft>
                <a:spcPts val="800"/>
              </a:spcAft>
              <a:buNone/>
            </a:pPr>
            <a:r>
              <a:rPr lang="en-US" sz="1300" dirty="0">
                <a:solidFill>
                  <a:srgbClr val="4A5058"/>
                </a:solidFill>
              </a:rPr>
              <a:t>BI → Python console: pandas on a masked extract, in your browser.</a:t>
            </a:r>
            <a:endParaRPr lang="en-US" sz="1500" dirty="0"/>
          </a:p>
          <a:p>
            <a:pPr indent="0" marL="0">
              <a:buNone/>
            </a:pPr>
            <a:r>
              <a:rPr lang="en-US" sz="1500" b="1" dirty="0">
                <a:solidFill>
                  <a:srgbClr val="A51C30"/>
                </a:solidFill>
              </a:rPr>
              <a:t>▪  Promote to the server</a:t>
            </a:r>
            <a:endParaRPr lang="en-US" sz="1500" dirty="0"/>
          </a:p>
          <a:p>
            <a:pPr indent="0" marL="0">
              <a:spcAft>
                <a:spcPts val="800"/>
              </a:spcAft>
              <a:buNone/>
            </a:pPr>
            <a:r>
              <a:rPr lang="en-US" sz="1300" dirty="0">
                <a:solidFill>
                  <a:srgbClr val="4A5058"/>
                </a:solidFill>
              </a:rPr>
              <a:t>The same code run again on the backend, compared, kept as a notebook draft.</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SEARCH AND PIVOT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Ask in a grammar or in plain words; pivot what comes back</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91412"/>
            <a:ext cx="5468112" cy="4029456"/>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rishti-console/web/static/img/guide/pivot-search.png">    </p:cNvPr>
          <p:cNvPicPr>
            <a:picLocks noChangeAspect="1"/>
          </p:cNvPicPr>
          <p:nvPr/>
        </p:nvPicPr>
        <p:blipFill>
          <a:blip r:embed="rId4"/>
          <a:srcRect/>
          <a:stretch>
            <a:fillRect/>
          </a:stretch>
        </p:blipFill>
        <p:spPr>
          <a:xfrm>
            <a:off x="777240" y="1427988"/>
            <a:ext cx="5394960" cy="3371850"/>
          </a:xfrm>
          <a:prstGeom prst="rect">
            <a:avLst/>
          </a:prstGeom>
        </p:spPr>
      </p:pic>
      <p:sp>
        <p:nvSpPr>
          <p:cNvPr id="8" name="Shape 4"/>
          <p:cNvSpPr/>
          <p:nvPr/>
        </p:nvSpPr>
        <p:spPr>
          <a:xfrm>
            <a:off x="6400800" y="1417320"/>
            <a:ext cx="5010912" cy="1325880"/>
          </a:xfrm>
          <a:prstGeom prst="rect">
            <a:avLst/>
          </a:prstGeom>
          <a:solidFill>
            <a:srgbClr val="1E1E24"/>
          </a:solidFill>
          <a:ln/>
        </p:spPr>
        <p:txBody>
          <a:bodyPr/>
          <a:p/>
        </p:txBody>
      </p:sp>
      <p:sp>
        <p:nvSpPr>
          <p:cNvPr id="9" name="Text 5"/>
          <p:cNvSpPr txBox="1"/>
          <p:nvPr/>
        </p:nvSpPr>
        <p:spPr>
          <a:xfrm>
            <a:off x="6601968" y="1581912"/>
            <a:ext cx="4608576" cy="1051560"/>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TRD where QUANTITY &gt; 1bn order by QUANTITY desc</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amended trades over 5m in BOOK-RATES-3</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FORM trading &lt;GO&gt;</a:t>
            </a:r>
            <a:endParaRPr lang="en-US" sz="1250" dirty="0"/>
          </a:p>
        </p:txBody>
      </p:sp>
      <p:sp>
        <p:nvSpPr>
          <p:cNvPr id="10" name="Shape 6"/>
          <p:cNvSpPr/>
          <p:nvPr/>
        </p:nvSpPr>
        <p:spPr>
          <a:xfrm>
            <a:off x="6400800" y="2926080"/>
            <a:ext cx="2404872" cy="1143000"/>
          </a:xfrm>
          <a:prstGeom prst="rect">
            <a:avLst/>
          </a:prstGeom>
          <a:solidFill>
            <a:srgbClr val="F7F5F2"/>
          </a:solidFill>
          <a:ln/>
        </p:spPr>
        <p:txBody>
          <a:bodyPr/>
          <a:p/>
        </p:txBody>
      </p:sp>
      <p:sp>
        <p:nvSpPr>
          <p:cNvPr id="11" name="Shape 7"/>
          <p:cNvSpPr/>
          <p:nvPr/>
        </p:nvSpPr>
        <p:spPr>
          <a:xfrm>
            <a:off x="6400800" y="2926080"/>
            <a:ext cx="45720" cy="1143000"/>
          </a:xfrm>
          <a:prstGeom prst="rect">
            <a:avLst/>
          </a:prstGeom>
          <a:solidFill>
            <a:srgbClr val="A51C30"/>
          </a:solidFill>
          <a:ln/>
        </p:spPr>
        <p:txBody>
          <a:bodyPr/>
          <a:p/>
        </p:txBody>
      </p:sp>
      <p:sp>
        <p:nvSpPr>
          <p:cNvPr id="12" name="Text 8"/>
          <p:cNvSpPr txBox="1"/>
          <p:nvPr/>
        </p:nvSpPr>
        <p:spPr>
          <a:xfrm>
            <a:off x="660196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134 ms</a:t>
            </a:r>
            <a:endParaRPr lang="en-US" sz="2600" dirty="0"/>
          </a:p>
        </p:txBody>
      </p:sp>
      <p:sp>
        <p:nvSpPr>
          <p:cNvPr id="13" name="Text 9"/>
          <p:cNvSpPr txBox="1"/>
          <p:nvPr/>
        </p:nvSpPr>
        <p:spPr>
          <a:xfrm>
            <a:off x="660196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Search all 1M trades a day, 2,017 matches</a:t>
            </a:r>
            <a:endParaRPr lang="en-US" sz="1150" dirty="0"/>
          </a:p>
        </p:txBody>
      </p:sp>
      <p:sp>
        <p:nvSpPr>
          <p:cNvPr id="14" name="Shape 10"/>
          <p:cNvSpPr/>
          <p:nvPr/>
        </p:nvSpPr>
        <p:spPr>
          <a:xfrm>
            <a:off x="9006840" y="2926080"/>
            <a:ext cx="2404872" cy="1143000"/>
          </a:xfrm>
          <a:prstGeom prst="rect">
            <a:avLst/>
          </a:prstGeom>
          <a:solidFill>
            <a:srgbClr val="F7F5F2"/>
          </a:solidFill>
          <a:ln/>
        </p:spPr>
        <p:txBody>
          <a:bodyPr/>
          <a:p/>
        </p:txBody>
      </p:sp>
      <p:sp>
        <p:nvSpPr>
          <p:cNvPr id="15" name="Shape 11"/>
          <p:cNvSpPr/>
          <p:nvPr/>
        </p:nvSpPr>
        <p:spPr>
          <a:xfrm>
            <a:off x="9006840" y="2926080"/>
            <a:ext cx="45720" cy="1143000"/>
          </a:xfrm>
          <a:prstGeom prst="rect">
            <a:avLst/>
          </a:prstGeom>
          <a:solidFill>
            <a:srgbClr val="A51C30"/>
          </a:solidFill>
          <a:ln/>
        </p:spPr>
        <p:txBody>
          <a:bodyPr/>
          <a:p/>
        </p:txBody>
      </p:sp>
      <p:sp>
        <p:nvSpPr>
          <p:cNvPr id="16" name="Text 12"/>
          <p:cNvSpPr txBox="1"/>
          <p:nvPr/>
        </p:nvSpPr>
        <p:spPr>
          <a:xfrm>
            <a:off x="920800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29 ms</a:t>
            </a:r>
            <a:endParaRPr lang="en-US" sz="2600" dirty="0"/>
          </a:p>
        </p:txBody>
      </p:sp>
      <p:sp>
        <p:nvSpPr>
          <p:cNvPr id="17" name="Text 13"/>
          <p:cNvSpPr txBox="1"/>
          <p:nvPr/>
        </p:nvSpPr>
        <p:spPr>
          <a:xfrm>
            <a:off x="920800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Type-ahead at 1M trades a day</a:t>
            </a:r>
            <a:endParaRPr lang="en-US" sz="1150" dirty="0"/>
          </a:p>
        </p:txBody>
      </p:sp>
      <p:sp>
        <p:nvSpPr>
          <p:cNvPr id="18" name="Text 14"/>
          <p:cNvSpPr txBox="1"/>
          <p:nvPr/>
        </p:nvSpPr>
        <p:spPr>
          <a:xfrm>
            <a:off x="6400800" y="4206240"/>
            <a:ext cx="5010912" cy="548640"/>
          </a:xfrm>
          <a:prstGeom prst="rect">
            <a:avLst/>
          </a:prstGeom>
          <a:noFill/>
          <a:ln/>
        </p:spPr>
        <p:txBody>
          <a:bodyPr wrap="square" lIns="0" tIns="0" rIns="0" bIns="0" rtlCol="0" anchor="ctr"/>
          <a:lstStyle/>
          <a:p>
            <a:pPr indent="0" marL="0">
              <a:buNone/>
            </a:pPr>
            <a:r>
              <a:rPr lang="en-US" sz="1100" i="1" dirty="0">
                <a:solidFill>
                  <a:srgbClr val="61666E"/>
                </a:solidFill>
              </a:rPr>
              <a:t>Measured on a 24-core workstation, 1,000,000 trades a day for three days (5.2 GB).</a:t>
            </a:r>
            <a:endParaRPr lang="en-US" sz="1100" dirty="0"/>
          </a:p>
        </p:txBody>
      </p:sp>
      <p:sp>
        <p:nvSpPr>
          <p:cNvPr id="19" name="Shape 15"/>
          <p:cNvSpPr/>
          <p:nvPr/>
        </p:nvSpPr>
        <p:spPr>
          <a:xfrm>
            <a:off x="777240" y="5550408"/>
            <a:ext cx="10634472" cy="694944"/>
          </a:xfrm>
          <a:prstGeom prst="rect">
            <a:avLst/>
          </a:prstGeom>
          <a:solidFill>
            <a:srgbClr val="F6E6E9"/>
          </a:solidFill>
          <a:ln/>
        </p:spPr>
        <p:txBody>
          <a:bodyPr/>
          <a:p/>
        </p:txBody>
      </p:sp>
      <p:sp>
        <p:nvSpPr>
          <p:cNvPr id="20" name="Shape 16"/>
          <p:cNvSpPr/>
          <p:nvPr/>
        </p:nvSpPr>
        <p:spPr>
          <a:xfrm>
            <a:off x="777240" y="5550408"/>
            <a:ext cx="54864" cy="694944"/>
          </a:xfrm>
          <a:prstGeom prst="rect">
            <a:avLst/>
          </a:prstGeom>
          <a:solidFill>
            <a:srgbClr val="A51C30"/>
          </a:solidFill>
          <a:ln/>
        </p:spPr>
        <p:txBody>
          <a:bodyPr/>
          <a:p/>
        </p:txBody>
      </p:sp>
      <p:sp>
        <p:nvSpPr>
          <p:cNvPr id="21"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Search is a question in the terminal's own grammar — and its answer is a view you can pivot, compare and share.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COLLABORATION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Share what you see, discuss it, and prove what was said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collab/01-share-dialog.jpg">    </p:cNvPr>
          <p:cNvPicPr>
            <a:picLocks noChangeAspect="1"/>
          </p:cNvPicPr>
          <p:nvPr/>
        </p:nvPicPr>
        <p:blipFill>
          <a:blip r:embed="rId5"/>
          <a:srcRect/>
          <a:stretch>
            <a:fillRect/>
          </a:stretch>
        </p:blipFill>
        <p:spPr>
          <a:xfrm>
            <a:off x="777240" y="1417320"/>
            <a:ext cx="5120640" cy="3200400"/>
          </a:xfrm>
          <a:prstGeom prst="rect">
            <a:avLst/>
          </a:prstGeom>
        </p:spPr>
      </p:pic>
      <p:sp>
        <p:nvSpPr>
          <p:cNvPr id="8" name="Shape 4"/>
          <p:cNvSpPr/>
          <p:nvPr/>
        </p:nvSpPr>
        <p:spPr>
          <a:xfrm>
            <a:off x="62270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9" name="Image 1" descr="/home/ashutosh/IdeaProjects/drishti/docs/guides/img/collab/07-discussion-author.jpg">    </p:cNvPr>
          <p:cNvPicPr>
            <a:picLocks noChangeAspect="1"/>
          </p:cNvPicPr>
          <p:nvPr/>
        </p:nvPicPr>
        <p:blipFill>
          <a:blip r:embed="rId6"/>
          <a:srcRect/>
          <a:stretch>
            <a:fillRect/>
          </a:stretch>
        </p:blipFill>
        <p:spPr>
          <a:xfrm>
            <a:off x="6263640" y="1417320"/>
            <a:ext cx="5120640" cy="3200400"/>
          </a:xfrm>
          <a:prstGeom prst="rect">
            <a:avLst/>
          </a:prstGeom>
        </p:spPr>
      </p:pic>
      <p:sp>
        <p:nvSpPr>
          <p:cNvPr id="10" name="Text 5"/>
          <p:cNvSpPr txBox="1"/>
          <p:nvPr/>
        </p:nvSpPr>
        <p:spPr>
          <a:xfrm>
            <a:off x="7772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Share with a note, to people or roles.</a:t>
            </a:r>
            <a:endParaRPr lang="en-US" sz="1050" dirty="0"/>
          </a:p>
        </p:txBody>
      </p:sp>
      <p:sp>
        <p:nvSpPr>
          <p:cNvPr id="11" name="Text 6"/>
          <p:cNvSpPr txBox="1"/>
          <p:nvPr/>
        </p:nvSpPr>
        <p:spPr>
          <a:xfrm>
            <a:off x="62636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A discussion thread with @mentions and quoted fields.</a:t>
            </a:r>
            <a:endParaRPr lang="en-US" sz="1050" dirty="0"/>
          </a:p>
        </p:txBody>
      </p:sp>
      <p:sp>
        <p:nvSpPr>
          <p:cNvPr id="12" name="Shape 7"/>
          <p:cNvSpPr/>
          <p:nvPr/>
        </p:nvSpPr>
        <p:spPr>
          <a:xfrm>
            <a:off x="777240" y="5257800"/>
            <a:ext cx="10634472" cy="694944"/>
          </a:xfrm>
          <a:prstGeom prst="rect">
            <a:avLst/>
          </a:prstGeom>
          <a:solidFill>
            <a:srgbClr val="F6E6E9"/>
          </a:solidFill>
          <a:ln/>
        </p:spPr>
        <p:txBody>
          <a:bodyPr/>
          <a:p/>
        </p:txBody>
      </p:sp>
      <p:sp>
        <p:nvSpPr>
          <p:cNvPr id="13" name="Shape 8"/>
          <p:cNvSpPr/>
          <p:nvPr/>
        </p:nvSpPr>
        <p:spPr>
          <a:xfrm>
            <a:off x="777240" y="5257800"/>
            <a:ext cx="54864" cy="694944"/>
          </a:xfrm>
          <a:prstGeom prst="rect">
            <a:avLst/>
          </a:prstGeom>
          <a:solidFill>
            <a:srgbClr val="A51C30"/>
          </a:solidFill>
          <a:ln/>
        </p:spPr>
        <p:txBody>
          <a:bodyPr/>
          <a:p/>
        </p:txBody>
      </p:sp>
      <p:sp>
        <p:nvSpPr>
          <p:cNvPr id="14" name="Text 9"/>
          <p:cNvSpPr txBox="1"/>
          <p:nvPr/>
        </p:nvSpPr>
        <p:spPr>
          <a:xfrm>
            <a:off x="1033272" y="5330952"/>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Every comment is hash-chained and sealable; retract and hide never delete — evidence, not just conversation.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DATA LOADS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Tell Drishti new data has landed — and it acts on 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92174"/>
            <a:ext cx="5742432" cy="36164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loads-crop.jpg">    </p:cNvPr>
          <p:cNvPicPr>
            <a:picLocks noChangeAspect="1"/>
          </p:cNvPicPr>
          <p:nvPr/>
        </p:nvPicPr>
        <p:blipFill>
          <a:blip r:embed="rId4"/>
          <a:srcRect/>
          <a:stretch>
            <a:fillRect/>
          </a:stretch>
        </p:blipFill>
        <p:spPr>
          <a:xfrm>
            <a:off x="777240" y="1428750"/>
            <a:ext cx="5669280" cy="3543300"/>
          </a:xfrm>
          <a:prstGeom prst="rect">
            <a:avLst/>
          </a:prstGeom>
        </p:spPr>
      </p:pic>
      <p:sp>
        <p:nvSpPr>
          <p:cNvPr id="8" name="Shape 4"/>
          <p:cNvSpPr/>
          <p:nvPr/>
        </p:nvSpPr>
        <p:spPr>
          <a:xfrm>
            <a:off x="6720840" y="1417320"/>
            <a:ext cx="4690872" cy="1188720"/>
          </a:xfrm>
          <a:prstGeom prst="rect">
            <a:avLst/>
          </a:prstGeom>
          <a:solidFill>
            <a:srgbClr val="1E1E24"/>
          </a:solidFill>
          <a:ln/>
        </p:spPr>
        <p:txBody>
          <a:bodyPr/>
          <a:p/>
        </p:txBody>
      </p:sp>
      <p:sp>
        <p:nvSpPr>
          <p:cNvPr id="9" name="Text 5"/>
          <p:cNvSpPr txBox="1"/>
          <p:nvPr/>
        </p:nvSpPr>
        <p:spPr>
          <a:xfrm>
            <a:off x="6922008" y="1581912"/>
            <a:ext cx="4288536" cy="91440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data landed --pack trading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--date 2026-10-05 --rows 10000</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or POST /api/v1/packs/trading/loads</a:t>
            </a:r>
            <a:endParaRPr lang="en-US" sz="1150" dirty="0"/>
          </a:p>
        </p:txBody>
      </p:sp>
      <p:sp>
        <p:nvSpPr>
          <p:cNvPr id="10" name="Text 6"/>
          <p:cNvSpPr txBox="1"/>
          <p:nvPr/>
        </p:nvSpPr>
        <p:spPr>
          <a:xfrm>
            <a:off x="6720840" y="2788920"/>
            <a:ext cx="4690872" cy="2651760"/>
          </a:xfrm>
          <a:prstGeom prst="rect">
            <a:avLst/>
          </a:prstGeom>
          <a:noFill/>
          <a:ln/>
        </p:spPr>
        <p:txBody>
          <a:bodyPr wrap="square" lIns="0" tIns="0" rIns="0" bIns="0" rtlCol="0" anchor="t"/>
          <a:lstStyle/>
          <a:p>
            <a:pPr indent="0" marL="0">
              <a:buNone/>
            </a:pPr>
            <a:r>
              <a:rPr lang="en-US" sz="1400" b="1" dirty="0">
                <a:solidFill>
                  <a:srgbClr val="A51C30"/>
                </a:solidFill>
              </a:rPr>
              <a:t>▪  Refresh, verify, alert, notify</a:t>
            </a:r>
            <a:endParaRPr lang="en-US" sz="1400" dirty="0"/>
          </a:p>
          <a:p>
            <a:pPr indent="0" marL="0">
              <a:spcAft>
                <a:spcPts val="700"/>
              </a:spcAft>
              <a:buNone/>
            </a:pPr>
            <a:r>
              <a:rPr lang="en-US" sz="1250" dirty="0">
                <a:solidFill>
                  <a:srgbClr val="4A5058"/>
                </a:solidFill>
              </a:rPr>
              <a:t>Caches refreshed, the date checked, alert rules run on it, bell, inbox and email.</a:t>
            </a:r>
            <a:endParaRPr lang="en-US" sz="1400" dirty="0"/>
          </a:p>
          <a:p>
            <a:pPr indent="0" marL="0">
              <a:buNone/>
            </a:pPr>
            <a:r>
              <a:rPr lang="en-US" sz="1400" b="1" dirty="0">
                <a:solidFill>
                  <a:srgbClr val="A51C30"/>
                </a:solidFill>
              </a:rPr>
              <a:t>▪  Late is a fact, said once</a:t>
            </a:r>
            <a:endParaRPr lang="en-US" sz="1400" dirty="0"/>
          </a:p>
          <a:p>
            <a:pPr indent="0" marL="0">
              <a:spcAft>
                <a:spcPts val="700"/>
              </a:spcAft>
              <a:buNone/>
            </a:pPr>
            <a:r>
              <a:rPr lang="en-US" sz="1250" dirty="0">
                <a:solidFill>
                  <a:srgbClr val="4A5058"/>
                </a:solidFill>
              </a:rPr>
              <a:t>Per-kind expectations with time zone and calendar; Health shows 'data late'.</a:t>
            </a:r>
            <a:endParaRPr lang="en-US" sz="1400" dirty="0"/>
          </a:p>
          <a:p>
            <a:pPr indent="0" marL="0">
              <a:buNone/>
            </a:pPr>
            <a:r>
              <a:rPr lang="en-US" sz="1400" b="1" dirty="0">
                <a:solidFill>
                  <a:srgbClr val="A51C30"/>
                </a:solidFill>
              </a:rPr>
              <a:t>▪  Safe to repeat</a:t>
            </a:r>
            <a:endParaRPr lang="en-US" sz="1400" dirty="0"/>
          </a:p>
          <a:p>
            <a:pPr indent="0" marL="0">
              <a:spcAft>
                <a:spcPts val="700"/>
              </a:spcAft>
              <a:buNone/>
            </a:pPr>
            <a:r>
              <a:rPr lang="en-US" sz="1250" dirty="0">
                <a:solidFill>
                  <a:srgbClr val="4A5058"/>
                </a:solidFill>
              </a:rPr>
              <a:t>Idempotent per pack, kind, date and batch; token scope loads:write.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PACKS · FROM A FOLDER TO PRODUCTION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folder of JSON Lines to a deployed pack</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4937760" cy="2331720"/>
          </a:xfrm>
          <a:prstGeom prst="rect">
            <a:avLst/>
          </a:prstGeom>
          <a:solidFill>
            <a:srgbClr val="1E1E24"/>
          </a:solidFill>
          <a:ln/>
        </p:spPr>
        <p:txBody>
          <a:bodyPr/>
          <a:p/>
        </p:txBody>
      </p:sp>
      <p:sp>
        <p:nvSpPr>
          <p:cNvPr id="7" name="Shape 4"/>
          <p:cNvSpPr/>
          <p:nvPr/>
        </p:nvSpPr>
        <p:spPr>
          <a:xfrm>
            <a:off x="777240" y="1417320"/>
            <a:ext cx="4937760" cy="384048"/>
          </a:xfrm>
          <a:prstGeom prst="rect">
            <a:avLst/>
          </a:prstGeom>
          <a:solidFill>
            <a:srgbClr val="8A1626"/>
          </a:solidFill>
          <a:ln/>
        </p:spPr>
        <p:txBody>
          <a:bodyPr/>
          <a:p/>
        </p:txBody>
      </p:sp>
      <p:sp>
        <p:nvSpPr>
          <p:cNvPr id="8" name="Text 5"/>
          <p:cNvSpPr txBox="1"/>
          <p:nvPr/>
        </p:nvSpPr>
        <p:spPr>
          <a:xfrm>
            <a:off x="960120" y="1417320"/>
            <a:ext cx="4572000" cy="384048"/>
          </a:xfrm>
          <a:prstGeom prst="rect">
            <a:avLst/>
          </a:prstGeom>
          <a:noFill/>
          <a:ln/>
        </p:spPr>
        <p:txBody>
          <a:bodyPr wrap="square" lIns="0" tIns="0" rIns="0" bIns="0" rtlCol="0" anchor="ctr"/>
          <a:lstStyle/>
          <a:p>
            <a:pPr indent="0" marL="0">
              <a:buNone/>
            </a:pPr>
            <a:r>
              <a:rPr lang="en-US" sz="1300" b="1" dirty="0">
                <a:solidFill>
                  <a:srgbClr val="FFFFFF"/>
                </a:solidFill>
              </a:rPr>
              <a:t>One command</a:t>
            </a:r>
            <a:endParaRPr lang="en-US" sz="1300" dirty="0"/>
          </a:p>
        </p:txBody>
      </p:sp>
      <p:sp>
        <p:nvSpPr>
          <p:cNvPr id="9" name="Text 6"/>
          <p:cNvSpPr txBox="1"/>
          <p:nvPr/>
        </p:nvSpPr>
        <p:spPr>
          <a:xfrm>
            <a:off x="978408" y="1920240"/>
            <a:ext cx="4535424" cy="1719072"/>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pack make ./trades --pack desk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--key TRADE_ID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--match PRODUCT_TYPE --date TRADE_DATE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 desk/ pack, sutras per product type,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Delta lake by date, desk.tar.gz + sha256,</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README.txt, run scripts</a:t>
            </a:r>
            <a:endParaRPr lang="en-US" sz="1150" dirty="0"/>
          </a:p>
        </p:txBody>
      </p:sp>
      <p:sp>
        <p:nvSpPr>
          <p:cNvPr id="10" name="Shape 7"/>
          <p:cNvSpPr/>
          <p:nvPr/>
        </p:nvSpPr>
        <p:spPr>
          <a:xfrm>
            <a:off x="5952744" y="1383723"/>
            <a:ext cx="5495544" cy="290183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1" name="Image 0" descr="/home/ashutosh/IdeaProjects/drishti/docs/guides/img/deploy/02-deploy-preview.jpg">    </p:cNvPr>
          <p:cNvPicPr>
            <a:picLocks noChangeAspect="1"/>
          </p:cNvPicPr>
          <p:nvPr/>
        </p:nvPicPr>
        <p:blipFill>
          <a:blip r:embed="rId4"/>
          <a:srcRect/>
          <a:stretch>
            <a:fillRect/>
          </a:stretch>
        </p:blipFill>
        <p:spPr>
          <a:xfrm>
            <a:off x="5989320" y="1420299"/>
            <a:ext cx="5422391" cy="2828681"/>
          </a:xfrm>
          <a:prstGeom prst="rect">
            <a:avLst/>
          </a:prstGeom>
        </p:spPr>
      </p:pic>
      <p:sp>
        <p:nvSpPr>
          <p:cNvPr id="12" name="Text 8"/>
          <p:cNvSpPr txBox="1"/>
          <p:nvPr/>
        </p:nvSpPr>
        <p:spPr>
          <a:xfrm>
            <a:off x="777240" y="3931920"/>
            <a:ext cx="4937760" cy="1554480"/>
          </a:xfrm>
          <a:prstGeom prst="rect">
            <a:avLst/>
          </a:prstGeom>
          <a:noFill/>
          <a:ln/>
        </p:spPr>
        <p:txBody>
          <a:bodyPr wrap="square" lIns="0" tIns="0" rIns="0" bIns="0" rtlCol="0" anchor="t"/>
          <a:lstStyle/>
          <a:p>
            <a:pPr indent="0" marL="0">
              <a:buNone/>
            </a:pPr>
            <a:r>
              <a:rPr lang="en-US" sz="1400" b="1" dirty="0">
                <a:solidFill>
                  <a:srgbClr val="A51C30"/>
                </a:solidFill>
              </a:rPr>
              <a:t>▪  Checked before it lands</a:t>
            </a:r>
            <a:endParaRPr lang="en-US" sz="1400" dirty="0"/>
          </a:p>
          <a:p>
            <a:pPr indent="0" marL="0">
              <a:spcAft>
                <a:spcPts val="600"/>
              </a:spcAft>
              <a:buNone/>
            </a:pPr>
            <a:r>
              <a:rPr lang="en-US" sz="1250" dirty="0">
                <a:solidFill>
                  <a:srgbClr val="4A5058"/>
                </a:solidFill>
              </a:rPr>
              <a:t>Checksums, paths, server version, Sutra tests and an optional Ed25519 signature.</a:t>
            </a:r>
            <a:endParaRPr lang="en-US" sz="1400" dirty="0"/>
          </a:p>
          <a:p>
            <a:pPr indent="0" marL="0">
              <a:buNone/>
            </a:pPr>
            <a:r>
              <a:rPr lang="en-US" sz="1400" b="1" dirty="0">
                <a:solidFill>
                  <a:srgbClr val="A51C30"/>
                </a:solidFill>
              </a:rPr>
              <a:t>▪  Never stuck</a:t>
            </a:r>
            <a:endParaRPr lang="en-US" sz="1400" dirty="0"/>
          </a:p>
          <a:p>
            <a:pPr indent="0" marL="0">
              <a:spcAft>
                <a:spcPts val="600"/>
              </a:spcAft>
              <a:buNone/>
            </a:pPr>
            <a:r>
              <a:rPr lang="en-US" sz="1250" dirty="0">
                <a:solidFill>
                  <a:srgbClr val="4A5058"/>
                </a:solidFill>
              </a:rPr>
              <a:t>The previous version is kept; a failed deploy rolls back; history has Roll back.</a:t>
            </a:r>
            <a:endParaRPr lang="en-US" sz="1400" dirty="0"/>
          </a:p>
        </p:txBody>
      </p:sp>
      <p:sp>
        <p:nvSpPr>
          <p:cNvPr id="13" name="Shape 9"/>
          <p:cNvSpPr/>
          <p:nvPr/>
        </p:nvSpPr>
        <p:spPr>
          <a:xfrm>
            <a:off x="777240" y="5550408"/>
            <a:ext cx="10634472" cy="694944"/>
          </a:xfrm>
          <a:prstGeom prst="rect">
            <a:avLst/>
          </a:prstGeom>
          <a:solidFill>
            <a:srgbClr val="F6E6E9"/>
          </a:solidFill>
          <a:ln/>
        </p:spPr>
        <p:txBody>
          <a:bodyPr/>
          <a:p/>
        </p:txBody>
      </p:sp>
      <p:sp>
        <p:nvSpPr>
          <p:cNvPr id="14" name="Shape 10"/>
          <p:cNvSpPr/>
          <p:nvPr/>
        </p:nvSpPr>
        <p:spPr>
          <a:xfrm>
            <a:off x="777240" y="5550408"/>
            <a:ext cx="54864" cy="694944"/>
          </a:xfrm>
          <a:prstGeom prst="rect">
            <a:avLst/>
          </a:prstGeom>
          <a:solidFill>
            <a:srgbClr val="A51C30"/>
          </a:solidFill>
          <a:ln/>
        </p:spPr>
        <p:txBody>
          <a:bodyPr/>
          <a:p/>
        </p:txBody>
      </p:sp>
      <p:sp>
        <p:nvSpPr>
          <p:cNvPr id="15"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Archives carry the pack, never the data — where data lives stays an admin's decision.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CLI · TOOLS/DRISHTI.PY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build step from the command line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508760"/>
          <a:ext cx="10634472" cy="3657600"/>
        </p:xfrm>
        <a:graphic>
          <a:graphicData uri="http://schemas.openxmlformats.org/drawingml/2006/table">
            <a:tbl>
              <a:tblPr/>
              <a:tblGrid>
                <a:gridCol w="2331720"/>
                <a:gridCol w="4206240"/>
                <a:gridCol w="4096512"/>
              </a:tblGrid>
              <a:tr h="457200">
                <a:tc>
                  <a:txBody>
                    <a:bodyPr/>
                    <a:lstStyle/>
                    <a:p>
                      <a:pPr indent="0" marL="0">
                        <a:buNone/>
                      </a:pPr>
                      <a:r>
                        <a:rPr lang="en-US" sz="1400" b="1" dirty="0">
                          <a:solidFill>
                            <a:srgbClr val="FFFFFF"/>
                          </a:solidFill>
                        </a:rPr>
                        <a:t>Group</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does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57200">
                <a:tc>
                  <a:txBody>
                    <a:bodyPr/>
                    <a:lstStyle/>
                    <a:p>
                      <a:pPr indent="0" marL="0">
                        <a:buNone/>
                      </a:pPr>
                      <a:r>
                        <a:rPr lang="en-US" sz="1400" b="1" dirty="0">
                          <a:solidFill>
                            <a:srgbClr val="8A1626"/>
                          </a:solidFill>
                        </a:rPr>
                        <a:t>sutra · pack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Lint, test, preview Sutras; make, sign, deploy packs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sutra test, pack make, deploy, rollback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57200">
                <a:tc>
                  <a:txBody>
                    <a:bodyPr/>
                    <a:lstStyle/>
                    <a:p>
                      <a:pPr indent="0" marL="0">
                        <a:buNone/>
                      </a:pPr>
                      <a:r>
                        <a:rPr lang="en-US" sz="1400" b="1" dirty="0">
                          <a:solidFill>
                            <a:srgbClr val="8A1626"/>
                          </a:solidFill>
                        </a:rPr>
                        <a:t>data · lake · convert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Ingest JSONL, build lakes, turn CSV into JSONL</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landed, lake demo --names, convert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8A1626"/>
                          </a:solidFill>
                        </a:rPr>
                        <a:t>server · connector · net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Packs and commands on or off, connectors, members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packs off, commands off, net members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57200">
                <a:tc>
                  <a:txBody>
                    <a:bodyPr/>
                    <a:lstStyle/>
                    <a:p>
                      <a:pPr indent="0" marL="0">
                        <a:buNone/>
                      </a:pPr>
                      <a:r>
                        <a:rPr lang="en-US" sz="1400" b="1" dirty="0">
                          <a:solidFill>
                            <a:srgbClr val="8A1626"/>
                          </a:solidFill>
                        </a:rPr>
                        <a:t>bi · design · view</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Models, SQL, runs, statements; designs; a view</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bi sql --format jsonl, bi runs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8A1626"/>
                          </a:solidFill>
                        </a:rPr>
                        <a:t>history · contract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An entity over days; every command's contract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history TRD 1000015 30, contract check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57200">
                <a:tc>
                  <a:txBody>
                    <a:bodyPr/>
                    <a:lstStyle/>
                    <a:p>
                      <a:pPr indent="0" marL="0">
                        <a:buNone/>
                      </a:pPr>
                      <a:r>
                        <a:rPr lang="en-US" sz="1400" b="1" dirty="0">
                          <a:solidFill>
                            <a:srgbClr val="8A1626"/>
                          </a:solidFill>
                        </a:rPr>
                        <a:t>var · exposure · compute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The risk engines as you see them; reactive kinds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var show … --ccy EUR, exposure profile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8A1626"/>
                          </a:solidFill>
                        </a:rPr>
                        <a:t>change · edits ·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Write-back changes, Admin → Edits, a setup check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change submit, edits status,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7" name="Shape 3"/>
          <p:cNvSpPr/>
          <p:nvPr/>
        </p:nvSpPr>
        <p:spPr>
          <a:xfrm>
            <a:off x="777240" y="5550408"/>
            <a:ext cx="10634472" cy="694944"/>
          </a:xfrm>
          <a:prstGeom prst="rect">
            <a:avLst/>
          </a:prstGeom>
          <a:solidFill>
            <a:srgbClr val="F6E6E9"/>
          </a:solidFill>
          <a:ln/>
        </p:spPr>
        <p:txBody>
          <a:bodyPr/>
          <a:p/>
        </p:txBody>
      </p:sp>
      <p:sp>
        <p:nvSpPr>
          <p:cNvPr id="8" name="Shape 4"/>
          <p:cNvSpPr/>
          <p:nvPr/>
        </p:nvSpPr>
        <p:spPr>
          <a:xfrm>
            <a:off x="777240" y="5550408"/>
            <a:ext cx="54864" cy="694944"/>
          </a:xfrm>
          <a:prstGeom prst="rect">
            <a:avLst/>
          </a:prstGeom>
          <a:solidFill>
            <a:srgbClr val="A51C30"/>
          </a:solidFill>
          <a:ln/>
        </p:spPr>
        <p:txBody>
          <a:bodyPr/>
          <a:p/>
        </p:txBody>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Anything the console can build, a script can build — and a pipeline can check it.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 ELEMENTS · NO IFRAME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live view, inside other web applications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5486400" cy="1691640"/>
          </a:xfrm>
          <a:prstGeom prst="rect">
            <a:avLst/>
          </a:prstGeom>
          <a:solidFill>
            <a:srgbClr val="1E1E24"/>
          </a:solidFill>
          <a:ln/>
        </p:spPr>
        <p:txBody>
          <a:bodyPr/>
          <a:p/>
        </p:txBody>
      </p:sp>
      <p:sp>
        <p:nvSpPr>
          <p:cNvPr id="7" name="Text 4"/>
          <p:cNvSpPr txBox="1"/>
          <p:nvPr/>
        </p:nvSpPr>
        <p:spPr>
          <a:xfrm>
            <a:off x="978408" y="1581912"/>
            <a:ext cx="5084064" cy="14173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 type="module" src=</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"/embed/v1/elements/1.4.3/drishti-elements.js"&gt;</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&lt;/script&gt;</a:t>
            </a:r>
            <a:endParaRPr lang="en-US" sz="1150" dirty="0"/>
          </a:p>
          <a:p>
            <a:pPr indent="0" marL="0">
              <a:lnSpc>
                <a:spcPct val="105000"/>
              </a:lnSpc>
              <a:buNone/>
            </a:pP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&lt;drishti-view server="https://drishti.example"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kind="trade" entity="MX-20000001"&gt;&lt;/drishti-view&gt;</a:t>
            </a:r>
            <a:endParaRPr lang="en-US" sz="1150" dirty="0"/>
          </a:p>
        </p:txBody>
      </p:sp>
      <p:sp>
        <p:nvSpPr>
          <p:cNvPr id="8" name="Shape 5"/>
          <p:cNvSpPr/>
          <p:nvPr/>
        </p:nvSpPr>
        <p:spPr>
          <a:xfrm>
            <a:off x="6455664" y="1483519"/>
            <a:ext cx="4992624" cy="155924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9" name="Image 0" descr="/tmp/claude-1000/-home-ashutosh-IdeaProjects-drishti/efa68c11-fb98-4f9a-8faa-96a952090c0e/scratchpad/deck/shots/embed-crop.png">    </p:cNvPr>
          <p:cNvPicPr>
            <a:picLocks noChangeAspect="1"/>
          </p:cNvPicPr>
          <p:nvPr/>
        </p:nvPicPr>
        <p:blipFill>
          <a:blip r:embed="rId4"/>
          <a:srcRect/>
          <a:stretch>
            <a:fillRect/>
          </a:stretch>
        </p:blipFill>
        <p:spPr>
          <a:xfrm>
            <a:off x="6492240" y="1520095"/>
            <a:ext cx="4919472" cy="1269541"/>
          </a:xfrm>
          <a:prstGeom prst="rect">
            <a:avLst/>
          </a:prstGeom>
        </p:spPr>
      </p:pic>
      <p:sp>
        <p:nvSpPr>
          <p:cNvPr id="10" name="Text 6"/>
          <p:cNvSpPr txBox="1"/>
          <p:nvPr/>
        </p:nvSpPr>
        <p:spPr>
          <a:xfrm>
            <a:off x="6492240" y="3172968"/>
            <a:ext cx="4919472" cy="274320"/>
          </a:xfrm>
          <a:prstGeom prst="rect">
            <a:avLst/>
          </a:prstGeom>
          <a:noFill/>
          <a:ln/>
        </p:spPr>
        <p:txBody>
          <a:bodyPr wrap="square" lIns="0" tIns="0" rIns="0" bIns="0" rtlCol="0" anchor="t"/>
          <a:lstStyle/>
          <a:p>
            <a:pPr indent="0" marL="0">
              <a:buNone/>
            </a:pPr>
            <a:r>
              <a:rPr lang="en-US" sz="1050" i="1" dirty="0">
                <a:solidFill>
                  <a:srgbClr val="61666E"/>
                </a:solidFill>
              </a:rPr>
              <a:t>Admin → Embedding: host apps, origins, scopes and usage.</a:t>
            </a:r>
            <a:endParaRPr lang="en-US" sz="1050" dirty="0"/>
          </a:p>
        </p:txBody>
      </p:sp>
      <p:sp>
        <p:nvSpPr>
          <p:cNvPr id="11" name="Shape 7"/>
          <p:cNvSpPr/>
          <p:nvPr/>
        </p:nvSpPr>
        <p:spPr>
          <a:xfrm>
            <a:off x="777240" y="3611880"/>
            <a:ext cx="2507742" cy="1691640"/>
          </a:xfrm>
          <a:prstGeom prst="rect">
            <a:avLst/>
          </a:prstGeom>
          <a:solidFill>
            <a:srgbClr val="F7F5F2"/>
          </a:solidFill>
          <a:ln/>
        </p:spPr>
        <p:txBody>
          <a:bodyPr/>
          <a:p/>
        </p:txBody>
      </p:sp>
      <p:sp>
        <p:nvSpPr>
          <p:cNvPr id="12" name="Shape 8"/>
          <p:cNvSpPr/>
          <p:nvPr/>
        </p:nvSpPr>
        <p:spPr>
          <a:xfrm>
            <a:off x="777240" y="3611880"/>
            <a:ext cx="45720" cy="1691640"/>
          </a:xfrm>
          <a:prstGeom prst="rect">
            <a:avLst/>
          </a:prstGeom>
          <a:solidFill>
            <a:srgbClr val="A51C30"/>
          </a:solidFill>
          <a:ln/>
        </p:spPr>
        <p:txBody>
          <a:bodyPr/>
          <a:p/>
        </p:txBody>
      </p:sp>
      <p:sp>
        <p:nvSpPr>
          <p:cNvPr id="13" name="Text 9"/>
          <p:cNvSpPr txBox="1"/>
          <p:nvPr/>
        </p:nvSpPr>
        <p:spPr>
          <a:xfrm>
            <a:off x="97840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HTML</a:t>
            </a:r>
            <a:endParaRPr lang="en-US" sz="2600" dirty="0"/>
          </a:p>
        </p:txBody>
      </p:sp>
      <p:sp>
        <p:nvSpPr>
          <p:cNvPr id="14" name="Text 10"/>
          <p:cNvSpPr txBox="1"/>
          <p:nvPr/>
        </p:nvSpPr>
        <p:spPr>
          <a:xfrm>
            <a:off x="97840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Over the wire: the console's own templates, sanitised, in a Shadow DOM</a:t>
            </a:r>
            <a:endParaRPr lang="en-US" sz="1300" dirty="0"/>
          </a:p>
        </p:txBody>
      </p:sp>
      <p:sp>
        <p:nvSpPr>
          <p:cNvPr id="15" name="Shape 11"/>
          <p:cNvSpPr/>
          <p:nvPr/>
        </p:nvSpPr>
        <p:spPr>
          <a:xfrm>
            <a:off x="3486150" y="3611880"/>
            <a:ext cx="2507742" cy="1691640"/>
          </a:xfrm>
          <a:prstGeom prst="rect">
            <a:avLst/>
          </a:prstGeom>
          <a:solidFill>
            <a:srgbClr val="F7F5F2"/>
          </a:solidFill>
          <a:ln/>
        </p:spPr>
        <p:txBody>
          <a:bodyPr/>
          <a:p/>
        </p:txBody>
      </p:sp>
      <p:sp>
        <p:nvSpPr>
          <p:cNvPr id="16" name="Shape 12"/>
          <p:cNvSpPr/>
          <p:nvPr/>
        </p:nvSpPr>
        <p:spPr>
          <a:xfrm>
            <a:off x="3486150" y="3611880"/>
            <a:ext cx="45720" cy="1691640"/>
          </a:xfrm>
          <a:prstGeom prst="rect">
            <a:avLst/>
          </a:prstGeom>
          <a:solidFill>
            <a:srgbClr val="A51C30"/>
          </a:solidFill>
          <a:ln/>
        </p:spPr>
        <p:txBody>
          <a:bodyPr/>
          <a:p/>
        </p:txBody>
      </p:sp>
      <p:sp>
        <p:nvSpPr>
          <p:cNvPr id="17" name="Text 13"/>
          <p:cNvSpPr txBox="1"/>
          <p:nvPr/>
        </p:nvSpPr>
        <p:spPr>
          <a:xfrm>
            <a:off x="368731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 stream</a:t>
            </a:r>
            <a:endParaRPr lang="en-US" sz="2600" dirty="0"/>
          </a:p>
        </p:txBody>
      </p:sp>
      <p:sp>
        <p:nvSpPr>
          <p:cNvPr id="18" name="Text 14"/>
          <p:cNvSpPr txBox="1"/>
          <p:nvPr/>
        </p:nvSpPr>
        <p:spPr>
          <a:xfrm>
            <a:off x="368731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Shared by every element on the host page</a:t>
            </a:r>
            <a:endParaRPr lang="en-US" sz="1300" dirty="0"/>
          </a:p>
        </p:txBody>
      </p:sp>
      <p:sp>
        <p:nvSpPr>
          <p:cNvPr id="19" name="Shape 15"/>
          <p:cNvSpPr/>
          <p:nvPr/>
        </p:nvSpPr>
        <p:spPr>
          <a:xfrm>
            <a:off x="6195060" y="3611880"/>
            <a:ext cx="2507742" cy="1691640"/>
          </a:xfrm>
          <a:prstGeom prst="rect">
            <a:avLst/>
          </a:prstGeom>
          <a:solidFill>
            <a:srgbClr val="F7F5F2"/>
          </a:solidFill>
          <a:ln/>
        </p:spPr>
        <p:txBody>
          <a:bodyPr/>
          <a:p/>
        </p:txBody>
      </p:sp>
      <p:sp>
        <p:nvSpPr>
          <p:cNvPr id="20" name="Shape 16"/>
          <p:cNvSpPr/>
          <p:nvPr/>
        </p:nvSpPr>
        <p:spPr>
          <a:xfrm>
            <a:off x="6195060" y="3611880"/>
            <a:ext cx="45720" cy="1691640"/>
          </a:xfrm>
          <a:prstGeom prst="rect">
            <a:avLst/>
          </a:prstGeom>
          <a:solidFill>
            <a:srgbClr val="A51C30"/>
          </a:solidFill>
          <a:ln/>
        </p:spPr>
        <p:txBody>
          <a:bodyPr/>
          <a:p/>
        </p:txBody>
      </p:sp>
      <p:sp>
        <p:nvSpPr>
          <p:cNvPr id="21" name="Text 17"/>
          <p:cNvSpPr txBox="1"/>
          <p:nvPr/>
        </p:nvSpPr>
        <p:spPr>
          <a:xfrm>
            <a:off x="639622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@container</a:t>
            </a:r>
            <a:endParaRPr lang="en-US" sz="2600" dirty="0"/>
          </a:p>
        </p:txBody>
      </p:sp>
      <p:sp>
        <p:nvSpPr>
          <p:cNvPr id="22" name="Text 18"/>
          <p:cNvSpPr txBox="1"/>
          <p:nvPr/>
        </p:nvSpPr>
        <p:spPr>
          <a:xfrm>
            <a:off x="639622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Responsive to its own box: a sidebar gets the narrow layout</a:t>
            </a:r>
            <a:endParaRPr lang="en-US" sz="1300" dirty="0"/>
          </a:p>
        </p:txBody>
      </p:sp>
      <p:sp>
        <p:nvSpPr>
          <p:cNvPr id="23" name="Shape 19"/>
          <p:cNvSpPr/>
          <p:nvPr/>
        </p:nvSpPr>
        <p:spPr>
          <a:xfrm>
            <a:off x="8903970" y="3611880"/>
            <a:ext cx="2507742" cy="1691640"/>
          </a:xfrm>
          <a:prstGeom prst="rect">
            <a:avLst/>
          </a:prstGeom>
          <a:solidFill>
            <a:srgbClr val="F7F5F2"/>
          </a:solidFill>
          <a:ln/>
        </p:spPr>
        <p:txBody>
          <a:bodyPr/>
          <a:p/>
        </p:txBody>
      </p:sp>
      <p:sp>
        <p:nvSpPr>
          <p:cNvPr id="24" name="Shape 20"/>
          <p:cNvSpPr/>
          <p:nvPr/>
        </p:nvSpPr>
        <p:spPr>
          <a:xfrm>
            <a:off x="8903970" y="3611880"/>
            <a:ext cx="45720" cy="1691640"/>
          </a:xfrm>
          <a:prstGeom prst="rect">
            <a:avLst/>
          </a:prstGeom>
          <a:solidFill>
            <a:srgbClr val="A51C30"/>
          </a:solidFill>
          <a:ln/>
        </p:spPr>
        <p:txBody>
          <a:bodyPr/>
          <a:p/>
        </p:txBody>
      </p:sp>
      <p:sp>
        <p:nvSpPr>
          <p:cNvPr id="25" name="Text 21"/>
          <p:cNvSpPr txBox="1"/>
          <p:nvPr/>
        </p:nvSpPr>
        <p:spPr>
          <a:xfrm>
            <a:off x="910513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Masked</a:t>
            </a:r>
            <a:endParaRPr lang="en-US" sz="2600" dirty="0"/>
          </a:p>
        </p:txBody>
      </p:sp>
      <p:sp>
        <p:nvSpPr>
          <p:cNvPr id="26" name="Text 22"/>
          <p:cNvSpPr txBox="1"/>
          <p:nvPr/>
        </p:nvSpPr>
        <p:spPr>
          <a:xfrm>
            <a:off x="910513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Always, whatever the user's roles; every call audited</a:t>
            </a:r>
            <a:endParaRPr lang="en-US" sz="1300" dirty="0"/>
          </a:p>
        </p:txBody>
      </p:sp>
      <p:sp>
        <p:nvSpPr>
          <p:cNvPr id="27" name="Shape 23"/>
          <p:cNvSpPr/>
          <p:nvPr/>
        </p:nvSpPr>
        <p:spPr>
          <a:xfrm>
            <a:off x="777240" y="5550408"/>
            <a:ext cx="10634472" cy="694944"/>
          </a:xfrm>
          <a:prstGeom prst="rect">
            <a:avLst/>
          </a:prstGeom>
          <a:solidFill>
            <a:srgbClr val="F6E6E9"/>
          </a:solidFill>
          <a:ln/>
        </p:spPr>
        <p:txBody>
          <a:bodyPr/>
          <a:p/>
        </p:txBody>
      </p:sp>
      <p:sp>
        <p:nvSpPr>
          <p:cNvPr id="28" name="Shape 24"/>
          <p:cNvSpPr/>
          <p:nvPr/>
        </p:nvSpPr>
        <p:spPr>
          <a:xfrm>
            <a:off x="777240" y="5550408"/>
            <a:ext cx="54864" cy="694944"/>
          </a:xfrm>
          <a:prstGeom prst="rect">
            <a:avLst/>
          </a:prstGeom>
          <a:solidFill>
            <a:srgbClr val="A51C30"/>
          </a:solidFill>
          <a:ln/>
        </p:spPr>
        <p:txBody>
          <a:bodyPr/>
          <a:p/>
        </p:txBody>
      </p:sp>
      <p:sp>
        <p:nvSpPr>
          <p:cNvPr id="29" name="Text 2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Other teams get the view, not a copy of it — still live, still masked, still audited.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DRISHTI*NET · GOSSIP AND HTTP/2</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Several servers, one Drishti</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Given one server; learns the rest; fails over</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Any node</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Signed calls; your roles checked</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txBody>
          <a:bodyPr/>
          <a:p/>
        </p:txBody>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Capability table</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Who renders each kind, who holds its data</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txBody>
          <a:bodyPr/>
          <a:p/>
        </p:txBody>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Forward or fetch</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Newest pack served; masked on both nodes</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txBody>
          <a:bodyPr/>
          <a:p/>
        </p:txBody>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Scatter-gather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A search asks every shard, once</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txBody>
          <a:bodyPr/>
          <a:p/>
        </p:txBody>
      </p:sp>
      <p:sp>
        <p:nvSpPr>
          <p:cNvPr id="25" name="Shape 22"/>
          <p:cNvSpPr/>
          <p:nvPr/>
        </p:nvSpPr>
        <p:spPr>
          <a:xfrm>
            <a:off x="777240" y="3337560"/>
            <a:ext cx="2560320" cy="960120"/>
          </a:xfrm>
          <a:prstGeom prst="rect">
            <a:avLst/>
          </a:prstGeom>
          <a:solidFill>
            <a:srgbClr val="F7F5F2"/>
          </a:solidFill>
          <a:ln/>
        </p:spPr>
        <p:txBody>
          <a:bodyPr/>
          <a:p/>
        </p:txBody>
      </p:sp>
      <p:sp>
        <p:nvSpPr>
          <p:cNvPr id="26" name="Shape 23"/>
          <p:cNvSpPr/>
          <p:nvPr/>
        </p:nvSpPr>
        <p:spPr>
          <a:xfrm>
            <a:off x="777240" y="3337560"/>
            <a:ext cx="45720" cy="960120"/>
          </a:xfrm>
          <a:prstGeom prst="rect">
            <a:avLst/>
          </a:prstGeom>
          <a:solidFill>
            <a:srgbClr val="A51C30"/>
          </a:solidFill>
          <a:ln/>
        </p:spPr>
        <p:txBody>
          <a:bodyPr/>
          <a:p/>
        </p:txBody>
      </p:sp>
      <p:sp>
        <p:nvSpPr>
          <p:cNvPr id="27" name="Text 24"/>
          <p:cNvSpPr txBox="1"/>
          <p:nvPr/>
        </p:nvSpPr>
        <p:spPr>
          <a:xfrm>
            <a:off x="97840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52 ms</a:t>
            </a:r>
            <a:endParaRPr lang="en-US" sz="2600" dirty="0"/>
          </a:p>
        </p:txBody>
      </p:sp>
      <p:sp>
        <p:nvSpPr>
          <p:cNvPr id="28" name="Text 25"/>
          <p:cNvSpPr txBox="1"/>
          <p:nvPr/>
        </p:nvSpPr>
        <p:spPr>
          <a:xfrm>
            <a:off x="97840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Three servers converge after the third starts</a:t>
            </a:r>
            <a:endParaRPr lang="en-US" sz="1300" dirty="0"/>
          </a:p>
        </p:txBody>
      </p:sp>
      <p:sp>
        <p:nvSpPr>
          <p:cNvPr id="29" name="Shape 26"/>
          <p:cNvSpPr/>
          <p:nvPr/>
        </p:nvSpPr>
        <p:spPr>
          <a:xfrm>
            <a:off x="3474720" y="3337560"/>
            <a:ext cx="2560320" cy="960120"/>
          </a:xfrm>
          <a:prstGeom prst="rect">
            <a:avLst/>
          </a:prstGeom>
          <a:solidFill>
            <a:srgbClr val="F7F5F2"/>
          </a:solidFill>
          <a:ln/>
        </p:spPr>
        <p:txBody>
          <a:bodyPr/>
          <a:p/>
        </p:txBody>
      </p:sp>
      <p:sp>
        <p:nvSpPr>
          <p:cNvPr id="30" name="Shape 27"/>
          <p:cNvSpPr/>
          <p:nvPr/>
        </p:nvSpPr>
        <p:spPr>
          <a:xfrm>
            <a:off x="3474720" y="3337560"/>
            <a:ext cx="45720" cy="960120"/>
          </a:xfrm>
          <a:prstGeom prst="rect">
            <a:avLst/>
          </a:prstGeom>
          <a:solidFill>
            <a:srgbClr val="A51C30"/>
          </a:solidFill>
          <a:ln/>
        </p:spPr>
        <p:txBody>
          <a:bodyPr/>
          <a:p/>
        </p:txBody>
      </p:sp>
      <p:sp>
        <p:nvSpPr>
          <p:cNvPr id="31" name="Text 28"/>
          <p:cNvSpPr txBox="1"/>
          <p:nvPr/>
        </p:nvSpPr>
        <p:spPr>
          <a:xfrm>
            <a:off x="367588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0 wrong</a:t>
            </a:r>
            <a:endParaRPr lang="en-US" sz="2600" dirty="0"/>
          </a:p>
        </p:txBody>
      </p:sp>
      <p:sp>
        <p:nvSpPr>
          <p:cNvPr id="32" name="Text 29"/>
          <p:cNvSpPr txBox="1"/>
          <p:nvPr/>
        </p:nvSpPr>
        <p:spPr>
          <a:xfrm>
            <a:off x="367588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of 146,498 answers checked in a 2-hour soak with kills</a:t>
            </a:r>
            <a:endParaRPr lang="en-US" sz="1300" dirty="0"/>
          </a:p>
        </p:txBody>
      </p:sp>
      <p:sp>
        <p:nvSpPr>
          <p:cNvPr id="33" name="Shape 30"/>
          <p:cNvSpPr/>
          <p:nvPr/>
        </p:nvSpPr>
        <p:spPr>
          <a:xfrm>
            <a:off x="777240" y="4407408"/>
            <a:ext cx="2560320" cy="960120"/>
          </a:xfrm>
          <a:prstGeom prst="rect">
            <a:avLst/>
          </a:prstGeom>
          <a:solidFill>
            <a:srgbClr val="F7F5F2"/>
          </a:solidFill>
          <a:ln/>
        </p:spPr>
        <p:txBody>
          <a:bodyPr/>
          <a:p/>
        </p:txBody>
      </p:sp>
      <p:sp>
        <p:nvSpPr>
          <p:cNvPr id="34" name="Shape 31"/>
          <p:cNvSpPr/>
          <p:nvPr/>
        </p:nvSpPr>
        <p:spPr>
          <a:xfrm>
            <a:off x="777240" y="4407408"/>
            <a:ext cx="45720" cy="960120"/>
          </a:xfrm>
          <a:prstGeom prst="rect">
            <a:avLst/>
          </a:prstGeom>
          <a:solidFill>
            <a:srgbClr val="A51C30"/>
          </a:solidFill>
          <a:ln/>
        </p:spPr>
        <p:txBody>
          <a:bodyPr/>
          <a:p/>
        </p:txBody>
      </p:sp>
      <p:sp>
        <p:nvSpPr>
          <p:cNvPr id="35" name="Text 32"/>
          <p:cNvSpPr txBox="1"/>
          <p:nvPr/>
        </p:nvSpPr>
        <p:spPr>
          <a:xfrm>
            <a:off x="97840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117 ms</a:t>
            </a:r>
            <a:endParaRPr lang="en-US" sz="2600" dirty="0"/>
          </a:p>
        </p:txBody>
      </p:sp>
      <p:sp>
        <p:nvSpPr>
          <p:cNvPr id="36" name="Text 33"/>
          <p:cNvSpPr txBox="1"/>
          <p:nvPr/>
        </p:nvSpPr>
        <p:spPr>
          <a:xfrm>
            <a:off x="97840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p99 between servers on HTTP/2 (370 ms on HTTP/1.1)</a:t>
            </a:r>
            <a:endParaRPr lang="en-US" sz="1300" dirty="0"/>
          </a:p>
        </p:txBody>
      </p:sp>
      <p:sp>
        <p:nvSpPr>
          <p:cNvPr id="37" name="Shape 34"/>
          <p:cNvSpPr/>
          <p:nvPr/>
        </p:nvSpPr>
        <p:spPr>
          <a:xfrm>
            <a:off x="3474720" y="4407408"/>
            <a:ext cx="2560320" cy="960120"/>
          </a:xfrm>
          <a:prstGeom prst="rect">
            <a:avLst/>
          </a:prstGeom>
          <a:solidFill>
            <a:srgbClr val="F7F5F2"/>
          </a:solidFill>
          <a:ln/>
        </p:spPr>
        <p:txBody>
          <a:bodyPr/>
          <a:p/>
        </p:txBody>
      </p:sp>
      <p:sp>
        <p:nvSpPr>
          <p:cNvPr id="38" name="Shape 35"/>
          <p:cNvSpPr/>
          <p:nvPr/>
        </p:nvSpPr>
        <p:spPr>
          <a:xfrm>
            <a:off x="3474720" y="4407408"/>
            <a:ext cx="45720" cy="960120"/>
          </a:xfrm>
          <a:prstGeom prst="rect">
            <a:avLst/>
          </a:prstGeom>
          <a:solidFill>
            <a:srgbClr val="A51C30"/>
          </a:solidFill>
          <a:ln/>
        </p:spPr>
        <p:txBody>
          <a:bodyPr/>
          <a:p/>
        </p:txBody>
      </p:sp>
      <p:sp>
        <p:nvSpPr>
          <p:cNvPr id="39" name="Text 36"/>
          <p:cNvSpPr txBox="1"/>
          <p:nvPr/>
        </p:nvSpPr>
        <p:spPr>
          <a:xfrm>
            <a:off x="367588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13,542</a:t>
            </a:r>
            <a:endParaRPr lang="en-US" sz="2600" dirty="0"/>
          </a:p>
        </p:txBody>
      </p:sp>
      <p:sp>
        <p:nvSpPr>
          <p:cNvPr id="40" name="Text 37"/>
          <p:cNvSpPr txBox="1"/>
          <p:nvPr/>
        </p:nvSpPr>
        <p:spPr>
          <a:xfrm>
            <a:off x="367588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Signed calls through a key rotation, none refused</a:t>
            </a:r>
            <a:endParaRPr lang="en-US" sz="1300" dirty="0"/>
          </a:p>
        </p:txBody>
      </p:sp>
      <p:pic>
        <p:nvPicPr>
          <p:cNvPr id="91" name="Admin Net members" descr="Admin -&gt; Net -&gt; Members on drishti-main after drishti-b left: the member table beside the hash ring (one arc per member, green alive, grey left; this node outlined, the console's server dashed; 2 / 3 alive)"/>
          <p:cNvPicPr>
            <a:picLocks noChangeAspect="1"/>
          </p:cNvPicPr>
          <p:nvPr/>
        </p:nvPicPr>
        <p:blipFill>
          <a:blip r:embed="rId4"/>
          <a:stretch>
            <a:fillRect/>
          </a:stretch>
        </p:blipFill>
        <p:spPr>
          <a:xfrm>
            <a:off x="6549322" y="3454750"/>
            <a:ext cx="4862389" cy="1795588"/>
          </a:xfrm>
          <a:prstGeom prst="rect">
            <a:avLst/>
          </a:prstGeom>
        </p:spPr>
      </p:pic>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Each node keeps its own packs, connectors and data — the user cannot tell which one answered; an administrator can.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 A PHONE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terminal in a pocket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81346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phone-trade.png">    </p:cNvPr>
          <p:cNvPicPr>
            <a:picLocks noChangeAspect="1"/>
          </p:cNvPicPr>
          <p:nvPr/>
        </p:nvPicPr>
        <p:blipFill>
          <a:blip r:embed="rId7"/>
          <a:srcRect/>
          <a:stretch>
            <a:fillRect/>
          </a:stretch>
        </p:blipFill>
        <p:spPr>
          <a:xfrm>
            <a:off x="850045" y="1417320"/>
            <a:ext cx="1774629" cy="3840479"/>
          </a:xfrm>
          <a:prstGeom prst="rect">
            <a:avLst/>
          </a:prstGeom>
        </p:spPr>
      </p:pic>
      <p:sp>
        <p:nvSpPr>
          <p:cNvPr id="8" name="Text 4"/>
          <p:cNvSpPr txBox="1"/>
          <p:nvPr/>
        </p:nvSpPr>
        <p:spPr>
          <a:xfrm>
            <a:off x="77724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live trade</a:t>
            </a:r>
            <a:endParaRPr lang="en-US" sz="1050" dirty="0"/>
          </a:p>
        </p:txBody>
      </p:sp>
      <p:sp>
        <p:nvSpPr>
          <p:cNvPr id="9" name="Shape 5"/>
          <p:cNvSpPr/>
          <p:nvPr/>
        </p:nvSpPr>
        <p:spPr>
          <a:xfrm>
            <a:off x="305374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0" name="Image 1" descr="/home/ashutosh/IdeaProjects/drishti/docs/guides/img/about/03-var-phone.jpg">    </p:cNvPr>
          <p:cNvPicPr>
            <a:picLocks noChangeAspect="1"/>
          </p:cNvPicPr>
          <p:nvPr/>
        </p:nvPicPr>
        <p:blipFill>
          <a:blip r:embed="rId8"/>
          <a:srcRect/>
          <a:stretch>
            <a:fillRect/>
          </a:stretch>
        </p:blipFill>
        <p:spPr>
          <a:xfrm>
            <a:off x="3090325" y="1417320"/>
            <a:ext cx="1774629" cy="3840479"/>
          </a:xfrm>
          <a:prstGeom prst="rect">
            <a:avLst/>
          </a:prstGeom>
        </p:spPr>
      </p:pic>
      <p:sp>
        <p:nvSpPr>
          <p:cNvPr id="11" name="Text 6"/>
          <p:cNvSpPr txBox="1"/>
          <p:nvPr/>
        </p:nvSpPr>
        <p:spPr>
          <a:xfrm>
            <a:off x="301752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About this page</a:t>
            </a:r>
            <a:endParaRPr lang="en-US" sz="1050" dirty="0"/>
          </a:p>
        </p:txBody>
      </p:sp>
      <p:sp>
        <p:nvSpPr>
          <p:cNvPr id="12" name="Shape 7"/>
          <p:cNvSpPr/>
          <p:nvPr/>
        </p:nvSpPr>
        <p:spPr>
          <a:xfrm>
            <a:off x="529402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3" name="Image 2" descr="/home/ashutosh/IdeaProjects/drishti/docs/guides/img/collab/06-shared-phone.jpg">    </p:cNvPr>
          <p:cNvPicPr>
            <a:picLocks noChangeAspect="1"/>
          </p:cNvPicPr>
          <p:nvPr/>
        </p:nvPicPr>
        <p:blipFill>
          <a:blip r:embed="rId9"/>
          <a:srcRect/>
          <a:stretch>
            <a:fillRect/>
          </a:stretch>
        </p:blipFill>
        <p:spPr>
          <a:xfrm>
            <a:off x="5330605" y="1417320"/>
            <a:ext cx="1774629" cy="3840479"/>
          </a:xfrm>
          <a:prstGeom prst="rect">
            <a:avLst/>
          </a:prstGeom>
        </p:spPr>
      </p:pic>
      <p:sp>
        <p:nvSpPr>
          <p:cNvPr id="14" name="Text 8"/>
          <p:cNvSpPr txBox="1"/>
          <p:nvPr/>
        </p:nvSpPr>
        <p:spPr>
          <a:xfrm>
            <a:off x="525780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shared view</a:t>
            </a:r>
            <a:endParaRPr lang="en-US" sz="1050" dirty="0"/>
          </a:p>
        </p:txBody>
      </p:sp>
      <p:sp>
        <p:nvSpPr>
          <p:cNvPr id="15" name="Shape 9"/>
          <p:cNvSpPr/>
          <p:nvPr/>
        </p:nvSpPr>
        <p:spPr>
          <a:xfrm>
            <a:off x="753430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6" name="Image 3" descr="/home/ashutosh/IdeaProjects/drishti/docs/guides/img/loads/06-phone.jpg">    </p:cNvPr>
          <p:cNvPicPr>
            <a:picLocks noChangeAspect="1"/>
          </p:cNvPicPr>
          <p:nvPr/>
        </p:nvPicPr>
        <p:blipFill>
          <a:blip r:embed="rId10"/>
          <a:srcRect/>
          <a:stretch>
            <a:fillRect/>
          </a:stretch>
        </p:blipFill>
        <p:spPr>
          <a:xfrm>
            <a:off x="7570885" y="1417320"/>
            <a:ext cx="1774629" cy="3840479"/>
          </a:xfrm>
          <a:prstGeom prst="rect">
            <a:avLst/>
          </a:prstGeom>
        </p:spPr>
      </p:pic>
      <p:sp>
        <p:nvSpPr>
          <p:cNvPr id="17" name="Text 10"/>
          <p:cNvSpPr txBox="1"/>
          <p:nvPr/>
        </p:nvSpPr>
        <p:spPr>
          <a:xfrm>
            <a:off x="749808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Data loads</a:t>
            </a:r>
            <a:endParaRPr lang="en-US" sz="1050" dirty="0"/>
          </a:p>
        </p:txBody>
      </p:sp>
      <p:sp>
        <p:nvSpPr>
          <p:cNvPr id="18" name="Text 11"/>
          <p:cNvSpPr txBox="1"/>
          <p:nvPr/>
        </p:nvSpPr>
        <p:spPr>
          <a:xfrm>
            <a:off x="9738360" y="1417320"/>
            <a:ext cx="1673352" cy="4023360"/>
          </a:xfrm>
          <a:prstGeom prst="rect">
            <a:avLst/>
          </a:prstGeom>
          <a:noFill/>
          <a:ln/>
        </p:spPr>
        <p:txBody>
          <a:bodyPr wrap="square" lIns="0" tIns="0" rIns="0" bIns="0" rtlCol="0" anchor="t"/>
          <a:lstStyle/>
          <a:p>
            <a:pPr indent="0" marL="0">
              <a:buNone/>
            </a:pPr>
            <a:r>
              <a:rPr lang="en-US" sz="1600" b="1" dirty="0">
                <a:solidFill>
                  <a:srgbClr val="A51C30"/>
                </a:solidFill>
              </a:rPr>
              <a:t>▪  44 px</a:t>
            </a:r>
            <a:endParaRPr lang="en-US" sz="1600" dirty="0"/>
          </a:p>
          <a:p>
            <a:pPr indent="0" marL="0">
              <a:spcAft>
                <a:spcPts val="1000"/>
              </a:spcAft>
              <a:buNone/>
            </a:pPr>
            <a:r>
              <a:rPr lang="en-US" sz="1150" dirty="0">
                <a:solidFill>
                  <a:srgbClr val="4A5058"/>
                </a:solidFill>
              </a:rPr>
              <a:t>Every control, on touch screens only</a:t>
            </a:r>
            <a:endParaRPr lang="en-US" sz="1600" dirty="0"/>
          </a:p>
          <a:p>
            <a:pPr indent="0" marL="0">
              <a:buNone/>
            </a:pPr>
            <a:r>
              <a:rPr lang="en-US" sz="1600" b="1" dirty="0">
                <a:solidFill>
                  <a:srgbClr val="A51C30"/>
                </a:solidFill>
              </a:rPr>
              <a:t>▪  390 px</a:t>
            </a:r>
            <a:endParaRPr lang="en-US" sz="1600" dirty="0"/>
          </a:p>
          <a:p>
            <a:pPr indent="0" marL="0">
              <a:spcAft>
                <a:spcPts val="1000"/>
              </a:spcAft>
              <a:buNone/>
            </a:pPr>
            <a:r>
              <a:rPr lang="en-US" sz="1150" dirty="0">
                <a:solidFill>
                  <a:srgbClr val="4A5058"/>
                </a:solidFill>
              </a:rPr>
              <a:t>Every page tested at phone width</a:t>
            </a:r>
            <a:endParaRPr lang="en-US" sz="1600" dirty="0"/>
          </a:p>
          <a:p>
            <a:pPr indent="0" marL="0">
              <a:buNone/>
            </a:pPr>
            <a:r>
              <a:rPr lang="en-US" sz="1600" b="1" dirty="0">
                <a:solidFill>
                  <a:srgbClr val="A51C30"/>
                </a:solidFill>
              </a:rPr>
              <a:t>▪  3 engines</a:t>
            </a:r>
            <a:endParaRPr lang="en-US" sz="1600" dirty="0"/>
          </a:p>
          <a:p>
            <a:pPr indent="0" marL="0">
              <a:spcAft>
                <a:spcPts val="1000"/>
              </a:spcAft>
              <a:buNone/>
            </a:pPr>
            <a:r>
              <a:rPr lang="en-US" sz="1150" dirty="0">
                <a:solidFill>
                  <a:srgbClr val="4A5058"/>
                </a:solidFill>
              </a:rPr>
              <a:t>Embedded views in Chromium, Firefox, WebKit</a:t>
            </a:r>
            <a:endParaRPr lang="en-US" sz="1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09</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Security, drawn as flows</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THREE SEAMS, ONE RULE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authorization and audit are kept apart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3410712" cy="3886200"/>
          </a:xfrm>
          <a:prstGeom prst="rect">
            <a:avLst/>
          </a:prstGeom>
          <a:solidFill>
            <a:srgbClr val="F7F5F2"/>
          </a:solidFill>
          <a:ln/>
        </p:spPr>
        <p:txBody>
          <a:bodyPr/>
          <a:p/>
        </p:txBody>
      </p:sp>
      <p:sp>
        <p:nvSpPr>
          <p:cNvPr id="7" name="Shape 4"/>
          <p:cNvSpPr/>
          <p:nvPr/>
        </p:nvSpPr>
        <p:spPr>
          <a:xfrm>
            <a:off x="777240" y="1463040"/>
            <a:ext cx="3410712" cy="868680"/>
          </a:xfrm>
          <a:prstGeom prst="rect">
            <a:avLst/>
          </a:prstGeom>
          <a:solidFill>
            <a:srgbClr val="8A1626"/>
          </a:solidFill>
          <a:ln/>
        </p:spPr>
        <p:txBody>
          <a:bodyPr/>
          <a:p/>
        </p:txBody>
      </p:sp>
      <p:sp>
        <p:nvSpPr>
          <p:cNvPr id="8" name="Text 5"/>
          <p:cNvSpPr txBox="1"/>
          <p:nvPr/>
        </p:nvSpPr>
        <p:spPr>
          <a:xfrm>
            <a:off x="96012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Authentication</a:t>
            </a:r>
            <a:endParaRPr lang="en-US" sz="1800" dirty="0"/>
          </a:p>
          <a:p>
            <a:pPr indent="0" marL="0">
              <a:buNone/>
            </a:pPr>
            <a:r>
              <a:rPr lang="en-US" sz="1250" dirty="0">
                <a:solidFill>
                  <a:srgbClr val="F6E6E9"/>
                </a:solidFill>
              </a:rPr>
              <a:t>Who you are</a:t>
            </a:r>
            <a:endParaRPr lang="en-US" sz="1800" dirty="0"/>
          </a:p>
        </p:txBody>
      </p:sp>
      <p:sp>
        <p:nvSpPr>
          <p:cNvPr id="9" name="Text 6"/>
          <p:cNvSpPr txBox="1"/>
          <p:nvPr/>
        </p:nvSpPr>
        <p:spPr>
          <a:xfrm>
            <a:off x="96012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Local passwords: PBKDF2-SHA256, 240,000 iterations</a:t>
            </a:r>
            <a:endParaRPr lang="en-US" sz="1300" dirty="0"/>
          </a:p>
          <a:p>
            <a:pPr marL="342900" indent="-342900">
              <a:spcAft>
                <a:spcPts val="800"/>
              </a:spcAft>
              <a:buSzPct val="100000"/>
              <a:buChar char="•"/>
            </a:pPr>
            <a:r>
              <a:rPr lang="en-US" sz="1300" dirty="0">
                <a:solidFill>
                  <a:srgbClr val="1A1A1A"/>
                </a:solidFill>
              </a:rPr>
              <a:t>Or SSO over OIDC: Keycloak, Entra, Okta, Ping</a:t>
            </a:r>
            <a:endParaRPr lang="en-US" sz="1300" dirty="0"/>
          </a:p>
          <a:p>
            <a:pPr marL="342900" indent="-342900">
              <a:spcAft>
                <a:spcPts val="800"/>
              </a:spcAft>
              <a:buSzPct val="100000"/>
              <a:buChar char="•"/>
            </a:pPr>
            <a:r>
              <a:rPr lang="en-US" sz="1300" dirty="0">
                <a:solidFill>
                  <a:srgbClr val="1A1A1A"/>
                </a:solidFill>
              </a:rPr>
              <a:t>Lockout after 5 failures in 15 minutes</a:t>
            </a:r>
            <a:endParaRPr lang="en-US" sz="1300" dirty="0"/>
          </a:p>
          <a:p>
            <a:pPr marL="342900" indent="-342900">
              <a:spcAft>
                <a:spcPts val="800"/>
              </a:spcAft>
              <a:buSzPct val="100000"/>
              <a:buChar char="•"/>
            </a:pPr>
            <a:r>
              <a:rPr lang="en-US" sz="1300" dirty="0">
                <a:solidFill>
                  <a:srgbClr val="1A1A1A"/>
                </a:solidFill>
              </a:rPr>
              <a:t>Disable a user and their sessions end everywhere</a:t>
            </a:r>
            <a:endParaRPr lang="en-US" sz="1300" dirty="0"/>
          </a:p>
        </p:txBody>
      </p:sp>
      <p:sp>
        <p:nvSpPr>
          <p:cNvPr id="10" name="Shape 7"/>
          <p:cNvSpPr/>
          <p:nvPr/>
        </p:nvSpPr>
        <p:spPr>
          <a:xfrm>
            <a:off x="4389120" y="1463040"/>
            <a:ext cx="3410712" cy="3886200"/>
          </a:xfrm>
          <a:prstGeom prst="rect">
            <a:avLst/>
          </a:prstGeom>
          <a:solidFill>
            <a:srgbClr val="F7F5F2"/>
          </a:solidFill>
          <a:ln/>
        </p:spPr>
        <p:txBody>
          <a:bodyPr/>
          <a:p/>
        </p:txBody>
      </p:sp>
      <p:sp>
        <p:nvSpPr>
          <p:cNvPr id="11" name="Shape 8"/>
          <p:cNvSpPr/>
          <p:nvPr/>
        </p:nvSpPr>
        <p:spPr>
          <a:xfrm>
            <a:off x="4389120" y="1463040"/>
            <a:ext cx="3410712" cy="868680"/>
          </a:xfrm>
          <a:prstGeom prst="rect">
            <a:avLst/>
          </a:prstGeom>
          <a:solidFill>
            <a:srgbClr val="8A1626"/>
          </a:solidFill>
          <a:ln/>
        </p:spPr>
        <p:txBody>
          <a:bodyPr/>
          <a:p/>
        </p:txBody>
      </p:sp>
      <p:sp>
        <p:nvSpPr>
          <p:cNvPr id="12" name="Text 9"/>
          <p:cNvSpPr txBox="1"/>
          <p:nvPr/>
        </p:nvSpPr>
        <p:spPr>
          <a:xfrm>
            <a:off x="457200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Authorization</a:t>
            </a:r>
            <a:endParaRPr lang="en-US" sz="1800" dirty="0"/>
          </a:p>
          <a:p>
            <a:pPr indent="0" marL="0">
              <a:buNone/>
            </a:pPr>
            <a:r>
              <a:rPr lang="en-US" sz="1250" dirty="0">
                <a:solidFill>
                  <a:srgbClr val="F6E6E9"/>
                </a:solidFill>
              </a:rPr>
              <a:t>What you may see and do</a:t>
            </a:r>
            <a:endParaRPr lang="en-US" sz="1800" dirty="0"/>
          </a:p>
        </p:txBody>
      </p:sp>
      <p:sp>
        <p:nvSpPr>
          <p:cNvPr id="13" name="Text 10"/>
          <p:cNvSpPr txBox="1"/>
          <p:nvPr/>
        </p:nvSpPr>
        <p:spPr>
          <a:xfrm>
            <a:off x="457200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Roles name the kinds you may open</a:t>
            </a:r>
            <a:endParaRPr lang="en-US" sz="1300" dirty="0"/>
          </a:p>
          <a:p>
            <a:pPr marL="342900" indent="-342900">
              <a:spcAft>
                <a:spcPts val="800"/>
              </a:spcAft>
              <a:buSzPct val="100000"/>
              <a:buChar char="•"/>
            </a:pPr>
            <a:r>
              <a:rPr lang="en-US" sz="1300" dirty="0">
                <a:solidFill>
                  <a:srgbClr val="1A1A1A"/>
                </a:solidFill>
              </a:rPr>
              <a:t>Powers: raw, author, approve, calc, layout; BI: bi, bi-author, bi-steward</a:t>
            </a:r>
            <a:endParaRPr lang="en-US" sz="1300" dirty="0"/>
          </a:p>
          <a:p>
            <a:pPr marL="342900" indent="-342900">
              <a:spcAft>
                <a:spcPts val="800"/>
              </a:spcAft>
              <a:buSzPct val="100000"/>
              <a:buChar char="•"/>
            </a:pPr>
            <a:r>
              <a:rPr lang="en-US" sz="1300" dirty="0">
                <a:solidFill>
                  <a:srgbClr val="1A1A1A"/>
                </a:solidFill>
              </a:rPr>
              <a:t>Masked fields shown as ••• without raw</a:t>
            </a:r>
            <a:endParaRPr lang="en-US" sz="1300" dirty="0"/>
          </a:p>
          <a:p>
            <a:pPr marL="342900" indent="-342900">
              <a:spcAft>
                <a:spcPts val="800"/>
              </a:spcAft>
              <a:buSzPct val="100000"/>
              <a:buChar char="•"/>
            </a:pPr>
            <a:r>
              <a:rPr lang="en-US" sz="1300" dirty="0">
                <a:solidFill>
                  <a:srgbClr val="1A1A1A"/>
                </a:solidFill>
              </a:rPr>
              <a:t>Packs assigned per user</a:t>
            </a:r>
            <a:endParaRPr lang="en-US" sz="1300" dirty="0"/>
          </a:p>
        </p:txBody>
      </p:sp>
      <p:sp>
        <p:nvSpPr>
          <p:cNvPr id="14" name="Shape 11"/>
          <p:cNvSpPr/>
          <p:nvPr/>
        </p:nvSpPr>
        <p:spPr>
          <a:xfrm>
            <a:off x="8001000" y="1463040"/>
            <a:ext cx="3410712" cy="3886200"/>
          </a:xfrm>
          <a:prstGeom prst="rect">
            <a:avLst/>
          </a:prstGeom>
          <a:solidFill>
            <a:srgbClr val="F7F5F2"/>
          </a:solidFill>
          <a:ln/>
        </p:spPr>
        <p:txBody>
          <a:bodyPr/>
          <a:p/>
        </p:txBody>
      </p:sp>
      <p:sp>
        <p:nvSpPr>
          <p:cNvPr id="15" name="Shape 12"/>
          <p:cNvSpPr/>
          <p:nvPr/>
        </p:nvSpPr>
        <p:spPr>
          <a:xfrm>
            <a:off x="8001000" y="1463040"/>
            <a:ext cx="3410712" cy="868680"/>
          </a:xfrm>
          <a:prstGeom prst="rect">
            <a:avLst/>
          </a:prstGeom>
          <a:solidFill>
            <a:srgbClr val="8A1626"/>
          </a:solidFill>
          <a:ln/>
        </p:spPr>
        <p:txBody>
          <a:bodyPr/>
          <a:p/>
        </p:txBody>
      </p:sp>
      <p:sp>
        <p:nvSpPr>
          <p:cNvPr id="16" name="Text 13"/>
          <p:cNvSpPr txBox="1"/>
          <p:nvPr/>
        </p:nvSpPr>
        <p:spPr>
          <a:xfrm>
            <a:off x="818388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Audit</a:t>
            </a:r>
            <a:endParaRPr lang="en-US" sz="1800" dirty="0"/>
          </a:p>
          <a:p>
            <a:pPr indent="0" marL="0">
              <a:buNone/>
            </a:pPr>
            <a:r>
              <a:rPr lang="en-US" sz="1250" dirty="0">
                <a:solidFill>
                  <a:srgbClr val="F6E6E9"/>
                </a:solidFill>
              </a:rPr>
              <a:t>What happened</a:t>
            </a:r>
            <a:endParaRPr lang="en-US" sz="1800" dirty="0"/>
          </a:p>
        </p:txBody>
      </p:sp>
      <p:sp>
        <p:nvSpPr>
          <p:cNvPr id="17" name="Text 14"/>
          <p:cNvSpPr txBox="1"/>
          <p:nvPr/>
        </p:nvSpPr>
        <p:spPr>
          <a:xfrm>
            <a:off x="818388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Sign-ins, changes, token use, purges</a:t>
            </a:r>
            <a:endParaRPr lang="en-US" sz="1300" dirty="0"/>
          </a:p>
          <a:p>
            <a:pPr marL="342900" indent="-342900">
              <a:spcAft>
                <a:spcPts val="800"/>
              </a:spcAft>
              <a:buSzPct val="100000"/>
              <a:buChar char="•"/>
            </a:pPr>
            <a:r>
              <a:rPr lang="en-US" sz="1300" dirty="0">
                <a:solidFill>
                  <a:srgbClr val="1A1A1A"/>
                </a:solidFill>
              </a:rPr>
              <a:t>Access log: who viewed what, for which date</a:t>
            </a:r>
            <a:endParaRPr lang="en-US" sz="1300" dirty="0"/>
          </a:p>
          <a:p>
            <a:pPr marL="342900" indent="-342900">
              <a:spcAft>
                <a:spcPts val="800"/>
              </a:spcAft>
              <a:buSzPct val="100000"/>
              <a:buChar char="•"/>
            </a:pPr>
            <a:r>
              <a:rPr lang="en-US" sz="1300" dirty="0">
                <a:solidFill>
                  <a:srgbClr val="1A1A1A"/>
                </a:solidFill>
              </a:rPr>
              <a:t>Hash-chained collaboration, sealed</a:t>
            </a:r>
            <a:endParaRPr lang="en-US" sz="1300" dirty="0"/>
          </a:p>
          <a:p>
            <a:pPr marL="342900" indent="-342900">
              <a:spcAft>
                <a:spcPts val="800"/>
              </a:spcAft>
              <a:buSzPct val="100000"/>
              <a:buChar char="•"/>
            </a:pPr>
            <a:r>
              <a:rPr lang="en-US" sz="1300" dirty="0">
                <a:solidFill>
                  <a:srgbClr val="1A1A1A"/>
                </a:solidFill>
              </a:rPr>
              <a:t>Legal holds and an eDiscovery export</a:t>
            </a:r>
            <a:endParaRPr lang="en-US" sz="1300" dirty="0"/>
          </a:p>
        </p:txBody>
      </p:sp>
      <p:sp>
        <p:nvSpPr>
          <p:cNvPr id="18" name="Shape 15"/>
          <p:cNvSpPr/>
          <p:nvPr/>
        </p:nvSpPr>
        <p:spPr>
          <a:xfrm>
            <a:off x="777240" y="5550408"/>
            <a:ext cx="10634472" cy="694944"/>
          </a:xfrm>
          <a:prstGeom prst="rect">
            <a:avLst/>
          </a:prstGeom>
          <a:solidFill>
            <a:srgbClr val="F6E6E9"/>
          </a:solidFill>
          <a:ln/>
        </p:spPr>
        <p:txBody>
          <a:bodyPr/>
          <a:p/>
        </p:txBody>
      </p:sp>
      <p:sp>
        <p:nvSpPr>
          <p:cNvPr id="19" name="Shape 16"/>
          <p:cNvSpPr/>
          <p:nvPr/>
        </p:nvSpPr>
        <p:spPr>
          <a:xfrm>
            <a:off x="777240" y="5550408"/>
            <a:ext cx="54864" cy="694944"/>
          </a:xfrm>
          <a:prstGeom prst="rect">
            <a:avLst/>
          </a:prstGeom>
          <a:solidFill>
            <a:srgbClr val="A51C30"/>
          </a:solidFill>
          <a:ln/>
        </p:spPr>
        <p:txBody>
          <a:bodyPr/>
          <a:p/>
        </p:txBody>
      </p:sp>
      <p:sp>
        <p:nvSpPr>
          <p:cNvPr id="20"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mask is applied where a value leaves — in views, search, emails, chat bridges and snapshots alike.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SIGNING IN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 a person signs in to the console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309360" cy="3977640"/>
          </a:xfrm>
          <a:prstGeom prst="rect">
            <a:avLst/>
          </a:prstGeom>
          <a:solidFill>
            <a:srgbClr val="1E1E24"/>
          </a:solidFill>
          <a:ln/>
        </p:spPr>
        <p:txBody>
          <a:bodyPr/>
          <a:p/>
        </p:txBody>
      </p:sp>
      <p:sp>
        <p:nvSpPr>
          <p:cNvPr id="7" name="Shape 4"/>
          <p:cNvSpPr/>
          <p:nvPr/>
        </p:nvSpPr>
        <p:spPr>
          <a:xfrm>
            <a:off x="777240" y="1417320"/>
            <a:ext cx="6309360" cy="384048"/>
          </a:xfrm>
          <a:prstGeom prst="rect">
            <a:avLst/>
          </a:prstGeom>
          <a:solidFill>
            <a:srgbClr val="8A1626"/>
          </a:solidFill>
          <a:ln/>
        </p:spPr>
        <p:txBody>
          <a:bodyPr/>
          <a:p/>
        </p:txBody>
      </p:sp>
      <p:sp>
        <p:nvSpPr>
          <p:cNvPr id="8" name="Text 5"/>
          <p:cNvSpPr txBox="1"/>
          <p:nvPr/>
        </p:nvSpPr>
        <p:spPr>
          <a:xfrm>
            <a:off x="960120" y="1417320"/>
            <a:ext cx="5943600" cy="384048"/>
          </a:xfrm>
          <a:prstGeom prst="rect">
            <a:avLst/>
          </a:prstGeom>
          <a:noFill/>
          <a:ln/>
        </p:spPr>
        <p:txBody>
          <a:bodyPr wrap="square" lIns="0" tIns="0" rIns="0" bIns="0" rtlCol="0" anchor="ctr"/>
          <a:lstStyle/>
          <a:p>
            <a:pPr indent="0" marL="0">
              <a:buNone/>
            </a:pPr>
            <a:r>
              <a:rPr lang="en-US" sz="1300" b="1" dirty="0">
                <a:solidFill>
                  <a:srgbClr val="FFFFFF"/>
                </a:solidFill>
              </a:rPr>
              <a:t>Browser  →  Console  →  Server</a:t>
            </a:r>
            <a:endParaRPr lang="en-US" sz="1300" dirty="0"/>
          </a:p>
        </p:txBody>
      </p:sp>
      <p:sp>
        <p:nvSpPr>
          <p:cNvPr id="9" name="Text 6"/>
          <p:cNvSpPr txBox="1"/>
          <p:nvPr/>
        </p:nvSpPr>
        <p:spPr>
          <a:xfrm>
            <a:off x="978408" y="1920240"/>
            <a:ext cx="5907024" cy="3364992"/>
          </a:xfrm>
          <a:prstGeom prst="rect">
            <a:avLst/>
          </a:prstGeom>
          <a:noFill/>
          <a:ln/>
        </p:spPr>
        <p:txBody>
          <a:bodyPr wrap="square" lIns="0" tIns="0" rIns="0" bIns="0" rtlCol="0" anchor="t"/>
          <a:lstStyle/>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1. Browser → console: any page but landing, help</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 303 to /login (or to the identity provider)</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2. Password: server checks PBKDF2-SHA256 hash</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or OIDC: server verifies the ID token itself</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3. Server → signed session; console sets cookie</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HttpOnly, SameSite=Lax, Secure by default</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4. Every write: same-origin check (else 403)</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and JSON only (else 415)</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5. Every 10 s: is this user still enabled?</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disabled, deleted or reset → session ends</a:t>
            </a:r>
            <a:endParaRPr lang="en-US" sz="1200" dirty="0"/>
          </a:p>
        </p:txBody>
      </p:sp>
      <p:sp>
        <p:nvSpPr>
          <p:cNvPr id="10" name="Text 7"/>
          <p:cNvSpPr txBox="1"/>
          <p:nvPr/>
        </p:nvSpPr>
        <p:spPr>
          <a:xfrm>
            <a:off x="7406640" y="1417320"/>
            <a:ext cx="4005072" cy="3977640"/>
          </a:xfrm>
          <a:prstGeom prst="rect">
            <a:avLst/>
          </a:prstGeom>
          <a:noFill/>
          <a:ln/>
        </p:spPr>
        <p:txBody>
          <a:bodyPr wrap="square" lIns="0" tIns="0" rIns="0" bIns="0" rtlCol="0" anchor="t"/>
          <a:lstStyle/>
          <a:p>
            <a:pPr indent="0" marL="0">
              <a:buNone/>
            </a:pPr>
            <a:r>
              <a:rPr lang="en-US" sz="1500" b="1" dirty="0">
                <a:solidFill>
                  <a:srgbClr val="A51C30"/>
                </a:solidFill>
              </a:rPr>
              <a:t>▪  Lockout</a:t>
            </a:r>
            <a:endParaRPr lang="en-US" sz="1500" dirty="0"/>
          </a:p>
          <a:p>
            <a:pPr indent="0" marL="0">
              <a:spcAft>
                <a:spcPts val="900"/>
              </a:spcAft>
              <a:buNone/>
            </a:pPr>
            <a:r>
              <a:rPr lang="en-US" sz="1300" dirty="0">
                <a:solidFill>
                  <a:srgbClr val="4A5058"/>
                </a:solidFill>
              </a:rPr>
              <a:t>Five failed sign-ins lock the account for fifteen minutes; an admin's reset unlocks it.</a:t>
            </a:r>
            <a:endParaRPr lang="en-US" sz="1500" dirty="0"/>
          </a:p>
          <a:p>
            <a:pPr indent="0" marL="0">
              <a:buNone/>
            </a:pPr>
            <a:r>
              <a:rPr lang="en-US" sz="1500" b="1" dirty="0">
                <a:solidFill>
                  <a:srgbClr val="A51C30"/>
                </a:solidFill>
              </a:rPr>
              <a:t>▪  The last admin is protected</a:t>
            </a:r>
            <a:endParaRPr lang="en-US" sz="1500" dirty="0"/>
          </a:p>
          <a:p>
            <a:pPr indent="0" marL="0">
              <a:spcAft>
                <a:spcPts val="900"/>
              </a:spcAft>
              <a:buNone/>
            </a:pPr>
            <a:r>
              <a:rPr lang="en-US" sz="1300" dirty="0">
                <a:solidFill>
                  <a:srgbClr val="4A5058"/>
                </a:solidFill>
              </a:rPr>
              <a:t>You cannot remove the last administrator, on any node of a cluster.</a:t>
            </a:r>
            <a:endParaRPr lang="en-US" sz="1500" dirty="0"/>
          </a:p>
          <a:p>
            <a:pPr indent="0" marL="0">
              <a:buNone/>
            </a:pPr>
            <a:r>
              <a:rPr lang="en-US" sz="1500" b="1" dirty="0">
                <a:solidFill>
                  <a:srgbClr val="A51C30"/>
                </a:solidFill>
              </a:rPr>
              <a:t>▪  Forced change</a:t>
            </a:r>
            <a:endParaRPr lang="en-US" sz="1500" dirty="0"/>
          </a:p>
          <a:p>
            <a:pPr indent="0" marL="0">
              <a:spcAft>
                <a:spcPts val="900"/>
              </a:spcAft>
              <a:buNone/>
            </a:pPr>
            <a:r>
              <a:rPr lang="en-US" sz="1300" dirty="0">
                <a:solidFill>
                  <a:srgbClr val="4A5058"/>
                </a:solidFill>
              </a:rPr>
              <a:t>The development admin is flagged in every page until its password changes.</a:t>
            </a:r>
            <a:endParaRPr lang="en-US" sz="1500" dirty="0"/>
          </a:p>
        </p:txBody>
      </p:sp>
      <p:sp>
        <p:nvSpPr>
          <p:cNvPr id="11" name="Shape 8"/>
          <p:cNvSpPr/>
          <p:nvPr/>
        </p:nvSpPr>
        <p:spPr>
          <a:xfrm>
            <a:off x="777240" y="5550408"/>
            <a:ext cx="10634472" cy="694944"/>
          </a:xfrm>
          <a:prstGeom prst="rect">
            <a:avLst/>
          </a:prstGeom>
          <a:solidFill>
            <a:srgbClr val="F6E6E9"/>
          </a:solidFill>
          <a:ln/>
        </p:spPr>
        <p:txBody>
          <a:bodyPr/>
          <a:p/>
        </p:txBody>
      </p:sp>
      <p:sp>
        <p:nvSpPr>
          <p:cNvPr id="12" name="Shape 9"/>
          <p:cNvSpPr/>
          <p:nvPr/>
        </p:nvSpPr>
        <p:spPr>
          <a:xfrm>
            <a:off x="777240" y="5550408"/>
            <a:ext cx="54864" cy="694944"/>
          </a:xfrm>
          <a:prstGeom prst="rect">
            <a:avLst/>
          </a:prstGeom>
          <a:solidFill>
            <a:srgbClr val="A51C30"/>
          </a:solidFill>
          <a:ln/>
        </p:spPr>
        <p:txBody>
          <a:bodyPr/>
          <a:p/>
        </p:txBody>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cross-site form cannot post: writes must come from the console and must be JSON.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PERSONAL API TOKENS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Authorization — a script acts as its owner, never as more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6675120" cy="914400"/>
        </p:xfrm>
        <a:graphic>
          <a:graphicData uri="http://schemas.openxmlformats.org/drawingml/2006/table">
            <a:tbl>
              <a:tblPr/>
              <a:tblGrid>
                <a:gridCol w="1600200"/>
                <a:gridCol w="2926080"/>
                <a:gridCol w="2148840"/>
              </a:tblGrid>
              <a:tr h="658368">
                <a:tc>
                  <a:txBody>
                    <a:bodyPr/>
                    <a:lstStyle/>
                    <a:p>
                      <a:pPr indent="0" marL="0">
                        <a:buNone/>
                      </a:pPr>
                      <a:r>
                        <a:rPr lang="en-US" sz="1350" b="1" dirty="0">
                          <a:solidFill>
                            <a:srgbClr val="FFFFFF"/>
                          </a:solidFill>
                        </a:rPr>
                        <a:t>Scope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Opens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Still required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658368">
                <a:tc>
                  <a:txBody>
                    <a:bodyPr/>
                    <a:lstStyle/>
                    <a:p>
                      <a:pPr indent="0" marL="0">
                        <a:buNone/>
                      </a:pPr>
                      <a:r>
                        <a:rPr lang="en-US" sz="1350" b="1" dirty="0">
                          <a:solidFill>
                            <a:srgbClr val="8A1626"/>
                          </a:solidFill>
                        </a:rPr>
                        <a:t>(none)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Read: views, search, explain, read-only commands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owner's roles and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design:write · bi:write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Create and save designs and BI items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author or bi-author power</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design:approve · bi:approve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Approve someone else's design or BI item</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approve power; never your own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packs:admin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Deploy, roll back and switch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admin role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loads:write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Say a batch of data landed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pack in the owner's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7" name="Text 3"/>
          <p:cNvSpPr txBox="1"/>
          <p:nvPr/>
        </p:nvSpPr>
        <p:spPr>
          <a:xfrm>
            <a:off x="7726680" y="1463040"/>
            <a:ext cx="3685032" cy="3931920"/>
          </a:xfrm>
          <a:prstGeom prst="rect">
            <a:avLst/>
          </a:prstGeom>
          <a:noFill/>
          <a:ln/>
        </p:spPr>
        <p:txBody>
          <a:bodyPr wrap="square" lIns="0" tIns="0" rIns="0" bIns="0" rtlCol="0" anchor="t"/>
          <a:lstStyle/>
          <a:p>
            <a:pPr indent="0" marL="0">
              <a:buNone/>
            </a:pPr>
            <a:r>
              <a:rPr lang="en-US" sz="1500" b="1" dirty="0">
                <a:solidFill>
                  <a:srgbClr val="A51C30"/>
                </a:solidFill>
              </a:rPr>
              <a:t>▪  Hashes only</a:t>
            </a:r>
            <a:endParaRPr lang="en-US" sz="1500" dirty="0"/>
          </a:p>
          <a:p>
            <a:pPr indent="0" marL="0">
              <a:spcAft>
                <a:spcPts val="900"/>
              </a:spcAft>
              <a:buNone/>
            </a:pPr>
            <a:r>
              <a:rPr lang="en-US" sz="1300" dirty="0">
                <a:solidFill>
                  <a:srgbClr val="4A5058"/>
                </a:solidFill>
              </a:rPr>
              <a:t>Secrets are stored as SHA-256; shown once.</a:t>
            </a:r>
            <a:endParaRPr lang="en-US" sz="1500" dirty="0"/>
          </a:p>
          <a:p>
            <a:pPr indent="0" marL="0">
              <a:buNone/>
            </a:pPr>
            <a:r>
              <a:rPr lang="en-US" sz="1500" b="1" dirty="0">
                <a:solidFill>
                  <a:srgbClr val="A51C30"/>
                </a:solidFill>
              </a:rPr>
              <a:t>▪  Write scopes expire</a:t>
            </a:r>
            <a:endParaRPr lang="en-US" sz="1500" dirty="0"/>
          </a:p>
          <a:p>
            <a:pPr indent="0" marL="0">
              <a:spcAft>
                <a:spcPts val="900"/>
              </a:spcAft>
              <a:buNone/>
            </a:pPr>
            <a:r>
              <a:rPr lang="en-US" sz="1300" dirty="0">
                <a:solidFill>
                  <a:srgbClr val="4A5058"/>
                </a:solidFill>
              </a:rPr>
              <a:t>At most 90 days.</a:t>
            </a:r>
            <a:endParaRPr lang="en-US" sz="1500" dirty="0"/>
          </a:p>
          <a:p>
            <a:pPr indent="0" marL="0">
              <a:buNone/>
            </a:pPr>
            <a:r>
              <a:rPr lang="en-US" sz="1500" b="1" dirty="0">
                <a:solidFill>
                  <a:srgbClr val="A51C30"/>
                </a:solidFill>
              </a:rPr>
              <a:t>▪  Never open</a:t>
            </a:r>
            <a:endParaRPr lang="en-US" sz="1500" dirty="0"/>
          </a:p>
          <a:p>
            <a:pPr indent="0" marL="0">
              <a:spcAft>
                <a:spcPts val="900"/>
              </a:spcAft>
              <a:buNone/>
            </a:pPr>
            <a:r>
              <a:rPr lang="en-US" sz="1300" dirty="0">
                <a:solidFill>
                  <a:srgbClr val="4A5058"/>
                </a:solidFill>
              </a:rPr>
              <a:t>Users, roles, tokens, sign-in, caches and collaboration state.</a:t>
            </a:r>
            <a:endParaRPr lang="en-US" sz="1500" dirty="0"/>
          </a:p>
          <a:p>
            <a:pPr indent="0" marL="0">
              <a:buNone/>
            </a:pPr>
            <a:r>
              <a:rPr lang="en-US" sz="1500" b="1" dirty="0">
                <a:solidFill>
                  <a:srgbClr val="A51C30"/>
                </a:solidFill>
              </a:rPr>
              <a:t>▪  Audited</a:t>
            </a:r>
            <a:endParaRPr lang="en-US" sz="1500" dirty="0"/>
          </a:p>
          <a:p>
            <a:pPr indent="0" marL="0">
              <a:spcAft>
                <a:spcPts val="900"/>
              </a:spcAft>
              <a:buNone/>
            </a:pPr>
            <a:r>
              <a:rPr lang="en-US" sz="1300" dirty="0">
                <a:solidFill>
                  <a:srgbClr val="4A5058"/>
                </a:solidFill>
              </a:rPr>
              <a:t>Every write and every refusal.</a:t>
            </a:r>
            <a:endParaRPr lang="en-US" sz="1500" dirty="0"/>
          </a:p>
        </p:txBody>
      </p:sp>
      <p:sp>
        <p:nvSpPr>
          <p:cNvPr id="8" name="Shape 4"/>
          <p:cNvSpPr/>
          <p:nvPr/>
        </p:nvSpPr>
        <p:spPr>
          <a:xfrm>
            <a:off x="777240" y="5550408"/>
            <a:ext cx="10634472" cy="694944"/>
          </a:xfrm>
          <a:prstGeom prst="rect">
            <a:avLst/>
          </a:prstGeom>
          <a:solidFill>
            <a:srgbClr val="F6E6E9"/>
          </a:solidFill>
          <a:ln/>
        </p:spPr>
        <p:txBody>
          <a:bodyPr/>
          <a:p/>
        </p:txBody>
      </p:sp>
      <p:sp>
        <p:nvSpPr>
          <p:cNvPr id="9" name="Shape 5"/>
          <p:cNvSpPr/>
          <p:nvPr/>
        </p:nvSpPr>
        <p:spPr>
          <a:xfrm>
            <a:off x="777240" y="5550408"/>
            <a:ext cx="54864" cy="694944"/>
          </a:xfrm>
          <a:prstGeom prst="rect">
            <a:avLst/>
          </a:prstGeom>
          <a:solidFill>
            <a:srgbClr val="A51C30"/>
          </a:solidFill>
          <a:ln/>
        </p:spPr>
        <p:txBody>
          <a:bodyPr/>
          <a:p/>
        </p:txBody>
      </p:sp>
      <p:sp>
        <p:nvSpPr>
          <p:cNvPr id="10"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scope only opens the endpoint — the owner's roles are still checked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EMBEDDING A VIEW IN ANOTHER APP</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Token exchange — the host proves itself, and the user</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583680" cy="3977640"/>
          </a:xfrm>
          <a:prstGeom prst="rect">
            <a:avLst/>
          </a:prstGeom>
          <a:solidFill>
            <a:srgbClr val="1E1E24"/>
          </a:solidFill>
          <a:ln/>
        </p:spPr>
        <p:txBody>
          <a:bodyPr/>
          <a:p/>
        </p:txBody>
      </p:sp>
      <p:sp>
        <p:nvSpPr>
          <p:cNvPr id="7" name="Shape 4"/>
          <p:cNvSpPr/>
          <p:nvPr/>
        </p:nvSpPr>
        <p:spPr>
          <a:xfrm>
            <a:off x="777240" y="1417320"/>
            <a:ext cx="6583680" cy="384048"/>
          </a:xfrm>
          <a:prstGeom prst="rect">
            <a:avLst/>
          </a:prstGeom>
          <a:solidFill>
            <a:srgbClr val="8A1626"/>
          </a:solidFill>
          <a:ln/>
        </p:spPr>
        <p:txBody>
          <a:bodyPr/>
          <a:p/>
        </p:txBody>
      </p:sp>
      <p:sp>
        <p:nvSpPr>
          <p:cNvPr id="8" name="Text 5"/>
          <p:cNvSpPr txBox="1"/>
          <p:nvPr/>
        </p:nvSpPr>
        <p:spPr>
          <a:xfrm>
            <a:off x="960120" y="1417320"/>
            <a:ext cx="6217920" cy="384048"/>
          </a:xfrm>
          <a:prstGeom prst="rect">
            <a:avLst/>
          </a:prstGeom>
          <a:noFill/>
          <a:ln/>
        </p:spPr>
        <p:txBody>
          <a:bodyPr wrap="square" lIns="0" tIns="0" rIns="0" bIns="0" rtlCol="0" anchor="ctr"/>
          <a:lstStyle/>
          <a:p>
            <a:pPr indent="0" marL="0">
              <a:buNone/>
            </a:pPr>
            <a:r>
              <a:rPr lang="en-US" sz="1300" b="1" dirty="0">
                <a:solidFill>
                  <a:srgbClr val="FFFFFF"/>
                </a:solidFill>
              </a:rPr>
              <a:t>Host app  →  Server  →  Console  →  Browser</a:t>
            </a:r>
            <a:endParaRPr lang="en-US" sz="1300" dirty="0"/>
          </a:p>
        </p:txBody>
      </p:sp>
      <p:sp>
        <p:nvSpPr>
          <p:cNvPr id="9" name="Text 6"/>
          <p:cNvSpPr txBox="1"/>
          <p:nvPr/>
        </p:nvSpPr>
        <p:spPr>
          <a:xfrm>
            <a:off x="978408" y="1920240"/>
            <a:ext cx="6181344" cy="3364992"/>
          </a:xfrm>
          <a:prstGeom prst="rect">
            <a:avLst/>
          </a:prstGeom>
          <a:noFill/>
          <a:ln/>
        </p:spPr>
        <p:txBody>
          <a:bodyPr wrap="square" lIns="0" tIns="0" rIns="0" bIns="0" rtlCol="0" anchor="t"/>
          <a:lstStyle/>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1. Host server → POST /api/v1/embed/token  (RFC 8693)</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client: secret (hash stored) or private_key_jwt</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subject: the IdP's ID token, or a host-signed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assertion (≤ 60 s, used once)</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2. Server → ES256 token, 300 s (max 900)</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audience = app, origin-bound, scopes embed:view</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3. Browser → console /embed/v1/... with the token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console checks signature (JWKS), audience, origin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4. Server checks again: app, user, origin, kind,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rate limit — and always masks</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5. Live stream: event: token → renewed in place</a:t>
            </a:r>
            <a:endParaRPr lang="en-US" sz="1150" dirty="0"/>
          </a:p>
        </p:txBody>
      </p:sp>
      <p:sp>
        <p:nvSpPr>
          <p:cNvPr id="10" name="Text 7"/>
          <p:cNvSpPr txBox="1"/>
          <p:nvPr/>
        </p:nvSpPr>
        <p:spPr>
          <a:xfrm>
            <a:off x="7635240" y="1417320"/>
            <a:ext cx="3776472" cy="3977640"/>
          </a:xfrm>
          <a:prstGeom prst="rect">
            <a:avLst/>
          </a:prstGeom>
          <a:noFill/>
          <a:ln/>
        </p:spPr>
        <p:txBody>
          <a:bodyPr wrap="square" lIns="0" tIns="0" rIns="0" bIns="0" rtlCol="0" anchor="t"/>
          <a:lstStyle/>
          <a:p>
            <a:pPr indent="0" marL="0">
              <a:buNone/>
            </a:pPr>
            <a:r>
              <a:rPr lang="en-US" sz="1500" b="1" dirty="0">
                <a:solidFill>
                  <a:srgbClr val="A51C30"/>
                </a:solidFill>
              </a:rPr>
              <a:t>▪  Off by default</a:t>
            </a:r>
            <a:endParaRPr lang="en-US" sz="1500" dirty="0"/>
          </a:p>
          <a:p>
            <a:pPr indent="0" marL="0">
              <a:spcAft>
                <a:spcPts val="900"/>
              </a:spcAft>
              <a:buNone/>
            </a:pPr>
            <a:r>
              <a:rPr lang="en-US" sz="1300" dirty="0">
                <a:solidFill>
                  <a:srgbClr val="4A5058"/>
                </a:solidFill>
              </a:rPr>
              <a:t>drishti.embed.enabled; each host app registered by an admin.</a:t>
            </a:r>
            <a:endParaRPr lang="en-US" sz="1500" dirty="0"/>
          </a:p>
          <a:p>
            <a:pPr indent="0" marL="0">
              <a:buNone/>
            </a:pPr>
            <a:r>
              <a:rPr lang="en-US" sz="1500" b="1" dirty="0">
                <a:solidFill>
                  <a:srgbClr val="A51C30"/>
                </a:solidFill>
              </a:rPr>
              <a:t>▪  Always masked</a:t>
            </a:r>
            <a:endParaRPr lang="en-US" sz="1500" dirty="0"/>
          </a:p>
          <a:p>
            <a:pPr indent="0" marL="0">
              <a:spcAft>
                <a:spcPts val="900"/>
              </a:spcAft>
              <a:buNone/>
            </a:pPr>
            <a:r>
              <a:rPr lang="en-US" sz="1300" dirty="0">
                <a:solidFill>
                  <a:srgbClr val="4A5058"/>
                </a:solidFill>
              </a:rPr>
              <a:t>An embedded view never shows raw values, whatever the user's roles.</a:t>
            </a:r>
            <a:endParaRPr lang="en-US" sz="1500" dirty="0"/>
          </a:p>
          <a:p>
            <a:pPr indent="0" marL="0">
              <a:buNone/>
            </a:pPr>
            <a:r>
              <a:rPr lang="en-US" sz="1500" b="1" dirty="0">
                <a:solidFill>
                  <a:srgbClr val="A51C30"/>
                </a:solidFill>
              </a:rPr>
              <a:t>▪  CORS, exactly</a:t>
            </a:r>
            <a:endParaRPr lang="en-US" sz="1500" dirty="0"/>
          </a:p>
          <a:p>
            <a:pPr indent="0" marL="0">
              <a:spcAft>
                <a:spcPts val="900"/>
              </a:spcAft>
              <a:buNone/>
            </a:pPr>
            <a:r>
              <a:rPr lang="en-US" sz="1300" dirty="0">
                <a:solidFill>
                  <a:srgbClr val="4A5058"/>
                </a:solidFill>
              </a:rPr>
              <a:t>Only registered origins; never *, never credentials.</a:t>
            </a:r>
            <a:endParaRPr lang="en-US" sz="1500" dirty="0"/>
          </a:p>
        </p:txBody>
      </p:sp>
      <p:sp>
        <p:nvSpPr>
          <p:cNvPr id="11" name="Shape 8"/>
          <p:cNvSpPr/>
          <p:nvPr/>
        </p:nvSpPr>
        <p:spPr>
          <a:xfrm>
            <a:off x="777240" y="5550408"/>
            <a:ext cx="10634472" cy="694944"/>
          </a:xfrm>
          <a:prstGeom prst="rect">
            <a:avLst/>
          </a:prstGeom>
          <a:solidFill>
            <a:srgbClr val="F6E6E9"/>
          </a:solidFill>
          <a:ln/>
        </p:spPr>
        <p:txBody>
          <a:bodyPr/>
          <a:p/>
        </p:txBody>
      </p:sp>
      <p:sp>
        <p:nvSpPr>
          <p:cNvPr id="12" name="Shape 9"/>
          <p:cNvSpPr/>
          <p:nvPr/>
        </p:nvSpPr>
        <p:spPr>
          <a:xfrm>
            <a:off x="777240" y="5550408"/>
            <a:ext cx="54864" cy="694944"/>
          </a:xfrm>
          <a:prstGeom prst="rect">
            <a:avLst/>
          </a:prstGeom>
          <a:solidFill>
            <a:srgbClr val="A51C30"/>
          </a:solidFill>
          <a:ln/>
        </p:spPr>
        <p:txBody>
          <a:bodyPr/>
          <a:p/>
        </p:txBody>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token proves who and where; the server still decides what —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COMPLIANCE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Evidence, not just conversation</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2507742" cy="1828800"/>
          </a:xfrm>
          <a:prstGeom prst="rect">
            <a:avLst/>
          </a:prstGeom>
          <a:solidFill>
            <a:srgbClr val="F7F5F2"/>
          </a:solidFill>
          <a:ln/>
        </p:spPr>
        <p:txBody>
          <a:bodyPr/>
          <a:p/>
        </p:txBody>
      </p:sp>
      <p:sp>
        <p:nvSpPr>
          <p:cNvPr id="7" name="Shape 4"/>
          <p:cNvSpPr/>
          <p:nvPr/>
        </p:nvSpPr>
        <p:spPr>
          <a:xfrm>
            <a:off x="777240" y="1463040"/>
            <a:ext cx="45720" cy="1828800"/>
          </a:xfrm>
          <a:prstGeom prst="rect">
            <a:avLst/>
          </a:prstGeom>
          <a:solidFill>
            <a:srgbClr val="A51C30"/>
          </a:solidFill>
          <a:ln/>
        </p:spPr>
        <p:txBody>
          <a:bodyPr/>
          <a:p/>
        </p:txBody>
      </p:sp>
      <p:sp>
        <p:nvSpPr>
          <p:cNvPr id="8" name="Text 5"/>
          <p:cNvSpPr txBox="1"/>
          <p:nvPr/>
        </p:nvSpPr>
        <p:spPr>
          <a:xfrm>
            <a:off x="97840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Chained</a:t>
            </a:r>
            <a:endParaRPr lang="en-US" sz="2600" dirty="0"/>
          </a:p>
        </p:txBody>
      </p:sp>
      <p:sp>
        <p:nvSpPr>
          <p:cNvPr id="9" name="Text 6"/>
          <p:cNvSpPr txBox="1"/>
          <p:nvPr/>
        </p:nvSpPr>
        <p:spPr>
          <a:xfrm>
            <a:off x="97840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Every revision of a thread or share hashes the one before</a:t>
            </a:r>
            <a:endParaRPr lang="en-US" sz="1300" dirty="0"/>
          </a:p>
        </p:txBody>
      </p:sp>
      <p:sp>
        <p:nvSpPr>
          <p:cNvPr id="10" name="Shape 7"/>
          <p:cNvSpPr/>
          <p:nvPr/>
        </p:nvSpPr>
        <p:spPr>
          <a:xfrm>
            <a:off x="3486150" y="1463040"/>
            <a:ext cx="2507742" cy="1828800"/>
          </a:xfrm>
          <a:prstGeom prst="rect">
            <a:avLst/>
          </a:prstGeom>
          <a:solidFill>
            <a:srgbClr val="F7F5F2"/>
          </a:solidFill>
          <a:ln/>
        </p:spPr>
        <p:txBody>
          <a:bodyPr/>
          <a:p/>
        </p:txBody>
      </p:sp>
      <p:sp>
        <p:nvSpPr>
          <p:cNvPr id="11" name="Shape 8"/>
          <p:cNvSpPr/>
          <p:nvPr/>
        </p:nvSpPr>
        <p:spPr>
          <a:xfrm>
            <a:off x="3486150" y="1463040"/>
            <a:ext cx="45720" cy="1828800"/>
          </a:xfrm>
          <a:prstGeom prst="rect">
            <a:avLst/>
          </a:prstGeom>
          <a:solidFill>
            <a:srgbClr val="A51C30"/>
          </a:solidFill>
          <a:ln/>
        </p:spPr>
        <p:txBody>
          <a:bodyPr/>
          <a:p/>
        </p:txBody>
      </p:sp>
      <p:sp>
        <p:nvSpPr>
          <p:cNvPr id="12" name="Text 9"/>
          <p:cNvSpPr txBox="1"/>
          <p:nvPr/>
        </p:nvSpPr>
        <p:spPr>
          <a:xfrm>
            <a:off x="368731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Sealed</a:t>
            </a:r>
            <a:endParaRPr lang="en-US" sz="2600" dirty="0"/>
          </a:p>
        </p:txBody>
      </p:sp>
      <p:sp>
        <p:nvSpPr>
          <p:cNvPr id="13" name="Text 10"/>
          <p:cNvSpPr txBox="1"/>
          <p:nvPr/>
        </p:nvSpPr>
        <p:spPr>
          <a:xfrm>
            <a:off x="368731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Seals cover comments, thread heads, holds and audit; verify on demand</a:t>
            </a:r>
            <a:endParaRPr lang="en-US" sz="1300" dirty="0"/>
          </a:p>
        </p:txBody>
      </p:sp>
      <p:sp>
        <p:nvSpPr>
          <p:cNvPr id="14" name="Shape 11"/>
          <p:cNvSpPr/>
          <p:nvPr/>
        </p:nvSpPr>
        <p:spPr>
          <a:xfrm>
            <a:off x="6195060" y="1463040"/>
            <a:ext cx="2507742" cy="1828800"/>
          </a:xfrm>
          <a:prstGeom prst="rect">
            <a:avLst/>
          </a:prstGeom>
          <a:solidFill>
            <a:srgbClr val="F7F5F2"/>
          </a:solidFill>
          <a:ln/>
        </p:spPr>
        <p:txBody>
          <a:bodyPr/>
          <a:p/>
        </p:txBody>
      </p:sp>
      <p:sp>
        <p:nvSpPr>
          <p:cNvPr id="15" name="Shape 12"/>
          <p:cNvSpPr/>
          <p:nvPr/>
        </p:nvSpPr>
        <p:spPr>
          <a:xfrm>
            <a:off x="6195060" y="1463040"/>
            <a:ext cx="45720" cy="1828800"/>
          </a:xfrm>
          <a:prstGeom prst="rect">
            <a:avLst/>
          </a:prstGeom>
          <a:solidFill>
            <a:srgbClr val="A51C30"/>
          </a:solidFill>
          <a:ln/>
        </p:spPr>
        <p:txBody>
          <a:bodyPr/>
          <a:p/>
        </p:txBody>
      </p:sp>
      <p:sp>
        <p:nvSpPr>
          <p:cNvPr id="16" name="Text 13"/>
          <p:cNvSpPr txBox="1"/>
          <p:nvPr/>
        </p:nvSpPr>
        <p:spPr>
          <a:xfrm>
            <a:off x="639622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Held</a:t>
            </a:r>
            <a:endParaRPr lang="en-US" sz="2600" dirty="0"/>
          </a:p>
        </p:txBody>
      </p:sp>
      <p:sp>
        <p:nvSpPr>
          <p:cNvPr id="17" name="Text 14"/>
          <p:cNvSpPr txBox="1"/>
          <p:nvPr/>
        </p:nvSpPr>
        <p:spPr>
          <a:xfrm>
            <a:off x="639622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Legal holds by entity, user, thread or all (423 while held)</a:t>
            </a:r>
            <a:endParaRPr lang="en-US" sz="1300" dirty="0"/>
          </a:p>
        </p:txBody>
      </p:sp>
      <p:sp>
        <p:nvSpPr>
          <p:cNvPr id="18" name="Shape 15"/>
          <p:cNvSpPr/>
          <p:nvPr/>
        </p:nvSpPr>
        <p:spPr>
          <a:xfrm>
            <a:off x="8903970" y="1463040"/>
            <a:ext cx="2507742" cy="1828800"/>
          </a:xfrm>
          <a:prstGeom prst="rect">
            <a:avLst/>
          </a:prstGeom>
          <a:solidFill>
            <a:srgbClr val="F7F5F2"/>
          </a:solidFill>
          <a:ln/>
        </p:spPr>
        <p:txBody>
          <a:bodyPr/>
          <a:p/>
        </p:txBody>
      </p:sp>
      <p:sp>
        <p:nvSpPr>
          <p:cNvPr id="19" name="Shape 16"/>
          <p:cNvSpPr/>
          <p:nvPr/>
        </p:nvSpPr>
        <p:spPr>
          <a:xfrm>
            <a:off x="8903970" y="1463040"/>
            <a:ext cx="45720" cy="1828800"/>
          </a:xfrm>
          <a:prstGeom prst="rect">
            <a:avLst/>
          </a:prstGeom>
          <a:solidFill>
            <a:srgbClr val="A51C30"/>
          </a:solidFill>
          <a:ln/>
        </p:spPr>
        <p:txBody>
          <a:bodyPr/>
          <a:p/>
        </p:txBody>
      </p:sp>
      <p:sp>
        <p:nvSpPr>
          <p:cNvPr id="20" name="Text 17"/>
          <p:cNvSpPr txBox="1"/>
          <p:nvPr/>
        </p:nvSpPr>
        <p:spPr>
          <a:xfrm>
            <a:off x="910513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Exported</a:t>
            </a:r>
            <a:endParaRPr lang="en-US" sz="2600" dirty="0"/>
          </a:p>
        </p:txBody>
      </p:sp>
      <p:sp>
        <p:nvSpPr>
          <p:cNvPr id="21" name="Text 18"/>
          <p:cNvSpPr txBox="1"/>
          <p:nvPr/>
        </p:nvSpPr>
        <p:spPr>
          <a:xfrm>
            <a:off x="910513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eDiscovery zip with a manifest; one-shot download</a:t>
            </a:r>
            <a:endParaRPr lang="en-US" sz="1300" dirty="0"/>
          </a:p>
        </p:txBody>
      </p:sp>
      <p:sp>
        <p:nvSpPr>
          <p:cNvPr id="22" name="Text 19"/>
          <p:cNvSpPr txBox="1"/>
          <p:nvPr/>
        </p:nvSpPr>
        <p:spPr>
          <a:xfrm>
            <a:off x="777240" y="3520440"/>
            <a:ext cx="10634472" cy="1920240"/>
          </a:xfrm>
          <a:prstGeom prst="rect">
            <a:avLst/>
          </a:prstGeom>
          <a:noFill/>
          <a:ln/>
        </p:spPr>
        <p:txBody>
          <a:bodyPr wrap="square" lIns="0" tIns="0" rIns="0" bIns="0" rtlCol="0" anchor="t"/>
          <a:lstStyle/>
          <a:p>
            <a:pPr indent="0" marL="0">
              <a:buNone/>
            </a:pPr>
            <a:r>
              <a:rPr lang="en-US" sz="1800" b="1" dirty="0">
                <a:solidFill>
                  <a:srgbClr val="A51C30"/>
                </a:solidFill>
              </a:rPr>
              <a:t>▪  Retract and hide, never delete</a:t>
            </a:r>
            <a:endParaRPr lang="en-US" sz="1800" dirty="0"/>
          </a:p>
          <a:p>
            <a:pPr indent="0" marL="0">
              <a:spcAft>
                <a:spcPts val="1400"/>
              </a:spcAft>
              <a:buNone/>
            </a:pPr>
            <a:r>
              <a:rPr lang="en-US" sz="1500" dirty="0">
                <a:solidFill>
                  <a:srgbClr val="4A5058"/>
                </a:solidFill>
              </a:rPr>
              <a:t>Retention keeps for ever by default; a hidden comment is still in the record.</a:t>
            </a:r>
            <a:endParaRPr lang="en-US" sz="1800" dirty="0"/>
          </a:p>
          <a:p>
            <a:pPr indent="0" marL="0">
              <a:buNone/>
            </a:pPr>
            <a:r>
              <a:rPr lang="en-US" sz="1800" b="1" dirty="0">
                <a:solidFill>
                  <a:srgbClr val="A51C30"/>
                </a:solidFill>
              </a:rPr>
              <a:t>▪  Measured</a:t>
            </a:r>
            <a:endParaRPr lang="en-US" sz="1800" dirty="0"/>
          </a:p>
          <a:p>
            <a:pPr indent="0" marL="0">
              <a:spcAft>
                <a:spcPts val="1400"/>
              </a:spcAft>
              <a:buNone/>
            </a:pPr>
            <a:r>
              <a:rPr lang="en-US" sz="1500" dirty="0">
                <a:solidFill>
                  <a:srgbClr val="4A5058"/>
                </a:solidFill>
              </a:rPr>
              <a:t>An export of 8,300 comments builds in 2.0 s and downloads (19.8 MB) in 3.1 s.</a:t>
            </a:r>
            <a:endParaRPr lang="en-US" sz="1800" dirty="0"/>
          </a:p>
          <a:p>
            <a:pPr indent="0" marL="0">
              <a:buNone/>
            </a:pPr>
            <a:r>
              <a:rPr lang="en-US" sz="1800" b="1" dirty="0">
                <a:solidFill>
                  <a:srgbClr val="A51C30"/>
                </a:solidFill>
              </a:rPr>
              <a:t>▪  Only for compliance</a:t>
            </a:r>
            <a:endParaRPr lang="en-US" sz="1800" dirty="0"/>
          </a:p>
          <a:p>
            <a:pPr indent="0" marL="0">
              <a:spcAft>
                <a:spcPts val="1400"/>
              </a:spcAft>
              <a:buNone/>
            </a:pPr>
            <a:r>
              <a:rPr lang="en-US" sz="1500" dirty="0">
                <a:solidFill>
                  <a:srgbClr val="4A5058"/>
                </a:solidFill>
              </a:rPr>
              <a:t>Legal holds and the export need the compliance power; an export downloads once.</a:t>
            </a:r>
            <a:endParaRPr lang="en-US" sz="1800" dirty="0"/>
          </a:p>
        </p:txBody>
      </p:sp>
      <p:sp>
        <p:nvSpPr>
          <p:cNvPr id="23" name="Shape 20"/>
          <p:cNvSpPr/>
          <p:nvPr/>
        </p:nvSpPr>
        <p:spPr>
          <a:xfrm>
            <a:off x="777240" y="5550408"/>
            <a:ext cx="10634472" cy="694944"/>
          </a:xfrm>
          <a:prstGeom prst="rect">
            <a:avLst/>
          </a:prstGeom>
          <a:solidFill>
            <a:srgbClr val="F6E6E9"/>
          </a:solidFill>
          <a:ln/>
        </p:spPr>
        <p:txBody>
          <a:bodyPr/>
          <a:p/>
        </p:txBody>
      </p:sp>
      <p:sp>
        <p:nvSpPr>
          <p:cNvPr id="24" name="Shape 21"/>
          <p:cNvSpPr/>
          <p:nvPr/>
        </p:nvSpPr>
        <p:spPr>
          <a:xfrm>
            <a:off x="777240" y="5550408"/>
            <a:ext cx="54864" cy="694944"/>
          </a:xfrm>
          <a:prstGeom prst="rect">
            <a:avLst/>
          </a:prstGeom>
          <a:solidFill>
            <a:srgbClr val="A51C30"/>
          </a:solidFill>
          <a:ln/>
        </p:spPr>
        <p:txBody>
          <a:bodyPr/>
          <a:p/>
        </p:txBody>
      </p:sp>
      <p:sp>
        <p:nvSpPr>
          <p:cNvPr id="25" name="Text 2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Tamper evidence is the honest claim: Drishti cannot stop a database administrator, but it shows when one acted.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10</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Evidence, by the numbers</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ERRORS AS A CONTRACT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248 error codes, every one documented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5394960" cy="2377440"/>
          </a:xfrm>
          <a:prstGeom prst="rect">
            <a:avLst/>
          </a:prstGeom>
          <a:solidFill>
            <a:srgbClr val="1E1E24"/>
          </a:solidFill>
          <a:ln/>
        </p:spPr>
        <p:txBody>
          <a:bodyPr/>
          <a:p/>
        </p:txBody>
      </p:sp>
      <p:sp>
        <p:nvSpPr>
          <p:cNvPr id="7" name="Text 4"/>
          <p:cNvSpPr txBox="1"/>
          <p:nvPr/>
        </p:nvSpPr>
        <p:spPr>
          <a:xfrm>
            <a:off x="978408" y="1581912"/>
            <a:ext cx="4992624" cy="21031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curl -s server/api/v1/views/trade/NOPE-404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Content-Type: application/problem+json</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"status": 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"code":   "DRS-1001",</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"title":  "entity not found",</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"detail": "no source holds the entity" }</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46520" y="1417320"/>
          <a:ext cx="4965192" cy="914400"/>
        </p:xfrm>
        <a:graphic>
          <a:graphicData uri="http://schemas.openxmlformats.org/drawingml/2006/table">
            <a:tbl>
              <a:tblPr/>
              <a:tblGrid>
                <a:gridCol w="1325880"/>
                <a:gridCol w="2770632"/>
                <a:gridCol w="868680"/>
              </a:tblGrid>
              <a:tr h="0">
                <a:tc>
                  <a:txBody>
                    <a:bodyPr/>
                    <a:lstStyle/>
                    <a:p>
                      <a:pPr indent="0" marL="0">
                        <a:buNone/>
                      </a:pPr>
                      <a:r>
                        <a:rPr lang="en-US" sz="1200" b="1" dirty="0">
                          <a:solidFill>
                            <a:srgbClr val="FFFFFF"/>
                          </a:solidFill>
                        </a:rPr>
                        <a:t>Family</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Area</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Codes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DRS-1xxx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Entities and sources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14</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DRS-2/3xxx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Grammar, Sutras, inference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DRS-4xxx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Commands and search</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DRS-5xxx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Requests, Drishti*net, VaR, exposure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51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DRS-6xxx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Users, roles, tokens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DRS-7xxx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Collaboration</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DRS-8xxx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Embedding</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DRS-9xxx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Business intelligence, runs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120</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9" name="Shape 5"/>
          <p:cNvSpPr/>
          <p:nvPr/>
        </p:nvSpPr>
        <p:spPr>
          <a:xfrm>
            <a:off x="777240" y="3931920"/>
            <a:ext cx="1664208" cy="1371600"/>
          </a:xfrm>
          <a:prstGeom prst="rect">
            <a:avLst/>
          </a:prstGeom>
          <a:solidFill>
            <a:srgbClr val="F7F5F2"/>
          </a:solidFill>
          <a:ln/>
        </p:spPr>
        <p:txBody>
          <a:bodyPr/>
          <a:p/>
        </p:txBody>
      </p:sp>
      <p:sp>
        <p:nvSpPr>
          <p:cNvPr id="10" name="Shape 6"/>
          <p:cNvSpPr/>
          <p:nvPr/>
        </p:nvSpPr>
        <p:spPr>
          <a:xfrm>
            <a:off x="777240" y="3931920"/>
            <a:ext cx="45720" cy="1371600"/>
          </a:xfrm>
          <a:prstGeom prst="rect">
            <a:avLst/>
          </a:prstGeom>
          <a:solidFill>
            <a:srgbClr val="A51C30"/>
          </a:solidFill>
          <a:ln/>
        </p:spPr>
        <p:txBody>
          <a:bodyPr/>
          <a:p/>
        </p:txBody>
      </p:sp>
      <p:sp>
        <p:nvSpPr>
          <p:cNvPr id="11" name="Text 7"/>
          <p:cNvSpPr txBox="1"/>
          <p:nvPr/>
        </p:nvSpPr>
        <p:spPr>
          <a:xfrm>
            <a:off x="978408"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248</a:t>
            </a:r>
            <a:endParaRPr lang="en-US" sz="2600" dirty="0"/>
          </a:p>
        </p:txBody>
      </p:sp>
      <p:sp>
        <p:nvSpPr>
          <p:cNvPr id="12" name="Text 8"/>
          <p:cNvSpPr txBox="1"/>
          <p:nvPr/>
        </p:nvSpPr>
        <p:spPr>
          <a:xfrm>
            <a:off x="978408"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Codes in nine families, one table</a:t>
            </a:r>
            <a:endParaRPr lang="en-US" sz="1300" dirty="0"/>
          </a:p>
        </p:txBody>
      </p:sp>
      <p:sp>
        <p:nvSpPr>
          <p:cNvPr id="13" name="Shape 9"/>
          <p:cNvSpPr/>
          <p:nvPr/>
        </p:nvSpPr>
        <p:spPr>
          <a:xfrm>
            <a:off x="2642616" y="3931920"/>
            <a:ext cx="1664208" cy="1371600"/>
          </a:xfrm>
          <a:prstGeom prst="rect">
            <a:avLst/>
          </a:prstGeom>
          <a:solidFill>
            <a:srgbClr val="F7F5F2"/>
          </a:solidFill>
          <a:ln/>
        </p:spPr>
        <p:txBody>
          <a:bodyPr/>
          <a:p/>
        </p:txBody>
      </p:sp>
      <p:sp>
        <p:nvSpPr>
          <p:cNvPr id="14" name="Shape 10"/>
          <p:cNvSpPr/>
          <p:nvPr/>
        </p:nvSpPr>
        <p:spPr>
          <a:xfrm>
            <a:off x="2642616" y="3931920"/>
            <a:ext cx="45720" cy="1371600"/>
          </a:xfrm>
          <a:prstGeom prst="rect">
            <a:avLst/>
          </a:prstGeom>
          <a:solidFill>
            <a:srgbClr val="A51C30"/>
          </a:solidFill>
          <a:ln/>
        </p:spPr>
        <p:txBody>
          <a:bodyPr/>
          <a:p/>
        </p:txBody>
      </p:sp>
      <p:sp>
        <p:nvSpPr>
          <p:cNvPr id="15" name="Text 11"/>
          <p:cNvSpPr txBox="1"/>
          <p:nvPr/>
        </p:nvSpPr>
        <p:spPr>
          <a:xfrm>
            <a:off x="2843784"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47</a:t>
            </a:r>
            <a:endParaRPr lang="en-US" sz="2600" dirty="0"/>
          </a:p>
        </p:txBody>
      </p:sp>
      <p:sp>
        <p:nvSpPr>
          <p:cNvPr id="16" name="Text 12"/>
          <p:cNvSpPr txBox="1"/>
          <p:nvPr/>
        </p:nvSpPr>
        <p:spPr>
          <a:xfrm>
            <a:off x="2843784"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Sutra problem codes in the grammar reference</a:t>
            </a:r>
            <a:endParaRPr lang="en-US" sz="1300" dirty="0"/>
          </a:p>
        </p:txBody>
      </p:sp>
      <p:sp>
        <p:nvSpPr>
          <p:cNvPr id="17" name="Shape 13"/>
          <p:cNvSpPr/>
          <p:nvPr/>
        </p:nvSpPr>
        <p:spPr>
          <a:xfrm>
            <a:off x="4507992" y="3931920"/>
            <a:ext cx="1664208" cy="1371600"/>
          </a:xfrm>
          <a:prstGeom prst="rect">
            <a:avLst/>
          </a:prstGeom>
          <a:solidFill>
            <a:srgbClr val="F7F5F2"/>
          </a:solidFill>
          <a:ln/>
        </p:spPr>
        <p:txBody>
          <a:bodyPr/>
          <a:p/>
        </p:txBody>
      </p:sp>
      <p:sp>
        <p:nvSpPr>
          <p:cNvPr id="18" name="Shape 14"/>
          <p:cNvSpPr/>
          <p:nvPr/>
        </p:nvSpPr>
        <p:spPr>
          <a:xfrm>
            <a:off x="4507992" y="3931920"/>
            <a:ext cx="45720" cy="1371600"/>
          </a:xfrm>
          <a:prstGeom prst="rect">
            <a:avLst/>
          </a:prstGeom>
          <a:solidFill>
            <a:srgbClr val="A51C30"/>
          </a:solidFill>
          <a:ln/>
        </p:spPr>
        <p:txBody>
          <a:bodyPr/>
          <a:p/>
        </p:txBody>
      </p:sp>
      <p:sp>
        <p:nvSpPr>
          <p:cNvPr id="19" name="Text 15"/>
          <p:cNvSpPr txBox="1"/>
          <p:nvPr/>
        </p:nvSpPr>
        <p:spPr>
          <a:xfrm>
            <a:off x="4709160"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RFC 7807</a:t>
            </a:r>
            <a:endParaRPr lang="en-US" sz="2600" dirty="0"/>
          </a:p>
        </p:txBody>
      </p:sp>
      <p:sp>
        <p:nvSpPr>
          <p:cNvPr id="20" name="Text 16"/>
          <p:cNvSpPr txBox="1"/>
          <p:nvPr/>
        </p:nvSpPr>
        <p:spPr>
          <a:xfrm>
            <a:off x="4709160"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problem+json, the same shape everywhere</a:t>
            </a:r>
            <a:endParaRPr lang="en-US" sz="1300" dirty="0"/>
          </a:p>
        </p:txBody>
      </p:sp>
      <p:sp>
        <p:nvSpPr>
          <p:cNvPr id="21" name="Shape 17"/>
          <p:cNvSpPr/>
          <p:nvPr/>
        </p:nvSpPr>
        <p:spPr>
          <a:xfrm>
            <a:off x="777240" y="5550408"/>
            <a:ext cx="10634472" cy="694944"/>
          </a:xfrm>
          <a:prstGeom prst="rect">
            <a:avLst/>
          </a:prstGeom>
          <a:solidFill>
            <a:srgbClr val="F6E6E9"/>
          </a:solidFill>
          <a:ln/>
        </p:spPr>
        <p:txBody>
          <a:bodyPr/>
          <a:p/>
        </p:txBody>
      </p:sp>
      <p:sp>
        <p:nvSpPr>
          <p:cNvPr id="22" name="Shape 18"/>
          <p:cNvSpPr/>
          <p:nvPr/>
        </p:nvSpPr>
        <p:spPr>
          <a:xfrm>
            <a:off x="777240" y="5550408"/>
            <a:ext cx="54864" cy="694944"/>
          </a:xfrm>
          <a:prstGeom prst="rect">
            <a:avLst/>
          </a:prstGeom>
          <a:solidFill>
            <a:srgbClr val="A51C30"/>
          </a:solidFill>
          <a:ln/>
        </p:spPr>
        <p:txBody>
          <a:bodyPr/>
          <a:p/>
        </p:txBody>
      </p:sp>
      <p:sp>
        <p:nvSpPr>
          <p:cNvPr id="23" name="Text 1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Errors are a contract: a stable code, an HTTP status and a row that says what to do.</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HOW IT IS TESTED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Over 3,400 Java test methods, three browsers, one gate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3,400+</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Java test methods (46 parameterised); the run expands them</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~2,250</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test functions, 640 of them in a browser</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~640</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CLI, generator and tool test functions</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Browser engines for embedded views</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Gates in every build</a:t>
            </a:r>
            <a:endParaRPr lang="en-US" sz="1500" dirty="0"/>
          </a:p>
          <a:p>
            <a:pPr indent="0" marL="0">
              <a:spcAft>
                <a:spcPts val="700"/>
              </a:spcAft>
              <a:buNone/>
            </a:pPr>
            <a:r>
              <a:rPr lang="en-US" sz="1300" dirty="0">
                <a:solidFill>
                  <a:srgbClr val="4A5058"/>
                </a:solidFill>
              </a:rPr>
              <a:t>Error Prone and Spotless; ArchUnit for module direction; licence headers; no file over 1,500 lines; branding literals; JSONL from every generator and on every export; READMEs for every pack.</a:t>
            </a:r>
            <a:endParaRPr lang="en-US" sz="1500" dirty="0"/>
          </a:p>
          <a:p>
            <a:pPr indent="0" marL="0">
              <a:buNone/>
            </a:pPr>
            <a:r>
              <a:rPr lang="en-US" sz="1500" b="1" dirty="0">
                <a:solidFill>
                  <a:srgbClr val="A51C30"/>
                </a:solidFill>
              </a:rPr>
              <a:t>▪  Pages at three widths</a:t>
            </a:r>
            <a:endParaRPr lang="en-US" sz="1500" dirty="0"/>
          </a:p>
          <a:p>
            <a:pPr indent="0" marL="0">
              <a:spcAft>
                <a:spcPts val="700"/>
              </a:spcAft>
              <a:buNone/>
            </a:pPr>
            <a:r>
              <a:rPr lang="en-US" sz="1300" dirty="0">
                <a:solidFill>
                  <a:srgbClr val="4A5058"/>
                </a:solidFill>
              </a:rPr>
              <a:t>Every page at 390, 1,600 and 2,560 px; at 390 with touch: real content, 44 px targets, nothing clipped.</a:t>
            </a:r>
            <a:endParaRPr lang="en-US" sz="1500" dirty="0"/>
          </a:p>
          <a:p>
            <a:pPr indent="0" marL="0">
              <a:buNone/>
            </a:pPr>
            <a:r>
              <a:rPr lang="en-US" sz="1500" b="1" dirty="0">
                <a:solidFill>
                  <a:srgbClr val="A51C30"/>
                </a:solidFill>
              </a:rPr>
              <a:t>▪  Numbers checked against an oracle</a:t>
            </a:r>
            <a:endParaRPr lang="en-US" sz="1500" dirty="0"/>
          </a:p>
          <a:p>
            <a:pPr indent="0" marL="0">
              <a:spcAft>
                <a:spcPts val="700"/>
              </a:spcAft>
              <a:buNone/>
            </a:pPr>
            <a:r>
              <a:rPr lang="en-US" sz="1300" dirty="0">
                <a:solidFill>
                  <a:srgbClr val="4A5058"/>
                </a:solidFill>
              </a:rPr>
              <a:t>VaR and ES recomputed from the input files and compared with the server; intraday equals one run, to the cent; Delta equals Iceberg; a sharded cluster equals one server.</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39</a:t>
            </a:fld>
            <a:endParaRPr lang="en-US"/>
          </a:p>
        </p:txBody>
      </p:sp>
      <p:sp>
        <p:nvSpPr>
          <p:cNvPr id="26" name="Rectangle 25"/>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Any failing test in any of the three suites stops the push — on Java 21 and on Java 25.</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PERFORMANCE · MEASURED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Fast where people wait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0" y="1554480"/>
          <a:ext cx="3639312" cy="914400"/>
        </p:xfrm>
        <a:graphic>
          <a:graphicData uri="http://schemas.openxmlformats.org/drawingml/2006/table">
            <a:tbl>
              <a:tblPr/>
              <a:tblGrid>
                <a:gridCol w="1371600"/>
                <a:gridCol w="822960"/>
                <a:gridCol w="1444752"/>
              </a:tblGrid>
              <a:tr h="0">
                <a:tc>
                  <a:txBody>
                    <a:bodyPr/>
                    <a:lstStyle/>
                    <a:p>
                      <a:pPr indent="0" marL="0">
                        <a:buNone/>
                      </a:pPr>
                      <a:r>
                        <a:rPr lang="en-US" sz="1200" b="1" dirty="0">
                          <a:solidFill>
                            <a:srgbClr val="FFFFFF"/>
                          </a:solidFill>
                        </a:rPr>
                        <a:t>Gate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Target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Measured</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Warm view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&lt; 50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3.0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Live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&lt; 40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11.2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History, 30 days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13 ms cold, &lt; 1 ms warm</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8" name="Text 3"/>
          <p:cNvSpPr txBox="1"/>
          <p:nvPr/>
        </p:nvSpPr>
        <p:spPr>
          <a:xfrm>
            <a:off x="7772400" y="3291840"/>
            <a:ext cx="3639312" cy="2103120"/>
          </a:xfrm>
          <a:prstGeom prst="rect">
            <a:avLst/>
          </a:prstGeom>
          <a:noFill/>
          <a:ln/>
        </p:spPr>
        <p:txBody>
          <a:bodyPr wrap="square" lIns="0" tIns="0" rIns="0" bIns="0" rtlCol="0" anchor="t"/>
          <a:lstStyle/>
          <a:p>
            <a:pPr indent="0" marL="0">
              <a:buNone/>
            </a:pPr>
            <a:r>
              <a:rPr lang="en-US" sz="1400" b="1" dirty="0">
                <a:solidFill>
                  <a:srgbClr val="A51C30"/>
                </a:solidFill>
              </a:rPr>
              <a:t>▪  One workstation</a:t>
            </a:r>
            <a:endParaRPr lang="en-US" sz="1400" dirty="0"/>
          </a:p>
          <a:p>
            <a:pPr indent="0" marL="0">
              <a:spcAft>
                <a:spcPts val="800"/>
              </a:spcAft>
              <a:buNone/>
            </a:pPr>
            <a:r>
              <a:rPr lang="en-US" sz="1250" dirty="0">
                <a:solidFill>
                  <a:srgbClr val="4A5058"/>
                </a:solidFill>
              </a:rPr>
              <a:t>24 cores; 1,000,000 trades a day for three days, 5.2 GB.</a:t>
            </a:r>
            <a:endParaRPr lang="en-US" sz="1400" dirty="0"/>
          </a:p>
          <a:p>
            <a:pPr indent="0" marL="0">
              <a:buNone/>
            </a:pPr>
            <a:r>
              <a:rPr lang="en-US" sz="1400" b="1" dirty="0">
                <a:solidFill>
                  <a:srgbClr val="A51C30"/>
                </a:solidFill>
              </a:rPr>
              <a:t>▪  Cold vs cached</a:t>
            </a:r>
            <a:endParaRPr lang="en-US" sz="1400" dirty="0"/>
          </a:p>
          <a:p>
            <a:pPr indent="0" marL="0">
              <a:spcAft>
                <a:spcPts val="800"/>
              </a:spcAft>
              <a:buNone/>
            </a:pPr>
            <a:r>
              <a:rPr lang="en-US" sz="1250" dirty="0">
                <a:solidFill>
                  <a:srgbClr val="4A5058"/>
                </a:solidFill>
              </a:rPr>
              <a:t>Opening a trade cold is 137–157 ms; from the cache 48 ms.</a:t>
            </a:r>
            <a:endParaRPr lang="en-US" sz="1400" dirty="0"/>
          </a:p>
        </p:txBody>
      </p:sp>
      <p:sp>
        <p:nvSpPr>
          <p:cNvPr id="9" name="Shape 4"/>
          <p:cNvSpPr/>
          <p:nvPr/>
        </p:nvSpPr>
        <p:spPr>
          <a:xfrm>
            <a:off x="777240" y="5550408"/>
            <a:ext cx="10634472" cy="694944"/>
          </a:xfrm>
          <a:prstGeom prst="rect">
            <a:avLst/>
          </a:prstGeom>
          <a:solidFill>
            <a:srgbClr val="F6E6E9"/>
          </a:solidFill>
          <a:ln/>
        </p:spPr>
        <p:txBody>
          <a:bodyPr/>
          <a:p/>
        </p:txBody>
      </p:sp>
      <p:sp>
        <p:nvSpPr>
          <p:cNvPr id="10" name="Shape 5"/>
          <p:cNvSpPr/>
          <p:nvPr/>
        </p:nvSpPr>
        <p:spPr>
          <a:xfrm>
            <a:off x="777240" y="5550408"/>
            <a:ext cx="54864" cy="694944"/>
          </a:xfrm>
          <a:prstGeom prst="rect">
            <a:avLst/>
          </a:prstGeom>
          <a:solidFill>
            <a:srgbClr val="A51C30"/>
          </a:solidFill>
          <a:ln/>
        </p:spPr>
        <p:txBody>
          <a:bodyPr/>
          <a:p/>
        </p:txBody>
      </p:sp>
      <p:sp>
        <p:nvSpPr>
          <p:cNvPr id="11"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gates are written down first and measured after — and every one has headroom.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SCALE · 35.7 MILLION TRADES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Tens of millions of trades, fifty users, no failures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35.7M</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Trades: ENDUR, CALYPSO, MUREX, 30 days, loaded while serving</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179/s</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Requests a second, 50 users against the server, 0 failures</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0.21 s</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Form search p50, from 5.8 s before the form was kept per data version</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182/s</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pages a second, 50 users, 0 failures</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914400"/>
        </p:xfrm>
        <a:graphic>
          <a:graphicData uri="http://schemas.openxmlformats.org/drawingml/2006/table">
            <a:tbl>
              <a:tblPr/>
              <a:tblGrid>
                <a:gridCol w="1463040"/>
                <a:gridCol w="4754880"/>
                <a:gridCol w="822960"/>
                <a:gridCol w="3593592"/>
              </a:tblGrid>
              <a:tr h="475488">
                <a:tc>
                  <a:txBody>
                    <a:bodyPr/>
                    <a:lstStyle/>
                    <a:p>
                      <a:pPr indent="0" marL="0">
                        <a:buNone/>
                      </a:pPr>
                      <a:r>
                        <a:rPr lang="en-US" sz="1400" b="1" dirty="0">
                          <a:solidFill>
                            <a:srgbClr val="FFFFFF"/>
                          </a:solidFill>
                        </a:rPr>
                        <a:t>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Measure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Users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Result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Single trade / grouped page, p50 / p95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0.16 / 0.73 s, 0.17 / 0.73 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Server heap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3.7 GB of 8 GB</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8A1626"/>
                          </a:solidFill>
                        </a:rPr>
                        <a:t>400,000 restated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day reloaded, 10 % amended,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30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2 min 54 s, 202 requests/s, 0 failures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8.2M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Single trade / grouped page from disk, p50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18 ms / 70 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txBody>
          <a:bodyPr/>
          <a:p/>
        </p:txBody>
      </p:sp>
      <p:sp>
        <p:nvSpPr>
          <p:cNvPr id="24" name="Shape 20"/>
          <p:cNvSpPr/>
          <p:nvPr/>
        </p:nvSpPr>
        <p:spPr>
          <a:xfrm>
            <a:off x="777240" y="5550408"/>
            <a:ext cx="54864" cy="694944"/>
          </a:xfrm>
          <a:prstGeom prst="rect">
            <a:avLst/>
          </a:prstGeom>
          <a:solidFill>
            <a:srgbClr val="A51C30"/>
          </a:solidFill>
          <a:ln/>
        </p:spPr>
        <p:txBody>
          <a:bodyPr/>
          <a:p/>
        </p:txBody>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One workstation, an 8 GB heap: the figures and their method are in PERFORMANCE.md and SCALE_STRATEGY.md.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ADVERSARIAL QA · SIX ROUNDS AND FOUR SOAKS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Written to break a promise — and fixed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94</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one (10 high), security, data and UX</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72</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two, the build workbench (0 high)</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~100</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fixed in a six-hour adversarial QA, five of them P1</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4,640</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Randomised searches matched brute force exactly</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2523744"/>
        </p:xfrm>
        <a:graphic>
          <a:graphicData uri="http://schemas.openxmlformats.org/drawingml/2006/table">
            <a:tbl>
              <a:tblPr/>
              <a:tblGrid>
                <a:gridCol w="1463040"/>
                <a:gridCol w="4754880"/>
                <a:gridCol w="822960"/>
                <a:gridCol w="3593592"/>
              </a:tblGrid>
              <a:tr h="420624">
                <a:tc>
                  <a:txBody>
                    <a:bodyPr/>
                    <a:lstStyle/>
                    <a:p>
                      <a:pPr indent="0" marL="0">
                        <a:buNone/>
                      </a:pPr>
                      <a:r>
                        <a:rPr lang="en-US" sz="1400" b="1" dirty="0">
                          <a:solidFill>
                            <a:srgbClr val="FFFFFF"/>
                          </a:solidFill>
                        </a:rPr>
                        <a:t>Round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Scope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High</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Outcome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20624">
                <a:tc>
                  <a:txBody>
                    <a:bodyPr/>
                    <a:lstStyle/>
                    <a:p>
                      <a:pPr indent="0" marL="0">
                        <a:buNone/>
                      </a:pPr>
                      <a:r>
                        <a:rPr lang="en-US" sz="1400" b="1" dirty="0">
                          <a:solidFill>
                            <a:srgbClr val="8A1626"/>
                          </a:solidFill>
                        </a:rPr>
                        <a:t>2026-10-01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Security, data and UX</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All high fixed, each with its commit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20624">
                <a:tc>
                  <a:txBody>
                    <a:bodyPr/>
                    <a:lstStyle/>
                    <a:p>
                      <a:pPr indent="0" marL="0">
                        <a:buNone/>
                      </a:pPr>
                      <a:r>
                        <a:rPr lang="en-US" sz="1400" b="1" dirty="0">
                          <a:solidFill>
                            <a:srgbClr val="8A1626"/>
                          </a:solidFill>
                        </a:rPr>
                        <a:t>2026-10-03</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Build workbench: 25 endpoints × 6 callers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18 medium fixed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8A1626"/>
                          </a:solidFill>
                        </a:rPr>
                        <a:t>2026-10-05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Data safety and behaviour (two rounds)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2</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All resolved or owned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20624">
                <a:tc>
                  <a:txBody>
                    <a:bodyPr/>
                    <a:lstStyle/>
                    <a:p>
                      <a:pPr indent="0" marL="0">
                        <a:buNone/>
                      </a:pPr>
                      <a:r>
                        <a:rPr lang="en-US" sz="1400" b="1" dirty="0">
                          <a:solidFill>
                            <a:srgbClr val="8A1626"/>
                          </a:solidFill>
                        </a:rPr>
                        <a:t>2026-10-20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Two testers, four rounds, four soaks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 P1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P1 fixed; SOAK4-01 open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8A1626"/>
                          </a:solidFill>
                        </a:rPr>
                        <a:t>2026-10-21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BI runs: planner, sharing, adoption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Masks hold both ways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txBody>
          <a:bodyPr/>
          <a:p/>
        </p:txBody>
      </p:sp>
      <p:sp>
        <p:nvSpPr>
          <p:cNvPr id="24" name="Shape 20"/>
          <p:cNvSpPr/>
          <p:nvPr/>
        </p:nvSpPr>
        <p:spPr>
          <a:xfrm>
            <a:off x="777240" y="5550408"/>
            <a:ext cx="54864" cy="694944"/>
          </a:xfrm>
          <a:prstGeom prst="rect">
            <a:avLst/>
          </a:prstGeom>
          <a:solidFill>
            <a:srgbClr val="A51C30"/>
          </a:solidFill>
          <a:ln/>
        </p:spPr>
        <p:txBody>
          <a:bodyPr/>
          <a:p/>
        </p:txBody>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 XSS anywhere, about 250 settings that match the code, 190 grammar fuzz cases with clean problem codes.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DRILL · TOOLS/DRILL.SH</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Nothing reaches main without the full gate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Licences</a:t>
            </a:r>
            <a:endParaRPr lang="en-US" sz="1600" dirty="0"/>
          </a:p>
        </p:txBody>
      </p:sp>
      <p:sp>
        <p:nvSpPr>
          <p:cNvPr id="8" name="Text 5"/>
          <p:cNvSpPr txBox="1"/>
          <p:nvPr/>
        </p:nvSpPr>
        <p:spPr>
          <a:xfrm>
            <a:off x="91440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A header on every file</a:t>
            </a:r>
            <a:endParaRPr lang="en-US" sz="1250" dirty="0"/>
          </a:p>
        </p:txBody>
      </p:sp>
      <p:sp>
        <p:nvSpPr>
          <p:cNvPr id="9" name="Shape 6"/>
          <p:cNvSpPr/>
          <p:nvPr/>
        </p:nvSpPr>
        <p:spPr>
          <a:xfrm>
            <a:off x="2578608"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2715768"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21</a:t>
            </a:r>
            <a:endParaRPr lang="en-US" sz="1600" dirty="0"/>
          </a:p>
        </p:txBody>
      </p:sp>
      <p:sp>
        <p:nvSpPr>
          <p:cNvPr id="11" name="Text 8"/>
          <p:cNvSpPr txBox="1"/>
          <p:nvPr/>
        </p:nvSpPr>
        <p:spPr>
          <a:xfrm>
            <a:off x="2715768"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Full verify; bytecode pinned to 21</a:t>
            </a:r>
            <a:endParaRPr lang="en-US" sz="1250" dirty="0"/>
          </a:p>
        </p:txBody>
      </p:sp>
      <p:sp>
        <p:nvSpPr>
          <p:cNvPr id="12" name="Shape 9"/>
          <p:cNvSpPr/>
          <p:nvPr/>
        </p:nvSpPr>
        <p:spPr>
          <a:xfrm>
            <a:off x="2350008" y="2304288"/>
            <a:ext cx="228600" cy="914"/>
          </a:xfrm>
          <a:prstGeom prst="line">
            <a:avLst/>
          </a:prstGeom>
          <a:noFill/>
          <a:ln w="22225">
            <a:solidFill>
              <a:srgbClr val="A51C30"/>
            </a:solidFill>
            <a:prstDash val="solid"/>
            <a:tailEnd type="triangle"/>
          </a:ln>
        </p:spPr>
        <p:txBody>
          <a:bodyPr/>
          <a:p/>
        </p:txBody>
      </p:sp>
      <p:sp>
        <p:nvSpPr>
          <p:cNvPr id="13" name="Shape 10"/>
          <p:cNvSpPr/>
          <p:nvPr/>
        </p:nvSpPr>
        <p:spPr>
          <a:xfrm>
            <a:off x="4379976"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4517136"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25</a:t>
            </a:r>
            <a:endParaRPr lang="en-US" sz="1600" dirty="0"/>
          </a:p>
        </p:txBody>
      </p:sp>
      <p:sp>
        <p:nvSpPr>
          <p:cNvPr id="15" name="Text 12"/>
          <p:cNvSpPr txBox="1"/>
          <p:nvPr/>
        </p:nvSpPr>
        <p:spPr>
          <a:xfrm>
            <a:off x="4517136"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Verify in a copy of the commit</a:t>
            </a:r>
            <a:endParaRPr lang="en-US" sz="1250" dirty="0"/>
          </a:p>
        </p:txBody>
      </p:sp>
      <p:sp>
        <p:nvSpPr>
          <p:cNvPr id="16" name="Shape 13"/>
          <p:cNvSpPr/>
          <p:nvPr/>
        </p:nvSpPr>
        <p:spPr>
          <a:xfrm>
            <a:off x="4151376" y="2304288"/>
            <a:ext cx="228600" cy="914"/>
          </a:xfrm>
          <a:prstGeom prst="line">
            <a:avLst/>
          </a:prstGeom>
          <a:noFill/>
          <a:ln w="22225">
            <a:solidFill>
              <a:srgbClr val="A51C30"/>
            </a:solidFill>
            <a:prstDash val="solid"/>
            <a:tailEnd type="triangle"/>
          </a:ln>
        </p:spPr>
        <p:txBody>
          <a:bodyPr/>
          <a:p/>
        </p:txBody>
      </p:sp>
      <p:sp>
        <p:nvSpPr>
          <p:cNvPr id="17" name="Shape 14"/>
          <p:cNvSpPr/>
          <p:nvPr/>
        </p:nvSpPr>
        <p:spPr>
          <a:xfrm>
            <a:off x="6181344"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6318504"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19" name="Text 16"/>
          <p:cNvSpPr txBox="1"/>
          <p:nvPr/>
        </p:nvSpPr>
        <p:spPr>
          <a:xfrm>
            <a:off x="6318504"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Tests on parallel workers</a:t>
            </a:r>
            <a:endParaRPr lang="en-US" sz="1250" dirty="0"/>
          </a:p>
        </p:txBody>
      </p:sp>
      <p:sp>
        <p:nvSpPr>
          <p:cNvPr id="20" name="Shape 17"/>
          <p:cNvSpPr/>
          <p:nvPr/>
        </p:nvSpPr>
        <p:spPr>
          <a:xfrm>
            <a:off x="5952744" y="2304288"/>
            <a:ext cx="228600" cy="914"/>
          </a:xfrm>
          <a:prstGeom prst="line">
            <a:avLst/>
          </a:prstGeom>
          <a:noFill/>
          <a:ln w="22225">
            <a:solidFill>
              <a:srgbClr val="A51C30"/>
            </a:solidFill>
            <a:prstDash val="solid"/>
            <a:tailEnd type="triangle"/>
          </a:ln>
        </p:spPr>
        <p:txBody>
          <a:bodyPr/>
          <a:p/>
        </p:txBody>
      </p:sp>
      <p:sp>
        <p:nvSpPr>
          <p:cNvPr id="21" name="Shape 18"/>
          <p:cNvSpPr/>
          <p:nvPr/>
        </p:nvSpPr>
        <p:spPr>
          <a:xfrm>
            <a:off x="7982712"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8119872"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Tools</a:t>
            </a:r>
            <a:endParaRPr lang="en-US" sz="1600" dirty="0"/>
          </a:p>
        </p:txBody>
      </p:sp>
      <p:sp>
        <p:nvSpPr>
          <p:cNvPr id="23" name="Text 20"/>
          <p:cNvSpPr txBox="1"/>
          <p:nvPr/>
        </p:nvSpPr>
        <p:spPr>
          <a:xfrm>
            <a:off x="8119872"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CLI tests</a:t>
            </a:r>
            <a:endParaRPr lang="en-US" sz="1250" dirty="0"/>
          </a:p>
        </p:txBody>
      </p:sp>
      <p:sp>
        <p:nvSpPr>
          <p:cNvPr id="24" name="Shape 21"/>
          <p:cNvSpPr/>
          <p:nvPr/>
        </p:nvSpPr>
        <p:spPr>
          <a:xfrm>
            <a:off x="7754112" y="2304288"/>
            <a:ext cx="228600" cy="914"/>
          </a:xfrm>
          <a:prstGeom prst="line">
            <a:avLst/>
          </a:prstGeom>
          <a:noFill/>
          <a:ln w="22225">
            <a:solidFill>
              <a:srgbClr val="A51C30"/>
            </a:solidFill>
            <a:prstDash val="solid"/>
            <a:tailEnd type="triangle"/>
          </a:ln>
        </p:spPr>
        <p:txBody>
          <a:bodyPr/>
          <a:p/>
        </p:txBody>
      </p:sp>
      <p:sp>
        <p:nvSpPr>
          <p:cNvPr id="25" name="Shape 22"/>
          <p:cNvSpPr/>
          <p:nvPr/>
        </p:nvSpPr>
        <p:spPr>
          <a:xfrm>
            <a:off x="9784080" y="1554480"/>
            <a:ext cx="1572768" cy="150876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26" name="Text 23"/>
          <p:cNvSpPr txBox="1"/>
          <p:nvPr/>
        </p:nvSpPr>
        <p:spPr>
          <a:xfrm>
            <a:off x="992124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Push</a:t>
            </a:r>
            <a:endParaRPr lang="en-US" sz="1600" dirty="0"/>
          </a:p>
        </p:txBody>
      </p:sp>
      <p:sp>
        <p:nvSpPr>
          <p:cNvPr id="27" name="Text 24"/>
          <p:cNvSpPr txBox="1"/>
          <p:nvPr/>
        </p:nvSpPr>
        <p:spPr>
          <a:xfrm>
            <a:off x="992124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develop, then main</a:t>
            </a:r>
            <a:endParaRPr lang="en-US" sz="1250" dirty="0"/>
          </a:p>
        </p:txBody>
      </p:sp>
      <p:sp>
        <p:nvSpPr>
          <p:cNvPr id="28" name="Shape 25"/>
          <p:cNvSpPr/>
          <p:nvPr/>
        </p:nvSpPr>
        <p:spPr>
          <a:xfrm>
            <a:off x="9555480" y="2304288"/>
            <a:ext cx="228600" cy="914"/>
          </a:xfrm>
          <a:prstGeom prst="line">
            <a:avLst/>
          </a:prstGeom>
          <a:noFill/>
          <a:ln w="22225">
            <a:solidFill>
              <a:srgbClr val="A51C30"/>
            </a:solidFill>
            <a:prstDash val="solid"/>
            <a:tailEnd type="triangle"/>
          </a:ln>
        </p:spPr>
        <p:txBody>
          <a:bodyPr/>
          <a:p/>
        </p:txBody>
      </p:sp>
      <p:sp>
        <p:nvSpPr>
          <p:cNvPr id="29" name="Shape 26"/>
          <p:cNvSpPr/>
          <p:nvPr/>
        </p:nvSpPr>
        <p:spPr>
          <a:xfrm>
            <a:off x="777240" y="3337560"/>
            <a:ext cx="3410712" cy="1920240"/>
          </a:xfrm>
          <a:prstGeom prst="rect">
            <a:avLst/>
          </a:prstGeom>
          <a:solidFill>
            <a:srgbClr val="F7F5F2"/>
          </a:solidFill>
          <a:ln/>
        </p:spPr>
        <p:txBody>
          <a:bodyPr/>
          <a:p/>
        </p:txBody>
      </p:sp>
      <p:sp>
        <p:nvSpPr>
          <p:cNvPr id="30" name="Shape 27"/>
          <p:cNvSpPr/>
          <p:nvPr/>
        </p:nvSpPr>
        <p:spPr>
          <a:xfrm>
            <a:off x="777240" y="3337560"/>
            <a:ext cx="45720" cy="1920240"/>
          </a:xfrm>
          <a:prstGeom prst="rect">
            <a:avLst/>
          </a:prstGeom>
          <a:solidFill>
            <a:srgbClr val="A51C30"/>
          </a:solidFill>
          <a:ln/>
        </p:spPr>
        <p:txBody>
          <a:bodyPr/>
          <a:p/>
        </p:txBody>
      </p:sp>
      <p:sp>
        <p:nvSpPr>
          <p:cNvPr id="31" name="Text 28"/>
          <p:cNvSpPr txBox="1"/>
          <p:nvPr/>
        </p:nvSpPr>
        <p:spPr>
          <a:xfrm>
            <a:off x="97840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~1 hour</a:t>
            </a:r>
            <a:endParaRPr lang="en-US" sz="2600" dirty="0"/>
          </a:p>
        </p:txBody>
      </p:sp>
      <p:sp>
        <p:nvSpPr>
          <p:cNvPr id="32" name="Text 29"/>
          <p:cNvSpPr txBox="1"/>
          <p:nvPr/>
        </p:nvSpPr>
        <p:spPr>
          <a:xfrm>
            <a:off x="97840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A full drill: Java 21 verify, then Java 25, console and tools side by side</a:t>
            </a:r>
            <a:endParaRPr lang="en-US" sz="1300" dirty="0"/>
          </a:p>
        </p:txBody>
      </p:sp>
      <p:sp>
        <p:nvSpPr>
          <p:cNvPr id="33" name="Shape 30"/>
          <p:cNvSpPr/>
          <p:nvPr/>
        </p:nvSpPr>
        <p:spPr>
          <a:xfrm>
            <a:off x="4389120" y="3337560"/>
            <a:ext cx="3410712" cy="1920240"/>
          </a:xfrm>
          <a:prstGeom prst="rect">
            <a:avLst/>
          </a:prstGeom>
          <a:solidFill>
            <a:srgbClr val="F7F5F2"/>
          </a:solidFill>
          <a:ln/>
        </p:spPr>
        <p:txBody>
          <a:bodyPr/>
          <a:p/>
        </p:txBody>
      </p:sp>
      <p:sp>
        <p:nvSpPr>
          <p:cNvPr id="34" name="Shape 31"/>
          <p:cNvSpPr/>
          <p:nvPr/>
        </p:nvSpPr>
        <p:spPr>
          <a:xfrm>
            <a:off x="4389120" y="3337560"/>
            <a:ext cx="45720" cy="1920240"/>
          </a:xfrm>
          <a:prstGeom prst="rect">
            <a:avLst/>
          </a:prstGeom>
          <a:solidFill>
            <a:srgbClr val="A51C30"/>
          </a:solidFill>
          <a:ln/>
        </p:spPr>
        <p:txBody>
          <a:bodyPr/>
          <a:p/>
        </p:txBody>
      </p:sp>
      <p:sp>
        <p:nvSpPr>
          <p:cNvPr id="35" name="Text 32"/>
          <p:cNvSpPr txBox="1"/>
          <p:nvPr/>
        </p:nvSpPr>
        <p:spPr>
          <a:xfrm>
            <a:off x="459028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45</a:t>
            </a:r>
            <a:endParaRPr lang="en-US" sz="2600" dirty="0"/>
          </a:p>
        </p:txBody>
      </p:sp>
      <p:sp>
        <p:nvSpPr>
          <p:cNvPr id="36" name="Text 33"/>
          <p:cNvSpPr txBox="1"/>
          <p:nvPr/>
        </p:nvSpPr>
        <p:spPr>
          <a:xfrm>
            <a:off x="459028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Tagged releases, 30 September to 29 October 2026</a:t>
            </a:r>
            <a:endParaRPr lang="en-US" sz="1300" dirty="0"/>
          </a:p>
        </p:txBody>
      </p:sp>
      <p:sp>
        <p:nvSpPr>
          <p:cNvPr id="37" name="Shape 34"/>
          <p:cNvSpPr/>
          <p:nvPr/>
        </p:nvSpPr>
        <p:spPr>
          <a:xfrm>
            <a:off x="8001000" y="3337560"/>
            <a:ext cx="3410712" cy="1920240"/>
          </a:xfrm>
          <a:prstGeom prst="rect">
            <a:avLst/>
          </a:prstGeom>
          <a:solidFill>
            <a:srgbClr val="F7F5F2"/>
          </a:solidFill>
          <a:ln/>
        </p:spPr>
        <p:txBody>
          <a:bodyPr/>
          <a:p/>
        </p:txBody>
      </p:sp>
      <p:sp>
        <p:nvSpPr>
          <p:cNvPr id="38" name="Shape 35"/>
          <p:cNvSpPr/>
          <p:nvPr/>
        </p:nvSpPr>
        <p:spPr>
          <a:xfrm>
            <a:off x="8001000" y="3337560"/>
            <a:ext cx="45720" cy="1920240"/>
          </a:xfrm>
          <a:prstGeom prst="rect">
            <a:avLst/>
          </a:prstGeom>
          <a:solidFill>
            <a:srgbClr val="A51C30"/>
          </a:solidFill>
          <a:ln/>
        </p:spPr>
        <p:txBody>
          <a:bodyPr/>
          <a:p/>
        </p:txBody>
      </p:sp>
      <p:sp>
        <p:nvSpPr>
          <p:cNvPr id="39" name="Text 36"/>
          <p:cNvSpPr txBox="1"/>
          <p:nvPr/>
        </p:nvSpPr>
        <p:spPr>
          <a:xfrm>
            <a:off x="820216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2,471</a:t>
            </a:r>
            <a:endParaRPr lang="en-US" sz="2600" dirty="0"/>
          </a:p>
        </p:txBody>
      </p:sp>
      <p:sp>
        <p:nvSpPr>
          <p:cNvPr id="40" name="Text 37"/>
          <p:cNvSpPr txBox="1"/>
          <p:nvPr/>
        </p:nvSpPr>
        <p:spPr>
          <a:xfrm>
            <a:off x="820216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Commits, every push through the drill</a:t>
            </a:r>
            <a:endParaRPr lang="en-US" sz="1300" dirty="0"/>
          </a:p>
        </p:txBody>
      </p:sp>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failed test stops the push; a flaky one is retried once and written down — never ignored.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SIZE · GIT LS-FILES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Where the work is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7772400" y="1463040"/>
            <a:ext cx="3639312" cy="3931920"/>
          </a:xfrm>
          <a:prstGeom prst="rect">
            <a:avLst/>
          </a:prstGeom>
          <a:noFill/>
          <a:ln/>
        </p:spPr>
        <p:txBody>
          <a:bodyPr wrap="square" lIns="0" tIns="0" rIns="0" bIns="0" rtlCol="0" anchor="t"/>
          <a:lstStyle/>
          <a:p>
            <a:pPr indent="0" marL="0">
              <a:buNone/>
            </a:pPr>
            <a:r>
              <a:rPr lang="en-US" sz="1500" b="1" dirty="0">
                <a:solidFill>
                  <a:srgbClr val="A51C30"/>
                </a:solidFill>
              </a:rPr>
              <a:t>▪  193 guides and references</a:t>
            </a:r>
            <a:endParaRPr lang="en-US" sz="1500" dirty="0"/>
          </a:p>
          <a:p>
            <a:pPr indent="0" marL="0">
              <a:spcAft>
                <a:spcPts val="1000"/>
              </a:spcAft>
              <a:buNone/>
            </a:pPr>
            <a:r>
              <a:rPr lang="en-US" sz="1300" dirty="0">
                <a:solidFill>
                  <a:srgbClr val="4A5058"/>
                </a:solidFill>
              </a:rPr>
              <a:t>User, admin, CLI, BI, packs, connectors, Knowledge, 29 tutorials and 22 ADRs; 113 generated contract pages; two documents per measure.</a:t>
            </a:r>
            <a:endParaRPr lang="en-US" sz="1500" dirty="0"/>
          </a:p>
          <a:p>
            <a:pPr indent="0" marL="0">
              <a:buNone/>
            </a:pPr>
            <a:r>
              <a:rPr lang="en-US" sz="1500" b="1" dirty="0">
                <a:solidFill>
                  <a:srgbClr val="A51C30"/>
                </a:solidFill>
              </a:rPr>
              <a:t>▪  Every screen documented</a:t>
            </a:r>
            <a:endParaRPr lang="en-US" sz="1500" dirty="0"/>
          </a:p>
          <a:p>
            <a:pPr indent="0" marL="0">
              <a:spcAft>
                <a:spcPts val="1000"/>
              </a:spcAft>
              <a:buNone/>
            </a:pPr>
            <a:r>
              <a:rPr lang="en-US" sz="1300" dirty="0">
                <a:solidFill>
                  <a:srgbClr val="4A5058"/>
                </a:solidFill>
              </a:rPr>
              <a:t>Over 800 pictures under docs/, taken by scripts on the current UI over the demo lakes.</a:t>
            </a:r>
            <a:endParaRPr lang="en-US" sz="1500" dirty="0"/>
          </a:p>
          <a:p>
            <a:pPr indent="0" marL="0">
              <a:buNone/>
            </a:pPr>
            <a:r>
              <a:rPr lang="en-US" sz="1500" b="1" dirty="0">
                <a:solidFill>
                  <a:srgbClr val="A51C30"/>
                </a:solidFill>
              </a:rPr>
              <a:t>▪  21 modules, 19 plugins</a:t>
            </a:r>
            <a:endParaRPr lang="en-US" sz="1500" dirty="0"/>
          </a:p>
          <a:p>
            <a:pPr indent="0" marL="0">
              <a:spcAft>
                <a:spcPts val="1000"/>
              </a:spcAft>
              <a:buNone/>
            </a:pPr>
            <a:r>
              <a:rPr lang="en-US" sz="1300" dirty="0">
                <a:solidFill>
                  <a:srgbClr val="4A5058"/>
                </a:solidFill>
              </a:rPr>
              <a:t>Plus a server, integration tests and benchmarks; the risk engines in drishti-compute.</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12</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Where it is going</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ROADMAP · AS THE PLAN STATES IT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is built, planned and parked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4389120"/>
        </p:xfrm>
        <a:graphic>
          <a:graphicData uri="http://schemas.openxmlformats.org/drawingml/2006/table">
            <a:tbl>
              <a:tblPr/>
              <a:tblGrid>
                <a:gridCol w="2194560"/>
                <a:gridCol w="4937760"/>
                <a:gridCol w="3502152"/>
              </a:tblGrid>
              <a:tr h="548640">
                <a:tc>
                  <a:txBody>
                    <a:bodyPr/>
                    <a:lstStyle/>
                    <a:p>
                      <a:pPr indent="0" marL="0">
                        <a:buNone/>
                      </a:pPr>
                      <a:r>
                        <a:rPr lang="en-US" sz="1350" b="1" dirty="0">
                          <a:solidFill>
                            <a:srgbClr val="FFFFFF"/>
                          </a:solidFill>
                        </a:rPr>
                        <a:t>Item</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What it is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Status in the documents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48640">
                <a:tc>
                  <a:txBody>
                    <a:bodyPr/>
                    <a:lstStyle/>
                    <a:p>
                      <a:pPr indent="0" marL="0">
                        <a:buNone/>
                      </a:pPr>
                      <a:r>
                        <a:rPr lang="en-US" sz="1350" b="1" dirty="0">
                          <a:solidFill>
                            <a:srgbClr val="8A1626"/>
                          </a:solidFill>
                        </a:rPr>
                        <a:t>Today</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VaR and exposure computed for any scope, sharded across servers; Delta or Iceberg; the parallel loader; three editions and lenses; computed attributes; contracts, BI, Sutra Next, history; Arrow where measured faster</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48640">
                <a:tc>
                  <a:txBody>
                    <a:bodyPr/>
                    <a:lstStyle/>
                    <a:p>
                      <a:pPr indent="0" marL="0">
                        <a:buNone/>
                      </a:pPr>
                      <a:r>
                        <a:rPr lang="en-US" sz="1350" b="1" dirty="0">
                          <a:solidFill>
                            <a:srgbClr val="8A1626"/>
                          </a:solidFill>
                        </a:rPr>
                        <a:t>Risk next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Stressed and 10-day VaR with ES backtests; the 200K-position benchmark (one server against a sharded cluster)</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Planned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8A1626"/>
                          </a:solidFill>
                        </a:rPr>
                        <a:t>Screens next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 client-side renderer of the ViewModel; search drawn in the browser, its rows carried as Arrow</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Planned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48640">
                <a:tc>
                  <a:txBody>
                    <a:bodyPr/>
                    <a:lstStyle/>
                    <a:p>
                      <a:pPr indent="0" marL="0">
                        <a:buNone/>
                      </a:pPr>
                      <a:r>
                        <a:rPr lang="en-US" sz="1350" b="1" dirty="0">
                          <a:solidFill>
                            <a:srgbClr val="8A1626"/>
                          </a:solidFill>
                        </a:rPr>
                        <a:t>Lakes next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Delta↔Iceberg conversion; in-place Delta schema evolution; plain tables and Unity Catalog; the Glue and S3 Tables live runs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Planned; Glue not run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8A1626"/>
                          </a:solidFill>
                        </a:rPr>
                        <a:t>Trading and market risk</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Valuation totals, stress, FRTB, SIMM and P&amp;L explain computed for any scope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Parked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48640">
                <a:tc>
                  <a:txBody>
                    <a:bodyPr/>
                    <a:lstStyle/>
                    <a:p>
                      <a:pPr indent="0" marL="0">
                        <a:buNone/>
                      </a:pPr>
                      <a:r>
                        <a:rPr lang="en-US" sz="1350" b="1" dirty="0">
                          <a:solidFill>
                            <a:srgbClr val="8A1626"/>
                          </a:solidFill>
                        </a:rPr>
                        <a:t>Counterparty, balance sheet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Counterparty risk (SA-CCR, CVA, collateral, margin); balance sheet (large exposures, LCR, NSFR, IRRBB, IFRS 9)</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Parked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8A1626"/>
                          </a:solidFill>
                        </a:rPr>
                        <a:t>AI and GenUI</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Sajha MCP connector, AI management, screens composed from UI-kit docstrings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Parked until the balance-sheet measures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WHERE TO START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clone to a live view in about fifteen minutes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035040" cy="3931920"/>
          </a:xfrm>
          <a:prstGeom prst="rect">
            <a:avLst/>
          </a:prstGeom>
          <a:solidFill>
            <a:srgbClr val="1E1E24"/>
          </a:solidFill>
          <a:ln/>
        </p:spPr>
        <p:txBody>
          <a:bodyPr/>
          <a:p/>
        </p:txBody>
      </p:sp>
      <p:sp>
        <p:nvSpPr>
          <p:cNvPr id="7" name="Shape 4"/>
          <p:cNvSpPr/>
          <p:nvPr/>
        </p:nvSpPr>
        <p:spPr>
          <a:xfrm>
            <a:off x="777240" y="1417320"/>
            <a:ext cx="6035040" cy="384048"/>
          </a:xfrm>
          <a:prstGeom prst="rect">
            <a:avLst/>
          </a:prstGeom>
          <a:solidFill>
            <a:srgbClr val="8A1626"/>
          </a:solidFill>
          <a:ln/>
        </p:spPr>
        <p:txBody>
          <a:bodyPr/>
          <a:p/>
        </p:txBody>
      </p:sp>
      <p:sp>
        <p:nvSpPr>
          <p:cNvPr id="8" name="Text 5"/>
          <p:cNvSpPr txBox="1"/>
          <p:nvPr/>
        </p:nvSpPr>
        <p:spPr>
          <a:xfrm>
            <a:off x="960120" y="1417320"/>
            <a:ext cx="5669280" cy="384048"/>
          </a:xfrm>
          <a:prstGeom prst="rect">
            <a:avLst/>
          </a:prstGeom>
          <a:noFill/>
          <a:ln/>
        </p:spPr>
        <p:txBody>
          <a:bodyPr wrap="square" lIns="0" tIns="0" rIns="0" bIns="0" rtlCol="0" anchor="ctr"/>
          <a:lstStyle/>
          <a:p>
            <a:pPr indent="0" marL="0">
              <a:buNone/>
            </a:pPr>
            <a:r>
              <a:rPr lang="en-US" sz="1300" b="1" dirty="0">
                <a:solidFill>
                  <a:srgbClr val="FFFFFF"/>
                </a:solidFill>
              </a:rPr>
              <a:t>Seven commands</a:t>
            </a:r>
            <a:endParaRPr lang="en-US" sz="1300" dirty="0"/>
          </a:p>
        </p:txBody>
      </p:sp>
      <p:sp>
        <p:nvSpPr>
          <p:cNvPr id="9" name="Text 6"/>
          <p:cNvSpPr txBox="1"/>
          <p:nvPr/>
        </p:nvSpPr>
        <p:spPr>
          <a:xfrm>
            <a:off x="978408" y="1920240"/>
            <a:ext cx="5632704" cy="3319272"/>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./mvnw -q package -DskipTests -pl drishti-server -am</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venv --python 3.13 drishti-console/.venv</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pip install --python drishti-console/.venv/bin/python \</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-r drishti-console/requirements.txt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tools/drishti.py lake demo</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java -Djava.io.tmpdir=data/tmp/server -Xmx4g \</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-jar drishti-server/target/drishti-server-&lt;v&gt;-exec.jar</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drishti-console/run_drishti_web.py</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open :17480/t → TRD MX-20000001 &lt;GO&gt;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VAR BANK &lt;GO&gt;   EXP BANK &lt;GO&gt;</a:t>
            </a:r>
            <a:endParaRPr lang="en-US" sz="1250" dirty="0"/>
          </a:p>
        </p:txBody>
      </p:sp>
      <p:sp>
        <p:nvSpPr>
          <p:cNvPr id="10" name="Shape 7"/>
          <p:cNvSpPr/>
          <p:nvPr/>
        </p:nvSpPr>
        <p:spPr>
          <a:xfrm>
            <a:off x="7086600" y="141732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1" name="Text 8"/>
          <p:cNvSpPr txBox="1"/>
          <p:nvPr/>
        </p:nvSpPr>
        <p:spPr>
          <a:xfrm>
            <a:off x="7223760" y="152704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GETTING_STARTED</a:t>
            </a:r>
            <a:endParaRPr lang="en-US" sz="1500" dirty="0"/>
          </a:p>
        </p:txBody>
      </p:sp>
      <p:sp>
        <p:nvSpPr>
          <p:cNvPr id="12" name="Text 9"/>
          <p:cNvSpPr txBox="1"/>
          <p:nvPr/>
        </p:nvSpPr>
        <p:spPr>
          <a:xfrm>
            <a:off x="7223760" y="1874520"/>
            <a:ext cx="4050792" cy="347472"/>
          </a:xfrm>
          <a:prstGeom prst="rect">
            <a:avLst/>
          </a:prstGeom>
          <a:noFill/>
          <a:ln/>
        </p:spPr>
        <p:txBody>
          <a:bodyPr wrap="square" lIns="0" tIns="0" rIns="0" bIns="0" rtlCol="0" anchor="t"/>
          <a:lstStyle/>
          <a:p>
            <a:pPr indent="0" marL="0">
              <a:buNone/>
            </a:pPr>
            <a:r>
              <a:rPr lang="en-US" sz="1250" dirty="0">
                <a:solidFill>
                  <a:srgbClr val="4A5058"/>
                </a:solidFill>
              </a:rPr>
              <a:t>About 15 minutes: build, the demo lakes, a view</a:t>
            </a:r>
            <a:endParaRPr lang="en-US" sz="1250" dirty="0"/>
          </a:p>
        </p:txBody>
      </p:sp>
      <p:sp>
        <p:nvSpPr>
          <p:cNvPr id="13" name="Shape 10"/>
          <p:cNvSpPr/>
          <p:nvPr/>
        </p:nvSpPr>
        <p:spPr>
          <a:xfrm>
            <a:off x="7086600" y="242316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7223760" y="253288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IDE_GUIDE</a:t>
            </a:r>
            <a:endParaRPr lang="en-US" sz="1500" dirty="0"/>
          </a:p>
        </p:txBody>
      </p:sp>
      <p:sp>
        <p:nvSpPr>
          <p:cNvPr id="15" name="Text 12"/>
          <p:cNvSpPr txBox="1"/>
          <p:nvPr/>
        </p:nvSpPr>
        <p:spPr>
          <a:xfrm>
            <a:off x="7223760" y="2880360"/>
            <a:ext cx="4050792" cy="347472"/>
          </a:xfrm>
          <a:prstGeom prst="rect">
            <a:avLst/>
          </a:prstGeom>
          <a:noFill/>
          <a:ln/>
        </p:spPr>
        <p:txBody>
          <a:bodyPr wrap="square" lIns="0" tIns="0" rIns="0" bIns="0" rtlCol="0" anchor="t"/>
          <a:lstStyle/>
          <a:p>
            <a:pPr indent="0" marL="0">
              <a:buNone/>
            </a:pPr>
            <a:r>
              <a:rPr lang="en-US" sz="1250" dirty="0">
                <a:solidFill>
                  <a:srgbClr val="4A5058"/>
                </a:solidFill>
              </a:rPr>
              <a:t>Server in IntelliJ, console in PyCharm</a:t>
            </a:r>
            <a:endParaRPr lang="en-US" sz="1250" dirty="0"/>
          </a:p>
        </p:txBody>
      </p:sp>
      <p:sp>
        <p:nvSpPr>
          <p:cNvPr id="16" name="Shape 13"/>
          <p:cNvSpPr/>
          <p:nvPr/>
        </p:nvSpPr>
        <p:spPr>
          <a:xfrm>
            <a:off x="7086600" y="342900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7" name="Text 14"/>
          <p:cNvSpPr txBox="1"/>
          <p:nvPr/>
        </p:nvSpPr>
        <p:spPr>
          <a:xfrm>
            <a:off x="7223760" y="353872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CLI_GUIDE</a:t>
            </a:r>
            <a:endParaRPr lang="en-US" sz="1500" dirty="0"/>
          </a:p>
        </p:txBody>
      </p:sp>
      <p:sp>
        <p:nvSpPr>
          <p:cNvPr id="18" name="Text 15"/>
          <p:cNvSpPr txBox="1"/>
          <p:nvPr/>
        </p:nvSpPr>
        <p:spPr>
          <a:xfrm>
            <a:off x="7223760" y="3886200"/>
            <a:ext cx="4050792" cy="347472"/>
          </a:xfrm>
          <a:prstGeom prst="rect">
            <a:avLst/>
          </a:prstGeom>
          <a:noFill/>
          <a:ln/>
        </p:spPr>
        <p:txBody>
          <a:bodyPr wrap="square" lIns="0" tIns="0" rIns="0" bIns="0" rtlCol="0" anchor="t"/>
          <a:lstStyle/>
          <a:p>
            <a:pPr indent="0" marL="0">
              <a:buNone/>
            </a:pPr>
            <a:r>
              <a:rPr lang="en-US" sz="1250" dirty="0">
                <a:solidFill>
                  <a:srgbClr val="4A5058"/>
                </a:solidFill>
              </a:rPr>
              <a:t>pack make, history, var, exposure, convert</a:t>
            </a:r>
            <a:endParaRPr lang="en-US" sz="1250" dirty="0"/>
          </a:p>
        </p:txBody>
      </p:sp>
      <p:sp>
        <p:nvSpPr>
          <p:cNvPr id="19" name="Shape 16"/>
          <p:cNvSpPr/>
          <p:nvPr/>
        </p:nvSpPr>
        <p:spPr>
          <a:xfrm>
            <a:off x="7086600" y="443484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0" name="Text 17"/>
          <p:cNvSpPr txBox="1"/>
          <p:nvPr/>
        </p:nvSpPr>
        <p:spPr>
          <a:xfrm>
            <a:off x="7223760" y="454456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USER_GUIDE</a:t>
            </a:r>
            <a:endParaRPr lang="en-US" sz="1500" dirty="0"/>
          </a:p>
        </p:txBody>
      </p:sp>
      <p:sp>
        <p:nvSpPr>
          <p:cNvPr id="21" name="Text 18"/>
          <p:cNvSpPr txBox="1"/>
          <p:nvPr/>
        </p:nvSpPr>
        <p:spPr>
          <a:xfrm>
            <a:off x="7223760" y="4892040"/>
            <a:ext cx="4050792" cy="347472"/>
          </a:xfrm>
          <a:prstGeom prst="rect">
            <a:avLst/>
          </a:prstGeom>
          <a:noFill/>
          <a:ln/>
        </p:spPr>
        <p:txBody>
          <a:bodyPr wrap="square" lIns="0" tIns="0" rIns="0" bIns="0" rtlCol="0" anchor="t"/>
          <a:lstStyle/>
          <a:p>
            <a:pPr indent="0" marL="0">
              <a:buNone/>
            </a:pPr>
            <a:r>
              <a:rPr lang="en-US" sz="1250" dirty="0">
                <a:solidFill>
                  <a:srgbClr val="4A5058"/>
                </a:solidFill>
              </a:rPr>
              <a:t>Every page, every key; 29 tutorials beside it</a:t>
            </a:r>
            <a:endParaRPr lang="en-US" sz="1250" dirty="0"/>
          </a:p>
        </p:txBody>
      </p:sp>
      <p:sp>
        <p:nvSpPr>
          <p:cNvPr id="22" name="Shape 19"/>
          <p:cNvSpPr/>
          <p:nvPr/>
        </p:nvSpPr>
        <p:spPr>
          <a:xfrm>
            <a:off x="777240" y="5550408"/>
            <a:ext cx="10634472" cy="694944"/>
          </a:xfrm>
          <a:prstGeom prst="rect">
            <a:avLst/>
          </a:prstGeom>
          <a:solidFill>
            <a:srgbClr val="F6E6E9"/>
          </a:solidFill>
          <a:ln/>
        </p:spPr>
        <p:txBody>
          <a:bodyPr/>
          <a:p/>
        </p:txBody>
      </p:sp>
      <p:sp>
        <p:nvSpPr>
          <p:cNvPr id="23" name="Shape 20"/>
          <p:cNvSpPr/>
          <p:nvPr/>
        </p:nvSpPr>
        <p:spPr>
          <a:xfrm>
            <a:off x="777240" y="5550408"/>
            <a:ext cx="54864" cy="694944"/>
          </a:xfrm>
          <a:prstGeom prst="rect">
            <a:avLst/>
          </a:prstGeom>
          <a:solidFill>
            <a:srgbClr val="A51C30"/>
          </a:solidFill>
          <a:ln/>
        </p:spPr>
        <p:txBody>
          <a:bodyPr/>
          <a:p/>
        </p:txBody>
      </p:sp>
      <p:sp>
        <p:nvSpPr>
          <p:cNvPr id="24"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Start with your own JSON Lines: one pack make, one deploy, and your records have a terminal.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8" name="Text 6"/>
          <p:cNvSpPr txBox="1"/>
          <p:nvPr/>
        </p:nvSpPr>
        <p:spPr>
          <a:xfrm>
            <a:off x="1234440" y="493776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Ashutosh Sinha • October 2026</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pic>
        <p:nvPicPr>
          <p:cNvPr id="26" name="Drishti logo" descr="Drishti logo: an eye between curly brackets"/>
          <p:cNvPicPr>
            <a:picLocks noChangeAspect="1"/>
          </p:cNvPicPr>
          <p:nvPr/>
        </p:nvPicPr>
        <p:blipFill>
          <a:blip r:embed="rId3"/>
          <a:stretch>
            <a:fillRect/>
          </a:stretch>
        </p:blipFill>
        <p:spPr>
          <a:xfrm>
            <a:off x="4647575" y="1325880"/>
            <a:ext cx="2896819" cy="502920"/>
          </a:xfrm>
          <a:prstGeom prst="rect">
            <a:avLst/>
          </a:prstGeom>
        </p:spPr>
      </p:pic>
      <p:sp>
        <p:nvSpPr>
          <p:cNvPr id="27" name="Slogan"/>
          <p:cNvSpPr txBox="1"/>
          <p:nvPr/>
        </p:nvSpPr>
        <p:spPr>
          <a:xfrm>
            <a:off x="1234440" y="3822191"/>
            <a:ext cx="9720072" cy="502920"/>
          </a:xfrm>
          <a:prstGeom prst="rect">
            <a:avLst/>
          </a:prstGeom>
          <a:noFill/>
        </p:spPr>
        <p:txBody>
          <a:bodyPr wrap="square" lIns="0" rIns="0" tIns="0" bIns="0" anchor="ctr">
            <a:spAutoFit/>
          </a:bodyPr>
          <a:lstStyle/>
          <a:p>
            <a:pPr algn="ctr"/>
            <a:r>
              <a:rPr sz="2400" b="0" i="1">
                <a:solidFill>
                  <a:srgbClr val="F6E6E9"/>
                </a:solidFill>
              </a:rPr>
              <a:t>See what your data </a:t>
            </a:r>
            <a:r>
              <a:rPr sz="2400" b="0" i="1">
                <a:solidFill>
                  <a:srgbClr val="E39B2D"/>
                </a:solidFill>
              </a:rPr>
              <a:t>hasn't told you yet.</a:t>
            </a:r>
          </a:p>
        </p:txBody>
      </p:sp>
      <p:sp>
        <p:nvSpPr>
          <p:cNvPr id="28" name="Tagline"/>
          <p:cNvSpPr txBox="1"/>
          <p:nvPr/>
        </p:nvSpPr>
        <p:spPr>
          <a:xfrm>
            <a:off x="1234440" y="4389120"/>
            <a:ext cx="9720072" cy="274320"/>
          </a:xfrm>
          <a:prstGeom prst="rect">
            <a:avLst/>
          </a:prstGeom>
          <a:noFill/>
        </p:spPr>
        <p:txBody>
          <a:bodyPr wrap="square" lIns="0" rIns="0" tIns="0" bIns="0" anchor="ctr">
            <a:spAutoFit/>
          </a:bodyPr>
          <a:lstStyle/>
          <a:p>
            <a:pPr algn="ctr"/>
            <a:r>
              <a:rPr sz="1100" b="1" i="0" spc="300">
                <a:solidFill>
                  <a:srgbClr val="E39B2D"/>
                </a:solidFill>
              </a:rPr>
              <a:t>ANY DATA. ANY DOMAIN. ONE GRAMMAR.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04</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Editions and lenses</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05</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Data in, and the lakes</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06</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Screens, built without code</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07</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BI on the same data</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08</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Risk, computed on demand</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02</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How it works: the design</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11</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Operating it</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A</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Appendix: reference</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HISTORY QUERIES</a:t>
            </a:r>
          </a:p>
        </p:txBody>
      </p:sp>
      <p:sp>
        <p:nvSpPr>
          <p:cNvPr id="3" name="Title 2"/>
          <p:cNvSpPr>
            <a:spLocks noGrp="1"/>
          </p:cNvSpPr>
          <p:nvPr>
            <p:ph type="title" idx="104"/>
          </p:nvPr>
        </p:nvSpPr>
        <p:spPr/>
        <p:txBody>
          <a:bodyPr lIns="0" rIns="0" tIns="0" bIns="0" anchor="t"/>
          <a:lstStyle/>
          <a:p>
            <a:r>
              <a:t>Type a range after an id and see the entity over time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Trade history page" descr="02-trade-history.jpg"/>
          <p:cNvPicPr>
            <a:picLocks noChangeAspect="1"/>
          </p:cNvPicPr>
          <p:nvPr/>
        </p:nvPicPr>
        <p:blipFill>
          <a:blip r:embed="rId2"/>
          <a:stretch>
            <a:fillRect/>
          </a:stretch>
        </p:blipFill>
        <p:spPr>
          <a:xfrm>
            <a:off x="777240" y="1444752"/>
            <a:ext cx="6400800" cy="3931920"/>
          </a:xfrm>
          <a:prstGeom prst="rect">
            <a:avLst/>
          </a:prstGeom>
          <a:ln w="9525">
            <a:solidFill>
              <a:srgbClr val="CFC8BE"/>
            </a:solidFill>
          </a:ln>
        </p:spPr>
      </p:pic>
      <p:sp>
        <p:nvSpPr>
          <p:cNvPr id="27" name="TextBox 26"/>
          <p:cNvSpPr txBox="1"/>
          <p:nvPr/>
        </p:nvSpPr>
        <p:spPr>
          <a:xfrm>
            <a:off x="777240" y="5413248"/>
            <a:ext cx="6400800" cy="274320"/>
          </a:xfrm>
          <a:prstGeom prst="rect">
            <a:avLst/>
          </a:prstGeom>
          <a:noFill/>
        </p:spPr>
        <p:txBody>
          <a:bodyPr wrap="square" lIns="0" rIns="0" tIns="0" bIns="0" anchor="t">
            <a:spAutoFit/>
          </a:bodyPr>
          <a:lstStyle/>
          <a:p>
            <a:pPr algn="l"/>
            <a:r>
              <a:rPr sz="1050" b="0" i="1">
                <a:solidFill>
                  <a:srgbClr val="61666E"/>
                </a:solidFill>
              </a:rPr>
              <a:t>TRD 1000015 30: one row per business day, changed cells marked ▲/▼, restated days flagged (tutorial 21).</a:t>
            </a:r>
          </a:p>
        </p:txBody>
      </p:sp>
      <p:sp>
        <p:nvSpPr>
          <p:cNvPr id="28" name="Rectangle 27"/>
          <p:cNvSpPr/>
          <p:nvPr/>
        </p:nvSpPr>
        <p:spPr>
          <a:xfrm>
            <a:off x="7452360" y="1444752"/>
            <a:ext cx="3959352" cy="17830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7452360" y="1444752"/>
            <a:ext cx="3959352"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589520" y="1444752"/>
            <a:ext cx="3685032" cy="329184"/>
          </a:xfrm>
          <a:prstGeom prst="rect">
            <a:avLst/>
          </a:prstGeom>
          <a:noFill/>
        </p:spPr>
        <p:txBody>
          <a:bodyPr wrap="square" lIns="0" rIns="0" tIns="0" bIns="0" anchor="ctr">
            <a:spAutoFit/>
          </a:bodyPr>
          <a:lstStyle/>
          <a:p>
            <a:pPr algn="l"/>
            <a:r>
              <a:rPr sz="1150" b="1" i="0">
                <a:solidFill>
                  <a:srgbClr val="FFFFFF"/>
                </a:solidFill>
              </a:rPr>
              <a:t>One grammar, any range</a:t>
            </a:r>
          </a:p>
        </p:txBody>
      </p:sp>
      <p:sp>
        <p:nvSpPr>
          <p:cNvPr id="31" name="TextBox 30"/>
          <p:cNvSpPr txBox="1"/>
          <p:nvPr/>
        </p:nvSpPr>
        <p:spPr>
          <a:xfrm>
            <a:off x="7616952" y="1883664"/>
            <a:ext cx="3685032" cy="1280160"/>
          </a:xfrm>
          <a:prstGeom prst="rect">
            <a:avLst/>
          </a:prstGeom>
          <a:noFill/>
        </p:spPr>
        <p:txBody>
          <a:bodyPr wrap="square" lIns="0" rIns="0" tIns="0" bIns="0" anchor="t">
            <a:spAutoFit/>
          </a:bodyPr>
          <a:lstStyle/>
          <a:p>
            <a:pPr algn="l">
              <a:spcAft>
                <a:spcPts val="200"/>
              </a:spcAft>
            </a:pPr>
            <a:r>
              <a:rPr sz="1150" b="0" i="0">
                <a:solidFill>
                  <a:srgbClr val="F1EEE9"/>
                </a:solidFill>
                <a:latin typeface="Courier New"/>
              </a:rPr>
              <a:t>TRD 1000015 30</a:t>
            </a:r>
          </a:p>
          <a:p>
            <a:pPr algn="l">
              <a:spcAft>
                <a:spcPts val="200"/>
              </a:spcAft>
            </a:pPr>
            <a:r>
              <a:rPr sz="1150" b="0" i="0">
                <a:solidFill>
                  <a:srgbClr val="F1EEE9"/>
                </a:solidFill>
                <a:latin typeface="Courier New"/>
              </a:rPr>
              <a:t>TRD 1000015 3M DIFF</a:t>
            </a:r>
          </a:p>
          <a:p>
            <a:pPr algn="l">
              <a:spcAft>
                <a:spcPts val="200"/>
              </a:spcAft>
            </a:pPr>
            <a:r>
              <a:rPr sz="1150" b="0" i="0">
                <a:solidFill>
                  <a:srgbClr val="F1EEE9"/>
                </a:solidFill>
                <a:latin typeface="Courier New"/>
              </a:rPr>
              <a:t>TRD 1000015 FROM 2026-09-01 TO 2026-09-30</a:t>
            </a:r>
          </a:p>
          <a:p>
            <a:pPr algn="l">
              <a:spcAft>
                <a:spcPts val="200"/>
              </a:spcAft>
            </a:pPr>
            <a:r>
              <a:rPr sz="1150" b="0" i="0">
                <a:solidFill>
                  <a:srgbClr val="F1EEE9"/>
                </a:solidFill>
                <a:latin typeface="Courier New"/>
              </a:rPr>
              <a:t>trade 1000015 last month</a:t>
            </a:r>
          </a:p>
        </p:txBody>
      </p:sp>
      <p:sp>
        <p:nvSpPr>
          <p:cNvPr id="32" name="Rectangle 31"/>
          <p:cNvSpPr/>
          <p:nvPr/>
        </p:nvSpPr>
        <p:spPr>
          <a:xfrm>
            <a:off x="7452360" y="3364992"/>
            <a:ext cx="125882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7543800" y="3401568"/>
            <a:ext cx="1121664" cy="384048"/>
          </a:xfrm>
          <a:prstGeom prst="rect">
            <a:avLst/>
          </a:prstGeom>
          <a:noFill/>
        </p:spPr>
        <p:txBody>
          <a:bodyPr wrap="square" lIns="0" rIns="0" tIns="0" bIns="0" anchor="ctr">
            <a:spAutoFit/>
          </a:bodyPr>
          <a:lstStyle/>
          <a:p>
            <a:pPr algn="l"/>
            <a:r>
              <a:rPr sz="1900" b="1" i="0">
                <a:solidFill>
                  <a:srgbClr val="8A1626"/>
                </a:solidFill>
              </a:rPr>
              <a:t>13 ms</a:t>
            </a:r>
          </a:p>
        </p:txBody>
      </p:sp>
      <p:sp>
        <p:nvSpPr>
          <p:cNvPr id="34" name="TextBox 33"/>
          <p:cNvSpPr txBox="1"/>
          <p:nvPr/>
        </p:nvSpPr>
        <p:spPr>
          <a:xfrm>
            <a:off x="7543800" y="3785615"/>
            <a:ext cx="1121664" cy="585216"/>
          </a:xfrm>
          <a:prstGeom prst="rect">
            <a:avLst/>
          </a:prstGeom>
          <a:noFill/>
        </p:spPr>
        <p:txBody>
          <a:bodyPr wrap="square" lIns="0" rIns="0" tIns="0" bIns="0" anchor="t">
            <a:spAutoFit/>
          </a:bodyPr>
          <a:lstStyle/>
          <a:p>
            <a:pPr algn="l"/>
            <a:r>
              <a:rPr sz="1100" b="0" i="0">
                <a:solidFill>
                  <a:srgbClr val="4A5058"/>
                </a:solidFill>
              </a:rPr>
              <a:t>30 days of one trade among 10,000, cold</a:t>
            </a:r>
          </a:p>
        </p:txBody>
      </p:sp>
      <p:sp>
        <p:nvSpPr>
          <p:cNvPr id="35" name="Rectangle 34"/>
          <p:cNvSpPr/>
          <p:nvPr/>
        </p:nvSpPr>
        <p:spPr>
          <a:xfrm>
            <a:off x="8802624" y="3364992"/>
            <a:ext cx="125882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894064" y="3401568"/>
            <a:ext cx="1121664" cy="384048"/>
          </a:xfrm>
          <a:prstGeom prst="rect">
            <a:avLst/>
          </a:prstGeom>
          <a:noFill/>
        </p:spPr>
        <p:txBody>
          <a:bodyPr wrap="square" lIns="0" rIns="0" tIns="0" bIns="0" anchor="ctr">
            <a:spAutoFit/>
          </a:bodyPr>
          <a:lstStyle/>
          <a:p>
            <a:pPr algn="l"/>
            <a:r>
              <a:rPr sz="1900" b="1" i="0">
                <a:solidFill>
                  <a:srgbClr val="8A1626"/>
                </a:solidFill>
              </a:rPr>
              <a:t>&lt; 1 ms</a:t>
            </a:r>
          </a:p>
        </p:txBody>
      </p:sp>
      <p:sp>
        <p:nvSpPr>
          <p:cNvPr id="37" name="TextBox 36"/>
          <p:cNvSpPr txBox="1"/>
          <p:nvPr/>
        </p:nvSpPr>
        <p:spPr>
          <a:xfrm>
            <a:off x="8894064" y="3785615"/>
            <a:ext cx="1121664" cy="585216"/>
          </a:xfrm>
          <a:prstGeom prst="rect">
            <a:avLst/>
          </a:prstGeom>
          <a:noFill/>
        </p:spPr>
        <p:txBody>
          <a:bodyPr wrap="square" lIns="0" rIns="0" tIns="0" bIns="0" anchor="t">
            <a:spAutoFit/>
          </a:bodyPr>
          <a:lstStyle/>
          <a:p>
            <a:pPr algn="l"/>
            <a:r>
              <a:rPr sz="1100" b="0" i="0">
                <a:solidFill>
                  <a:srgbClr val="4A5058"/>
                </a:solidFill>
              </a:rPr>
              <a:t>the same, warm</a:t>
            </a:r>
          </a:p>
        </p:txBody>
      </p:sp>
      <p:sp>
        <p:nvSpPr>
          <p:cNvPr id="38" name="Rectangle 37"/>
          <p:cNvSpPr/>
          <p:nvPr/>
        </p:nvSpPr>
        <p:spPr>
          <a:xfrm>
            <a:off x="10152888" y="3364992"/>
            <a:ext cx="125882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10244328" y="3401568"/>
            <a:ext cx="1121664" cy="384048"/>
          </a:xfrm>
          <a:prstGeom prst="rect">
            <a:avLst/>
          </a:prstGeom>
          <a:noFill/>
        </p:spPr>
        <p:txBody>
          <a:bodyPr wrap="square" lIns="0" rIns="0" tIns="0" bIns="0" anchor="ctr">
            <a:spAutoFit/>
          </a:bodyPr>
          <a:lstStyle/>
          <a:p>
            <a:pPr algn="l"/>
            <a:r>
              <a:rPr sz="1900" b="1" i="0">
                <a:solidFill>
                  <a:srgbClr val="8A1626"/>
                </a:solidFill>
              </a:rPr>
              <a:t>0.3 ms</a:t>
            </a:r>
          </a:p>
        </p:txBody>
      </p:sp>
      <p:sp>
        <p:nvSpPr>
          <p:cNvPr id="40" name="TextBox 39"/>
          <p:cNvSpPr txBox="1"/>
          <p:nvPr/>
        </p:nvSpPr>
        <p:spPr>
          <a:xfrm>
            <a:off x="10244328" y="3785615"/>
            <a:ext cx="1121664" cy="585216"/>
          </a:xfrm>
          <a:prstGeom prst="rect">
            <a:avLst/>
          </a:prstGeom>
          <a:noFill/>
        </p:spPr>
        <p:txBody>
          <a:bodyPr wrap="square" lIns="0" rIns="0" tIns="0" bIns="0" anchor="t">
            <a:spAutoFit/>
          </a:bodyPr>
          <a:lstStyle/>
          <a:p>
            <a:pPr algn="l"/>
            <a:r>
              <a:rPr sz="1100" b="0" i="0">
                <a:solidFill>
                  <a:srgbClr val="4A5058"/>
                </a:solidFill>
              </a:rPr>
              <a:t>from the history cache</a:t>
            </a:r>
          </a:p>
        </p:txBody>
      </p:sp>
      <p:sp>
        <p:nvSpPr>
          <p:cNvPr id="41" name="TextBox 40"/>
          <p:cNvSpPr txBox="1"/>
          <p:nvPr/>
        </p:nvSpPr>
        <p:spPr>
          <a:xfrm>
            <a:off x="7452360" y="4526280"/>
            <a:ext cx="3959352" cy="914400"/>
          </a:xfrm>
          <a:prstGeom prst="rect">
            <a:avLst/>
          </a:prstGeom>
          <a:noFill/>
        </p:spPr>
        <p:txBody>
          <a:bodyPr wrap="square" lIns="0" rIns="0" tIns="0" bIns="0" anchor="t">
            <a:spAutoFit/>
          </a:bodyPr>
          <a:lstStyle/>
          <a:p>
            <a:pPr algn="l"/>
            <a:r>
              <a:rPr sz="1200" b="1" i="0">
                <a:solidFill>
                  <a:srgbClr val="8A1626"/>
                </a:solidFill>
              </a:rPr>
              <a:t>Generic: </a:t>
            </a:r>
            <a:r>
              <a:rPr sz="1200" b="0" i="0">
                <a:solidFill>
                  <a:srgbClr val="1A1A1A"/>
                </a:solidFill>
              </a:rPr>
              <a:t>any kind with dated data, no code per kind; fast paths on Delta, Iceberg, Redis, PostgreSQL, DuckDB, MongoDB, Aerospike and Cassandra; masks hold on every day's row.</a:t>
            </a:r>
          </a:p>
        </p:txBody>
      </p:sp>
      <p:sp>
        <p:nvSpPr>
          <p:cNvPr id="42" name="Rectangle 4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Across a cluster, a node reads an entity's days from the peer that holds them in one call, masked on both.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BI RUNS AND CHART ANY TABLE</a:t>
            </a:r>
          </a:p>
        </p:txBody>
      </p:sp>
      <p:sp>
        <p:nvSpPr>
          <p:cNvPr id="3" name="Title 2"/>
          <p:cNvSpPr>
            <a:spLocks noGrp="1"/>
          </p:cNvSpPr>
          <p:nvPr>
            <p:ph type="title" idx="104"/>
          </p:nvPr>
        </p:nvSpPr>
        <p:spPr/>
        <p:txBody>
          <a:bodyPr lIns="0" rIns="0" tIns="0" bIns="0" anchor="t"/>
          <a:lstStyle/>
          <a:p>
            <a:r>
              <a:t>Every heavy question is sized before it runs, then becomes a visible run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1920240" cy="11430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86968" y="1536192"/>
            <a:ext cx="1737360" cy="1051560"/>
          </a:xfrm>
          <a:prstGeom prst="rect">
            <a:avLst/>
          </a:prstGeom>
          <a:noFill/>
        </p:spPr>
        <p:txBody>
          <a:bodyPr wrap="square" lIns="0" rIns="0" tIns="0" bIns="0" anchor="t">
            <a:spAutoFit/>
          </a:bodyPr>
          <a:lstStyle/>
          <a:p>
            <a:pPr algn="l">
              <a:spcAft>
                <a:spcPts val="200"/>
              </a:spcAft>
            </a:pPr>
            <a:r>
              <a:rPr sz="1300" b="1" i="0">
                <a:solidFill>
                  <a:srgbClr val="8A1626"/>
                </a:solidFill>
              </a:rPr>
              <a:t>A question</a:t>
            </a:r>
          </a:p>
          <a:p>
            <a:pPr algn="l"/>
            <a:r>
              <a:rPr sz="1100" b="0" i="0">
                <a:solidFill>
                  <a:srgbClr val="4A5058"/>
                </a:solidFill>
              </a:rPr>
              <a:t>visual, MQ, SQL or statement; Prefer: respond-async</a:t>
            </a:r>
          </a:p>
        </p:txBody>
      </p:sp>
      <p:cxnSp>
        <p:nvCxnSpPr>
          <p:cNvPr id="28" name="Connector 27"/>
          <p:cNvCxnSpPr/>
          <p:nvPr/>
        </p:nvCxnSpPr>
        <p:spPr>
          <a:xfrm>
            <a:off x="2697480" y="2057400"/>
            <a:ext cx="365760"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3240" y="1481328"/>
            <a:ext cx="2286000" cy="114300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172968" y="1536192"/>
            <a:ext cx="2103120" cy="1051560"/>
          </a:xfrm>
          <a:prstGeom prst="rect">
            <a:avLst/>
          </a:prstGeom>
          <a:noFill/>
        </p:spPr>
        <p:txBody>
          <a:bodyPr wrap="square" lIns="0" rIns="0" tIns="0" bIns="0" anchor="t">
            <a:spAutoFit/>
          </a:bodyPr>
          <a:lstStyle/>
          <a:p>
            <a:pPr algn="l">
              <a:spcAft>
                <a:spcPts val="200"/>
              </a:spcAft>
            </a:pPr>
            <a:r>
              <a:rPr sz="1300" b="1" i="0">
                <a:solidFill>
                  <a:srgbClr val="8A1626"/>
                </a:solidFill>
              </a:rPr>
              <a:t>The planner</a:t>
            </a:r>
          </a:p>
          <a:p>
            <a:pPr algn="l"/>
            <a:r>
              <a:rPr sz="1100" b="0" i="0">
                <a:solidFill>
                  <a:srgbClr val="1A1A1A"/>
                </a:solidFill>
              </a:rPr>
              <a:t>sizes it from metadata only: Delta row counts, Iceberg manifests, built layers</a:t>
            </a:r>
          </a:p>
        </p:txBody>
      </p:sp>
      <p:cxnSp>
        <p:nvCxnSpPr>
          <p:cNvPr id="31" name="Connector 30"/>
          <p:cNvCxnSpPr/>
          <p:nvPr/>
        </p:nvCxnSpPr>
        <p:spPr>
          <a:xfrm flipV="1">
            <a:off x="5349240" y="1746504"/>
            <a:ext cx="347472" cy="310896"/>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696712" y="1481328"/>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788152" y="1499616"/>
            <a:ext cx="2011680" cy="493775"/>
          </a:xfrm>
          <a:prstGeom prst="rect">
            <a:avLst/>
          </a:prstGeom>
          <a:noFill/>
        </p:spPr>
        <p:txBody>
          <a:bodyPr wrap="square" lIns="0" rIns="0" tIns="0" bIns="0" anchor="ctr">
            <a:spAutoFit/>
          </a:bodyPr>
          <a:lstStyle/>
          <a:p>
            <a:pPr algn="l"/>
            <a:r>
              <a:rPr sz="1200" b="1" i="0">
                <a:solidFill>
                  <a:srgbClr val="A51C30"/>
                </a:solidFill>
              </a:rPr>
              <a:t>Cheap  </a:t>
            </a:r>
            <a:r>
              <a:rPr sz="1050" b="0" i="0">
                <a:solidFill>
                  <a:srgbClr val="1A1A1A"/>
                </a:solidFill>
              </a:rPr>
              <a:t>answered at once, as before</a:t>
            </a:r>
          </a:p>
        </p:txBody>
      </p:sp>
      <p:cxnSp>
        <p:nvCxnSpPr>
          <p:cNvPr id="34" name="Connector 33"/>
          <p:cNvCxnSpPr/>
          <p:nvPr/>
        </p:nvCxnSpPr>
        <p:spPr>
          <a:xfrm>
            <a:off x="5349240" y="2057400"/>
            <a:ext cx="347472" cy="292608"/>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5696712" y="2084832"/>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5788152" y="2103120"/>
            <a:ext cx="2011680" cy="493775"/>
          </a:xfrm>
          <a:prstGeom prst="rect">
            <a:avLst/>
          </a:prstGeom>
          <a:noFill/>
        </p:spPr>
        <p:txBody>
          <a:bodyPr wrap="square" lIns="0" rIns="0" tIns="0" bIns="0" anchor="ctr">
            <a:spAutoFit/>
          </a:bodyPr>
          <a:lstStyle/>
          <a:p>
            <a:pPr algn="l"/>
            <a:r>
              <a:rPr sz="1200" b="1" i="0">
                <a:solidFill>
                  <a:srgbClr val="A51C30"/>
                </a:solidFill>
              </a:rPr>
              <a:t>Heavy  </a:t>
            </a:r>
            <a:r>
              <a:rPr sz="1050" b="0" i="0">
                <a:solidFill>
                  <a:srgbClr val="1A1A1A"/>
                </a:solidFill>
              </a:rPr>
              <a:t>a run: Runs tab, bell when it ends, share, export, schedule</a:t>
            </a:r>
          </a:p>
        </p:txBody>
      </p:sp>
      <p:cxnSp>
        <p:nvCxnSpPr>
          <p:cNvPr id="37" name="Connector 36"/>
          <p:cNvCxnSpPr/>
          <p:nvPr/>
        </p:nvCxnSpPr>
        <p:spPr>
          <a:xfrm>
            <a:off x="5349240" y="2057400"/>
            <a:ext cx="347472" cy="89611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5696712" y="2688336"/>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5788152" y="2706624"/>
            <a:ext cx="2011680" cy="493775"/>
          </a:xfrm>
          <a:prstGeom prst="rect">
            <a:avLst/>
          </a:prstGeom>
          <a:noFill/>
        </p:spPr>
        <p:txBody>
          <a:bodyPr wrap="square" lIns="0" rIns="0" tIns="0" bIns="0" anchor="ctr">
            <a:spAutoFit/>
          </a:bodyPr>
          <a:lstStyle/>
          <a:p>
            <a:pPr algn="l"/>
            <a:r>
              <a:rPr sz="1200" b="1" i="0">
                <a:solidFill>
                  <a:srgbClr val="A51C30"/>
                </a:solidFill>
              </a:rPr>
              <a:t>Very heavy  </a:t>
            </a:r>
            <a:r>
              <a:rPr sz="1050" b="0" i="0">
                <a:solidFill>
                  <a:srgbClr val="1A1A1A"/>
                </a:solidFill>
              </a:rPr>
              <a:t>asks to confirm first</a:t>
            </a:r>
          </a:p>
        </p:txBody>
      </p:sp>
      <p:cxnSp>
        <p:nvCxnSpPr>
          <p:cNvPr id="40" name="Connector 39"/>
          <p:cNvCxnSpPr/>
          <p:nvPr/>
        </p:nvCxnSpPr>
        <p:spPr>
          <a:xfrm>
            <a:off x="5349240" y="2057400"/>
            <a:ext cx="347472" cy="1499615"/>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96712" y="3291839"/>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5788152" y="3310127"/>
            <a:ext cx="2011680" cy="493775"/>
          </a:xfrm>
          <a:prstGeom prst="rect">
            <a:avLst/>
          </a:prstGeom>
          <a:noFill/>
        </p:spPr>
        <p:txBody>
          <a:bodyPr wrap="square" lIns="0" rIns="0" tIns="0" bIns="0" anchor="ctr">
            <a:spAutoFit/>
          </a:bodyPr>
          <a:lstStyle/>
          <a:p>
            <a:pPr algn="l"/>
            <a:r>
              <a:rPr sz="1200" b="1" i="0">
                <a:solidFill>
                  <a:srgbClr val="A51C30"/>
                </a:solidFill>
              </a:rPr>
              <a:t>Impossible  </a:t>
            </a:r>
            <a:r>
              <a:rPr sz="1050" b="0" i="0">
                <a:solidFill>
                  <a:srgbClr val="1A1A1A"/>
                </a:solidFill>
              </a:rPr>
              <a:t>refused before anything runs (DRS-9029)</a:t>
            </a:r>
          </a:p>
        </p:txBody>
      </p:sp>
      <p:sp>
        <p:nvSpPr>
          <p:cNvPr id="43" name="TextBox 42"/>
          <p:cNvSpPr txBox="1"/>
          <p:nvPr/>
        </p:nvSpPr>
        <p:spPr>
          <a:xfrm>
            <a:off x="777240" y="3977639"/>
            <a:ext cx="7040880" cy="155448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300" b="1" i="0">
                <a:solidFill>
                  <a:srgbClr val="8A1626"/>
                </a:solidFill>
              </a:rPr>
              <a:t>Fewer duplicate runs</a:t>
            </a:r>
          </a:p>
          <a:p>
            <a:pPr marL="164592" indent="0">
              <a:spcAft>
                <a:spcPts val="400"/>
              </a:spcAft>
            </a:pPr>
            <a:r>
              <a:rPr sz="1150" b="0" i="0">
                <a:solidFill>
                  <a:srgbClr val="1A1A1A"/>
                </a:solidFill>
              </a:rPr>
              <a:t>An identical question joins the run already going; a finished answer is reused while the data is unchanged.</a:t>
            </a:r>
          </a:p>
          <a:p>
            <a:pPr marL="164592" indent="-164592">
              <a:spcAft>
                <a:spcPts val="100"/>
              </a:spcAft>
              <a:buClr>
                <a:srgbClr val="A51C30"/>
              </a:buClr>
              <a:buSzPct val="100000"/>
              <a:buFont typeface="Arial"/>
              <a:buChar char="▪"/>
            </a:pPr>
            <a:r>
              <a:rPr sz="1300" b="1" i="0">
                <a:solidFill>
                  <a:srgbClr val="8A1626"/>
                </a:solidFill>
              </a:rPr>
              <a:t>Masks hold</a:t>
            </a:r>
          </a:p>
          <a:p>
            <a:pPr marL="164592" indent="0">
              <a:spcAft>
                <a:spcPts val="400"/>
              </a:spcAft>
            </a:pPr>
            <a:r>
              <a:rPr sz="1150" b="0" i="0">
                <a:solidFill>
                  <a:srgbClr val="1A1A1A"/>
                </a:solidFill>
              </a:rPr>
              <a:t>A run computes as its runner; a shared run is the same, re-masked or recomputed as the recipient, decided at every read.</a:t>
            </a:r>
          </a:p>
        </p:txBody>
      </p:sp>
      <p:pic>
        <p:nvPicPr>
          <p:cNvPr id="44" name="Chart any table" descr="donut-terminal.png"/>
          <p:cNvPicPr>
            <a:picLocks noChangeAspect="1"/>
          </p:cNvPicPr>
          <p:nvPr/>
        </p:nvPicPr>
        <p:blipFill>
          <a:blip r:embed="rId2"/>
          <a:stretch>
            <a:fillRect/>
          </a:stretch>
        </p:blipFill>
        <p:spPr>
          <a:xfrm>
            <a:off x="8092440" y="1492395"/>
            <a:ext cx="3319272" cy="1852384"/>
          </a:xfrm>
          <a:prstGeom prst="rect">
            <a:avLst/>
          </a:prstGeom>
          <a:ln w="9525">
            <a:solidFill>
              <a:srgbClr val="CFC8BE"/>
            </a:solidFill>
          </a:ln>
        </p:spPr>
      </p:pic>
      <p:sp>
        <p:nvSpPr>
          <p:cNvPr id="45" name="TextBox 44"/>
          <p:cNvSpPr txBox="1"/>
          <p:nvPr/>
        </p:nvSpPr>
        <p:spPr>
          <a:xfrm>
            <a:off x="8092440" y="3429000"/>
            <a:ext cx="3319272" cy="2103120"/>
          </a:xfrm>
          <a:prstGeom prst="rect">
            <a:avLst/>
          </a:prstGeom>
          <a:noFill/>
        </p:spPr>
        <p:txBody>
          <a:bodyPr wrap="square" lIns="0" rIns="0" tIns="0" bIns="0" anchor="t">
            <a:spAutoFit/>
          </a:bodyPr>
          <a:lstStyle/>
          <a:p>
            <a:pPr algn="l">
              <a:spcAft>
                <a:spcPts val="200"/>
              </a:spcAft>
            </a:pPr>
            <a:r>
              <a:rPr sz="1300" b="1" i="0">
                <a:solidFill>
                  <a:srgbClr val="8A1626"/>
                </a:solidFill>
              </a:rPr>
              <a:t>Chart any table</a:t>
            </a:r>
          </a:p>
          <a:p>
            <a:pPr algn="l">
              <a:spcAft>
                <a:spcPts val="600"/>
              </a:spcAft>
            </a:pPr>
            <a:r>
              <a:rPr sz="1150" b="0" i="0">
                <a:solidFill>
                  <a:srgbClr val="1A1A1A"/>
                </a:solidFill>
              </a:rPr>
              <a:t>K on view tables, searches, pick lists, admin lists, history and BI tables: six types, Top N, stacking, two axes; PNG, SVG, CSV, Excel. Masked columns are never plotted.</a:t>
            </a:r>
          </a:p>
          <a:p>
            <a:pPr algn="l"/>
            <a:r>
              <a:rPr sz="1300" b="1" i="0">
                <a:solidFill>
                  <a:srgbClr val="A51C30"/>
                </a:solidFill>
              </a:rPr>
              <a:t>0 </a:t>
            </a:r>
            <a:r>
              <a:rPr sz="1150" b="0" i="0">
                <a:solidFill>
                  <a:srgbClr val="1A1A1A"/>
                </a:solidFill>
              </a:rPr>
              <a:t>connector reads to size a question (RunPlannerTest)</a:t>
            </a:r>
          </a:p>
        </p:txBody>
      </p:sp>
      <p:sp>
        <p:nvSpPr>
          <p:cNvPr id="46" name="Rectangle 45"/>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Refusing a year of raw trades costs a log read, not a year of builds — and an interactive slot is never held.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DELTA AND ICEBERG SIDE BY SIDE</a:t>
            </a:r>
          </a:p>
        </p:txBody>
      </p:sp>
      <p:sp>
        <p:nvSpPr>
          <p:cNvPr id="3" name="Title 2"/>
          <p:cNvSpPr>
            <a:spLocks noGrp="1"/>
          </p:cNvSpPr>
          <p:nvPr>
            <p:ph type="title" idx="104"/>
          </p:nvPr>
        </p:nvSpPr>
        <p:spPr/>
        <p:txBody>
          <a:bodyPr lIns="0" rIns="0" tIns="0" bIns="0" anchor="t"/>
          <a:lstStyle/>
          <a:p>
            <a:r>
              <a:t>Each system's trades in Delta or Iceberg — the same answers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5120640" cy="105156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512064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4846320" cy="329184"/>
          </a:xfrm>
          <a:prstGeom prst="rect">
            <a:avLst/>
          </a:prstGeom>
          <a:noFill/>
        </p:spPr>
        <p:txBody>
          <a:bodyPr wrap="square" lIns="0" rIns="0" tIns="0" bIns="0" anchor="ctr">
            <a:spAutoFit/>
          </a:bodyPr>
          <a:lstStyle/>
          <a:p>
            <a:pPr algn="l"/>
            <a:r>
              <a:rPr sz="1150" b="1" i="0">
                <a:solidFill>
                  <a:srgbClr val="FFFFFF"/>
                </a:solidFill>
              </a:rPr>
              <a:t>One switch per source system</a:t>
            </a:r>
          </a:p>
        </p:txBody>
      </p:sp>
      <p:sp>
        <p:nvSpPr>
          <p:cNvPr id="29" name="TextBox 28"/>
          <p:cNvSpPr txBox="1"/>
          <p:nvPr/>
        </p:nvSpPr>
        <p:spPr>
          <a:xfrm>
            <a:off x="941832" y="1901952"/>
            <a:ext cx="4846320" cy="548639"/>
          </a:xfrm>
          <a:prstGeom prst="rect">
            <a:avLst/>
          </a:prstGeom>
          <a:noFill/>
        </p:spPr>
        <p:txBody>
          <a:bodyPr wrap="square" lIns="0" rIns="0" tIns="0" bIns="0" anchor="t">
            <a:spAutoFit/>
          </a:bodyPr>
          <a:lstStyle/>
          <a:p>
            <a:pPr algn="l">
              <a:spcAft>
                <a:spcPts val="200"/>
              </a:spcAft>
            </a:pPr>
            <a:r>
              <a:rPr sz="1100" b="0" i="0">
                <a:solidFill>
                  <a:srgbClr val="F1EEE9"/>
                </a:solidFill>
                <a:latin typeface="Courier New"/>
              </a:rPr>
              <a:t>build_demo_lakes.py --store endur=delta \</a:t>
            </a:r>
          </a:p>
          <a:p>
            <a:pPr algn="l">
              <a:spcAft>
                <a:spcPts val="200"/>
              </a:spcAft>
            </a:pPr>
            <a:r>
              <a:rPr sz="1100" b="0" i="0">
                <a:solidFill>
                  <a:srgbClr val="F1EEE9"/>
                </a:solidFill>
                <a:latin typeface="Courier New"/>
              </a:rPr>
              <a:t>    --store calypso=iceberg --store murex=iceberg</a:t>
            </a:r>
          </a:p>
        </p:txBody>
      </p:sp>
      <p:sp>
        <p:nvSpPr>
          <p:cNvPr id="30" name="Rectangle 29"/>
          <p:cNvSpPr/>
          <p:nvPr/>
        </p:nvSpPr>
        <p:spPr>
          <a:xfrm>
            <a:off x="777240" y="2743200"/>
            <a:ext cx="1325880" cy="54864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77240" y="2743200"/>
            <a:ext cx="1325880" cy="548640"/>
          </a:xfrm>
          <a:prstGeom prst="rect">
            <a:avLst/>
          </a:prstGeom>
          <a:noFill/>
        </p:spPr>
        <p:txBody>
          <a:bodyPr wrap="square" lIns="0" rIns="0" tIns="0" bIns="0" anchor="ctr">
            <a:spAutoFit/>
          </a:bodyPr>
          <a:lstStyle/>
          <a:p>
            <a:pPr algn="ctr"/>
            <a:r>
              <a:rPr sz="1200" b="1" i="0">
                <a:solidFill>
                  <a:srgbClr val="FFFFFF"/>
                </a:solidFill>
              </a:rPr>
              <a:t>ENDUR</a:t>
            </a:r>
          </a:p>
        </p:txBody>
      </p:sp>
      <p:cxnSp>
        <p:nvCxnSpPr>
          <p:cNvPr id="32" name="Connector 31"/>
          <p:cNvCxnSpPr/>
          <p:nvPr/>
        </p:nvCxnSpPr>
        <p:spPr>
          <a:xfrm>
            <a:off x="2103120" y="3017520"/>
            <a:ext cx="32004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2423160" y="2743200"/>
            <a:ext cx="160020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2468880" y="2743200"/>
            <a:ext cx="1508760" cy="548640"/>
          </a:xfrm>
          <a:prstGeom prst="rect">
            <a:avLst/>
          </a:prstGeom>
          <a:noFill/>
        </p:spPr>
        <p:txBody>
          <a:bodyPr wrap="square" lIns="0" rIns="0" tIns="0" bIns="0" anchor="ctr">
            <a:spAutoFit/>
          </a:bodyPr>
          <a:lstStyle/>
          <a:p>
            <a:pPr algn="ctr"/>
            <a:r>
              <a:rPr sz="1150" b="1" i="0">
                <a:solidFill>
                  <a:srgbClr val="8A1626"/>
                </a:solidFill>
              </a:rPr>
              <a:t>Delta Lake</a:t>
            </a:r>
          </a:p>
          <a:p>
            <a:pPr algn="ctr"/>
            <a:r>
              <a:rPr sz="1000" b="0" i="0">
                <a:solidFill>
                  <a:srgbClr val="4A5058"/>
                </a:solidFill>
              </a:rPr>
              <a:t>delta connector</a:t>
            </a:r>
          </a:p>
        </p:txBody>
      </p:sp>
      <p:cxnSp>
        <p:nvCxnSpPr>
          <p:cNvPr id="35" name="Connector 34"/>
          <p:cNvCxnSpPr/>
          <p:nvPr/>
        </p:nvCxnSpPr>
        <p:spPr>
          <a:xfrm>
            <a:off x="4023359" y="3017520"/>
            <a:ext cx="365761" cy="713232"/>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3456432"/>
            <a:ext cx="1325880" cy="54864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777240" y="3456432"/>
            <a:ext cx="1325880" cy="548640"/>
          </a:xfrm>
          <a:prstGeom prst="rect">
            <a:avLst/>
          </a:prstGeom>
          <a:noFill/>
        </p:spPr>
        <p:txBody>
          <a:bodyPr wrap="square" lIns="0" rIns="0" tIns="0" bIns="0" anchor="ctr">
            <a:spAutoFit/>
          </a:bodyPr>
          <a:lstStyle/>
          <a:p>
            <a:pPr algn="ctr"/>
            <a:r>
              <a:rPr sz="1200" b="1" i="0">
                <a:solidFill>
                  <a:srgbClr val="FFFFFF"/>
                </a:solidFill>
              </a:rPr>
              <a:t>CALYPSO</a:t>
            </a:r>
          </a:p>
        </p:txBody>
      </p:sp>
      <p:cxnSp>
        <p:nvCxnSpPr>
          <p:cNvPr id="38" name="Connector 37"/>
          <p:cNvCxnSpPr/>
          <p:nvPr/>
        </p:nvCxnSpPr>
        <p:spPr>
          <a:xfrm>
            <a:off x="2103120" y="3730752"/>
            <a:ext cx="32004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423160" y="3456432"/>
            <a:ext cx="1600200" cy="548640"/>
          </a:xfrm>
          <a:prstGeom prst="rect">
            <a:avLst/>
          </a:prstGeom>
          <a:solidFill>
            <a:srgbClr val="FFFFFF"/>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2468880" y="3456432"/>
            <a:ext cx="1508760" cy="548640"/>
          </a:xfrm>
          <a:prstGeom prst="rect">
            <a:avLst/>
          </a:prstGeom>
          <a:noFill/>
        </p:spPr>
        <p:txBody>
          <a:bodyPr wrap="square" lIns="0" rIns="0" tIns="0" bIns="0" anchor="ctr">
            <a:spAutoFit/>
          </a:bodyPr>
          <a:lstStyle/>
          <a:p>
            <a:pPr algn="ctr"/>
            <a:r>
              <a:rPr sz="1150" b="1" i="0">
                <a:solidFill>
                  <a:srgbClr val="8A1626"/>
                </a:solidFill>
              </a:rPr>
              <a:t>Apache Iceberg</a:t>
            </a:r>
          </a:p>
          <a:p>
            <a:pPr algn="ctr"/>
            <a:r>
              <a:rPr sz="1000" b="0" i="0">
                <a:solidFill>
                  <a:srgbClr val="4A5058"/>
                </a:solidFill>
              </a:rPr>
              <a:t>iceberg connector</a:t>
            </a:r>
          </a:p>
        </p:txBody>
      </p:sp>
      <p:cxnSp>
        <p:nvCxnSpPr>
          <p:cNvPr id="41" name="Connector 40"/>
          <p:cNvCxnSpPr/>
          <p:nvPr/>
        </p:nvCxnSpPr>
        <p:spPr>
          <a:xfrm>
            <a:off x="4023359" y="3730752"/>
            <a:ext cx="365761" cy="0"/>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4169664"/>
            <a:ext cx="1325880" cy="54864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777240" y="4169664"/>
            <a:ext cx="1325880" cy="548640"/>
          </a:xfrm>
          <a:prstGeom prst="rect">
            <a:avLst/>
          </a:prstGeom>
          <a:noFill/>
        </p:spPr>
        <p:txBody>
          <a:bodyPr wrap="square" lIns="0" rIns="0" tIns="0" bIns="0" anchor="ctr">
            <a:spAutoFit/>
          </a:bodyPr>
          <a:lstStyle/>
          <a:p>
            <a:pPr algn="ctr"/>
            <a:r>
              <a:rPr sz="1200" b="1" i="0">
                <a:solidFill>
                  <a:srgbClr val="FFFFFF"/>
                </a:solidFill>
              </a:rPr>
              <a:t>MUREX</a:t>
            </a:r>
          </a:p>
        </p:txBody>
      </p:sp>
      <p:cxnSp>
        <p:nvCxnSpPr>
          <p:cNvPr id="44" name="Connector 43"/>
          <p:cNvCxnSpPr/>
          <p:nvPr/>
        </p:nvCxnSpPr>
        <p:spPr>
          <a:xfrm>
            <a:off x="2103120" y="4443984"/>
            <a:ext cx="32004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2423160" y="4169664"/>
            <a:ext cx="1600200" cy="548640"/>
          </a:xfrm>
          <a:prstGeom prst="rect">
            <a:avLst/>
          </a:prstGeom>
          <a:solidFill>
            <a:srgbClr val="FFFFFF"/>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2468880" y="4169664"/>
            <a:ext cx="1508760" cy="548640"/>
          </a:xfrm>
          <a:prstGeom prst="rect">
            <a:avLst/>
          </a:prstGeom>
          <a:noFill/>
        </p:spPr>
        <p:txBody>
          <a:bodyPr wrap="square" lIns="0" rIns="0" tIns="0" bIns="0" anchor="ctr">
            <a:spAutoFit/>
          </a:bodyPr>
          <a:lstStyle/>
          <a:p>
            <a:pPr algn="ctr"/>
            <a:r>
              <a:rPr sz="1150" b="1" i="0">
                <a:solidFill>
                  <a:srgbClr val="8A1626"/>
                </a:solidFill>
              </a:rPr>
              <a:t>Apache Iceberg</a:t>
            </a:r>
          </a:p>
          <a:p>
            <a:pPr algn="ctr"/>
            <a:r>
              <a:rPr sz="1000" b="0" i="0">
                <a:solidFill>
                  <a:srgbClr val="4A5058"/>
                </a:solidFill>
              </a:rPr>
              <a:t>iceberg connector</a:t>
            </a:r>
          </a:p>
        </p:txBody>
      </p:sp>
      <p:cxnSp>
        <p:nvCxnSpPr>
          <p:cNvPr id="47" name="Connector 46"/>
          <p:cNvCxnSpPr/>
          <p:nvPr/>
        </p:nvCxnSpPr>
        <p:spPr>
          <a:xfrm flipV="1">
            <a:off x="4023359" y="3730752"/>
            <a:ext cx="365761" cy="713232"/>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4389120" y="2743200"/>
            <a:ext cx="1508760" cy="1975104"/>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462272" y="2798064"/>
            <a:ext cx="1371600" cy="1874519"/>
          </a:xfrm>
          <a:prstGeom prst="rect">
            <a:avLst/>
          </a:prstGeom>
          <a:noFill/>
        </p:spPr>
        <p:txBody>
          <a:bodyPr wrap="square" lIns="0" rIns="0" tIns="0" bIns="0" anchor="t">
            <a:spAutoFit/>
          </a:bodyPr>
          <a:lstStyle/>
          <a:p>
            <a:pPr algn="l">
              <a:spcAft>
                <a:spcPts val="200"/>
              </a:spcAft>
            </a:pPr>
            <a:r>
              <a:rPr sz="1300" b="1" i="0">
                <a:solidFill>
                  <a:srgbClr val="8A1626"/>
                </a:solidFill>
              </a:rPr>
              <a:t>Same</a:t>
            </a:r>
          </a:p>
          <a:p>
            <a:pPr algn="l"/>
            <a:r>
              <a:rPr sz="1100" b="0" i="0">
                <a:solidFill>
                  <a:srgbClr val="1A1A1A"/>
                </a:solidFill>
              </a:rPr>
              <a:t>pages, histories, searches and BI answers; an equality test compares both</a:t>
            </a:r>
          </a:p>
        </p:txBody>
      </p:sp>
      <p:sp>
        <p:nvSpPr>
          <p:cNvPr id="50" name="TextBox 49"/>
          <p:cNvSpPr txBox="1"/>
          <p:nvPr/>
        </p:nvSpPr>
        <p:spPr>
          <a:xfrm>
            <a:off x="777240" y="4956048"/>
            <a:ext cx="5120640" cy="548640"/>
          </a:xfrm>
          <a:prstGeom prst="rect">
            <a:avLst/>
          </a:prstGeom>
          <a:noFill/>
        </p:spPr>
        <p:txBody>
          <a:bodyPr wrap="square" lIns="0" rIns="0" tIns="0" bIns="0" anchor="t">
            <a:spAutoFit/>
          </a:bodyPr>
          <a:lstStyle/>
          <a:p>
            <a:pPr algn="l"/>
            <a:r>
              <a:rPr sz="1150" b="0" i="0">
                <a:solidFill>
                  <a:srgbClr val="4A5058"/>
                </a:solidFill>
              </a:rPr>
              <a:t>The iceberg-external connector also reads tables Drishti did not write: Spark, Flink, Trino, Snowflake, Glue.</a:t>
            </a:r>
          </a:p>
        </p:txBody>
      </p:sp>
      <p:sp>
        <p:nvSpPr>
          <p:cNvPr id="51" name="TextBox 50"/>
          <p:cNvSpPr txBox="1"/>
          <p:nvPr/>
        </p:nvSpPr>
        <p:spPr>
          <a:xfrm>
            <a:off x="6263640" y="1463040"/>
            <a:ext cx="5148072" cy="502920"/>
          </a:xfrm>
          <a:prstGeom prst="rect">
            <a:avLst/>
          </a:prstGeom>
          <a:noFill/>
        </p:spPr>
        <p:txBody>
          <a:bodyPr wrap="square" lIns="0" rIns="0" tIns="0" bIns="0" anchor="t">
            <a:spAutoFit/>
          </a:bodyPr>
          <a:lstStyle/>
          <a:p>
            <a:pPr algn="l"/>
            <a:r>
              <a:rPr sz="1350" b="1" i="0">
                <a:solidFill>
                  <a:srgbClr val="8A1626"/>
                </a:solidFill>
              </a:rPr>
              <a:t>drishti-iceberg: Iceberg without Hadoop</a:t>
            </a:r>
          </a:p>
          <a:p>
            <a:pPr algn="l"/>
            <a:r>
              <a:rPr sz="1150" b="0" i="0">
                <a:solidFill>
                  <a:srgbClr val="4A5058"/>
                </a:solidFill>
              </a:rPr>
              <a:t>Drishti's own engine, the default — so Iceberg runs on Windows</a:t>
            </a:r>
          </a:p>
        </p:txBody>
      </p:sp>
      <p:graphicFrame>
        <p:nvGraphicFramePr>
          <p:cNvPr id="52" name="Iceberg engine chart"/>
          <p:cNvGraphicFramePr>
            <a:graphicFrameLocks noGrp="1"/>
          </p:cNvGraphicFramePr>
          <p:nvPr/>
        </p:nvGraphicFramePr>
        <p:xfrm>
          <a:off x="6263640" y="2057400"/>
          <a:ext cx="5148072" cy="2377440"/>
        </p:xfrm>
        <a:graphic>
          <a:graphicData uri="http://schemas.openxmlformats.org/drawingml/2006/chart">
            <c:chart xmlns:c="http://schemas.openxmlformats.org/drawingml/2006/chart" r:id="rId2"/>
          </a:graphicData>
        </a:graphic>
      </p:graphicFrame>
      <p:sp>
        <p:nvSpPr>
          <p:cNvPr id="53" name="Rectangle 52"/>
          <p:cNvSpPr/>
          <p:nvPr/>
        </p:nvSpPr>
        <p:spPr>
          <a:xfrm>
            <a:off x="6263640" y="4572000"/>
            <a:ext cx="2505456" cy="914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Rectangle 53"/>
          <p:cNvSpPr/>
          <p:nvPr/>
        </p:nvSpPr>
        <p:spPr>
          <a:xfrm>
            <a:off x="6263640" y="4572000"/>
            <a:ext cx="45720"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6446520" y="4663440"/>
            <a:ext cx="2231136" cy="457200"/>
          </a:xfrm>
          <a:prstGeom prst="rect">
            <a:avLst/>
          </a:prstGeom>
          <a:noFill/>
        </p:spPr>
        <p:txBody>
          <a:bodyPr wrap="square" lIns="0" rIns="0" tIns="0" bIns="0" anchor="ctr">
            <a:spAutoFit/>
          </a:bodyPr>
          <a:lstStyle/>
          <a:p>
            <a:pPr algn="l"/>
            <a:r>
              <a:rPr sz="2000" b="1" i="0">
                <a:solidFill>
                  <a:srgbClr val="8A1626"/>
                </a:solidFill>
              </a:rPr>
              <a:t>2.8×</a:t>
            </a:r>
            <a:r>
              <a:rPr sz="2000" b="1" i="0">
                <a:solidFill>
                  <a:srgbClr val="A51C30"/>
                </a:solidFill>
              </a:rPr>
              <a:t>¹</a:t>
            </a:r>
          </a:p>
        </p:txBody>
      </p:sp>
      <p:sp>
        <p:nvSpPr>
          <p:cNvPr id="56" name="TextBox 55"/>
          <p:cNvSpPr txBox="1"/>
          <p:nvPr/>
        </p:nvSpPr>
        <p:spPr>
          <a:xfrm>
            <a:off x="6446520" y="5138928"/>
            <a:ext cx="2231136" cy="292607"/>
          </a:xfrm>
          <a:prstGeom prst="rect">
            <a:avLst/>
          </a:prstGeom>
          <a:noFill/>
        </p:spPr>
        <p:txBody>
          <a:bodyPr wrap="square" lIns="0" rIns="0" tIns="0" bIns="0" anchor="t">
            <a:spAutoFit/>
          </a:bodyPr>
          <a:lstStyle/>
          <a:p>
            <a:pPr algn="l"/>
            <a:r>
              <a:rPr sz="1150" b="0" i="0">
                <a:solidFill>
                  <a:srgbClr val="4A5058"/>
                </a:solidFill>
              </a:rPr>
              <a:t>faster connector start</a:t>
            </a:r>
          </a:p>
        </p:txBody>
      </p:sp>
      <p:sp>
        <p:nvSpPr>
          <p:cNvPr id="57" name="Rectangle 56"/>
          <p:cNvSpPr/>
          <p:nvPr/>
        </p:nvSpPr>
        <p:spPr>
          <a:xfrm>
            <a:off x="8906256" y="4572000"/>
            <a:ext cx="2505456" cy="914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Rectangle 57"/>
          <p:cNvSpPr/>
          <p:nvPr/>
        </p:nvSpPr>
        <p:spPr>
          <a:xfrm>
            <a:off x="8906256" y="4572000"/>
            <a:ext cx="45720"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089136" y="4663440"/>
            <a:ext cx="2231136" cy="457200"/>
          </a:xfrm>
          <a:prstGeom prst="rect">
            <a:avLst/>
          </a:prstGeom>
          <a:noFill/>
        </p:spPr>
        <p:txBody>
          <a:bodyPr wrap="square" lIns="0" rIns="0" tIns="0" bIns="0" anchor="ctr">
            <a:spAutoFit/>
          </a:bodyPr>
          <a:lstStyle/>
          <a:p>
            <a:pPr algn="l"/>
            <a:r>
              <a:rPr sz="2000" b="1" i="0">
                <a:solidFill>
                  <a:srgbClr val="8A1626"/>
                </a:solidFill>
              </a:rPr>
              <a:t>3.8×</a:t>
            </a:r>
            <a:r>
              <a:rPr sz="2000" b="1" i="0">
                <a:solidFill>
                  <a:srgbClr val="A51C30"/>
                </a:solidFill>
              </a:rPr>
              <a:t>²</a:t>
            </a:r>
          </a:p>
        </p:txBody>
      </p:sp>
      <p:sp>
        <p:nvSpPr>
          <p:cNvPr id="60" name="TextBox 59"/>
          <p:cNvSpPr txBox="1"/>
          <p:nvPr/>
        </p:nvSpPr>
        <p:spPr>
          <a:xfrm>
            <a:off x="9089136" y="5138928"/>
            <a:ext cx="2231136" cy="292607"/>
          </a:xfrm>
          <a:prstGeom prst="rect">
            <a:avLst/>
          </a:prstGeom>
          <a:noFill/>
        </p:spPr>
        <p:txBody>
          <a:bodyPr wrap="square" lIns="0" rIns="0" tIns="0" bIns="0" anchor="t">
            <a:spAutoFit/>
          </a:bodyPr>
          <a:lstStyle/>
          <a:p>
            <a:pPr algn="l"/>
            <a:r>
              <a:rPr sz="1150" b="0" i="0">
                <a:solidFill>
                  <a:srgbClr val="4A5058"/>
                </a:solidFill>
              </a:rPr>
              <a:t>faster read of a past day</a:t>
            </a:r>
          </a:p>
        </p:txBody>
      </p:sp>
      <p:sp>
        <p:nvSpPr>
          <p:cNvPr id="61" name="Rectangle 60"/>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Rectangle 61"/>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The store is an admin's decision per system, not a rewrite: the pages cannot tell which format answered.</a:t>
            </a:r>
          </a:p>
        </p:txBody>
      </p:sp>
      <p:sp>
        <p:nvSpPr>
          <p:cNvPr id="64" name="Footnotes"/>
          <p:cNvSpPr txBox="1"/>
          <p:nvPr/>
        </p:nvSpPr>
        <p:spPr>
          <a:xfrm>
            <a:off x="777240" y="6217920"/>
            <a:ext cx="10634472" cy="164592"/>
          </a:xfrm>
          <a:prstGeom prst="rect">
            <a:avLst/>
          </a:prstGeom>
          <a:noFill/>
        </p:spPr>
        <p:txBody>
          <a:bodyPr wrap="square" lIns="0" rIns="0" tIns="0" bIns="0" anchor="t">
            <a:spAutoFit/>
          </a:bodyPr>
          <a:lstStyle/>
          <a:p>
            <a:pPr algn="l"/>
            <a:r>
              <a:rPr sz="900" b="0" i="0">
                <a:solidFill>
                  <a:srgbClr val="61666E"/>
                </a:solidFill>
              </a:rPr>
              <a:t>¹ 1,800 ms ÷ 637 ms = 2.8: connector start, library engine against drishti-iceberg, both measured (RELEASE_NOTES, DRISHTI_ICEBERG.md)   ² 353 ms ÷ 94 ms = 3.8: a trade on a past day, both measured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SUTRA NEXT</a:t>
            </a:r>
          </a:p>
        </p:txBody>
      </p:sp>
      <p:sp>
        <p:nvSpPr>
          <p:cNvPr id="3" name="Title 2"/>
          <p:cNvSpPr>
            <a:spLocks noGrp="1"/>
          </p:cNvSpPr>
          <p:nvPr>
            <p:ph type="title" idx="104"/>
          </p:nvPr>
        </p:nvSpPr>
        <p:spPr/>
        <p:txBody>
          <a:bodyPr lIns="0" rIns="0" tIns="0" bIns="0" anchor="t"/>
          <a:lstStyle/>
          <a:p>
            <a:r>
              <a:t>Screens that respond, built from one UI kit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4343400" y="2606040"/>
            <a:ext cx="3474720" cy="1600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4480560" y="2697480"/>
            <a:ext cx="3200400" cy="1417320"/>
          </a:xfrm>
          <a:prstGeom prst="rect">
            <a:avLst/>
          </a:prstGeom>
          <a:noFill/>
        </p:spPr>
        <p:txBody>
          <a:bodyPr wrap="square" lIns="0" rIns="0" tIns="0" bIns="0" anchor="ctr">
            <a:spAutoFit/>
          </a:bodyPr>
          <a:lstStyle/>
          <a:p>
            <a:pPr algn="l">
              <a:spcAft>
                <a:spcPts val="300"/>
              </a:spcAft>
            </a:pPr>
            <a:r>
              <a:rPr sz="1500" b="1" i="0">
                <a:solidFill>
                  <a:srgbClr val="FFFFFF"/>
                </a:solidFill>
              </a:rPr>
              <a:t>The Drishti UI kit</a:t>
            </a:r>
          </a:p>
          <a:p>
            <a:pPr algn="l"/>
            <a:r>
              <a:rPr sz="1100" b="0" i="0">
                <a:solidFill>
                  <a:srgbClr val="F6E6E9"/>
                </a:solidFill>
              </a:rPr>
              <a:t>config/ui-kit: 17 reusable fragments (row-picker@1, field-list@1, cashflow-ladder@1 …), pack fragments, theme tokens and brand; every fragment and Sutra has a doc: docstring</a:t>
            </a:r>
          </a:p>
        </p:txBody>
      </p:sp>
      <p:sp>
        <p:nvSpPr>
          <p:cNvPr id="28" name="Rectangle 27"/>
          <p:cNvSpPr/>
          <p:nvPr/>
        </p:nvSpPr>
        <p:spPr>
          <a:xfrm>
            <a:off x="777240" y="14630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5361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Events and children</a:t>
            </a:r>
          </a:p>
          <a:p>
            <a:pPr algn="l"/>
            <a:r>
              <a:rPr sz="1100" b="0" i="0">
                <a:solidFill>
                  <a:srgbClr val="4A5058"/>
                </a:solidFill>
              </a:rPr>
              <a:t>A click on a row opens linked records under it, beside, below or in tabs, from any enabled pack (emits, @panel.event, @parent); masked ids stay hidden.</a:t>
            </a:r>
          </a:p>
        </p:txBody>
      </p:sp>
      <p:cxnSp>
        <p:nvCxnSpPr>
          <p:cNvPr id="30" name="Connector 29"/>
          <p:cNvCxnSpPr/>
          <p:nvPr/>
        </p:nvCxnSpPr>
        <p:spPr>
          <a:xfrm>
            <a:off x="4142232" y="2011680"/>
            <a:ext cx="201168" cy="914400"/>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8046720" y="14630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156448" y="15361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Refresh and freshness</a:t>
            </a:r>
          </a:p>
          <a:p>
            <a:pPr algn="l"/>
            <a:r>
              <a:rPr sz="1100" b="0" i="0">
                <a:solidFill>
                  <a:srgbClr val="4A5058"/>
                </a:solidFill>
              </a:rPr>
              <a:t>refresh: per panel or screen; pause, resume and interval per person; every panel says 'updated N s ago' and names a source that is not answering.</a:t>
            </a:r>
          </a:p>
        </p:txBody>
      </p:sp>
      <p:cxnSp>
        <p:nvCxnSpPr>
          <p:cNvPr id="33" name="Connector 32"/>
          <p:cNvCxnSpPr/>
          <p:nvPr/>
        </p:nvCxnSpPr>
        <p:spPr>
          <a:xfrm flipH="1">
            <a:off x="7818120" y="2011680"/>
            <a:ext cx="228600" cy="914400"/>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44348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86968" y="45079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Layout</a:t>
            </a:r>
          </a:p>
          <a:p>
            <a:pPr algn="l"/>
            <a:r>
              <a:rPr sz="1100" b="0" i="0">
                <a:solidFill>
                  <a:srgbClr val="4A5058"/>
                </a:solidFill>
              </a:rPr>
              <a:t>Named areas on a 12-column grid, splits, tabs, sections, a sticky header, phone order; user-can-arrange per reader.</a:t>
            </a:r>
          </a:p>
        </p:txBody>
      </p:sp>
      <p:cxnSp>
        <p:nvCxnSpPr>
          <p:cNvPr id="36" name="Connector 35"/>
          <p:cNvCxnSpPr/>
          <p:nvPr/>
        </p:nvCxnSpPr>
        <p:spPr>
          <a:xfrm flipV="1">
            <a:off x="4142232" y="3886200"/>
            <a:ext cx="201168" cy="1097279"/>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8046720" y="44348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156448" y="45079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Forms</a:t>
            </a:r>
          </a:p>
          <a:p>
            <a:pPr algn="l"/>
            <a:r>
              <a:rPr sz="1100" b="0" i="0">
                <a:solidFill>
                  <a:srgbClr val="4A5058"/>
                </a:solidFill>
              </a:rPr>
              <a:t>Edit beside a table, in its cells, or New in a guided drawer; linked-record fields, rules and masks; saved through write-back.</a:t>
            </a:r>
          </a:p>
        </p:txBody>
      </p:sp>
      <p:cxnSp>
        <p:nvCxnSpPr>
          <p:cNvPr id="39" name="Connector 38"/>
          <p:cNvCxnSpPr/>
          <p:nvPr/>
        </p:nvCxnSpPr>
        <p:spPr>
          <a:xfrm flipH="1" flipV="1">
            <a:off x="7818120" y="3886200"/>
            <a:ext cx="228600" cy="1097279"/>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343400" y="1463040"/>
            <a:ext cx="3474720" cy="1005840"/>
          </a:xfrm>
          <a:prstGeom prst="rect">
            <a:avLst/>
          </a:prstGeom>
          <a:noFill/>
        </p:spPr>
        <p:txBody>
          <a:bodyPr wrap="square" lIns="0" rIns="0" tIns="0" bIns="0" anchor="ctr">
            <a:spAutoFit/>
          </a:bodyPr>
          <a:lstStyle/>
          <a:p>
            <a:pPr algn="ctr"/>
            <a:r>
              <a:rPr sz="1200" b="1" i="0">
                <a:solidFill>
                  <a:srgbClr val="8A1626"/>
                </a:solidFill>
              </a:rPr>
              <a:t>Every pack screen now uses fragments, each proven to draw the same as before.</a:t>
            </a:r>
          </a:p>
        </p:txBody>
      </p:sp>
      <p:sp>
        <p:nvSpPr>
          <p:cNvPr id="41" name="TextBox 40"/>
          <p:cNvSpPr txBox="1"/>
          <p:nvPr/>
        </p:nvSpPr>
        <p:spPr>
          <a:xfrm>
            <a:off x="4343400" y="4343400"/>
            <a:ext cx="3474720" cy="1188720"/>
          </a:xfrm>
          <a:prstGeom prst="rect">
            <a:avLst/>
          </a:prstGeom>
          <a:noFill/>
        </p:spPr>
        <p:txBody>
          <a:bodyPr wrap="square" lIns="0" rIns="0" tIns="0" bIns="0" anchor="ctr">
            <a:spAutoFit/>
          </a:bodyPr>
          <a:lstStyle/>
          <a:p>
            <a:pPr algn="ctr"/>
            <a:r>
              <a:rPr sz="1150" b="0" i="0">
                <a:solidFill>
                  <a:srgbClr val="4A5058"/>
                </a:solidFill>
              </a:rPr>
              <a:t>On a cluster, one server per screen; when a server goes away the page says 'your selections were reset' in words.</a:t>
            </a:r>
          </a:p>
        </p:txBody>
      </p:sp>
      <p:sp>
        <p:nvSpPr>
          <p:cNvPr id="42" name="Rectangle 4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screen is still a paragraph — now a paragraph of documented, reusable fragments that respond to the user.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THE SUTRA DESIGNER</a:t>
            </a:r>
          </a:p>
        </p:txBody>
      </p:sp>
      <p:sp>
        <p:nvSpPr>
          <p:cNvPr id="3" name="Title 2"/>
          <p:cNvSpPr>
            <a:spLocks noGrp="1"/>
          </p:cNvSpPr>
          <p:nvPr>
            <p:ph type="title" idx="104"/>
          </p:nvPr>
        </p:nvSpPr>
        <p:spPr/>
        <p:txBody>
          <a:bodyPr lIns="0" rIns="0" tIns="0" bIns="0" anchor="t"/>
          <a:lstStyle/>
          <a:p>
            <a:r>
              <a:t>Four modes over one Sutra: customize, describe, outline, grid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Customize the live page" descr="customize.jpg"/>
          <p:cNvPicPr>
            <a:picLocks noChangeAspect="1"/>
          </p:cNvPicPr>
          <p:nvPr/>
        </p:nvPicPr>
        <p:blipFill>
          <a:blip r:embed="rId2"/>
          <a:stretch>
            <a:fillRect/>
          </a:stretch>
        </p:blipFill>
        <p:spPr>
          <a:xfrm>
            <a:off x="777240" y="1502616"/>
            <a:ext cx="2521458" cy="1575911"/>
          </a:xfrm>
          <a:prstGeom prst="rect">
            <a:avLst/>
          </a:prstGeom>
          <a:ln w="9525">
            <a:solidFill>
              <a:srgbClr val="CFC8BE"/>
            </a:solidFill>
          </a:ln>
        </p:spPr>
      </p:pic>
      <p:sp>
        <p:nvSpPr>
          <p:cNvPr id="27" name="Oval 26"/>
          <p:cNvSpPr/>
          <p:nvPr/>
        </p:nvSpPr>
        <p:spPr>
          <a:xfrm>
            <a:off x="777240"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1</a:t>
            </a:r>
          </a:p>
        </p:txBody>
      </p:sp>
      <p:sp>
        <p:nvSpPr>
          <p:cNvPr id="28" name="TextBox 27"/>
          <p:cNvSpPr txBox="1"/>
          <p:nvPr/>
        </p:nvSpPr>
        <p:spPr>
          <a:xfrm>
            <a:off x="1088136" y="3209544"/>
            <a:ext cx="2192274" cy="292608"/>
          </a:xfrm>
          <a:prstGeom prst="rect">
            <a:avLst/>
          </a:prstGeom>
          <a:noFill/>
        </p:spPr>
        <p:txBody>
          <a:bodyPr wrap="square" lIns="0" rIns="0" tIns="0" bIns="0" anchor="ctr">
            <a:spAutoFit/>
          </a:bodyPr>
          <a:lstStyle/>
          <a:p>
            <a:pPr algn="l"/>
            <a:r>
              <a:rPr sz="1150" b="1" i="0">
                <a:solidFill>
                  <a:srgbClr val="8A1626"/>
                </a:solidFill>
              </a:rPr>
              <a:t>Customize the live page</a:t>
            </a:r>
          </a:p>
        </p:txBody>
      </p:sp>
      <p:pic>
        <p:nvPicPr>
          <p:cNvPr id="29" name="Describe a screen in one line" descr="describe.jpg"/>
          <p:cNvPicPr>
            <a:picLocks noChangeAspect="1"/>
          </p:cNvPicPr>
          <p:nvPr/>
        </p:nvPicPr>
        <p:blipFill>
          <a:blip r:embed="rId3"/>
          <a:stretch>
            <a:fillRect/>
          </a:stretch>
        </p:blipFill>
        <p:spPr>
          <a:xfrm>
            <a:off x="3481578" y="1502616"/>
            <a:ext cx="2521458" cy="1575911"/>
          </a:xfrm>
          <a:prstGeom prst="rect">
            <a:avLst/>
          </a:prstGeom>
          <a:ln w="9525">
            <a:solidFill>
              <a:srgbClr val="CFC8BE"/>
            </a:solidFill>
          </a:ln>
        </p:spPr>
      </p:pic>
      <p:sp>
        <p:nvSpPr>
          <p:cNvPr id="30" name="Oval 29"/>
          <p:cNvSpPr/>
          <p:nvPr/>
        </p:nvSpPr>
        <p:spPr>
          <a:xfrm>
            <a:off x="3481578"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2</a:t>
            </a:r>
          </a:p>
        </p:txBody>
      </p:sp>
      <p:sp>
        <p:nvSpPr>
          <p:cNvPr id="31" name="TextBox 30"/>
          <p:cNvSpPr txBox="1"/>
          <p:nvPr/>
        </p:nvSpPr>
        <p:spPr>
          <a:xfrm>
            <a:off x="3792474" y="3209544"/>
            <a:ext cx="2192274" cy="292608"/>
          </a:xfrm>
          <a:prstGeom prst="rect">
            <a:avLst/>
          </a:prstGeom>
          <a:noFill/>
        </p:spPr>
        <p:txBody>
          <a:bodyPr wrap="square" lIns="0" rIns="0" tIns="0" bIns="0" anchor="ctr">
            <a:spAutoFit/>
          </a:bodyPr>
          <a:lstStyle/>
          <a:p>
            <a:pPr algn="l"/>
            <a:r>
              <a:rPr sz="1150" b="1" i="0">
                <a:solidFill>
                  <a:srgbClr val="8A1626"/>
                </a:solidFill>
              </a:rPr>
              <a:t>Describe a screen in one line</a:t>
            </a:r>
          </a:p>
        </p:txBody>
      </p:sp>
      <p:pic>
        <p:nvPicPr>
          <p:cNvPr id="32" name="Outline: the page as a tree" descr="outline.jpg"/>
          <p:cNvPicPr>
            <a:picLocks noChangeAspect="1"/>
          </p:cNvPicPr>
          <p:nvPr/>
        </p:nvPicPr>
        <p:blipFill>
          <a:blip r:embed="rId4"/>
          <a:stretch>
            <a:fillRect/>
          </a:stretch>
        </p:blipFill>
        <p:spPr>
          <a:xfrm>
            <a:off x="6185916" y="1492110"/>
            <a:ext cx="2521458" cy="1596923"/>
          </a:xfrm>
          <a:prstGeom prst="rect">
            <a:avLst/>
          </a:prstGeom>
          <a:ln w="9525">
            <a:solidFill>
              <a:srgbClr val="CFC8BE"/>
            </a:solidFill>
          </a:ln>
        </p:spPr>
      </p:pic>
      <p:sp>
        <p:nvSpPr>
          <p:cNvPr id="33" name="Oval 32"/>
          <p:cNvSpPr/>
          <p:nvPr/>
        </p:nvSpPr>
        <p:spPr>
          <a:xfrm>
            <a:off x="6185916"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3</a:t>
            </a:r>
          </a:p>
        </p:txBody>
      </p:sp>
      <p:sp>
        <p:nvSpPr>
          <p:cNvPr id="34" name="TextBox 33"/>
          <p:cNvSpPr txBox="1"/>
          <p:nvPr/>
        </p:nvSpPr>
        <p:spPr>
          <a:xfrm>
            <a:off x="6496812" y="3209544"/>
            <a:ext cx="2192274" cy="292608"/>
          </a:xfrm>
          <a:prstGeom prst="rect">
            <a:avLst/>
          </a:prstGeom>
          <a:noFill/>
        </p:spPr>
        <p:txBody>
          <a:bodyPr wrap="square" lIns="0" rIns="0" tIns="0" bIns="0" anchor="ctr">
            <a:spAutoFit/>
          </a:bodyPr>
          <a:lstStyle/>
          <a:p>
            <a:pPr algn="l"/>
            <a:r>
              <a:rPr sz="1150" b="1" i="0">
                <a:solidFill>
                  <a:srgbClr val="8A1626"/>
                </a:solidFill>
              </a:rPr>
              <a:t>Outline: the page as a tree</a:t>
            </a:r>
          </a:p>
        </p:txBody>
      </p:sp>
      <p:pic>
        <p:nvPicPr>
          <p:cNvPr id="35" name="Grid, with formulas per cell" descr="grid-mode.jpg"/>
          <p:cNvPicPr>
            <a:picLocks noChangeAspect="1"/>
          </p:cNvPicPr>
          <p:nvPr/>
        </p:nvPicPr>
        <p:blipFill>
          <a:blip r:embed="rId5"/>
          <a:stretch>
            <a:fillRect/>
          </a:stretch>
        </p:blipFill>
        <p:spPr>
          <a:xfrm>
            <a:off x="8890254" y="1492110"/>
            <a:ext cx="2521458" cy="1596923"/>
          </a:xfrm>
          <a:prstGeom prst="rect">
            <a:avLst/>
          </a:prstGeom>
          <a:ln w="9525">
            <a:solidFill>
              <a:srgbClr val="CFC8BE"/>
            </a:solidFill>
          </a:ln>
        </p:spPr>
      </p:pic>
      <p:sp>
        <p:nvSpPr>
          <p:cNvPr id="36" name="Oval 35"/>
          <p:cNvSpPr/>
          <p:nvPr/>
        </p:nvSpPr>
        <p:spPr>
          <a:xfrm>
            <a:off x="8890254"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4</a:t>
            </a:r>
          </a:p>
        </p:txBody>
      </p:sp>
      <p:sp>
        <p:nvSpPr>
          <p:cNvPr id="37" name="TextBox 36"/>
          <p:cNvSpPr txBox="1"/>
          <p:nvPr/>
        </p:nvSpPr>
        <p:spPr>
          <a:xfrm>
            <a:off x="9201150" y="3209544"/>
            <a:ext cx="2192274" cy="292608"/>
          </a:xfrm>
          <a:prstGeom prst="rect">
            <a:avLst/>
          </a:prstGeom>
          <a:noFill/>
        </p:spPr>
        <p:txBody>
          <a:bodyPr wrap="square" lIns="0" rIns="0" tIns="0" bIns="0" anchor="ctr">
            <a:spAutoFit/>
          </a:bodyPr>
          <a:lstStyle/>
          <a:p>
            <a:pPr algn="l"/>
            <a:r>
              <a:rPr sz="1150" b="1" i="0">
                <a:solidFill>
                  <a:srgbClr val="8A1626"/>
                </a:solidFill>
              </a:rPr>
              <a:t>Grid, with formulas per cell</a:t>
            </a:r>
          </a:p>
        </p:txBody>
      </p:sp>
      <p:sp>
        <p:nvSpPr>
          <p:cNvPr id="38" name="Rectangle 37"/>
          <p:cNvSpPr/>
          <p:nvPr/>
        </p:nvSpPr>
        <p:spPr>
          <a:xfrm>
            <a:off x="777240" y="3639312"/>
            <a:ext cx="4206240" cy="17830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3639312"/>
            <a:ext cx="420624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14400" y="3639312"/>
            <a:ext cx="3931920" cy="329184"/>
          </a:xfrm>
          <a:prstGeom prst="rect">
            <a:avLst/>
          </a:prstGeom>
          <a:noFill/>
        </p:spPr>
        <p:txBody>
          <a:bodyPr wrap="square" lIns="0" rIns="0" tIns="0" bIns="0" anchor="ctr">
            <a:spAutoFit/>
          </a:bodyPr>
          <a:lstStyle/>
          <a:p>
            <a:pPr algn="l"/>
            <a:r>
              <a:rPr sz="1150" b="1" i="0">
                <a:solidFill>
                  <a:srgbClr val="FFFFFF"/>
                </a:solidFill>
              </a:rPr>
              <a:t>A cell is a fragment call</a:t>
            </a:r>
          </a:p>
        </p:txBody>
      </p:sp>
      <p:sp>
        <p:nvSpPr>
          <p:cNvPr id="41" name="TextBox 40"/>
          <p:cNvSpPr txBox="1"/>
          <p:nvPr/>
        </p:nvSpPr>
        <p:spPr>
          <a:xfrm>
            <a:off x="941832" y="4078224"/>
            <a:ext cx="3931920" cy="1280160"/>
          </a:xfrm>
          <a:prstGeom prst="rect">
            <a:avLst/>
          </a:prstGeom>
          <a:noFill/>
        </p:spPr>
        <p:txBody>
          <a:bodyPr wrap="square" lIns="0" rIns="0" tIns="0" bIns="0" anchor="t">
            <a:spAutoFit/>
          </a:bodyPr>
          <a:lstStyle/>
          <a:p>
            <a:pPr algn="l">
              <a:spcAft>
                <a:spcPts val="200"/>
              </a:spcAft>
            </a:pPr>
            <a:r>
              <a:rPr sz="1150" b="0" i="0">
                <a:solidFill>
                  <a:srgbClr val="F1EEE9"/>
                </a:solidFill>
                <a:latin typeface="Courier New"/>
              </a:rPr>
              <a:t>B2 = field-list@1(...;</a:t>
            </a:r>
          </a:p>
          <a:p>
            <a:pPr algn="l">
              <a:spcAft>
                <a:spcPts val="200"/>
              </a:spcAft>
            </a:pPr>
            <a:r>
              <a:rPr sz="1150" b="0" i="0">
                <a:solidFill>
                  <a:srgbClr val="F1EEE9"/>
                </a:solidFill>
                <a:latin typeface="Courier New"/>
              </a:rPr>
              <a:t>     source: {... id: @A2.open.ref})</a:t>
            </a:r>
          </a:p>
        </p:txBody>
      </p:sp>
      <p:sp>
        <p:nvSpPr>
          <p:cNvPr id="42" name="TextBox 41"/>
          <p:cNvSpPr txBox="1"/>
          <p:nvPr/>
        </p:nvSpPr>
        <p:spPr>
          <a:xfrm>
            <a:off x="5303520" y="3639312"/>
            <a:ext cx="6108192" cy="182880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250" b="1" i="0">
                <a:solidFill>
                  <a:srgbClr val="8A1626"/>
                </a:solidFill>
              </a:rPr>
              <a:t>One Sutra, four views</a:t>
            </a:r>
          </a:p>
          <a:p>
            <a:pPr marL="164592" indent="0">
              <a:spcAft>
                <a:spcPts val="400"/>
              </a:spcAft>
            </a:pPr>
            <a:r>
              <a:rPr sz="1150" b="0" i="0">
                <a:solidFill>
                  <a:srgbClr val="1A1A1A"/>
                </a:solidFill>
              </a:rPr>
              <a:t>Every mode edits the same file; switch at any time.</a:t>
            </a:r>
          </a:p>
          <a:p>
            <a:pPr marL="164592" indent="-164592">
              <a:spcAft>
                <a:spcPts val="100"/>
              </a:spcAft>
              <a:buClr>
                <a:srgbClr val="A51C30"/>
              </a:buClr>
              <a:buSzPct val="100000"/>
              <a:buFont typeface="Arial"/>
              <a:buChar char="▪"/>
            </a:pPr>
            <a:r>
              <a:rPr sz="1250" b="1" i="0">
                <a:solidFill>
                  <a:srgbClr val="8A1626"/>
                </a:solidFill>
              </a:rPr>
              <a:t>My version of this page</a:t>
            </a:r>
          </a:p>
          <a:p>
            <a:pPr marL="164592" indent="0">
              <a:spcAft>
                <a:spcPts val="400"/>
              </a:spcAft>
            </a:pPr>
            <a:r>
              <a:rPr sz="1150" b="0" i="0">
                <a:solidFill>
                  <a:srgbClr val="1A1A1A"/>
                </a:solidFill>
              </a:rPr>
              <a:t>Each person keeps a customised copy; the shared page is untouched.</a:t>
            </a:r>
          </a:p>
          <a:p>
            <a:pPr marL="164592" indent="-164592">
              <a:spcAft>
                <a:spcPts val="100"/>
              </a:spcAft>
              <a:buClr>
                <a:srgbClr val="A51C30"/>
              </a:buClr>
              <a:buSzPct val="100000"/>
              <a:buFont typeface="Arial"/>
              <a:buChar char="▪"/>
            </a:pPr>
            <a:r>
              <a:rPr sz="1250" b="1" i="0">
                <a:solidFill>
                  <a:srgbClr val="8A1626"/>
                </a:solidFill>
              </a:rPr>
              <a:t>Two levels of click-opened cells; off by default</a:t>
            </a:r>
          </a:p>
          <a:p>
            <a:pPr marL="164592" indent="0">
              <a:spcAft>
                <a:spcPts val="400"/>
              </a:spcAft>
            </a:pPr>
            <a:r>
              <a:rPr sz="1150" b="0" i="0">
                <a:solidFill>
                  <a:srgbClr val="1A1A1A"/>
                </a:solidFill>
              </a:rPr>
              <a:t>ui.designer; tutorial 22 builds a screen with it.</a:t>
            </a:r>
          </a:p>
        </p:txBody>
      </p:sp>
      <p:sp>
        <p:nvSpPr>
          <p:cNvPr id="43" name="Rectangle 4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Designing a screen in plain words still produces a reviewed, versioned Sutra — not a one-off.</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PUBLIC DATA AS PACKS</a:t>
            </a:r>
          </a:p>
        </p:txBody>
      </p:sp>
      <p:sp>
        <p:nvSpPr>
          <p:cNvPr id="3" name="Title 2"/>
          <p:cNvSpPr>
            <a:spLocks noGrp="1"/>
          </p:cNvSpPr>
          <p:nvPr>
            <p:ph type="title" idx="104"/>
          </p:nvPr>
        </p:nvSpPr>
        <p:spPr/>
        <p:txBody>
          <a:bodyPr lIns="0" rIns="0" tIns="0" bIns="0" anchor="t"/>
          <a:lstStyle/>
          <a:p>
            <a:r>
              <a:t>US companies, legal entities and funds — linked, offline, refreshed by script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3154680" cy="1783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81328"/>
            <a:ext cx="3154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86968" y="1481328"/>
            <a:ext cx="2971800" cy="384048"/>
          </a:xfrm>
          <a:prstGeom prst="rect">
            <a:avLst/>
          </a:prstGeom>
          <a:noFill/>
        </p:spPr>
        <p:txBody>
          <a:bodyPr wrap="square" lIns="0" rIns="0" tIns="0" bIns="0" anchor="ctr">
            <a:spAutoFit/>
          </a:bodyPr>
          <a:lstStyle/>
          <a:p>
            <a:pPr algn="l"/>
            <a:r>
              <a:rPr sz="1250" b="1" i="0">
                <a:solidFill>
                  <a:srgbClr val="FFFFFF"/>
                </a:solidFill>
                <a:latin typeface="Courier New"/>
              </a:rPr>
              <a:t>us-equities</a:t>
            </a:r>
          </a:p>
        </p:txBody>
      </p:sp>
      <p:sp>
        <p:nvSpPr>
          <p:cNvPr id="29" name="TextBox 28"/>
          <p:cNvSpPr txBox="1"/>
          <p:nvPr/>
        </p:nvSpPr>
        <p:spPr>
          <a:xfrm>
            <a:off x="914400" y="1920240"/>
            <a:ext cx="2926080" cy="1554480"/>
          </a:xfrm>
          <a:prstGeom prst="rect">
            <a:avLst/>
          </a:prstGeom>
          <a:noFill/>
        </p:spPr>
        <p:txBody>
          <a:bodyPr wrap="square" lIns="0" rIns="0" tIns="0" bIns="0" anchor="t">
            <a:spAutoFit/>
          </a:bodyPr>
          <a:lstStyle/>
          <a:p>
            <a:pPr algn="l"/>
            <a:r>
              <a:rPr sz="2400" b="1" i="0">
                <a:solidFill>
                  <a:srgbClr val="A51C30"/>
                </a:solidFill>
              </a:rPr>
              <a:t>586</a:t>
            </a:r>
          </a:p>
          <a:p>
            <a:pPr algn="l">
              <a:spcAft>
                <a:spcPts val="400"/>
              </a:spcAft>
            </a:pPr>
            <a:r>
              <a:rPr sz="1150" b="0" i="0">
                <a:solidFill>
                  <a:srgbClr val="1A1A1A"/>
                </a:solidFill>
              </a:rPr>
              <a:t>US companies from SEC EDGAR, Nasdaq and GLEIF: financials, filings, index members</a:t>
            </a:r>
          </a:p>
          <a:p>
            <a:pPr algn="l"/>
            <a:r>
              <a:rPr sz="1050" b="1" i="0">
                <a:solidFill>
                  <a:srgbClr val="8A1626"/>
                </a:solidFill>
                <a:latin typeface="Courier New"/>
              </a:rPr>
              <a:t>USEQ · IDX · SIC · EDGAR</a:t>
            </a:r>
          </a:p>
        </p:txBody>
      </p:sp>
      <p:sp>
        <p:nvSpPr>
          <p:cNvPr id="30" name="Rectangle 29"/>
          <p:cNvSpPr/>
          <p:nvPr/>
        </p:nvSpPr>
        <p:spPr>
          <a:xfrm>
            <a:off x="4517136" y="1481328"/>
            <a:ext cx="3154680" cy="1783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517136" y="1481328"/>
            <a:ext cx="3154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626864" y="1481328"/>
            <a:ext cx="2971800" cy="384048"/>
          </a:xfrm>
          <a:prstGeom prst="rect">
            <a:avLst/>
          </a:prstGeom>
          <a:noFill/>
        </p:spPr>
        <p:txBody>
          <a:bodyPr wrap="square" lIns="0" rIns="0" tIns="0" bIns="0" anchor="ctr">
            <a:spAutoFit/>
          </a:bodyPr>
          <a:lstStyle/>
          <a:p>
            <a:pPr algn="l"/>
            <a:r>
              <a:rPr sz="1250" b="1" i="0">
                <a:solidFill>
                  <a:srgbClr val="FFFFFF"/>
                </a:solidFill>
                <a:latin typeface="Courier New"/>
              </a:rPr>
              <a:t>gleif</a:t>
            </a:r>
          </a:p>
        </p:txBody>
      </p:sp>
      <p:sp>
        <p:nvSpPr>
          <p:cNvPr id="33" name="TextBox 32"/>
          <p:cNvSpPr txBox="1"/>
          <p:nvPr/>
        </p:nvSpPr>
        <p:spPr>
          <a:xfrm>
            <a:off x="4654296" y="1920240"/>
            <a:ext cx="2926080" cy="1554480"/>
          </a:xfrm>
          <a:prstGeom prst="rect">
            <a:avLst/>
          </a:prstGeom>
          <a:noFill/>
        </p:spPr>
        <p:txBody>
          <a:bodyPr wrap="square" lIns="0" rIns="0" tIns="0" bIns="0" anchor="t">
            <a:spAutoFit/>
          </a:bodyPr>
          <a:lstStyle/>
          <a:p>
            <a:pPr algn="l"/>
            <a:r>
              <a:rPr sz="2400" b="1" i="0">
                <a:solidFill>
                  <a:srgbClr val="A51C30"/>
                </a:solidFill>
              </a:rPr>
              <a:t>9,512</a:t>
            </a:r>
          </a:p>
          <a:p>
            <a:pPr algn="l">
              <a:spcAft>
                <a:spcPts val="400"/>
              </a:spcAft>
            </a:pPr>
            <a:r>
              <a:rPr sz="1150" b="0" i="0">
                <a:solidFill>
                  <a:srgbClr val="1A1A1A"/>
                </a:solidFill>
              </a:rPr>
              <a:t>legal entities in 540 ownership groups; groups computed from DIRECT_PARENT</a:t>
            </a:r>
          </a:p>
          <a:p>
            <a:pPr algn="l"/>
            <a:r>
              <a:rPr sz="1050" b="1" i="0">
                <a:solidFill>
                  <a:srgbClr val="8A1626"/>
                </a:solidFill>
                <a:latin typeface="Courier New"/>
              </a:rPr>
              <a:t>LEI · LEIG · LEIC</a:t>
            </a:r>
          </a:p>
        </p:txBody>
      </p:sp>
      <p:sp>
        <p:nvSpPr>
          <p:cNvPr id="34" name="Rectangle 33"/>
          <p:cNvSpPr/>
          <p:nvPr/>
        </p:nvSpPr>
        <p:spPr>
          <a:xfrm>
            <a:off x="8257031" y="1481328"/>
            <a:ext cx="3154680" cy="1783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8257031" y="1481328"/>
            <a:ext cx="3154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366759" y="1481328"/>
            <a:ext cx="2971800" cy="384048"/>
          </a:xfrm>
          <a:prstGeom prst="rect">
            <a:avLst/>
          </a:prstGeom>
          <a:noFill/>
        </p:spPr>
        <p:txBody>
          <a:bodyPr wrap="square" lIns="0" rIns="0" tIns="0" bIns="0" anchor="ctr">
            <a:spAutoFit/>
          </a:bodyPr>
          <a:lstStyle/>
          <a:p>
            <a:pPr algn="l"/>
            <a:r>
              <a:rPr sz="1250" b="1" i="0">
                <a:solidFill>
                  <a:srgbClr val="FFFFFF"/>
                </a:solidFill>
                <a:latin typeface="Courier New"/>
              </a:rPr>
              <a:t>funds</a:t>
            </a:r>
          </a:p>
        </p:txBody>
      </p:sp>
      <p:sp>
        <p:nvSpPr>
          <p:cNvPr id="37" name="TextBox 36"/>
          <p:cNvSpPr txBox="1"/>
          <p:nvPr/>
        </p:nvSpPr>
        <p:spPr>
          <a:xfrm>
            <a:off x="8394192" y="1920240"/>
            <a:ext cx="2926080" cy="1554480"/>
          </a:xfrm>
          <a:prstGeom prst="rect">
            <a:avLst/>
          </a:prstGeom>
          <a:noFill/>
        </p:spPr>
        <p:txBody>
          <a:bodyPr wrap="square" lIns="0" rIns="0" tIns="0" bIns="0" anchor="t">
            <a:spAutoFit/>
          </a:bodyPr>
          <a:lstStyle/>
          <a:p>
            <a:pPr algn="l"/>
            <a:r>
              <a:rPr sz="2400" b="1" i="0">
                <a:solidFill>
                  <a:srgbClr val="A51C30"/>
                </a:solidFill>
              </a:rPr>
              <a:t>200</a:t>
            </a:r>
          </a:p>
          <a:p>
            <a:pPr algn="l">
              <a:spcAft>
                <a:spcPts val="400"/>
              </a:spcAft>
            </a:pPr>
            <a:r>
              <a:rPr sz="1150" b="0" i="0">
                <a:solidFill>
                  <a:srgbClr val="1A1A1A"/>
                </a:solidFill>
              </a:rPr>
              <a:t>largest US mutual funds and ETFs from N-PORT, N-CEN and prospectuses; 5.6 MB gzipped</a:t>
            </a:r>
          </a:p>
          <a:p>
            <a:pPr algn="l"/>
            <a:r>
              <a:rPr sz="1050" b="1" i="0">
                <a:solidFill>
                  <a:srgbClr val="8A1626"/>
                </a:solidFill>
                <a:latin typeface="Courier New"/>
              </a:rPr>
              <a:t>FUND · HELD · TRACK · FUNDS</a:t>
            </a:r>
          </a:p>
        </p:txBody>
      </p:sp>
      <p:cxnSp>
        <p:nvCxnSpPr>
          <p:cNvPr id="38" name="Connector 37"/>
          <p:cNvCxnSpPr/>
          <p:nvPr/>
        </p:nvCxnSpPr>
        <p:spPr>
          <a:xfrm>
            <a:off x="3959352" y="2487168"/>
            <a:ext cx="530351" cy="0"/>
          </a:xfrm>
          <a:prstGeom prst="line">
            <a:avLst/>
          </a:prstGeom>
          <a:ln w="22225">
            <a:solidFill>
              <a:srgbClr val="A51C30"/>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931920" y="2121408"/>
            <a:ext cx="585215" cy="292608"/>
          </a:xfrm>
          <a:prstGeom prst="rect">
            <a:avLst/>
          </a:prstGeom>
          <a:noFill/>
        </p:spPr>
        <p:txBody>
          <a:bodyPr wrap="square" lIns="0" rIns="0" tIns="0" bIns="0" anchor="ctr">
            <a:spAutoFit/>
          </a:bodyPr>
          <a:lstStyle/>
          <a:p>
            <a:pPr algn="ctr"/>
            <a:r>
              <a:rPr sz="1050" b="1" i="0">
                <a:solidFill>
                  <a:srgbClr val="A51C30"/>
                </a:solidFill>
              </a:rPr>
              <a:t>LEI</a:t>
            </a:r>
          </a:p>
        </p:txBody>
      </p:sp>
      <p:cxnSp>
        <p:nvCxnSpPr>
          <p:cNvPr id="40" name="Connector 39"/>
          <p:cNvCxnSpPr/>
          <p:nvPr/>
        </p:nvCxnSpPr>
        <p:spPr>
          <a:xfrm>
            <a:off x="7699248" y="2487168"/>
            <a:ext cx="530352" cy="0"/>
          </a:xfrm>
          <a:prstGeom prst="line">
            <a:avLst/>
          </a:prstGeom>
          <a:ln w="22225">
            <a:solidFill>
              <a:srgbClr val="A51C30"/>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671816" y="2121408"/>
            <a:ext cx="585215" cy="292608"/>
          </a:xfrm>
          <a:prstGeom prst="rect">
            <a:avLst/>
          </a:prstGeom>
          <a:noFill/>
        </p:spPr>
        <p:txBody>
          <a:bodyPr wrap="square" lIns="0" rIns="0" tIns="0" bIns="0" anchor="ctr">
            <a:spAutoFit/>
          </a:bodyPr>
          <a:lstStyle/>
          <a:p>
            <a:pPr algn="ctr"/>
            <a:r>
              <a:rPr sz="1050" b="1" i="0">
                <a:solidFill>
                  <a:srgbClr val="A51C30"/>
                </a:solidFill>
              </a:rPr>
              <a:t>LEI</a:t>
            </a:r>
          </a:p>
        </p:txBody>
      </p:sp>
      <p:sp>
        <p:nvSpPr>
          <p:cNvPr id="42" name="Rectangle 41"/>
          <p:cNvSpPr/>
          <p:nvPr/>
        </p:nvSpPr>
        <p:spPr>
          <a:xfrm>
            <a:off x="777240"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68680"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Refresh script</a:t>
            </a:r>
          </a:p>
          <a:p>
            <a:pPr algn="l"/>
            <a:r>
              <a:rPr sz="1050" b="0" i="0">
                <a:solidFill>
                  <a:srgbClr val="4A5058"/>
                </a:solidFill>
                <a:latin typeface="Courier New"/>
              </a:rPr>
              <a:t>tools/publicdata/&lt;pack&gt;.py .sh and .ps1, status, dry-run</a:t>
            </a:r>
          </a:p>
        </p:txBody>
      </p:sp>
      <p:cxnSp>
        <p:nvCxnSpPr>
          <p:cNvPr id="44" name="Connector 43"/>
          <p:cNvCxnSpPr/>
          <p:nvPr/>
        </p:nvCxnSpPr>
        <p:spPr>
          <a:xfrm>
            <a:off x="3248406" y="4160520"/>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3504438"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3595878"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Committed snapshot</a:t>
            </a:r>
          </a:p>
          <a:p>
            <a:pPr algn="l"/>
            <a:r>
              <a:rPr sz="1050" b="0" i="0">
                <a:solidFill>
                  <a:srgbClr val="4A5058"/>
                </a:solidFill>
                <a:latin typeface="Courier New"/>
              </a:rPr>
              <a:t>data/testdata/&lt;domain&gt;/&lt;kind&gt;/*.jsonl.gz</a:t>
            </a:r>
          </a:p>
        </p:txBody>
      </p:sp>
      <p:cxnSp>
        <p:nvCxnSpPr>
          <p:cNvPr id="47" name="Connector 46"/>
          <p:cNvCxnSpPr/>
          <p:nvPr/>
        </p:nvCxnSpPr>
        <p:spPr>
          <a:xfrm>
            <a:off x="5975604" y="4160520"/>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6231636"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6323075"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Demo lakes</a:t>
            </a:r>
          </a:p>
          <a:p>
            <a:pPr algn="l"/>
            <a:r>
              <a:rPr sz="1050" b="0" i="0">
                <a:solidFill>
                  <a:srgbClr val="4A5058"/>
                </a:solidFill>
                <a:latin typeface="Courier New"/>
              </a:rPr>
              <a:t>build_demo_lakes → Delta</a:t>
            </a:r>
          </a:p>
        </p:txBody>
      </p:sp>
      <p:cxnSp>
        <p:nvCxnSpPr>
          <p:cNvPr id="50" name="Connector 49"/>
          <p:cNvCxnSpPr/>
          <p:nvPr/>
        </p:nvCxnSpPr>
        <p:spPr>
          <a:xfrm>
            <a:off x="8702801" y="4160520"/>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8958834"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9050274"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A connector per pack</a:t>
            </a:r>
          </a:p>
          <a:p>
            <a:pPr algn="l"/>
            <a:r>
              <a:rPr sz="1050" b="0" i="0">
                <a:solidFill>
                  <a:srgbClr val="4A5058"/>
                </a:solidFill>
                <a:latin typeface="Courier New"/>
              </a:rPr>
              <a:t>served offline, like any source</a:t>
            </a:r>
          </a:p>
        </p:txBody>
      </p:sp>
      <p:sp>
        <p:nvSpPr>
          <p:cNvPr id="53" name="TextBox 52"/>
          <p:cNvSpPr txBox="1"/>
          <p:nvPr/>
        </p:nvSpPr>
        <p:spPr>
          <a:xfrm>
            <a:off x="777240" y="4736592"/>
            <a:ext cx="10634472" cy="822960"/>
          </a:xfrm>
          <a:prstGeom prst="rect">
            <a:avLst/>
          </a:prstGeom>
          <a:noFill/>
        </p:spPr>
        <p:txBody>
          <a:bodyPr wrap="square" lIns="0" rIns="0" tIns="0" bIns="0" anchor="t">
            <a:spAutoFit/>
          </a:bodyPr>
          <a:lstStyle/>
          <a:p>
            <a:pPr algn="l"/>
            <a:r>
              <a:rPr sz="1200" b="1" i="0">
                <a:solidFill>
                  <a:srgbClr val="8A1626"/>
                </a:solidFill>
              </a:rPr>
              <a:t>External data, one page: </a:t>
            </a:r>
            <a:r>
              <a:rPr sz="1200" b="0" i="0">
                <a:solidFill>
                  <a:srgbClr val="1A1A1A"/>
                </a:solidFill>
              </a:rPr>
              <a:t>every source with its URL, licence and use; IMF, Yahoo and Google News marked internal only and refused in the repository; sectors are SIC divisions because GICS is proprietary — the pages say so.</a:t>
            </a:r>
          </a:p>
        </p:txBody>
      </p:sp>
      <p:sp>
        <p:nvSpPr>
          <p:cNvPr id="54" name="Rectangle 5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Rectangle 5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Public data arrives the way a bank's data does: a contract per kind, a lake, a connector — and no network at demo time.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FUNDS AND INDEX MEMBERSHIP</a:t>
            </a:r>
          </a:p>
        </p:txBody>
      </p:sp>
      <p:sp>
        <p:nvSpPr>
          <p:cNvPr id="3" name="Title 2"/>
          <p:cNvSpPr>
            <a:spLocks noGrp="1"/>
          </p:cNvSpPr>
          <p:nvPr>
            <p:ph type="title" idx="104"/>
          </p:nvPr>
        </p:nvSpPr>
        <p:spPr/>
        <p:txBody>
          <a:bodyPr lIns="0" rIns="0" tIns="0" bIns="0" anchor="t"/>
          <a:lstStyle/>
          <a:p>
            <a:r>
              <a:t>Index members from what the tracking ETFs report to the SEC</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Fund fact sheet" descr="02-fund-fact-sheet.jpg"/>
          <p:cNvPicPr>
            <a:picLocks noChangeAspect="1"/>
          </p:cNvPicPr>
          <p:nvPr/>
        </p:nvPicPr>
        <p:blipFill>
          <a:blip r:embed="rId2"/>
          <a:stretch>
            <a:fillRect/>
          </a:stretch>
        </p:blipFill>
        <p:spPr>
          <a:xfrm>
            <a:off x="908913" y="1444752"/>
            <a:ext cx="4857292" cy="3794760"/>
          </a:xfrm>
          <a:prstGeom prst="rect">
            <a:avLst/>
          </a:prstGeom>
          <a:ln w="9525">
            <a:solidFill>
              <a:srgbClr val="CFC8BE"/>
            </a:solidFill>
          </a:ln>
        </p:spPr>
      </p:pic>
      <p:sp>
        <p:nvSpPr>
          <p:cNvPr id="27" name="TextBox 26"/>
          <p:cNvSpPr txBox="1"/>
          <p:nvPr/>
        </p:nvSpPr>
        <p:spPr>
          <a:xfrm>
            <a:off x="777240" y="5266944"/>
            <a:ext cx="5120640" cy="274320"/>
          </a:xfrm>
          <a:prstGeom prst="rect">
            <a:avLst/>
          </a:prstGeom>
          <a:noFill/>
        </p:spPr>
        <p:txBody>
          <a:bodyPr wrap="square" lIns="0" rIns="0" tIns="0" bIns="0" anchor="t">
            <a:spAutoFit/>
          </a:bodyPr>
          <a:lstStyle/>
          <a:p>
            <a:pPr algn="l"/>
            <a:r>
              <a:rPr sz="1050" b="0" i="1">
                <a:solidFill>
                  <a:srgbClr val="61666E"/>
                </a:solidFill>
              </a:rPr>
              <a:t>FUND QQQ: fact sheet, top holdings, look-through by SIC division (tutorial 28).</a:t>
            </a:r>
          </a:p>
        </p:txBody>
      </p:sp>
      <p:sp>
        <p:nvSpPr>
          <p:cNvPr id="28" name="TextBox 27"/>
          <p:cNvSpPr txBox="1"/>
          <p:nvPr/>
        </p:nvSpPr>
        <p:spPr>
          <a:xfrm>
            <a:off x="6217920" y="1444752"/>
            <a:ext cx="5193792" cy="566928"/>
          </a:xfrm>
          <a:prstGeom prst="rect">
            <a:avLst/>
          </a:prstGeom>
          <a:noFill/>
        </p:spPr>
        <p:txBody>
          <a:bodyPr wrap="square" lIns="0" rIns="0" tIns="0" bIns="0" anchor="t">
            <a:spAutoFit/>
          </a:bodyPr>
          <a:lstStyle/>
          <a:p>
            <a:pPr algn="l"/>
            <a:r>
              <a:rPr sz="1150" b="0" i="0">
                <a:solidFill>
                  <a:srgbClr val="1A1A1A"/>
                </a:solidFill>
              </a:rPr>
              <a:t>Earlier the S&amp;P 500, Nasdaq-100 and Dow members came from Wikidata's lists, which lacked Exxon Mobil, BlackRock, NVIDIA in the Nasdaq-100 and about 100 more.</a:t>
            </a:r>
          </a:p>
        </p:txBody>
      </p:sp>
      <p:sp>
        <p:nvSpPr>
          <p:cNvPr id="29" name="TextBox 28"/>
          <p:cNvSpPr txBox="1"/>
          <p:nvPr/>
        </p:nvSpPr>
        <p:spPr>
          <a:xfrm>
            <a:off x="6217920" y="2084831"/>
            <a:ext cx="5193792" cy="274320"/>
          </a:xfrm>
          <a:prstGeom prst="rect">
            <a:avLst/>
          </a:prstGeom>
          <a:noFill/>
        </p:spPr>
        <p:txBody>
          <a:bodyPr wrap="square" lIns="0" rIns="0" tIns="0" bIns="0" anchor="t">
            <a:spAutoFit/>
          </a:bodyPr>
          <a:lstStyle/>
          <a:p>
            <a:pPr algn="l"/>
            <a:r>
              <a:rPr sz="1250" b="1" i="0">
                <a:solidFill>
                  <a:srgbClr val="A51C30"/>
                </a:solidFill>
              </a:rPr>
              <a:t>Active share against the index, before and after</a:t>
            </a:r>
          </a:p>
        </p:txBody>
      </p:sp>
      <p:graphicFrame>
        <p:nvGraphicFramePr>
          <p:cNvPr id="30" name="Active share chart"/>
          <p:cNvGraphicFramePr>
            <a:graphicFrameLocks noGrp="1"/>
          </p:cNvGraphicFramePr>
          <p:nvPr/>
        </p:nvGraphicFramePr>
        <p:xfrm>
          <a:off x="6217920" y="2331720"/>
          <a:ext cx="5193792" cy="1737360"/>
        </p:xfrm>
        <a:graphic>
          <a:graphicData uri="http://schemas.openxmlformats.org/drawingml/2006/chart">
            <c:chart xmlns:c="http://schemas.openxmlformats.org/drawingml/2006/chart" r:id="rId3"/>
          </a:graphicData>
        </a:graphic>
      </p:graphicFrame>
      <p:sp>
        <p:nvSpPr>
          <p:cNvPr id="31" name="Rectangle 30"/>
          <p:cNvSpPr/>
          <p:nvPr/>
        </p:nvSpPr>
        <p:spPr>
          <a:xfrm>
            <a:off x="6217920" y="4206240"/>
            <a:ext cx="1670304" cy="12801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09359" y="4261104"/>
            <a:ext cx="1533144" cy="411480"/>
          </a:xfrm>
          <a:prstGeom prst="rect">
            <a:avLst/>
          </a:prstGeom>
          <a:noFill/>
        </p:spPr>
        <p:txBody>
          <a:bodyPr wrap="square" lIns="0" rIns="0" tIns="0" bIns="0" anchor="ctr">
            <a:spAutoFit/>
          </a:bodyPr>
          <a:lstStyle/>
          <a:p>
            <a:pPr algn="l"/>
            <a:r>
              <a:rPr sz="1600" b="1" i="0">
                <a:solidFill>
                  <a:srgbClr val="8A1626"/>
                </a:solidFill>
              </a:rPr>
              <a:t>503 → 586</a:t>
            </a:r>
          </a:p>
        </p:txBody>
      </p:sp>
      <p:sp>
        <p:nvSpPr>
          <p:cNvPr id="33" name="TextBox 32"/>
          <p:cNvSpPr txBox="1"/>
          <p:nvPr/>
        </p:nvSpPr>
        <p:spPr>
          <a:xfrm>
            <a:off x="6309359" y="4681728"/>
            <a:ext cx="1533144" cy="777240"/>
          </a:xfrm>
          <a:prstGeom prst="rect">
            <a:avLst/>
          </a:prstGeom>
          <a:noFill/>
        </p:spPr>
        <p:txBody>
          <a:bodyPr wrap="square" lIns="0" rIns="0" tIns="0" bIns="0" anchor="t">
            <a:spAutoFit/>
          </a:bodyPr>
          <a:lstStyle/>
          <a:p>
            <a:pPr algn="l"/>
            <a:r>
              <a:rPr sz="1100" b="0" i="0">
                <a:solidFill>
                  <a:srgbClr val="4A5058"/>
                </a:solidFill>
              </a:rPr>
              <a:t>companies in the pack</a:t>
            </a:r>
          </a:p>
        </p:txBody>
      </p:sp>
      <p:sp>
        <p:nvSpPr>
          <p:cNvPr id="34" name="Rectangle 33"/>
          <p:cNvSpPr/>
          <p:nvPr/>
        </p:nvSpPr>
        <p:spPr>
          <a:xfrm>
            <a:off x="7979664" y="4206240"/>
            <a:ext cx="1670304" cy="12801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071104" y="4261104"/>
            <a:ext cx="1533144" cy="411480"/>
          </a:xfrm>
          <a:prstGeom prst="rect">
            <a:avLst/>
          </a:prstGeom>
          <a:noFill/>
        </p:spPr>
        <p:txBody>
          <a:bodyPr wrap="square" lIns="0" rIns="0" tIns="0" bIns="0" anchor="ctr">
            <a:spAutoFit/>
          </a:bodyPr>
          <a:lstStyle/>
          <a:p>
            <a:pPr algn="l"/>
            <a:r>
              <a:rPr sz="1600" b="1" i="0">
                <a:solidFill>
                  <a:srgbClr val="8A1626"/>
                </a:solidFill>
              </a:rPr>
              <a:t>98 of 99</a:t>
            </a:r>
          </a:p>
        </p:txBody>
      </p:sp>
      <p:sp>
        <p:nvSpPr>
          <p:cNvPr id="36" name="TextBox 35"/>
          <p:cNvSpPr txBox="1"/>
          <p:nvPr/>
        </p:nvSpPr>
        <p:spPr>
          <a:xfrm>
            <a:off x="8071104" y="4681728"/>
            <a:ext cx="1533144" cy="777240"/>
          </a:xfrm>
          <a:prstGeom prst="rect">
            <a:avLst/>
          </a:prstGeom>
          <a:noFill/>
        </p:spPr>
        <p:txBody>
          <a:bodyPr wrap="square" lIns="0" rIns="0" tIns="0" bIns="0" anchor="t">
            <a:spAutoFit/>
          </a:bodyPr>
          <a:lstStyle/>
          <a:p>
            <a:pPr algn="l"/>
            <a:r>
              <a:rPr sz="1100" b="0" i="0">
                <a:solidFill>
                  <a:srgbClr val="4A5058"/>
                </a:solidFill>
              </a:rPr>
              <a:t>listed Nasdaq-100 members held by QQQ</a:t>
            </a:r>
          </a:p>
        </p:txBody>
      </p:sp>
      <p:sp>
        <p:nvSpPr>
          <p:cNvPr id="37" name="Rectangle 36"/>
          <p:cNvSpPr/>
          <p:nvPr/>
        </p:nvSpPr>
        <p:spPr>
          <a:xfrm>
            <a:off x="9741408" y="4206240"/>
            <a:ext cx="1670304" cy="12801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832848" y="4261104"/>
            <a:ext cx="1533144" cy="411480"/>
          </a:xfrm>
          <a:prstGeom prst="rect">
            <a:avLst/>
          </a:prstGeom>
          <a:noFill/>
        </p:spPr>
        <p:txBody>
          <a:bodyPr wrap="square" lIns="0" rIns="0" tIns="0" bIns="0" anchor="ctr">
            <a:spAutoFit/>
          </a:bodyPr>
          <a:lstStyle/>
          <a:p>
            <a:pPr algn="l"/>
            <a:r>
              <a:rPr sz="1600" b="1" i="0">
                <a:solidFill>
                  <a:srgbClr val="8A1626"/>
                </a:solidFill>
              </a:rPr>
              <a:t>162</a:t>
            </a:r>
          </a:p>
        </p:txBody>
      </p:sp>
      <p:sp>
        <p:nvSpPr>
          <p:cNvPr id="39" name="TextBox 38"/>
          <p:cNvSpPr txBox="1"/>
          <p:nvPr/>
        </p:nvSpPr>
        <p:spPr>
          <a:xfrm>
            <a:off x="9832848" y="4681728"/>
            <a:ext cx="1533144" cy="777240"/>
          </a:xfrm>
          <a:prstGeom prst="rect">
            <a:avLst/>
          </a:prstGeom>
          <a:noFill/>
        </p:spPr>
        <p:txBody>
          <a:bodyPr wrap="square" lIns="0" rIns="0" tIns="0" bIns="0" anchor="t">
            <a:spAutoFit/>
          </a:bodyPr>
          <a:lstStyle/>
          <a:p>
            <a:pPr algn="l"/>
            <a:r>
              <a:rPr sz="1100" b="0" i="0">
                <a:solidFill>
                  <a:srgbClr val="4A5058"/>
                </a:solidFill>
              </a:rPr>
              <a:t>WHAT terms, 23 new for funds</a:t>
            </a:r>
          </a:p>
        </p:txBody>
      </p:sp>
      <p:sp>
        <p:nvSpPr>
          <p:cNvPr id="40" name="Rectangle 3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The Dow is weighed by price and the Nasdaq-100 capped, as their methods do — the active shares fell to what an investor expects.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GROUPINGS AND ANALYTICS, COMPUTED</a:t>
            </a:r>
          </a:p>
        </p:txBody>
      </p:sp>
      <p:sp>
        <p:nvSpPr>
          <p:cNvPr id="3" name="Title 2"/>
          <p:cNvSpPr>
            <a:spLocks noGrp="1"/>
          </p:cNvSpPr>
          <p:nvPr>
            <p:ph type="title" idx="104"/>
          </p:nvPr>
        </p:nvSpPr>
        <p:spPr/>
        <p:txBody>
          <a:bodyPr lIns="0" rIns="0" tIns="0" bIns="0" anchor="t"/>
          <a:lstStyle/>
          <a:p>
            <a:r>
              <a:t>Groupings and analytics computed from their members, not stored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63040"/>
          <a:ext cx="6400800" cy="3200400"/>
        </p:xfrm>
        <a:graphic>
          <a:graphicData uri="http://schemas.openxmlformats.org/drawingml/2006/table">
            <a:tbl>
              <a:tblPr firstRow="0" bandRow="0">
                <a:tableStyleId>{5940675A-B579-460E-94D1-54222C63F5DA}</a:tableStyleId>
              </a:tblPr>
              <a:tblGrid>
                <a:gridCol w="1234440"/>
                <a:gridCol w="3703320"/>
                <a:gridCol w="1463040"/>
              </a:tblGrid>
              <a:tr h="457200">
                <a:tc>
                  <a:txBody>
                    <a:bodyPr wrap="square"/>
                    <a:lstStyle/>
                    <a:p>
                      <a:r>
                        <a:rPr sz="1100" b="1" i="0">
                          <a:solidFill>
                            <a:srgbClr val="FFFFFF"/>
                          </a:solidFill>
                        </a:rPr>
                        <a:t>Command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Computed from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100" b="1" i="0">
                          <a:solidFill>
                            <a:srgbClr val="8A1626"/>
                          </a:solidFill>
                        </a:rPr>
                        <a:t>LEIG · LEIC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GLEIF relationships: ownership groups (no member cap), entities per country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gleif-groupings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SIC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sector's companies: count, revenue, net income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us-equities-groupings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ECG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member economies: GDP summed, growth GDP-weighted, inflation the median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macro-groupings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CORR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price history: Pearson or Ledoit-Wolf over a chosen 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CorrelationEngine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EQB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an equity's beta against its index, from both histories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BetaEngine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USEQ · IDX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ratios, yearly change of a fact, index totals: worked out by the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pic>
        <p:nvPicPr>
          <p:cNvPr id="27" name="Correlation computed" descr="08-corr-pearson.jpg"/>
          <p:cNvPicPr>
            <a:picLocks noChangeAspect="1"/>
          </p:cNvPicPr>
          <p:nvPr/>
        </p:nvPicPr>
        <p:blipFill>
          <a:blip r:embed="rId2"/>
          <a:stretch>
            <a:fillRect/>
          </a:stretch>
        </p:blipFill>
        <p:spPr>
          <a:xfrm>
            <a:off x="7566660" y="1463040"/>
            <a:ext cx="3730752" cy="2331720"/>
          </a:xfrm>
          <a:prstGeom prst="rect">
            <a:avLst/>
          </a:prstGeom>
          <a:ln w="9525">
            <a:solidFill>
              <a:srgbClr val="CFC8BE"/>
            </a:solidFill>
          </a:ln>
        </p:spPr>
      </p:pic>
      <p:sp>
        <p:nvSpPr>
          <p:cNvPr id="28" name="TextBox 27"/>
          <p:cNvSpPr txBox="1"/>
          <p:nvPr/>
        </p:nvSpPr>
        <p:spPr>
          <a:xfrm>
            <a:off x="7452360" y="3840480"/>
            <a:ext cx="3959352" cy="274320"/>
          </a:xfrm>
          <a:prstGeom prst="rect">
            <a:avLst/>
          </a:prstGeom>
          <a:noFill/>
        </p:spPr>
        <p:txBody>
          <a:bodyPr wrap="square" lIns="0" rIns="0" tIns="0" bIns="0" anchor="t">
            <a:spAutoFit/>
          </a:bodyPr>
          <a:lstStyle/>
          <a:p>
            <a:pPr algn="l"/>
            <a:r>
              <a:rPr sz="1050" b="0" i="1">
                <a:solidFill>
                  <a:srgbClr val="61666E"/>
                </a:solidFill>
              </a:rPr>
              <a:t>CORR CORR-EU-EQ: estimator and window on the page (tutorial 27).</a:t>
            </a:r>
          </a:p>
        </p:txBody>
      </p:sp>
      <p:sp>
        <p:nvSpPr>
          <p:cNvPr id="29" name="Rectangle 28"/>
          <p:cNvSpPr/>
          <p:nvPr/>
        </p:nvSpPr>
        <p:spPr>
          <a:xfrm>
            <a:off x="7452360" y="4251960"/>
            <a:ext cx="3959352" cy="128016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562088" y="4325112"/>
            <a:ext cx="3739896" cy="1152143"/>
          </a:xfrm>
          <a:prstGeom prst="rect">
            <a:avLst/>
          </a:prstGeom>
          <a:noFill/>
        </p:spPr>
        <p:txBody>
          <a:bodyPr wrap="square" lIns="0" rIns="0" tIns="0" bIns="0" anchor="t">
            <a:spAutoFit/>
          </a:bodyPr>
          <a:lstStyle/>
          <a:p>
            <a:pPr algn="l">
              <a:spcAft>
                <a:spcPts val="300"/>
              </a:spcAft>
            </a:pPr>
            <a:r>
              <a:rPr sz="1250" b="1" i="0">
                <a:solidFill>
                  <a:srgbClr val="8A1626"/>
                </a:solidFill>
              </a:rPr>
              <a:t>The numbers change, and say why</a:t>
            </a:r>
          </a:p>
          <a:p>
            <a:pPr algn="l"/>
            <a:r>
              <a:rPr sz="1150" b="0" i="0">
                <a:solidFill>
                  <a:srgbClr val="4A5058"/>
                </a:solidFill>
              </a:rPr>
              <a:t>Stored correlations were set by hand at about 0.4; computed, about 0.1, because the demo's price series are independent. The reconciliation is in the guide.</a:t>
            </a:r>
          </a:p>
        </p:txBody>
      </p:sp>
      <p:sp>
        <p:nvSpPr>
          <p:cNvPr id="31" name="TextBox 30"/>
          <p:cNvSpPr txBox="1"/>
          <p:nvPr/>
        </p:nvSpPr>
        <p:spPr>
          <a:xfrm>
            <a:off x="777240" y="4800600"/>
            <a:ext cx="6400800" cy="731520"/>
          </a:xfrm>
          <a:prstGeom prst="rect">
            <a:avLst/>
          </a:prstGeom>
          <a:noFill/>
        </p:spPr>
        <p:txBody>
          <a:bodyPr wrap="square" lIns="0" rIns="0" tIns="0" bIns="0" anchor="t">
            <a:spAutoFit/>
          </a:bodyPr>
          <a:lstStyle/>
          <a:p>
            <a:pPr algn="l"/>
            <a:r>
              <a:rPr sz="1150" b="1" i="0">
                <a:solidFill>
                  <a:srgbClr val="8A1626"/>
                </a:solidFill>
              </a:rPr>
              <a:t>Old ids open the computed pages; </a:t>
            </a:r>
            <a:r>
              <a:rPr sz="1150" b="0" i="0">
                <a:solidFill>
                  <a:srgbClr val="1A1A1A"/>
                </a:solidFill>
              </a:rPr>
              <a:t>a control that feeds a computed panel (CORR's estimator and window) recomputes it at once.</a:t>
            </a:r>
          </a:p>
        </p:txBody>
      </p:sp>
      <p:sp>
        <p:nvSpPr>
          <p:cNvPr id="32" name="Rectangle 3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Retire the stored copy, keep the id: users follow the same links and get a figure they can re-derive.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DATA CONTRACTS FOR EVERY COMMAND</a:t>
            </a:r>
          </a:p>
        </p:txBody>
      </p:sp>
      <p:sp>
        <p:nvSpPr>
          <p:cNvPr id="3" name="Title 2"/>
          <p:cNvSpPr>
            <a:spLocks noGrp="1"/>
          </p:cNvSpPr>
          <p:nvPr>
            <p:ph type="title" idx="104"/>
          </p:nvPr>
        </p:nvSpPr>
        <p:spPr/>
        <p:txBody>
          <a:bodyPr lIns="0" rIns="0" tIns="0" bIns="0" anchor="t"/>
          <a:lstStyle/>
          <a:p>
            <a:r>
              <a:t>One contract per command, and everything else is generated from 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566160" cy="233172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356616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3291840" cy="329184"/>
          </a:xfrm>
          <a:prstGeom prst="rect">
            <a:avLst/>
          </a:prstGeom>
          <a:noFill/>
        </p:spPr>
        <p:txBody>
          <a:bodyPr wrap="square" lIns="0" rIns="0" tIns="0" bIns="0" anchor="ctr">
            <a:spAutoFit/>
          </a:bodyPr>
          <a:lstStyle/>
          <a:p>
            <a:pPr algn="l"/>
            <a:r>
              <a:rPr sz="1150" b="1" i="0">
                <a:solidFill>
                  <a:srgbClr val="FFFFFF"/>
                </a:solidFill>
              </a:rPr>
              <a:t>config/packs/&lt;pack&gt;/contracts/&lt;kind&gt;.contract.yaml</a:t>
            </a:r>
          </a:p>
        </p:txBody>
      </p:sp>
      <p:sp>
        <p:nvSpPr>
          <p:cNvPr id="29" name="TextBox 28"/>
          <p:cNvSpPr txBox="1"/>
          <p:nvPr/>
        </p:nvSpPr>
        <p:spPr>
          <a:xfrm>
            <a:off x="941832" y="1901952"/>
            <a:ext cx="3291840" cy="1828799"/>
          </a:xfrm>
          <a:prstGeom prst="rect">
            <a:avLst/>
          </a:prstGeom>
          <a:noFill/>
        </p:spPr>
        <p:txBody>
          <a:bodyPr wrap="square" lIns="0" rIns="0" tIns="0" bIns="0" anchor="t">
            <a:spAutoFit/>
          </a:bodyPr>
          <a:lstStyle/>
          <a:p>
            <a:pPr algn="l">
              <a:spcAft>
                <a:spcPts val="200"/>
              </a:spcAft>
            </a:pPr>
            <a:r>
              <a:rPr sz="1050" b="0" i="0">
                <a:solidFill>
                  <a:srgbClr val="F1EEE9"/>
                </a:solidFill>
                <a:latin typeface="Courier New"/>
              </a:rPr>
              <a:t>kind · mnemonic · grain · key</a:t>
            </a:r>
          </a:p>
          <a:p>
            <a:pPr algn="l">
              <a:spcAft>
                <a:spcPts val="200"/>
              </a:spcAft>
            </a:pPr>
            <a:r>
              <a:rPr sz="1050" b="0" i="0">
                <a:solidFill>
                  <a:srgbClr val="F1EEE9"/>
                </a:solidFill>
                <a:latin typeface="Courier New"/>
              </a:rPr>
              <a:t>columns: name, type, unit,</a:t>
            </a:r>
          </a:p>
          <a:p>
            <a:pPr algn="l">
              <a:spcAft>
                <a:spcPts val="200"/>
              </a:spcAft>
            </a:pPr>
            <a:r>
              <a:rPr sz="1050" b="0" i="0">
                <a:solidFill>
                  <a:srgbClr val="F1EEE9"/>
                </a:solidFill>
                <a:latin typeface="Courier New"/>
              </a:rPr>
              <a:t>  meaning, source, example</a:t>
            </a:r>
          </a:p>
          <a:p>
            <a:pPr algn="l">
              <a:spcAft>
                <a:spcPts val="200"/>
              </a:spcAft>
            </a:pPr>
            <a:r>
              <a:rPr sz="1050" b="0" i="0">
                <a:solidFill>
                  <a:srgbClr val="F1EEE9"/>
                </a:solidFill>
                <a:latin typeface="Courier New"/>
              </a:rPr>
              <a:t>delivery · validation</a:t>
            </a:r>
          </a:p>
          <a:p>
            <a:pPr algn="l">
              <a:spcAft>
                <a:spcPts val="200"/>
              </a:spcAft>
            </a:pPr>
            <a:r>
              <a:rPr sz="1050" b="0" i="0">
                <a:solidFill>
                  <a:srgbClr val="F1EEE9"/>
                </a:solidFill>
                <a:latin typeface="Courier New"/>
              </a:rPr>
              <a:t>entitlements · retention</a:t>
            </a:r>
          </a:p>
          <a:p>
            <a:pPr algn="l">
              <a:spcAft>
                <a:spcPts val="200"/>
              </a:spcAft>
            </a:pPr>
            <a:r>
              <a:rPr sz="1050" b="0" i="0">
                <a:solidFill>
                  <a:srgbClr val="F1EEE9"/>
                </a:solidFill>
                <a:latin typeface="Courier New"/>
              </a:rPr>
              <a:t>kind of data: fundamental,</a:t>
            </a:r>
          </a:p>
          <a:p>
            <a:pPr algn="l">
              <a:spcAft>
                <a:spcPts val="200"/>
              </a:spcAft>
            </a:pPr>
            <a:r>
              <a:rPr sz="1050" b="0" i="0">
                <a:solidFill>
                  <a:srgbClr val="F1EEE9"/>
                </a:solidFill>
                <a:latin typeface="Courier New"/>
              </a:rPr>
              <a:t>  engine input, own, computed</a:t>
            </a:r>
          </a:p>
        </p:txBody>
      </p:sp>
      <p:cxnSp>
        <p:nvCxnSpPr>
          <p:cNvPr id="30" name="Connector 29"/>
          <p:cNvCxnSpPr/>
          <p:nvPr/>
        </p:nvCxnSpPr>
        <p:spPr>
          <a:xfrm flipV="1">
            <a:off x="4343400" y="1737360"/>
            <a:ext cx="484632" cy="896112"/>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4846320" y="1463040"/>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937759" y="1481328"/>
            <a:ext cx="3108960" cy="512063"/>
          </a:xfrm>
          <a:prstGeom prst="rect">
            <a:avLst/>
          </a:prstGeom>
          <a:noFill/>
        </p:spPr>
        <p:txBody>
          <a:bodyPr wrap="square" lIns="0" rIns="0" tIns="0" bIns="0" anchor="ctr">
            <a:spAutoFit/>
          </a:bodyPr>
          <a:lstStyle/>
          <a:p>
            <a:pPr algn="l"/>
            <a:r>
              <a:rPr sz="1150" b="1" i="0">
                <a:solidFill>
                  <a:srgbClr val="8A1626"/>
                </a:solidFill>
              </a:rPr>
              <a:t>drishti.py contract  </a:t>
            </a:r>
            <a:r>
              <a:rPr sz="1050" b="0" i="0">
                <a:solidFill>
                  <a:srgbClr val="1A1A1A"/>
                </a:solidFill>
              </a:rPr>
              <a:t>list, show, check, docs, bootstrap; kept current by tests</a:t>
            </a:r>
          </a:p>
        </p:txBody>
      </p:sp>
      <p:cxnSp>
        <p:nvCxnSpPr>
          <p:cNvPr id="33" name="Connector 32"/>
          <p:cNvCxnSpPr/>
          <p:nvPr/>
        </p:nvCxnSpPr>
        <p:spPr>
          <a:xfrm flipV="1">
            <a:off x="4343400" y="2340863"/>
            <a:ext cx="484632" cy="292609"/>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4846320" y="2066543"/>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4937759" y="2084831"/>
            <a:ext cx="3108960" cy="512063"/>
          </a:xfrm>
          <a:prstGeom prst="rect">
            <a:avLst/>
          </a:prstGeom>
          <a:noFill/>
        </p:spPr>
        <p:txBody>
          <a:bodyPr wrap="square" lIns="0" rIns="0" tIns="0" bIns="0" anchor="ctr">
            <a:spAutoFit/>
          </a:bodyPr>
          <a:lstStyle/>
          <a:p>
            <a:pPr algn="l"/>
            <a:r>
              <a:rPr sz="1150" b="1" i="0">
                <a:solidFill>
                  <a:srgbClr val="8A1626"/>
                </a:solidFill>
              </a:rPr>
              <a:t>Generated pages  </a:t>
            </a:r>
            <a:r>
              <a:rPr sz="1050" b="0" i="0">
                <a:solidFill>
                  <a:srgbClr val="1A1A1A"/>
                </a:solidFill>
              </a:rPr>
              <a:t>docs/contracts and the COMMAND_CATALOG: every command, what it does, an example</a:t>
            </a:r>
          </a:p>
        </p:txBody>
      </p:sp>
      <p:cxnSp>
        <p:nvCxnSpPr>
          <p:cNvPr id="36" name="Connector 35"/>
          <p:cNvCxnSpPr/>
          <p:nvPr/>
        </p:nvCxnSpPr>
        <p:spPr>
          <a:xfrm>
            <a:off x="4343400" y="2633472"/>
            <a:ext cx="484632" cy="310896"/>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4846320" y="2670048"/>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4937759" y="2688336"/>
            <a:ext cx="3108960" cy="512063"/>
          </a:xfrm>
          <a:prstGeom prst="rect">
            <a:avLst/>
          </a:prstGeom>
          <a:noFill/>
        </p:spPr>
        <p:txBody>
          <a:bodyPr wrap="square" lIns="0" rIns="0" tIns="0" bIns="0" anchor="ctr">
            <a:spAutoFit/>
          </a:bodyPr>
          <a:lstStyle/>
          <a:p>
            <a:pPr algn="l"/>
            <a:r>
              <a:rPr sz="1150" b="1" i="0">
                <a:solidFill>
                  <a:srgbClr val="8A1626"/>
                </a:solidFill>
              </a:rPr>
              <a:t>Every pack's guide  </a:t>
            </a:r>
            <a:r>
              <a:rPr sz="1050" b="0" i="0">
                <a:solidFill>
                  <a:srgbClr val="1A1A1A"/>
                </a:solidFill>
              </a:rPr>
              <a:t>ends with its contracts and where each kind's data comes from</a:t>
            </a:r>
          </a:p>
        </p:txBody>
      </p:sp>
      <p:cxnSp>
        <p:nvCxnSpPr>
          <p:cNvPr id="39" name="Connector 38"/>
          <p:cNvCxnSpPr/>
          <p:nvPr/>
        </p:nvCxnSpPr>
        <p:spPr>
          <a:xfrm>
            <a:off x="4343400" y="2633472"/>
            <a:ext cx="484632" cy="914400"/>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4846320" y="3273552"/>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937759" y="3291840"/>
            <a:ext cx="3108960" cy="512063"/>
          </a:xfrm>
          <a:prstGeom prst="rect">
            <a:avLst/>
          </a:prstGeom>
          <a:noFill/>
        </p:spPr>
        <p:txBody>
          <a:bodyPr wrap="square" lIns="0" rIns="0" tIns="0" bIns="0" anchor="ctr">
            <a:spAutoFit/>
          </a:bodyPr>
          <a:lstStyle/>
          <a:p>
            <a:pPr algn="l"/>
            <a:r>
              <a:rPr sz="1150" b="1" i="0">
                <a:solidFill>
                  <a:srgbClr val="8A1626"/>
                </a:solidFill>
              </a:rPr>
              <a:t>DATAMAP  </a:t>
            </a:r>
            <a:r>
              <a:rPr sz="1050" b="0" i="0">
                <a:solidFill>
                  <a:srgbClr val="1A1A1A"/>
                </a:solidFill>
              </a:rPr>
              <a:t>joins between kinds drawn from the contracts and checked against the data</a:t>
            </a:r>
          </a:p>
        </p:txBody>
      </p:sp>
      <p:cxnSp>
        <p:nvCxnSpPr>
          <p:cNvPr id="42" name="Connector 41"/>
          <p:cNvCxnSpPr/>
          <p:nvPr/>
        </p:nvCxnSpPr>
        <p:spPr>
          <a:xfrm>
            <a:off x="4343400" y="2633472"/>
            <a:ext cx="484632" cy="1517904"/>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4846320" y="3877056"/>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4937759" y="3895344"/>
            <a:ext cx="3108960" cy="512063"/>
          </a:xfrm>
          <a:prstGeom prst="rect">
            <a:avLst/>
          </a:prstGeom>
          <a:noFill/>
        </p:spPr>
        <p:txBody>
          <a:bodyPr wrap="square" lIns="0" rIns="0" tIns="0" bIns="0" anchor="ctr">
            <a:spAutoFit/>
          </a:bodyPr>
          <a:lstStyle/>
          <a:p>
            <a:pPr algn="l"/>
            <a:r>
              <a:rPr sz="1150" b="1" i="0">
                <a:solidFill>
                  <a:srgbClr val="8A1626"/>
                </a:solidFill>
              </a:rPr>
              <a:t>FUNC  </a:t>
            </a:r>
            <a:r>
              <a:rPr sz="1050" b="0" i="0">
                <a:solidFill>
                  <a:srgbClr val="1A1A1A"/>
                </a:solidFill>
              </a:rPr>
              <a:t>Views → Functions: every command you may use, by pack; FUNC &lt;words&gt; filters</a:t>
            </a:r>
          </a:p>
        </p:txBody>
      </p:sp>
      <p:sp>
        <p:nvSpPr>
          <p:cNvPr id="45" name="TextBox 44"/>
          <p:cNvSpPr txBox="1"/>
          <p:nvPr/>
        </p:nvSpPr>
        <p:spPr>
          <a:xfrm>
            <a:off x="8366760" y="1463040"/>
            <a:ext cx="3044952" cy="274320"/>
          </a:xfrm>
          <a:prstGeom prst="rect">
            <a:avLst/>
          </a:prstGeom>
          <a:noFill/>
        </p:spPr>
        <p:txBody>
          <a:bodyPr wrap="square" lIns="0" rIns="0" tIns="0" bIns="0" anchor="t">
            <a:spAutoFit/>
          </a:bodyPr>
          <a:lstStyle/>
          <a:p>
            <a:pPr algn="l"/>
            <a:r>
              <a:rPr sz="1250" b="1" i="0">
                <a:solidFill>
                  <a:srgbClr val="A51C30"/>
                </a:solidFill>
              </a:rPr>
              <a:t>The 106 commands, by kind of data</a:t>
            </a:r>
          </a:p>
        </p:txBody>
      </p:sp>
      <p:graphicFrame>
        <p:nvGraphicFramePr>
          <p:cNvPr id="46" name="Kinds of data chart"/>
          <p:cNvGraphicFramePr>
            <a:graphicFrameLocks noGrp="1"/>
          </p:cNvGraphicFramePr>
          <p:nvPr/>
        </p:nvGraphicFramePr>
        <p:xfrm>
          <a:off x="8366760" y="1737360"/>
          <a:ext cx="3044952" cy="1828800"/>
        </p:xfrm>
        <a:graphic>
          <a:graphicData uri="http://schemas.openxmlformats.org/drawingml/2006/chart">
            <c:chart xmlns:c="http://schemas.openxmlformats.org/drawingml/2006/chart" r:id="rId2"/>
          </a:graphicData>
        </a:graphic>
      </p:graphicFrame>
      <p:sp>
        <p:nvSpPr>
          <p:cNvPr id="47" name="TextBox 46"/>
          <p:cNvSpPr txBox="1"/>
          <p:nvPr/>
        </p:nvSpPr>
        <p:spPr>
          <a:xfrm>
            <a:off x="8366760" y="3611880"/>
            <a:ext cx="3044952" cy="411480"/>
          </a:xfrm>
          <a:prstGeom prst="rect">
            <a:avLst/>
          </a:prstGeom>
          <a:noFill/>
        </p:spPr>
        <p:txBody>
          <a:bodyPr wrap="square" lIns="0" rIns="0" tIns="0" bIns="0" anchor="t">
            <a:spAutoFit/>
          </a:bodyPr>
          <a:lstStyle/>
          <a:p>
            <a:pPr algn="l"/>
            <a:r>
              <a:rPr sz="1100" b="0" i="1">
                <a:solidFill>
                  <a:srgbClr val="4A5058"/>
                </a:solidFill>
              </a:rPr>
              <a:t>A computed figure is never stored in a fundamental or input table: a guard test fails the build.</a:t>
            </a:r>
          </a:p>
        </p:txBody>
      </p:sp>
      <p:sp>
        <p:nvSpPr>
          <p:cNvPr id="48" name="Rectangle 47"/>
          <p:cNvSpPr/>
          <p:nvPr/>
        </p:nvSpPr>
        <p:spPr>
          <a:xfrm>
            <a:off x="777240" y="4526280"/>
            <a:ext cx="10634472" cy="96012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914400" y="4572000"/>
            <a:ext cx="2194560" cy="868680"/>
          </a:xfrm>
          <a:prstGeom prst="rect">
            <a:avLst/>
          </a:prstGeom>
          <a:noFill/>
        </p:spPr>
        <p:txBody>
          <a:bodyPr wrap="square" lIns="0" rIns="0" tIns="0" bIns="0" anchor="ctr">
            <a:spAutoFit/>
          </a:bodyPr>
          <a:lstStyle/>
          <a:p>
            <a:pPr algn="l"/>
            <a:r>
              <a:rPr sz="1300" b="1" i="0">
                <a:solidFill>
                  <a:srgbClr val="8A1626"/>
                </a:solidFill>
              </a:rPr>
              <a:t>Admin → Commands</a:t>
            </a:r>
          </a:p>
          <a:p>
            <a:pPr algn="l"/>
            <a:r>
              <a:rPr sz="1100" b="0" i="0">
                <a:solidFill>
                  <a:srgbClr val="61666E"/>
                </a:solidFill>
              </a:rPr>
              <a:t>per command</a:t>
            </a:r>
          </a:p>
        </p:txBody>
      </p:sp>
      <p:sp>
        <p:nvSpPr>
          <p:cNvPr id="50" name="Rectangle 49"/>
          <p:cNvSpPr/>
          <p:nvPr/>
        </p:nvSpPr>
        <p:spPr>
          <a:xfrm>
            <a:off x="3154680" y="4654296"/>
            <a:ext cx="2514600" cy="71323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3227832" y="4700016"/>
            <a:ext cx="2386584" cy="640080"/>
          </a:xfrm>
          <a:prstGeom prst="rect">
            <a:avLst/>
          </a:prstGeom>
          <a:noFill/>
        </p:spPr>
        <p:txBody>
          <a:bodyPr wrap="square" lIns="0" rIns="0" tIns="0" bIns="0" anchor="t">
            <a:spAutoFit/>
          </a:bodyPr>
          <a:lstStyle/>
          <a:p>
            <a:pPr algn="l">
              <a:spcAft>
                <a:spcPts val="100"/>
              </a:spcAft>
            </a:pPr>
            <a:r>
              <a:rPr sz="1150" b="1" i="0">
                <a:solidFill>
                  <a:srgbClr val="8A1626"/>
                </a:solidFill>
              </a:rPr>
              <a:t>Switch off</a:t>
            </a:r>
          </a:p>
          <a:p>
            <a:pPr algn="l"/>
            <a:r>
              <a:rPr sz="1050" b="0" i="0">
                <a:solidFill>
                  <a:srgbClr val="1A1A1A"/>
                </a:solidFill>
              </a:rPr>
              <a:t>any command, for everyone, with a reason</a:t>
            </a:r>
          </a:p>
        </p:txBody>
      </p:sp>
      <p:cxnSp>
        <p:nvCxnSpPr>
          <p:cNvPr id="52" name="Connector 51"/>
          <p:cNvCxnSpPr/>
          <p:nvPr/>
        </p:nvCxnSpPr>
        <p:spPr>
          <a:xfrm>
            <a:off x="5687568" y="5010912"/>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5943600" y="4654296"/>
            <a:ext cx="2514600" cy="71323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6016752" y="4700016"/>
            <a:ext cx="2386584" cy="640080"/>
          </a:xfrm>
          <a:prstGeom prst="rect">
            <a:avLst/>
          </a:prstGeom>
          <a:noFill/>
        </p:spPr>
        <p:txBody>
          <a:bodyPr wrap="square" lIns="0" rIns="0" tIns="0" bIns="0" anchor="t">
            <a:spAutoFit/>
          </a:bodyPr>
          <a:lstStyle/>
          <a:p>
            <a:pPr algn="l">
              <a:spcAft>
                <a:spcPts val="100"/>
              </a:spcAft>
            </a:pPr>
            <a:r>
              <a:rPr sz="1150" b="1" i="0">
                <a:solidFill>
                  <a:srgbClr val="8A1626"/>
                </a:solidFill>
              </a:rPr>
              <a:t>Stored and gossiped</a:t>
            </a:r>
          </a:p>
          <a:p>
            <a:pPr algn="l"/>
            <a:r>
              <a:rPr sz="1050" b="0" i="0">
                <a:solidFill>
                  <a:srgbClr val="1A1A1A"/>
                </a:solidFill>
              </a:rPr>
              <a:t>the Drishti database, every server</a:t>
            </a:r>
          </a:p>
        </p:txBody>
      </p:sp>
      <p:cxnSp>
        <p:nvCxnSpPr>
          <p:cNvPr id="55" name="Connector 54"/>
          <p:cNvCxnSpPr/>
          <p:nvPr/>
        </p:nvCxnSpPr>
        <p:spPr>
          <a:xfrm>
            <a:off x="8476488" y="5010912"/>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8732520" y="4654296"/>
            <a:ext cx="2514600" cy="71323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8805672" y="4700016"/>
            <a:ext cx="2386584" cy="640080"/>
          </a:xfrm>
          <a:prstGeom prst="rect">
            <a:avLst/>
          </a:prstGeom>
          <a:noFill/>
        </p:spPr>
        <p:txBody>
          <a:bodyPr wrap="square" lIns="0" rIns="0" tIns="0" bIns="0" anchor="t">
            <a:spAutoFit/>
          </a:bodyPr>
          <a:lstStyle/>
          <a:p>
            <a:pPr algn="l">
              <a:spcAft>
                <a:spcPts val="100"/>
              </a:spcAft>
            </a:pPr>
            <a:r>
              <a:rPr sz="1150" b="1" i="0">
                <a:solidFill>
                  <a:srgbClr val="8A1626"/>
                </a:solidFill>
              </a:rPr>
              <a:t>'Not active' everywhere</a:t>
            </a:r>
          </a:p>
          <a:p>
            <a:pPr algn="l"/>
            <a:r>
              <a:rPr sz="1050" b="0" i="0">
                <a:solidFill>
                  <a:srgbClr val="1A1A1A"/>
                </a:solidFill>
              </a:rPr>
              <a:t>page, API, CLI, search, exports, BI, AI: 403 DRS-1016</a:t>
            </a:r>
          </a:p>
        </p:txBody>
      </p:sp>
      <p:sp>
        <p:nvSpPr>
          <p:cNvPr id="58" name="Rectangle 5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Rectangle 5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command's meaning lives in one file; the catalog, the guides, the map and the switches read 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VAR · COMPUTED FOR ANY SCOPE</a:t>
            </a:r>
          </a:p>
        </p:txBody>
      </p:sp>
      <p:sp>
        <p:nvSpPr>
          <p:cNvPr id="3" name="Title 2"/>
          <p:cNvSpPr>
            <a:spLocks noGrp="1"/>
          </p:cNvSpPr>
          <p:nvPr>
            <p:ph type="title" idx="104"/>
          </p:nvPr>
        </p:nvSpPr>
        <p:spPr/>
        <p:txBody>
          <a:bodyPr lIns="0" rIns="0" tIns="0" bIns="0" anchor="t"/>
          <a:lstStyle/>
          <a:p>
            <a:r>
              <a:t>VaR is a computation over the trades, never a stored number</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VaR explorer" descr="01-explorer-desk.jpg"/>
          <p:cNvPicPr>
            <a:picLocks noChangeAspect="1"/>
          </p:cNvPicPr>
          <p:nvPr/>
        </p:nvPicPr>
        <p:blipFill>
          <a:blip r:embed="rId2"/>
          <a:stretch>
            <a:fillRect/>
          </a:stretch>
        </p:blipFill>
        <p:spPr>
          <a:xfrm>
            <a:off x="777240" y="1456182"/>
            <a:ext cx="5669280" cy="3543300"/>
          </a:xfrm>
          <a:prstGeom prst="rect">
            <a:avLst/>
          </a:prstGeom>
          <a:ln w="9525">
            <a:solidFill>
              <a:srgbClr val="CFC8BE"/>
            </a:solidFill>
          </a:ln>
        </p:spPr>
      </p:pic>
      <p:sp>
        <p:nvSpPr>
          <p:cNvPr id="27" name="TextBox 26"/>
          <p:cNvSpPr txBox="1"/>
          <p:nvPr/>
        </p:nvSpPr>
        <p:spPr>
          <a:xfrm>
            <a:off x="777240" y="5029200"/>
            <a:ext cx="5669280" cy="274320"/>
          </a:xfrm>
          <a:prstGeom prst="rect">
            <a:avLst/>
          </a:prstGeom>
          <a:noFill/>
        </p:spPr>
        <p:txBody>
          <a:bodyPr wrap="square" lIns="0" rIns="0" tIns="0" bIns="0" anchor="t">
            <a:spAutoFit/>
          </a:bodyPr>
          <a:lstStyle/>
          <a:p>
            <a:pPr algn="l"/>
            <a:r>
              <a:rPr sz="1050" b="0" i="1">
                <a:solidFill>
                  <a:srgbClr val="61666E"/>
                </a:solidFill>
              </a:rPr>
              <a:t>VAR DESK: the scope tree with limits, six tiles, the P&amp;L path and its tabs (VAR_GUIDE §3).</a:t>
            </a:r>
          </a:p>
        </p:txBody>
      </p:sp>
      <p:sp>
        <p:nvSpPr>
          <p:cNvPr id="28" name="Rectangle 27"/>
          <p:cNvSpPr/>
          <p:nvPr/>
        </p:nvSpPr>
        <p:spPr>
          <a:xfrm>
            <a:off x="6720840" y="1444752"/>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6720840" y="1444752"/>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903720" y="1536192"/>
            <a:ext cx="2002536" cy="457200"/>
          </a:xfrm>
          <a:prstGeom prst="rect">
            <a:avLst/>
          </a:prstGeom>
          <a:noFill/>
        </p:spPr>
        <p:txBody>
          <a:bodyPr wrap="square" lIns="0" rIns="0" tIns="0" bIns="0" anchor="ctr">
            <a:spAutoFit/>
          </a:bodyPr>
          <a:lstStyle/>
          <a:p>
            <a:pPr algn="l"/>
            <a:r>
              <a:rPr sz="1900" b="1" i="0">
                <a:solidFill>
                  <a:srgbClr val="8A1626"/>
                </a:solidFill>
              </a:rPr>
              <a:t>112.04m</a:t>
            </a:r>
          </a:p>
        </p:txBody>
      </p:sp>
      <p:sp>
        <p:nvSpPr>
          <p:cNvPr id="31" name="TextBox 30"/>
          <p:cNvSpPr txBox="1"/>
          <p:nvPr/>
        </p:nvSpPr>
        <p:spPr>
          <a:xfrm>
            <a:off x="6903720" y="2011680"/>
            <a:ext cx="2002536" cy="274319"/>
          </a:xfrm>
          <a:prstGeom prst="rect">
            <a:avLst/>
          </a:prstGeom>
          <a:noFill/>
        </p:spPr>
        <p:txBody>
          <a:bodyPr wrap="square" lIns="0" rIns="0" tIns="0" bIns="0" anchor="t">
            <a:spAutoFit/>
          </a:bodyPr>
          <a:lstStyle/>
          <a:p>
            <a:pPr algn="l"/>
            <a:r>
              <a:rPr sz="1150" b="0" i="0">
                <a:solidFill>
                  <a:srgbClr val="4A5058"/>
                </a:solidFill>
              </a:rPr>
              <a:t>bank VaR 99%, 1 day, USD, 2026-09-30</a:t>
            </a:r>
          </a:p>
        </p:txBody>
      </p:sp>
      <p:sp>
        <p:nvSpPr>
          <p:cNvPr id="32" name="Rectangle 31"/>
          <p:cNvSpPr/>
          <p:nvPr/>
        </p:nvSpPr>
        <p:spPr>
          <a:xfrm>
            <a:off x="9134856" y="1444752"/>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9134856" y="1444752"/>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317736" y="1536192"/>
            <a:ext cx="2002536" cy="457200"/>
          </a:xfrm>
          <a:prstGeom prst="rect">
            <a:avLst/>
          </a:prstGeom>
          <a:noFill/>
        </p:spPr>
        <p:txBody>
          <a:bodyPr wrap="square" lIns="0" rIns="0" tIns="0" bIns="0" anchor="ctr">
            <a:spAutoFit/>
          </a:bodyPr>
          <a:lstStyle/>
          <a:p>
            <a:pPr algn="l"/>
            <a:r>
              <a:rPr sz="1900" b="1" i="0">
                <a:solidFill>
                  <a:srgbClr val="8A1626"/>
                </a:solidFill>
              </a:rPr>
              <a:t>160.14m</a:t>
            </a:r>
          </a:p>
        </p:txBody>
      </p:sp>
      <p:sp>
        <p:nvSpPr>
          <p:cNvPr id="35" name="TextBox 34"/>
          <p:cNvSpPr txBox="1"/>
          <p:nvPr/>
        </p:nvSpPr>
        <p:spPr>
          <a:xfrm>
            <a:off x="9317736" y="2011680"/>
            <a:ext cx="2002536" cy="274319"/>
          </a:xfrm>
          <a:prstGeom prst="rect">
            <a:avLst/>
          </a:prstGeom>
          <a:noFill/>
        </p:spPr>
        <p:txBody>
          <a:bodyPr wrap="square" lIns="0" rIns="0" tIns="0" bIns="0" anchor="t">
            <a:spAutoFit/>
          </a:bodyPr>
          <a:lstStyle/>
          <a:p>
            <a:pPr algn="l"/>
            <a:r>
              <a:rPr sz="1150" b="0" i="0">
                <a:solidFill>
                  <a:srgbClr val="4A5058"/>
                </a:solidFill>
              </a:rPr>
              <a:t>ES 97.5%: the mean of the 13 worst</a:t>
            </a:r>
          </a:p>
        </p:txBody>
      </p:sp>
      <p:sp>
        <p:nvSpPr>
          <p:cNvPr id="36" name="Rectangle 35"/>
          <p:cNvSpPr/>
          <p:nvPr/>
        </p:nvSpPr>
        <p:spPr>
          <a:xfrm>
            <a:off x="6720840" y="2432304"/>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ectangle 36"/>
          <p:cNvSpPr/>
          <p:nvPr/>
        </p:nvSpPr>
        <p:spPr>
          <a:xfrm>
            <a:off x="6720840" y="2432304"/>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6903720" y="2523744"/>
            <a:ext cx="2002536" cy="457200"/>
          </a:xfrm>
          <a:prstGeom prst="rect">
            <a:avLst/>
          </a:prstGeom>
          <a:noFill/>
        </p:spPr>
        <p:txBody>
          <a:bodyPr wrap="square" lIns="0" rIns="0" tIns="0" bIns="0" anchor="ctr">
            <a:spAutoFit/>
          </a:bodyPr>
          <a:lstStyle/>
          <a:p>
            <a:pPr algn="l"/>
            <a:r>
              <a:rPr sz="1900" b="1" i="0">
                <a:solidFill>
                  <a:srgbClr val="8A1626"/>
                </a:solidFill>
              </a:rPr>
              <a:t>509</a:t>
            </a:r>
          </a:p>
        </p:txBody>
      </p:sp>
      <p:sp>
        <p:nvSpPr>
          <p:cNvPr id="39" name="TextBox 38"/>
          <p:cNvSpPr txBox="1"/>
          <p:nvPr/>
        </p:nvSpPr>
        <p:spPr>
          <a:xfrm>
            <a:off x="6903720" y="2999232"/>
            <a:ext cx="2002536" cy="274319"/>
          </a:xfrm>
          <a:prstGeom prst="rect">
            <a:avLst/>
          </a:prstGeom>
          <a:noFill/>
        </p:spPr>
        <p:txBody>
          <a:bodyPr wrap="square" lIns="0" rIns="0" tIns="0" bIns="0" anchor="t">
            <a:spAutoFit/>
          </a:bodyPr>
          <a:lstStyle/>
          <a:p>
            <a:pPr algn="l"/>
            <a:r>
              <a:rPr sz="1150" b="0" i="0">
                <a:solidFill>
                  <a:srgbClr val="4A5058"/>
                </a:solidFill>
              </a:rPr>
              <a:t>historical scenario days, equal weights</a:t>
            </a:r>
          </a:p>
        </p:txBody>
      </p:sp>
      <p:sp>
        <p:nvSpPr>
          <p:cNvPr id="40" name="Rectangle 39"/>
          <p:cNvSpPr/>
          <p:nvPr/>
        </p:nvSpPr>
        <p:spPr>
          <a:xfrm>
            <a:off x="9134856" y="2432304"/>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9134856" y="2432304"/>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9317736" y="2523744"/>
            <a:ext cx="2002536" cy="457200"/>
          </a:xfrm>
          <a:prstGeom prst="rect">
            <a:avLst/>
          </a:prstGeom>
          <a:noFill/>
        </p:spPr>
        <p:txBody>
          <a:bodyPr wrap="square" lIns="0" rIns="0" tIns="0" bIns="0" anchor="ctr">
            <a:spAutoFit/>
          </a:bodyPr>
          <a:lstStyle/>
          <a:p>
            <a:pPr algn="l"/>
            <a:r>
              <a:rPr sz="1900" b="1" i="0">
                <a:solidFill>
                  <a:srgbClr val="8A1626"/>
                </a:solidFill>
              </a:rPr>
              <a:t>9,572</a:t>
            </a:r>
          </a:p>
        </p:txBody>
      </p:sp>
      <p:sp>
        <p:nvSpPr>
          <p:cNvPr id="43" name="TextBox 42"/>
          <p:cNvSpPr txBox="1"/>
          <p:nvPr/>
        </p:nvSpPr>
        <p:spPr>
          <a:xfrm>
            <a:off x="9317736" y="2999232"/>
            <a:ext cx="2002536" cy="274319"/>
          </a:xfrm>
          <a:prstGeom prst="rect">
            <a:avLst/>
          </a:prstGeom>
          <a:noFill/>
        </p:spPr>
        <p:txBody>
          <a:bodyPr wrap="square" lIns="0" rIns="0" tIns="0" bIns="0" anchor="t">
            <a:spAutoFit/>
          </a:bodyPr>
          <a:lstStyle/>
          <a:p>
            <a:pPr algn="l"/>
            <a:r>
              <a:rPr sz="1150" b="0" i="0">
                <a:solidFill>
                  <a:srgbClr val="4A5058"/>
                </a:solidFill>
              </a:rPr>
              <a:t>live trades in 7,984 derived positions</a:t>
            </a:r>
          </a:p>
        </p:txBody>
      </p:sp>
      <p:sp>
        <p:nvSpPr>
          <p:cNvPr id="44" name="Rectangle 43"/>
          <p:cNvSpPr/>
          <p:nvPr/>
        </p:nvSpPr>
        <p:spPr>
          <a:xfrm>
            <a:off x="6720840" y="3419856"/>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ectangle 44"/>
          <p:cNvSpPr/>
          <p:nvPr/>
        </p:nvSpPr>
        <p:spPr>
          <a:xfrm>
            <a:off x="6720840" y="3419856"/>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6903720" y="3511296"/>
            <a:ext cx="2002536" cy="457200"/>
          </a:xfrm>
          <a:prstGeom prst="rect">
            <a:avLst/>
          </a:prstGeom>
          <a:noFill/>
        </p:spPr>
        <p:txBody>
          <a:bodyPr wrap="square" lIns="0" rIns="0" tIns="0" bIns="0" anchor="ctr">
            <a:spAutoFit/>
          </a:bodyPr>
          <a:lstStyle/>
          <a:p>
            <a:pPr algn="l"/>
            <a:r>
              <a:rPr sz="1900" b="1" i="0">
                <a:solidFill>
                  <a:srgbClr val="8A1626"/>
                </a:solidFill>
              </a:rPr>
              <a:t>131 · 28</a:t>
            </a:r>
          </a:p>
        </p:txBody>
      </p:sp>
      <p:sp>
        <p:nvSpPr>
          <p:cNvPr id="47" name="TextBox 46"/>
          <p:cNvSpPr txBox="1"/>
          <p:nvPr/>
        </p:nvSpPr>
        <p:spPr>
          <a:xfrm>
            <a:off x="6903720" y="3986784"/>
            <a:ext cx="2002536" cy="274319"/>
          </a:xfrm>
          <a:prstGeom prst="rect">
            <a:avLst/>
          </a:prstGeom>
          <a:noFill/>
        </p:spPr>
        <p:txBody>
          <a:bodyPr wrap="square" lIns="0" rIns="0" tIns="0" bIns="0" anchor="t">
            <a:spAutoFit/>
          </a:bodyPr>
          <a:lstStyle/>
          <a:p>
            <a:pPr algn="l"/>
            <a:r>
              <a:rPr sz="1150" b="0" i="0">
                <a:solidFill>
                  <a:srgbClr val="4A5058"/>
                </a:solidFill>
              </a:rPr>
              <a:t>nodes in 3 trees · portfolios</a:t>
            </a:r>
          </a:p>
        </p:txBody>
      </p:sp>
      <p:sp>
        <p:nvSpPr>
          <p:cNvPr id="48" name="Rectangle 47"/>
          <p:cNvSpPr/>
          <p:nvPr/>
        </p:nvSpPr>
        <p:spPr>
          <a:xfrm>
            <a:off x="9134856" y="3419856"/>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Rectangle 48"/>
          <p:cNvSpPr/>
          <p:nvPr/>
        </p:nvSpPr>
        <p:spPr>
          <a:xfrm>
            <a:off x="9134856" y="3419856"/>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9317736" y="3511296"/>
            <a:ext cx="2002536" cy="457200"/>
          </a:xfrm>
          <a:prstGeom prst="rect">
            <a:avLst/>
          </a:prstGeom>
          <a:noFill/>
        </p:spPr>
        <p:txBody>
          <a:bodyPr wrap="square" lIns="0" rIns="0" tIns="0" bIns="0" anchor="ctr">
            <a:spAutoFit/>
          </a:bodyPr>
          <a:lstStyle/>
          <a:p>
            <a:pPr algn="l"/>
            <a:r>
              <a:rPr sz="1900" b="1" i="0">
                <a:solidFill>
                  <a:srgbClr val="8A1626"/>
                </a:solidFill>
              </a:rPr>
              <a:t>&lt; 1 ms</a:t>
            </a:r>
          </a:p>
        </p:txBody>
      </p:sp>
      <p:sp>
        <p:nvSpPr>
          <p:cNvPr id="51" name="TextBox 50"/>
          <p:cNvSpPr txBox="1"/>
          <p:nvPr/>
        </p:nvSpPr>
        <p:spPr>
          <a:xfrm>
            <a:off x="9317736" y="3986784"/>
            <a:ext cx="2002536" cy="274319"/>
          </a:xfrm>
          <a:prstGeom prst="rect">
            <a:avLst/>
          </a:prstGeom>
          <a:noFill/>
        </p:spPr>
        <p:txBody>
          <a:bodyPr wrap="square" lIns="0" rIns="0" tIns="0" bIns="0" anchor="t">
            <a:spAutoFit/>
          </a:bodyPr>
          <a:lstStyle/>
          <a:p>
            <a:pPr algn="l"/>
            <a:r>
              <a:rPr sz="1150" b="0" i="0">
                <a:solidFill>
                  <a:srgbClr val="4A5058"/>
                </a:solidFill>
              </a:rPr>
              <a:t>a node's VaR from its aggregate</a:t>
            </a:r>
          </a:p>
        </p:txBody>
      </p:sp>
      <p:sp>
        <p:nvSpPr>
          <p:cNvPr id="52" name="TextBox 51"/>
          <p:cNvSpPr txBox="1"/>
          <p:nvPr/>
        </p:nvSpPr>
        <p:spPr>
          <a:xfrm>
            <a:off x="6720840" y="4462272"/>
            <a:ext cx="4690872" cy="1051560"/>
          </a:xfrm>
          <a:prstGeom prst="rect">
            <a:avLst/>
          </a:prstGeom>
          <a:noFill/>
        </p:spPr>
        <p:txBody>
          <a:bodyPr wrap="square" lIns="0" rIns="0" tIns="0" bIns="0" anchor="t">
            <a:spAutoFit/>
          </a:bodyPr>
          <a:lstStyle/>
          <a:p>
            <a:pPr algn="l"/>
            <a:r>
              <a:rPr sz="1200" b="1" i="0">
                <a:solidFill>
                  <a:srgbClr val="8A1626"/>
                </a:solidFill>
              </a:rPr>
              <a:t>Any scope: </a:t>
            </a:r>
            <a:r>
              <a:rPr sz="1150" b="0" i="0">
                <a:solidFill>
                  <a:srgbClr val="1A1A1A"/>
                </a:solidFill>
              </a:rPr>
              <a:t>bank, legal entity, desk, book, limit letter, position, trade, a portfolio, a rule or a basket, joined with + − &amp;. Stored VAR retired; official records of every node of every tree, kept 7 years.</a:t>
            </a:r>
          </a:p>
        </p:txBody>
      </p:sp>
      <p:sp>
        <p:nvSpPr>
          <p:cNvPr id="53" name="Rectangle 5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Rectangle 5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See also  </a:t>
            </a:r>
            <a:r>
              <a:rPr sz="1300" b="1" i="0">
                <a:solidFill>
                  <a:srgbClr val="8A1626"/>
                </a:solidFill>
              </a:rPr>
              <a:t>In depth: the VaR engine deck — method, data flow, inputs, scale and governance.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VAR · ANY INPUT CONTRACT</a:t>
            </a:r>
          </a:p>
        </p:txBody>
      </p:sp>
      <p:sp>
        <p:nvSpPr>
          <p:cNvPr id="3" name="Title 2"/>
          <p:cNvSpPr>
            <a:spLocks noGrp="1"/>
          </p:cNvSpPr>
          <p:nvPr>
            <p:ph type="title" idx="104"/>
          </p:nvPr>
        </p:nvSpPr>
        <p:spPr/>
        <p:txBody>
          <a:bodyPr lIns="0" rIns="0" tIns="0" bIns="0" anchor="t"/>
          <a:lstStyle/>
          <a:p>
            <a:r>
              <a:t>Scenario PVs or P&amp;L, by trade or by position, from files or Kafka</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81328"/>
            <a:ext cx="1874519" cy="384048"/>
          </a:xfrm>
          <a:prstGeom prst="rect">
            <a:avLst/>
          </a:prstGeom>
          <a:noFill/>
        </p:spPr>
        <p:txBody>
          <a:bodyPr wrap="square" lIns="0" rIns="0" tIns="0" bIns="0" anchor="ctr">
            <a:spAutoFit/>
          </a:bodyPr>
          <a:lstStyle/>
          <a:p>
            <a:pPr algn="l"/>
            <a:r>
              <a:rPr sz="1200" b="1" i="0">
                <a:solidFill>
                  <a:srgbClr val="A51C30"/>
                </a:solidFill>
              </a:rPr>
              <a:t>Each system sends</a:t>
            </a:r>
          </a:p>
        </p:txBody>
      </p:sp>
      <p:sp>
        <p:nvSpPr>
          <p:cNvPr id="27" name="Rectangle 26"/>
          <p:cNvSpPr/>
          <p:nvPr/>
        </p:nvSpPr>
        <p:spPr>
          <a:xfrm>
            <a:off x="2651760" y="1481328"/>
            <a:ext cx="205740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2651760" y="1481328"/>
            <a:ext cx="2057400" cy="384048"/>
          </a:xfrm>
          <a:prstGeom prst="rect">
            <a:avLst/>
          </a:prstGeom>
          <a:noFill/>
        </p:spPr>
        <p:txBody>
          <a:bodyPr wrap="square" lIns="0" rIns="0" tIns="0" bIns="0" anchor="ctr">
            <a:spAutoFit/>
          </a:bodyPr>
          <a:lstStyle/>
          <a:p>
            <a:pPr algn="ctr"/>
            <a:r>
              <a:rPr sz="1250" b="1" i="0">
                <a:solidFill>
                  <a:srgbClr val="FFFFFF"/>
                </a:solidFill>
              </a:rPr>
              <a:t>By trade</a:t>
            </a:r>
          </a:p>
        </p:txBody>
      </p:sp>
      <p:sp>
        <p:nvSpPr>
          <p:cNvPr id="29" name="Rectangle 28"/>
          <p:cNvSpPr/>
          <p:nvPr/>
        </p:nvSpPr>
        <p:spPr>
          <a:xfrm>
            <a:off x="4782312" y="1481328"/>
            <a:ext cx="205740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4782312" y="1481328"/>
            <a:ext cx="2057400" cy="384048"/>
          </a:xfrm>
          <a:prstGeom prst="rect">
            <a:avLst/>
          </a:prstGeom>
          <a:noFill/>
        </p:spPr>
        <p:txBody>
          <a:bodyPr wrap="square" lIns="0" rIns="0" tIns="0" bIns="0" anchor="ctr">
            <a:spAutoFit/>
          </a:bodyPr>
          <a:lstStyle/>
          <a:p>
            <a:pPr algn="ctr"/>
            <a:r>
              <a:rPr sz="1250" b="1" i="0">
                <a:solidFill>
                  <a:srgbClr val="FFFFFF"/>
                </a:solidFill>
              </a:rPr>
              <a:t>By position</a:t>
            </a:r>
          </a:p>
        </p:txBody>
      </p:sp>
      <p:sp>
        <p:nvSpPr>
          <p:cNvPr id="31" name="Rectangle 30"/>
          <p:cNvSpPr/>
          <p:nvPr/>
        </p:nvSpPr>
        <p:spPr>
          <a:xfrm>
            <a:off x="777240" y="1938528"/>
            <a:ext cx="1801367" cy="6400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86968" y="1938528"/>
            <a:ext cx="1691639" cy="640080"/>
          </a:xfrm>
          <a:prstGeom prst="rect">
            <a:avLst/>
          </a:prstGeom>
          <a:noFill/>
        </p:spPr>
        <p:txBody>
          <a:bodyPr wrap="square" lIns="0" rIns="0" tIns="0" bIns="0" anchor="ctr">
            <a:spAutoFit/>
          </a:bodyPr>
          <a:lstStyle/>
          <a:p>
            <a:pPr algn="l"/>
            <a:r>
              <a:rPr sz="1250" b="1" i="0">
                <a:solidFill>
                  <a:srgbClr val="8A1626"/>
                </a:solidFill>
              </a:rPr>
              <a:t>Scenario PVs</a:t>
            </a:r>
          </a:p>
          <a:p>
            <a:pPr algn="l"/>
            <a:r>
              <a:rPr sz="1050" b="0" i="0">
                <a:solidFill>
                  <a:srgbClr val="4A5058"/>
                </a:solidFill>
              </a:rPr>
              <a:t>in the trade's own currency</a:t>
            </a:r>
          </a:p>
        </p:txBody>
      </p:sp>
      <p:sp>
        <p:nvSpPr>
          <p:cNvPr id="33" name="Rectangle 32"/>
          <p:cNvSpPr/>
          <p:nvPr/>
        </p:nvSpPr>
        <p:spPr>
          <a:xfrm>
            <a:off x="2651760" y="1938528"/>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2651760" y="1938528"/>
            <a:ext cx="2057400" cy="640080"/>
          </a:xfrm>
          <a:prstGeom prst="rect">
            <a:avLst/>
          </a:prstGeom>
          <a:noFill/>
        </p:spPr>
        <p:txBody>
          <a:bodyPr wrap="square" lIns="0" rIns="0" tIns="0" bIns="0" anchor="ctr">
            <a:spAutoFit/>
          </a:bodyPr>
          <a:lstStyle/>
          <a:p>
            <a:pPr algn="ctr"/>
            <a:r>
              <a:rPr sz="1200" b="0" i="0">
                <a:solidFill>
                  <a:srgbClr val="1A1A1A"/>
                </a:solidFill>
              </a:rPr>
              <a:t>yes</a:t>
            </a:r>
          </a:p>
        </p:txBody>
      </p:sp>
      <p:sp>
        <p:nvSpPr>
          <p:cNvPr id="35" name="Rectangle 34"/>
          <p:cNvSpPr/>
          <p:nvPr/>
        </p:nvSpPr>
        <p:spPr>
          <a:xfrm>
            <a:off x="4782312" y="1938528"/>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4782312" y="1938528"/>
            <a:ext cx="2057400" cy="640080"/>
          </a:xfrm>
          <a:prstGeom prst="rect">
            <a:avLst/>
          </a:prstGeom>
          <a:noFill/>
        </p:spPr>
        <p:txBody>
          <a:bodyPr wrap="square" lIns="0" rIns="0" tIns="0" bIns="0" anchor="ctr">
            <a:spAutoFit/>
          </a:bodyPr>
          <a:lstStyle/>
          <a:p>
            <a:pPr algn="ctr"/>
            <a:r>
              <a:rPr sz="1200" b="0" i="0">
                <a:solidFill>
                  <a:srgbClr val="1A1A1A"/>
                </a:solidFill>
              </a:rPr>
              <a:t>yes</a:t>
            </a:r>
          </a:p>
        </p:txBody>
      </p:sp>
      <p:sp>
        <p:nvSpPr>
          <p:cNvPr id="37" name="Rectangle 36"/>
          <p:cNvSpPr/>
          <p:nvPr/>
        </p:nvSpPr>
        <p:spPr>
          <a:xfrm>
            <a:off x="777240" y="2651760"/>
            <a:ext cx="1801367" cy="6400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2651760"/>
            <a:ext cx="1691639" cy="640080"/>
          </a:xfrm>
          <a:prstGeom prst="rect">
            <a:avLst/>
          </a:prstGeom>
          <a:noFill/>
        </p:spPr>
        <p:txBody>
          <a:bodyPr wrap="square" lIns="0" rIns="0" tIns="0" bIns="0" anchor="ctr">
            <a:spAutoFit/>
          </a:bodyPr>
          <a:lstStyle/>
          <a:p>
            <a:pPr algn="l"/>
            <a:r>
              <a:rPr sz="1250" b="1" i="0">
                <a:solidFill>
                  <a:srgbClr val="8A1626"/>
                </a:solidFill>
              </a:rPr>
              <a:t>P&amp;L vectors</a:t>
            </a:r>
          </a:p>
          <a:p>
            <a:pPr algn="l"/>
            <a:r>
              <a:rPr sz="1050" b="0" i="0">
                <a:solidFill>
                  <a:srgbClr val="4A5058"/>
                </a:solidFill>
              </a:rPr>
              <a:t>any currency</a:t>
            </a:r>
          </a:p>
        </p:txBody>
      </p:sp>
      <p:sp>
        <p:nvSpPr>
          <p:cNvPr id="39" name="Rectangle 38"/>
          <p:cNvSpPr/>
          <p:nvPr/>
        </p:nvSpPr>
        <p:spPr>
          <a:xfrm>
            <a:off x="2651760" y="2651760"/>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2651760" y="2651760"/>
            <a:ext cx="2057400" cy="640080"/>
          </a:xfrm>
          <a:prstGeom prst="rect">
            <a:avLst/>
          </a:prstGeom>
          <a:noFill/>
        </p:spPr>
        <p:txBody>
          <a:bodyPr wrap="square" lIns="0" rIns="0" tIns="0" bIns="0" anchor="ctr">
            <a:spAutoFit/>
          </a:bodyPr>
          <a:lstStyle/>
          <a:p>
            <a:pPr algn="ctr"/>
            <a:r>
              <a:rPr sz="1200" b="0" i="0">
                <a:solidFill>
                  <a:srgbClr val="1A1A1A"/>
                </a:solidFill>
              </a:rPr>
              <a:t>yes</a:t>
            </a:r>
          </a:p>
        </p:txBody>
      </p:sp>
      <p:sp>
        <p:nvSpPr>
          <p:cNvPr id="41" name="Rectangle 40"/>
          <p:cNvSpPr/>
          <p:nvPr/>
        </p:nvSpPr>
        <p:spPr>
          <a:xfrm>
            <a:off x="4782312" y="2651760"/>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4782312" y="2651760"/>
            <a:ext cx="2057400" cy="640080"/>
          </a:xfrm>
          <a:prstGeom prst="rect">
            <a:avLst/>
          </a:prstGeom>
          <a:noFill/>
        </p:spPr>
        <p:txBody>
          <a:bodyPr wrap="square" lIns="0" rIns="0" tIns="0" bIns="0" anchor="ctr">
            <a:spAutoFit/>
          </a:bodyPr>
          <a:lstStyle/>
          <a:p>
            <a:pPr algn="ctr"/>
            <a:r>
              <a:rPr sz="1200" b="0" i="0">
                <a:solidFill>
                  <a:srgbClr val="1A1A1A"/>
                </a:solidFill>
              </a:rPr>
              <a:t>yes</a:t>
            </a:r>
          </a:p>
        </p:txBody>
      </p:sp>
      <p:sp>
        <p:nvSpPr>
          <p:cNvPr id="43" name="TextBox 42"/>
          <p:cNvSpPr txBox="1"/>
          <p:nvPr/>
        </p:nvSpPr>
        <p:spPr>
          <a:xfrm>
            <a:off x="777240" y="3346704"/>
            <a:ext cx="6062472" cy="685800"/>
          </a:xfrm>
          <a:prstGeom prst="rect">
            <a:avLst/>
          </a:prstGeom>
          <a:noFill/>
        </p:spPr>
        <p:txBody>
          <a:bodyPr wrap="square" lIns="0" rIns="0" tIns="0" bIns="0" anchor="t">
            <a:spAutoFit/>
          </a:bodyPr>
          <a:lstStyle/>
          <a:p>
            <a:pPr algn="l"/>
            <a:r>
              <a:rPr sz="1150" b="1" i="0">
                <a:solidFill>
                  <a:srgbClr val="8A1626"/>
                </a:solidFill>
              </a:rPr>
              <a:t>Mix and switch: </a:t>
            </a:r>
            <a:r>
              <a:rPr sz="1150" b="0" i="0">
                <a:solidFill>
                  <a:srgbClr val="1A1A1A"/>
                </a:solidFill>
              </a:rPr>
              <a:t>systems mix on one date and may switch day to day; one form and grain per system per date (DRS-5210); a wrong record is refused and named (DRS-5208), never guessed; old files: drishti.py convert --set.</a:t>
            </a:r>
          </a:p>
        </p:txBody>
      </p:sp>
      <p:sp>
        <p:nvSpPr>
          <p:cNvPr id="44" name="TextBox 43"/>
          <p:cNvSpPr txBox="1"/>
          <p:nvPr/>
        </p:nvSpPr>
        <p:spPr>
          <a:xfrm>
            <a:off x="777240" y="4069080"/>
            <a:ext cx="6035040" cy="274320"/>
          </a:xfrm>
          <a:prstGeom prst="rect">
            <a:avLst/>
          </a:prstGeom>
          <a:noFill/>
        </p:spPr>
        <p:txBody>
          <a:bodyPr wrap="square" lIns="0" rIns="0" tIns="0" bIns="0" anchor="t">
            <a:spAutoFit/>
          </a:bodyPr>
          <a:lstStyle/>
          <a:p>
            <a:pPr algn="l"/>
            <a:r>
              <a:rPr sz="1250" b="1" i="0">
                <a:solidFill>
                  <a:srgbClr val="A51C30"/>
                </a:solidFill>
              </a:rPr>
              <a:t>Intraday: only the changed trades, applied as new − old up the tree</a:t>
            </a:r>
          </a:p>
        </p:txBody>
      </p:sp>
      <p:sp>
        <p:nvSpPr>
          <p:cNvPr id="45" name="Rectangle 44"/>
          <p:cNvSpPr/>
          <p:nvPr/>
        </p:nvSpPr>
        <p:spPr>
          <a:xfrm>
            <a:off x="777240"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850392"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Morning run</a:t>
            </a:r>
          </a:p>
          <a:p>
            <a:pPr algn="l"/>
            <a:r>
              <a:rPr sz="1050" b="0" i="0">
                <a:solidFill>
                  <a:srgbClr val="1A1A1A"/>
                </a:solidFill>
              </a:rPr>
              <a:t>FULL: every live trade; the official records</a:t>
            </a:r>
          </a:p>
        </p:txBody>
      </p:sp>
      <p:cxnSp>
        <p:nvCxnSpPr>
          <p:cNvPr id="47" name="Connector 46"/>
          <p:cNvCxnSpPr/>
          <p:nvPr/>
        </p:nvCxnSpPr>
        <p:spPr>
          <a:xfrm>
            <a:off x="2148840" y="4924044"/>
            <a:ext cx="16459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2331720"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2404872"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Changed trades</a:t>
            </a:r>
          </a:p>
          <a:p>
            <a:pPr algn="l"/>
            <a:r>
              <a:rPr sz="1050" b="0" i="0">
                <a:solidFill>
                  <a:srgbClr val="1A1A1A"/>
                </a:solidFill>
              </a:rPr>
              <a:t>files, or Kafka windows of 5 min (500 early)</a:t>
            </a:r>
          </a:p>
        </p:txBody>
      </p:sp>
      <p:cxnSp>
        <p:nvCxnSpPr>
          <p:cNvPr id="50" name="Connector 49"/>
          <p:cNvCxnSpPr/>
          <p:nvPr/>
        </p:nvCxnSpPr>
        <p:spPr>
          <a:xfrm>
            <a:off x="3703319" y="4924044"/>
            <a:ext cx="16459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3886200"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3959352"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Lake append</a:t>
            </a:r>
          </a:p>
          <a:p>
            <a:pPr algn="l"/>
            <a:r>
              <a:rPr sz="1050" b="0" i="0">
                <a:solidFill>
                  <a:srgbClr val="1A1A1A"/>
                </a:solidFill>
              </a:rPr>
              <a:t>one intraday batch, latest COMPUTED_AT wins</a:t>
            </a:r>
          </a:p>
        </p:txBody>
      </p:sp>
      <p:cxnSp>
        <p:nvCxnSpPr>
          <p:cNvPr id="53" name="Connector 52"/>
          <p:cNvCxnSpPr/>
          <p:nvPr/>
        </p:nvCxnSpPr>
        <p:spPr>
          <a:xfrm>
            <a:off x="5257800" y="4924044"/>
            <a:ext cx="16459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5440679"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5513831"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Apply</a:t>
            </a:r>
          </a:p>
          <a:p>
            <a:pPr algn="l"/>
            <a:r>
              <a:rPr sz="1050" b="0" i="0">
                <a:solidFill>
                  <a:srgbClr val="1A1A1A"/>
                </a:solidFill>
              </a:rPr>
              <a:t>book, every node above, every currency</a:t>
            </a:r>
          </a:p>
        </p:txBody>
      </p:sp>
      <p:sp>
        <p:nvSpPr>
          <p:cNvPr id="56" name="Rectangle 55"/>
          <p:cNvSpPr/>
          <p:nvPr/>
        </p:nvSpPr>
        <p:spPr>
          <a:xfrm>
            <a:off x="7132320" y="1481328"/>
            <a:ext cx="4279392" cy="169164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Rectangle 56"/>
          <p:cNvSpPr/>
          <p:nvPr/>
        </p:nvSpPr>
        <p:spPr>
          <a:xfrm>
            <a:off x="7132320" y="1481328"/>
            <a:ext cx="4279392"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7269480" y="1481328"/>
            <a:ext cx="4005072" cy="329184"/>
          </a:xfrm>
          <a:prstGeom prst="rect">
            <a:avLst/>
          </a:prstGeom>
          <a:noFill/>
        </p:spPr>
        <p:txBody>
          <a:bodyPr wrap="square" lIns="0" rIns="0" tIns="0" bIns="0" anchor="ctr">
            <a:spAutoFit/>
          </a:bodyPr>
          <a:lstStyle/>
          <a:p>
            <a:pPr algn="l"/>
            <a:r>
              <a:rPr sz="1150" b="1" i="0">
                <a:solidFill>
                  <a:srgbClr val="FFFFFF"/>
                </a:solidFill>
              </a:rPr>
              <a:t>One JSON Lines record, four forms</a:t>
            </a:r>
          </a:p>
        </p:txBody>
      </p:sp>
      <p:sp>
        <p:nvSpPr>
          <p:cNvPr id="59" name="TextBox 58"/>
          <p:cNvSpPr txBox="1"/>
          <p:nvPr/>
        </p:nvSpPr>
        <p:spPr>
          <a:xfrm>
            <a:off x="7296912" y="1920240"/>
            <a:ext cx="4005072" cy="1188720"/>
          </a:xfrm>
          <a:prstGeom prst="rect">
            <a:avLst/>
          </a:prstGeom>
          <a:noFill/>
        </p:spPr>
        <p:txBody>
          <a:bodyPr wrap="square" lIns="0" rIns="0" tIns="0" bIns="0" anchor="t">
            <a:spAutoFit/>
          </a:bodyPr>
          <a:lstStyle/>
          <a:p>
            <a:pPr algn="l">
              <a:spcAft>
                <a:spcPts val="200"/>
              </a:spcAft>
            </a:pPr>
            <a:r>
              <a:rPr sz="1050" b="0" i="0">
                <a:solidFill>
                  <a:srgbClr val="F1EEE9"/>
                </a:solidFill>
                <a:latin typeface="Courier New"/>
              </a:rPr>
              <a:t>{"VALUE_TYPE":"PV","GRAIN":"TRADE",</a:t>
            </a:r>
          </a:p>
          <a:p>
            <a:pPr algn="l">
              <a:spcAft>
                <a:spcPts val="200"/>
              </a:spcAft>
            </a:pPr>
            <a:r>
              <a:rPr sz="1050" b="0" i="0">
                <a:solidFill>
                  <a:srgbClr val="F1EEE9"/>
                </a:solidFill>
                <a:latin typeface="Courier New"/>
              </a:rPr>
              <a:t> "TRADE_ID":"1000279","CURRENCY":"EUR",</a:t>
            </a:r>
          </a:p>
          <a:p>
            <a:pPr algn="l">
              <a:spcAft>
                <a:spcPts val="200"/>
              </a:spcAft>
            </a:pPr>
            <a:r>
              <a:rPr sz="1050" b="0" i="0">
                <a:solidFill>
                  <a:srgbClr val="F1EEE9"/>
                </a:solidFill>
                <a:latin typeface="Courier New"/>
              </a:rPr>
              <a:t> "BASE_PV":…,"PVS":[…509…],</a:t>
            </a:r>
          </a:p>
          <a:p>
            <a:pPr algn="l">
              <a:spcAft>
                <a:spcPts val="200"/>
              </a:spcAft>
            </a:pPr>
            <a:r>
              <a:rPr sz="1050" b="0" i="0">
                <a:solidFill>
                  <a:srgbClr val="F1EEE9"/>
                </a:solidFill>
                <a:latin typeface="Courier New"/>
              </a:rPr>
              <a:t> "COMPUTED_AT":"…","SOURCE_SYSTEM":"…"}</a:t>
            </a:r>
          </a:p>
        </p:txBody>
      </p:sp>
      <p:sp>
        <p:nvSpPr>
          <p:cNvPr id="60" name="Rectangle 59"/>
          <p:cNvSpPr/>
          <p:nvPr/>
        </p:nvSpPr>
        <p:spPr>
          <a:xfrm>
            <a:off x="7132320" y="3291840"/>
            <a:ext cx="4279392" cy="109728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7242048" y="3364992"/>
            <a:ext cx="4059936" cy="969264"/>
          </a:xfrm>
          <a:prstGeom prst="rect">
            <a:avLst/>
          </a:prstGeom>
          <a:noFill/>
        </p:spPr>
        <p:txBody>
          <a:bodyPr wrap="square" lIns="0" rIns="0" tIns="0" bIns="0" anchor="t">
            <a:spAutoFit/>
          </a:bodyPr>
          <a:lstStyle/>
          <a:p>
            <a:pPr algn="l">
              <a:spcAft>
                <a:spcPts val="300"/>
              </a:spcAft>
            </a:pPr>
            <a:r>
              <a:rPr sz="1250" b="1" i="0">
                <a:solidFill>
                  <a:srgbClr val="8A1626"/>
                </a:solidFill>
              </a:rPr>
              <a:t>The guarantee</a:t>
            </a:r>
          </a:p>
          <a:p>
            <a:pPr algn="l"/>
            <a:r>
              <a:rPr sz="1150" b="0" i="0">
                <a:solidFill>
                  <a:srgbClr val="4A5058"/>
                </a:solidFill>
              </a:rPr>
              <a:t>Incremental equals the same data loaded as one run, to the cent, on every node; replaying the Kafka topic after a restart writes nothing twice.</a:t>
            </a:r>
          </a:p>
        </p:txBody>
      </p:sp>
      <p:sp>
        <p:nvSpPr>
          <p:cNvPr id="62" name="Rectangle 61"/>
          <p:cNvSpPr/>
          <p:nvPr/>
        </p:nvSpPr>
        <p:spPr>
          <a:xfrm>
            <a:off x="7132320" y="4498848"/>
            <a:ext cx="4279392"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242048" y="4572000"/>
            <a:ext cx="4059936" cy="896112"/>
          </a:xfrm>
          <a:prstGeom prst="rect">
            <a:avLst/>
          </a:prstGeom>
          <a:noFill/>
        </p:spPr>
        <p:txBody>
          <a:bodyPr wrap="square" lIns="0" rIns="0" tIns="0" bIns="0" anchor="t">
            <a:spAutoFit/>
          </a:bodyPr>
          <a:lstStyle/>
          <a:p>
            <a:pPr algn="l">
              <a:spcAft>
                <a:spcPts val="300"/>
              </a:spcAft>
            </a:pPr>
            <a:r>
              <a:rPr sz="1250" b="1" i="0">
                <a:solidFill>
                  <a:srgbClr val="8A1626"/>
                </a:solidFill>
              </a:rPr>
              <a:t>Cost of a batch</a:t>
            </a:r>
          </a:p>
          <a:p>
            <a:pPr algn="l"/>
            <a:r>
              <a:rPr sz="1150" b="0" i="0">
                <a:solidFill>
                  <a:srgbClr val="4A5058"/>
                </a:solidFill>
              </a:rPr>
              <a:t>∝ trades changed × nodes above × currencies built — never the size of the book. Official numbers come only from full runs.</a:t>
            </a:r>
          </a:p>
        </p:txBody>
      </p:sp>
      <p:sp>
        <p:nvSpPr>
          <p:cNvPr id="64" name="Rectangle 6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Rectangle 6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TextBox 6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Source systems keep their own formats; Drishti turns every input into one internal form, a P&amp;L vector per row.</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VAR · ANY REPORTING CURRENCY</a:t>
            </a:r>
          </a:p>
        </p:txBody>
      </p:sp>
      <p:sp>
        <p:nvSpPr>
          <p:cNvPr id="3" name="Title 2"/>
          <p:cNvSpPr>
            <a:spLocks noGrp="1"/>
          </p:cNvSpPr>
          <p:nvPr>
            <p:ph type="title" idx="104"/>
          </p:nvPr>
        </p:nvSpPr>
        <p:spPr/>
        <p:txBody>
          <a:bodyPr lIns="0" rIns="0" tIns="0" bIns="0" anchor="t"/>
          <a:lstStyle/>
          <a:p>
            <a:r>
              <a:t>The same trades, a different VaR per currency — exact to the cent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VaR in EUR" descr="15-reporting-currency.jpg"/>
          <p:cNvPicPr>
            <a:picLocks noChangeAspect="1"/>
          </p:cNvPicPr>
          <p:nvPr/>
        </p:nvPicPr>
        <p:blipFill>
          <a:blip r:embed="rId2"/>
          <a:stretch>
            <a:fillRect/>
          </a:stretch>
        </p:blipFill>
        <p:spPr>
          <a:xfrm>
            <a:off x="777240" y="1450467"/>
            <a:ext cx="5029200" cy="3143250"/>
          </a:xfrm>
          <a:prstGeom prst="rect">
            <a:avLst/>
          </a:prstGeom>
          <a:ln w="9525">
            <a:solidFill>
              <a:srgbClr val="CFC8BE"/>
            </a:solidFill>
          </a:ln>
        </p:spPr>
      </p:pic>
      <p:sp>
        <p:nvSpPr>
          <p:cNvPr id="27" name="TextBox 26"/>
          <p:cNvSpPr txBox="1"/>
          <p:nvPr/>
        </p:nvSpPr>
        <p:spPr>
          <a:xfrm>
            <a:off x="777240" y="4636008"/>
            <a:ext cx="5029200" cy="274320"/>
          </a:xfrm>
          <a:prstGeom prst="rect">
            <a:avLst/>
          </a:prstGeom>
          <a:noFill/>
        </p:spPr>
        <p:txBody>
          <a:bodyPr wrap="square" lIns="0" rIns="0" tIns="0" bIns="0" anchor="t">
            <a:spAutoFit/>
          </a:bodyPr>
          <a:lstStyle/>
          <a:p>
            <a:pPr algn="l"/>
            <a:r>
              <a:rPr sz="1050" b="0" i="1">
                <a:solidFill>
                  <a:srgbClr val="61666E"/>
                </a:solidFill>
              </a:rPr>
              <a:t>VAR DESK DESK-RATES IN EUR: every panel in EUR, the FX named.</a:t>
            </a:r>
          </a:p>
        </p:txBody>
      </p:sp>
      <p:graphicFrame>
        <p:nvGraphicFramePr>
          <p:cNvPr id="28" name="Table 27"/>
          <p:cNvGraphicFramePr>
            <a:graphicFrameLocks noGrp="1"/>
          </p:cNvGraphicFramePr>
          <p:nvPr/>
        </p:nvGraphicFramePr>
        <p:xfrm>
          <a:off x="6080759" y="1444752"/>
          <a:ext cx="3017520" cy="1645920"/>
        </p:xfrm>
        <a:graphic>
          <a:graphicData uri="http://schemas.openxmlformats.org/drawingml/2006/table">
            <a:tbl>
              <a:tblPr firstRow="0" bandRow="0">
                <a:tableStyleId>{5940675A-B579-460E-94D1-54222C63F5DA}</a:tableStyleId>
              </a:tblPr>
              <a:tblGrid>
                <a:gridCol w="548640"/>
                <a:gridCol w="1234440"/>
                <a:gridCol w="1234440"/>
              </a:tblGrid>
              <a:tr h="274320">
                <a:tc>
                  <a:txBody>
                    <a:bodyPr wrap="square"/>
                    <a:lstStyle/>
                    <a:p>
                      <a:r>
                        <a:rPr sz="110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Bank 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Bank 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10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10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9" name="TextBox 28"/>
          <p:cNvSpPr txBox="1"/>
          <p:nvPr/>
        </p:nvSpPr>
        <p:spPr>
          <a:xfrm>
            <a:off x="9281159" y="1444752"/>
            <a:ext cx="2130552" cy="274320"/>
          </a:xfrm>
          <a:prstGeom prst="rect">
            <a:avLst/>
          </a:prstGeom>
          <a:noFill/>
        </p:spPr>
        <p:txBody>
          <a:bodyPr wrap="square" lIns="0" rIns="0" tIns="0" bIns="0" anchor="t">
            <a:spAutoFit/>
          </a:bodyPr>
          <a:lstStyle/>
          <a:p>
            <a:pPr algn="l"/>
            <a:r>
              <a:rPr sz="1150" b="1" i="0">
                <a:solidFill>
                  <a:srgbClr val="A51C30"/>
                </a:solidFill>
              </a:rPr>
              <a:t>Bank VaR, EUR m</a:t>
            </a:r>
          </a:p>
        </p:txBody>
      </p:sp>
      <p:graphicFrame>
        <p:nvGraphicFramePr>
          <p:cNvPr id="30" name="EUR vs converted chart"/>
          <p:cNvGraphicFramePr>
            <a:graphicFrameLocks noGrp="1"/>
          </p:cNvGraphicFramePr>
          <p:nvPr/>
        </p:nvGraphicFramePr>
        <p:xfrm>
          <a:off x="9235440" y="1691640"/>
          <a:ext cx="2176272" cy="1188720"/>
        </p:xfrm>
        <a:graphic>
          <a:graphicData uri="http://schemas.openxmlformats.org/drawingml/2006/chart">
            <c:chart xmlns:c="http://schemas.openxmlformats.org/drawingml/2006/chart" r:id="rId3"/>
          </a:graphicData>
        </a:graphic>
      </p:graphicFrame>
      <p:sp>
        <p:nvSpPr>
          <p:cNvPr id="31" name="TextBox 30"/>
          <p:cNvSpPr txBox="1"/>
          <p:nvPr/>
        </p:nvSpPr>
        <p:spPr>
          <a:xfrm>
            <a:off x="9281159" y="2880360"/>
            <a:ext cx="2130552" cy="548640"/>
          </a:xfrm>
          <a:prstGeom prst="rect">
            <a:avLst/>
          </a:prstGeom>
          <a:noFill/>
        </p:spPr>
        <p:txBody>
          <a:bodyPr wrap="square" lIns="0" rIns="0" tIns="0" bIns="0" anchor="t">
            <a:spAutoFit/>
          </a:bodyPr>
          <a:lstStyle/>
          <a:p>
            <a:pPr algn="l"/>
            <a:r>
              <a:rPr sz="1050" b="0" i="0">
                <a:solidFill>
                  <a:srgbClr val="4A5058"/>
                </a:solidFill>
              </a:rPr>
              <a:t>A net 3.65bn USD</a:t>
            </a:r>
            <a:r>
              <a:rPr sz="1050" b="0" i="0">
                <a:solidFill>
                  <a:srgbClr val="A51C30"/>
                </a:solidFill>
              </a:rPr>
              <a:t>¹</a:t>
            </a:r>
            <a:r>
              <a:rPr sz="1050" b="0" i="0">
                <a:solidFill>
                  <a:srgbClr val="4A5058"/>
                </a:solidFill>
              </a:rPr>
              <a:t> of value moves against the euro on the scenario days.</a:t>
            </a:r>
          </a:p>
        </p:txBody>
      </p:sp>
      <p:graphicFrame>
        <p:nvGraphicFramePr>
          <p:cNvPr id="32" name="Table 31"/>
          <p:cNvGraphicFramePr>
            <a:graphicFrameLocks noGrp="1"/>
          </p:cNvGraphicFramePr>
          <p:nvPr/>
        </p:nvGraphicFramePr>
        <p:xfrm>
          <a:off x="6080759" y="3520440"/>
          <a:ext cx="5330952" cy="1901952"/>
        </p:xfrm>
        <a:graphic>
          <a:graphicData uri="http://schemas.openxmlformats.org/drawingml/2006/table">
            <a:tbl>
              <a:tblPr firstRow="0" bandRow="0">
                <a:tableStyleId>{5940675A-B579-460E-94D1-54222C63F5DA}</a:tableStyleId>
              </a:tblPr>
              <a:tblGrid>
                <a:gridCol w="2331720"/>
                <a:gridCol w="2999232"/>
              </a:tblGrid>
              <a:tr h="475488">
                <a:tc>
                  <a:txBody>
                    <a:bodyPr wrap="square"/>
                    <a:lstStyle/>
                    <a:p>
                      <a:r>
                        <a:rPr sz="1100" b="1" i="0">
                          <a:solidFill>
                            <a:srgbClr val="FFFFFF"/>
                          </a:solidFill>
                        </a:rPr>
                        <a:t>Setting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75488">
                <a:tc>
                  <a:txBody>
                    <a:bodyPr wrap="square"/>
                    <a:lstStyle/>
                    <a:p>
                      <a:r>
                        <a:rPr sz="1000" b="1" i="0">
                          <a:solidFill>
                            <a:srgbClr val="A51C30"/>
                          </a:solidFill>
                          <a:latin typeface="Courier New"/>
                        </a:rPr>
                        <a:t>drishti.var.scenario-window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 (509) or the newest N; window=250 per request, labelled, never official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75488">
                <a:tc>
                  <a:txBody>
                    <a:bodyPr wrap="square"/>
                    <a:lstStyle/>
                    <a:p>
                      <a:r>
                        <a:rPr sz="1000" b="1" i="0">
                          <a:solidFill>
                            <a:srgbClr val="A51C30"/>
                          </a:solidFill>
                          <a:latin typeface="Courier New"/>
                        </a:rPr>
                        <a:t>DRISHTI_VAR_CONFIDENCE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99% by default, 95% by setting; ES 97.5%; every label follows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75488">
                <a:tc>
                  <a:txBody>
                    <a:bodyPr wrap="square"/>
                    <a:lstStyle/>
                    <a:p>
                      <a:r>
                        <a:rPr sz="1000" b="1" i="0">
                          <a:solidFill>
                            <a:srgbClr val="A51C30"/>
                          </a:solidFill>
                          <a:latin typeface="Courier New"/>
                        </a:rPr>
                        <a:t>drishti.var.currencies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USD, EUR, CAD, JPY, GBP built ahead; any other currency on first ask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3" name="TextBox 32"/>
          <p:cNvSpPr txBox="1"/>
          <p:nvPr/>
        </p:nvSpPr>
        <p:spPr>
          <a:xfrm>
            <a:off x="777240" y="4983480"/>
            <a:ext cx="5029200" cy="566928"/>
          </a:xfrm>
          <a:prstGeom prst="rect">
            <a:avLst/>
          </a:prstGeom>
          <a:noFill/>
        </p:spPr>
        <p:txBody>
          <a:bodyPr wrap="square" lIns="0" rIns="0" tIns="0" bIns="0" anchor="t">
            <a:spAutoFit/>
          </a:bodyPr>
          <a:lstStyle/>
          <a:p>
            <a:pPr algn="l"/>
            <a:r>
              <a:rPr sz="1100" b="0" i="0">
                <a:solidFill>
                  <a:srgbClr val="1A1A1A"/>
                </a:solidFill>
              </a:rPr>
              <a:t>P&amp;L(s) = PV(s)·FX(s) − PV(base)·FX(base), every cross via USD; each node keeps its PVs summed per trade currency.</a:t>
            </a:r>
          </a:p>
        </p:txBody>
      </p:sp>
      <p:sp>
        <p:nvSpPr>
          <p:cNvPr id="34" name="Rectangle 3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euro-based owner carries a risk a dollar-based one does not: EUR VaR is not USD VaR times today's rate.</a:t>
            </a:r>
          </a:p>
        </p:txBody>
      </p:sp>
      <p:sp>
        <p:nvSpPr>
          <p:cNvPr id="37" name="Footnotes"/>
          <p:cNvSpPr txBox="1"/>
          <p:nvPr/>
        </p:nvSpPr>
        <p:spPr>
          <a:xfrm>
            <a:off x="777240" y="6217920"/>
            <a:ext cx="10634472" cy="164592"/>
          </a:xfrm>
          <a:prstGeom prst="rect">
            <a:avLst/>
          </a:prstGeom>
          <a:noFill/>
        </p:spPr>
        <p:txBody>
          <a:bodyPr wrap="square" lIns="0" rIns="0" tIns="0" bIns="0" anchor="t">
            <a:spAutoFit/>
          </a:bodyPr>
          <a:lstStyle/>
          <a:p>
            <a:pPr algn="l"/>
            <a:r>
              <a:rPr sz="900" b="0" i="0">
                <a:solidFill>
                  <a:srgbClr val="61666E"/>
                </a:solidFill>
              </a:rPr>
              <a:t>¹ the demo bank's net value on 2026-09-30, from its positions (VAR_GUIDE.md section 15); it is why EUR VaR (111.84m) differs from USD VaR at today's rate (95.4m EUR)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EXPOSURE (EE / PFE)</a:t>
            </a:r>
          </a:p>
        </p:txBody>
      </p:sp>
      <p:sp>
        <p:nvSpPr>
          <p:cNvPr id="3" name="Title 2"/>
          <p:cNvSpPr>
            <a:spLocks noGrp="1"/>
          </p:cNvSpPr>
          <p:nvPr>
            <p:ph type="title" idx="104"/>
          </p:nvPr>
        </p:nvSpPr>
        <p:spPr/>
        <p:txBody>
          <a:bodyPr lIns="0" rIns="0" tIns="0" bIns="0" anchor="t"/>
          <a:lstStyle/>
          <a:p>
            <a:r>
              <a:t>Exposure computed for any scope, down to a trade, collateral path by path</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50392"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Paths</a:t>
            </a:r>
          </a:p>
          <a:p>
            <a:pPr algn="l"/>
            <a:r>
              <a:rPr sz="1050" b="0" i="0">
                <a:solidFill>
                  <a:srgbClr val="1A1A1A"/>
                </a:solidFill>
              </a:rPr>
              <a:t>every trade's MtM on every path and date (exposure-path)</a:t>
            </a:r>
          </a:p>
        </p:txBody>
      </p:sp>
      <p:cxnSp>
        <p:nvCxnSpPr>
          <p:cNvPr id="28" name="Connector 27"/>
          <p:cNvCxnSpPr/>
          <p:nvPr/>
        </p:nvCxnSpPr>
        <p:spPr>
          <a:xfrm>
            <a:off x="2724912" y="2052828"/>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53512"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26664"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Net</a:t>
            </a:r>
          </a:p>
          <a:p>
            <a:pPr algn="l"/>
            <a:r>
              <a:rPr sz="1050" b="0" i="0">
                <a:solidFill>
                  <a:srgbClr val="1A1A1A"/>
                </a:solidFill>
              </a:rPr>
              <a:t>per netting set, path by path</a:t>
            </a:r>
          </a:p>
        </p:txBody>
      </p:sp>
      <p:cxnSp>
        <p:nvCxnSpPr>
          <p:cNvPr id="31" name="Connector 30"/>
          <p:cNvCxnSpPr/>
          <p:nvPr/>
        </p:nvCxnSpPr>
        <p:spPr>
          <a:xfrm>
            <a:off x="4901183" y="2052828"/>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9783"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02936"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Collateral</a:t>
            </a:r>
          </a:p>
          <a:p>
            <a:pPr algn="l"/>
            <a:r>
              <a:rPr sz="1050" b="0" i="0">
                <a:solidFill>
                  <a:srgbClr val="1A1A1A"/>
                </a:solidFill>
              </a:rPr>
              <a:t>each CSA: threshold, MTA, IA, rounding, margin period of risk</a:t>
            </a:r>
          </a:p>
        </p:txBody>
      </p:sp>
      <p:cxnSp>
        <p:nvCxnSpPr>
          <p:cNvPr id="34" name="Connector 33"/>
          <p:cNvCxnSpPr/>
          <p:nvPr/>
        </p:nvCxnSpPr>
        <p:spPr>
          <a:xfrm>
            <a:off x="7077455" y="2052828"/>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306055"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79207"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Measures</a:t>
            </a:r>
          </a:p>
          <a:p>
            <a:pPr algn="l"/>
            <a:r>
              <a:rPr sz="1050" b="0" i="0">
                <a:solidFill>
                  <a:srgbClr val="1A1A1A"/>
                </a:solidFill>
              </a:rPr>
              <a:t>EE, ENE, effective EE, PFE 95/99, EPE, EEPE, peak PFE, EAD</a:t>
            </a:r>
          </a:p>
        </p:txBody>
      </p:sp>
      <p:cxnSp>
        <p:nvCxnSpPr>
          <p:cNvPr id="37" name="Connector 36"/>
          <p:cNvCxnSpPr/>
          <p:nvPr/>
        </p:nvCxnSpPr>
        <p:spPr>
          <a:xfrm>
            <a:off x="9253728" y="2052828"/>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82328" y="1481328"/>
            <a:ext cx="1929384" cy="114300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Any scope</a:t>
            </a:r>
          </a:p>
          <a:p>
            <a:pPr algn="l"/>
            <a:r>
              <a:rPr sz="1050" b="0" i="0">
                <a:solidFill>
                  <a:srgbClr val="1A1A1A"/>
                </a:solidFill>
              </a:rPr>
              <a:t>NSET, CPTY, GROUP, LE, DESK, BOOK, TRD, BANK; + − &amp;</a:t>
            </a:r>
          </a:p>
        </p:txBody>
      </p:sp>
      <p:pic>
        <p:nvPicPr>
          <p:cNvPr id="40" name="Exposure explorer" descr="01-bank-board.jpg"/>
          <p:cNvPicPr>
            <a:picLocks noChangeAspect="1"/>
          </p:cNvPicPr>
          <p:nvPr/>
        </p:nvPicPr>
        <p:blipFill>
          <a:blip r:embed="rId2"/>
          <a:stretch>
            <a:fillRect/>
          </a:stretch>
        </p:blipFill>
        <p:spPr>
          <a:xfrm>
            <a:off x="1124712" y="2834640"/>
            <a:ext cx="4242816" cy="2651760"/>
          </a:xfrm>
          <a:prstGeom prst="rect">
            <a:avLst/>
          </a:prstGeom>
          <a:ln w="9525">
            <a:solidFill>
              <a:srgbClr val="CFC8BE"/>
            </a:solidFill>
          </a:ln>
        </p:spPr>
      </p:pic>
      <p:sp>
        <p:nvSpPr>
          <p:cNvPr id="41" name="Rectangle 40"/>
          <p:cNvSpPr/>
          <p:nvPr/>
        </p:nvSpPr>
        <p:spPr>
          <a:xfrm>
            <a:off x="5989320" y="2834640"/>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Rectangle 41"/>
          <p:cNvSpPr/>
          <p:nvPr/>
        </p:nvSpPr>
        <p:spPr>
          <a:xfrm>
            <a:off x="5989320" y="2834640"/>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6172200" y="2926080"/>
            <a:ext cx="2368296" cy="457200"/>
          </a:xfrm>
          <a:prstGeom prst="rect">
            <a:avLst/>
          </a:prstGeom>
          <a:noFill/>
        </p:spPr>
        <p:txBody>
          <a:bodyPr wrap="square" lIns="0" rIns="0" tIns="0" bIns="0" anchor="ctr">
            <a:spAutoFit/>
          </a:bodyPr>
          <a:lstStyle/>
          <a:p>
            <a:pPr algn="l"/>
            <a:r>
              <a:rPr sz="1900" b="1" i="0">
                <a:solidFill>
                  <a:srgbClr val="8A1626"/>
                </a:solidFill>
              </a:rPr>
              <a:t>74</a:t>
            </a:r>
          </a:p>
        </p:txBody>
      </p:sp>
      <p:sp>
        <p:nvSpPr>
          <p:cNvPr id="44" name="TextBox 43"/>
          <p:cNvSpPr txBox="1"/>
          <p:nvPr/>
        </p:nvSpPr>
        <p:spPr>
          <a:xfrm>
            <a:off x="6172200" y="3401568"/>
            <a:ext cx="2368296" cy="274319"/>
          </a:xfrm>
          <a:prstGeom prst="rect">
            <a:avLst/>
          </a:prstGeom>
          <a:noFill/>
        </p:spPr>
        <p:txBody>
          <a:bodyPr wrap="square" lIns="0" rIns="0" tIns="0" bIns="0" anchor="t">
            <a:spAutoFit/>
          </a:bodyPr>
          <a:lstStyle/>
          <a:p>
            <a:pPr algn="l"/>
            <a:r>
              <a:rPr sz="1150" b="0" i="0">
                <a:solidFill>
                  <a:srgbClr val="4A5058"/>
                </a:solidFill>
              </a:rPr>
              <a:t>netting sets on the demo, 8,022 live trades</a:t>
            </a:r>
          </a:p>
        </p:txBody>
      </p:sp>
      <p:sp>
        <p:nvSpPr>
          <p:cNvPr id="45" name="Rectangle 44"/>
          <p:cNvSpPr/>
          <p:nvPr/>
        </p:nvSpPr>
        <p:spPr>
          <a:xfrm>
            <a:off x="8769096" y="2834640"/>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ectangle 45"/>
          <p:cNvSpPr/>
          <p:nvPr/>
        </p:nvSpPr>
        <p:spPr>
          <a:xfrm>
            <a:off x="8769096" y="2834640"/>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951976" y="2926080"/>
            <a:ext cx="2368296" cy="457200"/>
          </a:xfrm>
          <a:prstGeom prst="rect">
            <a:avLst/>
          </a:prstGeom>
          <a:noFill/>
        </p:spPr>
        <p:txBody>
          <a:bodyPr wrap="square" lIns="0" rIns="0" tIns="0" bIns="0" anchor="ctr">
            <a:spAutoFit/>
          </a:bodyPr>
          <a:lstStyle/>
          <a:p>
            <a:pPr algn="l"/>
            <a:r>
              <a:rPr sz="1900" b="1" i="0">
                <a:solidFill>
                  <a:srgbClr val="8A1626"/>
                </a:solidFill>
              </a:rPr>
              <a:t>85.1m</a:t>
            </a:r>
          </a:p>
        </p:txBody>
      </p:sp>
      <p:sp>
        <p:nvSpPr>
          <p:cNvPr id="48" name="TextBox 47"/>
          <p:cNvSpPr txBox="1"/>
          <p:nvPr/>
        </p:nvSpPr>
        <p:spPr>
          <a:xfrm>
            <a:off x="8951976" y="3401568"/>
            <a:ext cx="2368296" cy="274319"/>
          </a:xfrm>
          <a:prstGeom prst="rect">
            <a:avLst/>
          </a:prstGeom>
          <a:noFill/>
        </p:spPr>
        <p:txBody>
          <a:bodyPr wrap="square" lIns="0" rIns="0" tIns="0" bIns="0" anchor="t">
            <a:spAutoFit/>
          </a:bodyPr>
          <a:lstStyle/>
          <a:p>
            <a:pPr algn="l"/>
            <a:r>
              <a:rPr sz="1150" b="0" i="0">
                <a:solidFill>
                  <a:srgbClr val="4A5058"/>
                </a:solidFill>
              </a:rPr>
              <a:t>peak PFE, NS-ALDERSHOT-LDN</a:t>
            </a:r>
          </a:p>
        </p:txBody>
      </p:sp>
      <p:sp>
        <p:nvSpPr>
          <p:cNvPr id="49" name="Rectangle 48"/>
          <p:cNvSpPr/>
          <p:nvPr/>
        </p:nvSpPr>
        <p:spPr>
          <a:xfrm>
            <a:off x="5989320" y="3822191"/>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5989320" y="3822191"/>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6172200" y="3913631"/>
            <a:ext cx="2368296" cy="457200"/>
          </a:xfrm>
          <a:prstGeom prst="rect">
            <a:avLst/>
          </a:prstGeom>
          <a:noFill/>
        </p:spPr>
        <p:txBody>
          <a:bodyPr wrap="square" lIns="0" rIns="0" tIns="0" bIns="0" anchor="ctr">
            <a:spAutoFit/>
          </a:bodyPr>
          <a:lstStyle/>
          <a:p>
            <a:pPr algn="l"/>
            <a:r>
              <a:rPr sz="1900" b="1" i="0">
                <a:solidFill>
                  <a:srgbClr val="8A1626"/>
                </a:solidFill>
              </a:rPr>
              <a:t>61 ms</a:t>
            </a:r>
          </a:p>
        </p:txBody>
      </p:sp>
      <p:sp>
        <p:nvSpPr>
          <p:cNvPr id="52" name="TextBox 51"/>
          <p:cNvSpPr txBox="1"/>
          <p:nvPr/>
        </p:nvSpPr>
        <p:spPr>
          <a:xfrm>
            <a:off x="6172200" y="4389120"/>
            <a:ext cx="2368296" cy="274319"/>
          </a:xfrm>
          <a:prstGeom prst="rect">
            <a:avLst/>
          </a:prstGeom>
          <a:noFill/>
        </p:spPr>
        <p:txBody>
          <a:bodyPr wrap="square" lIns="0" rIns="0" tIns="0" bIns="0" anchor="t">
            <a:spAutoFit/>
          </a:bodyPr>
          <a:lstStyle/>
          <a:p>
            <a:pPr algn="l"/>
            <a:r>
              <a:rPr sz="1150" b="0" i="0">
                <a:solidFill>
                  <a:srgbClr val="4A5058"/>
                </a:solidFill>
              </a:rPr>
              <a:t>the bank of 9,901 sets (measured)</a:t>
            </a:r>
          </a:p>
        </p:txBody>
      </p:sp>
      <p:sp>
        <p:nvSpPr>
          <p:cNvPr id="53" name="Rectangle 52"/>
          <p:cNvSpPr/>
          <p:nvPr/>
        </p:nvSpPr>
        <p:spPr>
          <a:xfrm>
            <a:off x="8769096" y="3822191"/>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Rectangle 53"/>
          <p:cNvSpPr/>
          <p:nvPr/>
        </p:nvSpPr>
        <p:spPr>
          <a:xfrm>
            <a:off x="8769096" y="3822191"/>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951976" y="3913631"/>
            <a:ext cx="2368296" cy="457200"/>
          </a:xfrm>
          <a:prstGeom prst="rect">
            <a:avLst/>
          </a:prstGeom>
          <a:noFill/>
        </p:spPr>
        <p:txBody>
          <a:bodyPr wrap="square" lIns="0" rIns="0" tIns="0" bIns="0" anchor="ctr">
            <a:spAutoFit/>
          </a:bodyPr>
          <a:lstStyle/>
          <a:p>
            <a:pPr algn="l"/>
            <a:r>
              <a:rPr sz="1900" b="1" i="0">
                <a:solidFill>
                  <a:srgbClr val="8A1626"/>
                </a:solidFill>
              </a:rPr>
              <a:t>0.06 ms</a:t>
            </a:r>
          </a:p>
        </p:txBody>
      </p:sp>
      <p:sp>
        <p:nvSpPr>
          <p:cNvPr id="56" name="TextBox 55"/>
          <p:cNvSpPr txBox="1"/>
          <p:nvPr/>
        </p:nvSpPr>
        <p:spPr>
          <a:xfrm>
            <a:off x="8951976" y="4389120"/>
            <a:ext cx="2368296" cy="274319"/>
          </a:xfrm>
          <a:prstGeom prst="rect">
            <a:avLst/>
          </a:prstGeom>
          <a:noFill/>
        </p:spPr>
        <p:txBody>
          <a:bodyPr wrap="square" lIns="0" rIns="0" tIns="0" bIns="0" anchor="t">
            <a:spAutoFit/>
          </a:bodyPr>
          <a:lstStyle/>
          <a:p>
            <a:pPr algn="l"/>
            <a:r>
              <a:rPr sz="1150" b="0" i="0">
                <a:solidFill>
                  <a:srgbClr val="4A5058"/>
                </a:solidFill>
              </a:rPr>
              <a:t>one netting set (measured)</a:t>
            </a:r>
          </a:p>
        </p:txBody>
      </p:sp>
      <p:sp>
        <p:nvSpPr>
          <p:cNvPr id="57" name="TextBox 56"/>
          <p:cNvSpPr txBox="1"/>
          <p:nvPr/>
        </p:nvSpPr>
        <p:spPr>
          <a:xfrm>
            <a:off x="5989320" y="4846320"/>
            <a:ext cx="5422392" cy="685800"/>
          </a:xfrm>
          <a:prstGeom prst="rect">
            <a:avLst/>
          </a:prstGeom>
          <a:noFill/>
        </p:spPr>
        <p:txBody>
          <a:bodyPr wrap="square" lIns="0" rIns="0" tIns="0" bIns="0" anchor="t">
            <a:spAutoFit/>
          </a:bodyPr>
          <a:lstStyle/>
          <a:p>
            <a:pPr algn="l"/>
            <a:r>
              <a:rPr sz="1150" b="0" i="0">
                <a:solidFill>
                  <a:srgbClr val="1A1A1A"/>
                </a:solidFill>
              </a:rPr>
              <a:t>Explorer, pre-deal what-if (exact on the run's own paths, or a marked proxy), captures, official results, tiered retention: trade paths 20 days and month-ends; statistics 7 years.</a:t>
            </a:r>
          </a:p>
        </p:txBody>
      </p:sp>
      <p:sp>
        <p:nvSpPr>
          <p:cNvPr id="58" name="Rectangle 5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Rectangle 5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The stored peaks summed to 92.6bn; computed with the CSAs on the same sets, 7.6bn — the stored profile is retired.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NUMBERS OF RECORD AND WRITE-BACK</a:t>
            </a:r>
          </a:p>
        </p:txBody>
      </p:sp>
      <p:sp>
        <p:nvSpPr>
          <p:cNvPr id="3" name="Title 2"/>
          <p:cNvSpPr>
            <a:spLocks noGrp="1"/>
          </p:cNvSpPr>
          <p:nvPr>
            <p:ph type="title" idx="104"/>
          </p:nvPr>
        </p:nvSpPr>
        <p:spPr/>
        <p:txBody>
          <a:bodyPr lIns="0" rIns="0" tIns="0" bIns="0" anchor="t"/>
          <a:lstStyle/>
          <a:p>
            <a:r>
              <a:t>Official results other systems can read — and edits that never overwrite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10634472" cy="274320"/>
          </a:xfrm>
          <a:prstGeom prst="rect">
            <a:avLst/>
          </a:prstGeom>
          <a:noFill/>
        </p:spPr>
        <p:txBody>
          <a:bodyPr wrap="square" lIns="0" rIns="0" tIns="0" bIns="0" anchor="t">
            <a:spAutoFit/>
          </a:bodyPr>
          <a:lstStyle/>
          <a:p>
            <a:pPr algn="l"/>
            <a:r>
              <a:rPr sz="1300" b="1" i="0">
                <a:solidFill>
                  <a:srgbClr val="A51C30"/>
                </a:solidFill>
              </a:rPr>
              <a:t>Official end-of-day results: VaR and exposure</a:t>
            </a:r>
          </a:p>
        </p:txBody>
      </p:sp>
      <p:sp>
        <p:nvSpPr>
          <p:cNvPr id="27" name="Rectangle 26"/>
          <p:cNvSpPr/>
          <p:nvPr/>
        </p:nvSpPr>
        <p:spPr>
          <a:xfrm>
            <a:off x="777240" y="1737360"/>
            <a:ext cx="2468880" cy="9144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50392"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Morning full run</a:t>
            </a:r>
          </a:p>
          <a:p>
            <a:pPr algn="l"/>
            <a:r>
              <a:rPr sz="1050" b="0" i="0">
                <a:solidFill>
                  <a:srgbClr val="1A1A1A"/>
                </a:solidFill>
              </a:rPr>
              <a:t>every node of every hierarchy, as the server</a:t>
            </a:r>
          </a:p>
        </p:txBody>
      </p:sp>
      <p:cxnSp>
        <p:nvCxnSpPr>
          <p:cNvPr id="29" name="Connector 28"/>
          <p:cNvCxnSpPr/>
          <p:nvPr/>
        </p:nvCxnSpPr>
        <p:spPr>
          <a:xfrm>
            <a:off x="3264408" y="2194560"/>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502152" y="1737360"/>
            <a:ext cx="2468880" cy="9144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3575304"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Captured, append-only</a:t>
            </a:r>
          </a:p>
          <a:p>
            <a:pPr algn="l"/>
            <a:r>
              <a:rPr sz="1050" b="0" i="0">
                <a:solidFill>
                  <a:srgbClr val="1A1A1A"/>
                </a:solidFill>
              </a:rPr>
              <a:t>a restatement adds a result version; kept 7 years</a:t>
            </a:r>
          </a:p>
        </p:txBody>
      </p:sp>
      <p:cxnSp>
        <p:nvCxnSpPr>
          <p:cNvPr id="32" name="Connector 31"/>
          <p:cNvCxnSpPr/>
          <p:nvPr/>
        </p:nvCxnSpPr>
        <p:spPr>
          <a:xfrm>
            <a:off x="5989320" y="2194560"/>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6227064" y="1737360"/>
            <a:ext cx="2468880" cy="91440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6300216"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risk-results</a:t>
            </a:r>
          </a:p>
          <a:p>
            <a:pPr algn="l"/>
            <a:r>
              <a:rPr sz="1050" b="0" i="0">
                <a:solidFill>
                  <a:srgbClr val="1A1A1A"/>
                </a:solidFill>
              </a:rPr>
              <a:t>var-official, exposure-official, -cpty: Delta or Iceberg, a folder or S3; JSONL beside</a:t>
            </a:r>
          </a:p>
        </p:txBody>
      </p:sp>
      <p:cxnSp>
        <p:nvCxnSpPr>
          <p:cNvPr id="35" name="Connector 34"/>
          <p:cNvCxnSpPr/>
          <p:nvPr/>
        </p:nvCxnSpPr>
        <p:spPr>
          <a:xfrm>
            <a:off x="8714232" y="2194560"/>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951976" y="1737360"/>
            <a:ext cx="2468880" cy="9144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9025128"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BI reads them</a:t>
            </a:r>
          </a:p>
          <a:p>
            <a:pPr algn="l"/>
            <a:r>
              <a:rPr sz="1050" b="0" i="0">
                <a:solidFill>
                  <a:srgbClr val="1A1A1A"/>
                </a:solidFill>
              </a:rPr>
              <a:t>read-only kinds VOFF and XOFC; the Market risk VaR model and report</a:t>
            </a:r>
          </a:p>
        </p:txBody>
      </p:sp>
      <p:sp>
        <p:nvSpPr>
          <p:cNvPr id="38" name="TextBox 37"/>
          <p:cNvSpPr txBox="1"/>
          <p:nvPr/>
        </p:nvSpPr>
        <p:spPr>
          <a:xfrm>
            <a:off x="777240" y="2880360"/>
            <a:ext cx="10634472" cy="274320"/>
          </a:xfrm>
          <a:prstGeom prst="rect">
            <a:avLst/>
          </a:prstGeom>
          <a:noFill/>
        </p:spPr>
        <p:txBody>
          <a:bodyPr wrap="square" lIns="0" rIns="0" tIns="0" bIns="0" anchor="t">
            <a:spAutoFit/>
          </a:bodyPr>
          <a:lstStyle/>
          <a:p>
            <a:pPr algn="l"/>
            <a:r>
              <a:rPr sz="1300" b="1" i="0">
                <a:solidFill>
                  <a:srgbClr val="A51C30"/>
                </a:solidFill>
              </a:rPr>
              <a:t>Write-back: forms save through an edit log, with four eyes (off by default)</a:t>
            </a:r>
          </a:p>
        </p:txBody>
      </p:sp>
      <p:sp>
        <p:nvSpPr>
          <p:cNvPr id="39" name="Rectangle 38"/>
          <p:cNvSpPr/>
          <p:nvPr/>
        </p:nvSpPr>
        <p:spPr>
          <a:xfrm>
            <a:off x="777240"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50392"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Submit…</a:t>
            </a:r>
          </a:p>
          <a:p>
            <a:pPr algn="l"/>
            <a:r>
              <a:rPr sz="1050" b="0" i="0">
                <a:solidFill>
                  <a:srgbClr val="1A1A1A"/>
                </a:solidFill>
              </a:rPr>
              <a:t>the draft and a review sheet: what you saw, what is there now, your change</a:t>
            </a:r>
          </a:p>
        </p:txBody>
      </p:sp>
      <p:cxnSp>
        <p:nvCxnSpPr>
          <p:cNvPr id="41" name="Connector 40"/>
          <p:cNvCxnSpPr/>
          <p:nvPr/>
        </p:nvCxnSpPr>
        <p:spPr>
          <a:xfrm>
            <a:off x="2724912" y="3771900"/>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2953512"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3026664"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Approve</a:t>
            </a:r>
          </a:p>
          <a:p>
            <a:pPr algn="l"/>
            <a:r>
              <a:rPr sz="1050" b="0" i="0">
                <a:solidFill>
                  <a:srgbClr val="1A1A1A"/>
                </a:solidFill>
              </a:rPr>
              <a:t>a change request; the approver is never you</a:t>
            </a:r>
          </a:p>
        </p:txBody>
      </p:sp>
      <p:cxnSp>
        <p:nvCxnSpPr>
          <p:cNvPr id="44" name="Connector 43"/>
          <p:cNvCxnSpPr/>
          <p:nvPr/>
        </p:nvCxnSpPr>
        <p:spPr>
          <a:xfrm>
            <a:off x="4901183" y="3771900"/>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5129783" y="3200400"/>
            <a:ext cx="1929384" cy="114300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5202936"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Edit log</a:t>
            </a:r>
          </a:p>
          <a:p>
            <a:pPr algn="l"/>
            <a:r>
              <a:rPr sz="1050" b="0" i="0">
                <a:solidFill>
                  <a:srgbClr val="1A1A1A"/>
                </a:solidFill>
              </a:rPr>
              <a:t>appended to its record's lane, acknowledged after commit; 64 lanes, epoch-fenced</a:t>
            </a:r>
          </a:p>
        </p:txBody>
      </p:sp>
      <p:cxnSp>
        <p:nvCxnSpPr>
          <p:cNvPr id="47" name="Connector 46"/>
          <p:cNvCxnSpPr/>
          <p:nvPr/>
        </p:nvCxnSpPr>
        <p:spPr>
          <a:xfrm>
            <a:off x="7077455" y="3771900"/>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7306055"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7379207"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Apply</a:t>
            </a:r>
          </a:p>
          <a:p>
            <a:pPr algn="l"/>
            <a:r>
              <a:rPr sz="1050" b="0" i="0">
                <a:solidFill>
                  <a:srgbClr val="1A1A1A"/>
                </a:solidFill>
              </a:rPr>
              <a:t>overlay, owned value or the source through an outbox; rights re-checked</a:t>
            </a:r>
          </a:p>
        </p:txBody>
      </p:sp>
      <p:cxnSp>
        <p:nvCxnSpPr>
          <p:cNvPr id="50" name="Connector 49"/>
          <p:cNvCxnSpPr/>
          <p:nvPr/>
        </p:nvCxnSpPr>
        <p:spPr>
          <a:xfrm>
            <a:off x="9253728" y="3771900"/>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9482328"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9555480"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Recompute</a:t>
            </a:r>
          </a:p>
          <a:p>
            <a:pPr algn="l"/>
            <a:r>
              <a:rPr sz="1050" b="0" i="0">
                <a:solidFill>
                  <a:srgbClr val="1A1A1A"/>
                </a:solidFill>
              </a:rPr>
              <a:t>reactive recomputes and live updates after each change</a:t>
            </a:r>
          </a:p>
        </p:txBody>
      </p:sp>
      <p:sp>
        <p:nvSpPr>
          <p:cNvPr id="53" name="TextBox 52"/>
          <p:cNvSpPr txBox="1"/>
          <p:nvPr/>
        </p:nvSpPr>
        <p:spPr>
          <a:xfrm>
            <a:off x="777240" y="4526280"/>
            <a:ext cx="10634472" cy="685800"/>
          </a:xfrm>
          <a:prstGeom prst="rect">
            <a:avLst/>
          </a:prstGeom>
          <a:noFill/>
        </p:spPr>
        <p:txBody>
          <a:bodyPr wrap="square" lIns="0" rIns="0" tIns="0" bIns="0" anchor="t">
            <a:spAutoFit/>
          </a:bodyPr>
          <a:lstStyle/>
          <a:p>
            <a:pPr algn="l"/>
            <a:r>
              <a:rPr sz="1200" b="1" i="0">
                <a:solidFill>
                  <a:srgbClr val="8A1626"/>
                </a:solidFill>
              </a:rPr>
              <a:t>Conflicts are named, never overwritten: </a:t>
            </a:r>
            <a:r>
              <a:rPr sz="1200" b="0" i="0">
                <a:solidFill>
                  <a:srgbClr val="1A1A1A"/>
                </a:solidFill>
              </a:rPr>
              <a:t>a change whose fields moved since you saw them is stopped with the three-way difference in words; DRS-9301 to 9306; Review → Changes; tutorial 24.</a:t>
            </a:r>
          </a:p>
        </p:txBody>
      </p:sp>
      <p:sp>
        <p:nvSpPr>
          <p:cNvPr id="54" name="Rectangle 5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Rectangle 5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Engines never read the published results (a guard test): the record is for reporting, the lake stays the input.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KNOWLEDGE, WHAT AND THE BASKET</a:t>
            </a:r>
          </a:p>
        </p:txBody>
      </p:sp>
      <p:sp>
        <p:nvSpPr>
          <p:cNvPr id="3" name="Title 2"/>
          <p:cNvSpPr>
            <a:spLocks noGrp="1"/>
          </p:cNvSpPr>
          <p:nvPr>
            <p:ph type="title" idx="104"/>
          </p:nvPr>
        </p:nvSpPr>
        <p:spPr/>
        <p:txBody>
          <a:bodyPr lIns="0" rIns="0" tIns="0" bIns="0" anchor="t"/>
          <a:lstStyle/>
          <a:p>
            <a:r>
              <a:t>Explain the data, then let anyone build the portfolio they mean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4206240" cy="4069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41832" y="1536192"/>
            <a:ext cx="3931920" cy="365760"/>
          </a:xfrm>
          <a:prstGeom prst="rect">
            <a:avLst/>
          </a:prstGeom>
          <a:noFill/>
        </p:spPr>
        <p:txBody>
          <a:bodyPr wrap="square" lIns="0" rIns="0" tIns="0" bIns="0" anchor="t">
            <a:spAutoFit/>
          </a:bodyPr>
          <a:lstStyle/>
          <a:p>
            <a:pPr algn="l"/>
            <a:r>
              <a:rPr sz="1400" b="1" i="0">
                <a:solidFill>
                  <a:srgbClr val="8A1626"/>
                </a:solidFill>
              </a:rPr>
              <a:t>Knowledge pages</a:t>
            </a:r>
          </a:p>
        </p:txBody>
      </p:sp>
      <p:sp>
        <p:nvSpPr>
          <p:cNvPr id="28" name="Rectangle 27"/>
          <p:cNvSpPr/>
          <p:nvPr/>
        </p:nvSpPr>
        <p:spPr>
          <a:xfrm>
            <a:off x="941832" y="1938528"/>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Market risk</a:t>
            </a:r>
          </a:p>
        </p:txBody>
      </p:sp>
      <p:sp>
        <p:nvSpPr>
          <p:cNvPr id="29" name="Rectangle 28"/>
          <p:cNvSpPr/>
          <p:nvPr/>
        </p:nvSpPr>
        <p:spPr>
          <a:xfrm>
            <a:off x="2907791" y="1938528"/>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Counterparty credit risk</a:t>
            </a:r>
          </a:p>
        </p:txBody>
      </p:sp>
      <p:sp>
        <p:nvSpPr>
          <p:cNvPr id="30" name="Rectangle 29"/>
          <p:cNvSpPr/>
          <p:nvPr/>
        </p:nvSpPr>
        <p:spPr>
          <a:xfrm>
            <a:off x="941832" y="2359152"/>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Trades and products</a:t>
            </a:r>
          </a:p>
        </p:txBody>
      </p:sp>
      <p:sp>
        <p:nvSpPr>
          <p:cNvPr id="31" name="Rectangle 30"/>
          <p:cNvSpPr/>
          <p:nvPr/>
        </p:nvSpPr>
        <p:spPr>
          <a:xfrm>
            <a:off x="2907791" y="2359152"/>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Entities and ownership</a:t>
            </a:r>
          </a:p>
        </p:txBody>
      </p:sp>
      <p:sp>
        <p:nvSpPr>
          <p:cNvPr id="32" name="Rectangle 31"/>
          <p:cNvSpPr/>
          <p:nvPr/>
        </p:nvSpPr>
        <p:spPr>
          <a:xfrm>
            <a:off x="941832" y="2779776"/>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Market data</a:t>
            </a:r>
          </a:p>
        </p:txBody>
      </p:sp>
      <p:sp>
        <p:nvSpPr>
          <p:cNvPr id="33" name="Rectangle 32"/>
          <p:cNvSpPr/>
          <p:nvPr/>
        </p:nvSpPr>
        <p:spPr>
          <a:xfrm>
            <a:off x="2907791" y="2779776"/>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Data and contracts</a:t>
            </a:r>
          </a:p>
        </p:txBody>
      </p:sp>
      <p:sp>
        <p:nvSpPr>
          <p:cNvPr id="34" name="Rectangle 33"/>
          <p:cNvSpPr/>
          <p:nvPr/>
        </p:nvSpPr>
        <p:spPr>
          <a:xfrm>
            <a:off x="941832" y="3200400"/>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Economies</a:t>
            </a:r>
          </a:p>
        </p:txBody>
      </p:sp>
      <p:sp>
        <p:nvSpPr>
          <p:cNvPr id="35" name="Rectangle 34"/>
          <p:cNvSpPr/>
          <p:nvPr/>
        </p:nvSpPr>
        <p:spPr>
          <a:xfrm>
            <a:off x="2907791" y="3200400"/>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Companies, funds and ETFs</a:t>
            </a:r>
          </a:p>
        </p:txBody>
      </p:sp>
      <p:sp>
        <p:nvSpPr>
          <p:cNvPr id="36" name="TextBox 35"/>
          <p:cNvSpPr txBox="1"/>
          <p:nvPr/>
        </p:nvSpPr>
        <p:spPr>
          <a:xfrm>
            <a:off x="941832" y="3703320"/>
            <a:ext cx="3931920" cy="1783080"/>
          </a:xfrm>
          <a:prstGeom prst="rect">
            <a:avLst/>
          </a:prstGeom>
          <a:noFill/>
        </p:spPr>
        <p:txBody>
          <a:bodyPr wrap="square" lIns="0" rIns="0" tIns="0" bIns="0" anchor="t">
            <a:spAutoFit/>
          </a:bodyPr>
          <a:lstStyle/>
          <a:p>
            <a:pPr algn="l">
              <a:spcAft>
                <a:spcPts val="500"/>
              </a:spcAft>
            </a:pPr>
            <a:r>
              <a:rPr sz="1150" b="0" i="0">
                <a:solidFill>
                  <a:srgbClr val="1A1A1A"/>
                </a:solidFill>
              </a:rPr>
              <a:t>Each with the plain idea, how the records connect, a worked example on the demo data and the questions to ask.</a:t>
            </a:r>
          </a:p>
          <a:p>
            <a:pPr algn="l"/>
            <a:r>
              <a:rPr sz="1100" b="1" i="0">
                <a:solidFill>
                  <a:srgbClr val="A51C30"/>
                </a:solidFill>
                <a:latin typeface="Courier New"/>
              </a:rPr>
              <a:t>WHAT &lt;term&gt;</a:t>
            </a:r>
            <a:r>
              <a:rPr sz="1150" b="0" i="0">
                <a:solidFill>
                  <a:srgbClr val="1A1A1A"/>
                </a:solidFill>
              </a:rPr>
              <a:t>  162 terms; 'What does this mean?' beside the VaR and exposure explorers, USEQ, FUND, HELD and TRACK.</a:t>
            </a:r>
          </a:p>
        </p:txBody>
      </p:sp>
      <p:pic>
        <p:nvPicPr>
          <p:cNvPr id="37" name="Construct your basket" descr="06-basket.jpg"/>
          <p:cNvPicPr>
            <a:picLocks noChangeAspect="1"/>
          </p:cNvPicPr>
          <p:nvPr/>
        </p:nvPicPr>
        <p:blipFill>
          <a:blip r:embed="rId2"/>
          <a:stretch>
            <a:fillRect/>
          </a:stretch>
        </p:blipFill>
        <p:spPr>
          <a:xfrm>
            <a:off x="5257799" y="1468755"/>
            <a:ext cx="3566160" cy="2228850"/>
          </a:xfrm>
          <a:prstGeom prst="rect">
            <a:avLst/>
          </a:prstGeom>
          <a:ln w="9525">
            <a:solidFill>
              <a:srgbClr val="CFC8BE"/>
            </a:solidFill>
          </a:ln>
        </p:spPr>
      </p:pic>
      <p:sp>
        <p:nvSpPr>
          <p:cNvPr id="38" name="TextBox 37"/>
          <p:cNvSpPr txBox="1"/>
          <p:nvPr/>
        </p:nvSpPr>
        <p:spPr>
          <a:xfrm>
            <a:off x="9006839" y="1463040"/>
            <a:ext cx="2404872" cy="2240280"/>
          </a:xfrm>
          <a:prstGeom prst="rect">
            <a:avLst/>
          </a:prstGeom>
          <a:noFill/>
        </p:spPr>
        <p:txBody>
          <a:bodyPr wrap="square" lIns="0" rIns="0" tIns="0" bIns="0" anchor="t">
            <a:spAutoFit/>
          </a:bodyPr>
          <a:lstStyle/>
          <a:p>
            <a:pPr algn="l">
              <a:spcAft>
                <a:spcPts val="200"/>
              </a:spcAft>
            </a:pPr>
            <a:r>
              <a:rPr sz="1300" b="1" i="0">
                <a:solidFill>
                  <a:srgbClr val="8A1626"/>
                </a:solidFill>
              </a:rPr>
              <a:t>Construct your basket</a:t>
            </a:r>
          </a:p>
          <a:p>
            <a:pPr algn="l"/>
            <a:r>
              <a:rPr sz="1100" b="0" i="0">
                <a:solidFill>
                  <a:srgbClr val="1A1A1A"/>
                </a:solidFill>
              </a:rPr>
              <a:t>Pick portfolios, desks, books, legal entities, counterparties, positions, trades or a rule as you type; see VaR, ES and diversification live; save it. Alt+B.</a:t>
            </a:r>
          </a:p>
        </p:txBody>
      </p:sp>
      <p:sp>
        <p:nvSpPr>
          <p:cNvPr id="39" name="Rectangle 38"/>
          <p:cNvSpPr/>
          <p:nvPr/>
        </p:nvSpPr>
        <p:spPr>
          <a:xfrm>
            <a:off x="5257799" y="3840480"/>
            <a:ext cx="6153912" cy="169164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5367527" y="3913632"/>
            <a:ext cx="5934456" cy="1563624"/>
          </a:xfrm>
          <a:prstGeom prst="rect">
            <a:avLst/>
          </a:prstGeom>
          <a:noFill/>
        </p:spPr>
        <p:txBody>
          <a:bodyPr wrap="square" lIns="0" rIns="0" tIns="0" bIns="0" anchor="t">
            <a:spAutoFit/>
          </a:bodyPr>
          <a:lstStyle/>
          <a:p>
            <a:pPr algn="l">
              <a:spcAft>
                <a:spcPts val="300"/>
              </a:spcAft>
            </a:pPr>
            <a:r>
              <a:rPr sz="1300" b="1" i="0">
                <a:solidFill>
                  <a:srgbClr val="8A1626"/>
                </a:solidFill>
              </a:rPr>
              <a:t>The pre-deal what-if</a:t>
            </a:r>
          </a:p>
          <a:p>
            <a:pPr algn="l"/>
            <a:r>
              <a:rPr sz="1150" b="0" i="0">
                <a:solidFill>
                  <a:srgbClr val="1A1A1A"/>
                </a:solidFill>
              </a:rPr>
              <a:t>A hypothetical trade — a booked one copied and scaled, −1 its unwind — shows VaR before and after in the basket; the exposure explorer has it on the counterparty and the netting set. Exact methods run on the compute workers; trade pages link to the trade's P&amp;L vector, VaR and exposure, or say why not.</a:t>
            </a:r>
          </a:p>
        </p:txBody>
      </p:sp>
      <p:sp>
        <p:nvSpPr>
          <p:cNvPr id="41" name="Rectangle 40"/>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Rectangle 41"/>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An id that matches nothing, or a trade that is not live, is said in words — never shown as a VaR of 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DATAMAP AND THE FACT OF THE DAY</a:t>
            </a:r>
          </a:p>
        </p:txBody>
      </p:sp>
      <p:sp>
        <p:nvSpPr>
          <p:cNvPr id="3" name="Title 2"/>
          <p:cNvSpPr>
            <a:spLocks noGrp="1"/>
          </p:cNvSpPr>
          <p:nvPr>
            <p:ph type="title" idx="104"/>
          </p:nvPr>
        </p:nvSpPr>
        <p:spPr/>
        <p:txBody>
          <a:bodyPr lIns="0" rIns="0" tIns="0" bIns="0" anchor="t"/>
          <a:lstStyle/>
          <a:p>
            <a:r>
              <a:t>A map of all your data that draws itself — and one true surprise a day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Data map" descr="datamap-trade-1600.jpg"/>
          <p:cNvPicPr>
            <a:picLocks noChangeAspect="1"/>
          </p:cNvPicPr>
          <p:nvPr/>
        </p:nvPicPr>
        <p:blipFill>
          <a:blip r:embed="rId2"/>
          <a:stretch>
            <a:fillRect/>
          </a:stretch>
        </p:blipFill>
        <p:spPr>
          <a:xfrm>
            <a:off x="777240" y="1444752"/>
            <a:ext cx="5852160" cy="3657600"/>
          </a:xfrm>
          <a:prstGeom prst="rect">
            <a:avLst/>
          </a:prstGeom>
          <a:ln w="9525">
            <a:solidFill>
              <a:srgbClr val="CFC8BE"/>
            </a:solidFill>
          </a:ln>
        </p:spPr>
      </p:pic>
      <p:sp>
        <p:nvSpPr>
          <p:cNvPr id="27" name="TextBox 26"/>
          <p:cNvSpPr txBox="1"/>
          <p:nvPr/>
        </p:nvSpPr>
        <p:spPr>
          <a:xfrm>
            <a:off x="777240" y="5138928"/>
            <a:ext cx="5852160" cy="274320"/>
          </a:xfrm>
          <a:prstGeom prst="rect">
            <a:avLst/>
          </a:prstGeom>
          <a:noFill/>
        </p:spPr>
        <p:txBody>
          <a:bodyPr wrap="square" lIns="0" rIns="0" tIns="0" bIns="0" anchor="t">
            <a:spAutoFit/>
          </a:bodyPr>
          <a:lstStyle/>
          <a:p>
            <a:pPr algn="l"/>
            <a:r>
              <a:rPr sz="1050" b="0" i="1">
                <a:solidFill>
                  <a:srgbClr val="61666E"/>
                </a:solidFill>
              </a:rPr>
              <a:t>DATAMAP trade: the selection across the top (Trade, its joins and match rates), the map under it.</a:t>
            </a:r>
          </a:p>
        </p:txBody>
      </p:sp>
      <p:sp>
        <p:nvSpPr>
          <p:cNvPr id="28" name="TextBox 27"/>
          <p:cNvSpPr txBox="1"/>
          <p:nvPr/>
        </p:nvSpPr>
        <p:spPr>
          <a:xfrm>
            <a:off x="6903720" y="1444752"/>
            <a:ext cx="4507992" cy="210312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300" b="1" i="0">
                <a:solidFill>
                  <a:srgbClr val="8A1626"/>
                </a:solidFill>
              </a:rPr>
              <a:t>Nothing hand-drawn</a:t>
            </a:r>
          </a:p>
          <a:p>
            <a:pPr marL="164592" indent="0">
              <a:spcAft>
                <a:spcPts val="400"/>
              </a:spcAft>
            </a:pPr>
            <a:r>
              <a:rPr sz="1150" b="0" i="0">
                <a:solidFill>
                  <a:srgbClr val="1A1A1A"/>
                </a:solidFill>
              </a:rPr>
              <a:t>Kinds from the enabled packs, joins from the data contracts, counts from the lake; a new pack appears with no setup.</a:t>
            </a:r>
          </a:p>
          <a:p>
            <a:pPr marL="164592" indent="-164592">
              <a:spcAft>
                <a:spcPts val="100"/>
              </a:spcAft>
              <a:buClr>
                <a:srgbClr val="A51C30"/>
              </a:buClr>
              <a:buSzPct val="100000"/>
              <a:buFont typeface="Arial"/>
              <a:buChar char="▪"/>
            </a:pPr>
            <a:r>
              <a:rPr sz="1300" b="1" i="0">
                <a:solidFill>
                  <a:srgbClr val="8A1626"/>
                </a:solidFill>
              </a:rPr>
              <a:t>Every join checked</a:t>
            </a:r>
          </a:p>
          <a:p>
            <a:pPr marL="164592" indent="0">
              <a:spcAft>
                <a:spcPts val="400"/>
              </a:spcAft>
            </a:pPr>
            <a:r>
              <a:rPr sz="1150" b="0" i="0">
                <a:solidFill>
                  <a:srgbClr val="1A1A1A"/>
                </a:solidFill>
              </a:rPr>
              <a:t>How many ids match; joins whose ids mostly name nothing are listed as findings (e.g. a jurisdiction code where an id is expected).</a:t>
            </a:r>
          </a:p>
        </p:txBody>
      </p:sp>
      <p:sp>
        <p:nvSpPr>
          <p:cNvPr id="29" name="Rectangle 28"/>
          <p:cNvSpPr/>
          <p:nvPr/>
        </p:nvSpPr>
        <p:spPr>
          <a:xfrm>
            <a:off x="6903720" y="3657600"/>
            <a:ext cx="4507992" cy="1874519"/>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068312" y="3712463"/>
            <a:ext cx="4233672" cy="274320"/>
          </a:xfrm>
          <a:prstGeom prst="rect">
            <a:avLst/>
          </a:prstGeom>
          <a:noFill/>
        </p:spPr>
        <p:txBody>
          <a:bodyPr wrap="square" lIns="0" rIns="0" tIns="0" bIns="0" anchor="t">
            <a:spAutoFit/>
          </a:bodyPr>
          <a:lstStyle/>
          <a:p>
            <a:pPr algn="l"/>
            <a:r>
              <a:rPr sz="1000" b="1" i="0">
                <a:solidFill>
                  <a:srgbClr val="E8C9CF"/>
                </a:solidFill>
              </a:rPr>
              <a:t>HOME · THE FACT OF THE DAY</a:t>
            </a:r>
          </a:p>
        </p:txBody>
      </p:sp>
      <p:sp>
        <p:nvSpPr>
          <p:cNvPr id="31" name="TextBox 30"/>
          <p:cNvSpPr txBox="1"/>
          <p:nvPr/>
        </p:nvSpPr>
        <p:spPr>
          <a:xfrm>
            <a:off x="7068312" y="3986784"/>
            <a:ext cx="4233672" cy="685800"/>
          </a:xfrm>
          <a:prstGeom prst="rect">
            <a:avLst/>
          </a:prstGeom>
          <a:noFill/>
        </p:spPr>
        <p:txBody>
          <a:bodyPr wrap="square" lIns="0" rIns="0" tIns="0" bIns="0" anchor="t">
            <a:spAutoFit/>
          </a:bodyPr>
          <a:lstStyle/>
          <a:p>
            <a:pPr algn="l"/>
            <a:r>
              <a:rPr sz="1250" b="1" i="0">
                <a:solidFill>
                  <a:srgbClr val="FFFFFF"/>
                </a:solidFill>
              </a:rPr>
              <a:t>One surprising, true sentence from your data, computed as you, on your business date.</a:t>
            </a:r>
          </a:p>
        </p:txBody>
      </p:sp>
      <p:sp>
        <p:nvSpPr>
          <p:cNvPr id="32" name="TextBox 31"/>
          <p:cNvSpPr txBox="1"/>
          <p:nvPr/>
        </p:nvSpPr>
        <p:spPr>
          <a:xfrm>
            <a:off x="7068312" y="4663440"/>
            <a:ext cx="4233672" cy="822960"/>
          </a:xfrm>
          <a:prstGeom prst="rect">
            <a:avLst/>
          </a:prstGeom>
          <a:noFill/>
        </p:spPr>
        <p:txBody>
          <a:bodyPr wrap="square" lIns="0" rIns="0" tIns="0" bIns="0" anchor="t">
            <a:spAutoFit/>
          </a:bodyPr>
          <a:lstStyle/>
          <a:p>
            <a:pPr algn="l"/>
            <a:r>
              <a:rPr sz="1050" b="0" i="0">
                <a:solidFill>
                  <a:srgbClr val="F1EEE9"/>
                </a:solidFill>
              </a:rPr>
              <a:t>Seven ship: a book over its VaR limit while its desk is within · a desk that lowers VaR · posted collateral raising exposure · VaR against peak PFE · the most-held company · two managers holding one portfolio · a fund's weights above its net assets</a:t>
            </a:r>
          </a:p>
        </p:txBody>
      </p:sp>
      <p:sp>
        <p:nvSpPr>
          <p:cNvPr id="33" name="Rectangle 3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Each pack declares its facts; only those that hold today are shown, with 'Why does that happen?' and the command.</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JSON LINES IS THE DATA STANDARD</a:t>
            </a:r>
          </a:p>
        </p:txBody>
      </p:sp>
      <p:sp>
        <p:nvSpPr>
          <p:cNvPr id="3" name="Title 2"/>
          <p:cNvSpPr>
            <a:spLocks noGrp="1"/>
          </p:cNvSpPr>
          <p:nvPr>
            <p:ph type="title" idx="104"/>
          </p:nvPr>
        </p:nvSpPr>
        <p:spPr/>
        <p:txBody>
          <a:bodyPr lIns="0" rIns="0" tIns="0" bIns="0" anchor="t"/>
          <a:lstStyle/>
          <a:p>
            <a:r>
              <a:t>One JSON object a line: every generator writes it, every export offers 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246888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50392"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Generators</a:t>
            </a:r>
          </a:p>
          <a:p>
            <a:pPr algn="l"/>
            <a:r>
              <a:rPr sz="1050" b="0" i="0">
                <a:solidFill>
                  <a:srgbClr val="1A1A1A"/>
                </a:solidFill>
              </a:rPr>
              <a:t>every tool under tools/ writes JSONL; .jsonl.gz where the repository gzips</a:t>
            </a:r>
          </a:p>
        </p:txBody>
      </p:sp>
      <p:cxnSp>
        <p:nvCxnSpPr>
          <p:cNvPr id="28" name="Connector 27"/>
          <p:cNvCxnSpPr/>
          <p:nvPr/>
        </p:nvCxnSpPr>
        <p:spPr>
          <a:xfrm>
            <a:off x="3264408" y="1915668"/>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502152" y="1481328"/>
            <a:ext cx="24688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575304"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JSON Lines</a:t>
            </a:r>
          </a:p>
          <a:p>
            <a:pPr algn="l"/>
            <a:r>
              <a:rPr sz="1050" b="0" i="0">
                <a:solidFill>
                  <a:srgbClr val="1A1A1A"/>
                </a:solidFill>
              </a:rPr>
              <a:t>one object a line, UTF-8; generating and loading are separate steps</a:t>
            </a:r>
          </a:p>
        </p:txBody>
      </p:sp>
      <p:cxnSp>
        <p:nvCxnSpPr>
          <p:cNvPr id="31" name="Connector 30"/>
          <p:cNvCxnSpPr/>
          <p:nvPr/>
        </p:nvCxnSpPr>
        <p:spPr>
          <a:xfrm>
            <a:off x="5989320" y="1915668"/>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6227064" y="1481328"/>
            <a:ext cx="246888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300216"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Load</a:t>
            </a:r>
          </a:p>
          <a:p>
            <a:pPr algn="l"/>
            <a:r>
              <a:rPr sz="1050" b="0" i="0">
                <a:solidFill>
                  <a:srgbClr val="1A1A1A"/>
                </a:solidFill>
              </a:rPr>
              <a:t>load_rows.py, lake build: the lake byte for byte the same as before</a:t>
            </a:r>
          </a:p>
        </p:txBody>
      </p:sp>
      <p:cxnSp>
        <p:nvCxnSpPr>
          <p:cNvPr id="34" name="Connector 33"/>
          <p:cNvCxnSpPr/>
          <p:nvPr/>
        </p:nvCxnSpPr>
        <p:spPr>
          <a:xfrm>
            <a:off x="8714232" y="1915668"/>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8951976" y="1481328"/>
            <a:ext cx="246888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25128"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Delta or Iceberg</a:t>
            </a:r>
          </a:p>
          <a:p>
            <a:pPr algn="l"/>
            <a:r>
              <a:rPr sz="1050" b="0" i="0">
                <a:solidFill>
                  <a:srgbClr val="1A1A1A"/>
                </a:solidFill>
              </a:rPr>
              <a:t>the lake every connector reads</a:t>
            </a:r>
          </a:p>
        </p:txBody>
      </p:sp>
      <p:sp>
        <p:nvSpPr>
          <p:cNvPr id="37" name="Rectangle 36"/>
          <p:cNvSpPr/>
          <p:nvPr/>
        </p:nvSpPr>
        <p:spPr>
          <a:xfrm>
            <a:off x="777240" y="2560320"/>
            <a:ext cx="3422904" cy="2240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05256" y="2615184"/>
            <a:ext cx="3194304" cy="2148840"/>
          </a:xfrm>
          <a:prstGeom prst="rect">
            <a:avLst/>
          </a:prstGeom>
          <a:noFill/>
        </p:spPr>
        <p:txBody>
          <a:bodyPr wrap="square" lIns="0" rIns="0" tIns="0" bIns="0" anchor="t">
            <a:spAutoFit/>
          </a:bodyPr>
          <a:lstStyle/>
          <a:p>
            <a:pPr algn="l">
              <a:spcAft>
                <a:spcPts val="300"/>
              </a:spcAft>
            </a:pPr>
            <a:r>
              <a:rPr sz="1300" b="1" i="0">
                <a:solidFill>
                  <a:srgbClr val="8A1626"/>
                </a:solidFill>
              </a:rPr>
              <a:t>Readers</a:t>
            </a:r>
          </a:p>
          <a:p>
            <a:pPr algn="l" marL="146304" indent="-146304">
              <a:spcAft>
                <a:spcPts val="400"/>
              </a:spcAft>
              <a:buClr>
                <a:srgbClr val="A51C30"/>
              </a:buClr>
              <a:buSzPct val="100000"/>
              <a:buFont typeface="Arial"/>
              <a:buChar char="▪"/>
            </a:pPr>
            <a:r>
              <a:rPr sz="1150" b="0" i="0">
                <a:solidFill>
                  <a:srgbClr val="1A1A1A"/>
                </a:solidFill>
              </a:rPr>
              <a:t>JSON Lines, JSON arrays and per-entity .json still read</a:t>
            </a:r>
          </a:p>
          <a:p>
            <a:pPr algn="l" marL="146304" indent="-146304">
              <a:spcAft>
                <a:spcPts val="400"/>
              </a:spcAft>
              <a:buClr>
                <a:srgbClr val="A51C30"/>
              </a:buClr>
              <a:buSzPct val="100000"/>
              <a:buFont typeface="Arial"/>
              <a:buChar char="▪"/>
            </a:pPr>
            <a:r>
              <a:rPr sz="1150" b="0" i="0">
                <a:solidFill>
                  <a:srgbClr val="1A1A1A"/>
                </a:solidFill>
              </a:rPr>
              <a:t>CSV deprecated: one warning a file, named in Admin → Health</a:t>
            </a:r>
          </a:p>
          <a:p>
            <a:pPr algn="l" marL="146304" indent="-146304">
              <a:spcAft>
                <a:spcPts val="400"/>
              </a:spcAft>
              <a:buClr>
                <a:srgbClr val="A51C30"/>
              </a:buClr>
              <a:buSzPct val="100000"/>
              <a:buFont typeface="Arial"/>
              <a:buChar char="▪"/>
            </a:pPr>
            <a:r>
              <a:rPr sz="1150" b="0" i="0">
                <a:solidFill>
                  <a:srgbClr val="1A1A1A"/>
                </a:solidFill>
              </a:rPr>
              <a:t>drishti.py convert FILE: CSV, a JSON array, gzip or a folder into JSONL</a:t>
            </a:r>
          </a:p>
        </p:txBody>
      </p:sp>
      <p:sp>
        <p:nvSpPr>
          <p:cNvPr id="39" name="Rectangle 38"/>
          <p:cNvSpPr/>
          <p:nvPr/>
        </p:nvSpPr>
        <p:spPr>
          <a:xfrm>
            <a:off x="4383024" y="2560320"/>
            <a:ext cx="3422904" cy="2240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511040" y="2615184"/>
            <a:ext cx="3194304" cy="2148840"/>
          </a:xfrm>
          <a:prstGeom prst="rect">
            <a:avLst/>
          </a:prstGeom>
          <a:noFill/>
        </p:spPr>
        <p:txBody>
          <a:bodyPr wrap="square" lIns="0" rIns="0" tIns="0" bIns="0" anchor="t">
            <a:spAutoFit/>
          </a:bodyPr>
          <a:lstStyle/>
          <a:p>
            <a:pPr algn="l">
              <a:spcAft>
                <a:spcPts val="300"/>
              </a:spcAft>
            </a:pPr>
            <a:r>
              <a:rPr sz="1300" b="1" i="0">
                <a:solidFill>
                  <a:srgbClr val="8A1626"/>
                </a:solidFill>
              </a:rPr>
              <a:t>Exports</a:t>
            </a:r>
          </a:p>
          <a:p>
            <a:pPr algn="l" marL="146304" indent="-146304">
              <a:spcAft>
                <a:spcPts val="400"/>
              </a:spcAft>
              <a:buClr>
                <a:srgbClr val="A51C30"/>
              </a:buClr>
              <a:buSzPct val="100000"/>
              <a:buFont typeface="Arial"/>
              <a:buChar char="▪"/>
            </a:pPr>
            <a:r>
              <a:rPr sz="1150" b="0" i="0">
                <a:solidFill>
                  <a:srgbClr val="1A1A1A"/>
                </a:solidFill>
              </a:rPr>
              <a:t>Server: search, SQL, BI runs, /export/jsonl, statements, subscriptions, scheduled reports, VaR and exposure</a:t>
            </a:r>
          </a:p>
          <a:p>
            <a:pPr algn="l" marL="146304" indent="-146304">
              <a:spcAft>
                <a:spcPts val="400"/>
              </a:spcAft>
              <a:buClr>
                <a:srgbClr val="A51C30"/>
              </a:buClr>
              <a:buSzPct val="100000"/>
              <a:buFont typeface="Arial"/>
              <a:buChar char="▪"/>
            </a:pPr>
            <a:r>
              <a:rPr sz="1150" b="0" i="0">
                <a:solidFill>
                  <a:srgbClr val="1A1A1A"/>
                </a:solidFill>
              </a:rPr>
              <a:t>Console: every download and menu; CLI: --jsonl, --format jsonl</a:t>
            </a:r>
          </a:p>
          <a:p>
            <a:pPr algn="l" marL="146304" indent="-146304">
              <a:spcAft>
                <a:spcPts val="400"/>
              </a:spcAft>
              <a:buClr>
                <a:srgbClr val="A51C30"/>
              </a:buClr>
              <a:buSzPct val="100000"/>
              <a:buFont typeface="Arial"/>
              <a:buChar char="▪"/>
            </a:pPr>
            <a:r>
              <a:rPr sz="1150" b="0" i="0">
                <a:solidFill>
                  <a:srgbClr val="1A1A1A"/>
                </a:solidFill>
              </a:rPr>
              <a:t>CSV, Excel, PDF and PNG all stay</a:t>
            </a:r>
          </a:p>
        </p:txBody>
      </p:sp>
      <p:sp>
        <p:nvSpPr>
          <p:cNvPr id="41" name="Rectangle 40"/>
          <p:cNvSpPr/>
          <p:nvPr/>
        </p:nvSpPr>
        <p:spPr>
          <a:xfrm>
            <a:off x="7988808" y="2560320"/>
            <a:ext cx="3422904" cy="2240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116824" y="2615184"/>
            <a:ext cx="3194304" cy="2148840"/>
          </a:xfrm>
          <a:prstGeom prst="rect">
            <a:avLst/>
          </a:prstGeom>
          <a:noFill/>
        </p:spPr>
        <p:txBody>
          <a:bodyPr wrap="square" lIns="0" rIns="0" tIns="0" bIns="0" anchor="t">
            <a:spAutoFit/>
          </a:bodyPr>
          <a:lstStyle/>
          <a:p>
            <a:pPr algn="l">
              <a:spcAft>
                <a:spcPts val="300"/>
              </a:spcAft>
            </a:pPr>
            <a:r>
              <a:rPr sz="1300" b="1" i="0">
                <a:solidFill>
                  <a:srgbClr val="8A1626"/>
                </a:solidFill>
              </a:rPr>
              <a:t>Records</a:t>
            </a:r>
          </a:p>
          <a:p>
            <a:pPr algn="l" marL="146304" indent="-146304">
              <a:spcAft>
                <a:spcPts val="400"/>
              </a:spcAft>
              <a:buClr>
                <a:srgbClr val="A51C30"/>
              </a:buClr>
              <a:buSzPct val="100000"/>
              <a:buFont typeface="Arial"/>
              <a:buChar char="▪"/>
            </a:pPr>
            <a:r>
              <a:rPr sz="1150" b="0" i="0">
                <a:solidFill>
                  <a:srgbClr val="1A1A1A"/>
                </a:solidFill>
              </a:rPr>
              <a:t>Official VaR and exposure results as JSONL beside their Delta tables</a:t>
            </a:r>
          </a:p>
          <a:p>
            <a:pPr algn="l" marL="146304" indent="-146304">
              <a:spcAft>
                <a:spcPts val="400"/>
              </a:spcAft>
              <a:buClr>
                <a:srgbClr val="A51C30"/>
              </a:buClr>
              <a:buSzPct val="100000"/>
              <a:buFont typeface="Arial"/>
              <a:buChar char="▪"/>
            </a:pPr>
            <a:r>
              <a:rPr sz="1150" b="0" i="0">
                <a:solidFill>
                  <a:srgbClr val="1A1A1A"/>
                </a:solidFill>
              </a:rPr>
              <a:t>Sutra test cases: one cases.jsonl per Sutra, 197 folders converted</a:t>
            </a:r>
          </a:p>
          <a:p>
            <a:pPr algn="l" marL="146304" indent="-146304">
              <a:spcAft>
                <a:spcPts val="400"/>
              </a:spcAft>
              <a:buClr>
                <a:srgbClr val="A51C30"/>
              </a:buClr>
              <a:buSzPct val="100000"/>
              <a:buFont typeface="Arial"/>
              <a:buChar char="▪"/>
            </a:pPr>
            <a:r>
              <a:rPr sz="1150" b="0" i="0">
                <a:solidFill>
                  <a:srgbClr val="1A1A1A"/>
                </a:solidFill>
              </a:rPr>
              <a:t>Sample catalogues, staged lake rows, seals: JSONL</a:t>
            </a:r>
          </a:p>
        </p:txBody>
      </p:sp>
      <p:sp>
        <p:nvSpPr>
          <p:cNvPr id="43" name="TextBox 42"/>
          <p:cNvSpPr txBox="1"/>
          <p:nvPr/>
        </p:nvSpPr>
        <p:spPr>
          <a:xfrm>
            <a:off x="777240" y="4937760"/>
            <a:ext cx="10634472" cy="548640"/>
          </a:xfrm>
          <a:prstGeom prst="rect">
            <a:avLst/>
          </a:prstGeom>
          <a:noFill/>
        </p:spPr>
        <p:txBody>
          <a:bodyPr wrap="square" lIns="0" rIns="0" tIns="0" bIns="0" anchor="t">
            <a:spAutoFit/>
          </a:bodyPr>
          <a:lstStyle/>
          <a:p>
            <a:pPr algn="l"/>
            <a:r>
              <a:rPr sz="1200" b="1" i="0">
                <a:solidFill>
                  <a:srgbClr val="8A1626"/>
                </a:solidFill>
              </a:rPr>
              <a:t>Guarded in the drill: </a:t>
            </a:r>
            <a:r>
              <a:rPr sz="1050" b="0" i="0">
                <a:solidFill>
                  <a:srgbClr val="A51C30"/>
                </a:solidFill>
                <a:latin typeface="Courier New"/>
              </a:rPr>
              <a:t>test_generators_write_jsonl.py</a:t>
            </a:r>
            <a:r>
              <a:rPr sz="1200" b="0" i="0">
                <a:solidFill>
                  <a:srgbClr val="1A1A1A"/>
                </a:solidFill>
              </a:rPr>
              <a:t> runs the generators and reads every data file; </a:t>
            </a:r>
            <a:r>
              <a:rPr sz="1050" b="0" i="0">
                <a:solidFill>
                  <a:srgbClr val="A51C30"/>
                </a:solidFill>
                <a:latin typeface="Courier New"/>
              </a:rPr>
              <a:t>test_exports_offer_jsonl.py</a:t>
            </a:r>
            <a:r>
              <a:rPr sz="1200" b="0" i="0">
                <a:solidFill>
                  <a:srgbClr val="1A1A1A"/>
                </a:solidFill>
              </a:rPr>
              <a:t> checks every export entry point.</a:t>
            </a:r>
          </a:p>
        </p:txBody>
      </p:sp>
      <p:sp>
        <p:nvSpPr>
          <p:cNvPr id="44" name="Rectangle 4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ectangle 4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pipeline streams any Drishti input or output a line at a time; CSV, Excel, PDF and PNG stay for people.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CONFIGURATION, NOT CODE</a:t>
            </a:r>
          </a:p>
        </p:txBody>
      </p:sp>
      <p:sp>
        <p:nvSpPr>
          <p:cNvPr id="3" name="Title 2"/>
          <p:cNvSpPr>
            <a:spLocks noGrp="1"/>
          </p:cNvSpPr>
          <p:nvPr>
            <p:ph type="title" idx="104"/>
          </p:nvPr>
        </p:nvSpPr>
        <p:spPr/>
        <p:txBody>
          <a:bodyPr lIns="0" rIns="0" tIns="0" bIns="0" anchor="t"/>
          <a:lstStyle/>
          <a:p>
            <a:r>
              <a:t>The product's name and the bank's names come from configuration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422904" cy="40233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3148584" cy="457200"/>
          </a:xfrm>
          <a:prstGeom prst="rect">
            <a:avLst/>
          </a:prstGeom>
          <a:noFill/>
        </p:spPr>
        <p:txBody>
          <a:bodyPr wrap="square" lIns="0" rIns="0" tIns="0" bIns="0" anchor="ctr">
            <a:spAutoFit/>
          </a:bodyPr>
          <a:lstStyle/>
          <a:p>
            <a:pPr algn="l"/>
            <a:r>
              <a:rPr sz="1350" b="1" i="0">
                <a:solidFill>
                  <a:srgbClr val="FFFFFF"/>
                </a:solidFill>
              </a:rPr>
              <a:t>Branding</a:t>
            </a:r>
            <a:r>
              <a:rPr sz="1100" b="0" i="0">
                <a:solidFill>
                  <a:srgbClr val="F6E6E9"/>
                </a:solidFill>
              </a:rPr>
              <a:t>   </a:t>
            </a:r>
          </a:p>
        </p:txBody>
      </p:sp>
      <p:sp>
        <p:nvSpPr>
          <p:cNvPr id="29" name="Rectangle 28"/>
          <p:cNvSpPr/>
          <p:nvPr/>
        </p:nvSpPr>
        <p:spPr>
          <a:xfrm>
            <a:off x="914400" y="2057400"/>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ui.product · drishti.branding.product</a:t>
            </a:r>
          </a:p>
        </p:txBody>
      </p:sp>
      <p:sp>
        <p:nvSpPr>
          <p:cNvPr id="30" name="Rectangle 29"/>
          <p:cNvSpPr/>
          <p:nvPr/>
        </p:nvSpPr>
        <p:spPr>
          <a:xfrm>
            <a:off x="914400" y="2459736"/>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ui.owner · ui.owner_email</a:t>
            </a:r>
          </a:p>
        </p:txBody>
      </p:sp>
      <p:sp>
        <p:nvSpPr>
          <p:cNvPr id="31" name="TextBox 30"/>
          <p:cNvSpPr txBox="1"/>
          <p:nvPr/>
        </p:nvSpPr>
        <p:spPr>
          <a:xfrm>
            <a:off x="914400" y="2953512"/>
            <a:ext cx="3148584" cy="2103120"/>
          </a:xfrm>
          <a:prstGeom prst="rect">
            <a:avLst/>
          </a:prstGeom>
          <a:noFill/>
        </p:spPr>
        <p:txBody>
          <a:bodyPr wrap="square" lIns="0" rIns="0" tIns="0" bIns="0" anchor="t">
            <a:spAutoFit/>
          </a:bodyPr>
          <a:lstStyle/>
          <a:p>
            <a:pPr algn="l"/>
            <a:r>
              <a:rPr sz="1250" b="0" i="0">
                <a:solidFill>
                  <a:srgbClr val="1A1A1A"/>
                </a:solidFill>
              </a:rPr>
              <a:t>No template, script or server message writes the product's name; features follow it: &lt;product&gt; SQL, &lt;product&gt; Elements, &lt;product&gt;*net. The landing headline and tagline too.</a:t>
            </a:r>
          </a:p>
        </p:txBody>
      </p:sp>
      <p:sp>
        <p:nvSpPr>
          <p:cNvPr id="32" name="Rectangle 31"/>
          <p:cNvSpPr/>
          <p:nvPr/>
        </p:nvSpPr>
        <p:spPr>
          <a:xfrm>
            <a:off x="914400" y="4919472"/>
            <a:ext cx="3148584" cy="43891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05840" y="4919472"/>
            <a:ext cx="3011424" cy="438912"/>
          </a:xfrm>
          <a:prstGeom prst="rect">
            <a:avLst/>
          </a:prstGeom>
          <a:noFill/>
        </p:spPr>
        <p:txBody>
          <a:bodyPr wrap="square" lIns="0" rIns="0" tIns="0" bIns="0" anchor="ctr">
            <a:spAutoFit/>
          </a:bodyPr>
          <a:lstStyle/>
          <a:p>
            <a:pPr algn="l"/>
            <a:r>
              <a:rPr sz="1100" b="1" i="0">
                <a:solidFill>
                  <a:srgbClr val="A51C30"/>
                </a:solidFill>
              </a:rPr>
              <a:t>Guard  </a:t>
            </a:r>
            <a:r>
              <a:rPr sz="1050" b="0" i="0">
                <a:solidFill>
                  <a:srgbClr val="8A1626"/>
                </a:solidFill>
                <a:latin typeface="Courier New"/>
              </a:rPr>
              <a:t>test_branding_guard.py · BrandingLiteralTest</a:t>
            </a:r>
          </a:p>
        </p:txBody>
      </p:sp>
      <p:sp>
        <p:nvSpPr>
          <p:cNvPr id="34" name="Rectangle 33"/>
          <p:cNvSpPr/>
          <p:nvPr/>
        </p:nvSpPr>
        <p:spPr>
          <a:xfrm>
            <a:off x="4383024" y="1463040"/>
            <a:ext cx="3422904" cy="40233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4383024"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4520184" y="1463040"/>
            <a:ext cx="3148584" cy="457200"/>
          </a:xfrm>
          <a:prstGeom prst="rect">
            <a:avLst/>
          </a:prstGeom>
          <a:noFill/>
        </p:spPr>
        <p:txBody>
          <a:bodyPr wrap="square" lIns="0" rIns="0" tIns="0" bIns="0" anchor="ctr">
            <a:spAutoFit/>
          </a:bodyPr>
          <a:lstStyle/>
          <a:p>
            <a:pPr algn="l"/>
            <a:r>
              <a:rPr sz="1350" b="1" i="0">
                <a:solidFill>
                  <a:srgbClr val="FFFFFF"/>
                </a:solidFill>
              </a:rPr>
              <a:t>The bank's names</a:t>
            </a:r>
            <a:r>
              <a:rPr sz="1100" b="0" i="0">
                <a:solidFill>
                  <a:srgbClr val="F6E6E9"/>
                </a:solidFill>
              </a:rPr>
              <a:t>   </a:t>
            </a:r>
          </a:p>
        </p:txBody>
      </p:sp>
      <p:sp>
        <p:nvSpPr>
          <p:cNvPr id="37" name="Rectangle 36"/>
          <p:cNvSpPr/>
          <p:nvPr/>
        </p:nvSpPr>
        <p:spPr>
          <a:xfrm>
            <a:off x="4520184" y="2057400"/>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config/demo/names.yaml</a:t>
            </a:r>
          </a:p>
        </p:txBody>
      </p:sp>
      <p:sp>
        <p:nvSpPr>
          <p:cNvPr id="38" name="Rectangle 37"/>
          <p:cNvSpPr/>
          <p:nvPr/>
        </p:nvSpPr>
        <p:spPr>
          <a:xfrm>
            <a:off x="4520184" y="2459736"/>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lake demo --names FILE --dry-run</a:t>
            </a:r>
          </a:p>
        </p:txBody>
      </p:sp>
      <p:sp>
        <p:nvSpPr>
          <p:cNvPr id="39" name="TextBox 38"/>
          <p:cNvSpPr txBox="1"/>
          <p:nvPr/>
        </p:nvSpPr>
        <p:spPr>
          <a:xfrm>
            <a:off x="4520184" y="2953512"/>
            <a:ext cx="3148584" cy="2103120"/>
          </a:xfrm>
          <a:prstGeom prst="rect">
            <a:avLst/>
          </a:prstGeom>
          <a:noFill/>
        </p:spPr>
        <p:txBody>
          <a:bodyPr wrap="square" lIns="0" rIns="0" tIns="0" bIns="0" anchor="t">
            <a:spAutoFit/>
          </a:bodyPr>
          <a:lstStyle/>
          <a:p>
            <a:pPr algn="l"/>
            <a:r>
              <a:rPr sz="1250" b="0" i="0">
                <a:solidFill>
                  <a:srgbClr val="1A1A1A"/>
                </a:solidFill>
              </a:rPr>
              <a:t>The bank, its short name, the legal entities LE-NY, LE-LDN, LE-FRA, LE-TKY and branches, renamed as the demo loads, in every kind. Defaults change nothing; LEIs and BICs stay; committed test data is never rewritten.</a:t>
            </a:r>
          </a:p>
        </p:txBody>
      </p:sp>
      <p:sp>
        <p:nvSpPr>
          <p:cNvPr id="40" name="Rectangle 39"/>
          <p:cNvSpPr/>
          <p:nvPr/>
        </p:nvSpPr>
        <p:spPr>
          <a:xfrm>
            <a:off x="4520184" y="4919472"/>
            <a:ext cx="3148584" cy="43891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611624" y="4919472"/>
            <a:ext cx="3011424" cy="438912"/>
          </a:xfrm>
          <a:prstGeom prst="rect">
            <a:avLst/>
          </a:prstGeom>
          <a:noFill/>
        </p:spPr>
        <p:txBody>
          <a:bodyPr wrap="square" lIns="0" rIns="0" tIns="0" bIns="0" anchor="ctr">
            <a:spAutoFit/>
          </a:bodyPr>
          <a:lstStyle/>
          <a:p>
            <a:pPr algn="l"/>
            <a:r>
              <a:rPr sz="1100" b="1" i="0">
                <a:solidFill>
                  <a:srgbClr val="A51C30"/>
                </a:solidFill>
              </a:rPr>
              <a:t>Guard  </a:t>
            </a:r>
            <a:r>
              <a:rPr sz="1050" b="0" i="0">
                <a:solidFill>
                  <a:srgbClr val="8A1626"/>
                </a:solidFill>
                <a:latin typeface="Courier New"/>
              </a:rPr>
              <a:t>tools/lake/test_names.py, in the drill</a:t>
            </a:r>
          </a:p>
        </p:txBody>
      </p:sp>
      <p:sp>
        <p:nvSpPr>
          <p:cNvPr id="42" name="Rectangle 41"/>
          <p:cNvSpPr/>
          <p:nvPr/>
        </p:nvSpPr>
        <p:spPr>
          <a:xfrm>
            <a:off x="7988808" y="1463040"/>
            <a:ext cx="3422904" cy="40233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988808"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8125968" y="1463040"/>
            <a:ext cx="3148584" cy="457200"/>
          </a:xfrm>
          <a:prstGeom prst="rect">
            <a:avLst/>
          </a:prstGeom>
          <a:noFill/>
        </p:spPr>
        <p:txBody>
          <a:bodyPr wrap="square" lIns="0" rIns="0" tIns="0" bIns="0" anchor="ctr">
            <a:spAutoFit/>
          </a:bodyPr>
          <a:lstStyle/>
          <a:p>
            <a:pPr algn="l"/>
            <a:r>
              <a:rPr sz="1350" b="1" i="0">
                <a:solidFill>
                  <a:srgbClr val="FFFFFF"/>
                </a:solidFill>
              </a:rPr>
              <a:t>The VaR tree and method</a:t>
            </a:r>
            <a:r>
              <a:rPr sz="1100" b="0" i="0">
                <a:solidFill>
                  <a:srgbClr val="F6E6E9"/>
                </a:solidFill>
              </a:rPr>
              <a:t>   </a:t>
            </a:r>
          </a:p>
        </p:txBody>
      </p:sp>
      <p:sp>
        <p:nvSpPr>
          <p:cNvPr id="45" name="Rectangle 44"/>
          <p:cNvSpPr/>
          <p:nvPr/>
        </p:nvSpPr>
        <p:spPr>
          <a:xfrm>
            <a:off x="8125968" y="2057400"/>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DRISHTI_VAR_ROOT_NAME</a:t>
            </a:r>
          </a:p>
        </p:txBody>
      </p:sp>
      <p:sp>
        <p:nvSpPr>
          <p:cNvPr id="46" name="Rectangle 45"/>
          <p:cNvSpPr/>
          <p:nvPr/>
        </p:nvSpPr>
        <p:spPr>
          <a:xfrm>
            <a:off x="8125968" y="2459736"/>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scenario-window · confidence · currencies</a:t>
            </a:r>
          </a:p>
        </p:txBody>
      </p:sp>
      <p:sp>
        <p:nvSpPr>
          <p:cNvPr id="47" name="TextBox 46"/>
          <p:cNvSpPr txBox="1"/>
          <p:nvPr/>
        </p:nvSpPr>
        <p:spPr>
          <a:xfrm>
            <a:off x="8125968" y="2953512"/>
            <a:ext cx="3148584" cy="2103120"/>
          </a:xfrm>
          <a:prstGeom prst="rect">
            <a:avLst/>
          </a:prstGeom>
          <a:noFill/>
        </p:spPr>
        <p:txBody>
          <a:bodyPr wrap="square" lIns="0" rIns="0" tIns="0" bIns="0" anchor="t">
            <a:spAutoFit/>
          </a:bodyPr>
          <a:lstStyle/>
          <a:p>
            <a:pPr algn="l"/>
            <a:r>
              <a:rPr sz="1250" b="0" i="0">
                <a:solidFill>
                  <a:srgbClr val="1A1A1A"/>
                </a:solidFill>
              </a:rPr>
              <a:t>The top of every VaR tree named by a setting (per hierarchy too); the window, confidence and reporting currencies are settings, and every answer carries its labels.</a:t>
            </a:r>
          </a:p>
        </p:txBody>
      </p:sp>
      <p:sp>
        <p:nvSpPr>
          <p:cNvPr id="48" name="Rectangle 47"/>
          <p:cNvSpPr/>
          <p:nvPr/>
        </p:nvSpPr>
        <p:spPr>
          <a:xfrm>
            <a:off x="8125968" y="4919472"/>
            <a:ext cx="3148584" cy="43891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8217408" y="4919472"/>
            <a:ext cx="3011424" cy="438912"/>
          </a:xfrm>
          <a:prstGeom prst="rect">
            <a:avLst/>
          </a:prstGeom>
          <a:noFill/>
        </p:spPr>
        <p:txBody>
          <a:bodyPr wrap="square" lIns="0" rIns="0" tIns="0" bIns="0" anchor="ctr">
            <a:spAutoFit/>
          </a:bodyPr>
          <a:lstStyle/>
          <a:p>
            <a:pPr algn="l"/>
            <a:r>
              <a:rPr sz="1100" b="1" i="0">
                <a:solidFill>
                  <a:srgbClr val="A51C30"/>
                </a:solidFill>
              </a:rPr>
              <a:t>Guard  </a:t>
            </a:r>
            <a:r>
              <a:rPr sz="1050" b="0" i="0">
                <a:solidFill>
                  <a:srgbClr val="8A1626"/>
                </a:solidFill>
                <a:latin typeface="Courier New"/>
              </a:rPr>
              <a:t>VarRootNameTest</a:t>
            </a:r>
          </a:p>
        </p:txBody>
      </p:sp>
      <p:sp>
        <p:nvSpPr>
          <p:cNvPr id="50" name="Rectangle 4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Rectangle 5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bank sees its own names in a demo by editing one file — and no code names the product or the bank.</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DOCUMENTATION AS EVIDENCE</a:t>
            </a:r>
          </a:p>
        </p:txBody>
      </p:sp>
      <p:sp>
        <p:nvSpPr>
          <p:cNvPr id="3" name="Title 2"/>
          <p:cNvSpPr>
            <a:spLocks noGrp="1"/>
          </p:cNvSpPr>
          <p:nvPr>
            <p:ph type="title" idx="104"/>
          </p:nvPr>
        </p:nvSpPr>
        <p:spPr/>
        <p:txBody>
          <a:bodyPr lIns="0" rIns="0" tIns="0" bIns="0" anchor="t"/>
          <a:lstStyle/>
          <a:p>
            <a:r>
              <a:t>Retaking 351 pictures on the current UI found five bugs — all fixed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281428" cy="457200"/>
          </a:xfrm>
          <a:prstGeom prst="rect">
            <a:avLst/>
          </a:prstGeom>
          <a:noFill/>
        </p:spPr>
        <p:txBody>
          <a:bodyPr wrap="square" lIns="0" rIns="0" tIns="0" bIns="0" anchor="ctr">
            <a:spAutoFit/>
          </a:bodyPr>
          <a:lstStyle/>
          <a:p>
            <a:pPr algn="l"/>
            <a:r>
              <a:rPr sz="2400" b="1" i="0">
                <a:solidFill>
                  <a:srgbClr val="8A1626"/>
                </a:solidFill>
              </a:rPr>
              <a:t>351</a:t>
            </a:r>
          </a:p>
        </p:txBody>
      </p:sp>
      <p:sp>
        <p:nvSpPr>
          <p:cNvPr id="29" name="TextBox 28"/>
          <p:cNvSpPr txBox="1"/>
          <p:nvPr/>
        </p:nvSpPr>
        <p:spPr>
          <a:xfrm>
            <a:off x="960120" y="2029968"/>
            <a:ext cx="2281428" cy="475487"/>
          </a:xfrm>
          <a:prstGeom prst="rect">
            <a:avLst/>
          </a:prstGeom>
          <a:noFill/>
        </p:spPr>
        <p:txBody>
          <a:bodyPr wrap="square" lIns="0" rIns="0" tIns="0" bIns="0" anchor="t">
            <a:spAutoFit/>
          </a:bodyPr>
          <a:lstStyle/>
          <a:p>
            <a:pPr algn="l"/>
            <a:r>
              <a:rPr sz="1150" b="0" i="0">
                <a:solidFill>
                  <a:srgbClr val="4A5058"/>
                </a:solidFill>
              </a:rPr>
              <a:t>pictures under docs/ retaken on the current UI by tools/docs/screenshots.py</a:t>
            </a:r>
          </a:p>
        </p:txBody>
      </p:sp>
      <p:sp>
        <p:nvSpPr>
          <p:cNvPr id="30" name="Rectangle 29"/>
          <p:cNvSpPr/>
          <p:nvPr/>
        </p:nvSpPr>
        <p:spPr>
          <a:xfrm>
            <a:off x="3470148"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3470148"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653028" y="1554480"/>
            <a:ext cx="2281428" cy="457200"/>
          </a:xfrm>
          <a:prstGeom prst="rect">
            <a:avLst/>
          </a:prstGeom>
          <a:noFill/>
        </p:spPr>
        <p:txBody>
          <a:bodyPr wrap="square" lIns="0" rIns="0" tIns="0" bIns="0" anchor="ctr">
            <a:spAutoFit/>
          </a:bodyPr>
          <a:lstStyle/>
          <a:p>
            <a:pPr algn="l"/>
            <a:r>
              <a:rPr sz="2400" b="1" i="0">
                <a:solidFill>
                  <a:srgbClr val="8A1626"/>
                </a:solidFill>
              </a:rPr>
              <a:t>29</a:t>
            </a:r>
          </a:p>
        </p:txBody>
      </p:sp>
      <p:sp>
        <p:nvSpPr>
          <p:cNvPr id="33" name="TextBox 32"/>
          <p:cNvSpPr txBox="1"/>
          <p:nvPr/>
        </p:nvSpPr>
        <p:spPr>
          <a:xfrm>
            <a:off x="3653028" y="2029968"/>
            <a:ext cx="2281428" cy="475487"/>
          </a:xfrm>
          <a:prstGeom prst="rect">
            <a:avLst/>
          </a:prstGeom>
          <a:noFill/>
        </p:spPr>
        <p:txBody>
          <a:bodyPr wrap="square" lIns="0" rIns="0" tIns="0" bIns="0" anchor="t">
            <a:spAutoFit/>
          </a:bodyPr>
          <a:lstStyle/>
          <a:p>
            <a:pPr algn="l"/>
            <a:r>
              <a:rPr sz="1150" b="0" i="0">
                <a:solidFill>
                  <a:srgbClr val="4A5058"/>
                </a:solidFill>
              </a:rPr>
              <a:t>hands-on tutorials, from the first 15 minutes to VaR, exposure, funds and Iceberg</a:t>
            </a:r>
          </a:p>
        </p:txBody>
      </p:sp>
      <p:sp>
        <p:nvSpPr>
          <p:cNvPr id="34" name="Rectangle 33"/>
          <p:cNvSpPr/>
          <p:nvPr/>
        </p:nvSpPr>
        <p:spPr>
          <a:xfrm>
            <a:off x="6163056"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6163056"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345936" y="1554480"/>
            <a:ext cx="2281428" cy="457200"/>
          </a:xfrm>
          <a:prstGeom prst="rect">
            <a:avLst/>
          </a:prstGeom>
          <a:noFill/>
        </p:spPr>
        <p:txBody>
          <a:bodyPr wrap="square" lIns="0" rIns="0" tIns="0" bIns="0" anchor="ctr">
            <a:spAutoFit/>
          </a:bodyPr>
          <a:lstStyle/>
          <a:p>
            <a:pPr algn="l"/>
            <a:r>
              <a:rPr sz="2400" b="1" i="0">
                <a:solidFill>
                  <a:srgbClr val="8A1626"/>
                </a:solidFill>
              </a:rPr>
              <a:t>2 + 2</a:t>
            </a:r>
          </a:p>
        </p:txBody>
      </p:sp>
      <p:sp>
        <p:nvSpPr>
          <p:cNvPr id="37" name="TextBox 36"/>
          <p:cNvSpPr txBox="1"/>
          <p:nvPr/>
        </p:nvSpPr>
        <p:spPr>
          <a:xfrm>
            <a:off x="6345936" y="2029968"/>
            <a:ext cx="2281428" cy="475487"/>
          </a:xfrm>
          <a:prstGeom prst="rect">
            <a:avLst/>
          </a:prstGeom>
          <a:noFill/>
        </p:spPr>
        <p:txBody>
          <a:bodyPr wrap="square" lIns="0" rIns="0" tIns="0" bIns="0" anchor="t">
            <a:spAutoFit/>
          </a:bodyPr>
          <a:lstStyle/>
          <a:p>
            <a:pPr algn="l"/>
            <a:r>
              <a:rPr sz="1150" b="0" i="0">
                <a:solidFill>
                  <a:srgbClr val="4A5058"/>
                </a:solidFill>
              </a:rPr>
              <a:t>documents and Help pages per measure: a guide and a tutorial</a:t>
            </a:r>
          </a:p>
        </p:txBody>
      </p:sp>
      <p:sp>
        <p:nvSpPr>
          <p:cNvPr id="38" name="Rectangle 37"/>
          <p:cNvSpPr/>
          <p:nvPr/>
        </p:nvSpPr>
        <p:spPr>
          <a:xfrm>
            <a:off x="8855964"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8855964"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038844" y="1554480"/>
            <a:ext cx="2281428" cy="457200"/>
          </a:xfrm>
          <a:prstGeom prst="rect">
            <a:avLst/>
          </a:prstGeom>
          <a:noFill/>
        </p:spPr>
        <p:txBody>
          <a:bodyPr wrap="square" lIns="0" rIns="0" tIns="0" bIns="0" anchor="ctr">
            <a:spAutoFit/>
          </a:bodyPr>
          <a:lstStyle/>
          <a:p>
            <a:pPr algn="l"/>
            <a:r>
              <a:rPr sz="2400" b="1" i="0">
                <a:solidFill>
                  <a:srgbClr val="8A1626"/>
                </a:solidFill>
              </a:rPr>
              <a:t>193</a:t>
            </a:r>
          </a:p>
        </p:txBody>
      </p:sp>
      <p:sp>
        <p:nvSpPr>
          <p:cNvPr id="41" name="TextBox 40"/>
          <p:cNvSpPr txBox="1"/>
          <p:nvPr/>
        </p:nvSpPr>
        <p:spPr>
          <a:xfrm>
            <a:off x="9038844" y="2029968"/>
            <a:ext cx="2281428" cy="475487"/>
          </a:xfrm>
          <a:prstGeom prst="rect">
            <a:avLst/>
          </a:prstGeom>
          <a:noFill/>
        </p:spPr>
        <p:txBody>
          <a:bodyPr wrap="square" lIns="0" rIns="0" tIns="0" bIns="0" anchor="t">
            <a:spAutoFit/>
          </a:bodyPr>
          <a:lstStyle/>
          <a:p>
            <a:pPr algn="l"/>
            <a:r>
              <a:rPr sz="1150" b="0" i="0">
                <a:solidFill>
                  <a:srgbClr val="4A5058"/>
                </a:solidFill>
              </a:rPr>
              <a:t>guides, references and tutorials, plus 113 contract pages</a:t>
            </a:r>
          </a:p>
        </p:txBody>
      </p:sp>
      <p:graphicFrame>
        <p:nvGraphicFramePr>
          <p:cNvPr id="42" name="Table 41"/>
          <p:cNvGraphicFramePr>
            <a:graphicFrameLocks noGrp="1"/>
          </p:cNvGraphicFramePr>
          <p:nvPr/>
        </p:nvGraphicFramePr>
        <p:xfrm>
          <a:off x="777240" y="2743200"/>
          <a:ext cx="10634472" cy="2414016"/>
        </p:xfrm>
        <a:graphic>
          <a:graphicData uri="http://schemas.openxmlformats.org/drawingml/2006/table">
            <a:tbl>
              <a:tblPr firstRow="0" bandRow="0">
                <a:tableStyleId>{5940675A-B579-460E-94D1-54222C63F5DA}</a:tableStyleId>
              </a:tblPr>
              <a:tblGrid>
                <a:gridCol w="6035040"/>
                <a:gridCol w="4599432"/>
              </a:tblGrid>
              <a:tr h="402336">
                <a:tc>
                  <a:txBody>
                    <a:bodyPr wrap="square"/>
                    <a:lstStyle/>
                    <a:p>
                      <a:r>
                        <a:rPr sz="1150" b="1" i="0">
                          <a:solidFill>
                            <a:srgbClr val="FFFFFF"/>
                          </a:solidFill>
                        </a:rPr>
                        <a:t>Found by the screenshot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Fixed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02336">
                <a:tc>
                  <a:txBody>
                    <a:bodyPr wrap="square"/>
                    <a:lstStyle/>
                    <a:p>
                      <a:r>
                        <a:rPr sz="1150" b="0" i="0">
                          <a:solidFill>
                            <a:srgbClr val="1A1A1A"/>
                          </a:solidFill>
                        </a:rPr>
                        <a:t>A new pack's job reached through another console worker answered DRS-5006 no such job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Job ids name their worker; the call is relayed to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02336">
                <a:tc>
                  <a:txBody>
                    <a:bodyPr wrap="square"/>
                    <a:lstStyle/>
                    <a:p>
                      <a:r>
                        <a:rPr sz="1150" b="0" i="0">
                          <a:solidFill>
                            <a:srgbClr val="1A1A1A"/>
                          </a:solidFill>
                        </a:rPr>
                        <a:t>An installed pack's help guide never reached the console ('There is no guide called helpdesk-pack')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console reads the server's installed packs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02336">
                <a:tc>
                  <a:txBody>
                    <a:bodyPr wrap="square"/>
                    <a:lstStyle/>
                    <a:p>
                      <a:r>
                        <a:rPr sz="1150" b="0" i="0">
                          <a:solidFill>
                            <a:srgbClr val="1A1A1A"/>
                          </a:solidFill>
                        </a:rPr>
                        <a:t>The About drawer listed the chosen Sutra under 'Not chosen'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Listed once, as chosen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02336">
                <a:tc>
                  <a:txBody>
                    <a:bodyPr wrap="square"/>
                    <a:lstStyle/>
                    <a:p>
                      <a:r>
                        <a:rPr sz="1150" b="0" i="0">
                          <a:solidFill>
                            <a:srgbClr val="1A1A1A"/>
                          </a:solidFill>
                        </a:rPr>
                        <a:t>A Sutra control's open multi-select pushed the header's controls apart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list floats over the panel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02336">
                <a:tc>
                  <a:txBody>
                    <a:bodyPr wrap="square"/>
                    <a:lstStyle/>
                    <a:p>
                      <a:r>
                        <a:rPr sz="1150" b="0" i="0">
                          <a:solidFill>
                            <a:srgbClr val="1A1A1A"/>
                          </a:solidFill>
                        </a:rPr>
                        <a:t>The BI test stack's sample dataset failed the check, DRS-9010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Rewritten in today's grammar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3" name="Rectangle 4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Documentation is part of the release: a picture that cannot be retaken is a bug report.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SCALE BENCHMARK · EIGHT STORES</a:t>
            </a:r>
          </a:p>
        </p:txBody>
      </p:sp>
      <p:sp>
        <p:nvSpPr>
          <p:cNvPr id="3" name="Title 2"/>
          <p:cNvSpPr>
            <a:spLocks noGrp="1"/>
          </p:cNvSpPr>
          <p:nvPr>
            <p:ph type="title" idx="104"/>
          </p:nvPr>
        </p:nvSpPr>
        <p:spPr/>
        <p:txBody>
          <a:bodyPr lIns="0" rIns="0" tIns="0" bIns="0" anchor="t"/>
          <a:lstStyle/>
          <a:p>
            <a:r>
              <a:t>The same book in eight stores, the same questions over HTTP</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Stores chart"/>
          <p:cNvGraphicFramePr>
            <a:graphicFrameLocks noGrp="1"/>
          </p:cNvGraphicFramePr>
          <p:nvPr/>
        </p:nvGraphicFramePr>
        <p:xfrm>
          <a:off x="777240" y="1783080"/>
          <a:ext cx="6949440" cy="3611880"/>
        </p:xfrm>
        <a:graphic>
          <a:graphicData uri="http://schemas.openxmlformats.org/drawingml/2006/chart">
            <c:chart xmlns:c="http://schemas.openxmlformats.org/drawingml/2006/chart" r:id="rId2"/>
          </a:graphicData>
        </a:graphic>
      </p:graphicFrame>
      <p:sp>
        <p:nvSpPr>
          <p:cNvPr id="27" name="TextBox 26"/>
          <p:cNvSpPr txBox="1"/>
          <p:nvPr/>
        </p:nvSpPr>
        <p:spPr>
          <a:xfrm>
            <a:off x="777240" y="1444752"/>
            <a:ext cx="6949440" cy="320040"/>
          </a:xfrm>
          <a:prstGeom prst="rect">
            <a:avLst/>
          </a:prstGeom>
          <a:noFill/>
        </p:spPr>
        <p:txBody>
          <a:bodyPr wrap="square" lIns="0" rIns="0" tIns="0" bIns="0" anchor="t">
            <a:spAutoFit/>
          </a:bodyPr>
          <a:lstStyle/>
          <a:p>
            <a:pPr algn="l"/>
            <a:r>
              <a:rPr sz="1250" b="1" i="0">
                <a:solidFill>
                  <a:srgbClr val="A51C30"/>
                </a:solidFill>
              </a:rPr>
              <a:t>Median milliseconds at 50,000 trades a day (lower is better)</a:t>
            </a:r>
          </a:p>
        </p:txBody>
      </p:sp>
      <p:graphicFrame>
        <p:nvGraphicFramePr>
          <p:cNvPr id="28" name="Table 27"/>
          <p:cNvGraphicFramePr>
            <a:graphicFrameLocks noGrp="1"/>
          </p:cNvGraphicFramePr>
          <p:nvPr/>
        </p:nvGraphicFramePr>
        <p:xfrm>
          <a:off x="8001000" y="1463040"/>
          <a:ext cx="3410712" cy="2962656"/>
        </p:xfrm>
        <a:graphic>
          <a:graphicData uri="http://schemas.openxmlformats.org/drawingml/2006/table">
            <a:tbl>
              <a:tblPr firstRow="0" bandRow="0">
                <a:tableStyleId>{5940675A-B579-460E-94D1-54222C63F5DA}</a:tableStyleId>
              </a:tblPr>
              <a:tblGrid>
                <a:gridCol w="1508760"/>
                <a:gridCol w="1280160"/>
                <a:gridCol w="621792"/>
              </a:tblGrid>
              <a:tr h="329184">
                <a:tc>
                  <a:txBody>
                    <a:bodyPr wrap="square"/>
                    <a:lstStyle/>
                    <a:p>
                      <a:r>
                        <a:rPr sz="1100" b="1" i="0">
                          <a:solidFill>
                            <a:srgbClr val="FFFFFF"/>
                          </a:solidFill>
                        </a:rPr>
                        <a:t>Store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Load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00" b="1" i="0">
                          <a:solidFill>
                            <a:srgbClr val="8A1626"/>
                          </a:solidFill>
                        </a:rPr>
                        <a:t>Delta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270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10.2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PostgreSQL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739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22.3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DuckDB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122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22.3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JSON-lines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1,322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15.4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MongoDB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202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17.1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Redis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183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20.2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Aerospike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1,176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18.8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133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26.4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9" name="TextBox 28"/>
          <p:cNvSpPr txBox="1"/>
          <p:nvPr/>
        </p:nvSpPr>
        <p:spPr>
          <a:xfrm>
            <a:off x="8001000" y="4526280"/>
            <a:ext cx="3410712" cy="1005840"/>
          </a:xfrm>
          <a:prstGeom prst="rect">
            <a:avLst/>
          </a:prstGeom>
          <a:noFill/>
        </p:spPr>
        <p:txBody>
          <a:bodyPr wrap="square" lIns="0" rIns="0" tIns="0" bIns="0" anchor="t">
            <a:spAutoFit/>
          </a:bodyPr>
          <a:lstStyle/>
          <a:p>
            <a:pPr algn="l"/>
            <a:r>
              <a:rPr sz="1100" b="0" i="1">
                <a:solidFill>
                  <a:srgbClr val="4A5058"/>
                </a:solidFill>
              </a:rPr>
              <a:t>Measured on an earlier release, 2026-10-01, one workstation; not re-measured since. Four stores were also measured at a million trades a day.</a:t>
            </a:r>
          </a:p>
        </p:txBody>
      </p:sp>
      <p:sp>
        <p:nvSpPr>
          <p:cNvPr id="30" name="Rectangle 2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Every store answers an interactive question in single-digit milliseconds at this size; the choice is about operations.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THE RISK ENGINES, MEASURED</a:t>
            </a:r>
          </a:p>
        </p:txBody>
      </p:sp>
      <p:sp>
        <p:nvSpPr>
          <p:cNvPr id="3" name="Title 2"/>
          <p:cNvSpPr>
            <a:spLocks noGrp="1"/>
          </p:cNvSpPr>
          <p:nvPr>
            <p:ph type="title" idx="104"/>
          </p:nvPr>
        </p:nvSpPr>
        <p:spPr/>
        <p:txBody>
          <a:bodyPr lIns="0" rIns="0" tIns="0" bIns="0" anchor="t"/>
          <a:lstStyle/>
          <a:p>
            <a:r>
              <a:t>VaR and exposure answers in milliseconds, at 100,000 trades in memory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44752"/>
            <a:ext cx="5166360" cy="292608"/>
          </a:xfrm>
          <a:prstGeom prst="rect">
            <a:avLst/>
          </a:prstGeom>
          <a:noFill/>
        </p:spPr>
        <p:txBody>
          <a:bodyPr wrap="square" lIns="0" rIns="0" tIns="0" bIns="0" anchor="t">
            <a:spAutoFit/>
          </a:bodyPr>
          <a:lstStyle/>
          <a:p>
            <a:pPr algn="l"/>
            <a:r>
              <a:rPr sz="1250" b="1" i="0">
                <a:solidFill>
                  <a:srgbClr val="A51C30"/>
                </a:solidFill>
              </a:rPr>
              <a:t>VaR (VarScaleBenchmark, VarTierBenchmark)</a:t>
            </a:r>
          </a:p>
        </p:txBody>
      </p:sp>
      <p:graphicFrame>
        <p:nvGraphicFramePr>
          <p:cNvPr id="27" name="Table 26"/>
          <p:cNvGraphicFramePr>
            <a:graphicFrameLocks noGrp="1"/>
          </p:cNvGraphicFramePr>
          <p:nvPr/>
        </p:nvGraphicFramePr>
        <p:xfrm>
          <a:off x="777240" y="1755648"/>
          <a:ext cx="5166360" cy="2560320"/>
        </p:xfrm>
        <a:graphic>
          <a:graphicData uri="http://schemas.openxmlformats.org/drawingml/2006/table">
            <a:tbl>
              <a:tblPr firstRow="0" bandRow="0">
                <a:tableStyleId>{5940675A-B579-460E-94D1-54222C63F5DA}</a:tableStyleId>
              </a:tblPr>
              <a:tblGrid>
                <a:gridCol w="2240280"/>
                <a:gridCol w="1325880"/>
                <a:gridCol w="1600200"/>
              </a:tblGrid>
              <a:tr h="365760">
                <a:tc>
                  <a:txBody>
                    <a:bodyPr wrap="square"/>
                    <a:lstStyle/>
                    <a:p>
                      <a:r>
                        <a:rPr sz="1100" b="1" i="0">
                          <a:solidFill>
                            <a:srgbClr val="FFFFFF"/>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100" b="1" i="0">
                          <a:solidFill>
                            <a:srgbClr val="8A1626"/>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100k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The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100k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The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1M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A basket of 50,000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First load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8" name="TextBox 27"/>
          <p:cNvSpPr txBox="1"/>
          <p:nvPr/>
        </p:nvSpPr>
        <p:spPr>
          <a:xfrm>
            <a:off x="6217920" y="1444752"/>
            <a:ext cx="5193792" cy="292608"/>
          </a:xfrm>
          <a:prstGeom prst="rect">
            <a:avLst/>
          </a:prstGeom>
          <a:noFill/>
        </p:spPr>
        <p:txBody>
          <a:bodyPr wrap="square" lIns="0" rIns="0" tIns="0" bIns="0" anchor="t">
            <a:spAutoFit/>
          </a:bodyPr>
          <a:lstStyle/>
          <a:p>
            <a:pPr algn="l"/>
            <a:r>
              <a:rPr sz="1250" b="1" i="0">
                <a:solidFill>
                  <a:srgbClr val="A51C30"/>
                </a:solidFill>
              </a:rPr>
              <a:t>Exposure (ExposureTierBenchmark)</a:t>
            </a:r>
          </a:p>
        </p:txBody>
      </p:sp>
      <p:graphicFrame>
        <p:nvGraphicFramePr>
          <p:cNvPr id="29" name="Table 28"/>
          <p:cNvGraphicFramePr>
            <a:graphicFrameLocks noGrp="1"/>
          </p:cNvGraphicFramePr>
          <p:nvPr/>
        </p:nvGraphicFramePr>
        <p:xfrm>
          <a:off x="6217920" y="1755648"/>
          <a:ext cx="5193792" cy="2560320"/>
        </p:xfrm>
        <a:graphic>
          <a:graphicData uri="http://schemas.openxmlformats.org/drawingml/2006/table">
            <a:tbl>
              <a:tblPr firstRow="0" bandRow="0">
                <a:tableStyleId>{5940675A-B579-460E-94D1-54222C63F5DA}</a:tableStyleId>
              </a:tblPr>
              <a:tblGrid>
                <a:gridCol w="3867912"/>
                <a:gridCol w="1325880"/>
              </a:tblGrid>
              <a:tr h="365760">
                <a:tc>
                  <a:txBody>
                    <a:bodyPr wrap="square"/>
                    <a:lstStyle/>
                    <a:p>
                      <a:r>
                        <a:rPr sz="1100" b="1" i="0">
                          <a:solidFill>
                            <a:srgbClr val="FFFFFF"/>
                          </a:solidFill>
                        </a:rPr>
                        <a:t>Measured, 100k trades, 9,901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100" b="1" i="0">
                          <a:solidFill>
                            <a:srgbClr val="8A1626"/>
                          </a:solidFill>
                        </a:rPr>
                        <a:t>Load a date: rows into value matrices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785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Collateral, E, N, hot file written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1,250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Reopen the date from its 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157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Scope BANK (every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61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Scope CPTY: (20 sets) · NSET: (1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0.22 · 0.06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Pre-deal exact, Java · proxy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0.11 · 0.007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777240" y="4462272"/>
            <a:ext cx="5166360" cy="10698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86968" y="4535424"/>
            <a:ext cx="4946904" cy="941831"/>
          </a:xfrm>
          <a:prstGeom prst="rect">
            <a:avLst/>
          </a:prstGeom>
          <a:noFill/>
        </p:spPr>
        <p:txBody>
          <a:bodyPr wrap="square" lIns="0" rIns="0" tIns="0" bIns="0" anchor="t">
            <a:spAutoFit/>
          </a:bodyPr>
          <a:lstStyle/>
          <a:p>
            <a:pPr algn="l">
              <a:spcAft>
                <a:spcPts val="300"/>
              </a:spcAft>
            </a:pPr>
            <a:r>
              <a:rPr sz="1200" b="1" i="0">
                <a:solidFill>
                  <a:srgbClr val="8A1626"/>
                </a:solidFill>
              </a:rPr>
              <a:t>Why it is fast</a:t>
            </a:r>
          </a:p>
          <a:p>
            <a:pPr algn="l"/>
            <a:r>
              <a:rPr sz="1100" b="0" i="0">
                <a:solidFill>
                  <a:srgbClr val="4A5058"/>
                </a:solidFill>
              </a:rPr>
              <a:t>Vectors add: a node's vector is summed once and kept; a hot file per date is memory-mapped (float32 rows, float64 sums); sums run on every core in a fixed order — the same bits every time.</a:t>
            </a:r>
          </a:p>
        </p:txBody>
      </p:sp>
      <p:sp>
        <p:nvSpPr>
          <p:cNvPr id="32" name="Rectangle 31"/>
          <p:cNvSpPr/>
          <p:nvPr/>
        </p:nvSpPr>
        <p:spPr>
          <a:xfrm>
            <a:off x="6217920" y="4462272"/>
            <a:ext cx="5193792" cy="106984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327648" y="4535424"/>
            <a:ext cx="4974336" cy="941831"/>
          </a:xfrm>
          <a:prstGeom prst="rect">
            <a:avLst/>
          </a:prstGeom>
          <a:noFill/>
        </p:spPr>
        <p:txBody>
          <a:bodyPr wrap="square" lIns="0" rIns="0" tIns="0" bIns="0" anchor="t">
            <a:spAutoFit/>
          </a:bodyPr>
          <a:lstStyle/>
          <a:p>
            <a:pPr algn="l">
              <a:spcAft>
                <a:spcPts val="300"/>
              </a:spcAft>
            </a:pPr>
            <a:r>
              <a:rPr sz="1200" b="1" i="0">
                <a:solidFill>
                  <a:srgbClr val="8A1626"/>
                </a:solidFill>
              </a:rPr>
              <a:t>What is extrapolated, and said so</a:t>
            </a:r>
          </a:p>
          <a:p>
            <a:pPr algn="l"/>
            <a:r>
              <a:rPr sz="1100" b="0" i="0">
                <a:solidFill>
                  <a:srgbClr val="4A5058"/>
                </a:solidFill>
              </a:rPr>
              <a:t>1M trades × 50 dates (VaR) and a 1M-trade, 100,000-set bank (exposure) are extrapolated from these runs</a:t>
            </a:r>
            <a:r>
              <a:rPr sz="1100" b="0" i="0">
                <a:solidFill>
                  <a:srgbClr val="A51C30"/>
                </a:solidFill>
              </a:rPr>
              <a:t>¹</a:t>
            </a:r>
            <a:r>
              <a:rPr sz="1100" b="0" i="0">
                <a:solidFill>
                  <a:srgbClr val="4A5058"/>
                </a:solidFill>
              </a:rPr>
              <a:t>; a workstation run stays at 100,000 trades in memory.</a:t>
            </a:r>
          </a:p>
        </p:txBody>
      </p:sp>
      <p:sp>
        <p:nvSpPr>
          <p:cNvPr id="34" name="Rectangle 3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Measured on one workstation (24 threads, 61 GB, JDK 25, NVMe); the full million-trade runs are for a real server.</a:t>
            </a:r>
          </a:p>
        </p:txBody>
      </p:sp>
      <p:sp>
        <p:nvSpPr>
          <p:cNvPr id="37" name="Footnotes"/>
          <p:cNvSpPr txBox="1"/>
          <p:nvPr/>
        </p:nvSpPr>
        <p:spPr>
          <a:xfrm>
            <a:off x="777240" y="6217920"/>
            <a:ext cx="10634472" cy="164592"/>
          </a:xfrm>
          <a:prstGeom prst="rect">
            <a:avLst/>
          </a:prstGeom>
          <a:noFill/>
        </p:spPr>
        <p:txBody>
          <a:bodyPr wrap="square" lIns="0" rIns="0" tIns="0" bIns="0" anchor="t">
            <a:spAutoFit/>
          </a:bodyPr>
          <a:lstStyle/>
          <a:p>
            <a:pPr algn="l"/>
            <a:r>
              <a:rPr sz="900" b="0" i="0">
                <a:solidFill>
                  <a:srgbClr val="61666E"/>
                </a:solidFill>
              </a:rPr>
              <a:t>¹ linear in trades (× 10 from 100,000 to 1M) and in dates from the measured runs above (VAR_GUIDE.md 27.3, EXPOSURE_GUIDE.md 27.4); not measured, to be confirmed on a server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HONEST NUMBERS</a:t>
            </a:r>
          </a:p>
        </p:txBody>
      </p:sp>
      <p:sp>
        <p:nvSpPr>
          <p:cNvPr id="3" name="Title 2"/>
          <p:cNvSpPr>
            <a:spLocks noGrp="1"/>
          </p:cNvSpPr>
          <p:nvPr>
            <p:ph type="title" idx="104"/>
          </p:nvPr>
        </p:nvSpPr>
        <p:spPr/>
        <p:txBody>
          <a:bodyPr lIns="0" rIns="0" tIns="0" bIns="0" anchor="t"/>
          <a:lstStyle/>
          <a:p>
            <a:r>
              <a:t>Where a number changed, the reason is written down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63040"/>
          <a:ext cx="10634472" cy="3867912"/>
        </p:xfrm>
        <a:graphic>
          <a:graphicData uri="http://schemas.openxmlformats.org/drawingml/2006/table">
            <a:tbl>
              <a:tblPr firstRow="0" bandRow="0">
                <a:tableStyleId>{5940675A-B579-460E-94D1-54222C63F5DA}</a:tableStyleId>
              </a:tblPr>
              <a:tblGrid>
                <a:gridCol w="2606040"/>
                <a:gridCol w="1783080"/>
                <a:gridCol w="1554480"/>
                <a:gridCol w="4690872"/>
              </a:tblGrid>
              <a:tr h="429768">
                <a:tc>
                  <a:txBody>
                    <a:bodyPr wrap="square"/>
                    <a:lstStyle/>
                    <a:p>
                      <a:r>
                        <a:rPr sz="1150" b="1" i="0">
                          <a:solidFill>
                            <a:srgbClr val="FFFFFF"/>
                          </a:solidFill>
                        </a:rPr>
                        <a:t>Figure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Stored said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Computed says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9768">
                <a:tc>
                  <a:txBody>
                    <a:bodyPr wrap="square"/>
                    <a:lstStyle/>
                    <a:p>
                      <a:r>
                        <a:rPr sz="1150" b="1" i="0">
                          <a:solidFill>
                            <a:srgbClr val="8A1626"/>
                          </a:solidFill>
                        </a:rPr>
                        <a:t>Commodities desk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446.9m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17.5m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stored figure came from a formula with no netting, not historical simulation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Exposure peaks, 76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92.6bn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7.6bn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generator scaled peaks with gross notional and ignored the CSAs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50" b="1" i="0">
                          <a:solidFill>
                            <a:srgbClr val="8A1626"/>
                          </a:solidFill>
                        </a:rPr>
                        <a:t>Correlations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 0.4, set by hand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 0.1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demo's price series are independent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DIA active share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57.6%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members from DIA's SEC holdings; the Dow weighed by price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50" b="1" i="0">
                          <a:solidFill>
                            <a:srgbClr val="8A1626"/>
                          </a:solidFill>
                        </a:rPr>
                        <a:t>QQQ active share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26.75%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Nasdaq-100 members from QQQ; capped as the index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Firm-wide VaR limit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210m (legal tree)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150m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one limit on both trees' roots; every VaR unchanged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50" b="1" i="0">
                          <a:solidFill>
                            <a:srgbClr val="8A1626"/>
                          </a:solidFill>
                        </a:rPr>
                        <a:t>Economy debt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a 2031 projection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actual year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found while writing the Knowledge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Joins between kinds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assumed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 do not hold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DATAMAP checks every join against the data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7" name="Rectangle 26"/>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Rectangle 27"/>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Each change is reconciled in its guide, item by item: the evidence is the reason, not just the new number.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EVIDENCE · DELTA = ICEBERG</a:t>
            </a:r>
          </a:p>
        </p:txBody>
      </p:sp>
      <p:sp>
        <p:nvSpPr>
          <p:cNvPr id="3" name="Title 2"/>
          <p:cNvSpPr>
            <a:spLocks noGrp="1"/>
          </p:cNvSpPr>
          <p:nvPr>
            <p:ph type="title" idx="104"/>
          </p:nvPr>
        </p:nvSpPr>
        <p:spPr/>
        <p:txBody>
          <a:bodyPr lIns="0" rIns="0" tIns="0" bIns="0" anchor="t"/>
          <a:lstStyle/>
          <a:p>
            <a:r>
              <a:t>VaR and exposure from Iceberg equal Delta, to the cent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44752"/>
          <a:ext cx="6400800" cy="2743200"/>
        </p:xfrm>
        <a:graphic>
          <a:graphicData uri="http://schemas.openxmlformats.org/drawingml/2006/table">
            <a:tbl>
              <a:tblPr firstRow="0" bandRow="0">
                <a:tableStyleId>{5940675A-B579-460E-94D1-54222C63F5DA}</a:tableStyleId>
              </a:tblPr>
              <a:tblGrid>
                <a:gridCol w="2514600"/>
                <a:gridCol w="3200400"/>
                <a:gridCol w="685800"/>
              </a:tblGrid>
              <a:tr h="457200">
                <a:tc>
                  <a:txBody>
                    <a:bodyPr wrap="square"/>
                    <a:lstStyle/>
                    <a:p>
                      <a:r>
                        <a:rPr sz="1050" b="1" i="0">
                          <a:solidFill>
                            <a:srgbClr val="FFFFFF"/>
                          </a:solidFill>
                        </a:rPr>
                        <a:t>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What it proves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Latest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050" b="1" i="0">
                          <a:solidFill>
                            <a:srgbClr val="8A1626"/>
                          </a:solidFill>
                          <a:latin typeface="Courier New"/>
                        </a:rPr>
                        <a:t>VarFormatEqualityTest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same lines in Delta and Iceberg: VaR, ES, component and incremental VaR, worst scenarios, limits and limit letters, USD and EUR; intraday batches; official records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050" b="1" i="0">
                          <a:solidFill>
                            <a:srgbClr val="8A1626"/>
                          </a:solidFill>
                          <a:latin typeface="Courier New"/>
                        </a:rPr>
                        <a:t>ExposureFormatEqualityTest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EE, PFE, EPE, profiles, contributions and official records, both formats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050" b="1" i="0">
                          <a:solidFill>
                            <a:srgbClr val="8A1626"/>
                          </a:solidFill>
                          <a:latin typeface="Courier New"/>
                        </a:rPr>
                        <a:t>LakeAppendsTest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Kafka window lands on an Iceberg risk lake as one append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050" b="1" i="0">
                          <a:solidFill>
                            <a:srgbClr val="8A1626"/>
                          </a:solidFill>
                          <a:latin typeface="Courier New"/>
                        </a:rPr>
                        <a:t>OfficialSinkTest · OfficialS3Test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official tables in Delta and Iceberg, a folder or S3; six writers at once; a Delta commit on S3 is an exclusive create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050" b="1" i="0">
                          <a:solidFill>
                            <a:srgbClr val="8A1626"/>
                          </a:solidFill>
                          <a:latin typeface="Courier New"/>
                        </a:rPr>
                        <a:t>OfficialReadersTest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BI's readers follow the official format by themselves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TextBox 26"/>
          <p:cNvSpPr txBox="1"/>
          <p:nvPr/>
        </p:nvSpPr>
        <p:spPr>
          <a:xfrm>
            <a:off x="7452360" y="1417320"/>
            <a:ext cx="2862072" cy="292608"/>
          </a:xfrm>
          <a:prstGeom prst="rect">
            <a:avLst/>
          </a:prstGeom>
          <a:noFill/>
        </p:spPr>
        <p:txBody>
          <a:bodyPr wrap="square" lIns="0" rIns="0" tIns="0" bIns="0" anchor="ctr">
            <a:spAutoFit/>
          </a:bodyPr>
          <a:lstStyle/>
          <a:p>
            <a:pPr algn="l"/>
            <a:r>
              <a:rPr sz="1300" b="1" i="0">
                <a:solidFill>
                  <a:srgbClr val="A51C30"/>
                </a:solidFill>
              </a:rPr>
              <a:t>On the demo data</a:t>
            </a:r>
          </a:p>
        </p:txBody>
      </p:sp>
      <p:graphicFrame>
        <p:nvGraphicFramePr>
          <p:cNvPr id="28" name="Table 27"/>
          <p:cNvGraphicFramePr>
            <a:graphicFrameLocks noGrp="1"/>
          </p:cNvGraphicFramePr>
          <p:nvPr/>
        </p:nvGraphicFramePr>
        <p:xfrm>
          <a:off x="7452360" y="1783080"/>
          <a:ext cx="3959352" cy="1261872"/>
        </p:xfrm>
        <a:graphic>
          <a:graphicData uri="http://schemas.openxmlformats.org/drawingml/2006/table">
            <a:tbl>
              <a:tblPr firstRow="0" bandRow="0">
                <a:tableStyleId>{5940675A-B579-460E-94D1-54222C63F5DA}</a:tableStyleId>
              </a:tblPr>
              <a:tblGrid>
                <a:gridCol w="1600200"/>
                <a:gridCol w="960120"/>
                <a:gridCol w="1399032"/>
              </a:tblGrid>
              <a:tr h="420624">
                <a:tc>
                  <a:txBody>
                    <a:bodyPr wrap="square"/>
                    <a:lstStyle/>
                    <a:p>
                      <a:r>
                        <a:rPr sz="1050" b="1" i="0">
                          <a:solidFill>
                            <a:srgbClr val="FFFFFF"/>
                          </a:solidFill>
                        </a:rPr>
                        <a:t>Figure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Delta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0624">
                <a:tc>
                  <a:txBody>
                    <a:bodyPr wrap="square"/>
                    <a:lstStyle/>
                    <a:p>
                      <a:r>
                        <a:rPr sz="1050" b="1" i="0">
                          <a:solidFill>
                            <a:srgbClr val="8A1626"/>
                          </a:solidFill>
                        </a:rPr>
                        <a:t>VAR BANK, 2026-09-30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0624">
                <a:tc>
                  <a:txBody>
                    <a:bodyPr wrap="square"/>
                    <a:lstStyle/>
                    <a:p>
                      <a:r>
                        <a:rPr sz="1050" b="1" i="0">
                          <a:solidFill>
                            <a:srgbClr val="8A1626"/>
                          </a:solidFill>
                        </a:rPr>
                        <a:t>Risk tables moved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14 tables, 955,124 rows, 579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9" name="TextBox 28"/>
          <p:cNvSpPr txBox="1"/>
          <p:nvPr/>
        </p:nvSpPr>
        <p:spPr>
          <a:xfrm>
            <a:off x="7452360" y="3246120"/>
            <a:ext cx="3959352" cy="1737360"/>
          </a:xfrm>
          <a:prstGeom prst="rect">
            <a:avLst/>
          </a:prstGeom>
          <a:noFill/>
        </p:spPr>
        <p:txBody>
          <a:bodyPr wrap="square" lIns="0" rIns="0" tIns="0" bIns="0" anchor="t">
            <a:spAutoFit/>
          </a:bodyPr>
          <a:lstStyle/>
          <a:p>
            <a:pPr algn="l">
              <a:spcAft>
                <a:spcPts val="500"/>
              </a:spcAft>
            </a:pPr>
            <a:r>
              <a:rPr sz="1100" b="0" i="0">
                <a:solidFill>
                  <a:srgbClr val="1A1A1A"/>
                </a:solidFill>
              </a:rPr>
              <a:t>A server on the Iceberg lake answered VAR BANK, the limit letter LL:LL-0003 and XPO BANK and published its official records.</a:t>
            </a:r>
          </a:p>
          <a:p>
            <a:pPr algn="l"/>
            <a:r>
              <a:rPr sz="1050" b="0" i="1">
                <a:solidFill>
                  <a:srgbClr val="4A5058"/>
                </a:solidFill>
              </a:rPr>
              <a:t>Demo figures from Drishti's synthetic data, one workstation: an observation, not a sizing rule. Delta stays the default; Iceberg is chosen by configuration.</a:t>
            </a:r>
          </a:p>
        </p:txBody>
      </p:sp>
      <p:sp>
        <p:nvSpPr>
          <p:cNvPr id="30" name="Rounded Rectangle 29"/>
          <p:cNvSpPr/>
          <p:nvPr/>
        </p:nvSpPr>
        <p:spPr>
          <a:xfrm>
            <a:off x="777240" y="4572000"/>
            <a:ext cx="59893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NOT RUN</a:t>
            </a:r>
          </a:p>
        </p:txBody>
      </p:sp>
      <p:sp>
        <p:nvSpPr>
          <p:cNvPr id="31" name="TextBox 30"/>
          <p:cNvSpPr txBox="1"/>
          <p:nvPr/>
        </p:nvSpPr>
        <p:spPr>
          <a:xfrm>
            <a:off x="1449324" y="4498848"/>
            <a:ext cx="5728716" cy="365760"/>
          </a:xfrm>
          <a:prstGeom prst="rect">
            <a:avLst/>
          </a:prstGeom>
          <a:noFill/>
        </p:spPr>
        <p:txBody>
          <a:bodyPr wrap="square" lIns="0" rIns="0" tIns="0" bIns="0" anchor="ctr">
            <a:spAutoFit/>
          </a:bodyPr>
          <a:lstStyle/>
          <a:p>
            <a:pPr algn="l"/>
            <a:r>
              <a:rPr sz="1100" b="0" i="0">
                <a:solidFill>
                  <a:srgbClr val="4A5058"/>
                </a:solidFill>
              </a:rPr>
              <a:t>The Glue and S3 Tables runs on AWS (GlueLiveTest, check-glue.sh): written, never run; they need an AWS account.</a:t>
            </a:r>
          </a:p>
        </p:txBody>
      </p:sp>
      <p:sp>
        <p:nvSpPr>
          <p:cNvPr id="32" name="Rectangle 3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One connector switched from plugin: delta to plugin: iceberg, the same rows, the same numbers.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EVIDENCE · HIERARCHIES AND UPGRADES</a:t>
            </a:r>
          </a:p>
        </p:txBody>
      </p:sp>
      <p:sp>
        <p:nvSpPr>
          <p:cNvPr id="3" name="Title 2"/>
          <p:cNvSpPr>
            <a:spLocks noGrp="1"/>
          </p:cNvSpPr>
          <p:nvPr>
            <p:ph type="title" idx="104"/>
          </p:nvPr>
        </p:nvSpPr>
        <p:spPr/>
        <p:txBody>
          <a:bodyPr lIns="0" rIns="0" tIns="0" bIns="0" anchor="t"/>
          <a:lstStyle/>
          <a:p>
            <a:r>
              <a:t>Trees rebuilt from columns; upgrades that keep every edit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3422904" cy="26974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26974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36192"/>
            <a:ext cx="3130296" cy="2240280"/>
          </a:xfrm>
          <a:prstGeom prst="rect">
            <a:avLst/>
          </a:prstGeom>
          <a:noFill/>
        </p:spPr>
        <p:txBody>
          <a:bodyPr wrap="square" lIns="0" rIns="0" tIns="0" bIns="0" anchor="t">
            <a:spAutoFit/>
          </a:bodyPr>
          <a:lstStyle/>
          <a:p>
            <a:pPr algn="l">
              <a:spcAft>
                <a:spcPts val="200"/>
              </a:spcAft>
            </a:pPr>
            <a:r>
              <a:rPr sz="1150" b="1" i="0">
                <a:solidFill>
                  <a:srgbClr val="8A1626"/>
                </a:solidFill>
                <a:latin typeface="Courier New"/>
              </a:rPr>
              <a:t>HierarchyEquivalenceTest</a:t>
            </a:r>
          </a:p>
          <a:p>
            <a:pPr algn="l">
              <a:spcAft>
                <a:spcPts val="600"/>
              </a:spcAft>
            </a:pPr>
            <a:r>
              <a:rPr sz="1250" b="1" i="0">
                <a:solidFill>
                  <a:srgbClr val="1A1A1A"/>
                </a:solidFill>
              </a:rPr>
              <a:t>MGMT and LEGAL rebuilt from columns</a:t>
            </a:r>
          </a:p>
          <a:p>
            <a:pPr algn="l" marL="146304" indent="-146304">
              <a:spcAft>
                <a:spcPts val="300"/>
              </a:spcAft>
              <a:buClr>
                <a:srgbClr val="A51C30"/>
              </a:buClr>
              <a:buSzPct val="100000"/>
              <a:buFont typeface="Arial"/>
              <a:buChar char="▪"/>
            </a:pPr>
            <a:r>
              <a:rPr sz="1100" b="0" i="0">
                <a:solidFill>
                  <a:srgbClr val="1A1A1A"/>
                </a:solidFill>
              </a:rPr>
              <a:t>The same node ids, parents, levels and members as the risk-hierarchy rows</a:t>
            </a:r>
          </a:p>
          <a:p>
            <a:pPr algn="l" marL="146304" indent="-146304">
              <a:spcAft>
                <a:spcPts val="300"/>
              </a:spcAft>
              <a:buClr>
                <a:srgbClr val="A51C30"/>
              </a:buClr>
              <a:buSzPct val="100000"/>
              <a:buFont typeface="Arial"/>
              <a:buChar char="▪"/>
            </a:pPr>
            <a:r>
              <a:rPr sz="1100" b="0" i="0">
                <a:solidFill>
                  <a:srgbClr val="1A1A1A"/>
                </a:solidFill>
              </a:rPr>
              <a:t>Aggregates equal to the bit; VaR, ES, components and worst scenarios to the cent, USD and EUR</a:t>
            </a:r>
          </a:p>
          <a:p>
            <a:pPr algn="l" marL="146304" indent="-146304">
              <a:spcAft>
                <a:spcPts val="300"/>
              </a:spcAft>
              <a:buClr>
                <a:srgbClr val="A51C30"/>
              </a:buClr>
              <a:buSzPct val="100000"/>
              <a:buFont typeface="Arial"/>
              <a:buChar char="▪"/>
            </a:pPr>
            <a:r>
              <a:rPr sz="1100" b="0" i="0">
                <a:solidFill>
                  <a:srgbClr val="1A1A1A"/>
                </a:solidFill>
              </a:rPr>
              <a:t>Limits equal; every limit letter the sum of its rows</a:t>
            </a:r>
          </a:p>
        </p:txBody>
      </p:sp>
      <p:sp>
        <p:nvSpPr>
          <p:cNvPr id="29" name="TextBox 28"/>
          <p:cNvSpPr txBox="1"/>
          <p:nvPr/>
        </p:nvSpPr>
        <p:spPr>
          <a:xfrm>
            <a:off x="960120" y="3794760"/>
            <a:ext cx="3130296" cy="274320"/>
          </a:xfrm>
          <a:prstGeom prst="rect">
            <a:avLst/>
          </a:prstGeom>
          <a:noFill/>
        </p:spPr>
        <p:txBody>
          <a:bodyPr wrap="square" lIns="0" rIns="0" tIns="0" bIns="0" anchor="ctr">
            <a:spAutoFit/>
          </a:bodyPr>
          <a:lstStyle/>
          <a:p>
            <a:pPr algn="l"/>
            <a:r>
              <a:rPr sz="1050" b="0" i="1">
                <a:solidFill>
                  <a:srgbClr val="4A5058"/>
                </a:solidFill>
              </a:rPr>
              <a:t>Latest run: 3 tests green</a:t>
            </a:r>
          </a:p>
        </p:txBody>
      </p:sp>
      <p:sp>
        <p:nvSpPr>
          <p:cNvPr id="30" name="Rectangle 29"/>
          <p:cNvSpPr/>
          <p:nvPr/>
        </p:nvSpPr>
        <p:spPr>
          <a:xfrm>
            <a:off x="4383024" y="1444752"/>
            <a:ext cx="3422904" cy="26974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383024" y="1444752"/>
            <a:ext cx="45720" cy="26974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565904" y="1536192"/>
            <a:ext cx="3130296" cy="2240280"/>
          </a:xfrm>
          <a:prstGeom prst="rect">
            <a:avLst/>
          </a:prstGeom>
          <a:noFill/>
        </p:spPr>
        <p:txBody>
          <a:bodyPr wrap="square" lIns="0" rIns="0" tIns="0" bIns="0" anchor="t">
            <a:spAutoFit/>
          </a:bodyPr>
          <a:lstStyle/>
          <a:p>
            <a:pPr algn="l">
              <a:spcAft>
                <a:spcPts val="200"/>
              </a:spcAft>
            </a:pPr>
            <a:r>
              <a:rPr sz="1150" b="1" i="0">
                <a:solidFill>
                  <a:srgbClr val="8A1626"/>
                </a:solidFill>
                <a:latin typeface="Courier New"/>
              </a:rPr>
              <a:t>HierarchyUpgradeWithoutLettersTest</a:t>
            </a:r>
          </a:p>
          <a:p>
            <a:pPr algn="l">
              <a:spcAft>
                <a:spcPts val="600"/>
              </a:spcAft>
            </a:pPr>
            <a:r>
              <a:rPr sz="1250" b="1" i="0">
                <a:solidFill>
                  <a:srgbClr val="1A1A1A"/>
                </a:solidFill>
              </a:rPr>
              <a:t>Data written before the letters</a:t>
            </a:r>
          </a:p>
          <a:p>
            <a:pPr algn="l" marL="146304" indent="-146304">
              <a:spcAft>
                <a:spcPts val="300"/>
              </a:spcAft>
              <a:buClr>
                <a:srgbClr val="A51C30"/>
              </a:buClr>
              <a:buSzPct val="100000"/>
              <a:buFont typeface="Arial"/>
              <a:buChar char="▪"/>
            </a:pPr>
            <a:r>
              <a:rPr sz="1100" b="0" i="0">
                <a:solidFill>
                  <a:srgbClr val="1A1A1A"/>
                </a:solidFill>
              </a:rPr>
              <a:t>P&amp;L vectors and exposure paths without LIMIT_LETTER</a:t>
            </a:r>
          </a:p>
          <a:p>
            <a:pPr algn="l" marL="146304" indent="-146304">
              <a:spcAft>
                <a:spcPts val="300"/>
              </a:spcAft>
              <a:buClr>
                <a:srgbClr val="A51C30"/>
              </a:buClr>
              <a:buSzPct val="100000"/>
              <a:buFont typeface="Arial"/>
              <a:buChar char="▪"/>
            </a:pPr>
            <a:r>
              <a:rPr sz="1100" b="0" i="0">
                <a:solidFill>
                  <a:srgbClr val="1A1A1A"/>
                </a:solidFill>
              </a:rPr>
              <a:t>Only LL is skipped, with a DRS-5211 warning and its fix</a:t>
            </a:r>
          </a:p>
          <a:p>
            <a:pPr algn="l" marL="146304" indent="-146304">
              <a:spcAft>
                <a:spcPts val="300"/>
              </a:spcAft>
              <a:buClr>
                <a:srgbClr val="A51C30"/>
              </a:buClr>
              <a:buSzPct val="100000"/>
              <a:buFont typeface="Arial"/>
              <a:buChar char="▪"/>
            </a:pPr>
            <a:r>
              <a:rPr sz="1100" b="0" i="0">
                <a:solidFill>
                  <a:srgbClr val="1A1A1A"/>
                </a:solidFill>
              </a:rPr>
              <a:t>VaR, exposure, MGMT, LEGAL and the official captures answer as before</a:t>
            </a:r>
          </a:p>
        </p:txBody>
      </p:sp>
      <p:sp>
        <p:nvSpPr>
          <p:cNvPr id="33" name="TextBox 32"/>
          <p:cNvSpPr txBox="1"/>
          <p:nvPr/>
        </p:nvSpPr>
        <p:spPr>
          <a:xfrm>
            <a:off x="4565904" y="3794760"/>
            <a:ext cx="3130296" cy="274320"/>
          </a:xfrm>
          <a:prstGeom prst="rect">
            <a:avLst/>
          </a:prstGeom>
          <a:noFill/>
        </p:spPr>
        <p:txBody>
          <a:bodyPr wrap="square" lIns="0" rIns="0" tIns="0" bIns="0" anchor="ctr">
            <a:spAutoFit/>
          </a:bodyPr>
          <a:lstStyle/>
          <a:p>
            <a:pPr algn="l"/>
            <a:r>
              <a:rPr sz="1050" b="0" i="1">
                <a:solidFill>
                  <a:srgbClr val="4A5058"/>
                </a:solidFill>
              </a:rPr>
              <a:t>Latest run: 1 test green</a:t>
            </a:r>
          </a:p>
        </p:txBody>
      </p:sp>
      <p:sp>
        <p:nvSpPr>
          <p:cNvPr id="34" name="Rectangle 33"/>
          <p:cNvSpPr/>
          <p:nvPr/>
        </p:nvSpPr>
        <p:spPr>
          <a:xfrm>
            <a:off x="7988808" y="1444752"/>
            <a:ext cx="3422904" cy="26974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988808" y="1444752"/>
            <a:ext cx="45720" cy="26974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171688" y="1536192"/>
            <a:ext cx="3130296" cy="2240280"/>
          </a:xfrm>
          <a:prstGeom prst="rect">
            <a:avLst/>
          </a:prstGeom>
          <a:noFill/>
        </p:spPr>
        <p:txBody>
          <a:bodyPr wrap="square" lIns="0" rIns="0" tIns="0" bIns="0" anchor="t">
            <a:spAutoFit/>
          </a:bodyPr>
          <a:lstStyle/>
          <a:p>
            <a:pPr algn="l">
              <a:spcAft>
                <a:spcPts val="200"/>
              </a:spcAft>
            </a:pPr>
            <a:r>
              <a:rPr sz="1150" b="1" i="0">
                <a:solidFill>
                  <a:srgbClr val="8A1626"/>
                </a:solidFill>
                <a:latin typeface="Courier New"/>
              </a:rPr>
              <a:t>ConnectorUpgradeTest</a:t>
            </a:r>
          </a:p>
          <a:p>
            <a:pPr algn="l">
              <a:spcAft>
                <a:spcPts val="600"/>
              </a:spcAft>
            </a:pPr>
            <a:r>
              <a:rPr sz="1250" b="1" i="0">
                <a:solidFill>
                  <a:srgbClr val="1A1A1A"/>
                </a:solidFill>
              </a:rPr>
              <a:t>A server on the previous release's files</a:t>
            </a:r>
          </a:p>
          <a:p>
            <a:pPr algn="l" marL="146304" indent="-146304">
              <a:spcAft>
                <a:spcPts val="300"/>
              </a:spcAft>
              <a:buClr>
                <a:srgbClr val="A51C30"/>
              </a:buClr>
              <a:buSzPct val="100000"/>
              <a:buFont typeface="Arial"/>
              <a:buChar char="▪"/>
            </a:pPr>
            <a:r>
              <a:rPr sz="1100" b="0" i="0">
                <a:solidFill>
                  <a:srgbClr val="1A1A1A"/>
                </a:solidFill>
              </a:rPr>
              <a:t>Every unedited file equals the current template</a:t>
            </a:r>
          </a:p>
          <a:p>
            <a:pPr algn="l" marL="146304" indent="-146304">
              <a:spcAft>
                <a:spcPts val="300"/>
              </a:spcAft>
              <a:buClr>
                <a:srgbClr val="A51C30"/>
              </a:buClr>
              <a:buSzPct val="100000"/>
              <a:buFont typeface="Arial"/>
              <a:buChar char="▪"/>
            </a:pPr>
            <a:r>
              <a:rPr sz="1100" b="0" i="0">
                <a:solidFill>
                  <a:srgbClr val="1A1A1A"/>
                </a:solidFill>
              </a:rPr>
              <a:t>The edits stay (an edited risk-store and var-whatif); missing keys added</a:t>
            </a:r>
          </a:p>
          <a:p>
            <a:pPr algn="l" marL="146304" indent="-146304">
              <a:spcAft>
                <a:spcPts val="300"/>
              </a:spcAft>
              <a:buClr>
                <a:srgbClr val="A51C30"/>
              </a:buClr>
              <a:buSzPct val="100000"/>
              <a:buFont typeface="Arial"/>
              <a:buChar char="▪"/>
            </a:pPr>
            <a:r>
              <a:rPr sz="1100" b="0" i="0">
                <a:solidFill>
                  <a:srgbClr val="1A1A1A"/>
                </a:solidFill>
              </a:rPr>
              <a:t>var-result, var-whatif with ccy and exposure-result answer</a:t>
            </a:r>
          </a:p>
        </p:txBody>
      </p:sp>
      <p:sp>
        <p:nvSpPr>
          <p:cNvPr id="37" name="TextBox 36"/>
          <p:cNvSpPr txBox="1"/>
          <p:nvPr/>
        </p:nvSpPr>
        <p:spPr>
          <a:xfrm>
            <a:off x="8171688" y="3794760"/>
            <a:ext cx="3130296" cy="274320"/>
          </a:xfrm>
          <a:prstGeom prst="rect">
            <a:avLst/>
          </a:prstGeom>
          <a:noFill/>
        </p:spPr>
        <p:txBody>
          <a:bodyPr wrap="square" lIns="0" rIns="0" tIns="0" bIns="0" anchor="ctr">
            <a:spAutoFit/>
          </a:bodyPr>
          <a:lstStyle/>
          <a:p>
            <a:pPr algn="l"/>
            <a:r>
              <a:rPr sz="1050" b="0" i="1">
                <a:solidFill>
                  <a:srgbClr val="4A5058"/>
                </a:solidFill>
              </a:rPr>
              <a:t>Latest run: 3 tests green</a:t>
            </a:r>
          </a:p>
        </p:txBody>
      </p:sp>
      <p:sp>
        <p:nvSpPr>
          <p:cNvPr id="38" name="Rectangle 37"/>
          <p:cNvSpPr/>
          <p:nvPr/>
        </p:nvSpPr>
        <p:spPr>
          <a:xfrm>
            <a:off x="777240" y="4343400"/>
            <a:ext cx="106344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1005840" y="4389120"/>
            <a:ext cx="10268712" cy="868680"/>
          </a:xfrm>
          <a:prstGeom prst="rect">
            <a:avLst/>
          </a:prstGeom>
          <a:noFill/>
        </p:spPr>
        <p:txBody>
          <a:bodyPr wrap="square" lIns="0" rIns="0" tIns="0" bIns="0" anchor="ctr">
            <a:spAutoFit/>
          </a:bodyPr>
          <a:lstStyle/>
          <a:p>
            <a:pPr algn="l"/>
            <a:r>
              <a:rPr sz="1150" b="1" i="0">
                <a:solidFill>
                  <a:srgbClr val="8A1626"/>
                </a:solidFill>
              </a:rPr>
              <a:t>ColumnHierarchyBenchmark: </a:t>
            </a:r>
            <a:r>
              <a:rPr sz="1150" b="0" i="0">
                <a:solidFill>
                  <a:srgbClr val="1A1A1A"/>
                </a:solidFill>
              </a:rPr>
              <a:t>10,000 trades, 700 limit letters: the trees build in 65–99 ms against 53–197 ms without them; the VaR of all 1,412 nodes takes about 30 ms.</a:t>
            </a:r>
          </a:p>
        </p:txBody>
      </p:sp>
      <p:sp>
        <p:nvSpPr>
          <p:cNvPr id="40" name="Rectangle 3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new tree is configuration; an upgrade never loses an edit or a date.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EDITIONS · ONE FILE</a:t>
            </a:r>
          </a:p>
        </p:txBody>
      </p:sp>
      <p:sp>
        <p:nvSpPr>
          <p:cNvPr id="3" name="Title 2"/>
          <p:cNvSpPr>
            <a:spLocks noGrp="1"/>
          </p:cNvSpPr>
          <p:nvPr>
            <p:ph type="title" idx="104"/>
          </p:nvPr>
        </p:nvSpPr>
        <p:spPr/>
        <p:txBody>
          <a:bodyPr lIns="0" rIns="0" tIns="0" bIns="0" anchor="t"/>
          <a:lstStyle/>
          <a:p>
            <a:r>
              <a:t>One setting turns Drishti into a focused product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5120640" cy="3977639"/>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512064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4846320" cy="329184"/>
          </a:xfrm>
          <a:prstGeom prst="rect">
            <a:avLst/>
          </a:prstGeom>
          <a:noFill/>
        </p:spPr>
        <p:txBody>
          <a:bodyPr wrap="square" lIns="0" rIns="0" tIns="0" bIns="0" anchor="ctr">
            <a:spAutoFit/>
          </a:bodyPr>
          <a:lstStyle/>
          <a:p>
            <a:pPr algn="l"/>
            <a:r>
              <a:rPr sz="1150" b="1" i="0">
                <a:solidFill>
                  <a:srgbClr val="FFFFFF"/>
                </a:solidFill>
              </a:rPr>
              <a:t>config/editions/risk.yaml (abridged)</a:t>
            </a:r>
          </a:p>
        </p:txBody>
      </p:sp>
      <p:sp>
        <p:nvSpPr>
          <p:cNvPr id="29" name="TextBox 28"/>
          <p:cNvSpPr txBox="1"/>
          <p:nvPr/>
        </p:nvSpPr>
        <p:spPr>
          <a:xfrm>
            <a:off x="941832" y="1901952"/>
            <a:ext cx="4846320" cy="3474720"/>
          </a:xfrm>
          <a:prstGeom prst="rect">
            <a:avLst/>
          </a:prstGeom>
          <a:noFill/>
        </p:spPr>
        <p:txBody>
          <a:bodyPr wrap="square" lIns="0" rIns="0" tIns="0" bIns="0" anchor="t">
            <a:spAutoFit/>
          </a:bodyPr>
          <a:lstStyle/>
          <a:p>
            <a:pPr algn="l">
              <a:spcAft>
                <a:spcPts val="200"/>
              </a:spcAft>
            </a:pPr>
            <a:r>
              <a:rPr sz="1100" b="0" i="0">
                <a:solidFill>
                  <a:srgbClr val="F1EEE9"/>
                </a:solidFill>
                <a:latin typeface="Courier New"/>
              </a:rPr>
              <a:t>edition: risk</a:t>
            </a:r>
          </a:p>
          <a:p>
            <a:pPr algn="l">
              <a:spcAft>
                <a:spcPts val="200"/>
              </a:spcAft>
            </a:pPr>
            <a:r>
              <a:rPr sz="1100" b="0" i="0">
                <a:solidFill>
                  <a:srgbClr val="F1EEE9"/>
                </a:solidFill>
                <a:latin typeface="Courier New"/>
              </a:rPr>
              <a:t>title: Drishti Risk</a:t>
            </a:r>
          </a:p>
          <a:p>
            <a:pPr algn="l">
              <a:spcAft>
                <a:spcPts val="200"/>
              </a:spcAft>
            </a:pPr>
            <a:r>
              <a:rPr sz="1100" b="0" i="0">
                <a:solidFill>
                  <a:srgbClr val="F1EEE9"/>
                </a:solidFill>
                <a:latin typeface="Courier New"/>
              </a:rPr>
              <a:t>packs: { enabled: [core, market-data, trading,</a:t>
            </a:r>
          </a:p>
          <a:p>
            <a:pPr algn="l">
              <a:spcAft>
                <a:spcPts val="200"/>
              </a:spcAft>
            </a:pPr>
            <a:r>
              <a:rPr sz="1100" b="0" i="0">
                <a:solidFill>
                  <a:srgbClr val="F1EEE9"/>
                </a:solidFill>
                <a:latin typeface="Courier New"/>
              </a:rPr>
              <a:t>          counterparty-risk, market-risk],</a:t>
            </a:r>
          </a:p>
          <a:p>
            <a:pPr algn="l">
              <a:spcAft>
                <a:spcPts val="200"/>
              </a:spcAft>
            </a:pPr>
            <a:r>
              <a:rPr sz="1100" b="0" i="0">
                <a:solidFill>
                  <a:srgbClr val="F1EEE9"/>
                </a:solidFill>
                <a:latin typeface="Courier New"/>
              </a:rPr>
              <a:t>         allow-only: true }</a:t>
            </a:r>
          </a:p>
          <a:p>
            <a:pPr algn="l">
              <a:spcAft>
                <a:spcPts val="200"/>
              </a:spcAft>
            </a:pPr>
            <a:r>
              <a:rPr sz="1100" b="0" i="0">
                <a:solidFill>
                  <a:srgbClr val="F1EEE9"/>
                </a:solidFill>
                <a:latin typeface="Courier New"/>
              </a:rPr>
              <a:t>commands:</a:t>
            </a:r>
          </a:p>
          <a:p>
            <a:pPr algn="l">
              <a:spcAft>
                <a:spcPts val="200"/>
              </a:spcAft>
            </a:pPr>
            <a:r>
              <a:rPr sz="1100" b="0" i="0">
                <a:solidFill>
                  <a:srgbClr val="F1EEE9"/>
                </a:solidFill>
                <a:latin typeface="Courier New"/>
              </a:rPr>
              <a:t>  allow: [VRES, VWIF, VOFF, EXP, NSET, …]</a:t>
            </a:r>
          </a:p>
          <a:p>
            <a:pPr algn="l">
              <a:spcAft>
                <a:spcPts val="200"/>
              </a:spcAft>
            </a:pPr>
            <a:r>
              <a:rPr sz="1100" b="0" i="0">
                <a:solidFill>
                  <a:srgbClr val="F1EEE9"/>
                </a:solidFill>
                <a:latin typeface="Courier New"/>
              </a:rPr>
              <a:t>  words: { BI: on, FUNC: on, RUPAKA: off }</a:t>
            </a:r>
          </a:p>
          <a:p>
            <a:pPr algn="l">
              <a:spcAft>
                <a:spcPts val="200"/>
              </a:spcAft>
            </a:pPr>
            <a:r>
              <a:rPr sz="1100" b="0" i="0">
                <a:solidFill>
                  <a:srgbClr val="F1EEE9"/>
                </a:solidFill>
                <a:latin typeface="Courier New"/>
              </a:rPr>
              <a:t>features: { var: on, exposure: on, designer: off }</a:t>
            </a:r>
          </a:p>
          <a:p>
            <a:pPr algn="l">
              <a:spcAft>
                <a:spcPts val="200"/>
              </a:spcAft>
            </a:pPr>
            <a:r>
              <a:rPr sz="1100" b="0" i="0">
                <a:solidFill>
                  <a:srgbClr val="F1EEE9"/>
                </a:solidFill>
                <a:latin typeface="Courier New"/>
              </a:rPr>
              <a:t>bi: { datasets: [market-risk-var-latest, …] }</a:t>
            </a:r>
          </a:p>
          <a:p>
            <a:pPr algn="l">
              <a:spcAft>
                <a:spcPts val="200"/>
              </a:spcAft>
            </a:pPr>
            <a:r>
              <a:rPr sz="1100" b="0" i="0">
                <a:solidFill>
                  <a:srgbClr val="F1EEE9"/>
                </a:solidFill>
                <a:latin typeface="Courier New"/>
              </a:rPr>
              <a:t>menus: { views: [terminal, search, var, …] }</a:t>
            </a:r>
          </a:p>
          <a:p>
            <a:pPr algn="l">
              <a:spcAft>
                <a:spcPts val="200"/>
              </a:spcAft>
            </a:pPr>
            <a:r>
              <a:rPr sz="1100" b="0" i="0">
                <a:solidFill>
                  <a:srgbClr val="F1EEE9"/>
                </a:solidFill>
                <a:latin typeface="Courier New"/>
              </a:rPr>
              <a:t>home: { landing: desk,</a:t>
            </a:r>
          </a:p>
          <a:p>
            <a:pPr algn="l">
              <a:spcAft>
                <a:spcPts val="200"/>
              </a:spcAft>
            </a:pPr>
            <a:r>
              <a:rPr sz="1100" b="0" i="0">
                <a:solidFill>
                  <a:srgbClr val="F1EEE9"/>
                </a:solidFill>
                <a:latin typeface="Courier New"/>
              </a:rPr>
              <a:t>        landings: [desk, command, map] }</a:t>
            </a:r>
          </a:p>
          <a:p>
            <a:pPr algn="l">
              <a:spcAft>
                <a:spcPts val="200"/>
              </a:spcAft>
            </a:pPr>
            <a:r>
              <a:rPr sz="1100" b="0" i="0">
                <a:solidFill>
                  <a:srgbClr val="F1EEE9"/>
                </a:solidFill>
                <a:latin typeface="Courier New"/>
              </a:rPr>
              <a:t>branding: { product: Drishti Risk }</a:t>
            </a:r>
          </a:p>
        </p:txBody>
      </p:sp>
      <p:sp>
        <p:nvSpPr>
          <p:cNvPr id="30" name="TextBox 29"/>
          <p:cNvSpPr txBox="1"/>
          <p:nvPr/>
        </p:nvSpPr>
        <p:spPr>
          <a:xfrm>
            <a:off x="6172200" y="1444752"/>
            <a:ext cx="5239512" cy="402336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300" b="1" i="0">
                <a:solidFill>
                  <a:srgbClr val="8A1626"/>
                </a:solidFill>
              </a:rPr>
              <a:t>One file sets it all</a:t>
            </a:r>
          </a:p>
          <a:p>
            <a:pPr marL="164592" indent="0">
              <a:spcAft>
                <a:spcPts val="700"/>
              </a:spcAft>
            </a:pPr>
            <a:r>
              <a:rPr sz="1150" b="0" i="0">
                <a:solidFill>
                  <a:srgbClr val="1A1A1A"/>
                </a:solidFill>
              </a:rPr>
              <a:t>Packs (allow-only), commands and words, menus and features, BI datasets and models, Home and its landings, help, Admin pages and branding.</a:t>
            </a:r>
          </a:p>
          <a:p>
            <a:pPr marL="164592" indent="-164592">
              <a:spcAft>
                <a:spcPts val="100"/>
              </a:spcAft>
              <a:buClr>
                <a:srgbClr val="A51C30"/>
              </a:buClr>
              <a:buSzPct val="100000"/>
              <a:buFont typeface="Arial"/>
              <a:buChar char="▪"/>
            </a:pPr>
            <a:r>
              <a:rPr sz="1300" b="1" i="0">
                <a:solidFill>
                  <a:srgbClr val="8A1626"/>
                </a:solidFill>
              </a:rPr>
              <a:t>DRISHTI_EDITION, on every server</a:t>
            </a:r>
          </a:p>
          <a:p>
            <a:pPr marL="164592" indent="0">
              <a:spcAft>
                <a:spcPts val="700"/>
              </a:spcAft>
            </a:pPr>
            <a:r>
              <a:rPr sz="1150" b="0" i="0">
                <a:solidFill>
                  <a:srgbClr val="1A1A1A"/>
                </a:solidFill>
              </a:rPr>
              <a:t>drishti.edition: risk names the file; blank is the full Drishti, exactly as without editions. The console learns it from the server.</a:t>
            </a:r>
          </a:p>
          <a:p>
            <a:pPr marL="164592" indent="-164592">
              <a:spcAft>
                <a:spcPts val="100"/>
              </a:spcAft>
              <a:buClr>
                <a:srgbClr val="A51C30"/>
              </a:buClr>
              <a:buSzPct val="100000"/>
              <a:buFont typeface="Arial"/>
              <a:buChar char="▪"/>
            </a:pPr>
            <a:r>
              <a:rPr sz="1300" b="1" i="0">
                <a:solidFill>
                  <a:srgbClr val="8A1626"/>
                </a:solidFill>
              </a:rPr>
              <a:t>The site still wins, key by key</a:t>
            </a:r>
          </a:p>
          <a:p>
            <a:pPr marL="164592" indent="0">
              <a:spcAft>
                <a:spcPts val="700"/>
              </a:spcAft>
            </a:pPr>
            <a:r>
              <a:rPr sz="1150" b="0" i="0">
                <a:solidFill>
                  <a:srgbClr val="1A1A1A"/>
                </a:solidFill>
              </a:rPr>
              <a:t>The edition is a layer under the site's configuration: adjust one item without forking it. Switching is configuration and a restart, never code.</a:t>
            </a:r>
          </a:p>
          <a:p>
            <a:pPr marL="164592" indent="-164592">
              <a:spcAft>
                <a:spcPts val="100"/>
              </a:spcAft>
              <a:buClr>
                <a:srgbClr val="A51C30"/>
              </a:buClr>
              <a:buSzPct val="100000"/>
              <a:buFont typeface="Arial"/>
              <a:buChar char="▪"/>
            </a:pPr>
            <a:r>
              <a:rPr sz="1300" b="1" i="0">
                <a:solidFill>
                  <a:srgbClr val="8A1626"/>
                </a:solidFill>
              </a:rPr>
              <a:t>The engines do not change</a:t>
            </a:r>
          </a:p>
          <a:p>
            <a:pPr marL="164592" indent="0">
              <a:spcAft>
                <a:spcPts val="700"/>
              </a:spcAft>
            </a:pPr>
            <a:r>
              <a:rPr sz="1150" b="0" i="0">
                <a:solidFill>
                  <a:srgbClr val="1A1A1A"/>
                </a:solidFill>
              </a:rPr>
              <a:t>VaR, exposure, intraday, official records and the what-if run the same; their whole suites run again under the edition.</a:t>
            </a:r>
          </a:p>
        </p:txBody>
      </p:sp>
      <p:sp>
        <p:nvSpPr>
          <p:cNvPr id="31" name="Rectangle 30"/>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focused product is one more file in config/editions/, not a fork of the code.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EDITION AND LENS</a:t>
            </a:r>
          </a:p>
        </p:txBody>
      </p:sp>
      <p:sp>
        <p:nvSpPr>
          <p:cNvPr id="3" name="Title 2"/>
          <p:cNvSpPr>
            <a:spLocks noGrp="1"/>
          </p:cNvSpPr>
          <p:nvPr>
            <p:ph type="title" idx="104"/>
          </p:nvPr>
        </p:nvSpPr>
        <p:spPr/>
        <p:txBody>
          <a:bodyPr lIns="0" rIns="0" tIns="0" bIns="0" anchor="t"/>
          <a:lstStyle/>
          <a:p>
            <a:r>
              <a:t>The whole instance, or one person's view of 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63040"/>
          <a:ext cx="6949439" cy="2743200"/>
        </p:xfrm>
        <a:graphic>
          <a:graphicData uri="http://schemas.openxmlformats.org/drawingml/2006/table">
            <a:tbl>
              <a:tblPr firstRow="0" bandRow="0">
                <a:tableStyleId>{5940675A-B579-460E-94D1-54222C63F5DA}</a:tableStyleId>
              </a:tblPr>
              <a:tblGrid>
                <a:gridCol w="1097280"/>
                <a:gridCol w="2743200"/>
                <a:gridCol w="3108959"/>
              </a:tblGrid>
              <a:tr h="457200">
                <a:tc>
                  <a:txBody>
                    <a:bodyPr wrap="square"/>
                    <a:lstStyle/>
                    <a:p>
                      <a:r>
                        <a:rPr sz="1100" b="1" i="0">
                          <a:solidFill>
                            <a:srgbClr val="FFFFFF"/>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Edition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Lens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100" b="1" i="0">
                          <a:solidFill>
                            <a:srgbClr val="8A1626"/>
                          </a:solidFill>
                        </a:rPr>
                        <a:t>Set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configuration and a restart: drishti.edition (DRISHTI_EDITION)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link, per person: Open Drishti Risk / World / Market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whole instance, every member of a cluster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one person's session, kept in their settings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Packs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only the edition's (allow-only)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 stay loaded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Offered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administrator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site's drishti.lenses (DRISHTI_LENSES): risk,world,market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Secures?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refuses other packs; hides commands and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no: it hides, it does not secure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Rectangle 26"/>
          <p:cNvSpPr/>
          <p:nvPr/>
        </p:nvSpPr>
        <p:spPr>
          <a:xfrm>
            <a:off x="777240" y="4681728"/>
            <a:ext cx="2130552" cy="80467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50392" y="4727448"/>
            <a:ext cx="2002536" cy="731520"/>
          </a:xfrm>
          <a:prstGeom prst="rect">
            <a:avLst/>
          </a:prstGeom>
          <a:noFill/>
        </p:spPr>
        <p:txBody>
          <a:bodyPr wrap="square" lIns="0" rIns="0" tIns="0" bIns="0" anchor="t">
            <a:spAutoFit/>
          </a:bodyPr>
          <a:lstStyle/>
          <a:p>
            <a:pPr algn="l">
              <a:spcAft>
                <a:spcPts val="100"/>
              </a:spcAft>
            </a:pPr>
            <a:r>
              <a:rPr sz="1150" b="1" i="0">
                <a:solidFill>
                  <a:srgbClr val="8A1626"/>
                </a:solidFill>
              </a:rPr>
              <a:t>Views → Open …</a:t>
            </a:r>
          </a:p>
          <a:p>
            <a:pPr algn="l"/>
            <a:r>
              <a:rPr sz="1050" b="0" i="0">
                <a:solidFill>
                  <a:srgbClr val="1A1A1A"/>
                </a:solidFill>
              </a:rPr>
              <a:t>Drishti Risk, World or Market, with each one's description</a:t>
            </a:r>
          </a:p>
        </p:txBody>
      </p:sp>
      <p:cxnSp>
        <p:nvCxnSpPr>
          <p:cNvPr id="29" name="Connector 28"/>
          <p:cNvCxnSpPr/>
          <p:nvPr/>
        </p:nvCxnSpPr>
        <p:spPr>
          <a:xfrm>
            <a:off x="2926080" y="5084064"/>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182112" y="4681728"/>
            <a:ext cx="2130552" cy="80467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3255264" y="4727448"/>
            <a:ext cx="2002536" cy="731520"/>
          </a:xfrm>
          <a:prstGeom prst="rect">
            <a:avLst/>
          </a:prstGeom>
          <a:noFill/>
        </p:spPr>
        <p:txBody>
          <a:bodyPr wrap="square" lIns="0" rIns="0" tIns="0" bIns="0" anchor="t">
            <a:spAutoFit/>
          </a:bodyPr>
          <a:lstStyle/>
          <a:p>
            <a:pPr algn="l">
              <a:spcAft>
                <a:spcPts val="100"/>
              </a:spcAft>
            </a:pPr>
            <a:r>
              <a:rPr sz="1150" b="1" i="0">
                <a:solidFill>
                  <a:srgbClr val="8A1626"/>
                </a:solidFill>
              </a:rPr>
              <a:t>Leave … · Switch to …</a:t>
            </a:r>
          </a:p>
          <a:p>
            <a:pPr algn="l"/>
            <a:r>
              <a:rPr sz="1050" b="0" i="0">
                <a:solidFill>
                  <a:srgbClr val="1A1A1A"/>
                </a:solidFill>
              </a:rPr>
              <a:t>inside one lens: leave it, or switch in one step</a:t>
            </a:r>
          </a:p>
        </p:txBody>
      </p:sp>
      <p:cxnSp>
        <p:nvCxnSpPr>
          <p:cNvPr id="32" name="Connector 31"/>
          <p:cNvCxnSpPr/>
          <p:nvPr/>
        </p:nvCxnSpPr>
        <p:spPr>
          <a:xfrm>
            <a:off x="5330952" y="5084064"/>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586983" y="4681728"/>
            <a:ext cx="2130552" cy="80467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5660136" y="4727448"/>
            <a:ext cx="2002536" cy="731520"/>
          </a:xfrm>
          <a:prstGeom prst="rect">
            <a:avLst/>
          </a:prstGeom>
          <a:noFill/>
        </p:spPr>
        <p:txBody>
          <a:bodyPr wrap="square" lIns="0" rIns="0" tIns="0" bIns="0" anchor="t">
            <a:spAutoFit/>
          </a:bodyPr>
          <a:lstStyle/>
          <a:p>
            <a:pPr algn="l">
              <a:spcAft>
                <a:spcPts val="100"/>
              </a:spcAft>
            </a:pPr>
            <a:r>
              <a:rPr sz="1150" b="1" i="0">
                <a:solidFill>
                  <a:srgbClr val="8A1626"/>
                </a:solidFill>
              </a:rPr>
              <a:t>Every call</a:t>
            </a:r>
          </a:p>
          <a:p>
            <a:pPr algn="l"/>
            <a:r>
              <a:rPr sz="1050" b="0" i="0">
                <a:solidFill>
                  <a:srgbClr val="1A1A1A"/>
                </a:solidFill>
              </a:rPr>
              <a:t>X-Drishti-Lens: commands, FUNC, type-ahead and BI follow</a:t>
            </a:r>
          </a:p>
        </p:txBody>
      </p:sp>
      <p:pic>
        <p:nvPicPr>
          <p:cNvPr id="35" name="Risk map" descr="risk-map.jpg"/>
          <p:cNvPicPr>
            <a:picLocks noChangeAspect="1"/>
          </p:cNvPicPr>
          <p:nvPr/>
        </p:nvPicPr>
        <p:blipFill>
          <a:blip r:embed="rId2"/>
          <a:stretch>
            <a:fillRect/>
          </a:stretch>
        </p:blipFill>
        <p:spPr>
          <a:xfrm>
            <a:off x="8001000" y="1839025"/>
            <a:ext cx="3410712" cy="1031108"/>
          </a:xfrm>
          <a:prstGeom prst="rect">
            <a:avLst/>
          </a:prstGeom>
          <a:ln w="9525">
            <a:solidFill>
              <a:srgbClr val="CFC8BE"/>
            </a:solidFill>
          </a:ln>
        </p:spPr>
      </p:pic>
      <p:pic>
        <p:nvPicPr>
          <p:cNvPr id="36" name="World map" descr="world-map.jpg"/>
          <p:cNvPicPr>
            <a:picLocks noChangeAspect="1"/>
          </p:cNvPicPr>
          <p:nvPr/>
        </p:nvPicPr>
        <p:blipFill>
          <a:blip r:embed="rId3"/>
          <a:stretch>
            <a:fillRect/>
          </a:stretch>
        </p:blipFill>
        <p:spPr>
          <a:xfrm>
            <a:off x="8001000" y="3394781"/>
            <a:ext cx="3410712" cy="1613772"/>
          </a:xfrm>
          <a:prstGeom prst="rect">
            <a:avLst/>
          </a:prstGeom>
          <a:ln w="9525">
            <a:solidFill>
              <a:srgbClr val="CFC8BE"/>
            </a:solidFill>
          </a:ln>
        </p:spPr>
      </p:pic>
      <p:sp>
        <p:nvSpPr>
          <p:cNvPr id="37" name="TextBox 36"/>
          <p:cNvSpPr txBox="1"/>
          <p:nvPr/>
        </p:nvSpPr>
        <p:spPr>
          <a:xfrm>
            <a:off x="8001000" y="5138928"/>
            <a:ext cx="3410712" cy="274320"/>
          </a:xfrm>
          <a:prstGeom prst="rect">
            <a:avLst/>
          </a:prstGeom>
          <a:noFill/>
        </p:spPr>
        <p:txBody>
          <a:bodyPr wrap="square" lIns="0" rIns="0" tIns="0" bIns="0" anchor="t">
            <a:spAutoFit/>
          </a:bodyPr>
          <a:lstStyle/>
          <a:p>
            <a:pPr algn="l"/>
            <a:r>
              <a:rPr sz="1050" b="0" i="1">
                <a:solidFill>
                  <a:srgbClr val="61666E"/>
                </a:solidFill>
              </a:rPr>
              <a:t>The map landing, in Risk and in World: it follows the person from one lens to the other.</a:t>
            </a:r>
          </a:p>
        </p:txBody>
      </p:sp>
      <p:sp>
        <p:nvSpPr>
          <p:cNvPr id="38" name="Rectangle 3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lens hides; roles, entitlements and masks still decide what anyone may read.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THREE EDITIONS, ONE CODE BASE</a:t>
            </a:r>
          </a:p>
        </p:txBody>
      </p:sp>
      <p:sp>
        <p:nvSpPr>
          <p:cNvPr id="3" name="Title 2"/>
          <p:cNvSpPr>
            <a:spLocks noGrp="1"/>
          </p:cNvSpPr>
          <p:nvPr>
            <p:ph type="title" idx="104"/>
          </p:nvPr>
        </p:nvSpPr>
        <p:spPr/>
        <p:txBody>
          <a:bodyPr lIns="0" rIns="0" tIns="0" bIns="0" anchor="t"/>
          <a:lstStyle/>
          <a:p>
            <a:r>
              <a:t>Drishti Risk, World and Market, each with three landings of its own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Drishti Risk desk" descr="risk-desk.jpg"/>
          <p:cNvPicPr>
            <a:picLocks noChangeAspect="1"/>
          </p:cNvPicPr>
          <p:nvPr/>
        </p:nvPicPr>
        <p:blipFill>
          <a:blip r:embed="rId2"/>
          <a:stretch>
            <a:fillRect/>
          </a:stretch>
        </p:blipFill>
        <p:spPr>
          <a:xfrm>
            <a:off x="777240" y="1483714"/>
            <a:ext cx="3422904" cy="1467411"/>
          </a:xfrm>
          <a:prstGeom prst="rect">
            <a:avLst/>
          </a:prstGeom>
          <a:ln w="9525">
            <a:solidFill>
              <a:srgbClr val="CFC8BE"/>
            </a:solidFill>
          </a:ln>
        </p:spPr>
      </p:pic>
      <p:sp>
        <p:nvSpPr>
          <p:cNvPr id="27" name="Rectangle 26"/>
          <p:cNvSpPr/>
          <p:nvPr/>
        </p:nvSpPr>
        <p:spPr>
          <a:xfrm>
            <a:off x="777240" y="3063240"/>
            <a:ext cx="3422904"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Rectangle 27"/>
          <p:cNvSpPr/>
          <p:nvPr/>
        </p:nvSpPr>
        <p:spPr>
          <a:xfrm>
            <a:off x="777240" y="306324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941832" y="3127248"/>
            <a:ext cx="3166872" cy="1508760"/>
          </a:xfrm>
          <a:prstGeom prst="rect">
            <a:avLst/>
          </a:prstGeom>
          <a:noFill/>
        </p:spPr>
        <p:txBody>
          <a:bodyPr wrap="square" lIns="0" rIns="0" tIns="0" bIns="0" anchor="t">
            <a:spAutoFit/>
          </a:bodyPr>
          <a:lstStyle/>
          <a:p>
            <a:pPr algn="l">
              <a:spcAft>
                <a:spcPts val="100"/>
              </a:spcAft>
            </a:pPr>
            <a:r>
              <a:rPr sz="1400" b="1" i="0">
                <a:solidFill>
                  <a:srgbClr val="8A1626"/>
                </a:solidFill>
              </a:rPr>
              <a:t>Drishti Risk</a:t>
            </a:r>
          </a:p>
          <a:p>
            <a:pPr algn="l">
              <a:spcAft>
                <a:spcPts val="400"/>
              </a:spcAft>
            </a:pPr>
            <a:r>
              <a:rPr sz="1100" b="0" i="1">
                <a:solidFill>
                  <a:srgbClr val="4A5058"/>
                </a:solidFill>
              </a:rPr>
              <a:t>VaR and exposure first</a:t>
            </a:r>
          </a:p>
          <a:p>
            <a:pPr algn="l">
              <a:spcAft>
                <a:spcPts val="400"/>
              </a:spcAft>
            </a:pPr>
            <a:r>
              <a:rPr sz="1100" b="0" i="0">
                <a:solidFill>
                  <a:srgbClr val="1A1A1A"/>
                </a:solidFill>
              </a:rPr>
              <a:t>5 packs: core, market-data, trading, counterparty-risk, market-risk; 36 commands</a:t>
            </a:r>
          </a:p>
          <a:p>
            <a:pPr algn="l"/>
            <a:r>
              <a:rPr sz="1100" b="1" i="0">
                <a:solidFill>
                  <a:srgbClr val="A51C30"/>
                </a:solidFill>
              </a:rPr>
              <a:t>Landings  </a:t>
            </a:r>
            <a:r>
              <a:rPr sz="1100" b="1" i="0">
                <a:solidFill>
                  <a:srgbClr val="1A1A1A"/>
                </a:solidFill>
              </a:rPr>
              <a:t>desk · command · map</a:t>
            </a:r>
          </a:p>
        </p:txBody>
      </p:sp>
      <p:pic>
        <p:nvPicPr>
          <p:cNvPr id="30" name="Drishti World desk" descr="world-desk.jpg"/>
          <p:cNvPicPr>
            <a:picLocks noChangeAspect="1"/>
          </p:cNvPicPr>
          <p:nvPr/>
        </p:nvPicPr>
        <p:blipFill>
          <a:blip r:embed="rId3"/>
          <a:stretch>
            <a:fillRect/>
          </a:stretch>
        </p:blipFill>
        <p:spPr>
          <a:xfrm>
            <a:off x="4577287" y="1463040"/>
            <a:ext cx="3034377" cy="1508760"/>
          </a:xfrm>
          <a:prstGeom prst="rect">
            <a:avLst/>
          </a:prstGeom>
          <a:ln w="9525">
            <a:solidFill>
              <a:srgbClr val="CFC8BE"/>
            </a:solidFill>
          </a:ln>
        </p:spPr>
      </p:pic>
      <p:sp>
        <p:nvSpPr>
          <p:cNvPr id="31" name="Rectangle 30"/>
          <p:cNvSpPr/>
          <p:nvPr/>
        </p:nvSpPr>
        <p:spPr>
          <a:xfrm>
            <a:off x="4383024" y="3063240"/>
            <a:ext cx="3422904"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4383024" y="306324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4547616" y="3127248"/>
            <a:ext cx="3166872" cy="1508760"/>
          </a:xfrm>
          <a:prstGeom prst="rect">
            <a:avLst/>
          </a:prstGeom>
          <a:noFill/>
        </p:spPr>
        <p:txBody>
          <a:bodyPr wrap="square" lIns="0" rIns="0" tIns="0" bIns="0" anchor="t">
            <a:spAutoFit/>
          </a:bodyPr>
          <a:lstStyle/>
          <a:p>
            <a:pPr algn="l">
              <a:spcAft>
                <a:spcPts val="100"/>
              </a:spcAft>
            </a:pPr>
            <a:r>
              <a:rPr sz="1400" b="1" i="0">
                <a:solidFill>
                  <a:srgbClr val="8A1626"/>
                </a:solidFill>
              </a:rPr>
              <a:t>Drishti World</a:t>
            </a:r>
          </a:p>
          <a:p>
            <a:pPr algn="l">
              <a:spcAft>
                <a:spcPts val="400"/>
              </a:spcAft>
            </a:pPr>
            <a:r>
              <a:rPr sz="1100" b="0" i="1">
                <a:solidFill>
                  <a:srgbClr val="4A5058"/>
                </a:solidFill>
              </a:rPr>
              <a:t>Economies, markets, companies and funds</a:t>
            </a:r>
          </a:p>
          <a:p>
            <a:pPr algn="l">
              <a:spcAft>
                <a:spcPts val="400"/>
              </a:spcAft>
            </a:pPr>
            <a:r>
              <a:rPr sz="1100" b="0" i="0">
                <a:solidFill>
                  <a:srgbClr val="1A1A1A"/>
                </a:solidFill>
              </a:rPr>
              <a:t>5 public-data packs: world-economy, news-and-markets, us-equities, gleif, funds; 32 commands</a:t>
            </a:r>
          </a:p>
          <a:p>
            <a:pPr algn="l"/>
            <a:r>
              <a:rPr sz="1100" b="1" i="0">
                <a:solidFill>
                  <a:srgbClr val="A51C30"/>
                </a:solidFill>
              </a:rPr>
              <a:t>Landings  </a:t>
            </a:r>
            <a:r>
              <a:rPr sz="1100" b="1" i="0">
                <a:solidFill>
                  <a:srgbClr val="1A1A1A"/>
                </a:solidFill>
              </a:rPr>
              <a:t>desk · explorer · map</a:t>
            </a:r>
          </a:p>
        </p:txBody>
      </p:sp>
      <p:pic>
        <p:nvPicPr>
          <p:cNvPr id="34" name="Drishti Market desk" descr="market-desk.jpg"/>
          <p:cNvPicPr>
            <a:picLocks noChangeAspect="1"/>
          </p:cNvPicPr>
          <p:nvPr/>
        </p:nvPicPr>
        <p:blipFill>
          <a:blip r:embed="rId4"/>
          <a:stretch>
            <a:fillRect/>
          </a:stretch>
        </p:blipFill>
        <p:spPr>
          <a:xfrm>
            <a:off x="8280869" y="1463040"/>
            <a:ext cx="2838781" cy="1508760"/>
          </a:xfrm>
          <a:prstGeom prst="rect">
            <a:avLst/>
          </a:prstGeom>
          <a:ln w="9525">
            <a:solidFill>
              <a:srgbClr val="CFC8BE"/>
            </a:solidFill>
          </a:ln>
        </p:spPr>
      </p:pic>
      <p:sp>
        <p:nvSpPr>
          <p:cNvPr id="35" name="Rectangle 34"/>
          <p:cNvSpPr/>
          <p:nvPr/>
        </p:nvSpPr>
        <p:spPr>
          <a:xfrm>
            <a:off x="7988808" y="3063240"/>
            <a:ext cx="3422904"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988808" y="306324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153400" y="3127248"/>
            <a:ext cx="3166872" cy="1508760"/>
          </a:xfrm>
          <a:prstGeom prst="rect">
            <a:avLst/>
          </a:prstGeom>
          <a:noFill/>
        </p:spPr>
        <p:txBody>
          <a:bodyPr wrap="square" lIns="0" rIns="0" tIns="0" bIns="0" anchor="t">
            <a:spAutoFit/>
          </a:bodyPr>
          <a:lstStyle/>
          <a:p>
            <a:pPr algn="l">
              <a:spcAft>
                <a:spcPts val="100"/>
              </a:spcAft>
            </a:pPr>
            <a:r>
              <a:rPr sz="1400" b="1" i="0">
                <a:solidFill>
                  <a:srgbClr val="8A1626"/>
                </a:solidFill>
              </a:rPr>
              <a:t>Drishti Market</a:t>
            </a:r>
          </a:p>
          <a:p>
            <a:pPr algn="l">
              <a:spcAft>
                <a:spcPts val="400"/>
              </a:spcAft>
            </a:pPr>
            <a:r>
              <a:rPr sz="1100" b="0" i="1">
                <a:solidFill>
                  <a:srgbClr val="4A5058"/>
                </a:solidFill>
              </a:rPr>
              <a:t>The bank's curves, surfaces and fixings</a:t>
            </a:r>
          </a:p>
          <a:p>
            <a:pPr algn="l">
              <a:spcAft>
                <a:spcPts val="400"/>
              </a:spcAft>
            </a:pPr>
            <a:r>
              <a:rPr sz="1100" b="0" i="0">
                <a:solidFill>
                  <a:srgbClr val="1A1A1A"/>
                </a:solidFill>
              </a:rPr>
              <a:t>market-data and core; 22 commands; no trades, no VaR; quality checks</a:t>
            </a:r>
          </a:p>
          <a:p>
            <a:pPr algn="l"/>
            <a:r>
              <a:rPr sz="1100" b="1" i="0">
                <a:solidFill>
                  <a:srgbClr val="A51C30"/>
                </a:solidFill>
              </a:rPr>
              <a:t>Landings  </a:t>
            </a:r>
            <a:r>
              <a:rPr sz="1100" b="1" i="0">
                <a:solidFill>
                  <a:srgbClr val="1A1A1A"/>
                </a:solidFill>
              </a:rPr>
              <a:t>desk · explorer · quality</a:t>
            </a:r>
          </a:p>
        </p:txBody>
      </p:sp>
      <p:sp>
        <p:nvSpPr>
          <p:cNvPr id="38" name="Rectangle 37"/>
          <p:cNvSpPr/>
          <p:nvPr/>
        </p:nvSpPr>
        <p:spPr>
          <a:xfrm>
            <a:off x="777240" y="4754880"/>
            <a:ext cx="10634472" cy="749808"/>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14400" y="4773168"/>
            <a:ext cx="1828800" cy="713232"/>
          </a:xfrm>
          <a:prstGeom prst="rect">
            <a:avLst/>
          </a:prstGeom>
          <a:noFill/>
        </p:spPr>
        <p:txBody>
          <a:bodyPr wrap="square" lIns="0" rIns="0" tIns="0" bIns="0" anchor="ctr">
            <a:spAutoFit/>
          </a:bodyPr>
          <a:lstStyle/>
          <a:p>
            <a:pPr algn="l"/>
            <a:r>
              <a:rPr sz="1250" b="1" i="0">
                <a:solidFill>
                  <a:srgbClr val="8A1626"/>
                </a:solidFill>
              </a:rPr>
              <a:t>Role hooks</a:t>
            </a:r>
          </a:p>
        </p:txBody>
      </p:sp>
      <p:sp>
        <p:nvSpPr>
          <p:cNvPr id="40" name="TextBox 39"/>
          <p:cNvSpPr txBox="1"/>
          <p:nvPr/>
        </p:nvSpPr>
        <p:spPr>
          <a:xfrm>
            <a:off x="2606040" y="4773168"/>
            <a:ext cx="7616952" cy="713232"/>
          </a:xfrm>
          <a:prstGeom prst="rect">
            <a:avLst/>
          </a:prstGeom>
          <a:noFill/>
        </p:spPr>
        <p:txBody>
          <a:bodyPr wrap="square" lIns="0" rIns="0" tIns="0" bIns="0" anchor="ctr">
            <a:spAutoFit/>
          </a:bodyPr>
          <a:lstStyle/>
          <a:p>
            <a:pPr algn="l"/>
            <a:r>
              <a:rPr sz="1050" b="1" i="0">
                <a:solidFill>
                  <a:srgbClr val="A51C30"/>
                </a:solidFill>
                <a:latin typeface="Courier New"/>
              </a:rPr>
              <a:t>home.landing-by-role</a:t>
            </a:r>
            <a:r>
              <a:rPr sz="1100" b="0" i="0">
                <a:solidFill>
                  <a:srgbClr val="1A1A1A"/>
                </a:solidFill>
              </a:rPr>
              <a:t> is read and wins over a person's choice, e.g. risk-manager: map, trader: command.  </a:t>
            </a:r>
            <a:r>
              <a:rPr sz="1050" b="1" i="0">
                <a:solidFill>
                  <a:srgbClr val="A51C30"/>
                </a:solidFill>
                <a:latin typeface="Courier New"/>
              </a:rPr>
              <a:t>lens.roles</a:t>
            </a:r>
            <a:r>
              <a:rPr sz="1100" b="0" i="0">
                <a:solidFill>
                  <a:srgbClr val="1A1A1A"/>
                </a:solidFill>
              </a:rPr>
              <a:t> (who sees a lens) is documented, not wired.</a:t>
            </a:r>
          </a:p>
        </p:txBody>
      </p:sp>
      <p:sp>
        <p:nvSpPr>
          <p:cNvPr id="41" name="Rounded Rectangle 40"/>
          <p:cNvSpPr/>
          <p:nvPr/>
        </p:nvSpPr>
        <p:spPr>
          <a:xfrm>
            <a:off x="10451592" y="5029200"/>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293352"/>
                </a:solidFill>
              </a:rPr>
              <a:t>PLANNED</a:t>
            </a:r>
          </a:p>
        </p:txBody>
      </p:sp>
      <p:sp>
        <p:nvSpPr>
          <p:cNvPr id="42" name="Rectangle 4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Three products from one engine: each new edition was one file and its landings, no engine change.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COMPUTED ATTRIBUTES</a:t>
            </a:r>
          </a:p>
        </p:txBody>
      </p:sp>
      <p:sp>
        <p:nvSpPr>
          <p:cNvPr id="3" name="Title 2"/>
          <p:cNvSpPr>
            <a:spLocks noGrp="1"/>
          </p:cNvSpPr>
          <p:nvPr>
            <p:ph type="title" idx="104"/>
          </p:nvPr>
        </p:nvSpPr>
        <p:spPr/>
        <p:txBody>
          <a:bodyPr lIns="0" rIns="0" tIns="0" bIns="0" anchor="t"/>
          <a:lstStyle/>
          <a:p>
            <a:r>
              <a:t>Derived on demand from trade-grain inputs, never stored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383280" cy="77724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50392" y="1508760"/>
            <a:ext cx="3255264" cy="704088"/>
          </a:xfrm>
          <a:prstGeom prst="rect">
            <a:avLst/>
          </a:prstGeom>
          <a:noFill/>
        </p:spPr>
        <p:txBody>
          <a:bodyPr wrap="square" lIns="0" rIns="0" tIns="0" bIns="0" anchor="t">
            <a:spAutoFit/>
          </a:bodyPr>
          <a:lstStyle/>
          <a:p>
            <a:pPr algn="l">
              <a:spcAft>
                <a:spcPts val="100"/>
              </a:spcAft>
            </a:pPr>
            <a:r>
              <a:rPr sz="1200" b="1" i="0">
                <a:solidFill>
                  <a:srgbClr val="8A1626"/>
                </a:solidFill>
              </a:rPr>
              <a:t>Trade valuations</a:t>
            </a:r>
          </a:p>
          <a:p>
            <a:pPr algn="l"/>
            <a:r>
              <a:rPr sz="1100" b="0" i="0">
                <a:solidFill>
                  <a:srgbClr val="1A1A1A"/>
                </a:solidFill>
              </a:rPr>
              <a:t>live status, a netting set, maturity not before the date</a:t>
            </a:r>
          </a:p>
        </p:txBody>
      </p:sp>
      <p:cxnSp>
        <p:nvCxnSpPr>
          <p:cNvPr id="28" name="Connector 27"/>
          <p:cNvCxnSpPr/>
          <p:nvPr/>
        </p:nvCxnSpPr>
        <p:spPr>
          <a:xfrm>
            <a:off x="4178807" y="1851660"/>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407408" y="1463040"/>
            <a:ext cx="3383280" cy="77724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4480560" y="1508760"/>
            <a:ext cx="3255264" cy="704088"/>
          </a:xfrm>
          <a:prstGeom prst="rect">
            <a:avLst/>
          </a:prstGeom>
          <a:noFill/>
        </p:spPr>
        <p:txBody>
          <a:bodyPr wrap="square" lIns="0" rIns="0" tIns="0" bIns="0" anchor="t">
            <a:spAutoFit/>
          </a:bodyPr>
          <a:lstStyle/>
          <a:p>
            <a:pPr algn="l">
              <a:spcAft>
                <a:spcPts val="100"/>
              </a:spcAft>
            </a:pPr>
            <a:r>
              <a:rPr sz="1200" b="1" i="0">
                <a:solidFill>
                  <a:srgbClr val="8A1626"/>
                </a:solidFill>
              </a:rPr>
              <a:t>Derived kinds</a:t>
            </a:r>
          </a:p>
          <a:p>
            <a:pPr algn="l"/>
            <a:r>
              <a:rPr sz="1100" b="0" i="0">
                <a:solidFill>
                  <a:srgbClr val="1A1A1A"/>
                </a:solidFill>
              </a:rPr>
              <a:t>built once per date and data version, shared</a:t>
            </a:r>
          </a:p>
        </p:txBody>
      </p:sp>
      <p:cxnSp>
        <p:nvCxnSpPr>
          <p:cNvPr id="31" name="Connector 30"/>
          <p:cNvCxnSpPr/>
          <p:nvPr/>
        </p:nvCxnSpPr>
        <p:spPr>
          <a:xfrm>
            <a:off x="7808975" y="1851660"/>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8037576" y="1463040"/>
            <a:ext cx="3383280" cy="77724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110728" y="1508760"/>
            <a:ext cx="3255264" cy="704088"/>
          </a:xfrm>
          <a:prstGeom prst="rect">
            <a:avLst/>
          </a:prstGeom>
          <a:noFill/>
        </p:spPr>
        <p:txBody>
          <a:bodyPr wrap="square" lIns="0" rIns="0" tIns="0" bIns="0" anchor="t">
            <a:spAutoFit/>
          </a:bodyPr>
          <a:lstStyle/>
          <a:p>
            <a:pPr algn="l">
              <a:spcAft>
                <a:spcPts val="100"/>
              </a:spcAft>
            </a:pPr>
            <a:r>
              <a:rPr sz="1200" b="1" i="0">
                <a:solidFill>
                  <a:srgbClr val="8A1626"/>
                </a:solidFill>
              </a:rPr>
              <a:t>Beside the stored</a:t>
            </a:r>
          </a:p>
          <a:p>
            <a:pPr algn="l"/>
            <a:r>
              <a:rPr sz="1100" b="0" i="0">
                <a:solidFill>
                  <a:srgbClr val="1A1A1A"/>
                </a:solidFill>
              </a:rPr>
              <a:t>computed, stored and their difference on the page</a:t>
            </a:r>
          </a:p>
        </p:txBody>
      </p:sp>
      <p:graphicFrame>
        <p:nvGraphicFramePr>
          <p:cNvPr id="34" name="Table 33"/>
          <p:cNvGraphicFramePr>
            <a:graphicFrameLocks noGrp="1"/>
          </p:cNvGraphicFramePr>
          <p:nvPr/>
        </p:nvGraphicFramePr>
        <p:xfrm>
          <a:off x="777240" y="2423160"/>
          <a:ext cx="5760720" cy="2121408"/>
        </p:xfrm>
        <a:graphic>
          <a:graphicData uri="http://schemas.openxmlformats.org/drawingml/2006/table">
            <a:tbl>
              <a:tblPr firstRow="0" bandRow="0">
                <a:tableStyleId>{5940675A-B579-460E-94D1-54222C63F5DA}</a:tableStyleId>
              </a:tblPr>
              <a:tblGrid>
                <a:gridCol w="914400"/>
                <a:gridCol w="1234440"/>
                <a:gridCol w="3611880"/>
              </a:tblGrid>
              <a:tr h="530352">
                <a:tc>
                  <a:txBody>
                    <a:bodyPr wrap="square"/>
                    <a:lstStyle/>
                    <a:p>
                      <a:r>
                        <a:rPr sz="1100" b="1" i="0">
                          <a:solidFill>
                            <a:srgbClr val="FFFFFF"/>
                          </a:solidFill>
                        </a:rPr>
                        <a:t>Command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One page per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computes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530352">
                <a:tc>
                  <a:txBody>
                    <a:bodyPr wrap="square"/>
                    <a:lstStyle/>
                    <a:p>
                      <a:r>
                        <a:rPr sz="1100" b="1" i="0">
                          <a:solidFill>
                            <a:srgbClr val="8A1626"/>
                          </a:solidFill>
                          <a:latin typeface="Courier New"/>
                        </a:rPr>
                        <a:t>NSMTM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netting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net MtM, trades, gross ±, netting benefit, net-to-gross, uncollateralised CE, by product group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30352">
                <a:tc>
                  <a:txBody>
                    <a:bodyPr wrap="square"/>
                    <a:lstStyle/>
                    <a:p>
                      <a:r>
                        <a:rPr sz="1100" b="1" i="0">
                          <a:solidFill>
                            <a:srgbClr val="8A1626"/>
                          </a:solidFill>
                          <a:latin typeface="Courier New"/>
                        </a:rPr>
                        <a:t>CPMTM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counterparty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net MtM, its netting sets, Σ max(set net, 0) as uncollateralised 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30352">
                <a:tc>
                  <a:txBody>
                    <a:bodyPr wrap="square"/>
                    <a:lstStyle/>
                    <a:p>
                      <a:r>
                        <a:rPr sz="1100" b="1" i="0">
                          <a:solidFill>
                            <a:srgbClr val="8A1626"/>
                          </a:solidFill>
                          <a:latin typeface="Courier New"/>
                        </a:rPr>
                        <a:t>SSPNL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stress scenario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bank P&amp;L (Σ desks), worst desk, breaches, limit use per desk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5" name="TextBox 34"/>
          <p:cNvSpPr txBox="1"/>
          <p:nvPr/>
        </p:nvSpPr>
        <p:spPr>
          <a:xfrm>
            <a:off x="777240" y="4617720"/>
            <a:ext cx="5760720" cy="868680"/>
          </a:xfrm>
          <a:prstGeom prst="rect">
            <a:avLst/>
          </a:prstGeom>
          <a:noFill/>
        </p:spPr>
        <p:txBody>
          <a:bodyPr wrap="square" lIns="0" rIns="0" tIns="0" bIns="0" anchor="t">
            <a:spAutoFit/>
          </a:bodyPr>
          <a:lstStyle/>
          <a:p>
            <a:pPr algn="l"/>
            <a:r>
              <a:rPr sz="1150" b="1" i="0">
                <a:solidFill>
                  <a:srgbClr val="8A1626"/>
                </a:solidFill>
              </a:rPr>
              <a:t>Live, one rule everywhere: </a:t>
            </a:r>
            <a:r>
              <a:rPr sz="1150" b="0" i="0">
                <a:solidFill>
                  <a:srgbClr val="1A1A1A"/>
                </a:solidFill>
              </a:rPr>
              <a:t>a live-status trade past its maturity is in no total; it is counted and listed as a data-quality warning. Every total says its sum currency (USD).</a:t>
            </a:r>
          </a:p>
        </p:txBody>
      </p:sp>
      <p:pic>
        <p:nvPicPr>
          <p:cNvPr id="36" name="Netting set computed" descr="01-netting-set-computed.jpg"/>
          <p:cNvPicPr>
            <a:picLocks noChangeAspect="1"/>
          </p:cNvPicPr>
          <p:nvPr/>
        </p:nvPicPr>
        <p:blipFill>
          <a:blip r:embed="rId2"/>
          <a:stretch>
            <a:fillRect/>
          </a:stretch>
        </p:blipFill>
        <p:spPr>
          <a:xfrm>
            <a:off x="6851250" y="2423160"/>
            <a:ext cx="4521490" cy="1508760"/>
          </a:xfrm>
          <a:prstGeom prst="rect">
            <a:avLst/>
          </a:prstGeom>
          <a:ln w="9525">
            <a:solidFill>
              <a:srgbClr val="CFC8BE"/>
            </a:solidFill>
          </a:ln>
        </p:spPr>
      </p:pic>
      <p:pic>
        <p:nvPicPr>
          <p:cNvPr id="37" name="Stress scenario" descr="04-stress-scenario.jpg"/>
          <p:cNvPicPr>
            <a:picLocks noChangeAspect="1"/>
          </p:cNvPicPr>
          <p:nvPr/>
        </p:nvPicPr>
        <p:blipFill>
          <a:blip r:embed="rId3"/>
          <a:stretch>
            <a:fillRect/>
          </a:stretch>
        </p:blipFill>
        <p:spPr>
          <a:xfrm>
            <a:off x="7876249" y="4005072"/>
            <a:ext cx="2471492" cy="1463040"/>
          </a:xfrm>
          <a:prstGeom prst="rect">
            <a:avLst/>
          </a:prstGeom>
          <a:ln w="9525">
            <a:solidFill>
              <a:srgbClr val="CFC8BE"/>
            </a:solidFill>
          </a:ln>
        </p:spPr>
      </p:pic>
      <p:sp>
        <p:nvSpPr>
          <p:cNvPr id="38" name="Rectangle 3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figure on the page is a computation over the inputs, shown beside the stored copy it will replace.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CHECKS AND REAL SOURCES</a:t>
            </a:r>
          </a:p>
        </p:txBody>
      </p:sp>
      <p:sp>
        <p:nvSpPr>
          <p:cNvPr id="3" name="Title 2"/>
          <p:cNvSpPr>
            <a:spLocks noGrp="1"/>
          </p:cNvSpPr>
          <p:nvPr>
            <p:ph type="title" idx="104"/>
          </p:nvPr>
        </p:nvSpPr>
        <p:spPr/>
        <p:txBody>
          <a:bodyPr lIns="0" rIns="0" tIns="0" bIns="0" anchor="t"/>
          <a:lstStyle/>
          <a:p>
            <a:r>
              <a:t>Checks on the pages; exposure on its real sources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05-collateral-checks.jpg" descr="05-collateral-checks.jpg"/>
          <p:cNvPicPr>
            <a:picLocks noChangeAspect="1"/>
          </p:cNvPicPr>
          <p:nvPr/>
        </p:nvPicPr>
        <p:blipFill>
          <a:blip r:embed="rId2"/>
          <a:stretch>
            <a:fillRect/>
          </a:stretch>
        </p:blipFill>
        <p:spPr>
          <a:xfrm>
            <a:off x="777240" y="1518011"/>
            <a:ext cx="3453383" cy="1490256"/>
          </a:xfrm>
          <a:prstGeom prst="rect">
            <a:avLst/>
          </a:prstGeom>
          <a:ln w="9525">
            <a:solidFill>
              <a:srgbClr val="CFC8BE"/>
            </a:solidFill>
          </a:ln>
        </p:spPr>
      </p:pic>
      <p:sp>
        <p:nvSpPr>
          <p:cNvPr id="27" name="TextBox 26"/>
          <p:cNvSpPr txBox="1"/>
          <p:nvPr/>
        </p:nvSpPr>
        <p:spPr>
          <a:xfrm>
            <a:off x="777240" y="3108960"/>
            <a:ext cx="3453384" cy="274320"/>
          </a:xfrm>
          <a:prstGeom prst="rect">
            <a:avLst/>
          </a:prstGeom>
          <a:noFill/>
        </p:spPr>
        <p:txBody>
          <a:bodyPr wrap="square" lIns="0" rIns="0" tIns="0" bIns="0" anchor="t">
            <a:spAutoFit/>
          </a:bodyPr>
          <a:lstStyle/>
          <a:p>
            <a:pPr algn="l"/>
            <a:r>
              <a:rPr sz="1050" b="0" i="1">
                <a:solidFill>
                  <a:srgbClr val="61666E"/>
                </a:solidFill>
              </a:rPr>
              <a:t>Collateral balance: held, posted and net after haircut, from the positions</a:t>
            </a:r>
          </a:p>
        </p:txBody>
      </p:sp>
      <p:pic>
        <p:nvPicPr>
          <p:cNvPr id="28" name="06-credit-limit-checks.jpg" descr="06-credit-limit-checks.jpg"/>
          <p:cNvPicPr>
            <a:picLocks noChangeAspect="1"/>
          </p:cNvPicPr>
          <p:nvPr/>
        </p:nvPicPr>
        <p:blipFill>
          <a:blip r:embed="rId3"/>
          <a:stretch>
            <a:fillRect/>
          </a:stretch>
        </p:blipFill>
        <p:spPr>
          <a:xfrm>
            <a:off x="4367784" y="1582493"/>
            <a:ext cx="3453383" cy="1361292"/>
          </a:xfrm>
          <a:prstGeom prst="rect">
            <a:avLst/>
          </a:prstGeom>
          <a:ln w="9525">
            <a:solidFill>
              <a:srgbClr val="CFC8BE"/>
            </a:solidFill>
          </a:ln>
        </p:spPr>
      </p:pic>
      <p:sp>
        <p:nvSpPr>
          <p:cNvPr id="29" name="TextBox 28"/>
          <p:cNvSpPr txBox="1"/>
          <p:nvPr/>
        </p:nvSpPr>
        <p:spPr>
          <a:xfrm>
            <a:off x="4367784" y="3108960"/>
            <a:ext cx="3453384" cy="274320"/>
          </a:xfrm>
          <a:prstGeom prst="rect">
            <a:avLst/>
          </a:prstGeom>
          <a:noFill/>
        </p:spPr>
        <p:txBody>
          <a:bodyPr wrap="square" lIns="0" rIns="0" tIns="0" bIns="0" anchor="t">
            <a:spAutoFit/>
          </a:bodyPr>
          <a:lstStyle/>
          <a:p>
            <a:pPr algn="l"/>
            <a:r>
              <a:rPr sz="1050" b="0" i="1">
                <a:solidFill>
                  <a:srgbClr val="61666E"/>
                </a:solidFill>
              </a:rPr>
              <a:t>Credit limit: headroom, utilisation = used ÷ limit, and its difference</a:t>
            </a:r>
          </a:p>
        </p:txBody>
      </p:sp>
      <p:pic>
        <p:nvPicPr>
          <p:cNvPr id="30" name="03-counterparty-computed.jpg" descr="03-counterparty-computed.jpg"/>
          <p:cNvPicPr>
            <a:picLocks noChangeAspect="1"/>
          </p:cNvPicPr>
          <p:nvPr/>
        </p:nvPicPr>
        <p:blipFill>
          <a:blip r:embed="rId4"/>
          <a:stretch>
            <a:fillRect/>
          </a:stretch>
        </p:blipFill>
        <p:spPr>
          <a:xfrm>
            <a:off x="8790244" y="1463040"/>
            <a:ext cx="1789550" cy="1600200"/>
          </a:xfrm>
          <a:prstGeom prst="rect">
            <a:avLst/>
          </a:prstGeom>
          <a:ln w="9525">
            <a:solidFill>
              <a:srgbClr val="CFC8BE"/>
            </a:solidFill>
          </a:ln>
        </p:spPr>
      </p:pic>
      <p:sp>
        <p:nvSpPr>
          <p:cNvPr id="31" name="TextBox 30"/>
          <p:cNvSpPr txBox="1"/>
          <p:nvPr/>
        </p:nvSpPr>
        <p:spPr>
          <a:xfrm>
            <a:off x="7958328" y="3108960"/>
            <a:ext cx="3453384" cy="274320"/>
          </a:xfrm>
          <a:prstGeom prst="rect">
            <a:avLst/>
          </a:prstGeom>
          <a:noFill/>
        </p:spPr>
        <p:txBody>
          <a:bodyPr wrap="square" lIns="0" rIns="0" tIns="0" bIns="0" anchor="t">
            <a:spAutoFit/>
          </a:bodyPr>
          <a:lstStyle/>
          <a:p>
            <a:pPr algn="l"/>
            <a:r>
              <a:rPr sz="1050" b="0" i="1">
                <a:solidFill>
                  <a:srgbClr val="61666E"/>
                </a:solidFill>
              </a:rPr>
              <a:t>Counterparty: computed from the trade valuations, beside the stored</a:t>
            </a:r>
          </a:p>
        </p:txBody>
      </p:sp>
      <p:graphicFrame>
        <p:nvGraphicFramePr>
          <p:cNvPr id="32" name="Table 31"/>
          <p:cNvGraphicFramePr>
            <a:graphicFrameLocks noGrp="1"/>
          </p:cNvGraphicFramePr>
          <p:nvPr/>
        </p:nvGraphicFramePr>
        <p:xfrm>
          <a:off x="777240" y="3703320"/>
          <a:ext cx="6035040" cy="1719072"/>
        </p:xfrm>
        <a:graphic>
          <a:graphicData uri="http://schemas.openxmlformats.org/drawingml/2006/table">
            <a:tbl>
              <a:tblPr firstRow="0" bandRow="0">
                <a:tableStyleId>{5940675A-B579-460E-94D1-54222C63F5DA}</a:tableStyleId>
              </a:tblPr>
              <a:tblGrid>
                <a:gridCol w="2377440"/>
                <a:gridCol w="1828800"/>
                <a:gridCol w="1828800"/>
              </a:tblGrid>
              <a:tr h="429768">
                <a:tc>
                  <a:txBody>
                    <a:bodyPr wrap="square"/>
                    <a:lstStyle/>
                    <a:p>
                      <a:r>
                        <a:rPr sz="1100" b="1" i="0">
                          <a:solidFill>
                            <a:srgbClr val="FFFFFF"/>
                          </a:solidFill>
                        </a:rPr>
                        <a:t>The exposure engine reads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Before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Now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9768">
                <a:tc>
                  <a:txBody>
                    <a:bodyPr wrap="square"/>
                    <a:lstStyle/>
                    <a:p>
                      <a:r>
                        <a:rPr sz="1100" b="1" i="0">
                          <a:solidFill>
                            <a:srgbClr val="8A1626"/>
                          </a:solidFill>
                        </a:rPr>
                        <a:t>A netting set's members and 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set's stored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trade-valuation, live 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00" b="1" i="0">
                          <a:solidFill>
                            <a:srgbClr val="8A1626"/>
                          </a:solidFill>
                        </a:rPr>
                        <a:t>Collateral held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balance before haircut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positions' value after haircut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00" b="1" i="0">
                          <a:solidFill>
                            <a:srgbClr val="8A1626"/>
                          </a:solidFill>
                        </a:rPr>
                        <a:t>Holdings of the 76 balances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6,304.4m market value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6,229.6m after haircut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33" name="Table 32"/>
          <p:cNvGraphicFramePr>
            <a:graphicFrameLocks noGrp="1"/>
          </p:cNvGraphicFramePr>
          <p:nvPr/>
        </p:nvGraphicFramePr>
        <p:xfrm>
          <a:off x="7086600" y="3703320"/>
          <a:ext cx="4325112" cy="1719072"/>
        </p:xfrm>
        <a:graphic>
          <a:graphicData uri="http://schemas.openxmlformats.org/drawingml/2006/table">
            <a:tbl>
              <a:tblPr firstRow="0" bandRow="0">
                <a:tableStyleId>{5940675A-B579-460E-94D1-54222C63F5DA}</a:tableStyleId>
              </a:tblPr>
              <a:tblGrid>
                <a:gridCol w="1920240"/>
                <a:gridCol w="1202436"/>
                <a:gridCol w="1202436"/>
              </a:tblGrid>
              <a:tr h="429768">
                <a:tc>
                  <a:txBody>
                    <a:bodyPr wrap="square"/>
                    <a:lstStyle/>
                    <a:p>
                      <a:r>
                        <a:rPr sz="1100" b="1" i="0">
                          <a:solidFill>
                            <a:srgbClr val="FFFFFF"/>
                          </a:solidFill>
                        </a:rPr>
                        <a:t>BANK, 2026-09-30,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Before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After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9768">
                <a:tc>
                  <a:txBody>
                    <a:bodyPr wrap="square"/>
                    <a:lstStyle/>
                    <a:p>
                      <a:r>
                        <a:rPr sz="1100" b="1" i="0">
                          <a:solidFill>
                            <a:srgbClr val="8A1626"/>
                          </a:solidFill>
                        </a:rPr>
                        <a:t>Peak PFE 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2,858.1m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2,897.6m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00" b="1" i="0">
                          <a:solidFill>
                            <a:srgbClr val="8A1626"/>
                          </a:solidFill>
                        </a:rPr>
                        <a:t>EPE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945.6m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947.2m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00" b="1" i="0">
                          <a:solidFill>
                            <a:srgbClr val="8A1626"/>
                          </a:solidFill>
                        </a:rPr>
                        <a:t>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1,532.0m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1,586.8m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4" name="Rectangle 3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Every exposure figure that moved, moved for one reason: collateral now counts after its haircut.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RECONCILED AND GUARDED</a:t>
            </a:r>
          </a:p>
        </p:txBody>
      </p:sp>
      <p:sp>
        <p:nvSpPr>
          <p:cNvPr id="3" name="Title 2"/>
          <p:cNvSpPr>
            <a:spLocks noGrp="1"/>
          </p:cNvSpPr>
          <p:nvPr>
            <p:ph type="title" idx="104"/>
          </p:nvPr>
        </p:nvSpPr>
        <p:spPr/>
        <p:txBody>
          <a:bodyPr lIns="0" rIns="0" tIns="0" bIns="0" anchor="t"/>
          <a:lstStyle/>
          <a:p>
            <a:r>
              <a:t>55 of 76 netting sets agree at once; the other 21 are explained to the dollar</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255574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45720"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281428" cy="457200"/>
          </a:xfrm>
          <a:prstGeom prst="rect">
            <a:avLst/>
          </a:prstGeom>
          <a:noFill/>
        </p:spPr>
        <p:txBody>
          <a:bodyPr wrap="square" lIns="0" rIns="0" tIns="0" bIns="0" anchor="ctr">
            <a:spAutoFit/>
          </a:bodyPr>
          <a:lstStyle/>
          <a:p>
            <a:pPr algn="l"/>
            <a:r>
              <a:rPr sz="2000" b="1" i="0">
                <a:solidFill>
                  <a:srgbClr val="8A1626"/>
                </a:solidFill>
              </a:rPr>
              <a:t>55 / 76</a:t>
            </a:r>
          </a:p>
        </p:txBody>
      </p:sp>
      <p:sp>
        <p:nvSpPr>
          <p:cNvPr id="29" name="TextBox 28"/>
          <p:cNvSpPr txBox="1"/>
          <p:nvPr/>
        </p:nvSpPr>
        <p:spPr>
          <a:xfrm>
            <a:off x="960120" y="2029968"/>
            <a:ext cx="2281428" cy="429767"/>
          </a:xfrm>
          <a:prstGeom prst="rect">
            <a:avLst/>
          </a:prstGeom>
          <a:noFill/>
        </p:spPr>
        <p:txBody>
          <a:bodyPr wrap="square" lIns="0" rIns="0" tIns="0" bIns="0" anchor="t">
            <a:spAutoFit/>
          </a:bodyPr>
          <a:lstStyle/>
          <a:p>
            <a:pPr algn="l"/>
            <a:r>
              <a:rPr sz="1150" b="0" i="0">
                <a:solidFill>
                  <a:srgbClr val="4A5058"/>
                </a:solidFill>
              </a:rPr>
              <a:t>netting sets: derived net MtM equals the stored, at once</a:t>
            </a:r>
          </a:p>
        </p:txBody>
      </p:sp>
      <p:sp>
        <p:nvSpPr>
          <p:cNvPr id="30" name="Rectangle 29"/>
          <p:cNvSpPr/>
          <p:nvPr/>
        </p:nvSpPr>
        <p:spPr>
          <a:xfrm>
            <a:off x="3470148" y="1463040"/>
            <a:ext cx="255574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3470148" y="1463040"/>
            <a:ext cx="45720"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653028" y="1554480"/>
            <a:ext cx="2281428" cy="457200"/>
          </a:xfrm>
          <a:prstGeom prst="rect">
            <a:avLst/>
          </a:prstGeom>
          <a:noFill/>
        </p:spPr>
        <p:txBody>
          <a:bodyPr wrap="square" lIns="0" rIns="0" tIns="0" bIns="0" anchor="ctr">
            <a:spAutoFit/>
          </a:bodyPr>
          <a:lstStyle/>
          <a:p>
            <a:pPr algn="l"/>
            <a:r>
              <a:rPr sz="2000" b="1" i="0">
                <a:solidFill>
                  <a:srgbClr val="8A1626"/>
                </a:solidFill>
              </a:rPr>
              <a:t>827</a:t>
            </a:r>
          </a:p>
        </p:txBody>
      </p:sp>
      <p:sp>
        <p:nvSpPr>
          <p:cNvPr id="33" name="TextBox 32"/>
          <p:cNvSpPr txBox="1"/>
          <p:nvPr/>
        </p:nvSpPr>
        <p:spPr>
          <a:xfrm>
            <a:off x="3653028" y="2029968"/>
            <a:ext cx="2281428" cy="429767"/>
          </a:xfrm>
          <a:prstGeom prst="rect">
            <a:avLst/>
          </a:prstGeom>
          <a:noFill/>
        </p:spPr>
        <p:txBody>
          <a:bodyPr wrap="square" lIns="0" rIns="0" tIns="0" bIns="0" anchor="t">
            <a:spAutoFit/>
          </a:bodyPr>
          <a:lstStyle/>
          <a:p>
            <a:pPr algn="l"/>
            <a:r>
              <a:rPr sz="1150" b="0" i="0">
                <a:solidFill>
                  <a:srgbClr val="4A5058"/>
                </a:solidFill>
              </a:rPr>
              <a:t>live-status trades past maturity in the other 21 (MtM 16.7m)</a:t>
            </a:r>
          </a:p>
        </p:txBody>
      </p:sp>
      <p:sp>
        <p:nvSpPr>
          <p:cNvPr id="34" name="Rectangle 33"/>
          <p:cNvSpPr/>
          <p:nvPr/>
        </p:nvSpPr>
        <p:spPr>
          <a:xfrm>
            <a:off x="6163056" y="1463040"/>
            <a:ext cx="255574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6163056" y="1463040"/>
            <a:ext cx="45720"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345936" y="1554480"/>
            <a:ext cx="2281428" cy="457200"/>
          </a:xfrm>
          <a:prstGeom prst="rect">
            <a:avLst/>
          </a:prstGeom>
          <a:noFill/>
        </p:spPr>
        <p:txBody>
          <a:bodyPr wrap="square" lIns="0" rIns="0" tIns="0" bIns="0" anchor="ctr">
            <a:spAutoFit/>
          </a:bodyPr>
          <a:lstStyle/>
          <a:p>
            <a:pPr algn="l"/>
            <a:r>
              <a:rPr sz="2000" b="1" i="0">
                <a:solidFill>
                  <a:srgbClr val="8A1626"/>
                </a:solidFill>
              </a:rPr>
              <a:t>76 / 76</a:t>
            </a:r>
          </a:p>
        </p:txBody>
      </p:sp>
      <p:sp>
        <p:nvSpPr>
          <p:cNvPr id="37" name="TextBox 36"/>
          <p:cNvSpPr txBox="1"/>
          <p:nvPr/>
        </p:nvSpPr>
        <p:spPr>
          <a:xfrm>
            <a:off x="6345936" y="2029968"/>
            <a:ext cx="2281428" cy="429767"/>
          </a:xfrm>
          <a:prstGeom prst="rect">
            <a:avLst/>
          </a:prstGeom>
          <a:noFill/>
        </p:spPr>
        <p:txBody>
          <a:bodyPr wrap="square" lIns="0" rIns="0" tIns="0" bIns="0" anchor="t">
            <a:spAutoFit/>
          </a:bodyPr>
          <a:lstStyle/>
          <a:p>
            <a:pPr algn="l"/>
            <a:r>
              <a:rPr sz="1150" b="0" i="0">
                <a:solidFill>
                  <a:srgbClr val="4A5058"/>
                </a:solidFill>
              </a:rPr>
              <a:t>agree to the dollar with those trades added back</a:t>
            </a:r>
          </a:p>
        </p:txBody>
      </p:sp>
      <p:sp>
        <p:nvSpPr>
          <p:cNvPr id="38" name="Rectangle 37"/>
          <p:cNvSpPr/>
          <p:nvPr/>
        </p:nvSpPr>
        <p:spPr>
          <a:xfrm>
            <a:off x="8855964" y="1463040"/>
            <a:ext cx="255574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8855964" y="1463040"/>
            <a:ext cx="45720"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038844" y="1554480"/>
            <a:ext cx="2281428" cy="457200"/>
          </a:xfrm>
          <a:prstGeom prst="rect">
            <a:avLst/>
          </a:prstGeom>
          <a:noFill/>
        </p:spPr>
        <p:txBody>
          <a:bodyPr wrap="square" lIns="0" rIns="0" tIns="0" bIns="0" anchor="ctr">
            <a:spAutoFit/>
          </a:bodyPr>
          <a:lstStyle/>
          <a:p>
            <a:pPr algn="l"/>
            <a:r>
              <a:rPr sz="2000" b="1" i="0">
                <a:solidFill>
                  <a:srgbClr val="8A1626"/>
                </a:solidFill>
              </a:rPr>
              <a:t>112,041,646</a:t>
            </a:r>
          </a:p>
        </p:txBody>
      </p:sp>
      <p:sp>
        <p:nvSpPr>
          <p:cNvPr id="41" name="TextBox 40"/>
          <p:cNvSpPr txBox="1"/>
          <p:nvPr/>
        </p:nvSpPr>
        <p:spPr>
          <a:xfrm>
            <a:off x="9038844" y="2029968"/>
            <a:ext cx="2281428" cy="429767"/>
          </a:xfrm>
          <a:prstGeom prst="rect">
            <a:avLst/>
          </a:prstGeom>
          <a:noFill/>
        </p:spPr>
        <p:txBody>
          <a:bodyPr wrap="square" lIns="0" rIns="0" tIns="0" bIns="0" anchor="t">
            <a:spAutoFit/>
          </a:bodyPr>
          <a:lstStyle/>
          <a:p>
            <a:pPr algn="l"/>
            <a:r>
              <a:rPr sz="1150" b="0" i="0">
                <a:solidFill>
                  <a:srgbClr val="4A5058"/>
                </a:solidFill>
              </a:rPr>
              <a:t>VAR BANK, USD, 2026-09-30: unchanged</a:t>
            </a:r>
          </a:p>
        </p:txBody>
      </p:sp>
      <p:graphicFrame>
        <p:nvGraphicFramePr>
          <p:cNvPr id="42" name="Table 41"/>
          <p:cNvGraphicFramePr>
            <a:graphicFrameLocks noGrp="1"/>
          </p:cNvGraphicFramePr>
          <p:nvPr/>
        </p:nvGraphicFramePr>
        <p:xfrm>
          <a:off x="777240" y="2743200"/>
          <a:ext cx="6766560" cy="1828800"/>
        </p:xfrm>
        <a:graphic>
          <a:graphicData uri="http://schemas.openxmlformats.org/drawingml/2006/table">
            <a:tbl>
              <a:tblPr firstRow="0" bandRow="0">
                <a:tableStyleId>{5940675A-B579-460E-94D1-54222C63F5DA}</a:tableStyleId>
              </a:tblPr>
              <a:tblGrid>
                <a:gridCol w="2377440"/>
                <a:gridCol w="2194560"/>
                <a:gridCol w="2194560"/>
              </a:tblGrid>
              <a:tr h="457200">
                <a:tc>
                  <a:txBody>
                    <a:bodyPr wrap="square"/>
                    <a:lstStyle/>
                    <a:p>
                      <a:r>
                        <a:rPr sz="1100" b="1" i="0">
                          <a:solidFill>
                            <a:srgbClr val="FFFFFF"/>
                          </a:solidFill>
                        </a:rPr>
                        <a:t>Retired field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Now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100" b="1" i="0">
                          <a:solidFill>
                            <a:srgbClr val="8A1626"/>
                          </a:solidFill>
                          <a:latin typeface="Courier New"/>
                        </a:rPr>
                        <a:t>netting-set.UTILISATION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stored ratio the page can compute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dropped; BI's card shows trades, largest net 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latin typeface="Courier New"/>
                        </a:rPr>
                        <a:t>risk-hierarchy.LIMIT_VAR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limits kept in two places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only in var-limit (same values)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latin typeface="Courier New"/>
                        </a:rPr>
                        <a:t>portfolio.LIMIT_VAR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same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var-limit, hierarchy PORTFOLIO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3" name="Rectangle 42"/>
          <p:cNvSpPr/>
          <p:nvPr/>
        </p:nvSpPr>
        <p:spPr>
          <a:xfrm>
            <a:off x="7818120" y="2743200"/>
            <a:ext cx="3593592" cy="9144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7927848" y="2816352"/>
            <a:ext cx="3374136" cy="786384"/>
          </a:xfrm>
          <a:prstGeom prst="rect">
            <a:avLst/>
          </a:prstGeom>
          <a:noFill/>
        </p:spPr>
        <p:txBody>
          <a:bodyPr wrap="square" lIns="0" rIns="0" tIns="0" bIns="0" anchor="t">
            <a:spAutoFit/>
          </a:bodyPr>
          <a:lstStyle/>
          <a:p>
            <a:pPr algn="l">
              <a:spcAft>
                <a:spcPts val="300"/>
              </a:spcAft>
            </a:pPr>
            <a:r>
              <a:rPr sz="1250" b="1" i="0">
                <a:solidFill>
                  <a:srgbClr val="8A1626"/>
                </a:solidFill>
              </a:rPr>
              <a:t>The guard</a:t>
            </a:r>
          </a:p>
          <a:p>
            <a:pPr algn="l"/>
            <a:r>
              <a:rPr sz="1050" b="0" i="0">
                <a:solidFill>
                  <a:srgbClr val="A51C30"/>
                </a:solidFill>
                <a:latin typeface="Courier New"/>
              </a:rPr>
              <a:t>tools/contracts.policy.yaml</a:t>
            </a:r>
            <a:r>
              <a:rPr sz="1100" b="0" i="0">
                <a:solidFill>
                  <a:srgbClr val="1A1A1A"/>
                </a:solidFill>
              </a:rPr>
              <a:t> removed: fails the build if a retired field returns.</a:t>
            </a:r>
          </a:p>
        </p:txBody>
      </p:sp>
      <p:sp>
        <p:nvSpPr>
          <p:cNvPr id="45" name="Rectangle 44"/>
          <p:cNvSpPr/>
          <p:nvPr/>
        </p:nvSpPr>
        <p:spPr>
          <a:xfrm>
            <a:off x="7818120" y="3749039"/>
            <a:ext cx="3593592" cy="8229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7927848" y="3822191"/>
            <a:ext cx="3374136" cy="694944"/>
          </a:xfrm>
          <a:prstGeom prst="rect">
            <a:avLst/>
          </a:prstGeom>
          <a:noFill/>
        </p:spPr>
        <p:txBody>
          <a:bodyPr wrap="square" lIns="0" rIns="0" tIns="0" bIns="0" anchor="t">
            <a:spAutoFit/>
          </a:bodyPr>
          <a:lstStyle/>
          <a:p>
            <a:pPr algn="l">
              <a:spcAft>
                <a:spcPts val="300"/>
              </a:spcAft>
            </a:pPr>
            <a:r>
              <a:rPr sz="1250" b="1" i="0">
                <a:solidFill>
                  <a:srgbClr val="8A1626"/>
                </a:solidFill>
              </a:rPr>
              <a:t>No VaR figure moved</a:t>
            </a:r>
          </a:p>
          <a:p>
            <a:pPr algn="l"/>
            <a:r>
              <a:rPr sz="1100" b="0" i="0">
                <a:solidFill>
                  <a:srgbClr val="4A5058"/>
                </a:solidFill>
              </a:rPr>
              <a:t>Trades, valuations, vectors, scenario PVs and paths are byte for byte as before.</a:t>
            </a:r>
          </a:p>
        </p:txBody>
      </p:sp>
      <p:sp>
        <p:nvSpPr>
          <p:cNvPr id="47" name="Rounded Rectangle 46"/>
          <p:cNvSpPr/>
          <p:nvPr/>
        </p:nvSpPr>
        <p:spPr>
          <a:xfrm>
            <a:off x="777240" y="4864608"/>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293352"/>
                </a:solidFill>
              </a:rPr>
              <a:t>PLANNED</a:t>
            </a:r>
          </a:p>
        </p:txBody>
      </p:sp>
      <p:sp>
        <p:nvSpPr>
          <p:cNvPr id="48" name="TextBox 47"/>
          <p:cNvSpPr txBox="1"/>
          <p:nvPr/>
        </p:nvSpPr>
        <p:spPr>
          <a:xfrm>
            <a:off x="1467612" y="4754880"/>
            <a:ext cx="9944100" cy="457200"/>
          </a:xfrm>
          <a:prstGeom prst="rect">
            <a:avLst/>
          </a:prstGeom>
          <a:noFill/>
        </p:spPr>
        <p:txBody>
          <a:bodyPr wrap="square" lIns="0" rIns="0" tIns="0" bIns="0" anchor="ctr">
            <a:spAutoFit/>
          </a:bodyPr>
          <a:lstStyle/>
          <a:p>
            <a:pPr algn="l"/>
            <a:r>
              <a:rPr sz="1100" b="0" i="0">
                <a:solidFill>
                  <a:srgbClr val="4A5058"/>
                </a:solidFill>
              </a:rPr>
              <a:t>Retiring the stored netting-set and counterparty figures (NET_MTM, TRADES[], COLLATERAL, LIMIT) with the netting-set engine.</a:t>
            </a:r>
          </a:p>
        </p:txBody>
      </p:sp>
      <p:sp>
        <p:nvSpPr>
          <p:cNvPr id="49" name="Rectangle 48"/>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Each difference has a named cause; a retired field cannot come back without failing the build.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APACHE ARROW · WHERE IT PAYS</a:t>
            </a:r>
          </a:p>
        </p:txBody>
      </p:sp>
      <p:sp>
        <p:nvSpPr>
          <p:cNvPr id="3" name="Title 2"/>
          <p:cNvSpPr>
            <a:spLocks noGrp="1"/>
          </p:cNvSpPr>
          <p:nvPr>
            <p:ph type="title" idx="104"/>
          </p:nvPr>
        </p:nvSpPr>
        <p:spPr/>
        <p:txBody>
          <a:bodyPr lIns="0" rIns="0" tIns="0" bIns="0" anchor="t"/>
          <a:lstStyle/>
          <a:p>
            <a:r>
              <a:t>Arrow where it pays; our own formats where they are faster</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44752"/>
          <a:ext cx="6355080" cy="3867912"/>
        </p:xfrm>
        <a:graphic>
          <a:graphicData uri="http://schemas.openxmlformats.org/drawingml/2006/table">
            <a:tbl>
              <a:tblPr firstRow="0" bandRow="0">
                <a:tableStyleId>{5940675A-B579-460E-94D1-54222C63F5DA}</a:tableStyleId>
              </a:tblPr>
              <a:tblGrid>
                <a:gridCol w="1600200"/>
                <a:gridCol w="1965960"/>
                <a:gridCol w="2788920"/>
              </a:tblGrid>
              <a:tr h="429768">
                <a:tc>
                  <a:txBody>
                    <a:bodyPr wrap="square"/>
                    <a:lstStyle/>
                    <a:p>
                      <a:r>
                        <a:rPr sz="1000" b="1" i="0">
                          <a:solidFill>
                            <a:srgbClr val="FFFFFF"/>
                          </a:solidFill>
                        </a:rPr>
                        <a:t>Boundary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Format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Why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9768">
                <a:tc>
                  <a:txBody>
                    <a:bodyPr wrap="square"/>
                    <a:lstStyle/>
                    <a:p>
                      <a:r>
                        <a:rPr sz="1000" b="1" i="0">
                          <a:solidFill>
                            <a:srgbClr val="8A1626"/>
                          </a:solidFill>
                        </a:rPr>
                        <a:t>The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Parquet (Delta or 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Arrow's partner on disk: compressed columns, statistics to skip files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000" b="1" i="0">
                          <a:solidFill>
                            <a:srgbClr val="8A1626"/>
                          </a:solidFill>
                        </a:rPr>
                        <a:t>VaR hot files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our own float32 rows, memory-mapped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summing runs near memory bandwidth, about 70 GB/s</a:t>
                      </a:r>
                      <a:r>
                        <a:rPr sz="1000" b="0" i="0">
                          <a:solidFill>
                            <a:srgbClr val="A51C30"/>
                          </a:solidFill>
                        </a:rPr>
                        <a:t>¹</a:t>
                      </a:r>
                      <a:r>
                        <a:rPr sz="1000" b="0" i="0">
                          <a:solidFill>
                            <a:srgbClr val="1A1A1A"/>
                          </a:solidFill>
                        </a:rPr>
                        <a:t>; Arrow would not be faster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000" b="1" i="0">
                          <a:solidFill>
                            <a:srgbClr val="8A1626"/>
                          </a:solidFill>
                        </a:rPr>
                        <a:t>Shard partials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raw vectors of doubles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already minimal; Arrow would add framing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000" b="1" i="0">
                          <a:solidFill>
                            <a:srgbClr val="8A1626"/>
                          </a:solidFill>
                        </a:rPr>
                        <a:t>Server ↔ Python workers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Arrow IPC, memory-mapped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no copy, no parse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000" b="1" i="0">
                          <a:solidFill>
                            <a:srgbClr val="8A1626"/>
                          </a:solidFill>
                        </a:rPr>
                        <a:t>VaR contributions to the browser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1" i="0">
                          <a:solidFill>
                            <a:srgbClr val="A51C30"/>
                          </a:solidFill>
                        </a:rPr>
                        <a:t>Arrow</a:t>
                      </a:r>
                      <a:r>
                        <a:rPr sz="1000" b="0" i="0">
                          <a:solidFill>
                            <a:srgbClr val="1A1A1A"/>
                          </a:solidFill>
                        </a:rPr>
                        <a:t> on request; Arrow JS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fewer bytes, faster fetch: measured, right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000" b="1" i="0">
                          <a:solidFill>
                            <a:srgbClr val="8A1626"/>
                          </a:solidFill>
                        </a:rPr>
                        <a:t>BI queries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Arrow on request; JSON in the console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mostly text: hardly smaller after gzip, parsed slower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000" b="1" i="0">
                          <a:solidFill>
                            <a:srgbClr val="8A1626"/>
                          </a:solidFill>
                        </a:rPr>
                        <a:t>P&amp;L paths, entity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JSON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small answers; Arrow is no smaller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000" b="1" i="0">
                          <a:solidFill>
                            <a:srgbClr val="8A1626"/>
                          </a:solidFill>
                        </a:rPr>
                        <a:t>Search results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HTML drawn on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no table reaches the browser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7" name="Rectangle 26"/>
          <p:cNvSpPr/>
          <p:nvPr/>
        </p:nvSpPr>
        <p:spPr>
          <a:xfrm>
            <a:off x="7360920" y="1444752"/>
            <a:ext cx="4050792" cy="212140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7498080" y="1481328"/>
            <a:ext cx="2862072" cy="310896"/>
          </a:xfrm>
          <a:prstGeom prst="rect">
            <a:avLst/>
          </a:prstGeom>
          <a:noFill/>
        </p:spPr>
        <p:txBody>
          <a:bodyPr wrap="square" lIns="0" rIns="0" tIns="0" bIns="0" anchor="ctr">
            <a:spAutoFit/>
          </a:bodyPr>
          <a:lstStyle/>
          <a:p>
            <a:pPr algn="l"/>
            <a:r>
              <a:rPr sz="1300" b="1" i="0">
                <a:solidFill>
                  <a:srgbClr val="8A1626"/>
                </a:solidFill>
              </a:rPr>
              <a:t>Where Arrow paid</a:t>
            </a:r>
          </a:p>
        </p:txBody>
      </p:sp>
      <p:sp>
        <p:nvSpPr>
          <p:cNvPr id="29" name="Rounded Rectangle 28"/>
          <p:cNvSpPr/>
          <p:nvPr/>
        </p:nvSpPr>
        <p:spPr>
          <a:xfrm>
            <a:off x="10451592" y="1536192"/>
            <a:ext cx="841248" cy="201168"/>
          </a:xfrm>
          <a:prstGeom prst="roundRect">
            <a:avLst>
              <a:gd name="adj" fmla="val 50000"/>
            </a:avLst>
          </a:prstGeom>
          <a:solidFill>
            <a:srgbClr val="4A5058"/>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MEASURED</a:t>
            </a:r>
          </a:p>
        </p:txBody>
      </p:sp>
      <p:graphicFrame>
        <p:nvGraphicFramePr>
          <p:cNvPr id="30" name="Table 29"/>
          <p:cNvGraphicFramePr>
            <a:graphicFrameLocks noGrp="1"/>
          </p:cNvGraphicFramePr>
          <p:nvPr/>
        </p:nvGraphicFramePr>
        <p:xfrm>
          <a:off x="7470648" y="1828800"/>
          <a:ext cx="3831336" cy="1097280"/>
        </p:xfrm>
        <a:graphic>
          <a:graphicData uri="http://schemas.openxmlformats.org/drawingml/2006/table">
            <a:tbl>
              <a:tblPr firstRow="0" bandRow="0">
                <a:tableStyleId>{5940675A-B579-460E-94D1-54222C63F5DA}</a:tableStyleId>
              </a:tblPr>
              <a:tblGrid>
                <a:gridCol w="2039112"/>
                <a:gridCol w="896112"/>
                <a:gridCol w="896112"/>
              </a:tblGrid>
              <a:tr h="274320">
                <a:tc>
                  <a:txBody>
                    <a:bodyPr wrap="square"/>
                    <a:lstStyle/>
                    <a:p>
                      <a:r>
                        <a:rPr sz="1000" b="1" i="0">
                          <a:solidFill>
                            <a:srgbClr val="FFFFFF"/>
                          </a:solidFill>
                        </a:rPr>
                        <a:t>VaR contributions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JSON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Arrow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000" b="1" i="0">
                          <a:solidFill>
                            <a:srgbClr val="8A1626"/>
                          </a:solidFill>
                        </a:rPr>
                        <a:t>by trade, 1,281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631,873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244,304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00" b="1" i="0">
                          <a:solidFill>
                            <a:srgbClr val="8A1626"/>
                          </a:solidFill>
                        </a:rPr>
                        <a:t>by position, 1,173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692,324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243,392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00" b="1" i="0">
                          <a:solidFill>
                            <a:srgbClr val="8A1626"/>
                          </a:solidFill>
                        </a:rPr>
                        <a:t>fetch, through the console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81–91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59–61 ms</a:t>
                      </a:r>
                      <a:r>
                        <a:rPr sz="1000" b="0" i="0">
                          <a:solidFill>
                            <a:srgbClr val="A51C30"/>
                          </a:solidFill>
                        </a:rPr>
                        <a:t>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1" name="TextBox 30"/>
          <p:cNvSpPr txBox="1"/>
          <p:nvPr/>
        </p:nvSpPr>
        <p:spPr>
          <a:xfrm>
            <a:off x="7498080" y="2962656"/>
            <a:ext cx="3776472" cy="548640"/>
          </a:xfrm>
          <a:prstGeom prst="rect">
            <a:avLst/>
          </a:prstGeom>
          <a:noFill/>
        </p:spPr>
        <p:txBody>
          <a:bodyPr wrap="square" lIns="0" rIns="0" tIns="0" bIns="0" anchor="t">
            <a:spAutoFit/>
          </a:bodyPr>
          <a:lstStyle/>
          <a:p>
            <a:pPr algn="l"/>
            <a:r>
              <a:rPr sz="1200" b="1" i="0">
                <a:solidFill>
                  <a:srgbClr val="A51C30"/>
                </a:solidFill>
              </a:rPr>
              <a:t>61–65% fewer bytes</a:t>
            </a:r>
            <a:r>
              <a:rPr sz="1200" b="1" i="0">
                <a:solidFill>
                  <a:srgbClr val="A51C30"/>
                </a:solidFill>
              </a:rPr>
              <a:t>²</a:t>
            </a:r>
            <a:r>
              <a:rPr sz="1050" b="0" i="0">
                <a:solidFill>
                  <a:srgbClr val="1A1A1A"/>
                </a:solidFill>
              </a:rPr>
              <a:t>, read with Arrow JS (vendored) in the VaR explorer; painted in the same time.</a:t>
            </a:r>
          </a:p>
        </p:txBody>
      </p:sp>
      <p:sp>
        <p:nvSpPr>
          <p:cNvPr id="32" name="Rectangle 31"/>
          <p:cNvSpPr/>
          <p:nvPr/>
        </p:nvSpPr>
        <p:spPr>
          <a:xfrm>
            <a:off x="7360920" y="3657600"/>
            <a:ext cx="4050792" cy="9144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7498080" y="3694176"/>
            <a:ext cx="3776472" cy="868680"/>
          </a:xfrm>
          <a:prstGeom prst="rect">
            <a:avLst/>
          </a:prstGeom>
          <a:noFill/>
        </p:spPr>
        <p:txBody>
          <a:bodyPr wrap="square" lIns="0" rIns="0" tIns="0" bIns="0" anchor="t">
            <a:spAutoFit/>
          </a:bodyPr>
          <a:lstStyle/>
          <a:p>
            <a:pPr algn="l">
              <a:spcAft>
                <a:spcPts val="200"/>
              </a:spcAft>
            </a:pPr>
            <a:r>
              <a:rPr sz="1200" b="1" i="0">
                <a:solidFill>
                  <a:srgbClr val="8A1626"/>
                </a:solidFill>
              </a:rPr>
              <a:t>Kept as JSON, measured</a:t>
            </a:r>
          </a:p>
          <a:p>
            <a:pPr algn="l"/>
            <a:r>
              <a:rPr sz="1050" b="1" i="0">
                <a:solidFill>
                  <a:srgbClr val="1A1A1A"/>
                </a:solidFill>
              </a:rPr>
              <a:t>BI grids: </a:t>
            </a:r>
            <a:r>
              <a:rPr sz="1050" b="0" i="0">
                <a:solidFill>
                  <a:srgbClr val="1A1A1A"/>
                </a:solidFill>
              </a:rPr>
              <a:t>8–14%</a:t>
            </a:r>
            <a:r>
              <a:rPr sz="1050" b="0" i="0">
                <a:solidFill>
                  <a:srgbClr val="A51C30"/>
                </a:solidFill>
              </a:rPr>
              <a:t>⁴</a:t>
            </a:r>
            <a:r>
              <a:rPr sz="1050" b="0" i="0">
                <a:solidFill>
                  <a:srgbClr val="1A1A1A"/>
                </a:solidFill>
              </a:rPr>
              <a:t> smaller after gzip, parsed slower, painted no sooner; drawing the rows is the cost.</a:t>
            </a:r>
          </a:p>
          <a:p>
            <a:pPr algn="l"/>
            <a:r>
              <a:rPr sz="1050" b="1" i="0">
                <a:solidFill>
                  <a:srgbClr val="1A1A1A"/>
                </a:solidFill>
              </a:rPr>
              <a:t>P&amp;L paths: </a:t>
            </a:r>
            <a:r>
              <a:rPr sz="1050" b="0" i="0">
                <a:solidFill>
                  <a:srgbClr val="1A1A1A"/>
                </a:solidFill>
              </a:rPr>
              <a:t>509 numbers, no smaller.</a:t>
            </a:r>
            <a:r>
              <a:rPr sz="1050" b="0" i="0">
                <a:solidFill>
                  <a:srgbClr val="A51C30"/>
                </a:solidFill>
              </a:rPr>
              <a:t>⁵</a:t>
            </a:r>
          </a:p>
        </p:txBody>
      </p:sp>
      <p:sp>
        <p:nvSpPr>
          <p:cNvPr id="34" name="Rectangle 33"/>
          <p:cNvSpPr/>
          <p:nvPr/>
        </p:nvSpPr>
        <p:spPr>
          <a:xfrm>
            <a:off x="7360920" y="4663440"/>
            <a:ext cx="4050792" cy="667512"/>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ounded Rectangle 34"/>
          <p:cNvSpPr/>
          <p:nvPr/>
        </p:nvSpPr>
        <p:spPr>
          <a:xfrm>
            <a:off x="10543032" y="4718304"/>
            <a:ext cx="749808"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36" name="TextBox 35"/>
          <p:cNvSpPr txBox="1"/>
          <p:nvPr/>
        </p:nvSpPr>
        <p:spPr>
          <a:xfrm>
            <a:off x="7498080" y="4681728"/>
            <a:ext cx="2999232" cy="640080"/>
          </a:xfrm>
          <a:prstGeom prst="rect">
            <a:avLst/>
          </a:prstGeom>
          <a:noFill/>
        </p:spPr>
        <p:txBody>
          <a:bodyPr wrap="square" lIns="0" rIns="0" tIns="0" bIns="0" anchor="ctr">
            <a:spAutoFit/>
          </a:bodyPr>
          <a:lstStyle/>
          <a:p>
            <a:pPr algn="l"/>
            <a:r>
              <a:rPr sz="1050" b="1" i="0">
                <a:solidFill>
                  <a:srgbClr val="8A1626"/>
                </a:solidFill>
              </a:rPr>
              <a:t>Next: </a:t>
            </a:r>
            <a:r>
              <a:rPr sz="1050" b="0" i="0">
                <a:solidFill>
                  <a:srgbClr val="1A1A1A"/>
                </a:solidFill>
              </a:rPr>
              <a:t>a client-side renderer; search drawn in the browser with it, where Arrow can carry the rows.</a:t>
            </a:r>
          </a:p>
        </p:txBody>
      </p:sp>
      <p:sp>
        <p:nvSpPr>
          <p:cNvPr id="37" name="Rectangle 36"/>
          <p:cNvSpPr/>
          <p:nvPr/>
        </p:nvSpPr>
        <p:spPr>
          <a:xfrm>
            <a:off x="777240" y="5422392"/>
            <a:ext cx="10634472" cy="4572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Rectangle 37"/>
          <p:cNvSpPr/>
          <p:nvPr/>
        </p:nvSpPr>
        <p:spPr>
          <a:xfrm>
            <a:off x="777240" y="5422392"/>
            <a:ext cx="54864" cy="457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1033271" y="5422392"/>
            <a:ext cx="10268712" cy="45720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Measured, Arrow paid in one place: the VaR contribution tables. Elsewhere JSON, Parquet or our own formats are as fast or faster.</a:t>
            </a:r>
          </a:p>
        </p:txBody>
      </p:sp>
      <p:sp>
        <p:nvSpPr>
          <p:cNvPr id="40" name="Footnotes"/>
          <p:cNvSpPr txBox="1"/>
          <p:nvPr/>
        </p:nvSpPr>
        <p:spPr>
          <a:xfrm>
            <a:off x="777240" y="5916168"/>
            <a:ext cx="10634472" cy="603504"/>
          </a:xfrm>
          <a:prstGeom prst="rect">
            <a:avLst/>
          </a:prstGeom>
          <a:noFill/>
        </p:spPr>
        <p:txBody>
          <a:bodyPr wrap="square" lIns="0" rIns="0" tIns="0" bIns="0" anchor="t">
            <a:spAutoFit/>
          </a:bodyPr>
          <a:lstStyle/>
          <a:p>
            <a:pPr algn="l"/>
            <a:r>
              <a:rPr sz="900" b="0" i="0">
                <a:solidFill>
                  <a:srgbClr val="61666E"/>
                </a:solidFill>
              </a:rPr>
              <a:t>¹ 1,000,000 trades × 509 × 8 B = 4.07 GB summed in 58 ms (VarScaleBenchmark, measured, VAR_GUIDE.md 27.2) = 70 GB/s   ² 1 − 244,304 ÷ 631,873 B = 61% (by trade) and 1 − 243,392 ÷ 692,324 B = 65% (by position): bytes as the console sends them; measured, DATA_FORMATS.md section 6   ³ fetch through the console, against 81–91 ms as JSON (Chromium, one machine); measured, DATA_FORMATS.md section 6   ⁴ gzip 122,953 → 112,656 B (5,000 trades) and 1,216,777 → 1,048,434 B (50,000 trades) = 8% and 14% smaller; measured, DATA_FORMATS.md section 6   ⁵ the P&amp;L path: 21,607 B as JSON, 22,032 B as Arrow; measured, DATA_FORMATS.md section 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REFERENCES</a:t>
            </a:r>
          </a:p>
        </p:txBody>
      </p:sp>
      <p:sp>
        <p:nvSpPr>
          <p:cNvPr id="3" name="Title 2"/>
          <p:cNvSpPr>
            <a:spLocks noGrp="1"/>
          </p:cNvSpPr>
          <p:nvPr>
            <p:ph type="title" idx="104"/>
          </p:nvPr>
        </p:nvSpPr>
        <p:spPr/>
        <p:txBody>
          <a:bodyPr lIns="0" rIns="0" tIns="0" bIns="0" anchor="t"/>
          <a:lstStyle/>
          <a:p>
            <a:r>
              <a:t>Related documents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44752"/>
          <a:ext cx="10634472" cy="4754880"/>
        </p:xfrm>
        <a:graphic>
          <a:graphicData uri="http://schemas.openxmlformats.org/drawingml/2006/table">
            <a:tbl>
              <a:tblPr firstRow="0" bandRow="0">
                <a:tableStyleId>{5940675A-B579-460E-94D1-54222C63F5DA}</a:tableStyleId>
              </a:tblPr>
              <a:tblGrid>
                <a:gridCol w="4937760"/>
                <a:gridCol w="5696712"/>
              </a:tblGrid>
              <a:tr h="365760">
                <a:tc>
                  <a:txBody>
                    <a:bodyPr wrap="square"/>
                    <a:lstStyle/>
                    <a:p>
                      <a:r>
                        <a:rPr sz="1150" b="1" i="0">
                          <a:solidFill>
                            <a:srgbClr val="FFFFFF"/>
                          </a:solidFill>
                        </a:rPr>
                        <a:t>Document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What it holds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150" b="1" i="0">
                          <a:solidFill>
                            <a:srgbClr val="8A1626"/>
                          </a:solidFill>
                        </a:rPr>
                        <a:t>README.md · docs/guides/GETTING_STARTED.md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name and the tagline; from a clone to a live view in about 15 minutes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50" b="1" i="0">
                          <a:solidFill>
                            <a:srgbClr val="8A1626"/>
                          </a:solidFill>
                        </a:rPr>
                        <a:t>docs/guides/USER_GUIDE.md · CLI_GUIDE.md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every page and key; the command line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50" b="1" i="0">
                          <a:solidFill>
                            <a:srgbClr val="8A1626"/>
                          </a:solidFill>
                        </a:rPr>
                        <a:t>docs/architecture/IMPLEMENTATION_PLAN.md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what is built, planned and parked; known gaps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50" b="1" i="0">
                          <a:solidFill>
                            <a:srgbClr val="8A1626"/>
                          </a:solidFill>
                        </a:rPr>
                        <a:t>docs/architecture/EDITIONS.md · docs/admin/EDITIONS_GUIDE.md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Drishti Risk, World and Market; editions and lenses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50" b="1" i="0">
                          <a:solidFill>
                            <a:srgbClr val="8A1626"/>
                          </a:solidFill>
                        </a:rPr>
                        <a:t>docs/guides/DATA_FORMATS.md · docs/guides/COMMAND_CATALOG.md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JSON Lines as the data standard; a contract per command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50" b="1" i="0">
                          <a:solidFill>
                            <a:srgbClr val="8A1626"/>
                          </a:solidFill>
                        </a:rPr>
                        <a:t>docs/guides/VAR_GUIDE.md · EXPOSURE_GUIDE.md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risk computed on demand: VaR and exposure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50" b="1" i="0">
                          <a:solidFill>
                            <a:srgbClr val="8A1626"/>
                          </a:solidFill>
                        </a:rPr>
                        <a:t>docs/architecture/COMPUTED_ATTRIBUTES.md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attributes on the pages, derived from trade-grain inputs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50" b="1" i="0">
                          <a:solidFill>
                            <a:srgbClr val="8A1626"/>
                          </a:solidFill>
                        </a:rPr>
                        <a:t>docs/admin/PERFORMANCE.md · docs/architecture/SCALE_STRATEGY.md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measured numbers and how they were taken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50" b="1" i="0">
                          <a:solidFill>
                            <a:srgbClr val="8A1626"/>
                          </a:solidFill>
                        </a:rPr>
                        <a:t>RELEASE_NOTES.md · CHANGELOG.md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release history (this deck is version-free)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50" b="1" i="0">
                          <a:solidFill>
                            <a:srgbClr val="8A1626"/>
                          </a:solidFill>
                        </a:rPr>
                        <a:t>docs/knowledge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ideas behind the data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50" b="1" i="0">
                          <a:solidFill>
                            <a:srgbClr val="8A1626"/>
                          </a:solidFill>
                        </a:rPr>
                        <a:t>docs/publications/Drishti-VaR-Engine.pptx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VaR engine in depth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50" b="1" i="0">
                          <a:solidFill>
                            <a:srgbClr val="8A1626"/>
                          </a:solidFill>
                        </a:rPr>
                        <a:t>docs/publications/Drishti-on-AWS.pptx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Drishti on AWS: the lake, Delta or 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design and evidence</dc:title>
  <dc:subject>Drishti: the idea, the product, editions, data and lakes, screens, BI, risk, security, evidence and where it is going</dc:subject>
  <dc:creator>Ashutosh Sinha</dc:creator>
  <cp:lastModifiedBy>Ashutosh Sinha</cp:lastModifiedBy>
  <cp:revision>1</cp:revision>
  <dcterms:created xsi:type="dcterms:W3CDTF">2026-10-07T03:43:45Z</dcterms:created>
  <dcterms:modified xsi:type="dcterms:W3CDTF">2026-10-07T03:43:45Z</dcterms:modified>
</cp:coreProperties>
</file>
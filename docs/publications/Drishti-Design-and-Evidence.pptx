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304" r:id="rId55"/>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282" r:id="rId28"/>
    <p:sldId id="283" r:id="rId29"/>
    <p:sldId id="284" r:id="rId30"/>
    <p:sldId id="285" r:id="rId31"/>
    <p:sldId id="286" r:id="rId32"/>
    <p:sldId id="287" r:id="rId33"/>
    <p:sldId id="288" r:id="rId34"/>
    <p:sldId id="289" r:id="rId35"/>
    <p:sldId id="290" r:id="rId36"/>
    <p:sldId id="328" r:id="rId79"/>
    <p:sldId id="329" r:id="rId80"/>
    <p:sldId id="291" r:id="rId37"/>
    <p:sldId id="303" r:id="rId54"/>
    <p:sldId id="325" r:id="rId76"/>
    <p:sldId id="326" r:id="rId77"/>
    <p:sldId id="292" r:id="rId38"/>
    <p:sldId id="327" r:id="rId7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Warm view, p99 (HTTP)</c:v>
                </c:pt>
                <c:pt idx="1">
                  <c:v>Live tick to frame, p99</c:v>
                </c:pt>
                <c:pt idx="2">
                  <c:v>History: 30 days, cold</c:v>
                </c:pt>
                <c:pt idx="3">
                  <c:v>Type-ahead at 1M/day</c:v>
                </c:pt>
                <c:pt idx="4">
                  <c:v>Open a cached trade at 1M/day</c:v>
                </c:pt>
                <c:pt idx="5">
                  <c:v>Search all 1M trades</c:v>
                </c:pt>
                <c:pt idx="6">
                  <c:v>P&amp;L of every desk, 1M trades</c:v>
                </c:pt>
              </c:strCache>
            </c:strRef>
          </c:cat>
          <c:val>
            <c:numRef>
              <c:f>Sheet1!$B$2:$B$8</c:f>
              <c:numCache>
                <c:formatCode>General</c:formatCode>
                <c:ptCount val="7"/>
                <c:pt idx="0">
                  <c:v>3.0</c:v>
                </c:pt>
                <c:pt idx="1">
                  <c:v>11.2</c:v>
                </c:pt>
                <c:pt idx="2">
                  <c:v>13.0</c:v>
                </c:pt>
                <c:pt idx="3">
                  <c:v>29.0</c:v>
                </c:pt>
                <c:pt idx="4">
                  <c:v>48.0</c:v>
                </c:pt>
                <c:pt idx="5">
                  <c:v>134.0</c:v>
                </c:pt>
                <c:pt idx="6">
                  <c:v>327.0</c:v>
                </c:pt>
              </c:numCache>
            </c:numRef>
          </c:val>
        </c:ser>
        <c:dLbls>
          <c:numFmt formatCode="General"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Java (main)</c:v>
                </c:pt>
                <c:pt idx="1">
                  <c:v>Java (tests)</c:v>
                </c:pt>
                <c:pt idx="2">
                  <c:v>Python</c:v>
                </c:pt>
                <c:pt idx="3">
                  <c:v>Markdown docs</c:v>
                </c:pt>
                <c:pt idx="4">
                  <c:v>YAML</c:v>
                </c:pt>
                <c:pt idx="5">
                  <c:v>JavaScript</c:v>
                </c:pt>
                <c:pt idx="6">
                  <c:v>CSS + HTML</c:v>
                </c:pt>
              </c:strCache>
            </c:strRef>
          </c:cat>
          <c:val>
            <c:numRef>
              <c:f>Sheet1!$B$2:$B$8</c:f>
              <c:numCache>
                <c:formatCode>General</c:formatCode>
                <c:ptCount val="7"/>
                <c:pt idx="0">
                  <c:v>292062</c:v>
                </c:pt>
                <c:pt idx="1">
                  <c:v>110795</c:v>
                </c:pt>
                <c:pt idx="2">
                  <c:v>182877</c:v>
                </c:pt>
                <c:pt idx="3">
                  <c:v>168721</c:v>
                </c:pt>
                <c:pt idx="4">
                  <c:v>107671</c:v>
                </c:pt>
                <c:pt idx="5">
                  <c:v>51528</c:v>
                </c:pt>
                <c:pt idx="6">
                  <c:v>20252</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(library engine)</c:v>
                </c:pt>
              </c:strCache>
            </c:strRef>
          </c:tx>
          <c:spPr>
            <a:solidFill>
              <a:srgbClr val="B9AFA5"/>
            </a:solidFill>
          </c:spPr>
          <c:cat>
            <c:strRef>
              <c:f>Sheet1!$A$2:$A$3</c:f>
              <c:strCache>
                <c:ptCount val="2"/>
                <c:pt idx="0">
                  <c:v>Connector start</c:v>
                </c:pt>
                <c:pt idx="1">
                  <c:v>A trade on a past day</c:v>
                </c:pt>
              </c:strCache>
            </c:strRef>
          </c:cat>
          <c:val>
            <c:numRef>
              <c:f>Sheet1!$B$2:$B$3</c:f>
              <c:numCache>
                <c:formatCode>General</c:formatCode>
                <c:ptCount val="2"/>
                <c:pt idx="0">
                  <c:v>1800</c:v>
                </c:pt>
                <c:pt idx="1">
                  <c:v>353</c:v>
                </c:pt>
              </c:numCache>
            </c:numRef>
          </c:val>
        </c:ser>
        <c:ser>
          <c:idx val="1"/>
          <c:order val="1"/>
          <c:tx>
            <c:strRef>
              <c:f>Sheet1!$C$1</c:f>
              <c:strCache>
                <c:ptCount val="1"/>
                <c:pt idx="0">
                  <c:v>drishti-iceberg</c:v>
                </c:pt>
              </c:strCache>
            </c:strRef>
          </c:tx>
          <c:spPr>
            <a:solidFill>
              <a:srgbClr val="8A1626"/>
            </a:solidFill>
          </c:spPr>
          <c:cat>
            <c:strRef>
              <c:f>Sheet1!$A$2:$A$3</c:f>
              <c:strCache>
                <c:ptCount val="2"/>
                <c:pt idx="0">
                  <c:v>Connector start</c:v>
                </c:pt>
                <c:pt idx="1">
                  <c:v>A trade on a past day</c:v>
                </c:pt>
              </c:strCache>
            </c:strRef>
          </c:cat>
          <c:val>
            <c:numRef>
              <c:f>Sheet1!$C$2:$C$3</c:f>
              <c:numCache>
                <c:formatCode>General</c:formatCode>
                <c:ptCount val="2"/>
                <c:pt idx="0">
                  <c:v>637</c:v>
                </c:pt>
                <c:pt idx="1">
                  <c:v>94</c:v>
                </c:pt>
              </c:numCache>
            </c:numRef>
          </c:val>
        </c:ser>
        <c:dLbls>
          <c:numFmt formatCode="#,##0&quot; ms&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Wikidata members (before)</c:v>
                </c:pt>
              </c:strCache>
            </c:strRef>
          </c:tx>
          <c:spPr>
            <a:solidFill>
              <a:srgbClr val="B9AFA5"/>
            </a:solidFill>
          </c:spPr>
          <c:cat>
            <c:strRef>
              <c:f>Sheet1!$A$2:$A$3</c:f>
              <c:strCache>
                <c:ptCount val="2"/>
                <c:pt idx="0">
                  <c:v>DIA vs the Dow</c:v>
                </c:pt>
                <c:pt idx="1">
                  <c:v>QQQ vs Nasdaq-100</c:v>
                </c:pt>
              </c:strCache>
            </c:strRef>
          </c:cat>
          <c:val>
            <c:numRef>
              <c:f>Sheet1!$B$2:$B$3</c:f>
              <c:numCache>
                <c:formatCode>General</c:formatCode>
                <c:ptCount val="2"/>
                <c:pt idx="0">
                  <c:v>57.6</c:v>
                </c:pt>
                <c:pt idx="1">
                  <c:v>26.75</c:v>
                </c:pt>
              </c:numCache>
            </c:numRef>
          </c:val>
        </c:ser>
        <c:ser>
          <c:idx val="1"/>
          <c:order val="1"/>
          <c:tx>
            <c:strRef>
              <c:f>Sheet1!$C$1</c:f>
              <c:strCache>
                <c:ptCount val="1"/>
                <c:pt idx="0">
                  <c:v>Members from the ETFs' SEC holdings</c:v>
                </c:pt>
              </c:strCache>
            </c:strRef>
          </c:tx>
          <c:spPr>
            <a:solidFill>
              <a:srgbClr val="8A1626"/>
            </a:solidFill>
          </c:spPr>
          <c:cat>
            <c:strRef>
              <c:f>Sheet1!$A$2:$A$3</c:f>
              <c:strCache>
                <c:ptCount val="2"/>
                <c:pt idx="0">
                  <c:v>DIA vs the Dow</c:v>
                </c:pt>
                <c:pt idx="1">
                  <c:v>QQQ vs Nasdaq-100</c:v>
                </c:pt>
              </c:strCache>
            </c:strRef>
          </c:cat>
          <c:val>
            <c:numRef>
              <c:f>Sheet1!$C$2:$C$3</c:f>
              <c:numCache>
                <c:formatCode>General</c:formatCode>
                <c:ptCount val="2"/>
                <c:pt idx="0">
                  <c:v>1.8</c:v>
                </c:pt>
                <c:pt idx="1">
                  <c:v>11.2</c:v>
                </c:pt>
              </c:numCache>
            </c:numRef>
          </c:val>
        </c:ser>
        <c:dLbls>
          <c:numFmt formatCode="0.0#&quot;%&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72.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Commands</c:v>
                </c:pt>
              </c:strCache>
            </c:strRef>
          </c:tx>
          <c:spPr>
            <a:solidFill>
              <a:srgbClr val="8A1626"/>
            </a:solidFill>
          </c:spPr>
          <c:cat>
            <c:strRef>
              <c:f>Sheet1!$A$2:$A$5</c:f>
              <c:strCache>
                <c:ptCount val="4"/>
                <c:pt idx="0">
                  <c:v>Fundamental</c:v>
                </c:pt>
                <c:pt idx="1">
                  <c:v>Engine input</c:v>
                </c:pt>
                <c:pt idx="2">
                  <c:v>Drishti's own</c:v>
                </c:pt>
                <c:pt idx="3">
                  <c:v>Computed</c:v>
                </c:pt>
              </c:strCache>
            </c:strRef>
          </c:cat>
          <c:val>
            <c:numRef>
              <c:f>Sheet1!$B$2:$B$5</c:f>
              <c:numCache>
                <c:formatCode>General</c:formatCode>
                <c:ptCount val="4"/>
                <c:pt idx="0">
                  <c:v>73</c:v>
                </c:pt>
                <c:pt idx="1">
                  <c:v>8</c:v>
                </c:pt>
                <c:pt idx="2">
                  <c:v>1</c:v>
                </c:pt>
                <c:pt idx="3">
                  <c:v>18</c:v>
                </c:pt>
              </c:numCache>
            </c:numRef>
          </c:val>
        </c:ser>
        <c:dLbls>
          <c:numFmt formatCode="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88.0"/>
          <c:min val="0.0"/>
        </c:scaling>
        <c:delete/>
        <c:axPos val="b"/>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EUR m</c:v>
                </c:pt>
              </c:strCache>
            </c:strRef>
          </c:tx>
          <c:spPr>
            <a:solidFill>
              <a:srgbClr val="8A1626"/>
            </a:solidFill>
          </c:spPr>
          <c:cat>
            <c:strRef>
              <c:f>Sheet1!$A$2:$A$3</c:f>
              <c:strCache>
                <c:ptCount val="2"/>
                <c:pt idx="0">
                  <c:v>Scenario FX</c:v>
                </c:pt>
                <c:pt idx="1">
                  <c:v>USD × today</c:v>
                </c:pt>
              </c:strCache>
            </c:strRef>
          </c:cat>
          <c:val>
            <c:numRef>
              <c:f>Sheet1!$B$2:$B$3</c:f>
              <c:numCache>
                <c:formatCode>General</c:formatCode>
                <c:ptCount val="2"/>
                <c:pt idx="0">
                  <c:v>111.84</c:v>
                </c:pt>
                <c:pt idx="1">
                  <c:v>95.4</c:v>
                </c:pt>
              </c:numCache>
            </c:numRef>
          </c:val>
        </c:ser>
        <c:dLbls>
          <c:numFmt formatCode="0.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050">
                <a:solidFill>
                  <a:srgbClr val="4A5058"/>
                </a:solidFill>
              </a:defRPr>
            </a:pPr>
          </a:p>
        </c:txPr>
        <c:crossAx val="-2113994440"/>
        <c:crosses val="autoZero"/>
        <c:auto val="1"/>
        <c:lblAlgn val="ctr"/>
        <c:lblOffset val="100"/>
        <c:noMultiLvlLbl val="0"/>
      </c:catAx>
      <c:valAx>
        <c:axId val="-2113994440"/>
        <c:scaling>
          <c:max val="150.0"/>
          <c:min val="0.0"/>
        </c:scaling>
        <c:delete/>
        <c:axPos val="b"/>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Type-ahead TRD CLY-400</c:v>
                </c:pt>
              </c:strCache>
            </c:strRef>
          </c:tx>
          <c:spPr>
            <a:solidFill>
              <a:srgbClr val="8A1626"/>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Sheet1!$B$2:$B$9</c:f>
              <c:numCache>
                <c:formatCode>General</c:formatCode>
                <c:ptCount val="8"/>
                <c:pt idx="0">
                  <c:v>6.3</c:v>
                </c:pt>
                <c:pt idx="1">
                  <c:v>9.0</c:v>
                </c:pt>
                <c:pt idx="2">
                  <c:v>8.0</c:v>
                </c:pt>
                <c:pt idx="3">
                  <c:v>7.8</c:v>
                </c:pt>
                <c:pt idx="4">
                  <c:v>6.9</c:v>
                </c:pt>
                <c:pt idx="5">
                  <c:v>10.4</c:v>
                </c:pt>
                <c:pt idx="6">
                  <c:v>8.9</c:v>
                </c:pt>
                <c:pt idx="7">
                  <c:v>7.3</c:v>
                </c:pt>
              </c:numCache>
            </c:numRef>
          </c:val>
        </c:ser>
        <c:ser>
          <c:idx val="1"/>
          <c:order val="1"/>
          <c:tx>
            <c:strRef>
              <c:f>Sheet1!$C$1</c:f>
              <c:strCache>
                <c:ptCount val="1"/>
                <c:pt idx="0">
                  <c:v>Open a trade again</c:v>
                </c:pt>
              </c:strCache>
            </c:strRef>
          </c:tx>
          <c:spPr>
            <a:solidFill>
              <a:srgbClr val="C4384B"/>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Sheet1!$C$2:$C$9</c:f>
              <c:numCache>
                <c:formatCode>General</c:formatCode>
                <c:ptCount val="8"/>
                <c:pt idx="0">
                  <c:v>2.6</c:v>
                </c:pt>
                <c:pt idx="1">
                  <c:v>4.8</c:v>
                </c:pt>
                <c:pt idx="2">
                  <c:v>2.8</c:v>
                </c:pt>
                <c:pt idx="3">
                  <c:v>4.0</c:v>
                </c:pt>
                <c:pt idx="4">
                  <c:v>4.5</c:v>
                </c:pt>
                <c:pt idx="5">
                  <c:v>5.8</c:v>
                </c:pt>
                <c:pt idx="6">
                  <c:v>4.8</c:v>
                </c:pt>
                <c:pt idx="7">
                  <c:v>4.3</c:v>
                </c:pt>
              </c:numCache>
            </c:numRef>
          </c:val>
        </c:ser>
        <c:ser>
          <c:idx val="2"/>
          <c:order val="2"/>
          <c:tx>
            <c:strRef>
              <c:f>Sheet1!$D$1</c:f>
              <c:strCache>
                <c:ptCount val="1"/>
                <c:pt idx="0">
                  <c:v>TRD book=BOOK-RATES-3</c:v>
                </c:pt>
              </c:strCache>
            </c:strRef>
          </c:tx>
          <c:spPr>
            <a:solidFill>
              <a:srgbClr val="B9AFA5"/>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Sheet1!$D$2:$D$9</c:f>
              <c:numCache>
                <c:formatCode>General</c:formatCode>
                <c:ptCount val="8"/>
                <c:pt idx="0">
                  <c:v>7.2</c:v>
                </c:pt>
                <c:pt idx="1">
                  <c:v>6.9</c:v>
                </c:pt>
                <c:pt idx="2">
                  <c:v>8.0</c:v>
                </c:pt>
                <c:pt idx="3">
                  <c:v>7.7</c:v>
                </c:pt>
                <c:pt idx="4">
                  <c:v>9.4</c:v>
                </c:pt>
                <c:pt idx="5">
                  <c:v>8.4</c:v>
                </c:pt>
                <c:pt idx="6">
                  <c:v>8.1</c:v>
                </c:pt>
                <c:pt idx="7">
                  <c:v>6.6</c:v>
                </c:pt>
              </c:numCache>
            </c:numRef>
          </c:val>
        </c:ser>
        <c:dLbls>
          <c:numFmt formatCode="0.0" sourceLinked="0"/>
          <c:txPr>
            <a:bodyPr/>
            <a:lstStyle/>
            <a:p>
              <a:pPr>
                <a:defRPr sz="900">
                  <a:solidFill>
                    <a:srgbClr val="4A505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E3DED7"/>
            </a:solidFill>
          </a:ln>
        </c:spPr>
        <c:txPr>
          <a:bodyPr/>
          <a:lstStyle/>
          <a:p>
            <a:pPr>
              <a:defRPr sz="1000">
                <a:solidFill>
                  <a:srgbClr val="4A505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E3DED7"/>
              </a:solidFill>
            </a:ln>
          </c:spPr>
        </c:majorGridlines>
        <c:majorTickMark val="out"/>
        <c:minorTickMark val="none"/>
        <c:tickLblPos val="nextTo"/>
        <c:spPr>
          <a:ln>
            <a:noFill/>
          </a:ln>
        </c:spPr>
        <c:txPr>
          <a:bodyPr/>
          <a:lstStyle/>
          <a:p>
            <a:pPr>
              <a:defRPr sz="1000">
                <a:solidFill>
                  <a:srgbClr val="4A5058"/>
                </a:solidFill>
              </a:defRPr>
            </a:pPr>
          </a:p>
        </c:txPr>
        <c:crossAx val="-2068027336"/>
        <c:crosses val="autoZero"/>
      </c:valAx>
    </c:plotArea>
    <c:legend>
      <c:legendPos val="t"/>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(the name, 'sight', the tagline 'Any data. Any domain. One grammar.'); CHANGELOG.md and RELEASE_NOTES.md on the branch release-2.9.4 (2.6.5 to 2.9.4) and CHANGELOG.md 2.9.5 on develop; pom.xml (Java 21 bytecode, enforcer).</a:t>
            </a:r>
          </a:p>
          <a:p/>
          <a:p>
            <a:r>
              <a:t>Talk track: Drishti is Sanskrit for sight. This edition brings the deck from release 2.6.0 (20 October 2026) to release 2.9.5 (28 October 2026): ten releases in eight days. Everything up to 2.9.5 is built; the only designs are cluster scale-out and VaR sharding across Drishti servers (2.9.6). Every number in the deck is measured, counted from the repository, or quoted from the CHANGELOG and the guides, with the source in these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RELEASE_NOTES.md 2.6.5 to 2.9.3 and CHANGELOG.md 2.9.4 (release-2.9.4); counts from git ls-tree of release-2.9.4 on 27 October 2026 (11 pack.yaml files under config/packs, 219 *.sutra.yaml, 19 plugins/*/pom.xml, 28 numbered tutorials); docs/guides/COMMAND_CATALOG.md on develop ('the 103 mnemonics', a contract each; VLIM var-limit is new in 2.9.5); the Java test methods counted by git grep on develop (bfc517a96, 2026-10-28): 3,266 @Test and 46 @ParameterizedTest; the last full ./mvnw clean verify in hand is 2.9.4's of 2026-10-27 (4,761 tests run, 0 failures, 15 skipped); docs/admin/PERFORMANCE.md (35.7 million trades, 50 users); VaR facts from docs/guides/VAR_GUIDE.md (2.9.4) and the VaR deck docs/publications/Drishti-VaR-Engine.pptx; docs/architecture/IMPLEMENTATION_PLAN.md (the computed-measures roadmap: 2.10.0 counterparty risk, 2.11.0 balance sheet and regulatory, 2.12.0 AI and generated UI 'parked until 2.11.0 is done'; VAR_GUIDE section 28: sharding across Drishti*net, designed, for 2.9.6); CHANGELOG.md 2.9.5 (hierarchies configured by columns and the limit letters; Iceberg as a full alternative to Delta for VaR, intraday and exposure, equal to the cent; official results to Delta or Iceberg, a folder or S3; airtight connector upgrades).</a:t>
            </a:r>
          </a:p>
          <a:p/>
          <a:p>
            <a:r>
              <a:t>Talk track: if you remember one slide, make it this one. Since the last edition the product grew a risk engine: VaR (2.8.0) and exposure (2.9.0) are computed on demand for any set of trades and never stored, every command gained a data contract, and 2.9.4 takes scenario PVs in any currency, in any input contract, intraday from files and Kafka; 2.9.5 adds any hierarchy built from the trades' columns (the limit letters) and Iceberg as a full alternative to Delta.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RACHANA_REFERENCE.md; PANELS.md ('every panel is one of twenty-two kinds'); INFERENCE.md; ADR-004; LIVE.md; config/ui-kit/ (2.7.0: reusable fragments such as row-picker@1 and field-list@1, theme tokens and brand); counts from git ls-tree of release-2.9.4 on 27 October 2026: 11 packs (compute-demo, core, counterparty-risk, funds, gleif, market-data, market-risk, news-and-markets, trading, us-equities, world-economy), 219 *.sutra.yaml files.</a:t>
            </a:r>
          </a:p>
          <a:p/>
          <a:p>
            <a:r>
              <a:t>Talk track: everything else in the product is built from these eight words. 2.7.0 added the UI kit: a Sutra's panels are now mostly fragments with a docstring, each proven to draw the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'How it is built'; pom.xml modules (20 drishti-* modules on release-2.9.4, among them drishti-compute for the VaR and exposure engines, drishti-net, drishti-deltalake, drishti-iceberg); ARCHITECTURE.md §2, §13 and §13a; NET.md; RELEASE_NOTES 2.6.7 (gossip on its own port, HTTP/2 between servers); 2.7.0 and 2.9.2 (public-data packs: SEC EDGAR, GLEIF, N-PORT); 2.8.0 (Admin → Commands); CHANGELOG 2.9.4 (CSV input deprecated, drishti.py convert); tools/drishti.py --help (22 groups).</a:t>
            </a:r>
          </a:p>
          <a:p/>
          <a:p>
            <a:r>
              <a:t>Talk track: modules depend one way only, and an architecture test enforces it (ArchitectureRulesTest, 10 rules). The plugin interface is Spring-free so connectors stay small. The compute module holds the risk engines: VaR and exposure read vectors and paths from the lake and answer any scope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config/packs/trading/sutras/murex/irs-fixfloat.v1.sutra.yaml on release-2.9.4 (60 lines; doc: block since 2.7.0; panels trading/deal-ticket@1, trading/legs@1, trading/flow-schedule@1, trading/events@1, trading/payments@1, data-provenance@1, risk-links@1, linked-entities@1); git grep: 132 files under config/packs name deal-ticket@1; SUTRA_NEXT.md and SUTRA_DEVELOPER_GUIDE.md (fragments and docstrings, 2.7.0); RACHANA_REFERENCE.md; ADR-013.</a:t>
            </a:r>
          </a:p>
          <a:p/>
          <a:p>
            <a:r>
              <a:t>Talk track: this is the real file, trimmed. When it applies, what the title says, the strip and the panels, which are now fragments: the pack's own (trading/deal-ticket@1) and the UI kit's (data-provenance@1, risk-links@1, which links the trade to its P&amp;L vector, VaR and exposure). Everything it does not mention, inference lays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RELEASE_NOTES.md; CHANGELOG.md 2.9.4; USER_GUIDE.md 'The pages at a glance'.</a:t>
            </a:r>
          </a:p>
          <a:p/>
          <a:p>
            <a:r>
              <a:t>Talk track: the product page by page as it stands at 2.9.4. The pages first shown in the 2.6 edition are kept here; what 2.6.5 to 2.9.4 added has its own chapter next.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counts from git ls-tree of release-2.9.4, 27 October 2026 (11 packs, 219 Sutra files, 19 plugins/*/pom.xml); docs/guides/COMMAND_CATALOG.md (generated: 'the 11 packs' codes, and the 100 mnemonics the packs define'; 100 *.contract.yaml files); PANELS.md (22 kinds); RELEASE_NOTES 2.6.5 to 2.9.3, CHANGELOG 2.9.4.</a:t>
            </a:r>
          </a:p>
          <a:p/>
          <a:p>
            <a:r>
              <a:t>Talk track: the four tiles are counted, not estimated. The fourth slot used to be panel kinds (still 22); it is now the command count, because since 2.8.0 every command is a documented contract.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tools/drishti.py --help on release-2.9.4 (22 groups: sutra, pack, data, server, connector, net, design, docs, doctor, bi, history, convert, compute, change, edits, var, exposure, contract, view, lake, testdata, completion); docs/guides/CLI_GUIDE.md; TOOLS.md; CHANGELOG 2.6.5 (history), 2.8.0 (var, contract, change, edits), 2.9.0 (exposure), 2.9.4 (convert, --format jsonl, lake demo --names).</a:t>
            </a:r>
          </a:p>
          <a:p/>
          <a:p>
            <a:r>
              <a:t>Talk track: production runs Java 21 and every build and risk activity is scriptable. Exit codes are a contract: 0 ok, 1 problems found, 2 usage. The fourteen groups of the 2.6 edition are twenty-two now.</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commands, files and logs cited on each slide (counts from git ls-tree of release-2.9.4 on 27 October 2026; the error codes, the test counts and the two 2.9.5 evidence slides from develop on 28 October 2026).</a:t>
            </a:r>
          </a:p>
          <a:p/>
          <a:p>
            <a:r>
              <a:t>Talk track: claims are cheap; these are counts, measurements and the places where Drishti's own numbers changed when a stored figure became a computed one.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docs/guides/API_GUIDE.md 'Error code table' on develop (243 distinct DRS codes: 13 in 1xxx, 11 in 2xxx and 3xxx, 18 in 4xxx, 48 in 5xxx, 11 in 6xxx, 16 in 7xxx, 6 in 8xxx, 120 in 9xxx); the drishti-common ErrorCode enum holds the same 243, counted 28 October 2026 (2.9.5 adds DRS-5211 to 5214 for the hierarchies); RACHANA_REFERENCE.md 'Problem codes' (47 codes). The 2.6 edition counted 187 and 42.</a:t>
            </a:r>
          </a:p>
          <a:p/>
          <a:p>
            <a:r>
              <a:t>Talk track: every error is RFC 7807 problem+json with a stable DRS code, and every code has a row that says what it means and what to do. The new families since 2.6 are the risk engines' refusals (DRS-5201 to 5210 for VaR inputs, 5440 to 5446 for exposure) and BI runs. A refusal is never silent: a bad vector is named, never padded with zeros.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git grep on develop at bfc517a96 (2026-10-28, release 2.9.5 before its drill): 3,266 @Test and 46 @ParameterizedTest methods in Java (3,312; a run expands the parameterised cases), 2,220 test functions under drishti-console/tests (640 in *_browser.py), 621 under tools/. No full ./mvnw clean verify of develop was in hand when this edition was built (the main repository is cleaned after each build); the last full run is 2.9.4's of 2026-10-27: 4,761 tests run, 0 failures, 0 errors, 15 skipped, BUILD SUCCESS in 14:24 min. The 2.9.5 tests named on the evidence slides passed in their latest runs (surefire reports of 2026-10-28); guard tests named in CHANGELOG 2.8.0 (test_branding_guard.py, BrandingLiteralTest), 2.9.4 (test_generators_write_jsonl.py, test_exports_offer_jsonl.py) and 2.7.0 (the README standard); tools/pvgen/check.py (recomputes the bank's and desks' VaR and ES from the files and compares with the server, 2.9.4); VAR_GUIDE (intraday equal to one run, VarIntradayTest), DEMO_DATA (the Delta and Iceberg equality test).</a:t>
            </a:r>
          </a:p>
          <a:p/>
          <a:p>
            <a:r>
              <a:t>Talk track: the 2.6 edition counted 4,435 test methods across the three suites; there are now 6,153 (3,312 + 2,220 + 621), and the 2.9.4 Java run alone executed 4,761 tests. The console's browser tests run in Chromium; embedded views in Chromium, Firefox and WebKit.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docs/admin/PERFORMANCE.md (24-core workstation, 2026-09-30 and 10-01: warm view p99 3.0 ms, live p99 11.2 ms; a million trades a day: type-ahead 29 ms, a cached trade 48 ms, search 134 ms, every desk's P&amp;L 327 ms; cold 137–157 ms); RELEASE_NOTES 2.6.5 (history: 30 days of one trade among 10,000 on Delta in 13 ms cold, under 1 ms warm, 0.3 ms from the cache); SCALE_BENCHMARK.md (extrapolations labelled as such).</a:t>
            </a:r>
          </a:p>
          <a:p/>
          <a:p>
            <a:r>
              <a:t>Talk track: all measured on one workstation. History queries were added in 2.6.5 and sit inside the same budget as a warm view.</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docs/qa/2026-10-01/README.md; docs/qa/2026-10-03/README.md; docs/qa/2026-10-05/DATA_SAFETY.md and BEHAVIOUR.md; docs/qa/2026-10-20/QA_PLAN.md (a six-hour, time-boxed run of 2.6.5), QA1/QA2 findings, rounds 2 to 4, SOAK to SOAK4 reports; RELEASE_NOTES 2.6.7 ('2.6.6, the QA release: a six-hour adversarial QA, four rounds and four soaks fixed about 100 findings, among them five P1s: masked values leaking across the history cache through a peer, a signal storm stalling the server, stale pages across console workers, a moved Iceberg table reading as healthy (a Java 25 difference), a rejoining node answering not found'); docs/qa/2026-10-21/BI_RUNS_INTEGRATION.md.</a:t>
            </a:r>
          </a:p>
          <a:p/>
          <a:p>
            <a:r>
              <a:t>Talk track: each round set out to break specific promises. The first soak drove 1,491,085 requests at 207 a second through a three-server cluster with kills and checked 118,166 answers against a reference server: no wrong rows, values or leaked masks; it failed on history answers marked partial, which were fixed and passed in soak 4 (0 wrong of 146,498). The one open item is a memory rise on the busiest soak node (SOAK4-01).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tools/drill.sh; the drill log of 2.9.2 (2026-10-27 01:20, 'drill: stages (full mode, 4 console workers): licence headers 0s, Java 21 verify 815s, Java 25 | console | tool tests 2082s, total 2897s', drilled 49f3d06b6); git tag --merged release-2.9.4 (42 tags, v1.0.0 to v2.9.3); git rev-list --count release-2.9.4 (2,272 commits, 27 October 2026); pom.xml enforcer (bytecode 21).</a:t>
            </a:r>
          </a:p>
          <a:p/>
          <a:p>
            <a:r>
              <a:t>Talk track: one command verifies and only then pushes. Production runs Java 21; the same commit is also verified on Java 25. A failed test stops the push: the first drill of 2.9.3 failed on one browser test under load and was fixed and drilled again before main moved (the 'Drill fix' commits on 27 October). The 2.6 edition counted 32 releases and 1,421 commits.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lines counted from git archive of release-2.9.4 on 27 October 2026 (Java under src/main and src/test, Python, Markdown, YAML, JavaScript, CSS and HTML; vendored and minified assets and external_lib left out); docs/ Markdown outside qa/ and archive/: 238 files; docs/architecture/adr: 22; docs/tutorials: 28 numbered; pom.xml (20 drishti-* modules); CHANGELOG 2.9.4 (351 pictures under docs/ retaken with tools/docs/screenshots.py); RELEASE_NOTES 2.9.0 (two documents per measure).</a:t>
            </a:r>
          </a:p>
          <a:p/>
          <a:p>
            <a:r>
              <a:t>Talk track: the 2.6 edition counted 201,646 lines of main Java and 162 documents; main Java is now about 292,000 lines and the documents 238. The Java is split into small modules that depend one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'The computed-measures roadmap: 2.8.0 to 2.12.0 (product owner, 2026-10-25)' and 'Known gaps'; VAR_GUIDE.md section 28 (sharding across Drishti*net, planned).</a:t>
            </a:r>
          </a:p>
          <a:p/>
          <a:p>
            <a:r>
              <a:t>Talk track: what is left, in the order the documents give it, and with the labels they use.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on release-2.9.4: the computed-measures roadmap (scope narrowed by the product owner on 2026-10-25: 'Just fundamentals and VaR is good for now'; 2.9.0 exposure brought forward; 2.10.0 counterparty risk; 2.11.0 balance sheet and regulatory: concentration and large exposures, LCR, NSFR, IRRBB, IFRS 9 / CECL; 2.12.0 AI and generated UI 'parked until 2.11.0 is done'); 'Known gaps' (a million trades a day on a real server); VAR_GUIDE.md section 28 ('Sharding across Drishti*net (planned)'); RELEASE_NOTES 2.6.0 (designs: AWS_DEPLOYMENT.md, SUPER_SCALE.md); RELEASE_NOTES 2.9.3 (TESTDATA_FROM_SEEDS_PLAN.md, a plan for review); CHANGELOG.md 2.9.5 (the hierarchies, Iceberg, official results to S3, connector upgrades: built) and the product owner's 2.9.6 scope (10-day and stressed VaR, sharding, editions, the 2.3M benchmark, Delta in-place schema evolution, Delta↔Iceberg conversion, the Glue and S3 Tables runs). Drishti on AWS is no longer only a design: the deploy/aws scripts are built for Delta and Iceberg; what remains is the live Glue and S3 Tables runs.</a:t>
            </a:r>
          </a:p>
          <a:p/>
          <a:p>
            <a:r>
              <a:t>The plan still numbers the trading and market-risk measures 2.9.0; exposure was brought forward into 2.9.0 instead, and the rest is parked.</a:t>
            </a:r>
          </a:p>
          <a:p/>
          <a:p>
            <a:r>
              <a:t>Talk track: the first row is everything since the last edition, all built. The only designs on the VaR side are cluster scale-out and sharding across Drishti servers, planned with 2.9.6. The parked measures keep their contracts as designs (FRTB, SIMM, SA-CCR, CVA, stress, P&amp;L explain in docs/contracts). No dates are given in the documents for the parked items.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docs/guides/GETTING_STARTED.md on release-2.9.4 ('From a clean clone the whole install takes about 15 minutes'; the demo lakes measured for sixty days: 943 s, about 2.2 GB on disk; ./mvnw -q package -DskipTests -pl drishti-server -am; uv venv --python 3.13; java -Djava.io.tmpdir=data/tmp/server -Xmx4g -jar …); IDE_GUIDE.md; CLI_GUIDE.md; USER_GUIDE.md; docs/tutorials (28).</a:t>
            </a:r>
          </a:p>
          <a:p/>
          <a:p>
            <a:r>
              <a:t>Talk track: GETTING_STARTED is the quarter-hour path; tutorial 1 is the first fifteen minutes inside the product; tutorials 25 and 26 walk VaR and exposure from the bank to a trade.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(the tagline); RELEASE_NOTES.md (release 2.9.4).</a:t>
            </a:r>
          </a:p>
          <a:p/>
          <a:p>
            <a:r>
              <a:t>Talk track: questions.</a:t>
            </a:r>
          </a:p>
          <a:p/>
          <a:p>
            <a:r>
              <a:t>Where to read more: README.md; docs/guides/GETTING_STARTED.md; RELEASE_NOTES.md; the VaR engine deck (docs/publications/Drishti-VaR-Engine.pptx) for the VaR engine in depth; VAR_GUIDE.md and EXPOSURE_GUIDE.md; docs/knowledge for the ideas behind the data.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CHANGELOG.md 2.5.0 (N1 to N7: three servers in one JVM converge 52 ms after the third starts; 13,542 signed calls through a key rotation, none refused); RELEASE_NOTES 2.6.7 (heartbeats on a port of their own, gossip-port, so a busy server is never taken for dead; HTTP/2 between servers, one connection per peer, p99 117 ms against 370 ms on HTTP/1.1, falling back to HTTP/1.1 for an older peer); docs/qa/2026-10-20/SOAK4_REPORT.md (soak 4 of 2.6.6: 0 wrong answers out of 146,498 checked, no 404 DRS-1001 at any time, including the 30 s after each rejoin; its memory check failed on one node, SOAK4-01, still open in 2.6.7's notes); docs/admin/NET.md; DRISHTI_NET.md §19.</a:t>
            </a:r>
          </a:p>
          <a:p/>
          <a:p>
            <a:r>
              <a:t>Talk track: off by default. Switched on, servers gossip over their own port with calls signed by a rotating cluster key. A request goes whole to a node that renders the kind, or the document is fetched from the node that holds it; a search is scattered and merged; the console fails over with no new sign-in. Since 2.6.0 a member advertises only a real address. Honest note: the soak's memory gate failed on the busiest node (+165 MB/h over 73 minutes, not the caches); it is listed as known open.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on release-2.9.4 (2.6.5 of 2026-10-20, 2.6.7 of 2026-10-21 carrying 2.6.6, 2.7.0 of 2026-10-24, 2.8.0, 2.9.0, 2.9.1 and 2.9.2 of 2026-10-26, 2.9.3 of 2026-10-27, each ending 'Tested: the drill passed licence headers, Java 21, Java 25, the tools and the console'); CHANGELOG.md section 2.9.4 (released 27 October 2026); the release headings of CHANGELOG.md (each heading is the one-line summary used here); CHANGELOG.md 2.9.5 on develop (built, its drill before main moves).</a:t>
            </a:r>
          </a:p>
          <a:p/>
          <a:p>
            <a:r>
              <a:t>Talk track: the previous edition of this deck was written for 2.6.0 on 20 October. Read the timeline left to right: first the terminal grew (history, runs, a UI kit and a designer), then the data grew (public-data packs with contracts), and from 2.8.0 the risk measures became computations instead of stored numbers. 2.9.4 finishes VaR's input side: any currency, any input contract, intraday; 2.9.5 adds trees built from the trades' columns and Iceberg as a full alternative to Delta. The 2.8.0 scope was narrowed by the product owner to fundamentals and VaR, with exposure brought forward into 2.9.0.</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RELEASE_NOTES.md 2.6.5 to 2.9.3 and CHANGELOG.md 2.9.4 on release-2.9.4; CHANGELOG.md 2.9.5 on develop.</a:t>
            </a:r>
          </a:p>
          <a:p/>
          <a:p>
            <a:r>
              <a:t>Talk track: nineteen slides, in roughly the order the releases shipped them: the terminal, the data, then the risk measures, then the 2.9.4 data standard and configuration. Everything in this chapter is built; the 2.9.5 work (hierarchies by columns, Iceberg equal to Delta, official results to S3, connector upgrades) is shown on the VaR slides here and proven on two evidence slides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2.6.5 ('Fast: 30 days of one trade among 10,000 on Delta in 13 ms cold, under 1 ms warm, 0.3 ms from the cache. Fast paths for Delta, Redis, PostgreSQL, DuckDB, MongoDB, Aerospike, Cassandra and Iceberg; every other connector works through the default'); docs/architecture/HISTORY_QUERIES.md; docs/tutorials/21 and its picture docs/tutorials/img/t21/02-trade-history.jpg (retaken for 2.9.4); USER_GUIDE 'History: an entity over time'.</a:t>
            </a:r>
          </a:p>
          <a:p/>
          <a:p>
            <a:r>
              <a:t>Talk track: the ranges are 30 (business days with data), 30D, 2W, 3M, 1Y, YTD, MTD, QTD and FROM … TO …, with DIFF for only what changed; plain words make the same command. Market data gets a chart with last, change, high, low, range and average. After the release the QA found two cluster issues (QA1-01, QA1-02): the history cache now follows the peers' data versions, and a peer that is down is named (DRS-5052), never answered as 'no data'.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2.6.7 (BI runs: planned before it runs from metadata only, 'tested to read no data'; cheap, heavy, very heavy, impossible; the Runs tab; fewer duplicate runs; rollup suggestions; masks hold; across the cluster a heavy run executes on the node that owns the model and a dead owner's runs are adopted); docs/admin/PERFORMANCE.md 'BI runs: sized before anything is read (2.6.7)' ('RunPlannerTest counts connector reads: 0'; DRS-9029, drishti.bi.exec.max-estimated-rows; the BACKGROUND admission class); docs/architecture/BI_RUNS.md, BI_RUNS_GUIDE.md; TABLE_CHARTS.md; picture docs/guides/img/table-chart/donut-terminal.png; docs/qa/2026-10-21/BI_RUNS_INTEGRATION.md.</a:t>
            </a:r>
          </a:p>
          <a:p/>
          <a:p>
            <a:r>
              <a:t>Talk track: before 2.6.7 a heavy BI question simply ran and held a slot. Now the planner sizes it from metadata, so the user learns in milliseconds whether it is an answer, a run, a confirmation or a refusal. Known open at the time: Analyse does not use runs yet; Parquet/Arrow results for runs.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2.6.0 ('drishti-iceberg: Drishti's own Apache Iceberg engine with no Hadoop, so Iceberg runs on Windows; it is the default engine (engine: library brings back the old one), and faster: a connector starts in 637 ms (1.8 s before), a trade on a past day reads in 94 ms (353 ms). iceberg-external reads Iceberg tables Drishti did not write (Spark, Flink, Trino, Snowflake, Glue)'); RELEASE_NOTES 2.6.7 ('Delta and Iceberg side by side: build_demo_lakes.py --store endur=delta --store calypso=iceberg (or all=iceberg); the right connector is switched per system; the same pages, histories, searches and BI answers either way (equality test)'); docs/connectors/DEMO_DATA.md 'Mixed Delta and Iceberg storage'; docs/architecture/DRISHTI_ICEBERG.md. The 2.8× and 3.8× are 1.8 s ÷ 637 ms and 353 ms ÷ 94 ms.</a:t>
            </a:r>
          </a:p>
          <a:p/>
          <a:p>
            <a:r>
              <a:t>Talk track: the split shown (ENDUR on Delta, CALYPSO and MUREX on Iceberg) is the mixed layout the DEMO_DATA guide uses; all=iceberg puts every system on Iceberg. A 2.6.6 QA P1 was a moved Iceberg table reading as healthy on Java 25; it was fixed.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2.7.0 (Sutra Next: the Drishti UI kit, config/ui-kit/, reusable fragments row-picker@1, field-list@1, cashflow-ladder@1 …, pack fragments trading/trade-table@1, theme tokens and brand, 'every fragment and every Sutra carries a doc: docstring. Every pack screen now uses fragments, each proven to draw the same as before'; events and children; refresh and freshness; layout; forms, drafts only until 2.8.0's write-back; one server per screen on a cluster); docs/architecture/SUTRA_NEXT.md; docs/guides/SUTRA_DEVELOPER_GUIDE.md and SUTRA_FORMS_GUIDE.md; config/ui-kit/fragments on release-2.9.4 (17 *.fragment.yaml files).</a:t>
            </a:r>
          </a:p>
          <a:p/>
          <a:p>
            <a:r>
              <a:t>Talk track: 2.7.0 turned the Sutra from a description of a static page into a description of a page that responds: a click opens children from another pack, panels refresh on their own clock and say how fresh they are, the layout is a grid of named areas, and forms are first-class. The docstrings matter twice: the designer and help read them, and the parked GenUI design composes screens from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2.7.0 ('The Sutra designer (ui.designer, off by default; SCREEN_DESIGNER.md section 31): four modes over one Sutra — Customize the live page, Describe a screen in one line, Outline, and Grid with formulas (B2 = field-list@1(...; source: {... id: @A2.open.ref}), two levels of click-opened cells); my version of this page per person. Tutorial 22 builds a screen with it'); docs/guides/SCREEN_DESIGNER.md section 31; pictures docs/guides/img/designer/customize.jpg, describe.jpg, outline.jpg, grid-mode.jpg (retaken for 2.9.4).</a:t>
            </a:r>
          </a:p>
          <a:p/>
          <a:p>
            <a:r>
              <a:t>Talk track: the Build workbench (slide in chapter 2) designs from data; this designer starts from the page. Describe takes a sentence such as 'trades of a book, click a trade for cash flows and counterparty limits, refresh every 30 s' and drafts the Sutra; Outline and Grid make it precise; Customize changes the live page for one person.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2.7.0 (us-equities: 479 US companies from SEC EDGAR, Nasdaq, GLEIF and Wikidata, USEQ, IDX, SIC, EDGAR, prices live and internal only; gleif: 9,512 legal entities in 540 ownership groups, LEI, LEIG, LEIC, linked to each other by LEI; public data, one script per pack, tools/publicdata/&lt;pack&gt;.py with .sh and Windows wrappers); 2.9.2 (funds: the 200 largest US mutual funds and ETFs from SEC N-PORT, N-CEN and the prospectus summaries, with GLEIF relationships; FUND, HELD, TRACK, FUNDS; 5.6 MB of gzipped data, offline; sectors are SIC divisions, GICS is proprietary); 2.9.3 (the companies pack grows from 503 to 586); 2.9.1 (External data: every source with URL, licence and use; IMF, Yahoo and Google News data marked internal only); docs/guides/PUBLIC_DATA.md, FUNDS_GUIDE.md; the connector data pattern in DEMO_DATA.md.</a:t>
            </a:r>
          </a:p>
          <a:p/>
          <a:p>
            <a:r>
              <a:t>Talk track: three packs that a bank's analysts recognise, built on the same pattern as the trading data: a committed gzipped JSON Lines snapshot, built into the demo lakes and served by a Delta connector, so a demo machine needs no network. A refresh script per pack widens or updates the data into the data folder; internal-only sources can never be committed. The CIK link between funds and companies is the SEC's company id carried in the holdings.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2.9.2 (funds and ETFs; FUND &lt;ticker&gt; a fact sheet, look-through holdings and comparison with its index); 2.9.3 ('the S&amp;P 500, Nasdaq-100 and Dow members are now what SPY, QQQ and DIA report holding to the SEC, not Wikidata's out-of-date lists (which lacked Exxon Mobil, BlackRock, NVIDIA in the Nasdaq-100 and about 100 more). The companies pack grows from 503 to 586. The vs index tab weighs the Dow by price and caps the Nasdaq-100 as their methods do: DIA's active share 1.8% (was 57.6%), QQQ's 11.2% (was 26.75%)'; '23 new WHAT terms (162 in all)'); docs/tutorials/28-funds-and-etfs.md ('for QQQ, Members held 98 of 99 listed members, Active share 11.21%'); picture docs/tutorials/img/t28/02-fund-fact-sheet.jpg.</a:t>
            </a:r>
          </a:p>
          <a:p/>
          <a:p>
            <a:r>
              <a:t>Talk track: a design-and-evidence point: the old figures were not a rounding issue; the membership source was wrong. Known open (2.9.3 notes): 55 companies have no usable share count, so index-fund active shares are not exactly 0. Index weights are computed from SEC filings, not licensed index data, and the page says so.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2.9.1 (groupings and analytics computed instead of stored: LEIG (no member cap), LEIC, SIC, ECG (summed or weighted over member economies, as the World Bank does), CORR (a new correlation engine, window and estimator picked on the page), the USEQ ratios, the yearly change of a financial fact, IDX totals, equity beta (a new engine, EQB) and the price-history analytics (internal-only, off as shipped); their stored versions are retired; old ids open the computed pages; 'the numbers change where the stored ones were set by hand (correlations ~0.4 stored, ~0.1 computed; equity betas near zero on the demo's independent price series)'; the fixed control recompute); IMPLEMENTATION_PLAN 'Groupings and analytics' (the engines: gleif-groupings, us-equities-groupings, macro-groupings, CorrelationEngine, BetaEngine; ECG growth GDP-weighted, inflation the median); docs/guides/GROUPINGS_ANALYTICS_GUIDE.md; tutorial 27 and its picture 08-corr-pearson.jpg.</a:t>
            </a:r>
          </a:p>
          <a:p/>
          <a:p>
            <a:r>
              <a:t>Talk track: the same principle as VaR and exposure, applied to reference data: a group's figures are computed from its members on demand, so they can be re-derived and never go stale.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2.8.0 (data contracts: the shared rules; a machine-readable contract for every command, config/packs/&lt;pack&gt;/contracts/&lt;kind&gt;.contract.yaml, drishti.py contract; generated pages and the command catalog; Admin → Commands: switch any command off for everyone; it then answers 'not active' everywhere (page, API, command, CLI, search, exports, BI, AI; 403 DRS-1016), stored in the Drishti database and gossiped to every server); 2.9.1 (FUNC; every pack's guide ends with its data contracts and its data retrieval, generated from the contracts); 2.9.3 (DATAMAP joins from the data contracts, checked against the data); docs/contracts/README.md section 3 'Four kinds of data' and its rule and guard test; docs/guides/COMMAND_CATALOG.md (generated: '73 fundamental, 8 engine input, 1 Drishti's own and 18 computed'); tools/drishti.py --help (contract: list, show, check, docs, bootstrap); 100 *.contract.yaml files on release-2.9.4.</a:t>
            </a:r>
          </a:p>
          <a:p/>
          <a:p>
            <a:r>
              <a:t>Talk track: the contracts were the 'fundamentals' half of the narrowed 2.8.0 scope. Each command now has one file that says what a row is, what every column means and where it comes from; the documentation, the catalog, FUNC and the data map are generated from those files, so they cannot drift. Admin → Commands is the first step to role-based access per command.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docs/guides/VAR_GUIDE.md section 2.2 (the bank on 2026-09-30: VaR 112,041,646, ES 160,143,809, 9,572 trades in 7,984 positions), 15.3 (HS-509: 509 scenario days, 2024-09-17 to 2026-09-29), 15.4 (88 nodes), 15.5 (28 portfolios), 26.2 and 27.3 (a node from its float64 aggregate under 1 ms, 0.48 ms measured); RELEASE_NOTES.md 2.8.0 (the stored var and var-node kinds retired, VAR-* ids open the explorer; every live trade valued; positions derived by Drishti from config rules; official end-of-day captures published to risk-results/var-official; vectors kept 7 years; DRS-5201..5204; memory tiering; VRES and VWIF; drishti.py var); picture docs/guides/img/var/01-explorer-desk.jpg; the VaR engine deck docs/publications/Drishti-VaR-Engine.pptx (2.9.5, 34 slides); VAR_GUIDE.md 15.14 and the 2.9.5 data (131 official nodes: 88 MGMT and LEGAL + 43 limit-letter nodes, LL).</a:t>
            </a:r>
          </a:p>
          <a:p/>
          <a:p>
            <a:r>
              <a:t>Talk track: this chapter summarises VaR and points to the VaR engine deck rather than repeating it. The method is historical simulation: every trade has a P&amp;L vector of 509 numbers; a scope's vector is the sum of its trades' vectors, so overlaps count once and longs and shorts net; VaR is minus the 6th worst, ES minus the mean of the 13 worst. The test data's numbers changed when VaR became computed: the 1,673-trade sample gave 9.9m; the old stored VAR-COMM of 446.9m was not a historical-simulation figure (see the reconciliation slide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(2.9.4, the VaR engine on the PV-VaR branch, worktree agent-a090d127ed73d193a; summarised from the VaR engine deck, slides 6 and 8): docs/guides/VAR_GUIDE.md section 15.9 (scenario-pv: scenario PVs per trade in the trade's currency), 15.12 (producing P&amp;L vectors and scenario PVs: JSON Lines, one row of the contract a line; tools/pvgen), 15.13 (inputs: any form, any grain; the optional per-system pin drishti.var.inputs; DRS-5208, 5209, 5210), 8.4 (intraday updates as built in 2.9.4: RUN_KIND INTRADAY, latest COMPUTED_AT per trade wins, a cancel removes the trade, a full run of the date drops the intraday layer; Kafka: drishti.var.intraday.kafka.window 5m, early flush at max-trades 500, an administrator's Apply now; each window written to the lake as one intraday batch, then applied; replay writes nothing twice); VarIntradayTest and VarPvStreamTest (in-process Kafka); the incremental-equals-one-run guarantee measured on 200 batches of 3 trades on one date. The P&amp;L-vector input by trade has existed since 2.8.0.</a:t>
            </a:r>
          </a:p>
          <a:p/>
          <a:p>
            <a:r>
              <a:t>Status: all of this is built and ships in 2.9.4. At the time this deck was built, the PV-VaR work sat on its own local branch (pv-var), held for the product owner's check before it is merged into release-2.9.4.</a:t>
            </a:r>
          </a:p>
          <a:p/>
          <a:p>
            <a:r>
              <a:t>Talk track: one engine, every input. Whether a pricing system sends 509 scenario PVs in the trade's own currency or a P&amp;L vector already converted, by trade or by position, the engine converts at load and nothing downstream knows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(2.9.4, the PV-VaR branch; summarised from the VaR engine deck, slides 4 and 7): VAR_GUIDE.md section 15.10 (reporting currency: P&amp;L in the reporting currency from scenario PVs and scenario FX, crosses via USD; the bank's VaR and ES per currency on 2026-09-30: USD 112,041,646 / 160,143,809; EUR 111,837,045 / 137,631,546; CAD 189,801,404 / 230,680,413; JPY 20,883,226,318 / 23,578,418,999; GBP 104,139,554 / 125,595,958), section 15.11 (currencies built ahead: drishti.var.currencies USD, EUR, CAD, JPY, GBP; per-trade-currency totals; the picker), section 12 (settings: drishti.var.scenario-window all | N; DRISHTI_VAR_CONFIDENCE and DRISHTI_VAR_ES_CONFIDENCE; backtesting stays at 99%); the EUR comparison 111.84m with scenario FX against 95.4m for USD VaR converted at today's rate (the bank holds a net 3.65bn USD of value); picture docs/guides/img/var/15-reporting-currency.jpg on the PV-VaR branch.</a:t>
            </a:r>
          </a:p>
          <a:p/>
          <a:p>
            <a:r>
              <a:t>On the demo: the 1,339 Endur trades come as scenario PVs (1,089 USD, 246 EUR, 4 CAD); the bank's VaR moved from 112,035,906 to 112,041,646 when the PV form replaced the P&amp;L form, the FX move of the 250 EUR and CAD trades; a USD trade reproduces its vector exactly.</a:t>
            </a:r>
          </a:p>
          <a:p/>
          <a:p>
            <a:r>
              <a:t>Talk track: three settings changed meaning from constants to configuration in 2.9.4: the window, the confidence and the currencies. Each answer carries its labels, so a 95% VaR or a 250-day window can never be mistaken for the official figure.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2.9.0 (exposure computed like VaR: EE, ENE, effective EE, PFE 95/99, EPE, EEPE, peak PFE and EAD for any scope: netting set, counterparty, group, legal entity, desk, book, a single trade, the bank, joined with + - &amp;; every trade's MtM on every path netted per netting set, each CSA's collateral applied path by path (thresholds, MTA, IA, rounding, margin period of risk); the explorer; pre-deal what-if exact by the Python engine or a conservative add-on marked proxy; official results to risk-results/exposure-official and -cpty; tiered retention; the demo lake generates paths for 22 of the 24 counterparties (73 netting sets, 9,000 trades); 'the stored peaks summed to 92.6bn, computed 7.6bn on the same sets (the generator scaled them with gross notional and ignored the CSAs); the 76-set reconciliation is in the guide'); RELEASE_NOTES 2.9.2 (NS-ALDERSHOT-LDN peak PFE 85.1m on the data's date); docs/guides/EXPOSURE_GUIDE.md section 27.4 (ExposureTierBenchmark: 100,000 trades, 9,901 sets, P = 200, G = 24: scope BANK 61 ms, scope NSET 0.06 ms) and 27.3 (retention tiers); picture docs/guides/img/exp/01-bank-board.jpg; tutorial 26.</a:t>
            </a:r>
          </a:p>
          <a:p/>
          <a:p>
            <a:r>
              <a:t>Talk track: exposure was brought forward into 2.9.0 by the product owner and built exactly as VaR was: inputs from the upstream simulation, the engine in Drishti, any scope on demand. At a large bank's size the guide extrapolates the load to about 7 minutes on one node at P = 2,000, G = 50 (about 1 minute a node on 8) and says the bank scope becomes a batch job.</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2.8.0 (official end-of-day captures of every node published to risk-results/var-official for other systems; write-back: forms save through an edit log in the Drishti database, with four-eyes approval, a cluster mode, JDBC writes through an outbox, and reactive recomputes and live updates after each change; WRITE_BACK.md, EDITS.md, tutorial 24, off by default); 2.9.0 (exposure-official and -cpty; VaR and exposure in BI: read-only kinds VOFF and XOFC, a Market risk VaR model and report); CHANGELOG 2.8.0 write-back entry (Submit…, the review and confirm sheet, POST /api/v1/changes, drishti_edit_request, four eyes, drishti_edit_log lanes, P lanes (64) with one virtual-thread worker each, ownership by a conditional update with a lease, every append fenced by the epoch, the three-way difference in words, never overwriting); CHANGELOG 2.9.4 (official results also as JSON Lines beside the tables); CHANGELOG 2.9.5 (official results to Delta or Iceberg, under a folder or s3://, each Delta commit on S3 an exclusive create; BI's readers follow the format; OfficialSinkTest, OfficialS3Test, OfficialReadersTest); IMPLEMENTATION_PLAN 2.8.0 'Published official results' ('engines never read it (guard test)'); VAR_GUIDE section 19.</a:t>
            </a:r>
          </a:p>
          <a:p/>
          <a:p>
            <a:r>
              <a:t>Talk track: two kinds of record. The official number is what was reported: captured once from the morning run, never changed by intraday updates, restated only as a new version. An edit is what a person changed: approved by someone else, logged in order, applied with the person's rights re-checked at apply time.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2.9.2 (Knowledge: market risk, counterparty credit risk, trades and products, entities and ownership, market data, data and contracts, economies; a 139-term glossary; WHAT &lt;term&gt;; 'What does this mean?' beside the VaR and exposure explorers and the risk pages; Construct your basket, VAR_GUIDE section 3.5: pick portfolios, baskets, desks, books, legal entities, counterparties, positions, trades or a rule as you type … save it as a basket; Alt+B; the pre-deal what-if: a hypothetical trade (a copy of a booked one, scaled; −1 its unwind) in the basket shows VaR before and after; the exposure explorer has it on the counterparty as well as the netting set; exact methods run on the compute workers; trade pages' Risk links; 'ids that match nothing and trades that are not live are said in words instead of a VaR of 0'); RELEASE_NOTES 2.9.3 (Knowledge: Companies, funds and ETFs; 23 new WHAT terms, 162 in all); docs/knowledge on release-2.9.4 (eight pages and glossary.yaml); picture docs/guides/img/var/06-basket.jpg.</a:t>
            </a:r>
          </a:p>
          <a:p/>
          <a:p>
            <a:r>
              <a:t>Talk track: the Knowledge pages were written against the demo data, and writing them found real data-quality bugs (economy debt that was a 2031 projection, a cancelled trade driving half of one netting set's exposure); those are on the reconciliation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2.9.3 (DATAMAP: Views → Data map, or DATAMAP [domain|kind]; Map or Cards; 'Nothing is hand-drawn: kinds come from the enabled packs, joins from the data contracts, each checked against the data (how many ids match), counts from the lake on the business date; a new pack appears with no setup. It found 11 joins that do not hold (e.g. a jurisdiction code where an id is expected), listed in the CHANGELOG'; the fact of the day on Home: one surprising, true sentence, a small picture, 'Why does that happen?', the command that shows it and 'Another fact'; each pack declares its facts (PACK_DEVELOPER_GUIDE 'Facts for Home'); computed as you, on your business date, and only those that hold today are shown; the seven listed here); USER_GUIDE 'The data map' and 'Home: the fact of the day'; picture docs/guides/img/datamap/01-map-trade.jpg. The dark card is a drawing of the fact panel's shape, not a capture, and quotes no figure.</a:t>
            </a:r>
          </a:p>
          <a:p/>
          <a:p>
            <a:r>
              <a:t>Talk track: DATAMAP is evidence about the data itself: because joins are checked against the rows, the map tells an analyst which links are real on today's date. The 11 failing joins are open items in 2.9.3's notes, not hidden.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2.9.4 entries: 'JSON Lines is the data standard: the generators' (every generator under tools/ writes JSONL, generating and loading separate steps; the lake is byte-for-byte the same data as before, every table's rows and Delta versions compared); 'CSV input deprecated; drishti.py convert'; 'JSON Lines on every server export'; 'JSON Lines in every console download and CLI export'; 'Official results as JSON Lines too' (risk-results/jsonl/&lt;table&gt;/&lt;date&gt;/…, drishti.var.official.jsonl and drishti.ccr.exposure.official.jsonl on by default); 'Sutra test cases are one cases.jsonl per Sutra' (all 197 committed test folders converted); 'JSON Lines in three smaller places' (samples/catalog.jsonl, staged lake rows, seals.jsonl); 'The guard of the data standard' (the two drill tests); docs/guides/DATA_FORMATS.md (new); IMPLEMENTATION_PLAN '2.9.4 also: JSON Lines is the data standard (product owner, 2026-10-27; built)'.</a:t>
            </a:r>
          </a:p>
          <a:p/>
          <a:p>
            <a:r>
              <a:t>Talk track: the decision of the product owner on 27 October: generators write JSONL only; readers keep what they accept but CSV is deprecated, to be removed in a later release; every export gains a JSONL option; manifests, state files, GeoJSON and storage internals stay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2.8.0 'Branding from configuration only (product owner, 2026-10-25)' (ui.product, drishti.branding.product, Branding.sqlName(), Branding.netName(); &lt;product&gt; SQL, &lt;product&gt; Elements, &lt;product&gt;*net; ui.owner and ui.owner_email; guard tests tests/test_branding_guard.py and BrandingLiteralTest; licence headers, X-Drishti- headers, DRISHTI_ variables and code identifiers unchanged); RELEASE_NOTES 2.9.0 (the landing headline 'See what your data hasn't told you yet.' with the tagline, both from configuration); CHANGELOG 2.9.4 'Your bank's names in the demo' (config/demo/names.yaml; LE-NY, LE-LDN, LE-FRA, LE-TKY; --names FILE, --dry-run; rename as they load; LEIs and BICs stay; tools/demonames.py; tools/lake/test_names.py in the drill; DEMO_DATA 'Your bank's names'); the PV-VaR branch: drishti.var.root-name (DRISHTI_VAR_ROOT_NAME) and root-names, VarRootNameTest; VAR_GUIDE section 12 (settings).</a:t>
            </a:r>
          </a:p>
          <a:p/>
          <a:p>
            <a:r>
              <a:t>Talk track: two product-owner rules, both enforced by tests: the product's name is configuration, and a bank evaluating Drishti can see its own bank and legal-entity names across every kind of the demo without touching the committed data.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2.9.4 'Documentation pictures retaken on the current UI' (351 pictures under docs/ that predated the 2.9 UI, guide by guide and tutorials 1-6, 8, 9, 11-17 and 19, with tools/docs/screenshots.py) and 'Fixes found by the screenshot run (2026-10-27)' (the five fixes in the table, plus a deal's own events staying listed whatever the Legs filter); docs/tutorials (28 numbered tutorials on release-2.9.4); RELEASE_NOTES 2.9.0 ('VaR and exposure have exactly two documents each, a complete guide and a tutorial, and two Help pages'); RELEASE_NOTES 2.7.0 (a rot check over every document: links, paths, commands, settings, error codes, command words, kinds); 238 Markdown files under docs/ outside qa/ and archive/.</a:t>
            </a:r>
          </a:p>
          <a:p/>
          <a:p>
            <a:r>
              <a:t>Talk track: retaking every picture over the demo lakes walks the UI the way the tutorials do, so it is also a test: five defects were found and fixed before 2.9.4 shipped. Pictures that needed git-ignored runtimes (Calc, the Python console, the React sample) were retaken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docs/admin/SCALE_BENCHMARK.md section 5.1 'Across stores, measured' (median ms of the run labelled r1 at the largest size each store ran, 50,000 trades a day: type-ahead TRD CLY-400, open a trade (view) again, TRD book=BOOK-RATES-3; store size and load time). The document's banner: 'Measured on Drishti 1.12.0 (2026-10-01); the numbers are historical and were not re-measured for 2.3.0.' Section 6: Delta Lake, PostgreSQL, Aerospike and Redis were measured at a million trades a day; section 5.2 extrapolates the others and labels them as extrapolations; section 5.3 checks the straight line against the real million (store sizes within about 25%; searches within a factor of two; impact does not extrapolate).</a:t>
            </a:r>
          </a:p>
          <a:p/>
          <a:p>
            <a:r>
              <a:t>Talk track: the same harness loads the same book into each store and asks the same questions; Drishti's own caches and column layers make the stores look alike for interactive reads. Where they differ is size on disk and load time, which is an operations decision. This slide is new in this edition; the benchmark itself predates 2.6.</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27 (27.2 the heap tier measured: VarScaleBenchmark, the whole bank of 1 million trades summed in 58 ms on 24 threads; 27.3 the tiered store: VarTierBenchmark at 100,000 trades × 5 dates: a node 0.48 ms, the bank from float32 rows 3.4 ms, a basket of 50,000 scattered positions 2.6 ms plus about 45 ms of ids, first load 0.8–1.2 s; section 26.7, loadMs 572 for the test date), as tabled in the VaR engine deck slide 11; EXPOSURE_GUIDE.md section 27.4 (ExposureTierBenchmark, opt-in, at 100,000 trades in 9,901 sets, P = 200, G = 24: load 785 ms rows plus 1,250 ms collateral, E, N and the hot file; reopen 157 ms; scope BANK 61 ms; CPTY: of 20 sets 0.22 ms; NSET: 0.06 ms; pre-deal exact Java 0.11 ms; proxy 0.007 ms with the scope's answer cached; 'a workstation run is limited to 100,000 trades in memory'; times are the best of five warm runs on one workstation, 24 hardware threads, 61 GB, JDK 25, NVMe).</a:t>
            </a:r>
          </a:p>
          <a:p/>
          <a:p>
            <a:r>
              <a:t>Talk track: base VaR is additions and sorts; exposure is additions over paths and dates. Both keep a memory-mapped hot file per date so the heap stays small. The guides extrapolate to a large bank and label the extrapolations; the sizing at 1.3 million positions and 100,000 portfolios is in the VaR engine deck (slide 12). A million-trade run once took the workstation down, so the full runs are planned on a server.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2.8.0 ('with every live trade the bank's VaR on the test data is about 112m (the 1,673-trade sample gave 9.9m); the old stored VAR-COMM (446.9m) was not a historical-simulation figure'; VAR_GUIDE section 21.2 'Reconciliation: stored VAR-COMM 446.9 m against the engine's 1.97 m': the COMM desk's stored VAR_99 446,852,430 against the engine's 17,523,118 with every live trade (1.97m on the first 60-trades-a-book sample); the stored figure was 2.33 × sqrt(Σ(|MTM| × 0.004 + Σ|sensitivities| × 0.6)²), absolute values with no netting and no correlation, on a different date and trade set: 'the two numbers measure different things and no factor relates them'); 2.9.0 ('the stored peaks summed to 92.6bn, computed 7.6bn on the same sets (the generator scaled them with gross notional and ignored the CSAs); the 76-set reconciliation is in the guide', EXPOSURE_GUIDE section 22.2); 2.9.1 ('correlations ~0.4 stored, ~0.1 computed; equity betas near zero on the demo's independent price series'; GROUPINGS_ANALYTICS_GUIDE Part II); 2.9.2 (data quality: 'economy debt is the latest actual year, not a 2031 projection; netting sets and exposure runs hold live trades only (a cancelled trade had driven half of one set's exposure)'); 2.9.3 (DIA's active share 1.8% (was 57.6%), QQQ's 11.2% (was 26.75%); 'the legal-entity tree's root now carries the bank's 150m limit, as the management tree does (it read 210m); every VaR is unchanged'; DATAMAP 'found 11 joins that do not hold').</a:t>
            </a:r>
          </a:p>
          <a:p/>
          <a:p>
            <a:r>
              <a:t>Talk track: this is the most important evidence slide of the new chapter. A product that computes its figures can explain them; every time Drishti replaced a stored number, the difference was investigated and written into the guide.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2.9.5 'Iceberg' (VarFormatEqualityTest, ExposureFormatEqualityTest, LakeAppendsTest, OfficialSinkTest, OfficialS3Test, OfficialReadersTest; the real run on the demo data: 14 risk tables, 955,124 rows, into Iceberg in 579 s; a server on that lake answered VAR BANK, LL:LL-0003 and XPO BANK from Iceberg and published its official records); docs/connectors/ICEBERG_CONNECTOR.md sections 18 and 19; VAR_GUIDE.md 2.2 (VAR BANK 112,041,646 on 2026-09-30). The latest runs of these test classes (surefire reports of 2026-10-28 in the 2.9.5 worktrees): VarFormatEqualityTest 1 test, ExposureFormatEqualityTest 1, LakeAppendsTest 1, OfficialSinkTest 5, OfficialS3Test 1, OfficialReadersTest 3, all 0 failures. The CHANGELOG's own server run quotes VAR BANK USD 124,948,241 for the date it served; the 112,041,646 here is the guide's 2026-09-30 figure, equal on both formats.</a:t>
            </a:r>
          </a:p>
          <a:p/>
          <a:p>
            <a:r>
              <a:t>Talk track: the equality tests write the very same lines to a Delta lake and to an Iceberg lake, read both through one connector whose plugin is switched, and compare every figure to the cent in USD and EUR. That is why Iceberg is a full alternative: not a second implementation of VaR, the same engine over another storage plugin. What is left for 2.9.6 is running the Glue and S3 Tables catalogs on a real AWS account.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2.9.5 'Hierarchies' (HierarchyEquivalenceTest: MGMT configured as DIVISION &gt; DESK &gt; TT_BOOK and LEGAL as LEGAL_ENTITY &gt; DESK &gt; TT_BOOK equal the rows' trees: ids, parents, levels, members, aggregates to the bit, VaR, ES, components and worst scenarios to the cent, USD and EUR, limits; every letter the sum of its rows; HierarchyColumnMissingTest, HierarchyUpgradeWithoutLettersTest: a source without the level column skips that hierarchy alone with DRS-5211, product owner 2026-10-28) and 'Connector upgrades' (ConnectorUpgradeTest: a server on release 2.9.4's generated files, tools/connector_upgrade_fixture.py, with an edited risk-store and the edited 2.9.3 var-whatif: every unedited file equals the current template, the edits stay, var-result, var-whatif with ccy and exposure-result answer); VAR_GUIDE.md section 15.14; commit 19994d3e4 (ColumnHierarchyBenchmark, run by name: 10,000 trades, 100 books, 10 desks, 700 letters; the build 65-99 ms against 53-197 ms without; the VaR of every node, 1,412, about 30 ms; MEASURED on one workstation). Latest runs (surefire reports of 2026-10-28 in the 2.9.5 worktrees): HierarchyEquivalenceTest 3 tests, HierarchyUpgradeWithoutLettersTest 1, ConnectorUpgradeTest 3, all 0 failures.</a:t>
            </a:r>
          </a:p>
          <a:p/>
          <a:p>
            <a:r>
              <a:t>Talk track: the limit letters are the first tree built from the trades' own columns. To trust that path, MGMT and LEGAL were rebuilt the same way and compared with the trees from the rows: bit-equal aggregates, VaR to the cent. Two upgrade tests protect a bank's running system: data written before the letters keeps answering, and connector files a bank edited keep every edit while gaining what the new pack adds.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 Id="rId3" Type="http://schemas.openxmlformats.org/officeDocument/2006/relationships/chart" Target="../charts/char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chart" Target="../charts/chart6.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2.9.5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2.9.5: the product</a:t>
            </a:r>
            <a:endParaRPr lang="en-US" sz="1200" dirty="0"/>
          </a:p>
          <a:p>
            <a:pPr indent="0" marL="0">
              <a:spcAft>
                <a:spcPts val="600"/>
              </a:spcAft>
              <a:buNone/>
            </a:pPr>
            <a:r>
              <a:rPr lang="en-US" sz="1200" b="1" dirty="0">
                <a:solidFill>
                  <a:srgbClr val="A51C30"/>
                </a:solidFill>
              </a:rPr>
              <a:t>3  What 2.6.5 to 2.9.5 added</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Security, drawn as flows</a:t>
            </a:r>
            <a:endParaRPr lang="en-US" sz="1200" dirty="0"/>
          </a:p>
          <a:p>
            <a:pPr indent="0" marL="0">
              <a:spcAft>
                <a:spcPts val="600"/>
              </a:spcAft>
              <a:buNone/>
            </a:pPr>
            <a:r>
              <a:rPr lang="en-US" sz="1200" b="1" dirty="0">
                <a:solidFill>
                  <a:srgbClr val="A51C30"/>
                </a:solidFill>
              </a:rPr>
              <a:t>5  Evidence, by the numbers</a:t>
            </a:r>
            <a:endParaRPr lang="en-US" sz="1200" dirty="0"/>
          </a:p>
          <a:p>
            <a:pPr indent="0" marL="0">
              <a:spcAft>
                <a:spcPts val="600"/>
              </a:spcAft>
              <a:buNone/>
            </a:pPr>
            <a:r>
              <a:rPr lang="en-US" sz="1200" b="1" dirty="0">
                <a:solidFill>
                  <a:srgbClr val="A51C30"/>
                </a:solidFill>
              </a:rPr>
              <a:t>6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Copyright"/>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(a swap, a netting set, a fund, a company, an economy)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into that screen, with BI on the same data and masks, and risk computed on demand: VaR and exposure for any scope, from the bank to one trade.</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every risk figure a stored number nobody can re-derive. Drishti makes a screen a paragraph and a figure a computation.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2.9.5: 11 packs, 219 Sutras, 103 commands with data contracts, 19 source plugins; VaR by any hierarchy, on Delta or Iceberg, equal to the cent; exposure; 3,312 Java test methods; 35.7M trades served.</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Built through 2.9.5. Designed: cluster scale-out and VaR sharding (2.9.6). Parked by the product owner: counterparty, balance-sheet and regulatory measures, then AI and GenUI.</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11 shipped, e.g. trading, market-risk, funds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219 Sutras in the shipped packs; fragments from the UI kit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Lines, CSV (deprecated),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SEC EDGAR, GLEIF, N-PORT, NY Fed, ECB,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answers on DuckDB; VaR and exposure engines compute any scope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audit; a signed pack registry; commands switched off for everyone; peers by gossip on their own port, HTTP/2 between servers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22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doc: { summary: "Exchanges fixed for floating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 { kind: trade, priority: 10, where: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"$.SOURCE_SYSTEM == 'MUREX' &amp;&amp;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$.PRODUCT_TYPE == 'IRS_FIXFLOAT'"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Interest rate swap",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Maturity, bind: $.MATURITY_DATE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data-provenance@1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risk-links@1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eight headline figures and fragments: the pack's deal ticket and legs, the UI kit's provenance and risk links; 132 pack files reuse the deal ticket.</a:t>
            </a:r>
            <a:endParaRPr lang="en-US" sz="1500" dirty="0"/>
          </a:p>
          <a:p>
            <a:pPr indent="0" marL="0">
              <a:buNone/>
            </a:pPr>
            <a:r>
              <a:rPr lang="en-US" sz="1500" b="1" dirty="0">
                <a:solidFill>
                  <a:srgbClr val="A51C30"/>
                </a:solidFill>
              </a:rPr>
              <a:t>▪  Documented in itself</a:t>
            </a:r>
            <a:endParaRPr lang="en-US" sz="1500" dirty="0"/>
          </a:p>
          <a:p>
            <a:pPr indent="0" marL="0">
              <a:spcAft>
                <a:spcPts val="900"/>
              </a:spcAft>
              <a:buNone/>
            </a:pPr>
            <a:r>
              <a:rPr lang="en-US" sz="1300" dirty="0">
                <a:solidFill>
                  <a:srgbClr val="4A5058"/>
                </a:solidFill>
              </a:rPr>
              <a:t>Since 2.7.0 every Sutra and fragment carries a doc: block (summary, params, examples) that the designer, the help and AI read.</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Rachana-EL has no side effects; a bad edit keeps the last good version live; in production a second person approves.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2.9.4: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2.9.4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2.9.4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Packs: core, trading, market data and risk, counterparty risk, funds, US equities, GLEIF,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219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 built from the UI kit</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Commands, each with a machine-readable data contract</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history ranges, FUNC, DATAMAP, Knowledge and WHAT over production-shaped trades from ENDUR, CALYPSO and MUREX and public data from SEC, GLEIF and N-PORT; phones.</a:t>
            </a:r>
            <a:endParaRPr lang="en-US" sz="1500" dirty="0"/>
          </a:p>
          <a:p>
            <a:pPr indent="0" marL="0">
              <a:buNone/>
            </a:pPr>
            <a:r>
              <a:rPr lang="en-US" sz="1500" b="1" dirty="0">
                <a:solidFill>
                  <a:srgbClr val="A51C30"/>
                </a:solidFill>
              </a:rPr>
              <a:t>▪  Risk computed, never stored</a:t>
            </a:r>
            <a:endParaRPr lang="en-US" sz="1500" dirty="0"/>
          </a:p>
          <a:p>
            <a:pPr indent="0" marL="0">
              <a:spcAft>
                <a:spcPts val="700"/>
              </a:spcAft>
              <a:buNone/>
            </a:pPr>
            <a:r>
              <a:rPr lang="en-US" sz="1300" dirty="0">
                <a:solidFill>
                  <a:srgbClr val="4A5058"/>
                </a:solidFill>
              </a:rPr>
              <a:t>VaR and exposure for any scope, baskets and pre-deal what-ifs, official end-of-day records, in BI; VaR from scenario PVs in any reporting currency.</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four-mode Sutra designer and the UI kit; BI Studio with runs, statements and charts of any table; Python data prep; forms that write back under four eyes.</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JSON Lines in and out, Delta and Iceberg side by side, a CLI for every step,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3657600"/>
        </p:xfrm>
        <a:graphic>
          <a:graphicData uri="http://schemas.openxmlformats.org/drawingml/2006/table">
            <a:tbl>
              <a:tblPr/>
              <a:tblGrid>
                <a:gridCol w="2331720"/>
                <a:gridCol w="4206240"/>
                <a:gridCol w="4096512"/>
              </a:tblGrid>
              <a:tr h="457200">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57200">
                <a:tc>
                  <a:txBody>
                    <a:bodyPr/>
                    <a:lstStyle/>
                    <a:p>
                      <a:pPr indent="0" marL="0">
                        <a:buNone/>
                      </a:pPr>
                      <a:r>
                        <a:rPr lang="en-US" sz="1400" b="1" dirty="0">
                          <a:solidFill>
                            <a:srgbClr val="8A1626"/>
                          </a:solidFill>
                        </a:rPr>
                        <a:t>sutra · 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Lint, test, preview Sutras; make, sign, deploy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sutra test, pack make, deploy, rollback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data · lake ·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Ingest JSONL, build lakes, turn CSV into JSONL</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landed, lake demo --names,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server · connector · net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and commands on or off, connectors,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off, commands off, net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bi · design ·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Models, SQL, runs, statements; designs; a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bi sql --format jsonl, bi runs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history ·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An entity over days; every command's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history TRD 1000015 30, contract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var · exposure · compute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The risk engines as you see them; reactive kinds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var show … --ccy EUR, exposure profile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change · edits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Write-back changes, Admin → Edits,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change submit, edits status,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 GOSSIP AND HTTP/2 IN 2.6.7</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0 wrong</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of 146,498 answers checked in a 2-hour soak with kills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117 ms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p99 between servers on HTTP/2 (370 ms on HTTP/1.1)</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27 and 28 October 2026: measured, tested, reconciled,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243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Drishti*net, VaR, exposure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48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 runs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120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243</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47</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3,312 Java test methods,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3,312</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 methods (46 parameterised); the run expands them</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2,220</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 functions, 640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621</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generator and tool test functions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licence headers; no file over 1,500 lines; branding literals; JSONL from every generator and on every export; READMEs for every pack.</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Numbers checked against an oracle</a:t>
            </a:r>
            <a:endParaRPr lang="en-US" sz="1500" dirty="0"/>
          </a:p>
          <a:p>
            <a:pPr indent="0" marL="0">
              <a:spcAft>
                <a:spcPts val="700"/>
              </a:spcAft>
              <a:buNone/>
            </a:pPr>
            <a:r>
              <a:rPr lang="en-US" sz="1300" dirty="0">
                <a:solidFill>
                  <a:srgbClr val="4A5058"/>
                </a:solidFill>
              </a:rPr>
              <a:t>VaR and ES recomputed from the input files and compared with the server; intraday equals the same data loaded as one run, to the cent; Delta and Iceberg equal to the cent (2.9.5).</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
        <p:nvSpPr>
          <p:cNvPr id="26" name="Rectangle 2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Any failing test in any of the three suites stops the push — on Java 21 and on Java 25.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History, 30 days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 ms cold, &lt; 1 ms warm</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SIX ROUNDS AND FOUR SOAKS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fixed in 2.6.6's six-hour QA, five of them P1</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2523744"/>
        </p:xfrm>
        <a:graphic>
          <a:graphicData uri="http://schemas.openxmlformats.org/drawingml/2006/table">
            <a:tbl>
              <a:tblPr/>
              <a:tblGrid>
                <a:gridCol w="1463040"/>
                <a:gridCol w="4754880"/>
                <a:gridCol w="822960"/>
                <a:gridCol w="3593592"/>
              </a:tblGrid>
              <a:tr h="420624">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20624">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and behaviour (two rounds)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2026-10-20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2.6.5: two testers, four rounds, four soaks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 P1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P1 fixed; SOAK4-01 open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2026-10-21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BI runs: planner, sharing, adoption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Masks hold both ways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48 min</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A full drill of 2.9.2: Java 21 in 815 s, then Java 25, console and tools side by side in 2,082 s</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Tagged releases, 1.0 to 2.9.3, 30 Sep to 27 Oct 2026; 2.9.4 next</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2,272</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on release-2.9.4,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238 guides and references</a:t>
            </a:r>
            <a:endParaRPr lang="en-US" sz="1500" dirty="0"/>
          </a:p>
          <a:p>
            <a:pPr indent="0" marL="0">
              <a:spcAft>
                <a:spcPts val="1000"/>
              </a:spcAft>
              <a:buNone/>
            </a:pPr>
            <a:r>
              <a:rPr lang="en-US" sz="1300" dirty="0">
                <a:solidFill>
                  <a:srgbClr val="4A5058"/>
                </a:solidFill>
              </a:rPr>
              <a:t>User, admin, CLI, BI, packs, connectors, contracts, Knowledge, 28 tutorials and 22 ADRs; two documents per measure.</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351 pictures retaken on the 2.9 UI in 2.9.4, by a script, over the demo lakes.</a:t>
            </a:r>
            <a:endParaRPr lang="en-US" sz="1500" dirty="0"/>
          </a:p>
          <a:p>
            <a:pPr indent="0" marL="0">
              <a:buNone/>
            </a:pPr>
            <a:r>
              <a:rPr lang="en-US" sz="1500" b="1" dirty="0">
                <a:solidFill>
                  <a:srgbClr val="A51C30"/>
                </a:solidFill>
              </a:rPr>
              <a:t>▪  20 modules, 19 plugins</a:t>
            </a:r>
            <a:endParaRPr lang="en-US" sz="1500" dirty="0"/>
          </a:p>
          <a:p>
            <a:pPr indent="0" marL="0">
              <a:spcAft>
                <a:spcPts val="1000"/>
              </a:spcAft>
              <a:buNone/>
            </a:pPr>
            <a:r>
              <a:rPr lang="en-US" sz="1300" dirty="0">
                <a:solidFill>
                  <a:srgbClr val="4A5058"/>
                </a:solidFill>
              </a:rPr>
              <a:t>Plus a server, integration tests and benchmarks; the risk engines in drishti-compute.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06</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VaR scaled out across servers, then the parked measures: counterparty, balance sheet and regulatory, then AI.</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 · AS THE PLAN STATES IT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built, designed and parked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4389120"/>
        </p:xfrm>
        <a:graphic>
          <a:graphicData uri="http://schemas.openxmlformats.org/drawingml/2006/table">
            <a:tbl>
              <a:tblPr/>
              <a:tblGrid>
                <a:gridCol w="2194560"/>
                <a:gridCol w="4937760"/>
                <a:gridCol w="3502152"/>
              </a:tblGrid>
              <a:tr h="548640">
                <a:tc>
                  <a:txBody>
                    <a:bodyPr/>
                    <a:lstStyle/>
                    <a:p>
                      <a:pPr indent="0" marL="0">
                        <a:buNone/>
                      </a:pPr>
                      <a:r>
                        <a:rPr lang="en-US" sz="1350" b="1" dirty="0">
                          <a:solidFill>
                            <a:srgbClr val="FFFFFF"/>
                          </a:solidFill>
                        </a:rPr>
                        <a:t>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Status in the documents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48640">
                <a:tc>
                  <a:txBody>
                    <a:bodyPr/>
                    <a:lstStyle/>
                    <a:p>
                      <a:pPr indent="0" marL="0">
                        <a:buNone/>
                      </a:pPr>
                      <a:r>
                        <a:rPr lang="en-US" sz="1350" b="1" dirty="0">
                          <a:solidFill>
                            <a:srgbClr val="8A1626"/>
                          </a:solidFill>
                        </a:rPr>
                        <a:t>2.6.0 to 2.9.5</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Statements, history, BI runs, Sutra Next, contracts, computed VaR and exposure, funds, DATAMAP, PV VaR, JSONL; hierarchies by columns, Iceberg equal to Delta, official results to S3</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Built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2.9.6</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10-day and stressed VaR; editions; the 2.3M benchmark; Delta in-place schema evolution; Delta↔Iceberg conversion; the Glue and S3 Tables runs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Next release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VaR across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Cluster scale-out: one date's position rows sharded across Drishti*net members, partial vectors gathered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Designed, for 2.9.6 (VAR_GUIDE §28)</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Trading and market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Valuation totals, stress, FRTB, SIMM and P&amp;L explain computed for any 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 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2.10.0 and 2.11.0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Counterparty risk (SA-CCR, CVA, collateral, margin); balance sheet (large exposures, LCR, NSFR, IRRBB, IFRS 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 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2.12.0 AI and GenUI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Sajha MCP connector, AI management, screens composed from UI-kit docstrings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Parked until 2.11.0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Super scale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500 GB a day for 7 years across a cluster (SUPER_SCALE.md); test data from seeds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Designed scale-out; seeds 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about fifteen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Seven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 -pl drishti-server -am</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--python 3.13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--python drishti-console/.venv/bin/python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-Xmx4g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-jar drishti-server/target/drishti-server-&lt;v&gt;-exec.jar</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VAR BANK &lt;GO&gt;   EXP BANK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About 15 minutes: build, the demo lakes,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history, var, exposure, convert</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 28 tutorials beside it</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Release 2.9.5</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Copyright"/>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SINCE THE LAST EDITION · 2.6.0 → 2.9.5</a:t>
            </a:r>
          </a:p>
        </p:txBody>
      </p:sp>
      <p:sp>
        <p:nvSpPr>
          <p:cNvPr id="3" name="Title 2"/>
          <p:cNvSpPr>
            <a:spLocks noGrp="1"/>
          </p:cNvSpPr>
          <p:nvPr>
            <p:ph type="title" idx="104"/>
          </p:nvPr>
        </p:nvSpPr>
        <p:spPr/>
        <p:txBody>
          <a:bodyPr lIns="0" rIns="0" tIns="0" bIns="0" anchor="t"/>
          <a:lstStyle/>
          <a:p>
            <a:r>
              <a:t>Ten releases in eight days, each one drilled before main moved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imeline axis"/>
          <p:cNvSpPr/>
          <p:nvPr/>
        </p:nvSpPr>
        <p:spPr>
          <a:xfrm>
            <a:off x="777240" y="3717036"/>
            <a:ext cx="10634472" cy="27432"/>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77240" y="3803904"/>
            <a:ext cx="548640" cy="365760"/>
          </a:xfrm>
          <a:prstGeom prst="rect">
            <a:avLst/>
          </a:prstGeom>
          <a:noFill/>
        </p:spPr>
        <p:txBody>
          <a:bodyPr wrap="square" lIns="0" rIns="0" tIns="0" bIns="0" anchor="t">
            <a:spAutoFit/>
          </a:bodyPr>
          <a:lstStyle/>
          <a:p>
            <a:pPr algn="l"/>
            <a:r>
              <a:rPr sz="1050" b="1" i="0">
                <a:solidFill>
                  <a:srgbClr val="61666E"/>
                </a:solidFill>
              </a:rPr>
              <a:t>2.6.0</a:t>
            </a:r>
          </a:p>
          <a:p>
            <a:pPr algn="l"/>
            <a:r>
              <a:rPr sz="1000" b="0" i="0">
                <a:solidFill>
                  <a:srgbClr val="61666E"/>
                </a:solidFill>
              </a:rPr>
              <a:t>20 Oct</a:t>
            </a:r>
          </a:p>
        </p:txBody>
      </p:sp>
      <p:sp>
        <p:nvSpPr>
          <p:cNvPr id="28" name="Release 2.6.5"/>
          <p:cNvSpPr/>
          <p:nvPr/>
        </p:nvSpPr>
        <p:spPr>
          <a:xfrm>
            <a:off x="1591056"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29" name="Connector 28"/>
          <p:cNvCxnSpPr/>
          <p:nvPr/>
        </p:nvCxnSpPr>
        <p:spPr>
          <a:xfrm>
            <a:off x="1709928"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777240" y="1682496"/>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1737360"/>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2.6.5  </a:t>
            </a:r>
            <a:r>
              <a:rPr sz="1100" b="0" i="0">
                <a:solidFill>
                  <a:srgbClr val="61666E"/>
                </a:solidFill>
              </a:rPr>
              <a:t>20 Oct</a:t>
            </a:r>
          </a:p>
          <a:p>
            <a:pPr algn="l">
              <a:spcAft>
                <a:spcPts val="200"/>
              </a:spcAft>
            </a:pPr>
            <a:r>
              <a:rPr sz="1200" b="1" i="0">
                <a:solidFill>
                  <a:srgbClr val="8A1626"/>
                </a:solidFill>
              </a:rPr>
              <a:t>History queries</a:t>
            </a:r>
          </a:p>
          <a:p>
            <a:pPr algn="l"/>
            <a:r>
              <a:rPr sz="1050" b="0" i="0">
                <a:solidFill>
                  <a:srgbClr val="1A1A1A"/>
                </a:solidFill>
              </a:rPr>
              <a:t>Any entity over time from the command line, on every connector and across Drishti*net</a:t>
            </a:r>
          </a:p>
        </p:txBody>
      </p:sp>
      <p:sp>
        <p:nvSpPr>
          <p:cNvPr id="32" name="Release 2.6.7"/>
          <p:cNvSpPr/>
          <p:nvPr/>
        </p:nvSpPr>
        <p:spPr>
          <a:xfrm>
            <a:off x="2565400"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33" name="Connector 32"/>
          <p:cNvCxnSpPr/>
          <p:nvPr/>
        </p:nvCxnSpPr>
        <p:spPr>
          <a:xfrm>
            <a:off x="2684272"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751584" y="4023360"/>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861312" y="4078224"/>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2.6.7  </a:t>
            </a:r>
            <a:r>
              <a:rPr sz="1100" b="0" i="0">
                <a:solidFill>
                  <a:srgbClr val="61666E"/>
                </a:solidFill>
              </a:rPr>
              <a:t>21 Oct</a:t>
            </a:r>
          </a:p>
          <a:p>
            <a:pPr algn="l">
              <a:spcAft>
                <a:spcPts val="200"/>
              </a:spcAft>
            </a:pPr>
            <a:r>
              <a:rPr sz="1200" b="1" i="0">
                <a:solidFill>
                  <a:srgbClr val="8A1626"/>
                </a:solidFill>
              </a:rPr>
              <a:t>BI runs · charts</a:t>
            </a:r>
          </a:p>
          <a:p>
            <a:pPr algn="l"/>
            <a:r>
              <a:rPr sz="1050" b="0" i="0">
                <a:solidFill>
                  <a:srgbClr val="1A1A1A"/>
                </a:solidFill>
              </a:rPr>
              <a:t>Heavy questions become shareable runs; chart any table; Delta and Iceberg side by side; gossip port, HTTP/2 (with the 2.6.6 QA)</a:t>
            </a:r>
          </a:p>
        </p:txBody>
      </p:sp>
      <p:sp>
        <p:nvSpPr>
          <p:cNvPr id="36" name="Release 2.7.0"/>
          <p:cNvSpPr/>
          <p:nvPr/>
        </p:nvSpPr>
        <p:spPr>
          <a:xfrm>
            <a:off x="3539744"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37" name="Connector 36"/>
          <p:cNvCxnSpPr/>
          <p:nvPr/>
        </p:nvCxnSpPr>
        <p:spPr>
          <a:xfrm>
            <a:off x="3658616"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2725928" y="1682496"/>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2835656" y="1737360"/>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2.7.0  </a:t>
            </a:r>
            <a:r>
              <a:rPr sz="1100" b="0" i="0">
                <a:solidFill>
                  <a:srgbClr val="61666E"/>
                </a:solidFill>
              </a:rPr>
              <a:t>24 Oct</a:t>
            </a:r>
          </a:p>
          <a:p>
            <a:pPr algn="l">
              <a:spcAft>
                <a:spcPts val="200"/>
              </a:spcAft>
            </a:pPr>
            <a:r>
              <a:rPr sz="1200" b="1" i="0">
                <a:solidFill>
                  <a:srgbClr val="8A1626"/>
                </a:solidFill>
              </a:rPr>
              <a:t>Sutra Next</a:t>
            </a:r>
          </a:p>
          <a:p>
            <a:pPr algn="l"/>
            <a:r>
              <a:rPr sz="1050" b="0" i="0">
                <a:solidFill>
                  <a:srgbClr val="1A1A1A"/>
                </a:solidFill>
              </a:rPr>
              <a:t>The UI kit, events and children, refresh, forms, the four-mode Sutra designer; us-equities and gleif packs</a:t>
            </a:r>
          </a:p>
        </p:txBody>
      </p:sp>
      <p:sp>
        <p:nvSpPr>
          <p:cNvPr id="40" name="Release 2.8.0"/>
          <p:cNvSpPr/>
          <p:nvPr/>
        </p:nvSpPr>
        <p:spPr>
          <a:xfrm>
            <a:off x="4514088"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41" name="Connector 40"/>
          <p:cNvCxnSpPr/>
          <p:nvPr/>
        </p:nvCxnSpPr>
        <p:spPr>
          <a:xfrm>
            <a:off x="4632960"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3700272" y="4023360"/>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810000" y="4078224"/>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2.8.0  </a:t>
            </a:r>
            <a:r>
              <a:rPr sz="1100" b="0" i="0">
                <a:solidFill>
                  <a:srgbClr val="61666E"/>
                </a:solidFill>
              </a:rPr>
              <a:t>26 Oct</a:t>
            </a:r>
          </a:p>
          <a:p>
            <a:pPr algn="l">
              <a:spcAft>
                <a:spcPts val="200"/>
              </a:spcAft>
            </a:pPr>
            <a:r>
              <a:rPr sz="1200" b="1" i="0">
                <a:solidFill>
                  <a:srgbClr val="8A1626"/>
                </a:solidFill>
              </a:rPr>
              <a:t>Contracts · VaR</a:t>
            </a:r>
          </a:p>
          <a:p>
            <a:pPr algn="l"/>
            <a:r>
              <a:rPr sz="1050" b="0" i="0">
                <a:solidFill>
                  <a:srgbClr val="1A1A1A"/>
                </a:solidFill>
              </a:rPr>
              <a:t>A data contract for every command; VaR computed for any scope; Admin → Commands; write-back; branding from configuration</a:t>
            </a:r>
          </a:p>
        </p:txBody>
      </p:sp>
      <p:sp>
        <p:nvSpPr>
          <p:cNvPr id="44" name="Release 2.9.0"/>
          <p:cNvSpPr/>
          <p:nvPr/>
        </p:nvSpPr>
        <p:spPr>
          <a:xfrm>
            <a:off x="5488432"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45" name="Connector 44"/>
          <p:cNvCxnSpPr/>
          <p:nvPr/>
        </p:nvCxnSpPr>
        <p:spPr>
          <a:xfrm>
            <a:off x="5607304"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4674616" y="1682496"/>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4784344" y="1737360"/>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2.9.0  </a:t>
            </a:r>
            <a:r>
              <a:rPr sz="1100" b="0" i="0">
                <a:solidFill>
                  <a:srgbClr val="61666E"/>
                </a:solidFill>
              </a:rPr>
              <a:t>26 Oct</a:t>
            </a:r>
          </a:p>
          <a:p>
            <a:pPr algn="l">
              <a:spcAft>
                <a:spcPts val="200"/>
              </a:spcAft>
            </a:pPr>
            <a:r>
              <a:rPr sz="1200" b="1" i="0">
                <a:solidFill>
                  <a:srgbClr val="8A1626"/>
                </a:solidFill>
              </a:rPr>
              <a:t>Exposure</a:t>
            </a:r>
          </a:p>
          <a:p>
            <a:pPr algn="l"/>
            <a:r>
              <a:rPr sz="1050" b="0" i="0">
                <a:solidFill>
                  <a:srgbClr val="1A1A1A"/>
                </a:solidFill>
              </a:rPr>
              <a:t>EE and PFE computed for any scope, the stored profile retired; VaR and exposure in BI</a:t>
            </a:r>
          </a:p>
        </p:txBody>
      </p:sp>
      <p:sp>
        <p:nvSpPr>
          <p:cNvPr id="48" name="Release 2.9.1"/>
          <p:cNvSpPr/>
          <p:nvPr/>
        </p:nvSpPr>
        <p:spPr>
          <a:xfrm>
            <a:off x="6462776"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49" name="Connector 48"/>
          <p:cNvCxnSpPr/>
          <p:nvPr/>
        </p:nvCxnSpPr>
        <p:spPr>
          <a:xfrm>
            <a:off x="6581648"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648959" y="4023360"/>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5758687" y="4078224"/>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2.9.1  </a:t>
            </a:r>
            <a:r>
              <a:rPr sz="1100" b="0" i="0">
                <a:solidFill>
                  <a:srgbClr val="61666E"/>
                </a:solidFill>
              </a:rPr>
              <a:t>26 Oct</a:t>
            </a:r>
          </a:p>
          <a:p>
            <a:pPr algn="l">
              <a:spcAft>
                <a:spcPts val="200"/>
              </a:spcAft>
            </a:pPr>
            <a:r>
              <a:rPr sz="1200" b="1" i="0">
                <a:solidFill>
                  <a:srgbClr val="8A1626"/>
                </a:solidFill>
              </a:rPr>
              <a:t>FUNC · analytics</a:t>
            </a:r>
          </a:p>
          <a:p>
            <a:pPr algn="l"/>
            <a:r>
              <a:rPr sz="1050" b="0" i="0">
                <a:solidFill>
                  <a:srgbClr val="1A1A1A"/>
                </a:solidFill>
              </a:rPr>
              <a:t>Every command in one directory; groupings and analytics computed; External data</a:t>
            </a:r>
          </a:p>
        </p:txBody>
      </p:sp>
      <p:sp>
        <p:nvSpPr>
          <p:cNvPr id="52" name="Release 2.9.2"/>
          <p:cNvSpPr/>
          <p:nvPr/>
        </p:nvSpPr>
        <p:spPr>
          <a:xfrm>
            <a:off x="7437120"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53" name="Connector 52"/>
          <p:cNvCxnSpPr/>
          <p:nvPr/>
        </p:nvCxnSpPr>
        <p:spPr>
          <a:xfrm>
            <a:off x="7555992"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623304" y="1682496"/>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733032" y="1737360"/>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2.9.2  </a:t>
            </a:r>
            <a:r>
              <a:rPr sz="1100" b="0" i="0">
                <a:solidFill>
                  <a:srgbClr val="61666E"/>
                </a:solidFill>
              </a:rPr>
              <a:t>26 Oct</a:t>
            </a:r>
          </a:p>
          <a:p>
            <a:pPr algn="l">
              <a:spcAft>
                <a:spcPts val="200"/>
              </a:spcAft>
            </a:pPr>
            <a:r>
              <a:rPr sz="1200" b="1" i="0">
                <a:solidFill>
                  <a:srgbClr val="8A1626"/>
                </a:solidFill>
              </a:rPr>
              <a:t>Funds · Knowledge</a:t>
            </a:r>
          </a:p>
          <a:p>
            <a:pPr algn="l"/>
            <a:r>
              <a:rPr sz="1050" b="0" i="0">
                <a:solidFill>
                  <a:srgbClr val="1A1A1A"/>
                </a:solidFill>
              </a:rPr>
              <a:t>Funds and ETFs; Knowledge and WHAT; Construct your basket; the pre-deal what-if</a:t>
            </a:r>
          </a:p>
        </p:txBody>
      </p:sp>
      <p:sp>
        <p:nvSpPr>
          <p:cNvPr id="56" name="Release 2.9.3"/>
          <p:cNvSpPr/>
          <p:nvPr/>
        </p:nvSpPr>
        <p:spPr>
          <a:xfrm>
            <a:off x="8411464"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57" name="Connector 56"/>
          <p:cNvCxnSpPr/>
          <p:nvPr/>
        </p:nvCxnSpPr>
        <p:spPr>
          <a:xfrm>
            <a:off x="8530336"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597648" y="4023360"/>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707376" y="4078224"/>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2.9.3  </a:t>
            </a:r>
            <a:r>
              <a:rPr sz="1100" b="0" i="0">
                <a:solidFill>
                  <a:srgbClr val="61666E"/>
                </a:solidFill>
              </a:rPr>
              <a:t>27 Oct</a:t>
            </a:r>
          </a:p>
          <a:p>
            <a:pPr algn="l">
              <a:spcAft>
                <a:spcPts val="200"/>
              </a:spcAft>
            </a:pPr>
            <a:r>
              <a:rPr sz="1200" b="1" i="0">
                <a:solidFill>
                  <a:srgbClr val="8A1626"/>
                </a:solidFill>
              </a:rPr>
              <a:t>DATAMAP</a:t>
            </a:r>
          </a:p>
          <a:p>
            <a:pPr algn="l"/>
            <a:r>
              <a:rPr sz="1050" b="0" i="0">
                <a:solidFill>
                  <a:srgbClr val="1A1A1A"/>
                </a:solidFill>
              </a:rPr>
              <a:t>The data map; the fact of the day on Home; index members from the tracking ETFs</a:t>
            </a:r>
          </a:p>
        </p:txBody>
      </p:sp>
      <p:sp>
        <p:nvSpPr>
          <p:cNvPr id="60" name="Release 2.9.4"/>
          <p:cNvSpPr/>
          <p:nvPr/>
        </p:nvSpPr>
        <p:spPr>
          <a:xfrm>
            <a:off x="9385808" y="3611880"/>
            <a:ext cx="237744" cy="237744"/>
          </a:xfrm>
          <a:prstGeom prst="ellipse">
            <a:avLst/>
          </a:prstGeom>
          <a:solidFill>
            <a:srgbClr val="A51C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61" name="Connector 60"/>
          <p:cNvCxnSpPr/>
          <p:nvPr/>
        </p:nvCxnSpPr>
        <p:spPr>
          <a:xfrm>
            <a:off x="9504680" y="343814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8571992" y="1682496"/>
            <a:ext cx="1865376" cy="1755648"/>
          </a:xfrm>
          <a:prstGeom prst="rect">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8681720" y="1737360"/>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2.9.4  </a:t>
            </a:r>
            <a:r>
              <a:rPr sz="1100" b="0" i="0">
                <a:solidFill>
                  <a:srgbClr val="61666E"/>
                </a:solidFill>
              </a:rPr>
              <a:t>27 Oct</a:t>
            </a:r>
          </a:p>
          <a:p>
            <a:pPr algn="l">
              <a:spcAft>
                <a:spcPts val="200"/>
              </a:spcAft>
            </a:pPr>
            <a:r>
              <a:rPr sz="1200" b="1" i="0">
                <a:solidFill>
                  <a:srgbClr val="8A1626"/>
                </a:solidFill>
              </a:rPr>
              <a:t>PV VaR · JSONL</a:t>
            </a:r>
          </a:p>
          <a:p>
            <a:pPr algn="l"/>
            <a:r>
              <a:rPr sz="1050" b="0" i="0">
                <a:solidFill>
                  <a:srgbClr val="1A1A1A"/>
                </a:solidFill>
              </a:rPr>
              <a:t>VaR from scenario PVs in any currency, any input contract, intraday from files and Kafka; window and confidence; JSONL everywhere; names configurable</a:t>
            </a:r>
          </a:p>
        </p:txBody>
      </p:sp>
      <p:sp>
        <p:nvSpPr>
          <p:cNvPr id="64" name="Release 2.9.5"/>
          <p:cNvSpPr/>
          <p:nvPr/>
        </p:nvSpPr>
        <p:spPr>
          <a:xfrm>
            <a:off x="10360152" y="3611880"/>
            <a:ext cx="237744" cy="237744"/>
          </a:xfrm>
          <a:prstGeom prst="ellipse">
            <a:avLst/>
          </a:prstGeom>
          <a:solidFill>
            <a:srgbClr val="8A162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cxnSp>
        <p:nvCxnSpPr>
          <p:cNvPr id="65" name="Connector 64"/>
          <p:cNvCxnSpPr/>
          <p:nvPr/>
        </p:nvCxnSpPr>
        <p:spPr>
          <a:xfrm>
            <a:off x="10479024" y="3849624"/>
            <a:ext cx="0" cy="173736"/>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9546336" y="4023360"/>
            <a:ext cx="1865376" cy="17556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9656064" y="4078224"/>
            <a:ext cx="1682496" cy="1664207"/>
          </a:xfrm>
          <a:prstGeom prst="rect">
            <a:avLst/>
          </a:prstGeom>
          <a:noFill/>
        </p:spPr>
        <p:txBody>
          <a:bodyPr wrap="square" lIns="0" rIns="0" tIns="0" bIns="0" anchor="t">
            <a:spAutoFit/>
          </a:bodyPr>
          <a:lstStyle/>
          <a:p>
            <a:pPr algn="l">
              <a:spcAft>
                <a:spcPts val="100"/>
              </a:spcAft>
            </a:pPr>
            <a:r>
              <a:rPr sz="1400" b="1" i="0">
                <a:solidFill>
                  <a:srgbClr val="A51C30"/>
                </a:solidFill>
              </a:rPr>
              <a:t>2.9.5  </a:t>
            </a:r>
            <a:r>
              <a:rPr sz="1100" b="0" i="0">
                <a:solidFill>
                  <a:srgbClr val="61666E"/>
                </a:solidFill>
              </a:rPr>
              <a:t>28 Oct</a:t>
            </a:r>
          </a:p>
          <a:p>
            <a:pPr algn="l">
              <a:spcAft>
                <a:spcPts val="200"/>
              </a:spcAft>
            </a:pPr>
            <a:r>
              <a:rPr sz="1200" b="1" i="0">
                <a:solidFill>
                  <a:srgbClr val="8A1626"/>
                </a:solidFill>
              </a:rPr>
              <a:t>Trees · Iceberg</a:t>
            </a:r>
          </a:p>
          <a:p>
            <a:pPr algn="l"/>
            <a:r>
              <a:rPr sz="1050" b="0" i="0">
                <a:solidFill>
                  <a:srgbClr val="1A1A1A"/>
                </a:solidFill>
              </a:rPr>
              <a:t>Limit letters and any tree by columns; Iceberg equal to Delta; official results to S3; airtight upgrades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What 2.6.5 to 2.9.5 added</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History, runs and a UI kit; public data with contracts; and risk computed for any scope, in any currency.</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HISTORY QUERIES · 2.6.5</a:t>
            </a:r>
          </a:p>
        </p:txBody>
      </p:sp>
      <p:sp>
        <p:nvSpPr>
          <p:cNvPr id="3" name="Title 2"/>
          <p:cNvSpPr>
            <a:spLocks noGrp="1"/>
          </p:cNvSpPr>
          <p:nvPr>
            <p:ph type="title" idx="104"/>
          </p:nvPr>
        </p:nvSpPr>
        <p:spPr/>
        <p:txBody>
          <a:bodyPr lIns="0" rIns="0" tIns="0" bIns="0" anchor="t"/>
          <a:lstStyle/>
          <a:p>
            <a:r>
              <a:t>Type a range after an id and see the entity over time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Trade history page" descr="02-trade-history.jpg"/>
          <p:cNvPicPr>
            <a:picLocks noChangeAspect="1"/>
          </p:cNvPicPr>
          <p:nvPr/>
        </p:nvPicPr>
        <p:blipFill>
          <a:blip r:embed="rId2"/>
          <a:stretch>
            <a:fillRect/>
          </a:stretch>
        </p:blipFill>
        <p:spPr>
          <a:xfrm>
            <a:off x="777240" y="1444752"/>
            <a:ext cx="6400800" cy="3931920"/>
          </a:xfrm>
          <a:prstGeom prst="rect">
            <a:avLst/>
          </a:prstGeom>
          <a:ln w="9525">
            <a:solidFill>
              <a:srgbClr val="CFC8BE"/>
            </a:solidFill>
          </a:ln>
        </p:spPr>
      </p:pic>
      <p:sp>
        <p:nvSpPr>
          <p:cNvPr id="27" name="TextBox 26"/>
          <p:cNvSpPr txBox="1"/>
          <p:nvPr/>
        </p:nvSpPr>
        <p:spPr>
          <a:xfrm>
            <a:off x="777240" y="5413248"/>
            <a:ext cx="6400800" cy="274320"/>
          </a:xfrm>
          <a:prstGeom prst="rect">
            <a:avLst/>
          </a:prstGeom>
          <a:noFill/>
        </p:spPr>
        <p:txBody>
          <a:bodyPr wrap="square" lIns="0" rIns="0" tIns="0" bIns="0" anchor="t">
            <a:spAutoFit/>
          </a:bodyPr>
          <a:lstStyle/>
          <a:p>
            <a:pPr algn="l"/>
            <a:r>
              <a:rPr sz="1050" b="0" i="1">
                <a:solidFill>
                  <a:srgbClr val="61666E"/>
                </a:solidFill>
              </a:rPr>
              <a:t>TRD 1000015 30: one row per business day, changed cells marked ▲/▼, restated days flagged (tutorial 21).</a:t>
            </a:r>
          </a:p>
        </p:txBody>
      </p:sp>
      <p:sp>
        <p:nvSpPr>
          <p:cNvPr id="28" name="Rectangle 27"/>
          <p:cNvSpPr/>
          <p:nvPr/>
        </p:nvSpPr>
        <p:spPr>
          <a:xfrm>
            <a:off x="7452360" y="1444752"/>
            <a:ext cx="3959352"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7452360" y="1444752"/>
            <a:ext cx="395935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89520" y="1444752"/>
            <a:ext cx="3685032" cy="329184"/>
          </a:xfrm>
          <a:prstGeom prst="rect">
            <a:avLst/>
          </a:prstGeom>
          <a:noFill/>
        </p:spPr>
        <p:txBody>
          <a:bodyPr wrap="square" lIns="0" rIns="0" tIns="0" bIns="0" anchor="ctr">
            <a:spAutoFit/>
          </a:bodyPr>
          <a:lstStyle/>
          <a:p>
            <a:pPr algn="l"/>
            <a:r>
              <a:rPr sz="1150" b="1" i="0">
                <a:solidFill>
                  <a:srgbClr val="FFFFFF"/>
                </a:solidFill>
              </a:rPr>
              <a:t>One grammar, any range</a:t>
            </a:r>
          </a:p>
        </p:txBody>
      </p:sp>
      <p:sp>
        <p:nvSpPr>
          <p:cNvPr id="31" name="TextBox 30"/>
          <p:cNvSpPr txBox="1"/>
          <p:nvPr/>
        </p:nvSpPr>
        <p:spPr>
          <a:xfrm>
            <a:off x="7616952" y="1883664"/>
            <a:ext cx="3685032"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TRD 1000015 30</a:t>
            </a:r>
          </a:p>
          <a:p>
            <a:pPr algn="l">
              <a:spcAft>
                <a:spcPts val="200"/>
              </a:spcAft>
            </a:pPr>
            <a:r>
              <a:rPr sz="1150" b="0" i="0">
                <a:solidFill>
                  <a:srgbClr val="F1EEE9"/>
                </a:solidFill>
                <a:latin typeface="Courier New"/>
              </a:rPr>
              <a:t>TRD 1000015 3M DIFF</a:t>
            </a:r>
          </a:p>
          <a:p>
            <a:pPr algn="l">
              <a:spcAft>
                <a:spcPts val="200"/>
              </a:spcAft>
            </a:pPr>
            <a:r>
              <a:rPr sz="1150" b="0" i="0">
                <a:solidFill>
                  <a:srgbClr val="F1EEE9"/>
                </a:solidFill>
                <a:latin typeface="Courier New"/>
              </a:rPr>
              <a:t>TRD 1000015 FROM 2026-09-01 TO 2026-09-30</a:t>
            </a:r>
          </a:p>
          <a:p>
            <a:pPr algn="l">
              <a:spcAft>
                <a:spcPts val="200"/>
              </a:spcAft>
            </a:pPr>
            <a:r>
              <a:rPr sz="1150" b="0" i="0">
                <a:solidFill>
                  <a:srgbClr val="F1EEE9"/>
                </a:solidFill>
                <a:latin typeface="Courier New"/>
              </a:rPr>
              <a:t>trade 1000015 last month</a:t>
            </a:r>
          </a:p>
        </p:txBody>
      </p:sp>
      <p:sp>
        <p:nvSpPr>
          <p:cNvPr id="32" name="Rectangle 31"/>
          <p:cNvSpPr/>
          <p:nvPr/>
        </p:nvSpPr>
        <p:spPr>
          <a:xfrm>
            <a:off x="7452360"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543800" y="3401568"/>
            <a:ext cx="1121664" cy="384048"/>
          </a:xfrm>
          <a:prstGeom prst="rect">
            <a:avLst/>
          </a:prstGeom>
          <a:noFill/>
        </p:spPr>
        <p:txBody>
          <a:bodyPr wrap="square" lIns="0" rIns="0" tIns="0" bIns="0" anchor="ctr">
            <a:spAutoFit/>
          </a:bodyPr>
          <a:lstStyle/>
          <a:p>
            <a:pPr algn="l"/>
            <a:r>
              <a:rPr sz="1900" b="1" i="0">
                <a:solidFill>
                  <a:srgbClr val="8A1626"/>
                </a:solidFill>
              </a:rPr>
              <a:t>13 ms</a:t>
            </a:r>
          </a:p>
        </p:txBody>
      </p:sp>
      <p:sp>
        <p:nvSpPr>
          <p:cNvPr id="34" name="TextBox 33"/>
          <p:cNvSpPr txBox="1"/>
          <p:nvPr/>
        </p:nvSpPr>
        <p:spPr>
          <a:xfrm>
            <a:off x="7543800" y="3785615"/>
            <a:ext cx="1121664" cy="585216"/>
          </a:xfrm>
          <a:prstGeom prst="rect">
            <a:avLst/>
          </a:prstGeom>
          <a:noFill/>
        </p:spPr>
        <p:txBody>
          <a:bodyPr wrap="square" lIns="0" rIns="0" tIns="0" bIns="0" anchor="t">
            <a:spAutoFit/>
          </a:bodyPr>
          <a:lstStyle/>
          <a:p>
            <a:pPr algn="l"/>
            <a:r>
              <a:rPr sz="1100" b="0" i="0">
                <a:solidFill>
                  <a:srgbClr val="4A5058"/>
                </a:solidFill>
              </a:rPr>
              <a:t>30 days of one trade among 10,000, cold</a:t>
            </a:r>
          </a:p>
        </p:txBody>
      </p:sp>
      <p:sp>
        <p:nvSpPr>
          <p:cNvPr id="35" name="Rectangle 34"/>
          <p:cNvSpPr/>
          <p:nvPr/>
        </p:nvSpPr>
        <p:spPr>
          <a:xfrm>
            <a:off x="8802624"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94064" y="3401568"/>
            <a:ext cx="1121664" cy="384048"/>
          </a:xfrm>
          <a:prstGeom prst="rect">
            <a:avLst/>
          </a:prstGeom>
          <a:noFill/>
        </p:spPr>
        <p:txBody>
          <a:bodyPr wrap="square" lIns="0" rIns="0" tIns="0" bIns="0" anchor="ctr">
            <a:spAutoFit/>
          </a:bodyPr>
          <a:lstStyle/>
          <a:p>
            <a:pPr algn="l"/>
            <a:r>
              <a:rPr sz="1900" b="1" i="0">
                <a:solidFill>
                  <a:srgbClr val="8A1626"/>
                </a:solidFill>
              </a:rPr>
              <a:t>&lt; 1 ms</a:t>
            </a:r>
          </a:p>
        </p:txBody>
      </p:sp>
      <p:sp>
        <p:nvSpPr>
          <p:cNvPr id="37" name="TextBox 36"/>
          <p:cNvSpPr txBox="1"/>
          <p:nvPr/>
        </p:nvSpPr>
        <p:spPr>
          <a:xfrm>
            <a:off x="8894064" y="3785615"/>
            <a:ext cx="1121664" cy="585216"/>
          </a:xfrm>
          <a:prstGeom prst="rect">
            <a:avLst/>
          </a:prstGeom>
          <a:noFill/>
        </p:spPr>
        <p:txBody>
          <a:bodyPr wrap="square" lIns="0" rIns="0" tIns="0" bIns="0" anchor="t">
            <a:spAutoFit/>
          </a:bodyPr>
          <a:lstStyle/>
          <a:p>
            <a:pPr algn="l"/>
            <a:r>
              <a:rPr sz="1100" b="0" i="0">
                <a:solidFill>
                  <a:srgbClr val="4A5058"/>
                </a:solidFill>
              </a:rPr>
              <a:t>the same, warm</a:t>
            </a:r>
          </a:p>
        </p:txBody>
      </p:sp>
      <p:sp>
        <p:nvSpPr>
          <p:cNvPr id="38" name="Rectangle 37"/>
          <p:cNvSpPr/>
          <p:nvPr/>
        </p:nvSpPr>
        <p:spPr>
          <a:xfrm>
            <a:off x="10152888"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244328" y="3401568"/>
            <a:ext cx="1121664" cy="384048"/>
          </a:xfrm>
          <a:prstGeom prst="rect">
            <a:avLst/>
          </a:prstGeom>
          <a:noFill/>
        </p:spPr>
        <p:txBody>
          <a:bodyPr wrap="square" lIns="0" rIns="0" tIns="0" bIns="0" anchor="ctr">
            <a:spAutoFit/>
          </a:bodyPr>
          <a:lstStyle/>
          <a:p>
            <a:pPr algn="l"/>
            <a:r>
              <a:rPr sz="1900" b="1" i="0">
                <a:solidFill>
                  <a:srgbClr val="8A1626"/>
                </a:solidFill>
              </a:rPr>
              <a:t>0.3 ms</a:t>
            </a:r>
          </a:p>
        </p:txBody>
      </p:sp>
      <p:sp>
        <p:nvSpPr>
          <p:cNvPr id="40" name="TextBox 39"/>
          <p:cNvSpPr txBox="1"/>
          <p:nvPr/>
        </p:nvSpPr>
        <p:spPr>
          <a:xfrm>
            <a:off x="10244328" y="3785615"/>
            <a:ext cx="1121664" cy="585216"/>
          </a:xfrm>
          <a:prstGeom prst="rect">
            <a:avLst/>
          </a:prstGeom>
          <a:noFill/>
        </p:spPr>
        <p:txBody>
          <a:bodyPr wrap="square" lIns="0" rIns="0" tIns="0" bIns="0" anchor="t">
            <a:spAutoFit/>
          </a:bodyPr>
          <a:lstStyle/>
          <a:p>
            <a:pPr algn="l"/>
            <a:r>
              <a:rPr sz="1100" b="0" i="0">
                <a:solidFill>
                  <a:srgbClr val="4A5058"/>
                </a:solidFill>
              </a:rPr>
              <a:t>from the history cache</a:t>
            </a:r>
          </a:p>
        </p:txBody>
      </p:sp>
      <p:sp>
        <p:nvSpPr>
          <p:cNvPr id="41" name="TextBox 40"/>
          <p:cNvSpPr txBox="1"/>
          <p:nvPr/>
        </p:nvSpPr>
        <p:spPr>
          <a:xfrm>
            <a:off x="7452360" y="4526280"/>
            <a:ext cx="3959352" cy="914400"/>
          </a:xfrm>
          <a:prstGeom prst="rect">
            <a:avLst/>
          </a:prstGeom>
          <a:noFill/>
        </p:spPr>
        <p:txBody>
          <a:bodyPr wrap="square" lIns="0" rIns="0" tIns="0" bIns="0" anchor="t">
            <a:spAutoFit/>
          </a:bodyPr>
          <a:lstStyle/>
          <a:p>
            <a:pPr algn="l"/>
            <a:r>
              <a:rPr sz="1200" b="1" i="0">
                <a:solidFill>
                  <a:srgbClr val="8A1626"/>
                </a:solidFill>
              </a:rPr>
              <a:t>Generic: </a:t>
            </a:r>
            <a:r>
              <a:rPr sz="1200" b="0" i="0">
                <a:solidFill>
                  <a:srgbClr val="1A1A1A"/>
                </a:solidFill>
              </a:rPr>
              <a:t>any kind with dated data, no code per kind; fast paths on Delta, Iceberg, Redis, PostgreSQL, DuckDB, MongoDB, Aerospike and Cassandra; masks hold on every day's row.</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Across a cluster, a node reads an entity's days from the peer that holds them in one call, masked on both.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BI RUNS AND CHART ANY TABLE · 2.6.7</a:t>
            </a:r>
          </a:p>
        </p:txBody>
      </p:sp>
      <p:sp>
        <p:nvSpPr>
          <p:cNvPr id="3" name="Title 2"/>
          <p:cNvSpPr>
            <a:spLocks noGrp="1"/>
          </p:cNvSpPr>
          <p:nvPr>
            <p:ph type="title" idx="104"/>
          </p:nvPr>
        </p:nvSpPr>
        <p:spPr/>
        <p:txBody>
          <a:bodyPr lIns="0" rIns="0" tIns="0" bIns="0" anchor="t"/>
          <a:lstStyle/>
          <a:p>
            <a:r>
              <a:t>Every heavy question is sized before it runs, then becomes a visible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0240" cy="11430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536192"/>
            <a:ext cx="1737360" cy="1051560"/>
          </a:xfrm>
          <a:prstGeom prst="rect">
            <a:avLst/>
          </a:prstGeom>
          <a:noFill/>
        </p:spPr>
        <p:txBody>
          <a:bodyPr wrap="square" lIns="0" rIns="0" tIns="0" bIns="0" anchor="t">
            <a:spAutoFit/>
          </a:bodyPr>
          <a:lstStyle/>
          <a:p>
            <a:pPr algn="l">
              <a:spcAft>
                <a:spcPts val="200"/>
              </a:spcAft>
            </a:pPr>
            <a:r>
              <a:rPr sz="1300" b="1" i="0">
                <a:solidFill>
                  <a:srgbClr val="8A1626"/>
                </a:solidFill>
              </a:rPr>
              <a:t>A question</a:t>
            </a:r>
          </a:p>
          <a:p>
            <a:pPr algn="l"/>
            <a:r>
              <a:rPr sz="1100" b="0" i="0">
                <a:solidFill>
                  <a:srgbClr val="4A5058"/>
                </a:solidFill>
              </a:rPr>
              <a:t>visual, MQ, SQL or statement; Prefer: respond-async</a:t>
            </a:r>
          </a:p>
        </p:txBody>
      </p:sp>
      <p:cxnSp>
        <p:nvCxnSpPr>
          <p:cNvPr id="28" name="Connector 27"/>
          <p:cNvCxnSpPr/>
          <p:nvPr/>
        </p:nvCxnSpPr>
        <p:spPr>
          <a:xfrm>
            <a:off x="2697480" y="2057400"/>
            <a:ext cx="365760"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3240" y="1481328"/>
            <a:ext cx="2286000" cy="114300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172968" y="1536192"/>
            <a:ext cx="2103120" cy="1051560"/>
          </a:xfrm>
          <a:prstGeom prst="rect">
            <a:avLst/>
          </a:prstGeom>
          <a:noFill/>
        </p:spPr>
        <p:txBody>
          <a:bodyPr wrap="square" lIns="0" rIns="0" tIns="0" bIns="0" anchor="t">
            <a:spAutoFit/>
          </a:bodyPr>
          <a:lstStyle/>
          <a:p>
            <a:pPr algn="l">
              <a:spcAft>
                <a:spcPts val="200"/>
              </a:spcAft>
            </a:pPr>
            <a:r>
              <a:rPr sz="1300" b="1" i="0">
                <a:solidFill>
                  <a:srgbClr val="8A1626"/>
                </a:solidFill>
              </a:rPr>
              <a:t>The planner</a:t>
            </a:r>
          </a:p>
          <a:p>
            <a:pPr algn="l"/>
            <a:r>
              <a:rPr sz="1100" b="0" i="0">
                <a:solidFill>
                  <a:srgbClr val="1A1A1A"/>
                </a:solidFill>
              </a:rPr>
              <a:t>sizes it from metadata only: Delta row counts, Iceberg manifests, built layers</a:t>
            </a:r>
          </a:p>
        </p:txBody>
      </p:sp>
      <p:cxnSp>
        <p:nvCxnSpPr>
          <p:cNvPr id="31" name="Connector 30"/>
          <p:cNvCxnSpPr/>
          <p:nvPr/>
        </p:nvCxnSpPr>
        <p:spPr>
          <a:xfrm flipV="1">
            <a:off x="5349240" y="1746504"/>
            <a:ext cx="347472" cy="310896"/>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96712" y="1481328"/>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788152" y="1499616"/>
            <a:ext cx="2011680" cy="493775"/>
          </a:xfrm>
          <a:prstGeom prst="rect">
            <a:avLst/>
          </a:prstGeom>
          <a:noFill/>
        </p:spPr>
        <p:txBody>
          <a:bodyPr wrap="square" lIns="0" rIns="0" tIns="0" bIns="0" anchor="ctr">
            <a:spAutoFit/>
          </a:bodyPr>
          <a:lstStyle/>
          <a:p>
            <a:pPr algn="l"/>
            <a:r>
              <a:rPr sz="1200" b="1" i="0">
                <a:solidFill>
                  <a:srgbClr val="A51C30"/>
                </a:solidFill>
              </a:rPr>
              <a:t>Cheap  </a:t>
            </a:r>
            <a:r>
              <a:rPr sz="1050" b="0" i="0">
                <a:solidFill>
                  <a:srgbClr val="1A1A1A"/>
                </a:solidFill>
              </a:rPr>
              <a:t>answered at once, as before</a:t>
            </a:r>
          </a:p>
        </p:txBody>
      </p:sp>
      <p:cxnSp>
        <p:nvCxnSpPr>
          <p:cNvPr id="34" name="Connector 33"/>
          <p:cNvCxnSpPr/>
          <p:nvPr/>
        </p:nvCxnSpPr>
        <p:spPr>
          <a:xfrm>
            <a:off x="5349240" y="2057400"/>
            <a:ext cx="347472" cy="292608"/>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696712" y="2084832"/>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788152" y="2103120"/>
            <a:ext cx="2011680" cy="493775"/>
          </a:xfrm>
          <a:prstGeom prst="rect">
            <a:avLst/>
          </a:prstGeom>
          <a:noFill/>
        </p:spPr>
        <p:txBody>
          <a:bodyPr wrap="square" lIns="0" rIns="0" tIns="0" bIns="0" anchor="ctr">
            <a:spAutoFit/>
          </a:bodyPr>
          <a:lstStyle/>
          <a:p>
            <a:pPr algn="l"/>
            <a:r>
              <a:rPr sz="1200" b="1" i="0">
                <a:solidFill>
                  <a:srgbClr val="A51C30"/>
                </a:solidFill>
              </a:rPr>
              <a:t>Heavy  </a:t>
            </a:r>
            <a:r>
              <a:rPr sz="1050" b="0" i="0">
                <a:solidFill>
                  <a:srgbClr val="1A1A1A"/>
                </a:solidFill>
              </a:rPr>
              <a:t>a run: Runs tab, bell when it ends, share, export, schedule</a:t>
            </a:r>
          </a:p>
        </p:txBody>
      </p:sp>
      <p:cxnSp>
        <p:nvCxnSpPr>
          <p:cNvPr id="37" name="Connector 36"/>
          <p:cNvCxnSpPr/>
          <p:nvPr/>
        </p:nvCxnSpPr>
        <p:spPr>
          <a:xfrm>
            <a:off x="5349240" y="2057400"/>
            <a:ext cx="347472" cy="89611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96712" y="2688336"/>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788152" y="2706624"/>
            <a:ext cx="2011680" cy="493775"/>
          </a:xfrm>
          <a:prstGeom prst="rect">
            <a:avLst/>
          </a:prstGeom>
          <a:noFill/>
        </p:spPr>
        <p:txBody>
          <a:bodyPr wrap="square" lIns="0" rIns="0" tIns="0" bIns="0" anchor="ctr">
            <a:spAutoFit/>
          </a:bodyPr>
          <a:lstStyle/>
          <a:p>
            <a:pPr algn="l"/>
            <a:r>
              <a:rPr sz="1200" b="1" i="0">
                <a:solidFill>
                  <a:srgbClr val="A51C30"/>
                </a:solidFill>
              </a:rPr>
              <a:t>Very heavy  </a:t>
            </a:r>
            <a:r>
              <a:rPr sz="1050" b="0" i="0">
                <a:solidFill>
                  <a:srgbClr val="1A1A1A"/>
                </a:solidFill>
              </a:rPr>
              <a:t>asks to confirm first</a:t>
            </a:r>
          </a:p>
        </p:txBody>
      </p:sp>
      <p:cxnSp>
        <p:nvCxnSpPr>
          <p:cNvPr id="40" name="Connector 39"/>
          <p:cNvCxnSpPr/>
          <p:nvPr/>
        </p:nvCxnSpPr>
        <p:spPr>
          <a:xfrm>
            <a:off x="5349240" y="2057400"/>
            <a:ext cx="347472" cy="1499615"/>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96712" y="3291839"/>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788152" y="3310127"/>
            <a:ext cx="2011680" cy="493775"/>
          </a:xfrm>
          <a:prstGeom prst="rect">
            <a:avLst/>
          </a:prstGeom>
          <a:noFill/>
        </p:spPr>
        <p:txBody>
          <a:bodyPr wrap="square" lIns="0" rIns="0" tIns="0" bIns="0" anchor="ctr">
            <a:spAutoFit/>
          </a:bodyPr>
          <a:lstStyle/>
          <a:p>
            <a:pPr algn="l"/>
            <a:r>
              <a:rPr sz="1200" b="1" i="0">
                <a:solidFill>
                  <a:srgbClr val="A51C30"/>
                </a:solidFill>
              </a:rPr>
              <a:t>Impossible  </a:t>
            </a:r>
            <a:r>
              <a:rPr sz="1050" b="0" i="0">
                <a:solidFill>
                  <a:srgbClr val="1A1A1A"/>
                </a:solidFill>
              </a:rPr>
              <a:t>refused before anything runs (DRS-9029)</a:t>
            </a:r>
          </a:p>
        </p:txBody>
      </p:sp>
      <p:sp>
        <p:nvSpPr>
          <p:cNvPr id="43" name="TextBox 42"/>
          <p:cNvSpPr txBox="1"/>
          <p:nvPr/>
        </p:nvSpPr>
        <p:spPr>
          <a:xfrm>
            <a:off x="777240" y="3977639"/>
            <a:ext cx="7040880" cy="155448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Fewer duplicate runs</a:t>
            </a:r>
          </a:p>
          <a:p>
            <a:pPr marL="164592" indent="0">
              <a:spcAft>
                <a:spcPts val="400"/>
              </a:spcAft>
            </a:pPr>
            <a:r>
              <a:rPr sz="1150" b="0" i="0">
                <a:solidFill>
                  <a:srgbClr val="1A1A1A"/>
                </a:solidFill>
              </a:rPr>
              <a:t>An identical question joins the run already going; a finished answer is reused while the data is unchanged.</a:t>
            </a:r>
          </a:p>
          <a:p>
            <a:pPr marL="164592" indent="-164592">
              <a:spcAft>
                <a:spcPts val="100"/>
              </a:spcAft>
              <a:buClr>
                <a:srgbClr val="A51C30"/>
              </a:buClr>
              <a:buSzPct val="100000"/>
              <a:buFont typeface="Arial"/>
              <a:buChar char="▪"/>
            </a:pPr>
            <a:r>
              <a:rPr sz="1300" b="1" i="0">
                <a:solidFill>
                  <a:srgbClr val="8A1626"/>
                </a:solidFill>
              </a:rPr>
              <a:t>Masks hold</a:t>
            </a:r>
          </a:p>
          <a:p>
            <a:pPr marL="164592" indent="0">
              <a:spcAft>
                <a:spcPts val="400"/>
              </a:spcAft>
            </a:pPr>
            <a:r>
              <a:rPr sz="1150" b="0" i="0">
                <a:solidFill>
                  <a:srgbClr val="1A1A1A"/>
                </a:solidFill>
              </a:rPr>
              <a:t>A run computes as its runner; a shared run is the same, re-masked or recomputed as the recipient, decided at every read.</a:t>
            </a:r>
          </a:p>
        </p:txBody>
      </p:sp>
      <p:pic>
        <p:nvPicPr>
          <p:cNvPr id="44" name="Chart any table" descr="donut-terminal.png"/>
          <p:cNvPicPr>
            <a:picLocks noChangeAspect="1"/>
          </p:cNvPicPr>
          <p:nvPr/>
        </p:nvPicPr>
        <p:blipFill>
          <a:blip r:embed="rId2"/>
          <a:stretch>
            <a:fillRect/>
          </a:stretch>
        </p:blipFill>
        <p:spPr>
          <a:xfrm>
            <a:off x="8092440" y="1492395"/>
            <a:ext cx="3319272" cy="1852384"/>
          </a:xfrm>
          <a:prstGeom prst="rect">
            <a:avLst/>
          </a:prstGeom>
          <a:ln w="9525">
            <a:solidFill>
              <a:srgbClr val="CFC8BE"/>
            </a:solidFill>
          </a:ln>
        </p:spPr>
      </p:pic>
      <p:sp>
        <p:nvSpPr>
          <p:cNvPr id="45" name="TextBox 44"/>
          <p:cNvSpPr txBox="1"/>
          <p:nvPr/>
        </p:nvSpPr>
        <p:spPr>
          <a:xfrm>
            <a:off x="8092440" y="3429000"/>
            <a:ext cx="3319272" cy="2103120"/>
          </a:xfrm>
          <a:prstGeom prst="rect">
            <a:avLst/>
          </a:prstGeom>
          <a:noFill/>
        </p:spPr>
        <p:txBody>
          <a:bodyPr wrap="square" lIns="0" rIns="0" tIns="0" bIns="0" anchor="t">
            <a:spAutoFit/>
          </a:bodyPr>
          <a:lstStyle/>
          <a:p>
            <a:pPr algn="l">
              <a:spcAft>
                <a:spcPts val="200"/>
              </a:spcAft>
            </a:pPr>
            <a:r>
              <a:rPr sz="1300" b="1" i="0">
                <a:solidFill>
                  <a:srgbClr val="8A1626"/>
                </a:solidFill>
              </a:rPr>
              <a:t>Chart any table</a:t>
            </a:r>
          </a:p>
          <a:p>
            <a:pPr algn="l">
              <a:spcAft>
                <a:spcPts val="600"/>
              </a:spcAft>
            </a:pPr>
            <a:r>
              <a:rPr sz="1150" b="0" i="0">
                <a:solidFill>
                  <a:srgbClr val="1A1A1A"/>
                </a:solidFill>
              </a:rPr>
              <a:t>K on view tables, searches, pick lists, admin lists, history and BI tables: six types, Top N, stacking, two axes; PNG, SVG, CSV, Excel. Masked columns are never plotted.</a:t>
            </a:r>
          </a:p>
          <a:p>
            <a:pPr algn="l"/>
            <a:r>
              <a:rPr sz="1300" b="1" i="0">
                <a:solidFill>
                  <a:srgbClr val="A51C30"/>
                </a:solidFill>
              </a:rPr>
              <a:t>0 </a:t>
            </a:r>
            <a:r>
              <a:rPr sz="1150" b="0" i="0">
                <a:solidFill>
                  <a:srgbClr val="1A1A1A"/>
                </a:solidFill>
              </a:rPr>
              <a:t>connector reads to size a question (RunPlannerTest)</a:t>
            </a:r>
          </a:p>
        </p:txBody>
      </p:sp>
      <p:sp>
        <p:nvSpPr>
          <p:cNvPr id="46" name="Rectangle 4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Refusing a year of raw trades costs a log read, not a year of builds — and an interactive slot is never held.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DELTA AND ICEBERG SIDE BY SIDE · 2.6.0 AND 2.6.7</a:t>
            </a:r>
          </a:p>
        </p:txBody>
      </p:sp>
      <p:sp>
        <p:nvSpPr>
          <p:cNvPr id="3" name="Title 2"/>
          <p:cNvSpPr>
            <a:spLocks noGrp="1"/>
          </p:cNvSpPr>
          <p:nvPr>
            <p:ph type="title" idx="104"/>
          </p:nvPr>
        </p:nvSpPr>
        <p:spPr/>
        <p:txBody>
          <a:bodyPr lIns="0" rIns="0" tIns="0" bIns="0" anchor="t"/>
          <a:lstStyle/>
          <a:p>
            <a:r>
              <a:t>Each system's trades in Delta or Iceberg — the same answers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105156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One switch per source system</a:t>
            </a:r>
          </a:p>
        </p:txBody>
      </p:sp>
      <p:sp>
        <p:nvSpPr>
          <p:cNvPr id="29" name="TextBox 28"/>
          <p:cNvSpPr txBox="1"/>
          <p:nvPr/>
        </p:nvSpPr>
        <p:spPr>
          <a:xfrm>
            <a:off x="941832" y="1901952"/>
            <a:ext cx="4846320" cy="548639"/>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build_demo_lakes.py --store endur=delta \</a:t>
            </a:r>
          </a:p>
          <a:p>
            <a:pPr algn="l">
              <a:spcAft>
                <a:spcPts val="200"/>
              </a:spcAft>
            </a:pPr>
            <a:r>
              <a:rPr sz="1100" b="0" i="0">
                <a:solidFill>
                  <a:srgbClr val="F1EEE9"/>
                </a:solidFill>
                <a:latin typeface="Courier New"/>
              </a:rPr>
              <a:t>    --store calypso=iceberg --store murex=iceberg</a:t>
            </a:r>
          </a:p>
        </p:txBody>
      </p:sp>
      <p:sp>
        <p:nvSpPr>
          <p:cNvPr id="30" name="Rectangle 29"/>
          <p:cNvSpPr/>
          <p:nvPr/>
        </p:nvSpPr>
        <p:spPr>
          <a:xfrm>
            <a:off x="777240" y="2743200"/>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7240" y="2743200"/>
            <a:ext cx="1325880" cy="548640"/>
          </a:xfrm>
          <a:prstGeom prst="rect">
            <a:avLst/>
          </a:prstGeom>
          <a:noFill/>
        </p:spPr>
        <p:txBody>
          <a:bodyPr wrap="square" lIns="0" rIns="0" tIns="0" bIns="0" anchor="ctr">
            <a:spAutoFit/>
          </a:bodyPr>
          <a:lstStyle/>
          <a:p>
            <a:pPr algn="ctr"/>
            <a:r>
              <a:rPr sz="1200" b="1" i="0">
                <a:solidFill>
                  <a:srgbClr val="FFFFFF"/>
                </a:solidFill>
              </a:rPr>
              <a:t>ENDUR</a:t>
            </a:r>
          </a:p>
        </p:txBody>
      </p:sp>
      <p:cxnSp>
        <p:nvCxnSpPr>
          <p:cNvPr id="32" name="Connector 31"/>
          <p:cNvCxnSpPr/>
          <p:nvPr/>
        </p:nvCxnSpPr>
        <p:spPr>
          <a:xfrm>
            <a:off x="2103120" y="3017520"/>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423160" y="2743200"/>
            <a:ext cx="160020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468880" y="2743200"/>
            <a:ext cx="1508760" cy="548640"/>
          </a:xfrm>
          <a:prstGeom prst="rect">
            <a:avLst/>
          </a:prstGeom>
          <a:noFill/>
        </p:spPr>
        <p:txBody>
          <a:bodyPr wrap="square" lIns="0" rIns="0" tIns="0" bIns="0" anchor="ctr">
            <a:spAutoFit/>
          </a:bodyPr>
          <a:lstStyle/>
          <a:p>
            <a:pPr algn="ctr"/>
            <a:r>
              <a:rPr sz="1150" b="1" i="0">
                <a:solidFill>
                  <a:srgbClr val="8A1626"/>
                </a:solidFill>
              </a:rPr>
              <a:t>Delta Lake</a:t>
            </a:r>
          </a:p>
          <a:p>
            <a:pPr algn="ctr"/>
            <a:r>
              <a:rPr sz="1000" b="0" i="0">
                <a:solidFill>
                  <a:srgbClr val="4A5058"/>
                </a:solidFill>
              </a:rPr>
              <a:t>delta connector</a:t>
            </a:r>
          </a:p>
        </p:txBody>
      </p:sp>
      <p:cxnSp>
        <p:nvCxnSpPr>
          <p:cNvPr id="35" name="Connector 34"/>
          <p:cNvCxnSpPr/>
          <p:nvPr/>
        </p:nvCxnSpPr>
        <p:spPr>
          <a:xfrm>
            <a:off x="4023359" y="3017520"/>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3456432"/>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77240" y="3456432"/>
            <a:ext cx="1325880" cy="548640"/>
          </a:xfrm>
          <a:prstGeom prst="rect">
            <a:avLst/>
          </a:prstGeom>
          <a:noFill/>
        </p:spPr>
        <p:txBody>
          <a:bodyPr wrap="square" lIns="0" rIns="0" tIns="0" bIns="0" anchor="ctr">
            <a:spAutoFit/>
          </a:bodyPr>
          <a:lstStyle/>
          <a:p>
            <a:pPr algn="ctr"/>
            <a:r>
              <a:rPr sz="1200" b="1" i="0">
                <a:solidFill>
                  <a:srgbClr val="FFFFFF"/>
                </a:solidFill>
              </a:rPr>
              <a:t>CALYPSO</a:t>
            </a:r>
          </a:p>
        </p:txBody>
      </p:sp>
      <p:cxnSp>
        <p:nvCxnSpPr>
          <p:cNvPr id="38" name="Connector 37"/>
          <p:cNvCxnSpPr/>
          <p:nvPr/>
        </p:nvCxnSpPr>
        <p:spPr>
          <a:xfrm>
            <a:off x="2103120" y="3730752"/>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423160" y="3456432"/>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468880" y="3456432"/>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1" name="Connector 40"/>
          <p:cNvCxnSpPr/>
          <p:nvPr/>
        </p:nvCxnSpPr>
        <p:spPr>
          <a:xfrm>
            <a:off x="4023359" y="3730752"/>
            <a:ext cx="365761" cy="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4169664"/>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77240" y="4169664"/>
            <a:ext cx="1325880" cy="548640"/>
          </a:xfrm>
          <a:prstGeom prst="rect">
            <a:avLst/>
          </a:prstGeom>
          <a:noFill/>
        </p:spPr>
        <p:txBody>
          <a:bodyPr wrap="square" lIns="0" rIns="0" tIns="0" bIns="0" anchor="ctr">
            <a:spAutoFit/>
          </a:bodyPr>
          <a:lstStyle/>
          <a:p>
            <a:pPr algn="ctr"/>
            <a:r>
              <a:rPr sz="1200" b="1" i="0">
                <a:solidFill>
                  <a:srgbClr val="FFFFFF"/>
                </a:solidFill>
              </a:rPr>
              <a:t>MUREX</a:t>
            </a:r>
          </a:p>
        </p:txBody>
      </p:sp>
      <p:cxnSp>
        <p:nvCxnSpPr>
          <p:cNvPr id="44" name="Connector 43"/>
          <p:cNvCxnSpPr/>
          <p:nvPr/>
        </p:nvCxnSpPr>
        <p:spPr>
          <a:xfrm>
            <a:off x="2103120" y="4443984"/>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2423160" y="4169664"/>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2468880" y="4169664"/>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7" name="Connector 46"/>
          <p:cNvCxnSpPr/>
          <p:nvPr/>
        </p:nvCxnSpPr>
        <p:spPr>
          <a:xfrm flipV="1">
            <a:off x="4023359" y="3730752"/>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389120" y="2743200"/>
            <a:ext cx="1508760" cy="1975104"/>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462272" y="2798064"/>
            <a:ext cx="1371600" cy="1874519"/>
          </a:xfrm>
          <a:prstGeom prst="rect">
            <a:avLst/>
          </a:prstGeom>
          <a:noFill/>
        </p:spPr>
        <p:txBody>
          <a:bodyPr wrap="square" lIns="0" rIns="0" tIns="0" bIns="0" anchor="t">
            <a:spAutoFit/>
          </a:bodyPr>
          <a:lstStyle/>
          <a:p>
            <a:pPr algn="l">
              <a:spcAft>
                <a:spcPts val="200"/>
              </a:spcAft>
            </a:pPr>
            <a:r>
              <a:rPr sz="1300" b="1" i="0">
                <a:solidFill>
                  <a:srgbClr val="8A1626"/>
                </a:solidFill>
              </a:rPr>
              <a:t>Same</a:t>
            </a:r>
          </a:p>
          <a:p>
            <a:pPr algn="l"/>
            <a:r>
              <a:rPr sz="1100" b="0" i="0">
                <a:solidFill>
                  <a:srgbClr val="1A1A1A"/>
                </a:solidFill>
              </a:rPr>
              <a:t>pages, histories, searches and BI answers; an equality test compares both</a:t>
            </a:r>
          </a:p>
        </p:txBody>
      </p:sp>
      <p:sp>
        <p:nvSpPr>
          <p:cNvPr id="50" name="TextBox 49"/>
          <p:cNvSpPr txBox="1"/>
          <p:nvPr/>
        </p:nvSpPr>
        <p:spPr>
          <a:xfrm>
            <a:off x="777240" y="4956048"/>
            <a:ext cx="5120640" cy="548640"/>
          </a:xfrm>
          <a:prstGeom prst="rect">
            <a:avLst/>
          </a:prstGeom>
          <a:noFill/>
        </p:spPr>
        <p:txBody>
          <a:bodyPr wrap="square" lIns="0" rIns="0" tIns="0" bIns="0" anchor="t">
            <a:spAutoFit/>
          </a:bodyPr>
          <a:lstStyle/>
          <a:p>
            <a:pPr algn="l"/>
            <a:r>
              <a:rPr sz="1150" b="0" i="0">
                <a:solidFill>
                  <a:srgbClr val="4A5058"/>
                </a:solidFill>
              </a:rPr>
              <a:t>Since 2.6.0 the iceberg-external connector also reads tables Drishti did not write: Spark, Flink, Trino, Snowflake, Glue.</a:t>
            </a:r>
          </a:p>
        </p:txBody>
      </p:sp>
      <p:sp>
        <p:nvSpPr>
          <p:cNvPr id="51" name="TextBox 50"/>
          <p:cNvSpPr txBox="1"/>
          <p:nvPr/>
        </p:nvSpPr>
        <p:spPr>
          <a:xfrm>
            <a:off x="6263640" y="1463040"/>
            <a:ext cx="5148072" cy="502920"/>
          </a:xfrm>
          <a:prstGeom prst="rect">
            <a:avLst/>
          </a:prstGeom>
          <a:noFill/>
        </p:spPr>
        <p:txBody>
          <a:bodyPr wrap="square" lIns="0" rIns="0" tIns="0" bIns="0" anchor="t">
            <a:spAutoFit/>
          </a:bodyPr>
          <a:lstStyle/>
          <a:p>
            <a:pPr algn="l"/>
            <a:r>
              <a:rPr sz="1350" b="1" i="0">
                <a:solidFill>
                  <a:srgbClr val="8A1626"/>
                </a:solidFill>
              </a:rPr>
              <a:t>drishti-iceberg: Iceberg without Hadoop</a:t>
            </a:r>
          </a:p>
          <a:p>
            <a:pPr algn="l"/>
            <a:r>
              <a:rPr sz="1150" b="0" i="0">
                <a:solidFill>
                  <a:srgbClr val="4A5058"/>
                </a:solidFill>
              </a:rPr>
              <a:t>Drishti's own engine, the default since 2.6.0 — so Iceberg runs on Windows</a:t>
            </a:r>
          </a:p>
        </p:txBody>
      </p:sp>
      <p:graphicFrame>
        <p:nvGraphicFramePr>
          <p:cNvPr id="52" name="Iceberg engine chart"/>
          <p:cNvGraphicFramePr>
            <a:graphicFrameLocks noGrp="1"/>
          </p:cNvGraphicFramePr>
          <p:nvPr/>
        </p:nvGraphicFramePr>
        <p:xfrm>
          <a:off x="6263640" y="2057400"/>
          <a:ext cx="5148072" cy="2377440"/>
        </p:xfrm>
        <a:graphic>
          <a:graphicData uri="http://schemas.openxmlformats.org/drawingml/2006/chart">
            <c:chart xmlns:c="http://schemas.openxmlformats.org/drawingml/2006/chart" r:id="rId2"/>
          </a:graphicData>
        </a:graphic>
      </p:graphicFrame>
      <p:sp>
        <p:nvSpPr>
          <p:cNvPr id="53" name="Rectangle 52"/>
          <p:cNvSpPr/>
          <p:nvPr/>
        </p:nvSpPr>
        <p:spPr>
          <a:xfrm>
            <a:off x="6263640"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6263640"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446520" y="4663440"/>
            <a:ext cx="2231136" cy="457200"/>
          </a:xfrm>
          <a:prstGeom prst="rect">
            <a:avLst/>
          </a:prstGeom>
          <a:noFill/>
        </p:spPr>
        <p:txBody>
          <a:bodyPr wrap="square" lIns="0" rIns="0" tIns="0" bIns="0" anchor="ctr">
            <a:spAutoFit/>
          </a:bodyPr>
          <a:lstStyle/>
          <a:p>
            <a:pPr algn="l"/>
            <a:r>
              <a:rPr sz="2000" b="1" i="0">
                <a:solidFill>
                  <a:srgbClr val="8A1626"/>
                </a:solidFill>
              </a:rPr>
              <a:t>2.8×</a:t>
            </a:r>
          </a:p>
        </p:txBody>
      </p:sp>
      <p:sp>
        <p:nvSpPr>
          <p:cNvPr id="56" name="TextBox 55"/>
          <p:cNvSpPr txBox="1"/>
          <p:nvPr/>
        </p:nvSpPr>
        <p:spPr>
          <a:xfrm>
            <a:off x="6446520" y="5138928"/>
            <a:ext cx="2231136" cy="292607"/>
          </a:xfrm>
          <a:prstGeom prst="rect">
            <a:avLst/>
          </a:prstGeom>
          <a:noFill/>
        </p:spPr>
        <p:txBody>
          <a:bodyPr wrap="square" lIns="0" rIns="0" tIns="0" bIns="0" anchor="t">
            <a:spAutoFit/>
          </a:bodyPr>
          <a:lstStyle/>
          <a:p>
            <a:pPr algn="l"/>
            <a:r>
              <a:rPr sz="1150" b="0" i="0">
                <a:solidFill>
                  <a:srgbClr val="4A5058"/>
                </a:solidFill>
              </a:rPr>
              <a:t>faster connector start</a:t>
            </a:r>
          </a:p>
        </p:txBody>
      </p:sp>
      <p:sp>
        <p:nvSpPr>
          <p:cNvPr id="57" name="Rectangle 56"/>
          <p:cNvSpPr/>
          <p:nvPr/>
        </p:nvSpPr>
        <p:spPr>
          <a:xfrm>
            <a:off x="8906256"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8906256"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089136" y="4663440"/>
            <a:ext cx="2231136" cy="457200"/>
          </a:xfrm>
          <a:prstGeom prst="rect">
            <a:avLst/>
          </a:prstGeom>
          <a:noFill/>
        </p:spPr>
        <p:txBody>
          <a:bodyPr wrap="square" lIns="0" rIns="0" tIns="0" bIns="0" anchor="ctr">
            <a:spAutoFit/>
          </a:bodyPr>
          <a:lstStyle/>
          <a:p>
            <a:pPr algn="l"/>
            <a:r>
              <a:rPr sz="2000" b="1" i="0">
                <a:solidFill>
                  <a:srgbClr val="8A1626"/>
                </a:solidFill>
              </a:rPr>
              <a:t>3.8×</a:t>
            </a:r>
          </a:p>
        </p:txBody>
      </p:sp>
      <p:sp>
        <p:nvSpPr>
          <p:cNvPr id="60" name="TextBox 59"/>
          <p:cNvSpPr txBox="1"/>
          <p:nvPr/>
        </p:nvSpPr>
        <p:spPr>
          <a:xfrm>
            <a:off x="9089136" y="5138928"/>
            <a:ext cx="2231136" cy="292607"/>
          </a:xfrm>
          <a:prstGeom prst="rect">
            <a:avLst/>
          </a:prstGeom>
          <a:noFill/>
        </p:spPr>
        <p:txBody>
          <a:bodyPr wrap="square" lIns="0" rIns="0" tIns="0" bIns="0" anchor="t">
            <a:spAutoFit/>
          </a:bodyPr>
          <a:lstStyle/>
          <a:p>
            <a:pPr algn="l"/>
            <a:r>
              <a:rPr sz="1150" b="0" i="0">
                <a:solidFill>
                  <a:srgbClr val="4A5058"/>
                </a:solidFill>
              </a:rPr>
              <a:t>faster read of a past day</a:t>
            </a:r>
          </a:p>
        </p:txBody>
      </p:sp>
      <p:sp>
        <p:nvSpPr>
          <p:cNvPr id="61" name="Rectangle 6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Rectangle 6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 is an admin's decision per system, not a rewrite: the pages cannot tell which format answered.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SUTRA NEXT · 2.7.0</a:t>
            </a:r>
          </a:p>
        </p:txBody>
      </p:sp>
      <p:sp>
        <p:nvSpPr>
          <p:cNvPr id="3" name="Title 2"/>
          <p:cNvSpPr>
            <a:spLocks noGrp="1"/>
          </p:cNvSpPr>
          <p:nvPr>
            <p:ph type="title" idx="104"/>
          </p:nvPr>
        </p:nvSpPr>
        <p:spPr/>
        <p:txBody>
          <a:bodyPr lIns="0" rIns="0" tIns="0" bIns="0" anchor="t"/>
          <a:lstStyle/>
          <a:p>
            <a:r>
              <a:t>Screens that respond, built from one UI kit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4343400" y="2606040"/>
            <a:ext cx="3474720" cy="1600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480560" y="2697480"/>
            <a:ext cx="3200400" cy="1417320"/>
          </a:xfrm>
          <a:prstGeom prst="rect">
            <a:avLst/>
          </a:prstGeom>
          <a:noFill/>
        </p:spPr>
        <p:txBody>
          <a:bodyPr wrap="square" lIns="0" rIns="0" tIns="0" bIns="0" anchor="ctr">
            <a:spAutoFit/>
          </a:bodyPr>
          <a:lstStyle/>
          <a:p>
            <a:pPr algn="l">
              <a:spcAft>
                <a:spcPts val="300"/>
              </a:spcAft>
            </a:pPr>
            <a:r>
              <a:rPr sz="1500" b="1" i="0">
                <a:solidFill>
                  <a:srgbClr val="FFFFFF"/>
                </a:solidFill>
              </a:rPr>
              <a:t>The Drishti UI kit</a:t>
            </a:r>
          </a:p>
          <a:p>
            <a:pPr algn="l"/>
            <a:r>
              <a:rPr sz="1100" b="0" i="0">
                <a:solidFill>
                  <a:srgbClr val="F6E6E9"/>
                </a:solidFill>
              </a:rPr>
              <a:t>config/ui-kit: 17 reusable fragments (row-picker@1, field-list@1, cashflow-ladder@1 …), pack fragments, theme tokens and brand; every fragment and Sutra has a doc: docstring</a:t>
            </a:r>
          </a:p>
        </p:txBody>
      </p:sp>
      <p:sp>
        <p:nvSpPr>
          <p:cNvPr id="28" name="Rectangle 27"/>
          <p:cNvSpPr/>
          <p:nvPr/>
        </p:nvSpPr>
        <p:spPr>
          <a:xfrm>
            <a:off x="77724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Events and children</a:t>
            </a:r>
          </a:p>
          <a:p>
            <a:pPr algn="l"/>
            <a:r>
              <a:rPr sz="1100" b="0" i="0">
                <a:solidFill>
                  <a:srgbClr val="4A5058"/>
                </a:solidFill>
              </a:rPr>
              <a:t>A click on a row opens linked records under it, beside, below or in tabs, from any enabled pack (emits, @panel.event, @parent); masked ids stay hidden.</a:t>
            </a:r>
          </a:p>
        </p:txBody>
      </p:sp>
      <p:cxnSp>
        <p:nvCxnSpPr>
          <p:cNvPr id="30" name="Connector 29"/>
          <p:cNvCxnSpPr/>
          <p:nvPr/>
        </p:nvCxnSpPr>
        <p:spPr>
          <a:xfrm>
            <a:off x="4142232" y="2011680"/>
            <a:ext cx="201168"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4672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15644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Refresh and freshness</a:t>
            </a:r>
          </a:p>
          <a:p>
            <a:pPr algn="l"/>
            <a:r>
              <a:rPr sz="1100" b="0" i="0">
                <a:solidFill>
                  <a:srgbClr val="4A5058"/>
                </a:solidFill>
              </a:rPr>
              <a:t>refresh: per panel or screen; pause, resume and interval per person; every panel says 'updated N s ago' and names a source that is not answering.</a:t>
            </a:r>
          </a:p>
        </p:txBody>
      </p:sp>
      <p:cxnSp>
        <p:nvCxnSpPr>
          <p:cNvPr id="33" name="Connector 32"/>
          <p:cNvCxnSpPr/>
          <p:nvPr/>
        </p:nvCxnSpPr>
        <p:spPr>
          <a:xfrm flipH="1">
            <a:off x="7818120" y="2011680"/>
            <a:ext cx="228600"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Layout</a:t>
            </a:r>
          </a:p>
          <a:p>
            <a:pPr algn="l"/>
            <a:r>
              <a:rPr sz="1100" b="0" i="0">
                <a:solidFill>
                  <a:srgbClr val="4A5058"/>
                </a:solidFill>
              </a:rPr>
              <a:t>Named areas on a 12-column grid, splits, tabs, sections, a sticky header, phone order; user-can-arrange per reader.</a:t>
            </a:r>
          </a:p>
        </p:txBody>
      </p:sp>
      <p:cxnSp>
        <p:nvCxnSpPr>
          <p:cNvPr id="36" name="Connector 35"/>
          <p:cNvCxnSpPr/>
          <p:nvPr/>
        </p:nvCxnSpPr>
        <p:spPr>
          <a:xfrm flipV="1">
            <a:off x="4142232" y="3886200"/>
            <a:ext cx="201168"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04672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644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Forms</a:t>
            </a:r>
          </a:p>
          <a:p>
            <a:pPr algn="l"/>
            <a:r>
              <a:rPr sz="1100" b="0" i="0">
                <a:solidFill>
                  <a:srgbClr val="4A5058"/>
                </a:solidFill>
              </a:rPr>
              <a:t>Edit beside a table, in its cells, or New in a guided drawer; linked-record fields, rules and masks; saved through write-back since 2.8.0.</a:t>
            </a:r>
          </a:p>
        </p:txBody>
      </p:sp>
      <p:cxnSp>
        <p:nvCxnSpPr>
          <p:cNvPr id="39" name="Connector 38"/>
          <p:cNvCxnSpPr/>
          <p:nvPr/>
        </p:nvCxnSpPr>
        <p:spPr>
          <a:xfrm flipH="1" flipV="1">
            <a:off x="7818120" y="3886200"/>
            <a:ext cx="228600"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343400" y="1463040"/>
            <a:ext cx="3474720" cy="1005840"/>
          </a:xfrm>
          <a:prstGeom prst="rect">
            <a:avLst/>
          </a:prstGeom>
          <a:noFill/>
        </p:spPr>
        <p:txBody>
          <a:bodyPr wrap="square" lIns="0" rIns="0" tIns="0" bIns="0" anchor="ctr">
            <a:spAutoFit/>
          </a:bodyPr>
          <a:lstStyle/>
          <a:p>
            <a:pPr algn="ctr"/>
            <a:r>
              <a:rPr sz="1200" b="1" i="0">
                <a:solidFill>
                  <a:srgbClr val="8A1626"/>
                </a:solidFill>
              </a:rPr>
              <a:t>Every pack screen now uses fragments, each proven to draw the same as before.</a:t>
            </a:r>
          </a:p>
        </p:txBody>
      </p:sp>
      <p:sp>
        <p:nvSpPr>
          <p:cNvPr id="41" name="TextBox 40"/>
          <p:cNvSpPr txBox="1"/>
          <p:nvPr/>
        </p:nvSpPr>
        <p:spPr>
          <a:xfrm>
            <a:off x="4343400" y="4343400"/>
            <a:ext cx="3474720" cy="1188720"/>
          </a:xfrm>
          <a:prstGeom prst="rect">
            <a:avLst/>
          </a:prstGeom>
          <a:noFill/>
        </p:spPr>
        <p:txBody>
          <a:bodyPr wrap="square" lIns="0" rIns="0" tIns="0" bIns="0" anchor="ctr">
            <a:spAutoFit/>
          </a:bodyPr>
          <a:lstStyle/>
          <a:p>
            <a:pPr algn="ctr"/>
            <a:r>
              <a:rPr sz="1150" b="0" i="0">
                <a:solidFill>
                  <a:srgbClr val="4A5058"/>
                </a:solidFill>
              </a:rPr>
              <a:t>On a cluster, one server per screen; when a server goes away the page says 'your selections were reset' in words.</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screen is still a paragraph — now a paragraph of documented, reusable fragments that respond to the user.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SUTRA DESIGNER · 2.7.0</a:t>
            </a:r>
          </a:p>
        </p:txBody>
      </p:sp>
      <p:sp>
        <p:nvSpPr>
          <p:cNvPr id="3" name="Title 2"/>
          <p:cNvSpPr>
            <a:spLocks noGrp="1"/>
          </p:cNvSpPr>
          <p:nvPr>
            <p:ph type="title" idx="104"/>
          </p:nvPr>
        </p:nvSpPr>
        <p:spPr/>
        <p:txBody>
          <a:bodyPr lIns="0" rIns="0" tIns="0" bIns="0" anchor="t"/>
          <a:lstStyle/>
          <a:p>
            <a:r>
              <a:t>Four modes over one Sutra: customize, describe, outline, grid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Customize the live page" descr="customize.jpg"/>
          <p:cNvPicPr>
            <a:picLocks noChangeAspect="1"/>
          </p:cNvPicPr>
          <p:nvPr/>
        </p:nvPicPr>
        <p:blipFill>
          <a:blip r:embed="rId2"/>
          <a:stretch>
            <a:fillRect/>
          </a:stretch>
        </p:blipFill>
        <p:spPr>
          <a:xfrm>
            <a:off x="777240" y="1502616"/>
            <a:ext cx="2521458" cy="1575911"/>
          </a:xfrm>
          <a:prstGeom prst="rect">
            <a:avLst/>
          </a:prstGeom>
          <a:ln w="9525">
            <a:solidFill>
              <a:srgbClr val="CFC8BE"/>
            </a:solidFill>
          </a:ln>
        </p:spPr>
      </p:pic>
      <p:sp>
        <p:nvSpPr>
          <p:cNvPr id="27" name="Oval 26"/>
          <p:cNvSpPr/>
          <p:nvPr/>
        </p:nvSpPr>
        <p:spPr>
          <a:xfrm>
            <a:off x="777240"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1</a:t>
            </a:r>
          </a:p>
        </p:txBody>
      </p:sp>
      <p:sp>
        <p:nvSpPr>
          <p:cNvPr id="28" name="TextBox 27"/>
          <p:cNvSpPr txBox="1"/>
          <p:nvPr/>
        </p:nvSpPr>
        <p:spPr>
          <a:xfrm>
            <a:off x="1088136" y="3209544"/>
            <a:ext cx="2192274" cy="292608"/>
          </a:xfrm>
          <a:prstGeom prst="rect">
            <a:avLst/>
          </a:prstGeom>
          <a:noFill/>
        </p:spPr>
        <p:txBody>
          <a:bodyPr wrap="square" lIns="0" rIns="0" tIns="0" bIns="0" anchor="ctr">
            <a:spAutoFit/>
          </a:bodyPr>
          <a:lstStyle/>
          <a:p>
            <a:pPr algn="l"/>
            <a:r>
              <a:rPr sz="1150" b="1" i="0">
                <a:solidFill>
                  <a:srgbClr val="8A1626"/>
                </a:solidFill>
              </a:rPr>
              <a:t>Customize the live page</a:t>
            </a:r>
          </a:p>
        </p:txBody>
      </p:sp>
      <p:pic>
        <p:nvPicPr>
          <p:cNvPr id="29" name="Describe a screen in one line" descr="describe.jpg"/>
          <p:cNvPicPr>
            <a:picLocks noChangeAspect="1"/>
          </p:cNvPicPr>
          <p:nvPr/>
        </p:nvPicPr>
        <p:blipFill>
          <a:blip r:embed="rId3"/>
          <a:stretch>
            <a:fillRect/>
          </a:stretch>
        </p:blipFill>
        <p:spPr>
          <a:xfrm>
            <a:off x="3481578" y="1502616"/>
            <a:ext cx="2521458" cy="1575911"/>
          </a:xfrm>
          <a:prstGeom prst="rect">
            <a:avLst/>
          </a:prstGeom>
          <a:ln w="9525">
            <a:solidFill>
              <a:srgbClr val="CFC8BE"/>
            </a:solidFill>
          </a:ln>
        </p:spPr>
      </p:pic>
      <p:sp>
        <p:nvSpPr>
          <p:cNvPr id="30" name="Oval 29"/>
          <p:cNvSpPr/>
          <p:nvPr/>
        </p:nvSpPr>
        <p:spPr>
          <a:xfrm>
            <a:off x="3481578"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2</a:t>
            </a:r>
          </a:p>
        </p:txBody>
      </p:sp>
      <p:sp>
        <p:nvSpPr>
          <p:cNvPr id="31" name="TextBox 30"/>
          <p:cNvSpPr txBox="1"/>
          <p:nvPr/>
        </p:nvSpPr>
        <p:spPr>
          <a:xfrm>
            <a:off x="3792474" y="3209544"/>
            <a:ext cx="2192274" cy="292608"/>
          </a:xfrm>
          <a:prstGeom prst="rect">
            <a:avLst/>
          </a:prstGeom>
          <a:noFill/>
        </p:spPr>
        <p:txBody>
          <a:bodyPr wrap="square" lIns="0" rIns="0" tIns="0" bIns="0" anchor="ctr">
            <a:spAutoFit/>
          </a:bodyPr>
          <a:lstStyle/>
          <a:p>
            <a:pPr algn="l"/>
            <a:r>
              <a:rPr sz="1150" b="1" i="0">
                <a:solidFill>
                  <a:srgbClr val="8A1626"/>
                </a:solidFill>
              </a:rPr>
              <a:t>Describe a screen in one line</a:t>
            </a:r>
          </a:p>
        </p:txBody>
      </p:sp>
      <p:pic>
        <p:nvPicPr>
          <p:cNvPr id="32" name="Outline: the page as a tree" descr="outline.jpg"/>
          <p:cNvPicPr>
            <a:picLocks noChangeAspect="1"/>
          </p:cNvPicPr>
          <p:nvPr/>
        </p:nvPicPr>
        <p:blipFill>
          <a:blip r:embed="rId4"/>
          <a:stretch>
            <a:fillRect/>
          </a:stretch>
        </p:blipFill>
        <p:spPr>
          <a:xfrm>
            <a:off x="6185916" y="1492110"/>
            <a:ext cx="2521458" cy="1596923"/>
          </a:xfrm>
          <a:prstGeom prst="rect">
            <a:avLst/>
          </a:prstGeom>
          <a:ln w="9525">
            <a:solidFill>
              <a:srgbClr val="CFC8BE"/>
            </a:solidFill>
          </a:ln>
        </p:spPr>
      </p:pic>
      <p:sp>
        <p:nvSpPr>
          <p:cNvPr id="33" name="Oval 32"/>
          <p:cNvSpPr/>
          <p:nvPr/>
        </p:nvSpPr>
        <p:spPr>
          <a:xfrm>
            <a:off x="6185916"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3</a:t>
            </a:r>
          </a:p>
        </p:txBody>
      </p:sp>
      <p:sp>
        <p:nvSpPr>
          <p:cNvPr id="34" name="TextBox 33"/>
          <p:cNvSpPr txBox="1"/>
          <p:nvPr/>
        </p:nvSpPr>
        <p:spPr>
          <a:xfrm>
            <a:off x="6496812" y="3209544"/>
            <a:ext cx="2192274" cy="292608"/>
          </a:xfrm>
          <a:prstGeom prst="rect">
            <a:avLst/>
          </a:prstGeom>
          <a:noFill/>
        </p:spPr>
        <p:txBody>
          <a:bodyPr wrap="square" lIns="0" rIns="0" tIns="0" bIns="0" anchor="ctr">
            <a:spAutoFit/>
          </a:bodyPr>
          <a:lstStyle/>
          <a:p>
            <a:pPr algn="l"/>
            <a:r>
              <a:rPr sz="1150" b="1" i="0">
                <a:solidFill>
                  <a:srgbClr val="8A1626"/>
                </a:solidFill>
              </a:rPr>
              <a:t>Outline: the page as a tree</a:t>
            </a:r>
          </a:p>
        </p:txBody>
      </p:sp>
      <p:pic>
        <p:nvPicPr>
          <p:cNvPr id="35" name="Grid, with formulas per cell" descr="grid-mode.jpg"/>
          <p:cNvPicPr>
            <a:picLocks noChangeAspect="1"/>
          </p:cNvPicPr>
          <p:nvPr/>
        </p:nvPicPr>
        <p:blipFill>
          <a:blip r:embed="rId5"/>
          <a:stretch>
            <a:fillRect/>
          </a:stretch>
        </p:blipFill>
        <p:spPr>
          <a:xfrm>
            <a:off x="8890254" y="1492110"/>
            <a:ext cx="2521458" cy="1596923"/>
          </a:xfrm>
          <a:prstGeom prst="rect">
            <a:avLst/>
          </a:prstGeom>
          <a:ln w="9525">
            <a:solidFill>
              <a:srgbClr val="CFC8BE"/>
            </a:solidFill>
          </a:ln>
        </p:spPr>
      </p:pic>
      <p:sp>
        <p:nvSpPr>
          <p:cNvPr id="36" name="Oval 35"/>
          <p:cNvSpPr/>
          <p:nvPr/>
        </p:nvSpPr>
        <p:spPr>
          <a:xfrm>
            <a:off x="8890254"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4</a:t>
            </a:r>
          </a:p>
        </p:txBody>
      </p:sp>
      <p:sp>
        <p:nvSpPr>
          <p:cNvPr id="37" name="TextBox 36"/>
          <p:cNvSpPr txBox="1"/>
          <p:nvPr/>
        </p:nvSpPr>
        <p:spPr>
          <a:xfrm>
            <a:off x="9201150" y="3209544"/>
            <a:ext cx="2192274" cy="292608"/>
          </a:xfrm>
          <a:prstGeom prst="rect">
            <a:avLst/>
          </a:prstGeom>
          <a:noFill/>
        </p:spPr>
        <p:txBody>
          <a:bodyPr wrap="square" lIns="0" rIns="0" tIns="0" bIns="0" anchor="ctr">
            <a:spAutoFit/>
          </a:bodyPr>
          <a:lstStyle/>
          <a:p>
            <a:pPr algn="l"/>
            <a:r>
              <a:rPr sz="1150" b="1" i="0">
                <a:solidFill>
                  <a:srgbClr val="8A1626"/>
                </a:solidFill>
              </a:rPr>
              <a:t>Grid, with formulas per cell</a:t>
            </a:r>
          </a:p>
        </p:txBody>
      </p:sp>
      <p:sp>
        <p:nvSpPr>
          <p:cNvPr id="38" name="Rectangle 37"/>
          <p:cNvSpPr/>
          <p:nvPr/>
        </p:nvSpPr>
        <p:spPr>
          <a:xfrm>
            <a:off x="777240" y="3639312"/>
            <a:ext cx="4206240"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3639312"/>
            <a:ext cx="42062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14400" y="3639312"/>
            <a:ext cx="3931920" cy="329184"/>
          </a:xfrm>
          <a:prstGeom prst="rect">
            <a:avLst/>
          </a:prstGeom>
          <a:noFill/>
        </p:spPr>
        <p:txBody>
          <a:bodyPr wrap="square" lIns="0" rIns="0" tIns="0" bIns="0" anchor="ctr">
            <a:spAutoFit/>
          </a:bodyPr>
          <a:lstStyle/>
          <a:p>
            <a:pPr algn="l"/>
            <a:r>
              <a:rPr sz="1150" b="1" i="0">
                <a:solidFill>
                  <a:srgbClr val="FFFFFF"/>
                </a:solidFill>
              </a:rPr>
              <a:t>A cell is a fragment call</a:t>
            </a:r>
          </a:p>
        </p:txBody>
      </p:sp>
      <p:sp>
        <p:nvSpPr>
          <p:cNvPr id="41" name="TextBox 40"/>
          <p:cNvSpPr txBox="1"/>
          <p:nvPr/>
        </p:nvSpPr>
        <p:spPr>
          <a:xfrm>
            <a:off x="941832" y="4078224"/>
            <a:ext cx="3931920"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B2 = field-list@1(...;</a:t>
            </a:r>
          </a:p>
          <a:p>
            <a:pPr algn="l">
              <a:spcAft>
                <a:spcPts val="200"/>
              </a:spcAft>
            </a:pPr>
            <a:r>
              <a:rPr sz="1150" b="0" i="0">
                <a:solidFill>
                  <a:srgbClr val="F1EEE9"/>
                </a:solidFill>
                <a:latin typeface="Courier New"/>
              </a:rPr>
              <a:t>     source: {... id: @A2.open.ref})</a:t>
            </a:r>
          </a:p>
        </p:txBody>
      </p:sp>
      <p:sp>
        <p:nvSpPr>
          <p:cNvPr id="42" name="TextBox 41"/>
          <p:cNvSpPr txBox="1"/>
          <p:nvPr/>
        </p:nvSpPr>
        <p:spPr>
          <a:xfrm>
            <a:off x="5303520" y="3639312"/>
            <a:ext cx="6108192" cy="182880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250" b="1" i="0">
                <a:solidFill>
                  <a:srgbClr val="8A1626"/>
                </a:solidFill>
              </a:rPr>
              <a:t>One Sutra, four views</a:t>
            </a:r>
          </a:p>
          <a:p>
            <a:pPr marL="164592" indent="0">
              <a:spcAft>
                <a:spcPts val="400"/>
              </a:spcAft>
            </a:pPr>
            <a:r>
              <a:rPr sz="1150" b="0" i="0">
                <a:solidFill>
                  <a:srgbClr val="1A1A1A"/>
                </a:solidFill>
              </a:rPr>
              <a:t>Every mode edits the same file; switch at any time.</a:t>
            </a:r>
          </a:p>
          <a:p>
            <a:pPr marL="164592" indent="-164592">
              <a:spcAft>
                <a:spcPts val="100"/>
              </a:spcAft>
              <a:buClr>
                <a:srgbClr val="A51C30"/>
              </a:buClr>
              <a:buSzPct val="100000"/>
              <a:buFont typeface="Arial"/>
              <a:buChar char="▪"/>
            </a:pPr>
            <a:r>
              <a:rPr sz="1250" b="1" i="0">
                <a:solidFill>
                  <a:srgbClr val="8A1626"/>
                </a:solidFill>
              </a:rPr>
              <a:t>My version of this page</a:t>
            </a:r>
          </a:p>
          <a:p>
            <a:pPr marL="164592" indent="0">
              <a:spcAft>
                <a:spcPts val="400"/>
              </a:spcAft>
            </a:pPr>
            <a:r>
              <a:rPr sz="1150" b="0" i="0">
                <a:solidFill>
                  <a:srgbClr val="1A1A1A"/>
                </a:solidFill>
              </a:rPr>
              <a:t>Each person keeps a customised copy; the shared page is untouched.</a:t>
            </a:r>
          </a:p>
          <a:p>
            <a:pPr marL="164592" indent="-164592">
              <a:spcAft>
                <a:spcPts val="100"/>
              </a:spcAft>
              <a:buClr>
                <a:srgbClr val="A51C30"/>
              </a:buClr>
              <a:buSzPct val="100000"/>
              <a:buFont typeface="Arial"/>
              <a:buChar char="▪"/>
            </a:pPr>
            <a:r>
              <a:rPr sz="1250" b="1" i="0">
                <a:solidFill>
                  <a:srgbClr val="8A1626"/>
                </a:solidFill>
              </a:rPr>
              <a:t>Two levels of click-opened cells; off by default</a:t>
            </a:r>
          </a:p>
          <a:p>
            <a:pPr marL="164592" indent="0">
              <a:spcAft>
                <a:spcPts val="400"/>
              </a:spcAft>
            </a:pPr>
            <a:r>
              <a:rPr sz="1150" b="0" i="0">
                <a:solidFill>
                  <a:srgbClr val="1A1A1A"/>
                </a:solidFill>
              </a:rPr>
              <a:t>ui.designer; tutorial 22 builds a screen with it.</a:t>
            </a:r>
          </a:p>
        </p:txBody>
      </p:sp>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Designing a screen in plain words still produces a reviewed, versioned Sutra — not a one-off.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PUBLIC DATA AS PACKS · 2.7.0 TO 2.9.3</a:t>
            </a:r>
          </a:p>
        </p:txBody>
      </p:sp>
      <p:sp>
        <p:nvSpPr>
          <p:cNvPr id="3" name="Title 2"/>
          <p:cNvSpPr>
            <a:spLocks noGrp="1"/>
          </p:cNvSpPr>
          <p:nvPr>
            <p:ph type="title" idx="104"/>
          </p:nvPr>
        </p:nvSpPr>
        <p:spPr/>
        <p:txBody>
          <a:bodyPr lIns="0" rIns="0" tIns="0" bIns="0" anchor="t"/>
          <a:lstStyle/>
          <a:p>
            <a:r>
              <a:t>US companies, legal entities and funds — linked, offline, refreshed by script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us-equities</a:t>
            </a:r>
          </a:p>
        </p:txBody>
      </p:sp>
      <p:sp>
        <p:nvSpPr>
          <p:cNvPr id="29" name="TextBox 28"/>
          <p:cNvSpPr txBox="1"/>
          <p:nvPr/>
        </p:nvSpPr>
        <p:spPr>
          <a:xfrm>
            <a:off x="914400" y="1920240"/>
            <a:ext cx="2926080" cy="1554480"/>
          </a:xfrm>
          <a:prstGeom prst="rect">
            <a:avLst/>
          </a:prstGeom>
          <a:noFill/>
        </p:spPr>
        <p:txBody>
          <a:bodyPr wrap="square" lIns="0" rIns="0" tIns="0" bIns="0" anchor="t">
            <a:spAutoFit/>
          </a:bodyPr>
          <a:lstStyle/>
          <a:p>
            <a:pPr algn="l"/>
            <a:r>
              <a:rPr sz="2400" b="1" i="0">
                <a:solidFill>
                  <a:srgbClr val="A51C30"/>
                </a:solidFill>
              </a:rPr>
              <a:t>586</a:t>
            </a:r>
          </a:p>
          <a:p>
            <a:pPr algn="l">
              <a:spcAft>
                <a:spcPts val="400"/>
              </a:spcAft>
            </a:pPr>
            <a:r>
              <a:rPr sz="1150" b="0" i="0">
                <a:solidFill>
                  <a:srgbClr val="1A1A1A"/>
                </a:solidFill>
              </a:rPr>
              <a:t>US companies from SEC EDGAR, Nasdaq and GLEIF: financials, filings, index members (479 at 2.7.0)</a:t>
            </a:r>
          </a:p>
          <a:p>
            <a:pPr algn="l"/>
            <a:r>
              <a:rPr sz="1050" b="1" i="0">
                <a:solidFill>
                  <a:srgbClr val="8A1626"/>
                </a:solidFill>
                <a:latin typeface="Courier New"/>
              </a:rPr>
              <a:t>USEQ · IDX · SIC · EDGAR</a:t>
            </a:r>
          </a:p>
        </p:txBody>
      </p:sp>
      <p:sp>
        <p:nvSpPr>
          <p:cNvPr id="30" name="Rectangle 29"/>
          <p:cNvSpPr/>
          <p:nvPr/>
        </p:nvSpPr>
        <p:spPr>
          <a:xfrm>
            <a:off x="4517136"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517136"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626864"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gleif</a:t>
            </a:r>
          </a:p>
        </p:txBody>
      </p:sp>
      <p:sp>
        <p:nvSpPr>
          <p:cNvPr id="33" name="TextBox 32"/>
          <p:cNvSpPr txBox="1"/>
          <p:nvPr/>
        </p:nvSpPr>
        <p:spPr>
          <a:xfrm>
            <a:off x="4654296" y="1920240"/>
            <a:ext cx="2926080" cy="1554480"/>
          </a:xfrm>
          <a:prstGeom prst="rect">
            <a:avLst/>
          </a:prstGeom>
          <a:noFill/>
        </p:spPr>
        <p:txBody>
          <a:bodyPr wrap="square" lIns="0" rIns="0" tIns="0" bIns="0" anchor="t">
            <a:spAutoFit/>
          </a:bodyPr>
          <a:lstStyle/>
          <a:p>
            <a:pPr algn="l"/>
            <a:r>
              <a:rPr sz="2400" b="1" i="0">
                <a:solidFill>
                  <a:srgbClr val="A51C30"/>
                </a:solidFill>
              </a:rPr>
              <a:t>9,512</a:t>
            </a:r>
          </a:p>
          <a:p>
            <a:pPr algn="l">
              <a:spcAft>
                <a:spcPts val="400"/>
              </a:spcAft>
            </a:pPr>
            <a:r>
              <a:rPr sz="1150" b="0" i="0">
                <a:solidFill>
                  <a:srgbClr val="1A1A1A"/>
                </a:solidFill>
              </a:rPr>
              <a:t>legal entities in 540 ownership groups; groups computed from DIRECT_PARENT</a:t>
            </a:r>
          </a:p>
          <a:p>
            <a:pPr algn="l"/>
            <a:r>
              <a:rPr sz="1050" b="1" i="0">
                <a:solidFill>
                  <a:srgbClr val="8A1626"/>
                </a:solidFill>
                <a:latin typeface="Courier New"/>
              </a:rPr>
              <a:t>LEI · LEIG · LEIC</a:t>
            </a:r>
          </a:p>
        </p:txBody>
      </p:sp>
      <p:sp>
        <p:nvSpPr>
          <p:cNvPr id="34" name="Rectangle 33"/>
          <p:cNvSpPr/>
          <p:nvPr/>
        </p:nvSpPr>
        <p:spPr>
          <a:xfrm>
            <a:off x="8257031"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8257031"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366759"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funds</a:t>
            </a:r>
          </a:p>
        </p:txBody>
      </p:sp>
      <p:sp>
        <p:nvSpPr>
          <p:cNvPr id="37" name="TextBox 36"/>
          <p:cNvSpPr txBox="1"/>
          <p:nvPr/>
        </p:nvSpPr>
        <p:spPr>
          <a:xfrm>
            <a:off x="8394192" y="1920240"/>
            <a:ext cx="2926080" cy="1554480"/>
          </a:xfrm>
          <a:prstGeom prst="rect">
            <a:avLst/>
          </a:prstGeom>
          <a:noFill/>
        </p:spPr>
        <p:txBody>
          <a:bodyPr wrap="square" lIns="0" rIns="0" tIns="0" bIns="0" anchor="t">
            <a:spAutoFit/>
          </a:bodyPr>
          <a:lstStyle/>
          <a:p>
            <a:pPr algn="l"/>
            <a:r>
              <a:rPr sz="2400" b="1" i="0">
                <a:solidFill>
                  <a:srgbClr val="A51C30"/>
                </a:solidFill>
              </a:rPr>
              <a:t>200</a:t>
            </a:r>
          </a:p>
          <a:p>
            <a:pPr algn="l">
              <a:spcAft>
                <a:spcPts val="400"/>
              </a:spcAft>
            </a:pPr>
            <a:r>
              <a:rPr sz="1150" b="0" i="0">
                <a:solidFill>
                  <a:srgbClr val="1A1A1A"/>
                </a:solidFill>
              </a:rPr>
              <a:t>largest US mutual funds and ETFs from N-PORT, N-CEN and prospectuses; 5.6 MB gzipped</a:t>
            </a:r>
          </a:p>
          <a:p>
            <a:pPr algn="l"/>
            <a:r>
              <a:rPr sz="1050" b="1" i="0">
                <a:solidFill>
                  <a:srgbClr val="8A1626"/>
                </a:solidFill>
                <a:latin typeface="Courier New"/>
              </a:rPr>
              <a:t>FUND · HELD · TRACK · FUNDS</a:t>
            </a:r>
          </a:p>
        </p:txBody>
      </p:sp>
      <p:cxnSp>
        <p:nvCxnSpPr>
          <p:cNvPr id="38" name="Connector 37"/>
          <p:cNvCxnSpPr/>
          <p:nvPr/>
        </p:nvCxnSpPr>
        <p:spPr>
          <a:xfrm>
            <a:off x="3959352" y="2487168"/>
            <a:ext cx="530351"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931920"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cxnSp>
        <p:nvCxnSpPr>
          <p:cNvPr id="40" name="Connector 39"/>
          <p:cNvCxnSpPr/>
          <p:nvPr/>
        </p:nvCxnSpPr>
        <p:spPr>
          <a:xfrm>
            <a:off x="7699248" y="2487168"/>
            <a:ext cx="530352"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671816"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sp>
        <p:nvSpPr>
          <p:cNvPr id="42" name="Rectangle 41"/>
          <p:cNvSpPr/>
          <p:nvPr/>
        </p:nvSpPr>
        <p:spPr>
          <a:xfrm>
            <a:off x="777240"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68680"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Refresh script</a:t>
            </a:r>
          </a:p>
          <a:p>
            <a:pPr algn="l"/>
            <a:r>
              <a:rPr sz="1050" b="0" i="0">
                <a:solidFill>
                  <a:srgbClr val="4A5058"/>
                </a:solidFill>
                <a:latin typeface="Courier New"/>
              </a:rPr>
              <a:t>tools/publicdata/&lt;pack&gt;.py .sh and .ps1, status, dry-run</a:t>
            </a:r>
          </a:p>
        </p:txBody>
      </p:sp>
      <p:cxnSp>
        <p:nvCxnSpPr>
          <p:cNvPr id="44" name="Connector 43"/>
          <p:cNvCxnSpPr/>
          <p:nvPr/>
        </p:nvCxnSpPr>
        <p:spPr>
          <a:xfrm>
            <a:off x="3248406"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504438"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3595878"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Committed snapshot</a:t>
            </a:r>
          </a:p>
          <a:p>
            <a:pPr algn="l"/>
            <a:r>
              <a:rPr sz="1050" b="0" i="0">
                <a:solidFill>
                  <a:srgbClr val="4A5058"/>
                </a:solidFill>
                <a:latin typeface="Courier New"/>
              </a:rPr>
              <a:t>data/testdata/&lt;domain&gt;/&lt;kind&gt;/*.jsonl.gz</a:t>
            </a:r>
          </a:p>
        </p:txBody>
      </p:sp>
      <p:cxnSp>
        <p:nvCxnSpPr>
          <p:cNvPr id="47" name="Connector 46"/>
          <p:cNvCxnSpPr/>
          <p:nvPr/>
        </p:nvCxnSpPr>
        <p:spPr>
          <a:xfrm>
            <a:off x="5975604"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231636"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23075"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Demo lakes</a:t>
            </a:r>
          </a:p>
          <a:p>
            <a:pPr algn="l"/>
            <a:r>
              <a:rPr sz="1050" b="0" i="0">
                <a:solidFill>
                  <a:srgbClr val="4A5058"/>
                </a:solidFill>
                <a:latin typeface="Courier New"/>
              </a:rPr>
              <a:t>build_demo_lakes → Delta</a:t>
            </a:r>
          </a:p>
        </p:txBody>
      </p:sp>
      <p:cxnSp>
        <p:nvCxnSpPr>
          <p:cNvPr id="50" name="Connector 49"/>
          <p:cNvCxnSpPr/>
          <p:nvPr/>
        </p:nvCxnSpPr>
        <p:spPr>
          <a:xfrm>
            <a:off x="8702801"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958834"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050274"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A connector per pack</a:t>
            </a:r>
          </a:p>
          <a:p>
            <a:pPr algn="l"/>
            <a:r>
              <a:rPr sz="1050" b="0" i="0">
                <a:solidFill>
                  <a:srgbClr val="4A5058"/>
                </a:solidFill>
                <a:latin typeface="Courier New"/>
              </a:rPr>
              <a:t>served offline, like any source</a:t>
            </a:r>
          </a:p>
        </p:txBody>
      </p:sp>
      <p:sp>
        <p:nvSpPr>
          <p:cNvPr id="53" name="TextBox 52"/>
          <p:cNvSpPr txBox="1"/>
          <p:nvPr/>
        </p:nvSpPr>
        <p:spPr>
          <a:xfrm>
            <a:off x="777240" y="4736592"/>
            <a:ext cx="10634472" cy="822960"/>
          </a:xfrm>
          <a:prstGeom prst="rect">
            <a:avLst/>
          </a:prstGeom>
          <a:noFill/>
        </p:spPr>
        <p:txBody>
          <a:bodyPr wrap="square" lIns="0" rIns="0" tIns="0" bIns="0" anchor="t">
            <a:spAutoFit/>
          </a:bodyPr>
          <a:lstStyle/>
          <a:p>
            <a:pPr algn="l"/>
            <a:r>
              <a:rPr sz="1200" b="1" i="0">
                <a:solidFill>
                  <a:srgbClr val="8A1626"/>
                </a:solidFill>
              </a:rPr>
              <a:t>External data, one page: </a:t>
            </a:r>
            <a:r>
              <a:rPr sz="1200" b="0" i="0">
                <a:solidFill>
                  <a:srgbClr val="1A1A1A"/>
                </a:solidFill>
              </a:rPr>
              <a:t>every source with its URL, licence and use; IMF, Yahoo and Google News marked internal only and refused in the repository; sectors are SIC divisions because GICS is proprietary — the pages say so.</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Public data arrives the way a bank's data does: a contract per kind, a lake, a connector — and no network at demo 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FUNDS AND INDEX MEMBERSHIP · 2.9.2 AND 2.9.3</a:t>
            </a:r>
          </a:p>
        </p:txBody>
      </p:sp>
      <p:sp>
        <p:nvSpPr>
          <p:cNvPr id="3" name="Title 2"/>
          <p:cNvSpPr>
            <a:spLocks noGrp="1"/>
          </p:cNvSpPr>
          <p:nvPr>
            <p:ph type="title" idx="104"/>
          </p:nvPr>
        </p:nvSpPr>
        <p:spPr/>
        <p:txBody>
          <a:bodyPr lIns="0" rIns="0" tIns="0" bIns="0" anchor="t"/>
          <a:lstStyle/>
          <a:p>
            <a:r>
              <a:t>Index members from what the tracking ETFs report to the SEC</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Fund fact sheet" descr="02-fund-fact-sheet.jpg"/>
          <p:cNvPicPr>
            <a:picLocks noChangeAspect="1"/>
          </p:cNvPicPr>
          <p:nvPr/>
        </p:nvPicPr>
        <p:blipFill>
          <a:blip r:embed="rId2"/>
          <a:stretch>
            <a:fillRect/>
          </a:stretch>
        </p:blipFill>
        <p:spPr>
          <a:xfrm>
            <a:off x="908913" y="1444752"/>
            <a:ext cx="4857292" cy="3794760"/>
          </a:xfrm>
          <a:prstGeom prst="rect">
            <a:avLst/>
          </a:prstGeom>
          <a:ln w="9525">
            <a:solidFill>
              <a:srgbClr val="CFC8BE"/>
            </a:solidFill>
          </a:ln>
        </p:spPr>
      </p:pic>
      <p:sp>
        <p:nvSpPr>
          <p:cNvPr id="27" name="TextBox 26"/>
          <p:cNvSpPr txBox="1"/>
          <p:nvPr/>
        </p:nvSpPr>
        <p:spPr>
          <a:xfrm>
            <a:off x="777240" y="5266944"/>
            <a:ext cx="5120640" cy="274320"/>
          </a:xfrm>
          <a:prstGeom prst="rect">
            <a:avLst/>
          </a:prstGeom>
          <a:noFill/>
        </p:spPr>
        <p:txBody>
          <a:bodyPr wrap="square" lIns="0" rIns="0" tIns="0" bIns="0" anchor="t">
            <a:spAutoFit/>
          </a:bodyPr>
          <a:lstStyle/>
          <a:p>
            <a:pPr algn="l"/>
            <a:r>
              <a:rPr sz="1050" b="0" i="1">
                <a:solidFill>
                  <a:srgbClr val="61666E"/>
                </a:solidFill>
              </a:rPr>
              <a:t>FUND QQQ: fact sheet, top holdings, look-through by SIC division (tutorial 28).</a:t>
            </a:r>
          </a:p>
        </p:txBody>
      </p:sp>
      <p:sp>
        <p:nvSpPr>
          <p:cNvPr id="28" name="TextBox 27"/>
          <p:cNvSpPr txBox="1"/>
          <p:nvPr/>
        </p:nvSpPr>
        <p:spPr>
          <a:xfrm>
            <a:off x="6217920" y="1444752"/>
            <a:ext cx="5193792" cy="566928"/>
          </a:xfrm>
          <a:prstGeom prst="rect">
            <a:avLst/>
          </a:prstGeom>
          <a:noFill/>
        </p:spPr>
        <p:txBody>
          <a:bodyPr wrap="square" lIns="0" rIns="0" tIns="0" bIns="0" anchor="t">
            <a:spAutoFit/>
          </a:bodyPr>
          <a:lstStyle/>
          <a:p>
            <a:pPr algn="l"/>
            <a:r>
              <a:rPr sz="1150" b="0" i="0">
                <a:solidFill>
                  <a:srgbClr val="1A1A1A"/>
                </a:solidFill>
              </a:rPr>
              <a:t>Before 2.9.3 the S&amp;P 500, Nasdaq-100 and Dow members came from Wikidata's lists, which lacked Exxon Mobil, BlackRock, NVIDIA in the Nasdaq-100 and about 100 more.</a:t>
            </a:r>
          </a:p>
        </p:txBody>
      </p:sp>
      <p:sp>
        <p:nvSpPr>
          <p:cNvPr id="29" name="TextBox 28"/>
          <p:cNvSpPr txBox="1"/>
          <p:nvPr/>
        </p:nvSpPr>
        <p:spPr>
          <a:xfrm>
            <a:off x="6217920" y="2084831"/>
            <a:ext cx="5193792" cy="274320"/>
          </a:xfrm>
          <a:prstGeom prst="rect">
            <a:avLst/>
          </a:prstGeom>
          <a:noFill/>
        </p:spPr>
        <p:txBody>
          <a:bodyPr wrap="square" lIns="0" rIns="0" tIns="0" bIns="0" anchor="t">
            <a:spAutoFit/>
          </a:bodyPr>
          <a:lstStyle/>
          <a:p>
            <a:pPr algn="l"/>
            <a:r>
              <a:rPr sz="1250" b="1" i="0">
                <a:solidFill>
                  <a:srgbClr val="A51C30"/>
                </a:solidFill>
              </a:rPr>
              <a:t>Active share against the index, before and after</a:t>
            </a:r>
          </a:p>
        </p:txBody>
      </p:sp>
      <p:graphicFrame>
        <p:nvGraphicFramePr>
          <p:cNvPr id="30" name="Active share chart"/>
          <p:cNvGraphicFramePr>
            <a:graphicFrameLocks noGrp="1"/>
          </p:cNvGraphicFramePr>
          <p:nvPr/>
        </p:nvGraphicFramePr>
        <p:xfrm>
          <a:off x="6217920" y="2331720"/>
          <a:ext cx="5193792" cy="1737360"/>
        </p:xfrm>
        <a:graphic>
          <a:graphicData uri="http://schemas.openxmlformats.org/drawingml/2006/chart">
            <c:chart xmlns:c="http://schemas.openxmlformats.org/drawingml/2006/chart" r:id="rId3"/>
          </a:graphicData>
        </a:graphic>
      </p:graphicFrame>
      <p:sp>
        <p:nvSpPr>
          <p:cNvPr id="31" name="Rectangle 30"/>
          <p:cNvSpPr/>
          <p:nvPr/>
        </p:nvSpPr>
        <p:spPr>
          <a:xfrm>
            <a:off x="6217920"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09359" y="4261104"/>
            <a:ext cx="1533144" cy="411480"/>
          </a:xfrm>
          <a:prstGeom prst="rect">
            <a:avLst/>
          </a:prstGeom>
          <a:noFill/>
        </p:spPr>
        <p:txBody>
          <a:bodyPr wrap="square" lIns="0" rIns="0" tIns="0" bIns="0" anchor="ctr">
            <a:spAutoFit/>
          </a:bodyPr>
          <a:lstStyle/>
          <a:p>
            <a:pPr algn="l"/>
            <a:r>
              <a:rPr sz="1600" b="1" i="0">
                <a:solidFill>
                  <a:srgbClr val="8A1626"/>
                </a:solidFill>
              </a:rPr>
              <a:t>503 → 586</a:t>
            </a:r>
          </a:p>
        </p:txBody>
      </p:sp>
      <p:sp>
        <p:nvSpPr>
          <p:cNvPr id="33" name="TextBox 32"/>
          <p:cNvSpPr txBox="1"/>
          <p:nvPr/>
        </p:nvSpPr>
        <p:spPr>
          <a:xfrm>
            <a:off x="6309359" y="4681728"/>
            <a:ext cx="1533144" cy="777240"/>
          </a:xfrm>
          <a:prstGeom prst="rect">
            <a:avLst/>
          </a:prstGeom>
          <a:noFill/>
        </p:spPr>
        <p:txBody>
          <a:bodyPr wrap="square" lIns="0" rIns="0" tIns="0" bIns="0" anchor="t">
            <a:spAutoFit/>
          </a:bodyPr>
          <a:lstStyle/>
          <a:p>
            <a:pPr algn="l"/>
            <a:r>
              <a:rPr sz="1100" b="0" i="0">
                <a:solidFill>
                  <a:srgbClr val="4A5058"/>
                </a:solidFill>
              </a:rPr>
              <a:t>companies in the pack</a:t>
            </a:r>
          </a:p>
        </p:txBody>
      </p:sp>
      <p:sp>
        <p:nvSpPr>
          <p:cNvPr id="34" name="Rectangle 33"/>
          <p:cNvSpPr/>
          <p:nvPr/>
        </p:nvSpPr>
        <p:spPr>
          <a:xfrm>
            <a:off x="7979664"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071104" y="4261104"/>
            <a:ext cx="1533144" cy="411480"/>
          </a:xfrm>
          <a:prstGeom prst="rect">
            <a:avLst/>
          </a:prstGeom>
          <a:noFill/>
        </p:spPr>
        <p:txBody>
          <a:bodyPr wrap="square" lIns="0" rIns="0" tIns="0" bIns="0" anchor="ctr">
            <a:spAutoFit/>
          </a:bodyPr>
          <a:lstStyle/>
          <a:p>
            <a:pPr algn="l"/>
            <a:r>
              <a:rPr sz="1600" b="1" i="0">
                <a:solidFill>
                  <a:srgbClr val="8A1626"/>
                </a:solidFill>
              </a:rPr>
              <a:t>98 of 99</a:t>
            </a:r>
          </a:p>
        </p:txBody>
      </p:sp>
      <p:sp>
        <p:nvSpPr>
          <p:cNvPr id="36" name="TextBox 35"/>
          <p:cNvSpPr txBox="1"/>
          <p:nvPr/>
        </p:nvSpPr>
        <p:spPr>
          <a:xfrm>
            <a:off x="8071104" y="4681728"/>
            <a:ext cx="1533144" cy="777240"/>
          </a:xfrm>
          <a:prstGeom prst="rect">
            <a:avLst/>
          </a:prstGeom>
          <a:noFill/>
        </p:spPr>
        <p:txBody>
          <a:bodyPr wrap="square" lIns="0" rIns="0" tIns="0" bIns="0" anchor="t">
            <a:spAutoFit/>
          </a:bodyPr>
          <a:lstStyle/>
          <a:p>
            <a:pPr algn="l"/>
            <a:r>
              <a:rPr sz="1100" b="0" i="0">
                <a:solidFill>
                  <a:srgbClr val="4A5058"/>
                </a:solidFill>
              </a:rPr>
              <a:t>listed Nasdaq-100 members held by QQQ</a:t>
            </a:r>
          </a:p>
        </p:txBody>
      </p:sp>
      <p:sp>
        <p:nvSpPr>
          <p:cNvPr id="37" name="Rectangle 36"/>
          <p:cNvSpPr/>
          <p:nvPr/>
        </p:nvSpPr>
        <p:spPr>
          <a:xfrm>
            <a:off x="9741408"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832848" y="4261104"/>
            <a:ext cx="1533144" cy="411480"/>
          </a:xfrm>
          <a:prstGeom prst="rect">
            <a:avLst/>
          </a:prstGeom>
          <a:noFill/>
        </p:spPr>
        <p:txBody>
          <a:bodyPr wrap="square" lIns="0" rIns="0" tIns="0" bIns="0" anchor="ctr">
            <a:spAutoFit/>
          </a:bodyPr>
          <a:lstStyle/>
          <a:p>
            <a:pPr algn="l"/>
            <a:r>
              <a:rPr sz="1600" b="1" i="0">
                <a:solidFill>
                  <a:srgbClr val="8A1626"/>
                </a:solidFill>
              </a:rPr>
              <a:t>162</a:t>
            </a:r>
          </a:p>
        </p:txBody>
      </p:sp>
      <p:sp>
        <p:nvSpPr>
          <p:cNvPr id="39" name="TextBox 38"/>
          <p:cNvSpPr txBox="1"/>
          <p:nvPr/>
        </p:nvSpPr>
        <p:spPr>
          <a:xfrm>
            <a:off x="9832848" y="4681728"/>
            <a:ext cx="1533144" cy="777240"/>
          </a:xfrm>
          <a:prstGeom prst="rect">
            <a:avLst/>
          </a:prstGeom>
          <a:noFill/>
        </p:spPr>
        <p:txBody>
          <a:bodyPr wrap="square" lIns="0" rIns="0" tIns="0" bIns="0" anchor="t">
            <a:spAutoFit/>
          </a:bodyPr>
          <a:lstStyle/>
          <a:p>
            <a:pPr algn="l"/>
            <a:r>
              <a:rPr sz="1100" b="0" i="0">
                <a:solidFill>
                  <a:srgbClr val="4A5058"/>
                </a:solidFill>
              </a:rPr>
              <a:t>WHAT terms, 23 new for funds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Dow is weighed by price and the Nasdaq-100 capped, as their methods do — the active shares fell to what an investor expects.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GROUPINGS AND ANALYTICS, COMPUTED · 2.9.1</a:t>
            </a:r>
          </a:p>
        </p:txBody>
      </p:sp>
      <p:sp>
        <p:nvSpPr>
          <p:cNvPr id="3" name="Title 2"/>
          <p:cNvSpPr>
            <a:spLocks noGrp="1"/>
          </p:cNvSpPr>
          <p:nvPr>
            <p:ph type="title" idx="104"/>
          </p:nvPr>
        </p:nvSpPr>
        <p:spPr/>
        <p:txBody>
          <a:bodyPr lIns="0" rIns="0" tIns="0" bIns="0" anchor="t"/>
          <a:lstStyle/>
          <a:p>
            <a:r>
              <a:t>Groupings and analytics computed from their members, not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400800" cy="3200400"/>
        </p:xfrm>
        <a:graphic>
          <a:graphicData uri="http://schemas.openxmlformats.org/drawingml/2006/table">
            <a:tbl>
              <a:tblPr firstRow="0" bandRow="0">
                <a:tableStyleId>{5940675A-B579-460E-94D1-54222C63F5DA}</a:tableStyleId>
              </a:tblPr>
              <a:tblGrid>
                <a:gridCol w="1234440"/>
                <a:gridCol w="3703320"/>
                <a:gridCol w="1463040"/>
              </a:tblGrid>
              <a:tr h="457200">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from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LEIG · LEIC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 relationships: ownership groups (no member cap), entities per country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sector's companies: count, revenue, net income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us-equities-groupings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ECG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 economies: GDP summed, growth GDP-weighted, inflation the median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macro-groupings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CORR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price history: Pearson or Ledoit-Wolf over a chosen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CorrelationEngine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 equity's beta against its index, from both histories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BetaEngine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USEQ · IDX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ratios, yearly change of a fact, index totals: worked out by 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pic>
        <p:nvPicPr>
          <p:cNvPr id="27" name="Correlation computed" descr="08-corr-pearson.jpg"/>
          <p:cNvPicPr>
            <a:picLocks noChangeAspect="1"/>
          </p:cNvPicPr>
          <p:nvPr/>
        </p:nvPicPr>
        <p:blipFill>
          <a:blip r:embed="rId2"/>
          <a:stretch>
            <a:fillRect/>
          </a:stretch>
        </p:blipFill>
        <p:spPr>
          <a:xfrm>
            <a:off x="7566660" y="1463040"/>
            <a:ext cx="3730752" cy="2331720"/>
          </a:xfrm>
          <a:prstGeom prst="rect">
            <a:avLst/>
          </a:prstGeom>
          <a:ln w="9525">
            <a:solidFill>
              <a:srgbClr val="CFC8BE"/>
            </a:solidFill>
          </a:ln>
        </p:spPr>
      </p:pic>
      <p:sp>
        <p:nvSpPr>
          <p:cNvPr id="28" name="TextBox 27"/>
          <p:cNvSpPr txBox="1"/>
          <p:nvPr/>
        </p:nvSpPr>
        <p:spPr>
          <a:xfrm>
            <a:off x="7452360" y="3840480"/>
            <a:ext cx="3959352" cy="274320"/>
          </a:xfrm>
          <a:prstGeom prst="rect">
            <a:avLst/>
          </a:prstGeom>
          <a:noFill/>
        </p:spPr>
        <p:txBody>
          <a:bodyPr wrap="square" lIns="0" rIns="0" tIns="0" bIns="0" anchor="t">
            <a:spAutoFit/>
          </a:bodyPr>
          <a:lstStyle/>
          <a:p>
            <a:pPr algn="l"/>
            <a:r>
              <a:rPr sz="1050" b="0" i="1">
                <a:solidFill>
                  <a:srgbClr val="61666E"/>
                </a:solidFill>
              </a:rPr>
              <a:t>CORR CORR-EU-EQ: estimator and window on the page (tutorial 27).</a:t>
            </a:r>
          </a:p>
        </p:txBody>
      </p:sp>
      <p:sp>
        <p:nvSpPr>
          <p:cNvPr id="29" name="Rectangle 28"/>
          <p:cNvSpPr/>
          <p:nvPr/>
        </p:nvSpPr>
        <p:spPr>
          <a:xfrm>
            <a:off x="7452360" y="4251960"/>
            <a:ext cx="3959352" cy="128016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62088" y="4325112"/>
            <a:ext cx="3739896" cy="1152143"/>
          </a:xfrm>
          <a:prstGeom prst="rect">
            <a:avLst/>
          </a:prstGeom>
          <a:noFill/>
        </p:spPr>
        <p:txBody>
          <a:bodyPr wrap="square" lIns="0" rIns="0" tIns="0" bIns="0" anchor="t">
            <a:spAutoFit/>
          </a:bodyPr>
          <a:lstStyle/>
          <a:p>
            <a:pPr algn="l">
              <a:spcAft>
                <a:spcPts val="300"/>
              </a:spcAft>
            </a:pPr>
            <a:r>
              <a:rPr sz="1250" b="1" i="0">
                <a:solidFill>
                  <a:srgbClr val="8A1626"/>
                </a:solidFill>
              </a:rPr>
              <a:t>The numbers change, and say why</a:t>
            </a:r>
          </a:p>
          <a:p>
            <a:pPr algn="l"/>
            <a:r>
              <a:rPr sz="1150" b="0" i="0">
                <a:solidFill>
                  <a:srgbClr val="4A5058"/>
                </a:solidFill>
              </a:rPr>
              <a:t>Stored correlations were set by hand at about 0.4; computed, about 0.1, because the demo's price series are independent. The reconciliation is in the guide.</a:t>
            </a:r>
          </a:p>
        </p:txBody>
      </p:sp>
      <p:sp>
        <p:nvSpPr>
          <p:cNvPr id="31" name="TextBox 30"/>
          <p:cNvSpPr txBox="1"/>
          <p:nvPr/>
        </p:nvSpPr>
        <p:spPr>
          <a:xfrm>
            <a:off x="777240" y="4800600"/>
            <a:ext cx="6400800" cy="731520"/>
          </a:xfrm>
          <a:prstGeom prst="rect">
            <a:avLst/>
          </a:prstGeom>
          <a:noFill/>
        </p:spPr>
        <p:txBody>
          <a:bodyPr wrap="square" lIns="0" rIns="0" tIns="0" bIns="0" anchor="t">
            <a:spAutoFit/>
          </a:bodyPr>
          <a:lstStyle/>
          <a:p>
            <a:pPr algn="l"/>
            <a:r>
              <a:rPr sz="1150" b="1" i="0">
                <a:solidFill>
                  <a:srgbClr val="8A1626"/>
                </a:solidFill>
              </a:rPr>
              <a:t>Old ids open the computed pages; </a:t>
            </a:r>
            <a:r>
              <a:rPr sz="1150" b="0" i="0">
                <a:solidFill>
                  <a:srgbClr val="1A1A1A"/>
                </a:solidFill>
              </a:rPr>
              <a:t>a control that feeds a computed panel (CORR's estimator and window) recomputes it at once.</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Retire the stored copy, keep the id: users follow the same links and get a figure they can re-derive.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 CONTRACTS FOR EVERY COMMAND · 2.8.0 AND 2.9.1</a:t>
            </a:r>
          </a:p>
        </p:txBody>
      </p:sp>
      <p:sp>
        <p:nvSpPr>
          <p:cNvPr id="3" name="Title 2"/>
          <p:cNvSpPr>
            <a:spLocks noGrp="1"/>
          </p:cNvSpPr>
          <p:nvPr>
            <p:ph type="title" idx="104"/>
          </p:nvPr>
        </p:nvSpPr>
        <p:spPr/>
        <p:txBody>
          <a:bodyPr lIns="0" rIns="0" tIns="0" bIns="0" anchor="t"/>
          <a:lstStyle/>
          <a:p>
            <a:r>
              <a:t>One contract per command, and everything else is generated from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566160" cy="233172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56616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291840" cy="329184"/>
          </a:xfrm>
          <a:prstGeom prst="rect">
            <a:avLst/>
          </a:prstGeom>
          <a:noFill/>
        </p:spPr>
        <p:txBody>
          <a:bodyPr wrap="square" lIns="0" rIns="0" tIns="0" bIns="0" anchor="ctr">
            <a:spAutoFit/>
          </a:bodyPr>
          <a:lstStyle/>
          <a:p>
            <a:pPr algn="l"/>
            <a:r>
              <a:rPr sz="1150" b="1" i="0">
                <a:solidFill>
                  <a:srgbClr val="FFFFFF"/>
                </a:solidFill>
              </a:rPr>
              <a:t>config/packs/&lt;pack&gt;/contracts/&lt;kind&gt;.contract.yaml</a:t>
            </a:r>
          </a:p>
        </p:txBody>
      </p:sp>
      <p:sp>
        <p:nvSpPr>
          <p:cNvPr id="29" name="TextBox 28"/>
          <p:cNvSpPr txBox="1"/>
          <p:nvPr/>
        </p:nvSpPr>
        <p:spPr>
          <a:xfrm>
            <a:off x="941832" y="1901952"/>
            <a:ext cx="3291840" cy="1828799"/>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kind · mnemonic · grain · key</a:t>
            </a:r>
          </a:p>
          <a:p>
            <a:pPr algn="l">
              <a:spcAft>
                <a:spcPts val="200"/>
              </a:spcAft>
            </a:pPr>
            <a:r>
              <a:rPr sz="1050" b="0" i="0">
                <a:solidFill>
                  <a:srgbClr val="F1EEE9"/>
                </a:solidFill>
                <a:latin typeface="Courier New"/>
              </a:rPr>
              <a:t>columns: name, type, unit,</a:t>
            </a:r>
          </a:p>
          <a:p>
            <a:pPr algn="l">
              <a:spcAft>
                <a:spcPts val="200"/>
              </a:spcAft>
            </a:pPr>
            <a:r>
              <a:rPr sz="1050" b="0" i="0">
                <a:solidFill>
                  <a:srgbClr val="F1EEE9"/>
                </a:solidFill>
                <a:latin typeface="Courier New"/>
              </a:rPr>
              <a:t>  meaning, source, example</a:t>
            </a:r>
          </a:p>
          <a:p>
            <a:pPr algn="l">
              <a:spcAft>
                <a:spcPts val="200"/>
              </a:spcAft>
            </a:pPr>
            <a:r>
              <a:rPr sz="1050" b="0" i="0">
                <a:solidFill>
                  <a:srgbClr val="F1EEE9"/>
                </a:solidFill>
                <a:latin typeface="Courier New"/>
              </a:rPr>
              <a:t>delivery · validation</a:t>
            </a:r>
          </a:p>
          <a:p>
            <a:pPr algn="l">
              <a:spcAft>
                <a:spcPts val="200"/>
              </a:spcAft>
            </a:pPr>
            <a:r>
              <a:rPr sz="1050" b="0" i="0">
                <a:solidFill>
                  <a:srgbClr val="F1EEE9"/>
                </a:solidFill>
                <a:latin typeface="Courier New"/>
              </a:rPr>
              <a:t>entitlements · retention</a:t>
            </a:r>
          </a:p>
          <a:p>
            <a:pPr algn="l">
              <a:spcAft>
                <a:spcPts val="200"/>
              </a:spcAft>
            </a:pPr>
            <a:r>
              <a:rPr sz="1050" b="0" i="0">
                <a:solidFill>
                  <a:srgbClr val="F1EEE9"/>
                </a:solidFill>
                <a:latin typeface="Courier New"/>
              </a:rPr>
              <a:t>kind of data: fundamental,</a:t>
            </a:r>
          </a:p>
          <a:p>
            <a:pPr algn="l">
              <a:spcAft>
                <a:spcPts val="200"/>
              </a:spcAft>
            </a:pPr>
            <a:r>
              <a:rPr sz="1050" b="0" i="0">
                <a:solidFill>
                  <a:srgbClr val="F1EEE9"/>
                </a:solidFill>
                <a:latin typeface="Courier New"/>
              </a:rPr>
              <a:t>  engine input, own, computed</a:t>
            </a:r>
          </a:p>
        </p:txBody>
      </p:sp>
      <p:cxnSp>
        <p:nvCxnSpPr>
          <p:cNvPr id="30" name="Connector 29"/>
          <p:cNvCxnSpPr/>
          <p:nvPr/>
        </p:nvCxnSpPr>
        <p:spPr>
          <a:xfrm flipV="1">
            <a:off x="4343400" y="1737360"/>
            <a:ext cx="484632" cy="89611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846320" y="1463040"/>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937759" y="1481328"/>
            <a:ext cx="3108960" cy="512063"/>
          </a:xfrm>
          <a:prstGeom prst="rect">
            <a:avLst/>
          </a:prstGeom>
          <a:noFill/>
        </p:spPr>
        <p:txBody>
          <a:bodyPr wrap="square" lIns="0" rIns="0" tIns="0" bIns="0" anchor="ctr">
            <a:spAutoFit/>
          </a:bodyPr>
          <a:lstStyle/>
          <a:p>
            <a:pPr algn="l"/>
            <a:r>
              <a:rPr sz="1150" b="1" i="0">
                <a:solidFill>
                  <a:srgbClr val="8A1626"/>
                </a:solidFill>
              </a:rPr>
              <a:t>drishti.py contract  </a:t>
            </a:r>
            <a:r>
              <a:rPr sz="1050" b="0" i="0">
                <a:solidFill>
                  <a:srgbClr val="1A1A1A"/>
                </a:solidFill>
              </a:rPr>
              <a:t>list, show, check, docs, bootstrap; kept current by tests</a:t>
            </a:r>
          </a:p>
        </p:txBody>
      </p:sp>
      <p:cxnSp>
        <p:nvCxnSpPr>
          <p:cNvPr id="33" name="Connector 32"/>
          <p:cNvCxnSpPr/>
          <p:nvPr/>
        </p:nvCxnSpPr>
        <p:spPr>
          <a:xfrm flipV="1">
            <a:off x="4343400" y="2340863"/>
            <a:ext cx="484632" cy="292609"/>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4846320" y="2066543"/>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4937759" y="2084831"/>
            <a:ext cx="3108960" cy="512063"/>
          </a:xfrm>
          <a:prstGeom prst="rect">
            <a:avLst/>
          </a:prstGeom>
          <a:noFill/>
        </p:spPr>
        <p:txBody>
          <a:bodyPr wrap="square" lIns="0" rIns="0" tIns="0" bIns="0" anchor="ctr">
            <a:spAutoFit/>
          </a:bodyPr>
          <a:lstStyle/>
          <a:p>
            <a:pPr algn="l"/>
            <a:r>
              <a:rPr sz="1150" b="1" i="0">
                <a:solidFill>
                  <a:srgbClr val="8A1626"/>
                </a:solidFill>
              </a:rPr>
              <a:t>Generated pages  </a:t>
            </a:r>
            <a:r>
              <a:rPr sz="1050" b="0" i="0">
                <a:solidFill>
                  <a:srgbClr val="1A1A1A"/>
                </a:solidFill>
              </a:rPr>
              <a:t>docs/contracts and the COMMAND_CATALOG: every command, what it does, an example</a:t>
            </a:r>
          </a:p>
        </p:txBody>
      </p:sp>
      <p:cxnSp>
        <p:nvCxnSpPr>
          <p:cNvPr id="36" name="Connector 35"/>
          <p:cNvCxnSpPr/>
          <p:nvPr/>
        </p:nvCxnSpPr>
        <p:spPr>
          <a:xfrm>
            <a:off x="4343400" y="2633472"/>
            <a:ext cx="484632" cy="310896"/>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846320" y="2670048"/>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937759" y="2688336"/>
            <a:ext cx="3108960" cy="512063"/>
          </a:xfrm>
          <a:prstGeom prst="rect">
            <a:avLst/>
          </a:prstGeom>
          <a:noFill/>
        </p:spPr>
        <p:txBody>
          <a:bodyPr wrap="square" lIns="0" rIns="0" tIns="0" bIns="0" anchor="ctr">
            <a:spAutoFit/>
          </a:bodyPr>
          <a:lstStyle/>
          <a:p>
            <a:pPr algn="l"/>
            <a:r>
              <a:rPr sz="1150" b="1" i="0">
                <a:solidFill>
                  <a:srgbClr val="8A1626"/>
                </a:solidFill>
              </a:rPr>
              <a:t>Every pack's guide  </a:t>
            </a:r>
            <a:r>
              <a:rPr sz="1050" b="0" i="0">
                <a:solidFill>
                  <a:srgbClr val="1A1A1A"/>
                </a:solidFill>
              </a:rPr>
              <a:t>ends with its contracts and where each kind's data comes from (2.9.1)</a:t>
            </a:r>
          </a:p>
        </p:txBody>
      </p:sp>
      <p:cxnSp>
        <p:nvCxnSpPr>
          <p:cNvPr id="39" name="Connector 38"/>
          <p:cNvCxnSpPr/>
          <p:nvPr/>
        </p:nvCxnSpPr>
        <p:spPr>
          <a:xfrm>
            <a:off x="4343400" y="2633472"/>
            <a:ext cx="484632" cy="91440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846320" y="3273552"/>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937759" y="3291840"/>
            <a:ext cx="3108960" cy="512063"/>
          </a:xfrm>
          <a:prstGeom prst="rect">
            <a:avLst/>
          </a:prstGeom>
          <a:noFill/>
        </p:spPr>
        <p:txBody>
          <a:bodyPr wrap="square" lIns="0" rIns="0" tIns="0" bIns="0" anchor="ctr">
            <a:spAutoFit/>
          </a:bodyPr>
          <a:lstStyle/>
          <a:p>
            <a:pPr algn="l"/>
            <a:r>
              <a:rPr sz="1150" b="1" i="0">
                <a:solidFill>
                  <a:srgbClr val="8A1626"/>
                </a:solidFill>
              </a:rPr>
              <a:t>DATAMAP  </a:t>
            </a:r>
            <a:r>
              <a:rPr sz="1050" b="0" i="0">
                <a:solidFill>
                  <a:srgbClr val="1A1A1A"/>
                </a:solidFill>
              </a:rPr>
              <a:t>joins between kinds drawn from the contracts and checked against the data (2.9.3)</a:t>
            </a:r>
          </a:p>
        </p:txBody>
      </p:sp>
      <p:cxnSp>
        <p:nvCxnSpPr>
          <p:cNvPr id="42" name="Connector 41"/>
          <p:cNvCxnSpPr/>
          <p:nvPr/>
        </p:nvCxnSpPr>
        <p:spPr>
          <a:xfrm>
            <a:off x="4343400" y="2633472"/>
            <a:ext cx="484632" cy="1517904"/>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846320" y="3877056"/>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4937759" y="3895344"/>
            <a:ext cx="3108960" cy="512063"/>
          </a:xfrm>
          <a:prstGeom prst="rect">
            <a:avLst/>
          </a:prstGeom>
          <a:noFill/>
        </p:spPr>
        <p:txBody>
          <a:bodyPr wrap="square" lIns="0" rIns="0" tIns="0" bIns="0" anchor="ctr">
            <a:spAutoFit/>
          </a:bodyPr>
          <a:lstStyle/>
          <a:p>
            <a:pPr algn="l"/>
            <a:r>
              <a:rPr sz="1150" b="1" i="0">
                <a:solidFill>
                  <a:srgbClr val="8A1626"/>
                </a:solidFill>
              </a:rPr>
              <a:t>FUNC  </a:t>
            </a:r>
            <a:r>
              <a:rPr sz="1050" b="0" i="0">
                <a:solidFill>
                  <a:srgbClr val="1A1A1A"/>
                </a:solidFill>
              </a:rPr>
              <a:t>Views → Functions: every command you may use, by pack; FUNC &lt;words&gt; filters (2.9.1)</a:t>
            </a:r>
          </a:p>
        </p:txBody>
      </p:sp>
      <p:sp>
        <p:nvSpPr>
          <p:cNvPr id="45" name="TextBox 44"/>
          <p:cNvSpPr txBox="1"/>
          <p:nvPr/>
        </p:nvSpPr>
        <p:spPr>
          <a:xfrm>
            <a:off x="8366760" y="1463040"/>
            <a:ext cx="3044952" cy="274320"/>
          </a:xfrm>
          <a:prstGeom prst="rect">
            <a:avLst/>
          </a:prstGeom>
          <a:noFill/>
        </p:spPr>
        <p:txBody>
          <a:bodyPr wrap="square" lIns="0" rIns="0" tIns="0" bIns="0" anchor="t">
            <a:spAutoFit/>
          </a:bodyPr>
          <a:lstStyle/>
          <a:p>
            <a:pPr algn="l"/>
            <a:r>
              <a:rPr sz="1250" b="1" i="0">
                <a:solidFill>
                  <a:srgbClr val="A51C30"/>
                </a:solidFill>
              </a:rPr>
              <a:t>The 100 commands, by kind of data</a:t>
            </a:r>
          </a:p>
        </p:txBody>
      </p:sp>
      <p:graphicFrame>
        <p:nvGraphicFramePr>
          <p:cNvPr id="46" name="Kinds of data chart"/>
          <p:cNvGraphicFramePr>
            <a:graphicFrameLocks noGrp="1"/>
          </p:cNvGraphicFramePr>
          <p:nvPr/>
        </p:nvGraphicFramePr>
        <p:xfrm>
          <a:off x="8366760" y="1737360"/>
          <a:ext cx="3044952" cy="1828800"/>
        </p:xfrm>
        <a:graphic>
          <a:graphicData uri="http://schemas.openxmlformats.org/drawingml/2006/chart">
            <c:chart xmlns:c="http://schemas.openxmlformats.org/drawingml/2006/chart" r:id="rId2"/>
          </a:graphicData>
        </a:graphic>
      </p:graphicFrame>
      <p:sp>
        <p:nvSpPr>
          <p:cNvPr id="47" name="TextBox 46"/>
          <p:cNvSpPr txBox="1"/>
          <p:nvPr/>
        </p:nvSpPr>
        <p:spPr>
          <a:xfrm>
            <a:off x="8366760" y="3611880"/>
            <a:ext cx="3044952" cy="411480"/>
          </a:xfrm>
          <a:prstGeom prst="rect">
            <a:avLst/>
          </a:prstGeom>
          <a:noFill/>
        </p:spPr>
        <p:txBody>
          <a:bodyPr wrap="square" lIns="0" rIns="0" tIns="0" bIns="0" anchor="t">
            <a:spAutoFit/>
          </a:bodyPr>
          <a:lstStyle/>
          <a:p>
            <a:pPr algn="l"/>
            <a:r>
              <a:rPr sz="1100" b="0" i="1">
                <a:solidFill>
                  <a:srgbClr val="4A5058"/>
                </a:solidFill>
              </a:rPr>
              <a:t>A computed figure is never stored in a fundamental or input table: a guard test fails the build.</a:t>
            </a:r>
          </a:p>
        </p:txBody>
      </p:sp>
      <p:sp>
        <p:nvSpPr>
          <p:cNvPr id="48" name="Rectangle 47"/>
          <p:cNvSpPr/>
          <p:nvPr/>
        </p:nvSpPr>
        <p:spPr>
          <a:xfrm>
            <a:off x="777240" y="4526280"/>
            <a:ext cx="10634472" cy="96012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914400" y="4572000"/>
            <a:ext cx="2194560" cy="868680"/>
          </a:xfrm>
          <a:prstGeom prst="rect">
            <a:avLst/>
          </a:prstGeom>
          <a:noFill/>
        </p:spPr>
        <p:txBody>
          <a:bodyPr wrap="square" lIns="0" rIns="0" tIns="0" bIns="0" anchor="ctr">
            <a:spAutoFit/>
          </a:bodyPr>
          <a:lstStyle/>
          <a:p>
            <a:pPr algn="l"/>
            <a:r>
              <a:rPr sz="1300" b="1" i="0">
                <a:solidFill>
                  <a:srgbClr val="8A1626"/>
                </a:solidFill>
              </a:rPr>
              <a:t>Admin → Commands</a:t>
            </a:r>
          </a:p>
          <a:p>
            <a:pPr algn="l"/>
            <a:r>
              <a:rPr sz="1100" b="0" i="0">
                <a:solidFill>
                  <a:srgbClr val="61666E"/>
                </a:solidFill>
              </a:rPr>
              <a:t>2.8.0</a:t>
            </a:r>
          </a:p>
        </p:txBody>
      </p:sp>
      <p:sp>
        <p:nvSpPr>
          <p:cNvPr id="50" name="Rectangle 49"/>
          <p:cNvSpPr/>
          <p:nvPr/>
        </p:nvSpPr>
        <p:spPr>
          <a:xfrm>
            <a:off x="315468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322783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Switch off</a:t>
            </a:r>
          </a:p>
          <a:p>
            <a:pPr algn="l"/>
            <a:r>
              <a:rPr sz="1050" b="0" i="0">
                <a:solidFill>
                  <a:srgbClr val="1A1A1A"/>
                </a:solidFill>
              </a:rPr>
              <a:t>any command, for everyone, with a reason</a:t>
            </a:r>
          </a:p>
        </p:txBody>
      </p:sp>
      <p:cxnSp>
        <p:nvCxnSpPr>
          <p:cNvPr id="52" name="Connector 51"/>
          <p:cNvCxnSpPr/>
          <p:nvPr/>
        </p:nvCxnSpPr>
        <p:spPr>
          <a:xfrm>
            <a:off x="568756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4360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01675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Stored and gossiped</a:t>
            </a:r>
          </a:p>
          <a:p>
            <a:pPr algn="l"/>
            <a:r>
              <a:rPr sz="1050" b="0" i="0">
                <a:solidFill>
                  <a:srgbClr val="1A1A1A"/>
                </a:solidFill>
              </a:rPr>
              <a:t>the Drishti database, every server</a:t>
            </a:r>
          </a:p>
        </p:txBody>
      </p:sp>
      <p:cxnSp>
        <p:nvCxnSpPr>
          <p:cNvPr id="55" name="Connector 54"/>
          <p:cNvCxnSpPr/>
          <p:nvPr/>
        </p:nvCxnSpPr>
        <p:spPr>
          <a:xfrm>
            <a:off x="847648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73252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880567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'Not active' everywhere</a:t>
            </a:r>
          </a:p>
          <a:p>
            <a:pPr algn="l"/>
            <a:r>
              <a:rPr sz="1050" b="0" i="0">
                <a:solidFill>
                  <a:srgbClr val="1A1A1A"/>
                </a:solidFill>
              </a:rPr>
              <a:t>page, API, CLI, search, exports, BI, AI: 403 DRS-1016</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command's meaning lives in one file; the catalog, the guides, the map and the switches read it.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COMPUTED FOR ANY SCOPE SINCE 2.8.0</a:t>
            </a:r>
          </a:p>
        </p:txBody>
      </p:sp>
      <p:sp>
        <p:nvSpPr>
          <p:cNvPr id="3" name="Title 2"/>
          <p:cNvSpPr>
            <a:spLocks noGrp="1"/>
          </p:cNvSpPr>
          <p:nvPr>
            <p:ph type="title" idx="104"/>
          </p:nvPr>
        </p:nvSpPr>
        <p:spPr/>
        <p:txBody>
          <a:bodyPr lIns="0" rIns="0" tIns="0" bIns="0" anchor="t"/>
          <a:lstStyle/>
          <a:p>
            <a:r>
              <a:t>VaR is a computation over the trades, never a stored number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explorer" descr="01-explorer-desk.jpg"/>
          <p:cNvPicPr>
            <a:picLocks noChangeAspect="1"/>
          </p:cNvPicPr>
          <p:nvPr/>
        </p:nvPicPr>
        <p:blipFill>
          <a:blip r:embed="rId2"/>
          <a:stretch>
            <a:fillRect/>
          </a:stretch>
        </p:blipFill>
        <p:spPr>
          <a:xfrm>
            <a:off x="777240" y="1456182"/>
            <a:ext cx="5669280" cy="3543300"/>
          </a:xfrm>
          <a:prstGeom prst="rect">
            <a:avLst/>
          </a:prstGeom>
          <a:ln w="9525">
            <a:solidFill>
              <a:srgbClr val="CFC8BE"/>
            </a:solidFill>
          </a:ln>
        </p:spPr>
      </p:pic>
      <p:sp>
        <p:nvSpPr>
          <p:cNvPr id="27" name="TextBox 26"/>
          <p:cNvSpPr txBox="1"/>
          <p:nvPr/>
        </p:nvSpPr>
        <p:spPr>
          <a:xfrm>
            <a:off x="777240" y="5029200"/>
            <a:ext cx="5669280" cy="274320"/>
          </a:xfrm>
          <a:prstGeom prst="rect">
            <a:avLst/>
          </a:prstGeom>
          <a:noFill/>
        </p:spPr>
        <p:txBody>
          <a:bodyPr wrap="square" lIns="0" rIns="0" tIns="0" bIns="0" anchor="t">
            <a:spAutoFit/>
          </a:bodyPr>
          <a:lstStyle/>
          <a:p>
            <a:pPr algn="l"/>
            <a:r>
              <a:rPr sz="1050" b="0" i="1">
                <a:solidFill>
                  <a:srgbClr val="61666E"/>
                </a:solidFill>
              </a:rPr>
              <a:t>VAR DESK: the scope tree with limits, six tiles, the P&amp;L path and its tabs (VAR_GUIDE §3).</a:t>
            </a:r>
          </a:p>
        </p:txBody>
      </p:sp>
      <p:sp>
        <p:nvSpPr>
          <p:cNvPr id="28" name="Rectangle 27"/>
          <p:cNvSpPr/>
          <p:nvPr/>
        </p:nvSpPr>
        <p:spPr>
          <a:xfrm>
            <a:off x="6720840"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6720840"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903720" y="1536192"/>
            <a:ext cx="2002536" cy="457200"/>
          </a:xfrm>
          <a:prstGeom prst="rect">
            <a:avLst/>
          </a:prstGeom>
          <a:noFill/>
        </p:spPr>
        <p:txBody>
          <a:bodyPr wrap="square" lIns="0" rIns="0" tIns="0" bIns="0" anchor="ctr">
            <a:spAutoFit/>
          </a:bodyPr>
          <a:lstStyle/>
          <a:p>
            <a:pPr algn="l"/>
            <a:r>
              <a:rPr sz="1900" b="1" i="0">
                <a:solidFill>
                  <a:srgbClr val="8A1626"/>
                </a:solidFill>
              </a:rPr>
              <a:t>112.04m</a:t>
            </a:r>
          </a:p>
        </p:txBody>
      </p:sp>
      <p:sp>
        <p:nvSpPr>
          <p:cNvPr id="31" name="TextBox 30"/>
          <p:cNvSpPr txBox="1"/>
          <p:nvPr/>
        </p:nvSpPr>
        <p:spPr>
          <a:xfrm>
            <a:off x="6903720" y="2011680"/>
            <a:ext cx="2002536" cy="274319"/>
          </a:xfrm>
          <a:prstGeom prst="rect">
            <a:avLst/>
          </a:prstGeom>
          <a:noFill/>
        </p:spPr>
        <p:txBody>
          <a:bodyPr wrap="square" lIns="0" rIns="0" tIns="0" bIns="0" anchor="t">
            <a:spAutoFit/>
          </a:bodyPr>
          <a:lstStyle/>
          <a:p>
            <a:pPr algn="l"/>
            <a:r>
              <a:rPr sz="1150" b="0" i="0">
                <a:solidFill>
                  <a:srgbClr val="4A5058"/>
                </a:solidFill>
              </a:rPr>
              <a:t>bank VaR 99%, 1 day, USD, 2026-09-30</a:t>
            </a:r>
          </a:p>
        </p:txBody>
      </p:sp>
      <p:sp>
        <p:nvSpPr>
          <p:cNvPr id="32" name="Rectangle 31"/>
          <p:cNvSpPr/>
          <p:nvPr/>
        </p:nvSpPr>
        <p:spPr>
          <a:xfrm>
            <a:off x="9134856"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9134856"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17736" y="1536192"/>
            <a:ext cx="2002536" cy="457200"/>
          </a:xfrm>
          <a:prstGeom prst="rect">
            <a:avLst/>
          </a:prstGeom>
          <a:noFill/>
        </p:spPr>
        <p:txBody>
          <a:bodyPr wrap="square" lIns="0" rIns="0" tIns="0" bIns="0" anchor="ctr">
            <a:spAutoFit/>
          </a:bodyPr>
          <a:lstStyle/>
          <a:p>
            <a:pPr algn="l"/>
            <a:r>
              <a:rPr sz="1900" b="1" i="0">
                <a:solidFill>
                  <a:srgbClr val="8A1626"/>
                </a:solidFill>
              </a:rPr>
              <a:t>160.14m</a:t>
            </a:r>
          </a:p>
        </p:txBody>
      </p:sp>
      <p:sp>
        <p:nvSpPr>
          <p:cNvPr id="35" name="TextBox 34"/>
          <p:cNvSpPr txBox="1"/>
          <p:nvPr/>
        </p:nvSpPr>
        <p:spPr>
          <a:xfrm>
            <a:off x="9317736" y="2011680"/>
            <a:ext cx="2002536" cy="274319"/>
          </a:xfrm>
          <a:prstGeom prst="rect">
            <a:avLst/>
          </a:prstGeom>
          <a:noFill/>
        </p:spPr>
        <p:txBody>
          <a:bodyPr wrap="square" lIns="0" rIns="0" tIns="0" bIns="0" anchor="t">
            <a:spAutoFit/>
          </a:bodyPr>
          <a:lstStyle/>
          <a:p>
            <a:pPr algn="l"/>
            <a:r>
              <a:rPr sz="1150" b="0" i="0">
                <a:solidFill>
                  <a:srgbClr val="4A5058"/>
                </a:solidFill>
              </a:rPr>
              <a:t>ES 97.5%: the mean of the 13 worst</a:t>
            </a:r>
          </a:p>
        </p:txBody>
      </p:sp>
      <p:sp>
        <p:nvSpPr>
          <p:cNvPr id="36" name="Rectangle 35"/>
          <p:cNvSpPr/>
          <p:nvPr/>
        </p:nvSpPr>
        <p:spPr>
          <a:xfrm>
            <a:off x="6720840"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720840"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903720" y="2523744"/>
            <a:ext cx="2002536" cy="457200"/>
          </a:xfrm>
          <a:prstGeom prst="rect">
            <a:avLst/>
          </a:prstGeom>
          <a:noFill/>
        </p:spPr>
        <p:txBody>
          <a:bodyPr wrap="square" lIns="0" rIns="0" tIns="0" bIns="0" anchor="ctr">
            <a:spAutoFit/>
          </a:bodyPr>
          <a:lstStyle/>
          <a:p>
            <a:pPr algn="l"/>
            <a:r>
              <a:rPr sz="1900" b="1" i="0">
                <a:solidFill>
                  <a:srgbClr val="8A1626"/>
                </a:solidFill>
              </a:rPr>
              <a:t>509</a:t>
            </a:r>
          </a:p>
        </p:txBody>
      </p:sp>
      <p:sp>
        <p:nvSpPr>
          <p:cNvPr id="39" name="TextBox 38"/>
          <p:cNvSpPr txBox="1"/>
          <p:nvPr/>
        </p:nvSpPr>
        <p:spPr>
          <a:xfrm>
            <a:off x="6903720" y="2999232"/>
            <a:ext cx="2002536" cy="274319"/>
          </a:xfrm>
          <a:prstGeom prst="rect">
            <a:avLst/>
          </a:prstGeom>
          <a:noFill/>
        </p:spPr>
        <p:txBody>
          <a:bodyPr wrap="square" lIns="0" rIns="0" tIns="0" bIns="0" anchor="t">
            <a:spAutoFit/>
          </a:bodyPr>
          <a:lstStyle/>
          <a:p>
            <a:pPr algn="l"/>
            <a:r>
              <a:rPr sz="1150" b="0" i="0">
                <a:solidFill>
                  <a:srgbClr val="4A5058"/>
                </a:solidFill>
              </a:rPr>
              <a:t>historical scenario days, equal weights</a:t>
            </a:r>
          </a:p>
        </p:txBody>
      </p:sp>
      <p:sp>
        <p:nvSpPr>
          <p:cNvPr id="40" name="Rectangle 39"/>
          <p:cNvSpPr/>
          <p:nvPr/>
        </p:nvSpPr>
        <p:spPr>
          <a:xfrm>
            <a:off x="9134856"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9134856"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317736" y="2523744"/>
            <a:ext cx="2002536" cy="457200"/>
          </a:xfrm>
          <a:prstGeom prst="rect">
            <a:avLst/>
          </a:prstGeom>
          <a:noFill/>
        </p:spPr>
        <p:txBody>
          <a:bodyPr wrap="square" lIns="0" rIns="0" tIns="0" bIns="0" anchor="ctr">
            <a:spAutoFit/>
          </a:bodyPr>
          <a:lstStyle/>
          <a:p>
            <a:pPr algn="l"/>
            <a:r>
              <a:rPr sz="1900" b="1" i="0">
                <a:solidFill>
                  <a:srgbClr val="8A1626"/>
                </a:solidFill>
              </a:rPr>
              <a:t>9,572</a:t>
            </a:r>
          </a:p>
        </p:txBody>
      </p:sp>
      <p:sp>
        <p:nvSpPr>
          <p:cNvPr id="43" name="TextBox 42"/>
          <p:cNvSpPr txBox="1"/>
          <p:nvPr/>
        </p:nvSpPr>
        <p:spPr>
          <a:xfrm>
            <a:off x="9317736" y="2999232"/>
            <a:ext cx="2002536" cy="274319"/>
          </a:xfrm>
          <a:prstGeom prst="rect">
            <a:avLst/>
          </a:prstGeom>
          <a:noFill/>
        </p:spPr>
        <p:txBody>
          <a:bodyPr wrap="square" lIns="0" rIns="0" tIns="0" bIns="0" anchor="t">
            <a:spAutoFit/>
          </a:bodyPr>
          <a:lstStyle/>
          <a:p>
            <a:pPr algn="l"/>
            <a:r>
              <a:rPr sz="1150" b="0" i="0">
                <a:solidFill>
                  <a:srgbClr val="4A5058"/>
                </a:solidFill>
              </a:rPr>
              <a:t>live trades in 7,984 derived positions</a:t>
            </a:r>
          </a:p>
        </p:txBody>
      </p:sp>
      <p:sp>
        <p:nvSpPr>
          <p:cNvPr id="44" name="Rectangle 43"/>
          <p:cNvSpPr/>
          <p:nvPr/>
        </p:nvSpPr>
        <p:spPr>
          <a:xfrm>
            <a:off x="6720840"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720840"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903720" y="3511296"/>
            <a:ext cx="2002536" cy="457200"/>
          </a:xfrm>
          <a:prstGeom prst="rect">
            <a:avLst/>
          </a:prstGeom>
          <a:noFill/>
        </p:spPr>
        <p:txBody>
          <a:bodyPr wrap="square" lIns="0" rIns="0" tIns="0" bIns="0" anchor="ctr">
            <a:spAutoFit/>
          </a:bodyPr>
          <a:lstStyle/>
          <a:p>
            <a:pPr algn="l"/>
            <a:r>
              <a:rPr sz="1900" b="1" i="0">
                <a:solidFill>
                  <a:srgbClr val="8A1626"/>
                </a:solidFill>
              </a:rPr>
              <a:t>131 · 28</a:t>
            </a:r>
          </a:p>
        </p:txBody>
      </p:sp>
      <p:sp>
        <p:nvSpPr>
          <p:cNvPr id="47" name="TextBox 46"/>
          <p:cNvSpPr txBox="1"/>
          <p:nvPr/>
        </p:nvSpPr>
        <p:spPr>
          <a:xfrm>
            <a:off x="6903720" y="3986784"/>
            <a:ext cx="2002536" cy="274319"/>
          </a:xfrm>
          <a:prstGeom prst="rect">
            <a:avLst/>
          </a:prstGeom>
          <a:noFill/>
        </p:spPr>
        <p:txBody>
          <a:bodyPr wrap="square" lIns="0" rIns="0" tIns="0" bIns="0" anchor="t">
            <a:spAutoFit/>
          </a:bodyPr>
          <a:lstStyle/>
          <a:p>
            <a:pPr algn="l"/>
            <a:r>
              <a:rPr sz="1150" b="0" i="0">
                <a:solidFill>
                  <a:srgbClr val="4A5058"/>
                </a:solidFill>
              </a:rPr>
              <a:t>nodes in 3 trees · portfolios</a:t>
            </a:r>
          </a:p>
        </p:txBody>
      </p:sp>
      <p:sp>
        <p:nvSpPr>
          <p:cNvPr id="48" name="Rectangle 47"/>
          <p:cNvSpPr/>
          <p:nvPr/>
        </p:nvSpPr>
        <p:spPr>
          <a:xfrm>
            <a:off x="9134856"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9134856"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9317736" y="3511296"/>
            <a:ext cx="2002536" cy="457200"/>
          </a:xfrm>
          <a:prstGeom prst="rect">
            <a:avLst/>
          </a:prstGeom>
          <a:noFill/>
        </p:spPr>
        <p:txBody>
          <a:bodyPr wrap="square" lIns="0" rIns="0" tIns="0" bIns="0" anchor="ctr">
            <a:spAutoFit/>
          </a:bodyPr>
          <a:lstStyle/>
          <a:p>
            <a:pPr algn="l"/>
            <a:r>
              <a:rPr sz="1900" b="1" i="0">
                <a:solidFill>
                  <a:srgbClr val="8A1626"/>
                </a:solidFill>
              </a:rPr>
              <a:t>&lt; 1 ms</a:t>
            </a:r>
          </a:p>
        </p:txBody>
      </p:sp>
      <p:sp>
        <p:nvSpPr>
          <p:cNvPr id="51" name="TextBox 50"/>
          <p:cNvSpPr txBox="1"/>
          <p:nvPr/>
        </p:nvSpPr>
        <p:spPr>
          <a:xfrm>
            <a:off x="9317736" y="3986784"/>
            <a:ext cx="2002536" cy="274319"/>
          </a:xfrm>
          <a:prstGeom prst="rect">
            <a:avLst/>
          </a:prstGeom>
          <a:noFill/>
        </p:spPr>
        <p:txBody>
          <a:bodyPr wrap="square" lIns="0" rIns="0" tIns="0" bIns="0" anchor="t">
            <a:spAutoFit/>
          </a:bodyPr>
          <a:lstStyle/>
          <a:p>
            <a:pPr algn="l"/>
            <a:r>
              <a:rPr sz="1150" b="0" i="0">
                <a:solidFill>
                  <a:srgbClr val="4A5058"/>
                </a:solidFill>
              </a:rPr>
              <a:t>a node's VaR from its aggregate</a:t>
            </a:r>
          </a:p>
        </p:txBody>
      </p:sp>
      <p:sp>
        <p:nvSpPr>
          <p:cNvPr id="52" name="TextBox 51"/>
          <p:cNvSpPr txBox="1"/>
          <p:nvPr/>
        </p:nvSpPr>
        <p:spPr>
          <a:xfrm>
            <a:off x="6720840" y="4462272"/>
            <a:ext cx="4690872" cy="1051560"/>
          </a:xfrm>
          <a:prstGeom prst="rect">
            <a:avLst/>
          </a:prstGeom>
          <a:noFill/>
        </p:spPr>
        <p:txBody>
          <a:bodyPr wrap="square" lIns="0" rIns="0" tIns="0" bIns="0" anchor="t">
            <a:spAutoFit/>
          </a:bodyPr>
          <a:lstStyle/>
          <a:p>
            <a:pPr algn="l"/>
            <a:r>
              <a:rPr sz="1200" b="1" i="0">
                <a:solidFill>
                  <a:srgbClr val="8A1626"/>
                </a:solidFill>
              </a:rPr>
              <a:t>Any scope: </a:t>
            </a:r>
            <a:r>
              <a:rPr sz="1150" b="0" i="0">
                <a:solidFill>
                  <a:srgbClr val="1A1A1A"/>
                </a:solidFill>
              </a:rPr>
              <a:t>bank, legal entity, desk, book, limit letter, position, trade, a portfolio, a rule or a basket, joined with + − &amp;. Stored VAR retired; official records of every node of every tree, kept 7 years.</a:t>
            </a:r>
          </a:p>
        </p:txBody>
      </p:sp>
      <p:sp>
        <p:nvSpPr>
          <p:cNvPr id="53" name="Rectangle 5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See also  </a:t>
            </a:r>
            <a:r>
              <a:rPr sz="1300" b="1" i="0">
                <a:solidFill>
                  <a:srgbClr val="8A1626"/>
                </a:solidFill>
              </a:rPr>
              <a:t>In depth: the VaR engine deck (34 slides) — method, data flow, inputs, scale and governance.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2.9.4 · ANY INPUT CONTRACT</a:t>
            </a:r>
          </a:p>
        </p:txBody>
      </p:sp>
      <p:sp>
        <p:nvSpPr>
          <p:cNvPr id="3" name="Title 2"/>
          <p:cNvSpPr>
            <a:spLocks noGrp="1"/>
          </p:cNvSpPr>
          <p:nvPr>
            <p:ph type="title" idx="104"/>
          </p:nvPr>
        </p:nvSpPr>
        <p:spPr/>
        <p:txBody>
          <a:bodyPr lIns="0" rIns="0" tIns="0" bIns="0" anchor="t"/>
          <a:lstStyle/>
          <a:p>
            <a:r>
              <a:t>Scenario PVs or P&amp;L, by trade or by position, from files or Kafka</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81328"/>
            <a:ext cx="1874519" cy="384048"/>
          </a:xfrm>
          <a:prstGeom prst="rect">
            <a:avLst/>
          </a:prstGeom>
          <a:noFill/>
        </p:spPr>
        <p:txBody>
          <a:bodyPr wrap="square" lIns="0" rIns="0" tIns="0" bIns="0" anchor="ctr">
            <a:spAutoFit/>
          </a:bodyPr>
          <a:lstStyle/>
          <a:p>
            <a:pPr algn="l"/>
            <a:r>
              <a:rPr sz="1200" b="1" i="0">
                <a:solidFill>
                  <a:srgbClr val="A51C30"/>
                </a:solidFill>
              </a:rPr>
              <a:t>Each system sends</a:t>
            </a:r>
          </a:p>
        </p:txBody>
      </p:sp>
      <p:sp>
        <p:nvSpPr>
          <p:cNvPr id="27" name="Rectangle 26"/>
          <p:cNvSpPr/>
          <p:nvPr/>
        </p:nvSpPr>
        <p:spPr>
          <a:xfrm>
            <a:off x="2651760"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2651760" y="1481328"/>
            <a:ext cx="2057400" cy="384048"/>
          </a:xfrm>
          <a:prstGeom prst="rect">
            <a:avLst/>
          </a:prstGeom>
          <a:noFill/>
        </p:spPr>
        <p:txBody>
          <a:bodyPr wrap="square" lIns="0" rIns="0" tIns="0" bIns="0" anchor="ctr">
            <a:spAutoFit/>
          </a:bodyPr>
          <a:lstStyle/>
          <a:p>
            <a:pPr algn="ctr"/>
            <a:r>
              <a:rPr sz="1250" b="1" i="0">
                <a:solidFill>
                  <a:srgbClr val="FFFFFF"/>
                </a:solidFill>
              </a:rPr>
              <a:t>By trade</a:t>
            </a:r>
          </a:p>
        </p:txBody>
      </p:sp>
      <p:sp>
        <p:nvSpPr>
          <p:cNvPr id="29" name="Rectangle 28"/>
          <p:cNvSpPr/>
          <p:nvPr/>
        </p:nvSpPr>
        <p:spPr>
          <a:xfrm>
            <a:off x="4782312"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782312" y="1481328"/>
            <a:ext cx="2057400" cy="384048"/>
          </a:xfrm>
          <a:prstGeom prst="rect">
            <a:avLst/>
          </a:prstGeom>
          <a:noFill/>
        </p:spPr>
        <p:txBody>
          <a:bodyPr wrap="square" lIns="0" rIns="0" tIns="0" bIns="0" anchor="ctr">
            <a:spAutoFit/>
          </a:bodyPr>
          <a:lstStyle/>
          <a:p>
            <a:pPr algn="ctr"/>
            <a:r>
              <a:rPr sz="1250" b="1" i="0">
                <a:solidFill>
                  <a:srgbClr val="FFFFFF"/>
                </a:solidFill>
              </a:rPr>
              <a:t>By position</a:t>
            </a:r>
          </a:p>
        </p:txBody>
      </p:sp>
      <p:sp>
        <p:nvSpPr>
          <p:cNvPr id="31" name="Rectangle 30"/>
          <p:cNvSpPr/>
          <p:nvPr/>
        </p:nvSpPr>
        <p:spPr>
          <a:xfrm>
            <a:off x="777240" y="1938528"/>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1938528"/>
            <a:ext cx="1691639" cy="640080"/>
          </a:xfrm>
          <a:prstGeom prst="rect">
            <a:avLst/>
          </a:prstGeom>
          <a:noFill/>
        </p:spPr>
        <p:txBody>
          <a:bodyPr wrap="square" lIns="0" rIns="0" tIns="0" bIns="0" anchor="ctr">
            <a:spAutoFit/>
          </a:bodyPr>
          <a:lstStyle/>
          <a:p>
            <a:pPr algn="l"/>
            <a:r>
              <a:rPr sz="1250" b="1" i="0">
                <a:solidFill>
                  <a:srgbClr val="8A1626"/>
                </a:solidFill>
              </a:rPr>
              <a:t>Scenario PVs</a:t>
            </a:r>
          </a:p>
          <a:p>
            <a:pPr algn="l"/>
            <a:r>
              <a:rPr sz="1050" b="0" i="0">
                <a:solidFill>
                  <a:srgbClr val="4A5058"/>
                </a:solidFill>
              </a:rPr>
              <a:t>in the trade's own currency</a:t>
            </a:r>
          </a:p>
        </p:txBody>
      </p:sp>
      <p:sp>
        <p:nvSpPr>
          <p:cNvPr id="33" name="Rectangle 32"/>
          <p:cNvSpPr/>
          <p:nvPr/>
        </p:nvSpPr>
        <p:spPr>
          <a:xfrm>
            <a:off x="2651760"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ounded Rectangle 33"/>
          <p:cNvSpPr/>
          <p:nvPr/>
        </p:nvSpPr>
        <p:spPr>
          <a:xfrm>
            <a:off x="2788920" y="2157984"/>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TextBox 34"/>
          <p:cNvSpPr txBox="1"/>
          <p:nvPr/>
        </p:nvSpPr>
        <p:spPr>
          <a:xfrm>
            <a:off x="3429000" y="1938528"/>
            <a:ext cx="1234440" cy="640080"/>
          </a:xfrm>
          <a:prstGeom prst="rect">
            <a:avLst/>
          </a:prstGeom>
          <a:noFill/>
        </p:spPr>
        <p:txBody>
          <a:bodyPr wrap="square" lIns="0" rIns="0" tIns="0" bIns="0" anchor="ctr">
            <a:spAutoFit/>
          </a:bodyPr>
          <a:lstStyle/>
          <a:p>
            <a:pPr algn="l"/>
            <a:r>
              <a:rPr sz="1150" b="0" i="0">
                <a:solidFill>
                  <a:srgbClr val="1A1A1A"/>
                </a:solidFill>
              </a:rPr>
              <a:t>2.9.4</a:t>
            </a:r>
          </a:p>
        </p:txBody>
      </p:sp>
      <p:sp>
        <p:nvSpPr>
          <p:cNvPr id="36" name="Rectangle 35"/>
          <p:cNvSpPr/>
          <p:nvPr/>
        </p:nvSpPr>
        <p:spPr>
          <a:xfrm>
            <a:off x="4782312"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4919472" y="2157984"/>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8" name="TextBox 37"/>
          <p:cNvSpPr txBox="1"/>
          <p:nvPr/>
        </p:nvSpPr>
        <p:spPr>
          <a:xfrm>
            <a:off x="5559552" y="1938528"/>
            <a:ext cx="1234440" cy="640080"/>
          </a:xfrm>
          <a:prstGeom prst="rect">
            <a:avLst/>
          </a:prstGeom>
          <a:noFill/>
        </p:spPr>
        <p:txBody>
          <a:bodyPr wrap="square" lIns="0" rIns="0" tIns="0" bIns="0" anchor="ctr">
            <a:spAutoFit/>
          </a:bodyPr>
          <a:lstStyle/>
          <a:p>
            <a:pPr algn="l"/>
            <a:r>
              <a:rPr sz="1150" b="0" i="0">
                <a:solidFill>
                  <a:srgbClr val="1A1A1A"/>
                </a:solidFill>
              </a:rPr>
              <a:t>2.9.4</a:t>
            </a:r>
          </a:p>
        </p:txBody>
      </p:sp>
      <p:sp>
        <p:nvSpPr>
          <p:cNvPr id="39" name="Rectangle 38"/>
          <p:cNvSpPr/>
          <p:nvPr/>
        </p:nvSpPr>
        <p:spPr>
          <a:xfrm>
            <a:off x="777240" y="2651760"/>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86968" y="2651760"/>
            <a:ext cx="1691639" cy="640080"/>
          </a:xfrm>
          <a:prstGeom prst="rect">
            <a:avLst/>
          </a:prstGeom>
          <a:noFill/>
        </p:spPr>
        <p:txBody>
          <a:bodyPr wrap="square" lIns="0" rIns="0" tIns="0" bIns="0" anchor="ctr">
            <a:spAutoFit/>
          </a:bodyPr>
          <a:lstStyle/>
          <a:p>
            <a:pPr algn="l"/>
            <a:r>
              <a:rPr sz="1250" b="1" i="0">
                <a:solidFill>
                  <a:srgbClr val="8A1626"/>
                </a:solidFill>
              </a:rPr>
              <a:t>P&amp;L vectors</a:t>
            </a:r>
          </a:p>
          <a:p>
            <a:pPr algn="l"/>
            <a:r>
              <a:rPr sz="1050" b="0" i="0">
                <a:solidFill>
                  <a:srgbClr val="4A5058"/>
                </a:solidFill>
              </a:rPr>
              <a:t>any currency</a:t>
            </a:r>
          </a:p>
        </p:txBody>
      </p:sp>
      <p:sp>
        <p:nvSpPr>
          <p:cNvPr id="41" name="Rectangle 40"/>
          <p:cNvSpPr/>
          <p:nvPr/>
        </p:nvSpPr>
        <p:spPr>
          <a:xfrm>
            <a:off x="2651760"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ounded Rectangle 41"/>
          <p:cNvSpPr/>
          <p:nvPr/>
        </p:nvSpPr>
        <p:spPr>
          <a:xfrm>
            <a:off x="2788920" y="287121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3429000" y="2651760"/>
            <a:ext cx="1234440" cy="640080"/>
          </a:xfrm>
          <a:prstGeom prst="rect">
            <a:avLst/>
          </a:prstGeom>
          <a:noFill/>
        </p:spPr>
        <p:txBody>
          <a:bodyPr wrap="square" lIns="0" rIns="0" tIns="0" bIns="0" anchor="ctr">
            <a:spAutoFit/>
          </a:bodyPr>
          <a:lstStyle/>
          <a:p>
            <a:pPr algn="l"/>
            <a:r>
              <a:rPr sz="1150" b="0" i="0">
                <a:solidFill>
                  <a:srgbClr val="1A1A1A"/>
                </a:solidFill>
              </a:rPr>
              <a:t>since 2.8.0</a:t>
            </a:r>
          </a:p>
        </p:txBody>
      </p:sp>
      <p:sp>
        <p:nvSpPr>
          <p:cNvPr id="44" name="Rectangle 43"/>
          <p:cNvSpPr/>
          <p:nvPr/>
        </p:nvSpPr>
        <p:spPr>
          <a:xfrm>
            <a:off x="4782312"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4919472" y="287121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6" name="TextBox 45"/>
          <p:cNvSpPr txBox="1"/>
          <p:nvPr/>
        </p:nvSpPr>
        <p:spPr>
          <a:xfrm>
            <a:off x="5559552" y="2651760"/>
            <a:ext cx="1234440" cy="640080"/>
          </a:xfrm>
          <a:prstGeom prst="rect">
            <a:avLst/>
          </a:prstGeom>
          <a:noFill/>
        </p:spPr>
        <p:txBody>
          <a:bodyPr wrap="square" lIns="0" rIns="0" tIns="0" bIns="0" anchor="ctr">
            <a:spAutoFit/>
          </a:bodyPr>
          <a:lstStyle/>
          <a:p>
            <a:pPr algn="l"/>
            <a:r>
              <a:rPr sz="1150" b="0" i="0">
                <a:solidFill>
                  <a:srgbClr val="1A1A1A"/>
                </a:solidFill>
              </a:rPr>
              <a:t>2.9.4</a:t>
            </a:r>
          </a:p>
        </p:txBody>
      </p:sp>
      <p:sp>
        <p:nvSpPr>
          <p:cNvPr id="47" name="TextBox 46"/>
          <p:cNvSpPr txBox="1"/>
          <p:nvPr/>
        </p:nvSpPr>
        <p:spPr>
          <a:xfrm>
            <a:off x="777240" y="3346704"/>
            <a:ext cx="6062472" cy="685800"/>
          </a:xfrm>
          <a:prstGeom prst="rect">
            <a:avLst/>
          </a:prstGeom>
          <a:noFill/>
        </p:spPr>
        <p:txBody>
          <a:bodyPr wrap="square" lIns="0" rIns="0" tIns="0" bIns="0" anchor="t">
            <a:spAutoFit/>
          </a:bodyPr>
          <a:lstStyle/>
          <a:p>
            <a:pPr algn="l"/>
            <a:r>
              <a:rPr sz="1150" b="1" i="0">
                <a:solidFill>
                  <a:srgbClr val="8A1626"/>
                </a:solidFill>
              </a:rPr>
              <a:t>Mix and switch: </a:t>
            </a:r>
            <a:r>
              <a:rPr sz="1150" b="0" i="0">
                <a:solidFill>
                  <a:srgbClr val="1A1A1A"/>
                </a:solidFill>
              </a:rPr>
              <a:t>systems mix on one date and may switch day to day; one form and grain per system per date (DRS-5210); a wrong record is refused and named (DRS-5208), never guessed; old files: drishti.py convert --set.</a:t>
            </a:r>
          </a:p>
        </p:txBody>
      </p:sp>
      <p:sp>
        <p:nvSpPr>
          <p:cNvPr id="48" name="TextBox 47"/>
          <p:cNvSpPr txBox="1"/>
          <p:nvPr/>
        </p:nvSpPr>
        <p:spPr>
          <a:xfrm>
            <a:off x="777240" y="4069080"/>
            <a:ext cx="6035040" cy="274320"/>
          </a:xfrm>
          <a:prstGeom prst="rect">
            <a:avLst/>
          </a:prstGeom>
          <a:noFill/>
        </p:spPr>
        <p:txBody>
          <a:bodyPr wrap="square" lIns="0" rIns="0" tIns="0" bIns="0" anchor="t">
            <a:spAutoFit/>
          </a:bodyPr>
          <a:lstStyle/>
          <a:p>
            <a:pPr algn="l"/>
            <a:r>
              <a:rPr sz="1250" b="1" i="0">
                <a:solidFill>
                  <a:srgbClr val="A51C30"/>
                </a:solidFill>
              </a:rPr>
              <a:t>Intraday: only the changed trades, applied as new − old up the tree</a:t>
            </a:r>
          </a:p>
        </p:txBody>
      </p:sp>
      <p:sp>
        <p:nvSpPr>
          <p:cNvPr id="49" name="Rectangle 48"/>
          <p:cNvSpPr/>
          <p:nvPr/>
        </p:nvSpPr>
        <p:spPr>
          <a:xfrm>
            <a:off x="77724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85039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Morning run</a:t>
            </a:r>
          </a:p>
          <a:p>
            <a:pPr algn="l"/>
            <a:r>
              <a:rPr sz="1050" b="0" i="0">
                <a:solidFill>
                  <a:srgbClr val="1A1A1A"/>
                </a:solidFill>
              </a:rPr>
              <a:t>FULL: every live trade; the official records</a:t>
            </a:r>
          </a:p>
        </p:txBody>
      </p:sp>
      <p:cxnSp>
        <p:nvCxnSpPr>
          <p:cNvPr id="51" name="Connector 50"/>
          <p:cNvCxnSpPr/>
          <p:nvPr/>
        </p:nvCxnSpPr>
        <p:spPr>
          <a:xfrm>
            <a:off x="214884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233172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240487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Changed trades</a:t>
            </a:r>
          </a:p>
          <a:p>
            <a:pPr algn="l"/>
            <a:r>
              <a:rPr sz="1050" b="0" i="0">
                <a:solidFill>
                  <a:srgbClr val="1A1A1A"/>
                </a:solidFill>
              </a:rPr>
              <a:t>files, or Kafka windows of 5 min (500 early)</a:t>
            </a:r>
          </a:p>
        </p:txBody>
      </p:sp>
      <p:cxnSp>
        <p:nvCxnSpPr>
          <p:cNvPr id="54" name="Connector 53"/>
          <p:cNvCxnSpPr/>
          <p:nvPr/>
        </p:nvCxnSpPr>
        <p:spPr>
          <a:xfrm>
            <a:off x="3703319"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388620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95935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Lake append</a:t>
            </a:r>
          </a:p>
          <a:p>
            <a:pPr algn="l"/>
            <a:r>
              <a:rPr sz="1050" b="0" i="0">
                <a:solidFill>
                  <a:srgbClr val="1A1A1A"/>
                </a:solidFill>
              </a:rPr>
              <a:t>one intraday batch, latest COMPUTED_AT wins</a:t>
            </a:r>
          </a:p>
        </p:txBody>
      </p:sp>
      <p:cxnSp>
        <p:nvCxnSpPr>
          <p:cNvPr id="57" name="Connector 56"/>
          <p:cNvCxnSpPr/>
          <p:nvPr/>
        </p:nvCxnSpPr>
        <p:spPr>
          <a:xfrm>
            <a:off x="525780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440679"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5513831"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Apply</a:t>
            </a:r>
          </a:p>
          <a:p>
            <a:pPr algn="l"/>
            <a:r>
              <a:rPr sz="1050" b="0" i="0">
                <a:solidFill>
                  <a:srgbClr val="1A1A1A"/>
                </a:solidFill>
              </a:rPr>
              <a:t>book, every node above, every currency</a:t>
            </a:r>
          </a:p>
        </p:txBody>
      </p:sp>
      <p:sp>
        <p:nvSpPr>
          <p:cNvPr id="60" name="Rectangle 59"/>
          <p:cNvSpPr/>
          <p:nvPr/>
        </p:nvSpPr>
        <p:spPr>
          <a:xfrm>
            <a:off x="7132320" y="1481328"/>
            <a:ext cx="4279392" cy="169164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Rectangle 60"/>
          <p:cNvSpPr/>
          <p:nvPr/>
        </p:nvSpPr>
        <p:spPr>
          <a:xfrm>
            <a:off x="7132320" y="1481328"/>
            <a:ext cx="427939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269480" y="1481328"/>
            <a:ext cx="4005072" cy="329184"/>
          </a:xfrm>
          <a:prstGeom prst="rect">
            <a:avLst/>
          </a:prstGeom>
          <a:noFill/>
        </p:spPr>
        <p:txBody>
          <a:bodyPr wrap="square" lIns="0" rIns="0" tIns="0" bIns="0" anchor="ctr">
            <a:spAutoFit/>
          </a:bodyPr>
          <a:lstStyle/>
          <a:p>
            <a:pPr algn="l"/>
            <a:r>
              <a:rPr sz="1150" b="1" i="0">
                <a:solidFill>
                  <a:srgbClr val="FFFFFF"/>
                </a:solidFill>
              </a:rPr>
              <a:t>One JSON Lines record, four forms</a:t>
            </a:r>
          </a:p>
        </p:txBody>
      </p:sp>
      <p:sp>
        <p:nvSpPr>
          <p:cNvPr id="63" name="TextBox 62"/>
          <p:cNvSpPr txBox="1"/>
          <p:nvPr/>
        </p:nvSpPr>
        <p:spPr>
          <a:xfrm>
            <a:off x="7296912" y="1920240"/>
            <a:ext cx="4005072" cy="1188720"/>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{"VALUE_TYPE":"PV","GRAIN":"TRADE",</a:t>
            </a:r>
          </a:p>
          <a:p>
            <a:pPr algn="l">
              <a:spcAft>
                <a:spcPts val="200"/>
              </a:spcAft>
            </a:pPr>
            <a:r>
              <a:rPr sz="1050" b="0" i="0">
                <a:solidFill>
                  <a:srgbClr val="F1EEE9"/>
                </a:solidFill>
                <a:latin typeface="Courier New"/>
              </a:rPr>
              <a:t> "TRADE_ID":"1000279","CURRENCY":"EUR",</a:t>
            </a:r>
          </a:p>
          <a:p>
            <a:pPr algn="l">
              <a:spcAft>
                <a:spcPts val="200"/>
              </a:spcAft>
            </a:pPr>
            <a:r>
              <a:rPr sz="1050" b="0" i="0">
                <a:solidFill>
                  <a:srgbClr val="F1EEE9"/>
                </a:solidFill>
                <a:latin typeface="Courier New"/>
              </a:rPr>
              <a:t> "BASE_PV":…,"PVS":[…509…],</a:t>
            </a:r>
          </a:p>
          <a:p>
            <a:pPr algn="l">
              <a:spcAft>
                <a:spcPts val="200"/>
              </a:spcAft>
            </a:pPr>
            <a:r>
              <a:rPr sz="1050" b="0" i="0">
                <a:solidFill>
                  <a:srgbClr val="F1EEE9"/>
                </a:solidFill>
                <a:latin typeface="Courier New"/>
              </a:rPr>
              <a:t> "COMPUTED_AT":"…","SOURCE_SYSTEM":"…"}</a:t>
            </a:r>
          </a:p>
        </p:txBody>
      </p:sp>
      <p:sp>
        <p:nvSpPr>
          <p:cNvPr id="64" name="Rectangle 63"/>
          <p:cNvSpPr/>
          <p:nvPr/>
        </p:nvSpPr>
        <p:spPr>
          <a:xfrm>
            <a:off x="7132320" y="3291840"/>
            <a:ext cx="4279392" cy="109728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42048" y="3364992"/>
            <a:ext cx="4059936" cy="969264"/>
          </a:xfrm>
          <a:prstGeom prst="rect">
            <a:avLst/>
          </a:prstGeom>
          <a:noFill/>
        </p:spPr>
        <p:txBody>
          <a:bodyPr wrap="square" lIns="0" rIns="0" tIns="0" bIns="0" anchor="t">
            <a:spAutoFit/>
          </a:bodyPr>
          <a:lstStyle/>
          <a:p>
            <a:pPr algn="l">
              <a:spcAft>
                <a:spcPts val="300"/>
              </a:spcAft>
            </a:pPr>
            <a:r>
              <a:rPr sz="1250" b="1" i="0">
                <a:solidFill>
                  <a:srgbClr val="8A1626"/>
                </a:solidFill>
              </a:rPr>
              <a:t>The guarantee</a:t>
            </a:r>
          </a:p>
          <a:p>
            <a:pPr algn="l"/>
            <a:r>
              <a:rPr sz="1150" b="0" i="0">
                <a:solidFill>
                  <a:srgbClr val="4A5058"/>
                </a:solidFill>
              </a:rPr>
              <a:t>Incremental equals the same data loaded as one run, to the cent, on every node; replaying the Kafka topic after a restart writes nothing twice.</a:t>
            </a:r>
          </a:p>
        </p:txBody>
      </p:sp>
      <p:sp>
        <p:nvSpPr>
          <p:cNvPr id="66" name="Rectangle 65"/>
          <p:cNvSpPr/>
          <p:nvPr/>
        </p:nvSpPr>
        <p:spPr>
          <a:xfrm>
            <a:off x="7132320" y="4498848"/>
            <a:ext cx="4279392"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7242048" y="4572000"/>
            <a:ext cx="4059936" cy="896112"/>
          </a:xfrm>
          <a:prstGeom prst="rect">
            <a:avLst/>
          </a:prstGeom>
          <a:noFill/>
        </p:spPr>
        <p:txBody>
          <a:bodyPr wrap="square" lIns="0" rIns="0" tIns="0" bIns="0" anchor="t">
            <a:spAutoFit/>
          </a:bodyPr>
          <a:lstStyle/>
          <a:p>
            <a:pPr algn="l">
              <a:spcAft>
                <a:spcPts val="300"/>
              </a:spcAft>
            </a:pPr>
            <a:r>
              <a:rPr sz="1250" b="1" i="0">
                <a:solidFill>
                  <a:srgbClr val="8A1626"/>
                </a:solidFill>
              </a:rPr>
              <a:t>Cost of a batch</a:t>
            </a:r>
          </a:p>
          <a:p>
            <a:pPr algn="l"/>
            <a:r>
              <a:rPr sz="1150" b="0" i="0">
                <a:solidFill>
                  <a:srgbClr val="4A5058"/>
                </a:solidFill>
              </a:rPr>
              <a:t>∝ trades changed × nodes above × currencies built — never the size of the book. Official numbers come only from full runs.</a:t>
            </a:r>
          </a:p>
        </p:txBody>
      </p:sp>
      <p:sp>
        <p:nvSpPr>
          <p:cNvPr id="68" name="Rectangle 6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Rectangle 6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Source systems keep their own formats; Drishti turns every input into one internal form, a P&amp;L vector per row.</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2.9.4 · ANY REPORTING CURRENCY</a:t>
            </a:r>
          </a:p>
        </p:txBody>
      </p:sp>
      <p:sp>
        <p:nvSpPr>
          <p:cNvPr id="3" name="Title 2"/>
          <p:cNvSpPr>
            <a:spLocks noGrp="1"/>
          </p:cNvSpPr>
          <p:nvPr>
            <p:ph type="title" idx="104"/>
          </p:nvPr>
        </p:nvSpPr>
        <p:spPr/>
        <p:txBody>
          <a:bodyPr lIns="0" rIns="0" tIns="0" bIns="0" anchor="t"/>
          <a:lstStyle/>
          <a:p>
            <a:r>
              <a:t>The same trades, a different VaR per currency — exact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in EUR" descr="15-reporting-currency.jpg"/>
          <p:cNvPicPr>
            <a:picLocks noChangeAspect="1"/>
          </p:cNvPicPr>
          <p:nvPr/>
        </p:nvPicPr>
        <p:blipFill>
          <a:blip r:embed="rId2"/>
          <a:stretch>
            <a:fillRect/>
          </a:stretch>
        </p:blipFill>
        <p:spPr>
          <a:xfrm>
            <a:off x="777240" y="1450467"/>
            <a:ext cx="5029200" cy="3143250"/>
          </a:xfrm>
          <a:prstGeom prst="rect">
            <a:avLst/>
          </a:prstGeom>
          <a:ln w="9525">
            <a:solidFill>
              <a:srgbClr val="CFC8BE"/>
            </a:solidFill>
          </a:ln>
        </p:spPr>
      </p:pic>
      <p:sp>
        <p:nvSpPr>
          <p:cNvPr id="27" name="TextBox 26"/>
          <p:cNvSpPr txBox="1"/>
          <p:nvPr/>
        </p:nvSpPr>
        <p:spPr>
          <a:xfrm>
            <a:off x="777240" y="4636008"/>
            <a:ext cx="5029200" cy="274320"/>
          </a:xfrm>
          <a:prstGeom prst="rect">
            <a:avLst/>
          </a:prstGeom>
          <a:noFill/>
        </p:spPr>
        <p:txBody>
          <a:bodyPr wrap="square" lIns="0" rIns="0" tIns="0" bIns="0" anchor="t">
            <a:spAutoFit/>
          </a:bodyPr>
          <a:lstStyle/>
          <a:p>
            <a:pPr algn="l"/>
            <a:r>
              <a:rPr sz="1050" b="0" i="1">
                <a:solidFill>
                  <a:srgbClr val="61666E"/>
                </a:solidFill>
              </a:rPr>
              <a:t>VAR DESK DESK-RATES IN EUR: every panel in EUR, the FX named.</a:t>
            </a:r>
          </a:p>
        </p:txBody>
      </p:sp>
      <p:graphicFrame>
        <p:nvGraphicFramePr>
          <p:cNvPr id="28" name="Table 27"/>
          <p:cNvGraphicFramePr>
            <a:graphicFrameLocks noGrp="1"/>
          </p:cNvGraphicFramePr>
          <p:nvPr/>
        </p:nvGraphicFramePr>
        <p:xfrm>
          <a:off x="6080759" y="1444752"/>
          <a:ext cx="3017520" cy="1645920"/>
        </p:xfrm>
        <a:graphic>
          <a:graphicData uri="http://schemas.openxmlformats.org/drawingml/2006/table">
            <a:tbl>
              <a:tblPr firstRow="0" bandRow="0">
                <a:tableStyleId>{5940675A-B579-460E-94D1-54222C63F5DA}</a:tableStyleId>
              </a:tblPr>
              <a:tblGrid>
                <a:gridCol w="548640"/>
                <a:gridCol w="1234440"/>
                <a:gridCol w="1234440"/>
              </a:tblGrid>
              <a:tr h="274320">
                <a:tc>
                  <a:txBody>
                    <a:bodyPr wrap="square"/>
                    <a:lstStyle/>
                    <a:p>
                      <a:r>
                        <a:rPr sz="110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9" name="TextBox 28"/>
          <p:cNvSpPr txBox="1"/>
          <p:nvPr/>
        </p:nvSpPr>
        <p:spPr>
          <a:xfrm>
            <a:off x="9281159" y="1444752"/>
            <a:ext cx="2130552" cy="274320"/>
          </a:xfrm>
          <a:prstGeom prst="rect">
            <a:avLst/>
          </a:prstGeom>
          <a:noFill/>
        </p:spPr>
        <p:txBody>
          <a:bodyPr wrap="square" lIns="0" rIns="0" tIns="0" bIns="0" anchor="t">
            <a:spAutoFit/>
          </a:bodyPr>
          <a:lstStyle/>
          <a:p>
            <a:pPr algn="l"/>
            <a:r>
              <a:rPr sz="1150" b="1" i="0">
                <a:solidFill>
                  <a:srgbClr val="A51C30"/>
                </a:solidFill>
              </a:rPr>
              <a:t>Bank VaR, EUR m</a:t>
            </a:r>
          </a:p>
        </p:txBody>
      </p:sp>
      <p:graphicFrame>
        <p:nvGraphicFramePr>
          <p:cNvPr id="30" name="EUR vs converted chart"/>
          <p:cNvGraphicFramePr>
            <a:graphicFrameLocks noGrp="1"/>
          </p:cNvGraphicFramePr>
          <p:nvPr/>
        </p:nvGraphicFramePr>
        <p:xfrm>
          <a:off x="9235440" y="1691640"/>
          <a:ext cx="2176272" cy="1188720"/>
        </p:xfrm>
        <a:graphic>
          <a:graphicData uri="http://schemas.openxmlformats.org/drawingml/2006/chart">
            <c:chart xmlns:c="http://schemas.openxmlformats.org/drawingml/2006/chart" r:id="rId3"/>
          </a:graphicData>
        </a:graphic>
      </p:graphicFrame>
      <p:sp>
        <p:nvSpPr>
          <p:cNvPr id="31" name="TextBox 30"/>
          <p:cNvSpPr txBox="1"/>
          <p:nvPr/>
        </p:nvSpPr>
        <p:spPr>
          <a:xfrm>
            <a:off x="9281159" y="2880360"/>
            <a:ext cx="2130552" cy="548640"/>
          </a:xfrm>
          <a:prstGeom prst="rect">
            <a:avLst/>
          </a:prstGeom>
          <a:noFill/>
        </p:spPr>
        <p:txBody>
          <a:bodyPr wrap="square" lIns="0" rIns="0" tIns="0" bIns="0" anchor="t">
            <a:spAutoFit/>
          </a:bodyPr>
          <a:lstStyle/>
          <a:p>
            <a:pPr algn="l"/>
            <a:r>
              <a:rPr sz="1050" b="0" i="0">
                <a:solidFill>
                  <a:srgbClr val="4A5058"/>
                </a:solidFill>
              </a:rPr>
              <a:t>A net 3.65bn USD of value moves against the euro on the scenario days.</a:t>
            </a:r>
          </a:p>
        </p:txBody>
      </p:sp>
      <p:graphicFrame>
        <p:nvGraphicFramePr>
          <p:cNvPr id="32" name="Table 31"/>
          <p:cNvGraphicFramePr>
            <a:graphicFrameLocks noGrp="1"/>
          </p:cNvGraphicFramePr>
          <p:nvPr/>
        </p:nvGraphicFramePr>
        <p:xfrm>
          <a:off x="6080759" y="3520440"/>
          <a:ext cx="5330952" cy="1901952"/>
        </p:xfrm>
        <a:graphic>
          <a:graphicData uri="http://schemas.openxmlformats.org/drawingml/2006/table">
            <a:tbl>
              <a:tblPr firstRow="0" bandRow="0">
                <a:tableStyleId>{5940675A-B579-460E-94D1-54222C63F5DA}</a:tableStyleId>
              </a:tblPr>
              <a:tblGrid>
                <a:gridCol w="2331720"/>
                <a:gridCol w="2999232"/>
              </a:tblGrid>
              <a:tr h="475488">
                <a:tc>
                  <a:txBody>
                    <a:bodyPr wrap="square"/>
                    <a:lstStyle/>
                    <a:p>
                      <a:r>
                        <a:rPr sz="1100" b="1" i="0">
                          <a:solidFill>
                            <a:srgbClr val="FFFFFF"/>
                          </a:solidFill>
                        </a:rPr>
                        <a:t>Setting (2.9.4)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drishti.var.scenario-window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(509) or the newest N; window=250 per request, labelled, never official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DRISHTI_VAR_CONFIDENCE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99% by default, 95% by setting; ES 97.5%; every label follows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drishti.var.currencies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USD, EUR, CAD, JPY, GBP built ahead; any other currency on first ask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3" name="TextBox 32"/>
          <p:cNvSpPr txBox="1"/>
          <p:nvPr/>
        </p:nvSpPr>
        <p:spPr>
          <a:xfrm>
            <a:off x="777240" y="4983480"/>
            <a:ext cx="5029200" cy="566928"/>
          </a:xfrm>
          <a:prstGeom prst="rect">
            <a:avLst/>
          </a:prstGeom>
          <a:noFill/>
        </p:spPr>
        <p:txBody>
          <a:bodyPr wrap="square" lIns="0" rIns="0" tIns="0" bIns="0" anchor="t">
            <a:spAutoFit/>
          </a:bodyPr>
          <a:lstStyle/>
          <a:p>
            <a:pPr algn="l"/>
            <a:r>
              <a:rPr sz="1100" b="0" i="0">
                <a:solidFill>
                  <a:srgbClr val="1A1A1A"/>
                </a:solidFill>
              </a:rPr>
              <a:t>P&amp;L(s) = PV(s)·FX(s) − PV(base)·FX(base), every cross via USD; each node keeps its PVs summed per trade currency.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euro-based owner carries a risk a dollar-based one does not: EUR VaR is not USD VaR times today's rate.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EXPOSURE (EE / PFE) · 2.9.0</a:t>
            </a:r>
          </a:p>
        </p:txBody>
      </p:sp>
      <p:sp>
        <p:nvSpPr>
          <p:cNvPr id="3" name="Title 2"/>
          <p:cNvSpPr>
            <a:spLocks noGrp="1"/>
          </p:cNvSpPr>
          <p:nvPr>
            <p:ph type="title" idx="104"/>
          </p:nvPr>
        </p:nvSpPr>
        <p:spPr/>
        <p:txBody>
          <a:bodyPr lIns="0" rIns="0" tIns="0" bIns="0" anchor="t"/>
          <a:lstStyle/>
          <a:p>
            <a:r>
              <a:t>Exposure computed for any scope, down to a trade, collateral path by path</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Paths</a:t>
            </a:r>
          </a:p>
          <a:p>
            <a:pPr algn="l"/>
            <a:r>
              <a:rPr sz="1050" b="0" i="0">
                <a:solidFill>
                  <a:srgbClr val="1A1A1A"/>
                </a:solidFill>
              </a:rPr>
              <a:t>every trade's MtM on every path and date (exposure-path)</a:t>
            </a:r>
          </a:p>
        </p:txBody>
      </p:sp>
      <p:cxnSp>
        <p:nvCxnSpPr>
          <p:cNvPr id="28" name="Connector 27"/>
          <p:cNvCxnSpPr/>
          <p:nvPr/>
        </p:nvCxnSpPr>
        <p:spPr>
          <a:xfrm>
            <a:off x="2724912"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53512"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26664"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Net</a:t>
            </a:r>
          </a:p>
          <a:p>
            <a:pPr algn="l"/>
            <a:r>
              <a:rPr sz="1050" b="0" i="0">
                <a:solidFill>
                  <a:srgbClr val="1A1A1A"/>
                </a:solidFill>
              </a:rPr>
              <a:t>per netting set, path by path</a:t>
            </a:r>
          </a:p>
        </p:txBody>
      </p:sp>
      <p:cxnSp>
        <p:nvCxnSpPr>
          <p:cNvPr id="31" name="Connector 30"/>
          <p:cNvCxnSpPr/>
          <p:nvPr/>
        </p:nvCxnSpPr>
        <p:spPr>
          <a:xfrm>
            <a:off x="4901183" y="2052828"/>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9783"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02936"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Collateral</a:t>
            </a:r>
          </a:p>
          <a:p>
            <a:pPr algn="l"/>
            <a:r>
              <a:rPr sz="1050" b="0" i="0">
                <a:solidFill>
                  <a:srgbClr val="1A1A1A"/>
                </a:solidFill>
              </a:rPr>
              <a:t>each CSA: threshold, MTA, IA, rounding, margin period of risk</a:t>
            </a:r>
          </a:p>
        </p:txBody>
      </p:sp>
      <p:cxnSp>
        <p:nvCxnSpPr>
          <p:cNvPr id="34" name="Connector 33"/>
          <p:cNvCxnSpPr/>
          <p:nvPr/>
        </p:nvCxnSpPr>
        <p:spPr>
          <a:xfrm>
            <a:off x="7077455"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306055"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79207"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Measures</a:t>
            </a:r>
          </a:p>
          <a:p>
            <a:pPr algn="l"/>
            <a:r>
              <a:rPr sz="1050" b="0" i="0">
                <a:solidFill>
                  <a:srgbClr val="1A1A1A"/>
                </a:solidFill>
              </a:rPr>
              <a:t>EE, ENE, effective EE, PFE 95/99, EPE, EEPE, peak PFE, EAD</a:t>
            </a:r>
          </a:p>
        </p:txBody>
      </p:sp>
      <p:cxnSp>
        <p:nvCxnSpPr>
          <p:cNvPr id="37" name="Connector 36"/>
          <p:cNvCxnSpPr/>
          <p:nvPr/>
        </p:nvCxnSpPr>
        <p:spPr>
          <a:xfrm>
            <a:off x="9253728"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82328" y="1481328"/>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Any scope</a:t>
            </a:r>
          </a:p>
          <a:p>
            <a:pPr algn="l"/>
            <a:r>
              <a:rPr sz="1050" b="0" i="0">
                <a:solidFill>
                  <a:srgbClr val="1A1A1A"/>
                </a:solidFill>
              </a:rPr>
              <a:t>NSET, CPTY, GROUP, LE, DESK, BOOK, TRD, BANK; + − &amp;</a:t>
            </a:r>
          </a:p>
        </p:txBody>
      </p:sp>
      <p:pic>
        <p:nvPicPr>
          <p:cNvPr id="40" name="Exposure explorer" descr="01-bank-board.jpg"/>
          <p:cNvPicPr>
            <a:picLocks noChangeAspect="1"/>
          </p:cNvPicPr>
          <p:nvPr/>
        </p:nvPicPr>
        <p:blipFill>
          <a:blip r:embed="rId2"/>
          <a:stretch>
            <a:fillRect/>
          </a:stretch>
        </p:blipFill>
        <p:spPr>
          <a:xfrm>
            <a:off x="1124712" y="2834640"/>
            <a:ext cx="4242816" cy="2651760"/>
          </a:xfrm>
          <a:prstGeom prst="rect">
            <a:avLst/>
          </a:prstGeom>
          <a:ln w="9525">
            <a:solidFill>
              <a:srgbClr val="CFC8BE"/>
            </a:solidFill>
          </a:ln>
        </p:spPr>
      </p:pic>
      <p:sp>
        <p:nvSpPr>
          <p:cNvPr id="41" name="Rectangle 40"/>
          <p:cNvSpPr/>
          <p:nvPr/>
        </p:nvSpPr>
        <p:spPr>
          <a:xfrm>
            <a:off x="5989320"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5989320"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172200" y="2926080"/>
            <a:ext cx="2368296" cy="457200"/>
          </a:xfrm>
          <a:prstGeom prst="rect">
            <a:avLst/>
          </a:prstGeom>
          <a:noFill/>
        </p:spPr>
        <p:txBody>
          <a:bodyPr wrap="square" lIns="0" rIns="0" tIns="0" bIns="0" anchor="ctr">
            <a:spAutoFit/>
          </a:bodyPr>
          <a:lstStyle/>
          <a:p>
            <a:pPr algn="l"/>
            <a:r>
              <a:rPr sz="1900" b="1" i="0">
                <a:solidFill>
                  <a:srgbClr val="8A1626"/>
                </a:solidFill>
              </a:rPr>
              <a:t>73</a:t>
            </a:r>
          </a:p>
        </p:txBody>
      </p:sp>
      <p:sp>
        <p:nvSpPr>
          <p:cNvPr id="44" name="TextBox 43"/>
          <p:cNvSpPr txBox="1"/>
          <p:nvPr/>
        </p:nvSpPr>
        <p:spPr>
          <a:xfrm>
            <a:off x="6172200" y="3401568"/>
            <a:ext cx="2368296" cy="274319"/>
          </a:xfrm>
          <a:prstGeom prst="rect">
            <a:avLst/>
          </a:prstGeom>
          <a:noFill/>
        </p:spPr>
        <p:txBody>
          <a:bodyPr wrap="square" lIns="0" rIns="0" tIns="0" bIns="0" anchor="t">
            <a:spAutoFit/>
          </a:bodyPr>
          <a:lstStyle/>
          <a:p>
            <a:pPr algn="l"/>
            <a:r>
              <a:rPr sz="1150" b="0" i="0">
                <a:solidFill>
                  <a:srgbClr val="4A5058"/>
                </a:solidFill>
              </a:rPr>
              <a:t>netting sets on the demo, 9,000 trades</a:t>
            </a:r>
          </a:p>
        </p:txBody>
      </p:sp>
      <p:sp>
        <p:nvSpPr>
          <p:cNvPr id="45" name="Rectangle 44"/>
          <p:cNvSpPr/>
          <p:nvPr/>
        </p:nvSpPr>
        <p:spPr>
          <a:xfrm>
            <a:off x="8769096"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8769096"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951976" y="2926080"/>
            <a:ext cx="2368296" cy="457200"/>
          </a:xfrm>
          <a:prstGeom prst="rect">
            <a:avLst/>
          </a:prstGeom>
          <a:noFill/>
        </p:spPr>
        <p:txBody>
          <a:bodyPr wrap="square" lIns="0" rIns="0" tIns="0" bIns="0" anchor="ctr">
            <a:spAutoFit/>
          </a:bodyPr>
          <a:lstStyle/>
          <a:p>
            <a:pPr algn="l"/>
            <a:r>
              <a:rPr sz="1900" b="1" i="0">
                <a:solidFill>
                  <a:srgbClr val="8A1626"/>
                </a:solidFill>
              </a:rPr>
              <a:t>85.1m</a:t>
            </a:r>
          </a:p>
        </p:txBody>
      </p:sp>
      <p:sp>
        <p:nvSpPr>
          <p:cNvPr id="48" name="TextBox 47"/>
          <p:cNvSpPr txBox="1"/>
          <p:nvPr/>
        </p:nvSpPr>
        <p:spPr>
          <a:xfrm>
            <a:off x="8951976" y="3401568"/>
            <a:ext cx="2368296" cy="274319"/>
          </a:xfrm>
          <a:prstGeom prst="rect">
            <a:avLst/>
          </a:prstGeom>
          <a:noFill/>
        </p:spPr>
        <p:txBody>
          <a:bodyPr wrap="square" lIns="0" rIns="0" tIns="0" bIns="0" anchor="t">
            <a:spAutoFit/>
          </a:bodyPr>
          <a:lstStyle/>
          <a:p>
            <a:pPr algn="l"/>
            <a:r>
              <a:rPr sz="1150" b="0" i="0">
                <a:solidFill>
                  <a:srgbClr val="4A5058"/>
                </a:solidFill>
              </a:rPr>
              <a:t>peak PFE, NS-ALDERSHOT-LDN</a:t>
            </a:r>
          </a:p>
        </p:txBody>
      </p:sp>
      <p:sp>
        <p:nvSpPr>
          <p:cNvPr id="49" name="Rectangle 48"/>
          <p:cNvSpPr/>
          <p:nvPr/>
        </p:nvSpPr>
        <p:spPr>
          <a:xfrm>
            <a:off x="5989320"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5989320"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172200" y="3913631"/>
            <a:ext cx="2368296" cy="457200"/>
          </a:xfrm>
          <a:prstGeom prst="rect">
            <a:avLst/>
          </a:prstGeom>
          <a:noFill/>
        </p:spPr>
        <p:txBody>
          <a:bodyPr wrap="square" lIns="0" rIns="0" tIns="0" bIns="0" anchor="ctr">
            <a:spAutoFit/>
          </a:bodyPr>
          <a:lstStyle/>
          <a:p>
            <a:pPr algn="l"/>
            <a:r>
              <a:rPr sz="1900" b="1" i="0">
                <a:solidFill>
                  <a:srgbClr val="8A1626"/>
                </a:solidFill>
              </a:rPr>
              <a:t>61 ms</a:t>
            </a:r>
          </a:p>
        </p:txBody>
      </p:sp>
      <p:sp>
        <p:nvSpPr>
          <p:cNvPr id="52" name="TextBox 51"/>
          <p:cNvSpPr txBox="1"/>
          <p:nvPr/>
        </p:nvSpPr>
        <p:spPr>
          <a:xfrm>
            <a:off x="6172200" y="4389120"/>
            <a:ext cx="2368296" cy="274319"/>
          </a:xfrm>
          <a:prstGeom prst="rect">
            <a:avLst/>
          </a:prstGeom>
          <a:noFill/>
        </p:spPr>
        <p:txBody>
          <a:bodyPr wrap="square" lIns="0" rIns="0" tIns="0" bIns="0" anchor="t">
            <a:spAutoFit/>
          </a:bodyPr>
          <a:lstStyle/>
          <a:p>
            <a:pPr algn="l"/>
            <a:r>
              <a:rPr sz="1150" b="0" i="0">
                <a:solidFill>
                  <a:srgbClr val="4A5058"/>
                </a:solidFill>
              </a:rPr>
              <a:t>the bank of 9,901 sets (measured)</a:t>
            </a:r>
          </a:p>
        </p:txBody>
      </p:sp>
      <p:sp>
        <p:nvSpPr>
          <p:cNvPr id="53" name="Rectangle 52"/>
          <p:cNvSpPr/>
          <p:nvPr/>
        </p:nvSpPr>
        <p:spPr>
          <a:xfrm>
            <a:off x="8769096"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8769096"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951976" y="3913631"/>
            <a:ext cx="2368296" cy="457200"/>
          </a:xfrm>
          <a:prstGeom prst="rect">
            <a:avLst/>
          </a:prstGeom>
          <a:noFill/>
        </p:spPr>
        <p:txBody>
          <a:bodyPr wrap="square" lIns="0" rIns="0" tIns="0" bIns="0" anchor="ctr">
            <a:spAutoFit/>
          </a:bodyPr>
          <a:lstStyle/>
          <a:p>
            <a:pPr algn="l"/>
            <a:r>
              <a:rPr sz="1900" b="1" i="0">
                <a:solidFill>
                  <a:srgbClr val="8A1626"/>
                </a:solidFill>
              </a:rPr>
              <a:t>0.06 ms</a:t>
            </a:r>
          </a:p>
        </p:txBody>
      </p:sp>
      <p:sp>
        <p:nvSpPr>
          <p:cNvPr id="56" name="TextBox 55"/>
          <p:cNvSpPr txBox="1"/>
          <p:nvPr/>
        </p:nvSpPr>
        <p:spPr>
          <a:xfrm>
            <a:off x="8951976" y="4389120"/>
            <a:ext cx="2368296" cy="274319"/>
          </a:xfrm>
          <a:prstGeom prst="rect">
            <a:avLst/>
          </a:prstGeom>
          <a:noFill/>
        </p:spPr>
        <p:txBody>
          <a:bodyPr wrap="square" lIns="0" rIns="0" tIns="0" bIns="0" anchor="t">
            <a:spAutoFit/>
          </a:bodyPr>
          <a:lstStyle/>
          <a:p>
            <a:pPr algn="l"/>
            <a:r>
              <a:rPr sz="1150" b="0" i="0">
                <a:solidFill>
                  <a:srgbClr val="4A5058"/>
                </a:solidFill>
              </a:rPr>
              <a:t>one netting set (measured)</a:t>
            </a:r>
          </a:p>
        </p:txBody>
      </p:sp>
      <p:sp>
        <p:nvSpPr>
          <p:cNvPr id="57" name="TextBox 56"/>
          <p:cNvSpPr txBox="1"/>
          <p:nvPr/>
        </p:nvSpPr>
        <p:spPr>
          <a:xfrm>
            <a:off x="5989320" y="4846320"/>
            <a:ext cx="5422392" cy="685800"/>
          </a:xfrm>
          <a:prstGeom prst="rect">
            <a:avLst/>
          </a:prstGeom>
          <a:noFill/>
        </p:spPr>
        <p:txBody>
          <a:bodyPr wrap="square" lIns="0" rIns="0" tIns="0" bIns="0" anchor="t">
            <a:spAutoFit/>
          </a:bodyPr>
          <a:lstStyle/>
          <a:p>
            <a:pPr algn="l"/>
            <a:r>
              <a:rPr sz="1150" b="0" i="0">
                <a:solidFill>
                  <a:srgbClr val="1A1A1A"/>
                </a:solidFill>
              </a:rPr>
              <a:t>Explorer, pre-deal what-if (exact on the run's own paths, or a marked proxy), captures, official results, tiered retention: trade paths 20 days and month-ends; statistics 7 years.</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stored peaks summed to 92.6bn; computed with the CSAs on the same sets, 7.6bn — the stored profile is retired.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NUMBERS OF RECORD AND WRITE-BACK · 2.8.0 AND 2.9.0</a:t>
            </a:r>
          </a:p>
        </p:txBody>
      </p:sp>
      <p:sp>
        <p:nvSpPr>
          <p:cNvPr id="3" name="Title 2"/>
          <p:cNvSpPr>
            <a:spLocks noGrp="1"/>
          </p:cNvSpPr>
          <p:nvPr>
            <p:ph type="title" idx="104"/>
          </p:nvPr>
        </p:nvSpPr>
        <p:spPr/>
        <p:txBody>
          <a:bodyPr lIns="0" rIns="0" tIns="0" bIns="0" anchor="t"/>
          <a:lstStyle/>
          <a:p>
            <a:r>
              <a:t>Official results other systems can read — and edits that never overwrite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10634472" cy="274320"/>
          </a:xfrm>
          <a:prstGeom prst="rect">
            <a:avLst/>
          </a:prstGeom>
          <a:noFill/>
        </p:spPr>
        <p:txBody>
          <a:bodyPr wrap="square" lIns="0" rIns="0" tIns="0" bIns="0" anchor="t">
            <a:spAutoFit/>
          </a:bodyPr>
          <a:lstStyle/>
          <a:p>
            <a:pPr algn="l"/>
            <a:r>
              <a:rPr sz="1300" b="1" i="0">
                <a:solidFill>
                  <a:srgbClr val="A51C30"/>
                </a:solidFill>
              </a:rPr>
              <a:t>Official end-of-day results: VaR and exposure</a:t>
            </a:r>
          </a:p>
        </p:txBody>
      </p:sp>
      <p:sp>
        <p:nvSpPr>
          <p:cNvPr id="27" name="Rectangle 26"/>
          <p:cNvSpPr/>
          <p:nvPr/>
        </p:nvSpPr>
        <p:spPr>
          <a:xfrm>
            <a:off x="777240"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Morning full run</a:t>
            </a:r>
          </a:p>
          <a:p>
            <a:pPr algn="l"/>
            <a:r>
              <a:rPr sz="1050" b="0" i="0">
                <a:solidFill>
                  <a:srgbClr val="1A1A1A"/>
                </a:solidFill>
              </a:rPr>
              <a:t>every node of every hierarchy, as the server</a:t>
            </a:r>
          </a:p>
        </p:txBody>
      </p:sp>
      <p:cxnSp>
        <p:nvCxnSpPr>
          <p:cNvPr id="29" name="Connector 28"/>
          <p:cNvCxnSpPr/>
          <p:nvPr/>
        </p:nvCxnSpPr>
        <p:spPr>
          <a:xfrm>
            <a:off x="3264408"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502152"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575304"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Captured, append-only</a:t>
            </a:r>
          </a:p>
          <a:p>
            <a:pPr algn="l"/>
            <a:r>
              <a:rPr sz="1050" b="0" i="0">
                <a:solidFill>
                  <a:srgbClr val="1A1A1A"/>
                </a:solidFill>
              </a:rPr>
              <a:t>a restatement adds a result version; kept 7 years</a:t>
            </a:r>
          </a:p>
        </p:txBody>
      </p:sp>
      <p:cxnSp>
        <p:nvCxnSpPr>
          <p:cNvPr id="32" name="Connector 31"/>
          <p:cNvCxnSpPr/>
          <p:nvPr/>
        </p:nvCxnSpPr>
        <p:spPr>
          <a:xfrm>
            <a:off x="5989320"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27064" y="1737360"/>
            <a:ext cx="2468880" cy="9144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6300216"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risk-results</a:t>
            </a:r>
          </a:p>
          <a:p>
            <a:pPr algn="l"/>
            <a:r>
              <a:rPr sz="1050" b="0" i="0">
                <a:solidFill>
                  <a:srgbClr val="1A1A1A"/>
                </a:solidFill>
              </a:rPr>
              <a:t>var-official, exposure-official, -cpty: Delta or Iceberg, a folder or S3 (2.9.5); JSONL beside</a:t>
            </a:r>
          </a:p>
        </p:txBody>
      </p:sp>
      <p:cxnSp>
        <p:nvCxnSpPr>
          <p:cNvPr id="35" name="Connector 34"/>
          <p:cNvCxnSpPr/>
          <p:nvPr/>
        </p:nvCxnSpPr>
        <p:spPr>
          <a:xfrm>
            <a:off x="8714232"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51976"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025128"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BI reads them</a:t>
            </a:r>
          </a:p>
          <a:p>
            <a:pPr algn="l"/>
            <a:r>
              <a:rPr sz="1050" b="0" i="0">
                <a:solidFill>
                  <a:srgbClr val="1A1A1A"/>
                </a:solidFill>
              </a:rPr>
              <a:t>read-only kinds VOFF and XOFC; the Market risk VaR model and report</a:t>
            </a:r>
          </a:p>
        </p:txBody>
      </p:sp>
      <p:sp>
        <p:nvSpPr>
          <p:cNvPr id="38" name="TextBox 37"/>
          <p:cNvSpPr txBox="1"/>
          <p:nvPr/>
        </p:nvSpPr>
        <p:spPr>
          <a:xfrm>
            <a:off x="777240" y="2880360"/>
            <a:ext cx="10634472" cy="274320"/>
          </a:xfrm>
          <a:prstGeom prst="rect">
            <a:avLst/>
          </a:prstGeom>
          <a:noFill/>
        </p:spPr>
        <p:txBody>
          <a:bodyPr wrap="square" lIns="0" rIns="0" tIns="0" bIns="0" anchor="t">
            <a:spAutoFit/>
          </a:bodyPr>
          <a:lstStyle/>
          <a:p>
            <a:pPr algn="l"/>
            <a:r>
              <a:rPr sz="1300" b="1" i="0">
                <a:solidFill>
                  <a:srgbClr val="A51C30"/>
                </a:solidFill>
              </a:rPr>
              <a:t>Write-back: forms save through an edit log, with four eyes (off by default)</a:t>
            </a:r>
          </a:p>
        </p:txBody>
      </p:sp>
      <p:sp>
        <p:nvSpPr>
          <p:cNvPr id="39" name="Rectangle 38"/>
          <p:cNvSpPr/>
          <p:nvPr/>
        </p:nvSpPr>
        <p:spPr>
          <a:xfrm>
            <a:off x="777240"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50392"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Submit…</a:t>
            </a:r>
          </a:p>
          <a:p>
            <a:pPr algn="l"/>
            <a:r>
              <a:rPr sz="1050" b="0" i="0">
                <a:solidFill>
                  <a:srgbClr val="1A1A1A"/>
                </a:solidFill>
              </a:rPr>
              <a:t>the draft and a review sheet: what you saw, what is there now, your change</a:t>
            </a:r>
          </a:p>
        </p:txBody>
      </p:sp>
      <p:cxnSp>
        <p:nvCxnSpPr>
          <p:cNvPr id="41" name="Connector 40"/>
          <p:cNvCxnSpPr/>
          <p:nvPr/>
        </p:nvCxnSpPr>
        <p:spPr>
          <a:xfrm>
            <a:off x="2724912"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953512"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26664"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Approve</a:t>
            </a:r>
          </a:p>
          <a:p>
            <a:pPr algn="l"/>
            <a:r>
              <a:rPr sz="1050" b="0" i="0">
                <a:solidFill>
                  <a:srgbClr val="1A1A1A"/>
                </a:solidFill>
              </a:rPr>
              <a:t>a change request; the approver is never you</a:t>
            </a:r>
          </a:p>
        </p:txBody>
      </p:sp>
      <p:cxnSp>
        <p:nvCxnSpPr>
          <p:cNvPr id="44" name="Connector 43"/>
          <p:cNvCxnSpPr/>
          <p:nvPr/>
        </p:nvCxnSpPr>
        <p:spPr>
          <a:xfrm>
            <a:off x="4901183" y="377190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129783" y="3200400"/>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02936"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Edit log</a:t>
            </a:r>
          </a:p>
          <a:p>
            <a:pPr algn="l"/>
            <a:r>
              <a:rPr sz="1050" b="0" i="0">
                <a:solidFill>
                  <a:srgbClr val="1A1A1A"/>
                </a:solidFill>
              </a:rPr>
              <a:t>appended to its record's lane, acknowledged after commit; 64 lanes, epoch-fenced</a:t>
            </a:r>
          </a:p>
        </p:txBody>
      </p:sp>
      <p:cxnSp>
        <p:nvCxnSpPr>
          <p:cNvPr id="47" name="Connector 46"/>
          <p:cNvCxnSpPr/>
          <p:nvPr/>
        </p:nvCxnSpPr>
        <p:spPr>
          <a:xfrm>
            <a:off x="7077455"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7306055"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79207"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Apply</a:t>
            </a:r>
          </a:p>
          <a:p>
            <a:pPr algn="l"/>
            <a:r>
              <a:rPr sz="1050" b="0" i="0">
                <a:solidFill>
                  <a:srgbClr val="1A1A1A"/>
                </a:solidFill>
              </a:rPr>
              <a:t>overlay, owned value or the source through an outbox; rights re-checked</a:t>
            </a:r>
          </a:p>
        </p:txBody>
      </p:sp>
      <p:cxnSp>
        <p:nvCxnSpPr>
          <p:cNvPr id="50" name="Connector 49"/>
          <p:cNvCxnSpPr/>
          <p:nvPr/>
        </p:nvCxnSpPr>
        <p:spPr>
          <a:xfrm>
            <a:off x="9253728"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9482328"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555480"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Recompute</a:t>
            </a:r>
          </a:p>
          <a:p>
            <a:pPr algn="l"/>
            <a:r>
              <a:rPr sz="1050" b="0" i="0">
                <a:solidFill>
                  <a:srgbClr val="1A1A1A"/>
                </a:solidFill>
              </a:rPr>
              <a:t>reactive recomputes and live updates after each change</a:t>
            </a:r>
          </a:p>
        </p:txBody>
      </p:sp>
      <p:sp>
        <p:nvSpPr>
          <p:cNvPr id="53" name="TextBox 52"/>
          <p:cNvSpPr txBox="1"/>
          <p:nvPr/>
        </p:nvSpPr>
        <p:spPr>
          <a:xfrm>
            <a:off x="777240" y="4526280"/>
            <a:ext cx="10634472" cy="685800"/>
          </a:xfrm>
          <a:prstGeom prst="rect">
            <a:avLst/>
          </a:prstGeom>
          <a:noFill/>
        </p:spPr>
        <p:txBody>
          <a:bodyPr wrap="square" lIns="0" rIns="0" tIns="0" bIns="0" anchor="t">
            <a:spAutoFit/>
          </a:bodyPr>
          <a:lstStyle/>
          <a:p>
            <a:pPr algn="l"/>
            <a:r>
              <a:rPr sz="1200" b="1" i="0">
                <a:solidFill>
                  <a:srgbClr val="8A1626"/>
                </a:solidFill>
              </a:rPr>
              <a:t>Conflicts are named, never overwritten: </a:t>
            </a:r>
            <a:r>
              <a:rPr sz="1200" b="0" i="0">
                <a:solidFill>
                  <a:srgbClr val="1A1A1A"/>
                </a:solidFill>
              </a:rPr>
              <a:t>a change whose fields moved since you saw them is stopped with the three-way difference in words; DRS-9301 to 9306; Review → Changes; tutorial 24.</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Engines never read the published results (a guard test): the record is for reporting, the lake stays the input.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KNOWLEDGE, WHAT AND THE BASKET · 2.9.2</a:t>
            </a:r>
          </a:p>
        </p:txBody>
      </p:sp>
      <p:sp>
        <p:nvSpPr>
          <p:cNvPr id="3" name="Title 2"/>
          <p:cNvSpPr>
            <a:spLocks noGrp="1"/>
          </p:cNvSpPr>
          <p:nvPr>
            <p:ph type="title" idx="104"/>
          </p:nvPr>
        </p:nvSpPr>
        <p:spPr/>
        <p:txBody>
          <a:bodyPr lIns="0" rIns="0" tIns="0" bIns="0" anchor="t"/>
          <a:lstStyle/>
          <a:p>
            <a:r>
              <a:t>Explain the data, then let anyone build the portfolio they mean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4206240" cy="4069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536192"/>
            <a:ext cx="3931920" cy="365760"/>
          </a:xfrm>
          <a:prstGeom prst="rect">
            <a:avLst/>
          </a:prstGeom>
          <a:noFill/>
        </p:spPr>
        <p:txBody>
          <a:bodyPr wrap="square" lIns="0" rIns="0" tIns="0" bIns="0" anchor="t">
            <a:spAutoFit/>
          </a:bodyPr>
          <a:lstStyle/>
          <a:p>
            <a:pPr algn="l"/>
            <a:r>
              <a:rPr sz="1400" b="1" i="0">
                <a:solidFill>
                  <a:srgbClr val="8A1626"/>
                </a:solidFill>
              </a:rPr>
              <a:t>Knowledge pages</a:t>
            </a:r>
          </a:p>
        </p:txBody>
      </p:sp>
      <p:sp>
        <p:nvSpPr>
          <p:cNvPr id="28" name="Rectangle 27"/>
          <p:cNvSpPr/>
          <p:nvPr/>
        </p:nvSpPr>
        <p:spPr>
          <a:xfrm>
            <a:off x="941832"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risk</a:t>
            </a:r>
          </a:p>
        </p:txBody>
      </p:sp>
      <p:sp>
        <p:nvSpPr>
          <p:cNvPr id="29" name="Rectangle 28"/>
          <p:cNvSpPr/>
          <p:nvPr/>
        </p:nvSpPr>
        <p:spPr>
          <a:xfrm>
            <a:off x="2907791"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Counterparty credit risk</a:t>
            </a:r>
          </a:p>
        </p:txBody>
      </p:sp>
      <p:sp>
        <p:nvSpPr>
          <p:cNvPr id="30" name="Rectangle 29"/>
          <p:cNvSpPr/>
          <p:nvPr/>
        </p:nvSpPr>
        <p:spPr>
          <a:xfrm>
            <a:off x="941832"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Trades and products</a:t>
            </a:r>
          </a:p>
        </p:txBody>
      </p:sp>
      <p:sp>
        <p:nvSpPr>
          <p:cNvPr id="31" name="Rectangle 30"/>
          <p:cNvSpPr/>
          <p:nvPr/>
        </p:nvSpPr>
        <p:spPr>
          <a:xfrm>
            <a:off x="2907791"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Entities and ownership</a:t>
            </a:r>
          </a:p>
        </p:txBody>
      </p:sp>
      <p:sp>
        <p:nvSpPr>
          <p:cNvPr id="32" name="Rectangle 31"/>
          <p:cNvSpPr/>
          <p:nvPr/>
        </p:nvSpPr>
        <p:spPr>
          <a:xfrm>
            <a:off x="941832"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data</a:t>
            </a:r>
          </a:p>
        </p:txBody>
      </p:sp>
      <p:sp>
        <p:nvSpPr>
          <p:cNvPr id="33" name="Rectangle 32"/>
          <p:cNvSpPr/>
          <p:nvPr/>
        </p:nvSpPr>
        <p:spPr>
          <a:xfrm>
            <a:off x="2907791"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Data and contracts</a:t>
            </a:r>
          </a:p>
        </p:txBody>
      </p:sp>
      <p:sp>
        <p:nvSpPr>
          <p:cNvPr id="34" name="Rectangle 33"/>
          <p:cNvSpPr/>
          <p:nvPr/>
        </p:nvSpPr>
        <p:spPr>
          <a:xfrm>
            <a:off x="941832"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Economies</a:t>
            </a:r>
          </a:p>
        </p:txBody>
      </p:sp>
      <p:sp>
        <p:nvSpPr>
          <p:cNvPr id="35" name="Rectangle 34"/>
          <p:cNvSpPr/>
          <p:nvPr/>
        </p:nvSpPr>
        <p:spPr>
          <a:xfrm>
            <a:off x="2907791"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Companies, funds and ETFs</a:t>
            </a:r>
          </a:p>
        </p:txBody>
      </p:sp>
      <p:sp>
        <p:nvSpPr>
          <p:cNvPr id="36" name="TextBox 35"/>
          <p:cNvSpPr txBox="1"/>
          <p:nvPr/>
        </p:nvSpPr>
        <p:spPr>
          <a:xfrm>
            <a:off x="941832" y="3703320"/>
            <a:ext cx="3931920" cy="1783080"/>
          </a:xfrm>
          <a:prstGeom prst="rect">
            <a:avLst/>
          </a:prstGeom>
          <a:noFill/>
        </p:spPr>
        <p:txBody>
          <a:bodyPr wrap="square" lIns="0" rIns="0" tIns="0" bIns="0" anchor="t">
            <a:spAutoFit/>
          </a:bodyPr>
          <a:lstStyle/>
          <a:p>
            <a:pPr algn="l">
              <a:spcAft>
                <a:spcPts val="500"/>
              </a:spcAft>
            </a:pPr>
            <a:r>
              <a:rPr sz="1150" b="0" i="0">
                <a:solidFill>
                  <a:srgbClr val="1A1A1A"/>
                </a:solidFill>
              </a:rPr>
              <a:t>Each with the plain idea, how the records connect, a worked example on the demo data and the questions to ask.</a:t>
            </a:r>
          </a:p>
          <a:p>
            <a:pPr algn="l"/>
            <a:r>
              <a:rPr sz="1100" b="1" i="0">
                <a:solidFill>
                  <a:srgbClr val="A51C30"/>
                </a:solidFill>
                <a:latin typeface="Courier New"/>
              </a:rPr>
              <a:t>WHAT &lt;term&gt;</a:t>
            </a:r>
            <a:r>
              <a:rPr sz="1150" b="0" i="0">
                <a:solidFill>
                  <a:srgbClr val="1A1A1A"/>
                </a:solidFill>
              </a:rPr>
              <a:t>  162 terms; 'What does this mean?' beside the VaR and exposure explorers, USEQ, FUND, HELD and TRACK.</a:t>
            </a:r>
          </a:p>
        </p:txBody>
      </p:sp>
      <p:pic>
        <p:nvPicPr>
          <p:cNvPr id="37" name="Construct your basket" descr="06-basket.jpg"/>
          <p:cNvPicPr>
            <a:picLocks noChangeAspect="1"/>
          </p:cNvPicPr>
          <p:nvPr/>
        </p:nvPicPr>
        <p:blipFill>
          <a:blip r:embed="rId2"/>
          <a:stretch>
            <a:fillRect/>
          </a:stretch>
        </p:blipFill>
        <p:spPr>
          <a:xfrm>
            <a:off x="5257799" y="1468755"/>
            <a:ext cx="3566160" cy="2228850"/>
          </a:xfrm>
          <a:prstGeom prst="rect">
            <a:avLst/>
          </a:prstGeom>
          <a:ln w="9525">
            <a:solidFill>
              <a:srgbClr val="CFC8BE"/>
            </a:solidFill>
          </a:ln>
        </p:spPr>
      </p:pic>
      <p:sp>
        <p:nvSpPr>
          <p:cNvPr id="38" name="TextBox 37"/>
          <p:cNvSpPr txBox="1"/>
          <p:nvPr/>
        </p:nvSpPr>
        <p:spPr>
          <a:xfrm>
            <a:off x="9006839" y="1463040"/>
            <a:ext cx="2404872" cy="2240280"/>
          </a:xfrm>
          <a:prstGeom prst="rect">
            <a:avLst/>
          </a:prstGeom>
          <a:noFill/>
        </p:spPr>
        <p:txBody>
          <a:bodyPr wrap="square" lIns="0" rIns="0" tIns="0" bIns="0" anchor="t">
            <a:spAutoFit/>
          </a:bodyPr>
          <a:lstStyle/>
          <a:p>
            <a:pPr algn="l">
              <a:spcAft>
                <a:spcPts val="200"/>
              </a:spcAft>
            </a:pPr>
            <a:r>
              <a:rPr sz="1300" b="1" i="0">
                <a:solidFill>
                  <a:srgbClr val="8A1626"/>
                </a:solidFill>
              </a:rPr>
              <a:t>Construct your basket</a:t>
            </a:r>
          </a:p>
          <a:p>
            <a:pPr algn="l"/>
            <a:r>
              <a:rPr sz="1100" b="0" i="0">
                <a:solidFill>
                  <a:srgbClr val="1A1A1A"/>
                </a:solidFill>
              </a:rPr>
              <a:t>Pick portfolios, desks, books, legal entities, counterparties, positions, trades or a rule as you type; see VaR, ES and diversification live; save it. Alt+B.</a:t>
            </a:r>
          </a:p>
        </p:txBody>
      </p:sp>
      <p:sp>
        <p:nvSpPr>
          <p:cNvPr id="39" name="Rectangle 38"/>
          <p:cNvSpPr/>
          <p:nvPr/>
        </p:nvSpPr>
        <p:spPr>
          <a:xfrm>
            <a:off x="5257799" y="3840480"/>
            <a:ext cx="6153912" cy="169164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367527" y="3913632"/>
            <a:ext cx="5934456" cy="1563624"/>
          </a:xfrm>
          <a:prstGeom prst="rect">
            <a:avLst/>
          </a:prstGeom>
          <a:noFill/>
        </p:spPr>
        <p:txBody>
          <a:bodyPr wrap="square" lIns="0" rIns="0" tIns="0" bIns="0" anchor="t">
            <a:spAutoFit/>
          </a:bodyPr>
          <a:lstStyle/>
          <a:p>
            <a:pPr algn="l">
              <a:spcAft>
                <a:spcPts val="300"/>
              </a:spcAft>
            </a:pPr>
            <a:r>
              <a:rPr sz="1300" b="1" i="0">
                <a:solidFill>
                  <a:srgbClr val="8A1626"/>
                </a:solidFill>
              </a:rPr>
              <a:t>The pre-deal what-if</a:t>
            </a:r>
          </a:p>
          <a:p>
            <a:pPr algn="l"/>
            <a:r>
              <a:rPr sz="1150" b="0" i="0">
                <a:solidFill>
                  <a:srgbClr val="1A1A1A"/>
                </a:solidFill>
              </a:rPr>
              <a:t>A hypothetical trade — a booked one copied and scaled, −1 its unwind — shows VaR before and after in the basket; the exposure explorer has it on the counterparty and the netting set. Exact methods run on the compute workers; trade pages link to the trade's P&amp;L vector, VaR and exposure, or say why not.</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 id that matches nothing, or a trade that is not live, is said in words — never shown as a VaR of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DATAMAP AND THE FACT OF THE DAY · 2.9.3</a:t>
            </a:r>
          </a:p>
        </p:txBody>
      </p:sp>
      <p:sp>
        <p:nvSpPr>
          <p:cNvPr id="3" name="Title 2"/>
          <p:cNvSpPr>
            <a:spLocks noGrp="1"/>
          </p:cNvSpPr>
          <p:nvPr>
            <p:ph type="title" idx="104"/>
          </p:nvPr>
        </p:nvSpPr>
        <p:spPr/>
        <p:txBody>
          <a:bodyPr lIns="0" rIns="0" tIns="0" bIns="0" anchor="t"/>
          <a:lstStyle/>
          <a:p>
            <a:r>
              <a:t>A map of all your data that draws itself — and one true surprise a 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ata map" descr="01-map-trade.jpg"/>
          <p:cNvPicPr>
            <a:picLocks noChangeAspect="1"/>
          </p:cNvPicPr>
          <p:nvPr/>
        </p:nvPicPr>
        <p:blipFill>
          <a:blip r:embed="rId2"/>
          <a:stretch>
            <a:fillRect/>
          </a:stretch>
        </p:blipFill>
        <p:spPr>
          <a:xfrm>
            <a:off x="777240" y="1444752"/>
            <a:ext cx="5852160" cy="3657600"/>
          </a:xfrm>
          <a:prstGeom prst="rect">
            <a:avLst/>
          </a:prstGeom>
          <a:ln w="9525">
            <a:solidFill>
              <a:srgbClr val="CFC8BE"/>
            </a:solidFill>
          </a:ln>
        </p:spPr>
      </p:pic>
      <p:sp>
        <p:nvSpPr>
          <p:cNvPr id="27" name="TextBox 26"/>
          <p:cNvSpPr txBox="1"/>
          <p:nvPr/>
        </p:nvSpPr>
        <p:spPr>
          <a:xfrm>
            <a:off x="777240" y="5138928"/>
            <a:ext cx="5852160" cy="274320"/>
          </a:xfrm>
          <a:prstGeom prst="rect">
            <a:avLst/>
          </a:prstGeom>
          <a:noFill/>
        </p:spPr>
        <p:txBody>
          <a:bodyPr wrap="square" lIns="0" rIns="0" tIns="0" bIns="0" anchor="t">
            <a:spAutoFit/>
          </a:bodyPr>
          <a:lstStyle/>
          <a:p>
            <a:pPr algn="l"/>
            <a:r>
              <a:rPr sz="1050" b="0" i="1">
                <a:solidFill>
                  <a:srgbClr val="61666E"/>
                </a:solidFill>
              </a:rPr>
              <a:t>DATAMAP trade: domains as clusters, joins as lines, each join's match rate checked on the business date.</a:t>
            </a:r>
          </a:p>
        </p:txBody>
      </p:sp>
      <p:sp>
        <p:nvSpPr>
          <p:cNvPr id="28" name="TextBox 27"/>
          <p:cNvSpPr txBox="1"/>
          <p:nvPr/>
        </p:nvSpPr>
        <p:spPr>
          <a:xfrm>
            <a:off x="6903720" y="1444752"/>
            <a:ext cx="4507992" cy="210312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Nothing hand-drawn</a:t>
            </a:r>
          </a:p>
          <a:p>
            <a:pPr marL="164592" indent="0">
              <a:spcAft>
                <a:spcPts val="400"/>
              </a:spcAft>
            </a:pPr>
            <a:r>
              <a:rPr sz="1150" b="0" i="0">
                <a:solidFill>
                  <a:srgbClr val="1A1A1A"/>
                </a:solidFill>
              </a:rPr>
              <a:t>Kinds from the enabled packs, joins from the data contracts, counts from the lake; a new pack appears with no setup.</a:t>
            </a:r>
          </a:p>
          <a:p>
            <a:pPr marL="164592" indent="-164592">
              <a:spcAft>
                <a:spcPts val="100"/>
              </a:spcAft>
              <a:buClr>
                <a:srgbClr val="A51C30"/>
              </a:buClr>
              <a:buSzPct val="100000"/>
              <a:buFont typeface="Arial"/>
              <a:buChar char="▪"/>
            </a:pPr>
            <a:r>
              <a:rPr sz="1300" b="1" i="0">
                <a:solidFill>
                  <a:srgbClr val="8A1626"/>
                </a:solidFill>
              </a:rPr>
              <a:t>Every join checked</a:t>
            </a:r>
          </a:p>
          <a:p>
            <a:pPr marL="164592" indent="0">
              <a:spcAft>
                <a:spcPts val="400"/>
              </a:spcAft>
            </a:pPr>
            <a:r>
              <a:rPr sz="1150" b="0" i="0">
                <a:solidFill>
                  <a:srgbClr val="1A1A1A"/>
                </a:solidFill>
              </a:rPr>
              <a:t>How many ids match; it found 11 joins that do not hold (e.g. a jurisdiction code where an id is expected).</a:t>
            </a:r>
          </a:p>
        </p:txBody>
      </p:sp>
      <p:sp>
        <p:nvSpPr>
          <p:cNvPr id="29" name="Rectangle 28"/>
          <p:cNvSpPr/>
          <p:nvPr/>
        </p:nvSpPr>
        <p:spPr>
          <a:xfrm>
            <a:off x="6903720" y="3657600"/>
            <a:ext cx="4507992" cy="187451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068312" y="3712463"/>
            <a:ext cx="4233672" cy="274320"/>
          </a:xfrm>
          <a:prstGeom prst="rect">
            <a:avLst/>
          </a:prstGeom>
          <a:noFill/>
        </p:spPr>
        <p:txBody>
          <a:bodyPr wrap="square" lIns="0" rIns="0" tIns="0" bIns="0" anchor="t">
            <a:spAutoFit/>
          </a:bodyPr>
          <a:lstStyle/>
          <a:p>
            <a:pPr algn="l"/>
            <a:r>
              <a:rPr sz="1000" b="1" i="0">
                <a:solidFill>
                  <a:srgbClr val="E8C9CF"/>
                </a:solidFill>
              </a:rPr>
              <a:t>HOME · THE FACT OF THE DAY</a:t>
            </a:r>
          </a:p>
        </p:txBody>
      </p:sp>
      <p:sp>
        <p:nvSpPr>
          <p:cNvPr id="31" name="TextBox 30"/>
          <p:cNvSpPr txBox="1"/>
          <p:nvPr/>
        </p:nvSpPr>
        <p:spPr>
          <a:xfrm>
            <a:off x="7068312" y="3986784"/>
            <a:ext cx="4233672" cy="685800"/>
          </a:xfrm>
          <a:prstGeom prst="rect">
            <a:avLst/>
          </a:prstGeom>
          <a:noFill/>
        </p:spPr>
        <p:txBody>
          <a:bodyPr wrap="square" lIns="0" rIns="0" tIns="0" bIns="0" anchor="t">
            <a:spAutoFit/>
          </a:bodyPr>
          <a:lstStyle/>
          <a:p>
            <a:pPr algn="l"/>
            <a:r>
              <a:rPr sz="1250" b="1" i="0">
                <a:solidFill>
                  <a:srgbClr val="FFFFFF"/>
                </a:solidFill>
              </a:rPr>
              <a:t>One surprising, true sentence from your data, computed as you, on your business date.</a:t>
            </a:r>
          </a:p>
        </p:txBody>
      </p:sp>
      <p:sp>
        <p:nvSpPr>
          <p:cNvPr id="32" name="TextBox 31"/>
          <p:cNvSpPr txBox="1"/>
          <p:nvPr/>
        </p:nvSpPr>
        <p:spPr>
          <a:xfrm>
            <a:off x="7068312" y="4663440"/>
            <a:ext cx="4233672" cy="822960"/>
          </a:xfrm>
          <a:prstGeom prst="rect">
            <a:avLst/>
          </a:prstGeom>
          <a:noFill/>
        </p:spPr>
        <p:txBody>
          <a:bodyPr wrap="square" lIns="0" rIns="0" tIns="0" bIns="0" anchor="t">
            <a:spAutoFit/>
          </a:bodyPr>
          <a:lstStyle/>
          <a:p>
            <a:pPr algn="l"/>
            <a:r>
              <a:rPr sz="1050" b="0" i="0">
                <a:solidFill>
                  <a:srgbClr val="F1EEE9"/>
                </a:solidFill>
              </a:rPr>
              <a:t>Seven ship: a book over its VaR limit while its desk is within · a desk that lowers VaR · posted collateral raising exposure · VaR against peak PFE · the most-held company · two managers holding one portfolio · a fund's weights above its net assets</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pack declares its facts; only those that hold today are shown, with 'Why does that happen?' and the command.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JSON LINES IS THE DATA STANDARD · 2.9.4</a:t>
            </a:r>
          </a:p>
        </p:txBody>
      </p:sp>
      <p:sp>
        <p:nvSpPr>
          <p:cNvPr id="3" name="Title 2"/>
          <p:cNvSpPr>
            <a:spLocks noGrp="1"/>
          </p:cNvSpPr>
          <p:nvPr>
            <p:ph type="title" idx="104"/>
          </p:nvPr>
        </p:nvSpPr>
        <p:spPr/>
        <p:txBody>
          <a:bodyPr lIns="0" rIns="0" tIns="0" bIns="0" anchor="t"/>
          <a:lstStyle/>
          <a:p>
            <a:r>
              <a:t>One JSON object a line: every generator writes it, every export offers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Generators</a:t>
            </a:r>
          </a:p>
          <a:p>
            <a:pPr algn="l"/>
            <a:r>
              <a:rPr sz="1050" b="0" i="0">
                <a:solidFill>
                  <a:srgbClr val="1A1A1A"/>
                </a:solidFill>
              </a:rPr>
              <a:t>every tool under tools/ writes JSONL; .jsonl.gz where the repository gzips</a:t>
            </a:r>
          </a:p>
        </p:txBody>
      </p:sp>
      <p:cxnSp>
        <p:nvCxnSpPr>
          <p:cNvPr id="28" name="Connector 27"/>
          <p:cNvCxnSpPr/>
          <p:nvPr/>
        </p:nvCxnSpPr>
        <p:spPr>
          <a:xfrm>
            <a:off x="3264408"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502152" y="1481328"/>
            <a:ext cx="24688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575304"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JSON Lines</a:t>
            </a:r>
          </a:p>
          <a:p>
            <a:pPr algn="l"/>
            <a:r>
              <a:rPr sz="1050" b="0" i="0">
                <a:solidFill>
                  <a:srgbClr val="1A1A1A"/>
                </a:solidFill>
              </a:rPr>
              <a:t>one object a line, UTF-8; generating and loading are separate steps</a:t>
            </a:r>
          </a:p>
        </p:txBody>
      </p:sp>
      <p:cxnSp>
        <p:nvCxnSpPr>
          <p:cNvPr id="31" name="Connector 30"/>
          <p:cNvCxnSpPr/>
          <p:nvPr/>
        </p:nvCxnSpPr>
        <p:spPr>
          <a:xfrm>
            <a:off x="5989320"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6227064"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00216"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Load</a:t>
            </a:r>
          </a:p>
          <a:p>
            <a:pPr algn="l"/>
            <a:r>
              <a:rPr sz="1050" b="0" i="0">
                <a:solidFill>
                  <a:srgbClr val="1A1A1A"/>
                </a:solidFill>
              </a:rPr>
              <a:t>load_rows.py, lake build: the lake byte for byte the same as before</a:t>
            </a:r>
          </a:p>
        </p:txBody>
      </p:sp>
      <p:cxnSp>
        <p:nvCxnSpPr>
          <p:cNvPr id="34" name="Connector 33"/>
          <p:cNvCxnSpPr/>
          <p:nvPr/>
        </p:nvCxnSpPr>
        <p:spPr>
          <a:xfrm>
            <a:off x="8714232"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951976"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25128"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Delta or Iceberg</a:t>
            </a:r>
          </a:p>
          <a:p>
            <a:pPr algn="l"/>
            <a:r>
              <a:rPr sz="1050" b="0" i="0">
                <a:solidFill>
                  <a:srgbClr val="1A1A1A"/>
                </a:solidFill>
              </a:rPr>
              <a:t>the lake every connector reads</a:t>
            </a:r>
          </a:p>
        </p:txBody>
      </p:sp>
      <p:sp>
        <p:nvSpPr>
          <p:cNvPr id="37" name="Rectangle 36"/>
          <p:cNvSpPr/>
          <p:nvPr/>
        </p:nvSpPr>
        <p:spPr>
          <a:xfrm>
            <a:off x="777240"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05256"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Readers</a:t>
            </a:r>
          </a:p>
          <a:p>
            <a:pPr algn="l" marL="146304" indent="-146304">
              <a:spcAft>
                <a:spcPts val="400"/>
              </a:spcAft>
              <a:buClr>
                <a:srgbClr val="A51C30"/>
              </a:buClr>
              <a:buSzPct val="100000"/>
              <a:buFont typeface="Arial"/>
              <a:buChar char="▪"/>
            </a:pPr>
            <a:r>
              <a:rPr sz="1150" b="0" i="0">
                <a:solidFill>
                  <a:srgbClr val="1A1A1A"/>
                </a:solidFill>
              </a:rPr>
              <a:t>JSON Lines, JSON arrays and per-entity .json still read</a:t>
            </a:r>
          </a:p>
          <a:p>
            <a:pPr algn="l" marL="146304" indent="-146304">
              <a:spcAft>
                <a:spcPts val="400"/>
              </a:spcAft>
              <a:buClr>
                <a:srgbClr val="A51C30"/>
              </a:buClr>
              <a:buSzPct val="100000"/>
              <a:buFont typeface="Arial"/>
              <a:buChar char="▪"/>
            </a:pPr>
            <a:r>
              <a:rPr sz="1150" b="0" i="0">
                <a:solidFill>
                  <a:srgbClr val="1A1A1A"/>
                </a:solidFill>
              </a:rPr>
              <a:t>CSV deprecated: one warning a file, named in Admin → Health</a:t>
            </a:r>
          </a:p>
          <a:p>
            <a:pPr algn="l" marL="146304" indent="-146304">
              <a:spcAft>
                <a:spcPts val="400"/>
              </a:spcAft>
              <a:buClr>
                <a:srgbClr val="A51C30"/>
              </a:buClr>
              <a:buSzPct val="100000"/>
              <a:buFont typeface="Arial"/>
              <a:buChar char="▪"/>
            </a:pPr>
            <a:r>
              <a:rPr sz="1150" b="0" i="0">
                <a:solidFill>
                  <a:srgbClr val="1A1A1A"/>
                </a:solidFill>
              </a:rPr>
              <a:t>drishti.py convert FILE: CSV, a JSON array, gzip or a folder into JSONL</a:t>
            </a:r>
          </a:p>
        </p:txBody>
      </p:sp>
      <p:sp>
        <p:nvSpPr>
          <p:cNvPr id="39" name="Rectangle 38"/>
          <p:cNvSpPr/>
          <p:nvPr/>
        </p:nvSpPr>
        <p:spPr>
          <a:xfrm>
            <a:off x="4383024"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511040"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Exports</a:t>
            </a:r>
          </a:p>
          <a:p>
            <a:pPr algn="l" marL="146304" indent="-146304">
              <a:spcAft>
                <a:spcPts val="400"/>
              </a:spcAft>
              <a:buClr>
                <a:srgbClr val="A51C30"/>
              </a:buClr>
              <a:buSzPct val="100000"/>
              <a:buFont typeface="Arial"/>
              <a:buChar char="▪"/>
            </a:pPr>
            <a:r>
              <a:rPr sz="1150" b="0" i="0">
                <a:solidFill>
                  <a:srgbClr val="1A1A1A"/>
                </a:solidFill>
              </a:rPr>
              <a:t>Server: search, SQL, BI runs, /export/jsonl, statements, subscriptions, scheduled reports, VaR and exposure</a:t>
            </a:r>
          </a:p>
          <a:p>
            <a:pPr algn="l" marL="146304" indent="-146304">
              <a:spcAft>
                <a:spcPts val="400"/>
              </a:spcAft>
              <a:buClr>
                <a:srgbClr val="A51C30"/>
              </a:buClr>
              <a:buSzPct val="100000"/>
              <a:buFont typeface="Arial"/>
              <a:buChar char="▪"/>
            </a:pPr>
            <a:r>
              <a:rPr sz="1150" b="0" i="0">
                <a:solidFill>
                  <a:srgbClr val="1A1A1A"/>
                </a:solidFill>
              </a:rPr>
              <a:t>Console: every download and menu; CLI: --jsonl, --format jsonl</a:t>
            </a:r>
          </a:p>
          <a:p>
            <a:pPr algn="l" marL="146304" indent="-146304">
              <a:spcAft>
                <a:spcPts val="400"/>
              </a:spcAft>
              <a:buClr>
                <a:srgbClr val="A51C30"/>
              </a:buClr>
              <a:buSzPct val="100000"/>
              <a:buFont typeface="Arial"/>
              <a:buChar char="▪"/>
            </a:pPr>
            <a:r>
              <a:rPr sz="1150" b="0" i="0">
                <a:solidFill>
                  <a:srgbClr val="1A1A1A"/>
                </a:solidFill>
              </a:rPr>
              <a:t>CSV, Excel, PDF and PNG all stay</a:t>
            </a:r>
          </a:p>
        </p:txBody>
      </p:sp>
      <p:sp>
        <p:nvSpPr>
          <p:cNvPr id="41" name="Rectangle 40"/>
          <p:cNvSpPr/>
          <p:nvPr/>
        </p:nvSpPr>
        <p:spPr>
          <a:xfrm>
            <a:off x="7988808"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116824"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Records</a:t>
            </a:r>
          </a:p>
          <a:p>
            <a:pPr algn="l" marL="146304" indent="-146304">
              <a:spcAft>
                <a:spcPts val="400"/>
              </a:spcAft>
              <a:buClr>
                <a:srgbClr val="A51C30"/>
              </a:buClr>
              <a:buSzPct val="100000"/>
              <a:buFont typeface="Arial"/>
              <a:buChar char="▪"/>
            </a:pPr>
            <a:r>
              <a:rPr sz="1150" b="0" i="0">
                <a:solidFill>
                  <a:srgbClr val="1A1A1A"/>
                </a:solidFill>
              </a:rPr>
              <a:t>Official VaR and exposure results as JSONL beside their Delta tables</a:t>
            </a:r>
          </a:p>
          <a:p>
            <a:pPr algn="l" marL="146304" indent="-146304">
              <a:spcAft>
                <a:spcPts val="400"/>
              </a:spcAft>
              <a:buClr>
                <a:srgbClr val="A51C30"/>
              </a:buClr>
              <a:buSzPct val="100000"/>
              <a:buFont typeface="Arial"/>
              <a:buChar char="▪"/>
            </a:pPr>
            <a:r>
              <a:rPr sz="1150" b="0" i="0">
                <a:solidFill>
                  <a:srgbClr val="1A1A1A"/>
                </a:solidFill>
              </a:rPr>
              <a:t>Sutra test cases: one cases.jsonl per Sutra, 197 folders converted</a:t>
            </a:r>
          </a:p>
          <a:p>
            <a:pPr algn="l" marL="146304" indent="-146304">
              <a:spcAft>
                <a:spcPts val="400"/>
              </a:spcAft>
              <a:buClr>
                <a:srgbClr val="A51C30"/>
              </a:buClr>
              <a:buSzPct val="100000"/>
              <a:buFont typeface="Arial"/>
              <a:buChar char="▪"/>
            </a:pPr>
            <a:r>
              <a:rPr sz="1150" b="0" i="0">
                <a:solidFill>
                  <a:srgbClr val="1A1A1A"/>
                </a:solidFill>
              </a:rPr>
              <a:t>Sample catalogues, staged lake rows, seals: JSONL</a:t>
            </a:r>
          </a:p>
        </p:txBody>
      </p:sp>
      <p:sp>
        <p:nvSpPr>
          <p:cNvPr id="43" name="TextBox 42"/>
          <p:cNvSpPr txBox="1"/>
          <p:nvPr/>
        </p:nvSpPr>
        <p:spPr>
          <a:xfrm>
            <a:off x="777240" y="4937760"/>
            <a:ext cx="10634472" cy="548640"/>
          </a:xfrm>
          <a:prstGeom prst="rect">
            <a:avLst/>
          </a:prstGeom>
          <a:noFill/>
        </p:spPr>
        <p:txBody>
          <a:bodyPr wrap="square" lIns="0" rIns="0" tIns="0" bIns="0" anchor="t">
            <a:spAutoFit/>
          </a:bodyPr>
          <a:lstStyle/>
          <a:p>
            <a:pPr algn="l"/>
            <a:r>
              <a:rPr sz="1200" b="1" i="0">
                <a:solidFill>
                  <a:srgbClr val="8A1626"/>
                </a:solidFill>
              </a:rPr>
              <a:t>Guarded in the drill: </a:t>
            </a:r>
            <a:r>
              <a:rPr sz="1050" b="0" i="0">
                <a:solidFill>
                  <a:srgbClr val="A51C30"/>
                </a:solidFill>
                <a:latin typeface="Courier New"/>
              </a:rPr>
              <a:t>test_generators_write_jsonl.py</a:t>
            </a:r>
            <a:r>
              <a:rPr sz="1200" b="0" i="0">
                <a:solidFill>
                  <a:srgbClr val="1A1A1A"/>
                </a:solidFill>
              </a:rPr>
              <a:t> runs the generators and reads every data file; </a:t>
            </a:r>
            <a:r>
              <a:rPr sz="1050" b="0" i="0">
                <a:solidFill>
                  <a:srgbClr val="A51C30"/>
                </a:solidFill>
                <a:latin typeface="Courier New"/>
              </a:rPr>
              <a:t>test_exports_offer_jsonl.py</a:t>
            </a:r>
            <a:r>
              <a:rPr sz="1200" b="0" i="0">
                <a:solidFill>
                  <a:srgbClr val="1A1A1A"/>
                </a:solidFill>
              </a:rPr>
              <a:t> checks every export entry point.</a:t>
            </a:r>
          </a:p>
        </p:txBody>
      </p:sp>
      <p:sp>
        <p:nvSpPr>
          <p:cNvPr id="44" name="Rectangle 4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pipeline streams any Drishti input or output a line at a time; CSV, Excel, PDF and PNG stay for people.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CONFIGURATION, NOT CODE · 2.8.0 TO 2.9.4</a:t>
            </a:r>
          </a:p>
        </p:txBody>
      </p:sp>
      <p:sp>
        <p:nvSpPr>
          <p:cNvPr id="3" name="Title 2"/>
          <p:cNvSpPr>
            <a:spLocks noGrp="1"/>
          </p:cNvSpPr>
          <p:nvPr>
            <p:ph type="title" idx="104"/>
          </p:nvPr>
        </p:nvSpPr>
        <p:spPr/>
        <p:txBody>
          <a:bodyPr lIns="0" rIns="0" tIns="0" bIns="0" anchor="t"/>
          <a:lstStyle/>
          <a:p>
            <a:r>
              <a:t>The product's name and the bank's names come from configuration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350" b="1" i="0">
                <a:solidFill>
                  <a:srgbClr val="FFFFFF"/>
                </a:solidFill>
              </a:rPr>
              <a:t>Branding</a:t>
            </a:r>
            <a:r>
              <a:rPr sz="1100" b="0" i="0">
                <a:solidFill>
                  <a:srgbClr val="F6E6E9"/>
                </a:solidFill>
              </a:rPr>
              <a:t>   2.8.0</a:t>
            </a:r>
          </a:p>
        </p:txBody>
      </p:sp>
      <p:sp>
        <p:nvSpPr>
          <p:cNvPr id="29" name="Rectangle 28"/>
          <p:cNvSpPr/>
          <p:nvPr/>
        </p:nvSpPr>
        <p:spPr>
          <a:xfrm>
            <a:off x="914400"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ui.product · drishti.branding.product</a:t>
            </a:r>
          </a:p>
        </p:txBody>
      </p:sp>
      <p:sp>
        <p:nvSpPr>
          <p:cNvPr id="30" name="Rectangle 29"/>
          <p:cNvSpPr/>
          <p:nvPr/>
        </p:nvSpPr>
        <p:spPr>
          <a:xfrm>
            <a:off x="914400"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ui.owner · ui.owner_email</a:t>
            </a:r>
          </a:p>
        </p:txBody>
      </p:sp>
      <p:sp>
        <p:nvSpPr>
          <p:cNvPr id="31" name="TextBox 30"/>
          <p:cNvSpPr txBox="1"/>
          <p:nvPr/>
        </p:nvSpPr>
        <p:spPr>
          <a:xfrm>
            <a:off x="914400" y="2953512"/>
            <a:ext cx="3148584" cy="2103120"/>
          </a:xfrm>
          <a:prstGeom prst="rect">
            <a:avLst/>
          </a:prstGeom>
          <a:noFill/>
        </p:spPr>
        <p:txBody>
          <a:bodyPr wrap="square" lIns="0" rIns="0" tIns="0" bIns="0" anchor="t">
            <a:spAutoFit/>
          </a:bodyPr>
          <a:lstStyle/>
          <a:p>
            <a:pPr algn="l"/>
            <a:r>
              <a:rPr sz="1250" b="0" i="0">
                <a:solidFill>
                  <a:srgbClr val="1A1A1A"/>
                </a:solidFill>
              </a:rPr>
              <a:t>No template, script or server message writes the product's name; features follow it: &lt;product&gt; SQL, &lt;product&gt; Elements, &lt;product&gt;*net. The landing headline and tagline too (2.9.0).</a:t>
            </a:r>
          </a:p>
        </p:txBody>
      </p:sp>
      <p:sp>
        <p:nvSpPr>
          <p:cNvPr id="32" name="Rectangle 31"/>
          <p:cNvSpPr/>
          <p:nvPr/>
        </p:nvSpPr>
        <p:spPr>
          <a:xfrm>
            <a:off x="914400"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test_branding_guard.py · BrandingLiteralTest</a:t>
            </a:r>
          </a:p>
        </p:txBody>
      </p:sp>
      <p:sp>
        <p:nvSpPr>
          <p:cNvPr id="34" name="Rectangle 33"/>
          <p:cNvSpPr/>
          <p:nvPr/>
        </p:nvSpPr>
        <p:spPr>
          <a:xfrm>
            <a:off x="4383024"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520184" y="1463040"/>
            <a:ext cx="3148584" cy="457200"/>
          </a:xfrm>
          <a:prstGeom prst="rect">
            <a:avLst/>
          </a:prstGeom>
          <a:noFill/>
        </p:spPr>
        <p:txBody>
          <a:bodyPr wrap="square" lIns="0" rIns="0" tIns="0" bIns="0" anchor="ctr">
            <a:spAutoFit/>
          </a:bodyPr>
          <a:lstStyle/>
          <a:p>
            <a:pPr algn="l"/>
            <a:r>
              <a:rPr sz="1350" b="1" i="0">
                <a:solidFill>
                  <a:srgbClr val="FFFFFF"/>
                </a:solidFill>
              </a:rPr>
              <a:t>The bank's names</a:t>
            </a:r>
            <a:r>
              <a:rPr sz="1100" b="0" i="0">
                <a:solidFill>
                  <a:srgbClr val="F6E6E9"/>
                </a:solidFill>
              </a:rPr>
              <a:t>   2.9.4</a:t>
            </a:r>
          </a:p>
        </p:txBody>
      </p:sp>
      <p:sp>
        <p:nvSpPr>
          <p:cNvPr id="37" name="Rectangle 36"/>
          <p:cNvSpPr/>
          <p:nvPr/>
        </p:nvSpPr>
        <p:spPr>
          <a:xfrm>
            <a:off x="4520184"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config/demo/names.yaml</a:t>
            </a:r>
          </a:p>
        </p:txBody>
      </p:sp>
      <p:sp>
        <p:nvSpPr>
          <p:cNvPr id="38" name="Rectangle 37"/>
          <p:cNvSpPr/>
          <p:nvPr/>
        </p:nvSpPr>
        <p:spPr>
          <a:xfrm>
            <a:off x="4520184"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lake demo --names FILE --dry-run</a:t>
            </a:r>
          </a:p>
        </p:txBody>
      </p:sp>
      <p:sp>
        <p:nvSpPr>
          <p:cNvPr id="39" name="TextBox 38"/>
          <p:cNvSpPr txBox="1"/>
          <p:nvPr/>
        </p:nvSpPr>
        <p:spPr>
          <a:xfrm>
            <a:off x="4520184" y="2953512"/>
            <a:ext cx="3148584" cy="2103120"/>
          </a:xfrm>
          <a:prstGeom prst="rect">
            <a:avLst/>
          </a:prstGeom>
          <a:noFill/>
        </p:spPr>
        <p:txBody>
          <a:bodyPr wrap="square" lIns="0" rIns="0" tIns="0" bIns="0" anchor="t">
            <a:spAutoFit/>
          </a:bodyPr>
          <a:lstStyle/>
          <a:p>
            <a:pPr algn="l"/>
            <a:r>
              <a:rPr sz="1250" b="0" i="0">
                <a:solidFill>
                  <a:srgbClr val="1A1A1A"/>
                </a:solidFill>
              </a:rPr>
              <a:t>The bank, its short name, the legal entities LE-NY, LE-LDN, LE-FRA, LE-TKY and branches, renamed as the demo loads, in every kind. Defaults change nothing; LEIs and BICs stay; committed test data is never rewritten.</a:t>
            </a:r>
          </a:p>
        </p:txBody>
      </p:sp>
      <p:sp>
        <p:nvSpPr>
          <p:cNvPr id="40" name="Rectangle 39"/>
          <p:cNvSpPr/>
          <p:nvPr/>
        </p:nvSpPr>
        <p:spPr>
          <a:xfrm>
            <a:off x="4520184"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611624"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tools/lake/test_names.py, in the drill</a:t>
            </a:r>
          </a:p>
        </p:txBody>
      </p:sp>
      <p:sp>
        <p:nvSpPr>
          <p:cNvPr id="42" name="Rectangle 41"/>
          <p:cNvSpPr/>
          <p:nvPr/>
        </p:nvSpPr>
        <p:spPr>
          <a:xfrm>
            <a:off x="7988808"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988808"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125968" y="1463040"/>
            <a:ext cx="3148584" cy="457200"/>
          </a:xfrm>
          <a:prstGeom prst="rect">
            <a:avLst/>
          </a:prstGeom>
          <a:noFill/>
        </p:spPr>
        <p:txBody>
          <a:bodyPr wrap="square" lIns="0" rIns="0" tIns="0" bIns="0" anchor="ctr">
            <a:spAutoFit/>
          </a:bodyPr>
          <a:lstStyle/>
          <a:p>
            <a:pPr algn="l"/>
            <a:r>
              <a:rPr sz="1350" b="1" i="0">
                <a:solidFill>
                  <a:srgbClr val="FFFFFF"/>
                </a:solidFill>
              </a:rPr>
              <a:t>The VaR tree and method</a:t>
            </a:r>
            <a:r>
              <a:rPr sz="1100" b="0" i="0">
                <a:solidFill>
                  <a:srgbClr val="F6E6E9"/>
                </a:solidFill>
              </a:rPr>
              <a:t>   2.9.4</a:t>
            </a:r>
          </a:p>
        </p:txBody>
      </p:sp>
      <p:sp>
        <p:nvSpPr>
          <p:cNvPr id="45" name="Rectangle 44"/>
          <p:cNvSpPr/>
          <p:nvPr/>
        </p:nvSpPr>
        <p:spPr>
          <a:xfrm>
            <a:off x="8125968"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DRISHTI_VAR_ROOT_NAME</a:t>
            </a:r>
          </a:p>
        </p:txBody>
      </p:sp>
      <p:sp>
        <p:nvSpPr>
          <p:cNvPr id="46" name="Rectangle 45"/>
          <p:cNvSpPr/>
          <p:nvPr/>
        </p:nvSpPr>
        <p:spPr>
          <a:xfrm>
            <a:off x="8125968"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scenario-window · confidence · currencies</a:t>
            </a:r>
          </a:p>
        </p:txBody>
      </p:sp>
      <p:sp>
        <p:nvSpPr>
          <p:cNvPr id="47" name="TextBox 46"/>
          <p:cNvSpPr txBox="1"/>
          <p:nvPr/>
        </p:nvSpPr>
        <p:spPr>
          <a:xfrm>
            <a:off x="8125968" y="2953512"/>
            <a:ext cx="3148584" cy="2103120"/>
          </a:xfrm>
          <a:prstGeom prst="rect">
            <a:avLst/>
          </a:prstGeom>
          <a:noFill/>
        </p:spPr>
        <p:txBody>
          <a:bodyPr wrap="square" lIns="0" rIns="0" tIns="0" bIns="0" anchor="t">
            <a:spAutoFit/>
          </a:bodyPr>
          <a:lstStyle/>
          <a:p>
            <a:pPr algn="l"/>
            <a:r>
              <a:rPr sz="1250" b="0" i="0">
                <a:solidFill>
                  <a:srgbClr val="1A1A1A"/>
                </a:solidFill>
              </a:rPr>
              <a:t>The top of every VaR tree named by a setting (per hierarchy too); the window, confidence and reporting currencies are settings, and every answer carries its labels.</a:t>
            </a:r>
          </a:p>
        </p:txBody>
      </p:sp>
      <p:sp>
        <p:nvSpPr>
          <p:cNvPr id="48" name="Rectangle 47"/>
          <p:cNvSpPr/>
          <p:nvPr/>
        </p:nvSpPr>
        <p:spPr>
          <a:xfrm>
            <a:off x="8125968"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217408"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VarRootNameTest</a:t>
            </a:r>
          </a:p>
        </p:txBody>
      </p:sp>
      <p:sp>
        <p:nvSpPr>
          <p:cNvPr id="50" name="Rectangle 4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bank sees its own names in a demo by editing one file — and no code names the product or the bank.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DOCUMENTATION AS EVIDENCE · 2.9.4</a:t>
            </a:r>
          </a:p>
        </p:txBody>
      </p:sp>
      <p:sp>
        <p:nvSpPr>
          <p:cNvPr id="3" name="Title 2"/>
          <p:cNvSpPr>
            <a:spLocks noGrp="1"/>
          </p:cNvSpPr>
          <p:nvPr>
            <p:ph type="title" idx="104"/>
          </p:nvPr>
        </p:nvSpPr>
        <p:spPr/>
        <p:txBody>
          <a:bodyPr lIns="0" rIns="0" tIns="0" bIns="0" anchor="t"/>
          <a:lstStyle/>
          <a:p>
            <a:r>
              <a:t>Retaking 351 pictures on the current UI found five bugs — all fixed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400" b="1" i="0">
                <a:solidFill>
                  <a:srgbClr val="8A1626"/>
                </a:solidFill>
              </a:rPr>
              <a:t>351</a:t>
            </a:r>
          </a:p>
        </p:txBody>
      </p:sp>
      <p:sp>
        <p:nvSpPr>
          <p:cNvPr id="29" name="TextBox 28"/>
          <p:cNvSpPr txBox="1"/>
          <p:nvPr/>
        </p:nvSpPr>
        <p:spPr>
          <a:xfrm>
            <a:off x="960120" y="2029968"/>
            <a:ext cx="2281428" cy="475487"/>
          </a:xfrm>
          <a:prstGeom prst="rect">
            <a:avLst/>
          </a:prstGeom>
          <a:noFill/>
        </p:spPr>
        <p:txBody>
          <a:bodyPr wrap="square" lIns="0" rIns="0" tIns="0" bIns="0" anchor="t">
            <a:spAutoFit/>
          </a:bodyPr>
          <a:lstStyle/>
          <a:p>
            <a:pPr algn="l"/>
            <a:r>
              <a:rPr sz="1150" b="0" i="0">
                <a:solidFill>
                  <a:srgbClr val="4A5058"/>
                </a:solidFill>
              </a:rPr>
              <a:t>pictures under docs/ retaken on the 2.9 UI by tools/docs/screenshots.py</a:t>
            </a:r>
          </a:p>
        </p:txBody>
      </p:sp>
      <p:sp>
        <p:nvSpPr>
          <p:cNvPr id="30" name="Rectangle 29"/>
          <p:cNvSpPr/>
          <p:nvPr/>
        </p:nvSpPr>
        <p:spPr>
          <a:xfrm>
            <a:off x="3470148"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400" b="1" i="0">
                <a:solidFill>
                  <a:srgbClr val="8A1626"/>
                </a:solidFill>
              </a:rPr>
              <a:t>28</a:t>
            </a:r>
          </a:p>
        </p:txBody>
      </p:sp>
      <p:sp>
        <p:nvSpPr>
          <p:cNvPr id="33" name="TextBox 32"/>
          <p:cNvSpPr txBox="1"/>
          <p:nvPr/>
        </p:nvSpPr>
        <p:spPr>
          <a:xfrm>
            <a:off x="3653028" y="2029968"/>
            <a:ext cx="2281428" cy="475487"/>
          </a:xfrm>
          <a:prstGeom prst="rect">
            <a:avLst/>
          </a:prstGeom>
          <a:noFill/>
        </p:spPr>
        <p:txBody>
          <a:bodyPr wrap="square" lIns="0" rIns="0" tIns="0" bIns="0" anchor="t">
            <a:spAutoFit/>
          </a:bodyPr>
          <a:lstStyle/>
          <a:p>
            <a:pPr algn="l"/>
            <a:r>
              <a:rPr sz="1150" b="0" i="0">
                <a:solidFill>
                  <a:srgbClr val="4A5058"/>
                </a:solidFill>
              </a:rPr>
              <a:t>hands-on tutorials, from the first 15 minutes to VaR, exposure and funds</a:t>
            </a:r>
          </a:p>
        </p:txBody>
      </p:sp>
      <p:sp>
        <p:nvSpPr>
          <p:cNvPr id="34" name="Rectangle 33"/>
          <p:cNvSpPr/>
          <p:nvPr/>
        </p:nvSpPr>
        <p:spPr>
          <a:xfrm>
            <a:off x="6163056"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400" b="1" i="0">
                <a:solidFill>
                  <a:srgbClr val="8A1626"/>
                </a:solidFill>
              </a:rPr>
              <a:t>2 + 2</a:t>
            </a:r>
          </a:p>
        </p:txBody>
      </p:sp>
      <p:sp>
        <p:nvSpPr>
          <p:cNvPr id="37" name="TextBox 36"/>
          <p:cNvSpPr txBox="1"/>
          <p:nvPr/>
        </p:nvSpPr>
        <p:spPr>
          <a:xfrm>
            <a:off x="6345936" y="2029968"/>
            <a:ext cx="2281428" cy="475487"/>
          </a:xfrm>
          <a:prstGeom prst="rect">
            <a:avLst/>
          </a:prstGeom>
          <a:noFill/>
        </p:spPr>
        <p:txBody>
          <a:bodyPr wrap="square" lIns="0" rIns="0" tIns="0" bIns="0" anchor="t">
            <a:spAutoFit/>
          </a:bodyPr>
          <a:lstStyle/>
          <a:p>
            <a:pPr algn="l"/>
            <a:r>
              <a:rPr sz="1150" b="0" i="0">
                <a:solidFill>
                  <a:srgbClr val="4A5058"/>
                </a:solidFill>
              </a:rPr>
              <a:t>documents and Help pages per measure: a guide and a tutorial</a:t>
            </a:r>
          </a:p>
        </p:txBody>
      </p:sp>
      <p:sp>
        <p:nvSpPr>
          <p:cNvPr id="38" name="Rectangle 37"/>
          <p:cNvSpPr/>
          <p:nvPr/>
        </p:nvSpPr>
        <p:spPr>
          <a:xfrm>
            <a:off x="8855964"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400" b="1" i="0">
                <a:solidFill>
                  <a:srgbClr val="8A1626"/>
                </a:solidFill>
              </a:rPr>
              <a:t>238</a:t>
            </a:r>
          </a:p>
        </p:txBody>
      </p:sp>
      <p:sp>
        <p:nvSpPr>
          <p:cNvPr id="41" name="TextBox 40"/>
          <p:cNvSpPr txBox="1"/>
          <p:nvPr/>
        </p:nvSpPr>
        <p:spPr>
          <a:xfrm>
            <a:off x="9038844" y="2029968"/>
            <a:ext cx="2281428" cy="475487"/>
          </a:xfrm>
          <a:prstGeom prst="rect">
            <a:avLst/>
          </a:prstGeom>
          <a:noFill/>
        </p:spPr>
        <p:txBody>
          <a:bodyPr wrap="square" lIns="0" rIns="0" tIns="0" bIns="0" anchor="t">
            <a:spAutoFit/>
          </a:bodyPr>
          <a:lstStyle/>
          <a:p>
            <a:pPr algn="l"/>
            <a:r>
              <a:rPr sz="1150" b="0" i="0">
                <a:solidFill>
                  <a:srgbClr val="4A5058"/>
                </a:solidFill>
              </a:rPr>
              <a:t>guides and references outside qa/ and archive/</a:t>
            </a:r>
          </a:p>
        </p:txBody>
      </p:sp>
      <p:graphicFrame>
        <p:nvGraphicFramePr>
          <p:cNvPr id="42" name="Table 41"/>
          <p:cNvGraphicFramePr>
            <a:graphicFrameLocks noGrp="1"/>
          </p:cNvGraphicFramePr>
          <p:nvPr/>
        </p:nvGraphicFramePr>
        <p:xfrm>
          <a:off x="777240" y="2743200"/>
          <a:ext cx="10634472" cy="2414016"/>
        </p:xfrm>
        <a:graphic>
          <a:graphicData uri="http://schemas.openxmlformats.org/drawingml/2006/table">
            <a:tbl>
              <a:tblPr firstRow="0" bandRow="0">
                <a:tableStyleId>{5940675A-B579-460E-94D1-54222C63F5DA}</a:tableStyleId>
              </a:tblPr>
              <a:tblGrid>
                <a:gridCol w="6035040"/>
                <a:gridCol w="4599432"/>
              </a:tblGrid>
              <a:tr h="402336">
                <a:tc>
                  <a:txBody>
                    <a:bodyPr wrap="square"/>
                    <a:lstStyle/>
                    <a:p>
                      <a:r>
                        <a:rPr sz="1150" b="1" i="0">
                          <a:solidFill>
                            <a:srgbClr val="FFFFFF"/>
                          </a:solidFill>
                        </a:rPr>
                        <a:t>Found by the screenshot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Fixed in 2.9.4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02336">
                <a:tc>
                  <a:txBody>
                    <a:bodyPr wrap="square"/>
                    <a:lstStyle/>
                    <a:p>
                      <a:r>
                        <a:rPr sz="1150" b="0" i="0">
                          <a:solidFill>
                            <a:srgbClr val="1A1A1A"/>
                          </a:solidFill>
                        </a:rPr>
                        <a:t>A new pack's job reached through another console worker answered DRS-5006 no such job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Job ids name their worker; the call is relayed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An installed pack's help guide never reached the console ('There is no guide called helpdesk-pack')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console reads the server's installed packs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About drawer listed the chosen Sutra under 'Not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Listed once, as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 Sutra control's open multi-select pushed the header's controls apart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list floats over the panel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BI test stack's sample dataset failed the check, DRS-9010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Rewritten in today's grammar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Documentation is part of the release: a picture that cannot be retaken is a bug report.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SCALE BENCHMARK · EIGHT STORES</a:t>
            </a:r>
          </a:p>
        </p:txBody>
      </p:sp>
      <p:sp>
        <p:nvSpPr>
          <p:cNvPr id="3" name="Title 2"/>
          <p:cNvSpPr>
            <a:spLocks noGrp="1"/>
          </p:cNvSpPr>
          <p:nvPr>
            <p:ph type="title" idx="104"/>
          </p:nvPr>
        </p:nvSpPr>
        <p:spPr/>
        <p:txBody>
          <a:bodyPr lIns="0" rIns="0" tIns="0" bIns="0" anchor="t"/>
          <a:lstStyle/>
          <a:p>
            <a:r>
              <a:t>The same book in eight stores, the same questions over HTTP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Stores chart"/>
          <p:cNvGraphicFramePr>
            <a:graphicFrameLocks noGrp="1"/>
          </p:cNvGraphicFramePr>
          <p:nvPr/>
        </p:nvGraphicFramePr>
        <p:xfrm>
          <a:off x="777240" y="1783080"/>
          <a:ext cx="6949440" cy="3611880"/>
        </p:xfrm>
        <a:graphic>
          <a:graphicData uri="http://schemas.openxmlformats.org/drawingml/2006/chart">
            <c:chart xmlns:c="http://schemas.openxmlformats.org/drawingml/2006/chart" r:id="rId2"/>
          </a:graphicData>
        </a:graphic>
      </p:graphicFrame>
      <p:sp>
        <p:nvSpPr>
          <p:cNvPr id="27" name="TextBox 26"/>
          <p:cNvSpPr txBox="1"/>
          <p:nvPr/>
        </p:nvSpPr>
        <p:spPr>
          <a:xfrm>
            <a:off x="777240" y="1444752"/>
            <a:ext cx="6949440" cy="320040"/>
          </a:xfrm>
          <a:prstGeom prst="rect">
            <a:avLst/>
          </a:prstGeom>
          <a:noFill/>
        </p:spPr>
        <p:txBody>
          <a:bodyPr wrap="square" lIns="0" rIns="0" tIns="0" bIns="0" anchor="t">
            <a:spAutoFit/>
          </a:bodyPr>
          <a:lstStyle/>
          <a:p>
            <a:pPr algn="l"/>
            <a:r>
              <a:rPr sz="1250" b="1" i="0">
                <a:solidFill>
                  <a:srgbClr val="A51C30"/>
                </a:solidFill>
              </a:rPr>
              <a:t>Median milliseconds at 50,000 trades a day (lower is better)</a:t>
            </a:r>
          </a:p>
        </p:txBody>
      </p:sp>
      <p:graphicFrame>
        <p:nvGraphicFramePr>
          <p:cNvPr id="28" name="Table 27"/>
          <p:cNvGraphicFramePr>
            <a:graphicFrameLocks noGrp="1"/>
          </p:cNvGraphicFramePr>
          <p:nvPr/>
        </p:nvGraphicFramePr>
        <p:xfrm>
          <a:off x="8001000" y="1463040"/>
          <a:ext cx="3410712" cy="2962656"/>
        </p:xfrm>
        <a:graphic>
          <a:graphicData uri="http://schemas.openxmlformats.org/drawingml/2006/table">
            <a:tbl>
              <a:tblPr firstRow="0" bandRow="0">
                <a:tableStyleId>{5940675A-B579-460E-94D1-54222C63F5DA}</a:tableStyleId>
              </a:tblPr>
              <a:tblGrid>
                <a:gridCol w="1508760"/>
                <a:gridCol w="1280160"/>
                <a:gridCol w="621792"/>
              </a:tblGrid>
              <a:tr h="329184">
                <a:tc>
                  <a:txBody>
                    <a:bodyPr wrap="square"/>
                    <a:lstStyle/>
                    <a:p>
                      <a:r>
                        <a:rPr sz="1100" b="1" i="0">
                          <a:solidFill>
                            <a:srgbClr val="FFFFFF"/>
                          </a:solidFill>
                        </a:rPr>
                        <a:t>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270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PostgreSQL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739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DuckDB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JSON-lines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15.4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MongoDB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17.1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Redis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183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Aerospike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1,176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8001000" y="4526280"/>
            <a:ext cx="3410712" cy="1005840"/>
          </a:xfrm>
          <a:prstGeom prst="rect">
            <a:avLst/>
          </a:prstGeom>
          <a:noFill/>
        </p:spPr>
        <p:txBody>
          <a:bodyPr wrap="square" lIns="0" rIns="0" tIns="0" bIns="0" anchor="t">
            <a:spAutoFit/>
          </a:bodyPr>
          <a:lstStyle/>
          <a:p>
            <a:pPr algn="l"/>
            <a:r>
              <a:rPr sz="1100" b="0" i="1">
                <a:solidFill>
                  <a:srgbClr val="4A5058"/>
                </a:solidFill>
              </a:rPr>
              <a:t>Measured on Drishti 1.12.0, 2026-10-01, one workstation; not re-measured since. Four stores were also measured at a million trades a day.</a:t>
            </a:r>
          </a:p>
        </p:txBody>
      </p:sp>
      <p:sp>
        <p:nvSpPr>
          <p:cNvPr id="30" name="Rectangle 2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store answers an interactive question in single-digit milliseconds at this size; the choice is about operations.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RISK ENGINES, MEASURED · 2.8.0 TO 2.9.4</a:t>
            </a:r>
          </a:p>
        </p:txBody>
      </p:sp>
      <p:sp>
        <p:nvSpPr>
          <p:cNvPr id="3" name="Title 2"/>
          <p:cNvSpPr>
            <a:spLocks noGrp="1"/>
          </p:cNvSpPr>
          <p:nvPr>
            <p:ph type="title" idx="104"/>
          </p:nvPr>
        </p:nvSpPr>
        <p:spPr/>
        <p:txBody>
          <a:bodyPr lIns="0" rIns="0" tIns="0" bIns="0" anchor="t"/>
          <a:lstStyle/>
          <a:p>
            <a:r>
              <a:t>VaR and exposure answers in milliseconds, at 100,000 trades in memory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44752"/>
            <a:ext cx="5166360" cy="292608"/>
          </a:xfrm>
          <a:prstGeom prst="rect">
            <a:avLst/>
          </a:prstGeom>
          <a:noFill/>
        </p:spPr>
        <p:txBody>
          <a:bodyPr wrap="square" lIns="0" rIns="0" tIns="0" bIns="0" anchor="t">
            <a:spAutoFit/>
          </a:bodyPr>
          <a:lstStyle/>
          <a:p>
            <a:pPr algn="l"/>
            <a:r>
              <a:rPr sz="1250" b="1" i="0">
                <a:solidFill>
                  <a:srgbClr val="A51C30"/>
                </a:solidFill>
              </a:rPr>
              <a:t>VaR (VarScaleBenchmark, VarTierBenchmark)</a:t>
            </a:r>
          </a:p>
        </p:txBody>
      </p:sp>
      <p:graphicFrame>
        <p:nvGraphicFramePr>
          <p:cNvPr id="27" name="Table 26"/>
          <p:cNvGraphicFramePr>
            <a:graphicFrameLocks noGrp="1"/>
          </p:cNvGraphicFramePr>
          <p:nvPr/>
        </p:nvGraphicFramePr>
        <p:xfrm>
          <a:off x="777240" y="1755648"/>
          <a:ext cx="5166360" cy="2560320"/>
        </p:xfrm>
        <a:graphic>
          <a:graphicData uri="http://schemas.openxmlformats.org/drawingml/2006/table">
            <a:tbl>
              <a:tblPr firstRow="0" bandRow="0">
                <a:tableStyleId>{5940675A-B579-460E-94D1-54222C63F5DA}</a:tableStyleId>
              </a:tblPr>
              <a:tblGrid>
                <a:gridCol w="2240280"/>
                <a:gridCol w="1325880"/>
                <a:gridCol w="1600200"/>
              </a:tblGrid>
              <a:tr h="365760">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The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The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A basket of 50,000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TextBox 27"/>
          <p:cNvSpPr txBox="1"/>
          <p:nvPr/>
        </p:nvSpPr>
        <p:spPr>
          <a:xfrm>
            <a:off x="6217920" y="1444752"/>
            <a:ext cx="5193792" cy="292608"/>
          </a:xfrm>
          <a:prstGeom prst="rect">
            <a:avLst/>
          </a:prstGeom>
          <a:noFill/>
        </p:spPr>
        <p:txBody>
          <a:bodyPr wrap="square" lIns="0" rIns="0" tIns="0" bIns="0" anchor="t">
            <a:spAutoFit/>
          </a:bodyPr>
          <a:lstStyle/>
          <a:p>
            <a:pPr algn="l"/>
            <a:r>
              <a:rPr sz="1250" b="1" i="0">
                <a:solidFill>
                  <a:srgbClr val="A51C30"/>
                </a:solidFill>
              </a:rPr>
              <a:t>Exposure (ExposureTierBenchmark, 2.9.1)</a:t>
            </a:r>
          </a:p>
        </p:txBody>
      </p:sp>
      <p:graphicFrame>
        <p:nvGraphicFramePr>
          <p:cNvPr id="29" name="Table 28"/>
          <p:cNvGraphicFramePr>
            <a:graphicFrameLocks noGrp="1"/>
          </p:cNvGraphicFramePr>
          <p:nvPr/>
        </p:nvGraphicFramePr>
        <p:xfrm>
          <a:off x="6217920" y="1755648"/>
          <a:ext cx="5193792" cy="2560320"/>
        </p:xfrm>
        <a:graphic>
          <a:graphicData uri="http://schemas.openxmlformats.org/drawingml/2006/table">
            <a:tbl>
              <a:tblPr firstRow="0" bandRow="0">
                <a:tableStyleId>{5940675A-B579-460E-94D1-54222C63F5DA}</a:tableStyleId>
              </a:tblPr>
              <a:tblGrid>
                <a:gridCol w="3867912"/>
                <a:gridCol w="1325880"/>
              </a:tblGrid>
              <a:tr h="365760">
                <a:tc>
                  <a:txBody>
                    <a:bodyPr wrap="square"/>
                    <a:lstStyle/>
                    <a:p>
                      <a:r>
                        <a:rPr sz="1100" b="1" i="0">
                          <a:solidFill>
                            <a:srgbClr val="FFFFFF"/>
                          </a:solidFill>
                        </a:rPr>
                        <a:t>Measured, 100k trades, 9,901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Load a date: rows into value matrices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785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Collateral, E, N, hot file written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1,250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Reopen the date from its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Scope BANK (every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61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Scope CPTY: (20 sets) · NSET: (1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0.22 · 0.06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Pre-deal exact, Java · proxy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0.11 · 0.007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77240" y="4462272"/>
            <a:ext cx="5166360" cy="10698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4535424"/>
            <a:ext cx="4946904" cy="941831"/>
          </a:xfrm>
          <a:prstGeom prst="rect">
            <a:avLst/>
          </a:prstGeom>
          <a:noFill/>
        </p:spPr>
        <p:txBody>
          <a:bodyPr wrap="square" lIns="0" rIns="0" tIns="0" bIns="0" anchor="t">
            <a:spAutoFit/>
          </a:bodyPr>
          <a:lstStyle/>
          <a:p>
            <a:pPr algn="l">
              <a:spcAft>
                <a:spcPts val="300"/>
              </a:spcAft>
            </a:pPr>
            <a:r>
              <a:rPr sz="1200" b="1" i="0">
                <a:solidFill>
                  <a:srgbClr val="8A1626"/>
                </a:solidFill>
              </a:rPr>
              <a:t>Why it is fast</a:t>
            </a:r>
          </a:p>
          <a:p>
            <a:pPr algn="l"/>
            <a:r>
              <a:rPr sz="1100" b="0" i="0">
                <a:solidFill>
                  <a:srgbClr val="4A5058"/>
                </a:solidFill>
              </a:rPr>
              <a:t>Vectors add: a node's vector is summed once and kept; a hot file per date is memory-mapped (float32 rows, float64 sums); sums run on every core in a fixed order — the same bits every time.</a:t>
            </a:r>
          </a:p>
        </p:txBody>
      </p:sp>
      <p:sp>
        <p:nvSpPr>
          <p:cNvPr id="32" name="Rectangle 31"/>
          <p:cNvSpPr/>
          <p:nvPr/>
        </p:nvSpPr>
        <p:spPr>
          <a:xfrm>
            <a:off x="6217920" y="4462272"/>
            <a:ext cx="5193792" cy="106984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27648" y="4535424"/>
            <a:ext cx="4974336" cy="941831"/>
          </a:xfrm>
          <a:prstGeom prst="rect">
            <a:avLst/>
          </a:prstGeom>
          <a:noFill/>
        </p:spPr>
        <p:txBody>
          <a:bodyPr wrap="square" lIns="0" rIns="0" tIns="0" bIns="0" anchor="t">
            <a:spAutoFit/>
          </a:bodyPr>
          <a:lstStyle/>
          <a:p>
            <a:pPr algn="l">
              <a:spcAft>
                <a:spcPts val="300"/>
              </a:spcAft>
            </a:pPr>
            <a:r>
              <a:rPr sz="1200" b="1" i="0">
                <a:solidFill>
                  <a:srgbClr val="8A1626"/>
                </a:solidFill>
              </a:rPr>
              <a:t>What is extrapolated, and said so</a:t>
            </a:r>
          </a:p>
          <a:p>
            <a:pPr algn="l"/>
            <a:r>
              <a:rPr sz="1100" b="0" i="0">
                <a:solidFill>
                  <a:srgbClr val="4A5058"/>
                </a:solidFill>
              </a:rPr>
              <a:t>1M trades × 50 dates (VaR) and a 1M-trade, 100,000-set bank (exposure) are extrapolated from these runs; a workstation run stays at 100,000 trades in memory.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on one workstation (24 threads, 61 GB, JDK 25, NVMe); the full million-trade runs are for a real server.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HONEST NUMBERS · 2.8.0 TO 2.9.3</a:t>
            </a:r>
          </a:p>
        </p:txBody>
      </p:sp>
      <p:sp>
        <p:nvSpPr>
          <p:cNvPr id="3" name="Title 2"/>
          <p:cNvSpPr>
            <a:spLocks noGrp="1"/>
          </p:cNvSpPr>
          <p:nvPr>
            <p:ph type="title" idx="104"/>
          </p:nvPr>
        </p:nvSpPr>
        <p:spPr/>
        <p:txBody>
          <a:bodyPr lIns="0" rIns="0" tIns="0" bIns="0" anchor="t"/>
          <a:lstStyle/>
          <a:p>
            <a:r>
              <a:t>Where a number changed, the reason is written down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10634472" cy="3867912"/>
        </p:xfrm>
        <a:graphic>
          <a:graphicData uri="http://schemas.openxmlformats.org/drawingml/2006/table">
            <a:tbl>
              <a:tblPr firstRow="0" bandRow="0">
                <a:tableStyleId>{5940675A-B579-460E-94D1-54222C63F5DA}</a:tableStyleId>
              </a:tblPr>
              <a:tblGrid>
                <a:gridCol w="2606040"/>
                <a:gridCol w="1783080"/>
                <a:gridCol w="1554480"/>
                <a:gridCol w="4690872"/>
              </a:tblGrid>
              <a:tr h="429768">
                <a:tc>
                  <a:txBody>
                    <a:bodyPr wrap="square"/>
                    <a:lstStyle/>
                    <a:p>
                      <a:r>
                        <a:rPr sz="11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Stored said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Computed says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50" b="1" i="0">
                          <a:solidFill>
                            <a:srgbClr val="8A1626"/>
                          </a:solidFill>
                        </a:rPr>
                        <a:t>Commodities desk VaR (2.8.0)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446.9m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17.5m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stored figure came from a formula with no netting, not historical simulation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Exposure peaks, 76 sets (2.9.0)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92.6bn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7.6bn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generator scaled peaks with gross notional and ignored the CSAs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Correlations (2.9.1)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0.4, set by hand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demo's price series are independent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DIA active share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57.6%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members from DIA's SEC holdings; the Dow weighed by price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QQQ active share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26.75%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Nasdaq-100 members from QQQ; capped as the index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Firm-wide VaR limit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210m (legal tree)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150m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one limit on both trees' roots; every VaR unchanged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Economy debt (2.9.2)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a 2031 projection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actual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found while writing the Knowledge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Joins between kinds (2.9.3)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assumed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 do not hold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DATAMAP checks every join against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change is reconciled in its guide, item by item: the evidence is the reason, not just the new number.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DELTA = ICEBERG · 2.9.5</a:t>
            </a:r>
          </a:p>
        </p:txBody>
      </p:sp>
      <p:sp>
        <p:nvSpPr>
          <p:cNvPr id="3" name="Title 2"/>
          <p:cNvSpPr>
            <a:spLocks noGrp="1"/>
          </p:cNvSpPr>
          <p:nvPr>
            <p:ph type="title" idx="104"/>
          </p:nvPr>
        </p:nvSpPr>
        <p:spPr/>
        <p:txBody>
          <a:bodyPr lIns="0" rIns="0" tIns="0" bIns="0" anchor="t"/>
          <a:lstStyle/>
          <a:p>
            <a:r>
              <a:t>VaR and exposure from Iceberg equal Delta,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6400800" cy="2743200"/>
        </p:xfrm>
        <a:graphic>
          <a:graphicData uri="http://schemas.openxmlformats.org/drawingml/2006/table">
            <a:tbl>
              <a:tblPr firstRow="0" bandRow="0">
                <a:tableStyleId>{5940675A-B579-460E-94D1-54222C63F5DA}</a:tableStyleId>
              </a:tblPr>
              <a:tblGrid>
                <a:gridCol w="2514600"/>
                <a:gridCol w="3200400"/>
                <a:gridCol w="685800"/>
              </a:tblGrid>
              <a:tr h="457200">
                <a:tc>
                  <a:txBody>
                    <a:bodyPr wrap="square"/>
                    <a:lstStyle/>
                    <a:p>
                      <a:r>
                        <a:rPr sz="1050" b="1" i="0">
                          <a:solidFill>
                            <a:srgbClr val="FFFFFF"/>
                          </a:solidFill>
                        </a:rPr>
                        <a:t>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proves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Latest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050" b="1" i="0">
                          <a:solidFill>
                            <a:srgbClr val="8A1626"/>
                          </a:solidFill>
                          <a:latin typeface="Courier New"/>
                        </a:rPr>
                        <a:t>VarFormatEqualityTest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lines in Delta and Iceberg: VaR, ES, component and incremental VaR, worst scenarios, limits and limit letters, USD and EUR; intraday batches; official records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ExposureFormatEqualityTest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EE, PFE, EPE, profiles, contributions and official records, both formats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LakeAppendsTest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Kafka window lands on an Iceberg risk lake as one append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OfficialSinkTest · OfficialS3Test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official tables in Delta and Iceberg, a folder or S3; six writers at once; a Delta commit on S3 is an exclusive create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OfficialReadersTest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BI's readers follow the official format by themselves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452360" y="1417320"/>
            <a:ext cx="2862072" cy="292608"/>
          </a:xfrm>
          <a:prstGeom prst="rect">
            <a:avLst/>
          </a:prstGeom>
          <a:noFill/>
        </p:spPr>
        <p:txBody>
          <a:bodyPr wrap="square" lIns="0" rIns="0" tIns="0" bIns="0" anchor="ctr">
            <a:spAutoFit/>
          </a:bodyPr>
          <a:lstStyle/>
          <a:p>
            <a:pPr algn="l"/>
            <a:r>
              <a:rPr sz="1300" b="1" i="0">
                <a:solidFill>
                  <a:srgbClr val="A51C30"/>
                </a:solidFill>
              </a:rPr>
              <a:t>On the demo data</a:t>
            </a:r>
          </a:p>
        </p:txBody>
      </p:sp>
      <p:sp>
        <p:nvSpPr>
          <p:cNvPr id="28" name="Rounded Rectangle 27"/>
          <p:cNvSpPr/>
          <p:nvPr/>
        </p:nvSpPr>
        <p:spPr>
          <a:xfrm>
            <a:off x="10497312" y="1463040"/>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graphicFrame>
        <p:nvGraphicFramePr>
          <p:cNvPr id="29" name="Table 28"/>
          <p:cNvGraphicFramePr>
            <a:graphicFrameLocks noGrp="1"/>
          </p:cNvGraphicFramePr>
          <p:nvPr/>
        </p:nvGraphicFramePr>
        <p:xfrm>
          <a:off x="7452360" y="1783080"/>
          <a:ext cx="3959352" cy="1261872"/>
        </p:xfrm>
        <a:graphic>
          <a:graphicData uri="http://schemas.openxmlformats.org/drawingml/2006/table">
            <a:tbl>
              <a:tblPr firstRow="0" bandRow="0">
                <a:tableStyleId>{5940675A-B579-460E-94D1-54222C63F5DA}</a:tableStyleId>
              </a:tblPr>
              <a:tblGrid>
                <a:gridCol w="1600200"/>
                <a:gridCol w="960120"/>
                <a:gridCol w="1399032"/>
              </a:tblGrid>
              <a:tr h="420624">
                <a:tc>
                  <a:txBody>
                    <a:bodyPr wrap="square"/>
                    <a:lstStyle/>
                    <a:p>
                      <a:r>
                        <a:rPr sz="10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0624">
                <a:tc>
                  <a:txBody>
                    <a:bodyPr wrap="square"/>
                    <a:lstStyle/>
                    <a:p>
                      <a:r>
                        <a:rPr sz="1050" b="1" i="0">
                          <a:solidFill>
                            <a:srgbClr val="8A1626"/>
                          </a:solidFill>
                        </a:rPr>
                        <a:t>VAR 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0624">
                <a:tc>
                  <a:txBody>
                    <a:bodyPr wrap="square"/>
                    <a:lstStyle/>
                    <a:p>
                      <a:r>
                        <a:rPr sz="1050" b="1" i="0">
                          <a:solidFill>
                            <a:srgbClr val="8A1626"/>
                          </a:solidFill>
                        </a:rPr>
                        <a:t>Risk tables moved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 tables, 955,124 rows, 579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7452360" y="3246120"/>
            <a:ext cx="3959352" cy="1737360"/>
          </a:xfrm>
          <a:prstGeom prst="rect">
            <a:avLst/>
          </a:prstGeom>
          <a:noFill/>
        </p:spPr>
        <p:txBody>
          <a:bodyPr wrap="square" lIns="0" rIns="0" tIns="0" bIns="0" anchor="t">
            <a:spAutoFit/>
          </a:bodyPr>
          <a:lstStyle/>
          <a:p>
            <a:pPr algn="l">
              <a:spcAft>
                <a:spcPts val="500"/>
              </a:spcAft>
            </a:pPr>
            <a:r>
              <a:rPr sz="1100" b="0" i="0">
                <a:solidFill>
                  <a:srgbClr val="1A1A1A"/>
                </a:solidFill>
              </a:rPr>
              <a:t>A server on the Iceberg lake answered VAR BANK, the limit letter LL:LL-0003 and XPO BANK and published its official records.</a:t>
            </a:r>
          </a:p>
          <a:p>
            <a:pPr algn="l"/>
            <a:r>
              <a:rPr sz="1050" b="0" i="1">
                <a:solidFill>
                  <a:srgbClr val="4A5058"/>
                </a:solidFill>
              </a:rPr>
              <a:t>Demo figures from Drishti's synthetic data, one workstation: an observation, not a sizing rule. Delta stays the default; Iceberg is chosen by configuration.</a:t>
            </a:r>
          </a:p>
        </p:txBody>
      </p:sp>
      <p:sp>
        <p:nvSpPr>
          <p:cNvPr id="31" name="Rounded Rectangle 30"/>
          <p:cNvSpPr/>
          <p:nvPr/>
        </p:nvSpPr>
        <p:spPr>
          <a:xfrm>
            <a:off x="777240" y="4572000"/>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2.9.6</a:t>
            </a:r>
          </a:p>
        </p:txBody>
      </p:sp>
      <p:sp>
        <p:nvSpPr>
          <p:cNvPr id="32" name="TextBox 31"/>
          <p:cNvSpPr txBox="1"/>
          <p:nvPr/>
        </p:nvSpPr>
        <p:spPr>
          <a:xfrm>
            <a:off x="1344168" y="4498848"/>
            <a:ext cx="5833872" cy="365760"/>
          </a:xfrm>
          <a:prstGeom prst="rect">
            <a:avLst/>
          </a:prstGeom>
          <a:noFill/>
        </p:spPr>
        <p:txBody>
          <a:bodyPr wrap="square" lIns="0" rIns="0" tIns="0" bIns="0" anchor="ctr">
            <a:spAutoFit/>
          </a:bodyPr>
          <a:lstStyle/>
          <a:p>
            <a:pPr algn="l"/>
            <a:r>
              <a:rPr sz="1100" b="0" i="0">
                <a:solidFill>
                  <a:srgbClr val="4A5058"/>
                </a:solidFill>
              </a:rPr>
              <a:t>The Glue and S3 Tables runs on AWS (GlueLiveTest, check-glue.sh): built, not yet run.</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One connector switched from plugin: delta to plugin: iceberg, the same rows, the same numbers.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HIERARCHIES AND UPGRADES · 2.9.5</a:t>
            </a:r>
          </a:p>
        </p:txBody>
      </p:sp>
      <p:sp>
        <p:nvSpPr>
          <p:cNvPr id="3" name="Title 2"/>
          <p:cNvSpPr>
            <a:spLocks noGrp="1"/>
          </p:cNvSpPr>
          <p:nvPr>
            <p:ph type="title" idx="104"/>
          </p:nvPr>
        </p:nvSpPr>
        <p:spPr/>
        <p:txBody>
          <a:bodyPr lIns="0" rIns="0" tIns="0" bIns="0" anchor="t"/>
          <a:lstStyle/>
          <a:p>
            <a:r>
              <a:t>Trees rebuilt from columns; upgrades that keep every edit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HierarchyEquivalenceTest</a:t>
            </a:r>
          </a:p>
          <a:p>
            <a:pPr algn="l">
              <a:spcAft>
                <a:spcPts val="600"/>
              </a:spcAft>
            </a:pPr>
            <a:r>
              <a:rPr sz="1250" b="1" i="0">
                <a:solidFill>
                  <a:srgbClr val="1A1A1A"/>
                </a:solidFill>
              </a:rPr>
              <a:t>MGMT and LEGAL rebuilt from columns</a:t>
            </a:r>
          </a:p>
          <a:p>
            <a:pPr algn="l" marL="146304" indent="-146304">
              <a:spcAft>
                <a:spcPts val="300"/>
              </a:spcAft>
              <a:buClr>
                <a:srgbClr val="A51C30"/>
              </a:buClr>
              <a:buSzPct val="100000"/>
              <a:buFont typeface="Arial"/>
              <a:buChar char="▪"/>
            </a:pPr>
            <a:r>
              <a:rPr sz="1100" b="0" i="0">
                <a:solidFill>
                  <a:srgbClr val="1A1A1A"/>
                </a:solidFill>
              </a:rPr>
              <a:t>The same node ids, parents, levels and members as the risk-hierarchy rows</a:t>
            </a:r>
          </a:p>
          <a:p>
            <a:pPr algn="l" marL="146304" indent="-146304">
              <a:spcAft>
                <a:spcPts val="300"/>
              </a:spcAft>
              <a:buClr>
                <a:srgbClr val="A51C30"/>
              </a:buClr>
              <a:buSzPct val="100000"/>
              <a:buFont typeface="Arial"/>
              <a:buChar char="▪"/>
            </a:pPr>
            <a:r>
              <a:rPr sz="1100" b="0" i="0">
                <a:solidFill>
                  <a:srgbClr val="1A1A1A"/>
                </a:solidFill>
              </a:rPr>
              <a:t>Aggregates equal to the bit; VaR, ES, components and worst scenarios to the cent, USD and EUR</a:t>
            </a:r>
          </a:p>
          <a:p>
            <a:pPr algn="l" marL="146304" indent="-146304">
              <a:spcAft>
                <a:spcPts val="300"/>
              </a:spcAft>
              <a:buClr>
                <a:srgbClr val="A51C30"/>
              </a:buClr>
              <a:buSzPct val="100000"/>
              <a:buFont typeface="Arial"/>
              <a:buChar char="▪"/>
            </a:pPr>
            <a:r>
              <a:rPr sz="1100" b="0" i="0">
                <a:solidFill>
                  <a:srgbClr val="1A1A1A"/>
                </a:solidFill>
              </a:rPr>
              <a:t>Limits equal; every limit letter the sum of its rows</a:t>
            </a:r>
          </a:p>
        </p:txBody>
      </p:sp>
      <p:sp>
        <p:nvSpPr>
          <p:cNvPr id="29" name="TextBox 28"/>
          <p:cNvSpPr txBox="1"/>
          <p:nvPr/>
        </p:nvSpPr>
        <p:spPr>
          <a:xfrm>
            <a:off x="960120"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0" name="Rectangle 29"/>
          <p:cNvSpPr/>
          <p:nvPr/>
        </p:nvSpPr>
        <p:spPr>
          <a:xfrm>
            <a:off x="4383024"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HierarchyUpgradeWithoutLettersTest</a:t>
            </a:r>
          </a:p>
          <a:p>
            <a:pPr algn="l">
              <a:spcAft>
                <a:spcPts val="600"/>
              </a:spcAft>
            </a:pPr>
            <a:r>
              <a:rPr sz="1250" b="1" i="0">
                <a:solidFill>
                  <a:srgbClr val="1A1A1A"/>
                </a:solidFill>
              </a:rPr>
              <a:t>Data written before the letters</a:t>
            </a:r>
          </a:p>
          <a:p>
            <a:pPr algn="l" marL="146304" indent="-146304">
              <a:spcAft>
                <a:spcPts val="300"/>
              </a:spcAft>
              <a:buClr>
                <a:srgbClr val="A51C30"/>
              </a:buClr>
              <a:buSzPct val="100000"/>
              <a:buFont typeface="Arial"/>
              <a:buChar char="▪"/>
            </a:pPr>
            <a:r>
              <a:rPr sz="1100" b="0" i="0">
                <a:solidFill>
                  <a:srgbClr val="1A1A1A"/>
                </a:solidFill>
              </a:rPr>
              <a:t>P&amp;L vectors and exposure paths without LIMIT_LETTER</a:t>
            </a:r>
          </a:p>
          <a:p>
            <a:pPr algn="l" marL="146304" indent="-146304">
              <a:spcAft>
                <a:spcPts val="300"/>
              </a:spcAft>
              <a:buClr>
                <a:srgbClr val="A51C30"/>
              </a:buClr>
              <a:buSzPct val="100000"/>
              <a:buFont typeface="Arial"/>
              <a:buChar char="▪"/>
            </a:pPr>
            <a:r>
              <a:rPr sz="1100" b="0" i="0">
                <a:solidFill>
                  <a:srgbClr val="1A1A1A"/>
                </a:solidFill>
              </a:rPr>
              <a:t>Only LL is skipped, with a DRS-5211 warning and its fix</a:t>
            </a:r>
          </a:p>
          <a:p>
            <a:pPr algn="l" marL="146304" indent="-146304">
              <a:spcAft>
                <a:spcPts val="300"/>
              </a:spcAft>
              <a:buClr>
                <a:srgbClr val="A51C30"/>
              </a:buClr>
              <a:buSzPct val="100000"/>
              <a:buFont typeface="Arial"/>
              <a:buChar char="▪"/>
            </a:pPr>
            <a:r>
              <a:rPr sz="1100" b="0" i="0">
                <a:solidFill>
                  <a:srgbClr val="1A1A1A"/>
                </a:solidFill>
              </a:rPr>
              <a:t>VaR, exposure, MGMT, LEGAL and the official captures answer as before</a:t>
            </a:r>
          </a:p>
        </p:txBody>
      </p:sp>
      <p:sp>
        <p:nvSpPr>
          <p:cNvPr id="33" name="TextBox 32"/>
          <p:cNvSpPr txBox="1"/>
          <p:nvPr/>
        </p:nvSpPr>
        <p:spPr>
          <a:xfrm>
            <a:off x="4565904" y="3794760"/>
            <a:ext cx="3130296" cy="274320"/>
          </a:xfrm>
          <a:prstGeom prst="rect">
            <a:avLst/>
          </a:prstGeom>
          <a:noFill/>
        </p:spPr>
        <p:txBody>
          <a:bodyPr wrap="square" lIns="0" rIns="0" tIns="0" bIns="0" anchor="ctr">
            <a:spAutoFit/>
          </a:bodyPr>
          <a:lstStyle/>
          <a:p>
            <a:pPr algn="l"/>
            <a:r>
              <a:rPr sz="1050" b="0" i="1">
                <a:solidFill>
                  <a:srgbClr val="4A5058"/>
                </a:solidFill>
              </a:rPr>
              <a:t>Latest run: 1 test green</a:t>
            </a:r>
          </a:p>
        </p:txBody>
      </p:sp>
      <p:sp>
        <p:nvSpPr>
          <p:cNvPr id="34" name="Rectangle 33"/>
          <p:cNvSpPr/>
          <p:nvPr/>
        </p:nvSpPr>
        <p:spPr>
          <a:xfrm>
            <a:off x="7988808"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ConnectorUpgradeTest</a:t>
            </a:r>
          </a:p>
          <a:p>
            <a:pPr algn="l">
              <a:spcAft>
                <a:spcPts val="600"/>
              </a:spcAft>
            </a:pPr>
            <a:r>
              <a:rPr sz="1250" b="1" i="0">
                <a:solidFill>
                  <a:srgbClr val="1A1A1A"/>
                </a:solidFill>
              </a:rPr>
              <a:t>A server on 2.9.4's generated files</a:t>
            </a:r>
          </a:p>
          <a:p>
            <a:pPr algn="l" marL="146304" indent="-146304">
              <a:spcAft>
                <a:spcPts val="300"/>
              </a:spcAft>
              <a:buClr>
                <a:srgbClr val="A51C30"/>
              </a:buClr>
              <a:buSzPct val="100000"/>
              <a:buFont typeface="Arial"/>
              <a:buChar char="▪"/>
            </a:pPr>
            <a:r>
              <a:rPr sz="1100" b="0" i="0">
                <a:solidFill>
                  <a:srgbClr val="1A1A1A"/>
                </a:solidFill>
              </a:rPr>
              <a:t>Every unedited file equals the current template</a:t>
            </a:r>
          </a:p>
          <a:p>
            <a:pPr algn="l" marL="146304" indent="-146304">
              <a:spcAft>
                <a:spcPts val="300"/>
              </a:spcAft>
              <a:buClr>
                <a:srgbClr val="A51C30"/>
              </a:buClr>
              <a:buSzPct val="100000"/>
              <a:buFont typeface="Arial"/>
              <a:buChar char="▪"/>
            </a:pPr>
            <a:r>
              <a:rPr sz="1100" b="0" i="0">
                <a:solidFill>
                  <a:srgbClr val="1A1A1A"/>
                </a:solidFill>
              </a:rPr>
              <a:t>The edits stay (an edited risk-store, the 2.9.3 var-whatif); missing keys added</a:t>
            </a:r>
          </a:p>
          <a:p>
            <a:pPr algn="l" marL="146304" indent="-146304">
              <a:spcAft>
                <a:spcPts val="300"/>
              </a:spcAft>
              <a:buClr>
                <a:srgbClr val="A51C30"/>
              </a:buClr>
              <a:buSzPct val="100000"/>
              <a:buFont typeface="Arial"/>
              <a:buChar char="▪"/>
            </a:pPr>
            <a:r>
              <a:rPr sz="1100" b="0" i="0">
                <a:solidFill>
                  <a:srgbClr val="1A1A1A"/>
                </a:solidFill>
              </a:rPr>
              <a:t>var-result, var-whatif with ccy and exposure-result answer</a:t>
            </a:r>
          </a:p>
        </p:txBody>
      </p:sp>
      <p:sp>
        <p:nvSpPr>
          <p:cNvPr id="37" name="TextBox 36"/>
          <p:cNvSpPr txBox="1"/>
          <p:nvPr/>
        </p:nvSpPr>
        <p:spPr>
          <a:xfrm>
            <a:off x="8171688"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8" name="Rectangle 37"/>
          <p:cNvSpPr/>
          <p:nvPr/>
        </p:nvSpPr>
        <p:spPr>
          <a:xfrm>
            <a:off x="777240" y="4343400"/>
            <a:ext cx="106344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ounded Rectangle 38"/>
          <p:cNvSpPr/>
          <p:nvPr/>
        </p:nvSpPr>
        <p:spPr>
          <a:xfrm>
            <a:off x="960120" y="4718304"/>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40" name="TextBox 39"/>
          <p:cNvSpPr txBox="1"/>
          <p:nvPr/>
        </p:nvSpPr>
        <p:spPr>
          <a:xfrm>
            <a:off x="1874519" y="4389120"/>
            <a:ext cx="9400032" cy="868680"/>
          </a:xfrm>
          <a:prstGeom prst="rect">
            <a:avLst/>
          </a:prstGeom>
          <a:noFill/>
        </p:spPr>
        <p:txBody>
          <a:bodyPr wrap="square" lIns="0" rIns="0" tIns="0" bIns="0" anchor="ctr">
            <a:spAutoFit/>
          </a:bodyPr>
          <a:lstStyle/>
          <a:p>
            <a:pPr algn="l"/>
            <a:r>
              <a:rPr sz="1150" b="1" i="0">
                <a:solidFill>
                  <a:srgbClr val="8A1626"/>
                </a:solidFill>
              </a:rPr>
              <a:t>ColumnHierarchyBenchmark: </a:t>
            </a:r>
            <a:r>
              <a:rPr sz="1150" b="0" i="0">
                <a:solidFill>
                  <a:srgbClr val="1A1A1A"/>
                </a:solidFill>
              </a:rPr>
              <a:t>10,000 trades, 700 limit letters: the trees build in 65–99 ms against 53–197 ms without them; the VaR of all 1,412 nodes takes about 30 ms.</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new tree is configuration; an upgrade never loses an edit or a date.</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 (release 2.9.5)</dc:title>
  <dc:subject>Drishti 2.9.5: the idea, the product, what 2.6.5 to 2.9.5 added, security, evidence and roadmap</dc:subject>
  <dc:creator>Ashutosh Sinha</dc:creator>
  <cp:lastModifiedBy>Ashutosh Sinha</cp:lastModifiedBy>
  <cp:revision>1</cp:revision>
  <dcterms:created xsi:type="dcterms:W3CDTF">2026-10-07T03:43:45Z</dcterms:created>
  <dcterms:modified xsi:type="dcterms:W3CDTF">2026-10-07T03:43:45Z</dcterms:modified>
</cp:coreProperties>
</file>